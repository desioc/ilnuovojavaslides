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64" r:id="rId2"/>
    <p:sldMasterId id="2147483670" r:id="rId3"/>
    <p:sldMasterId id="2147483677" r:id="rId4"/>
  </p:sldMasterIdLst>
  <p:notesMasterIdLst>
    <p:notesMasterId r:id="rId71"/>
  </p:notesMasterIdLst>
  <p:sldIdLst>
    <p:sldId id="257" r:id="rId5"/>
    <p:sldId id="721" r:id="rId6"/>
    <p:sldId id="722" r:id="rId7"/>
    <p:sldId id="769" r:id="rId8"/>
    <p:sldId id="746" r:id="rId9"/>
    <p:sldId id="770" r:id="rId10"/>
    <p:sldId id="724" r:id="rId11"/>
    <p:sldId id="723" r:id="rId12"/>
    <p:sldId id="771" r:id="rId13"/>
    <p:sldId id="772" r:id="rId14"/>
    <p:sldId id="748" r:id="rId15"/>
    <p:sldId id="725" r:id="rId16"/>
    <p:sldId id="733" r:id="rId17"/>
    <p:sldId id="773" r:id="rId18"/>
    <p:sldId id="726" r:id="rId19"/>
    <p:sldId id="774" r:id="rId20"/>
    <p:sldId id="750" r:id="rId21"/>
    <p:sldId id="751" r:id="rId22"/>
    <p:sldId id="752" r:id="rId23"/>
    <p:sldId id="753" r:id="rId24"/>
    <p:sldId id="754" r:id="rId25"/>
    <p:sldId id="755" r:id="rId26"/>
    <p:sldId id="756" r:id="rId27"/>
    <p:sldId id="757" r:id="rId28"/>
    <p:sldId id="775" r:id="rId29"/>
    <p:sldId id="758" r:id="rId30"/>
    <p:sldId id="727" r:id="rId31"/>
    <p:sldId id="732" r:id="rId32"/>
    <p:sldId id="776" r:id="rId33"/>
    <p:sldId id="777" r:id="rId34"/>
    <p:sldId id="734" r:id="rId35"/>
    <p:sldId id="778" r:id="rId36"/>
    <p:sldId id="759" r:id="rId37"/>
    <p:sldId id="779" r:id="rId38"/>
    <p:sldId id="780" r:id="rId39"/>
    <p:sldId id="761" r:id="rId40"/>
    <p:sldId id="781" r:id="rId41"/>
    <p:sldId id="782" r:id="rId42"/>
    <p:sldId id="783" r:id="rId43"/>
    <p:sldId id="762" r:id="rId44"/>
    <p:sldId id="784" r:id="rId45"/>
    <p:sldId id="728" r:id="rId46"/>
    <p:sldId id="785" r:id="rId47"/>
    <p:sldId id="729" r:id="rId48"/>
    <p:sldId id="786" r:id="rId49"/>
    <p:sldId id="787" r:id="rId50"/>
    <p:sldId id="763" r:id="rId51"/>
    <p:sldId id="764" r:id="rId52"/>
    <p:sldId id="765" r:id="rId53"/>
    <p:sldId id="767" r:id="rId54"/>
    <p:sldId id="788" r:id="rId55"/>
    <p:sldId id="789" r:id="rId56"/>
    <p:sldId id="768" r:id="rId57"/>
    <p:sldId id="730" r:id="rId58"/>
    <p:sldId id="790" r:id="rId59"/>
    <p:sldId id="791" r:id="rId60"/>
    <p:sldId id="792" r:id="rId61"/>
    <p:sldId id="793" r:id="rId62"/>
    <p:sldId id="795" r:id="rId63"/>
    <p:sldId id="796" r:id="rId64"/>
    <p:sldId id="797" r:id="rId65"/>
    <p:sldId id="799" r:id="rId66"/>
    <p:sldId id="800" r:id="rId67"/>
    <p:sldId id="801" r:id="rId68"/>
    <p:sldId id="802" r:id="rId69"/>
    <p:sldId id="743" r:id="rId70"/>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7EAEB438-8BB2-4472-9D6B-5E6DC54C0E6B}">
          <p14:sldIdLst>
            <p14:sldId id="257"/>
            <p14:sldId id="721"/>
            <p14:sldId id="722"/>
            <p14:sldId id="769"/>
            <p14:sldId id="746"/>
            <p14:sldId id="770"/>
            <p14:sldId id="724"/>
            <p14:sldId id="723"/>
            <p14:sldId id="771"/>
            <p14:sldId id="772"/>
            <p14:sldId id="748"/>
            <p14:sldId id="725"/>
            <p14:sldId id="733"/>
            <p14:sldId id="773"/>
            <p14:sldId id="726"/>
            <p14:sldId id="774"/>
            <p14:sldId id="750"/>
            <p14:sldId id="751"/>
            <p14:sldId id="752"/>
            <p14:sldId id="753"/>
            <p14:sldId id="754"/>
            <p14:sldId id="755"/>
            <p14:sldId id="756"/>
            <p14:sldId id="757"/>
            <p14:sldId id="775"/>
            <p14:sldId id="758"/>
            <p14:sldId id="727"/>
            <p14:sldId id="732"/>
            <p14:sldId id="776"/>
            <p14:sldId id="777"/>
            <p14:sldId id="734"/>
            <p14:sldId id="778"/>
            <p14:sldId id="759"/>
            <p14:sldId id="779"/>
            <p14:sldId id="780"/>
            <p14:sldId id="761"/>
            <p14:sldId id="781"/>
            <p14:sldId id="782"/>
            <p14:sldId id="783"/>
            <p14:sldId id="762"/>
            <p14:sldId id="784"/>
            <p14:sldId id="728"/>
            <p14:sldId id="785"/>
            <p14:sldId id="729"/>
            <p14:sldId id="786"/>
            <p14:sldId id="787"/>
            <p14:sldId id="763"/>
            <p14:sldId id="764"/>
            <p14:sldId id="765"/>
            <p14:sldId id="767"/>
            <p14:sldId id="788"/>
            <p14:sldId id="789"/>
            <p14:sldId id="768"/>
            <p14:sldId id="730"/>
            <p14:sldId id="790"/>
            <p14:sldId id="791"/>
            <p14:sldId id="792"/>
            <p14:sldId id="793"/>
            <p14:sldId id="795"/>
            <p14:sldId id="796"/>
            <p14:sldId id="797"/>
            <p14:sldId id="799"/>
            <p14:sldId id="800"/>
            <p14:sldId id="801"/>
            <p14:sldId id="802"/>
            <p14:sldId id="7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o De Sio Cesari" initials="CDSC" lastIdx="1" clrIdx="0">
    <p:extLst>
      <p:ext uri="{19B8F6BF-5375-455C-9EA6-DF929625EA0E}">
        <p15:presenceInfo xmlns:p15="http://schemas.microsoft.com/office/powerpoint/2012/main" userId="a29b13f1a3f354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74386" autoAdjust="0"/>
  </p:normalViewPr>
  <p:slideViewPr>
    <p:cSldViewPr>
      <p:cViewPr varScale="1">
        <p:scale>
          <a:sx n="85" d="100"/>
          <a:sy n="85" d="100"/>
        </p:scale>
        <p:origin x="2118"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133C31-D34E-4EBE-ABC4-2DAA5A26C937}" type="datetimeFigureOut">
              <a:rPr lang="it-IT" smtClean="0"/>
              <a:t>12/03/2021</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D8BF2-49EE-4CE2-A2D7-61B744D1E4D9}" type="slidenum">
              <a:rPr lang="it-IT" smtClean="0"/>
              <a:t>‹N›</a:t>
            </a:fld>
            <a:endParaRPr lang="it-IT"/>
          </a:p>
        </p:txBody>
      </p:sp>
    </p:spTree>
    <p:extLst>
      <p:ext uri="{BB962C8B-B14F-4D97-AF65-F5344CB8AC3E}">
        <p14:creationId xmlns:p14="http://schemas.microsoft.com/office/powerpoint/2010/main" val="178935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545D8BF2-49EE-4CE2-A2D7-61B744D1E4D9}" type="slidenum">
              <a:rPr lang="it-IT" smtClean="0"/>
              <a:t>1</a:t>
            </a:fld>
            <a:endParaRPr lang="it-IT"/>
          </a:p>
        </p:txBody>
      </p:sp>
    </p:spTree>
    <p:extLst>
      <p:ext uri="{BB962C8B-B14F-4D97-AF65-F5344CB8AC3E}">
        <p14:creationId xmlns:p14="http://schemas.microsoft.com/office/powerpoint/2010/main" val="365646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si può già intuire dal titolo, Anche questo capitolo è diviso in tre parti. Nella prima parte, breve e poco impegnativa, saranno presentate alcune regole e strumenti per sviluppare in Java. Si tratta essenzialmente di </a:t>
            </a:r>
            <a:r>
              <a:rPr lang="it-IT" sz="1800" i="1" dirty="0">
                <a:effectLst/>
                <a:latin typeface="Times New Roman" panose="02020603050405020304" pitchFamily="18" charset="0"/>
                <a:ea typeface="Times New Roman" panose="02020603050405020304" pitchFamily="18" charset="0"/>
              </a:rPr>
              <a:t>best practices</a:t>
            </a:r>
            <a:r>
              <a:rPr lang="it-IT" sz="1800" dirty="0">
                <a:effectLst/>
                <a:latin typeface="Times New Roman" panose="02020603050405020304" pitchFamily="18" charset="0"/>
                <a:ea typeface="Times New Roman" panose="02020603050405020304" pitchFamily="18" charset="0"/>
              </a:rPr>
              <a:t> (termine utilizzato nell’informatica per definire le </a:t>
            </a:r>
            <a:r>
              <a:rPr lang="it-IT" sz="1800" i="1" dirty="0">
                <a:effectLst/>
                <a:latin typeface="Times New Roman" panose="02020603050405020304" pitchFamily="18" charset="0"/>
                <a:ea typeface="Times New Roman" panose="02020603050405020304" pitchFamily="18" charset="0"/>
              </a:rPr>
              <a:t>buone abitudini</a:t>
            </a:r>
            <a:r>
              <a:rPr lang="it-IT" sz="1800" dirty="0">
                <a:effectLst/>
                <a:latin typeface="Times New Roman" panose="02020603050405020304" pitchFamily="18" charset="0"/>
                <a:ea typeface="Times New Roman" panose="02020603050405020304" pitchFamily="18" charset="0"/>
              </a:rPr>
              <a:t>, quelle che possono considerarsi standard da seguire), ma sono fondamentali per programmare. Utilizzare uno stile standard semplifica la vita al programmatore e renderà più leggibile il suo codice per tutti.</a:t>
            </a:r>
          </a:p>
          <a:p>
            <a:r>
              <a:rPr lang="it-IT" sz="1800" dirty="0">
                <a:effectLst/>
                <a:latin typeface="Times New Roman" panose="02020603050405020304" pitchFamily="18" charset="0"/>
                <a:ea typeface="Times New Roman" panose="02020603050405020304" pitchFamily="18" charset="0"/>
              </a:rPr>
              <a:t>La seconda parte inizia con alcuni paragrafi propedeutici alla comprensione dei tipi di dati del linguaggio. Verranno anche introdotti alcuni concetti di base sulla gestione della memoria, nozioni fondamentali per il neofita.</a:t>
            </a:r>
          </a:p>
          <a:p>
            <a:r>
              <a:rPr lang="it-IT" sz="1800" dirty="0">
                <a:effectLst/>
                <a:latin typeface="Times New Roman" panose="02020603050405020304" pitchFamily="18" charset="0"/>
                <a:ea typeface="Times New Roman" panose="02020603050405020304" pitchFamily="18" charset="0"/>
              </a:rPr>
              <a:t>Successivamente saranno presentati i tipi di dati definiti dal linguaggio e le relative problematiche. Sino ad ora abbiamo quasi sempre utilizzato il tipo di dato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dopo lo studio di questo capitolo potremo finalmente padroneggiare tutti i tipi di dato che definisce Java. Inoltre faremo la conoscenza del fondamentale concetto di reference. Sarà introdotta anche la libreria standard di Java, che ci permetterà di utilizzare oggetti di alto livello e sfruttarli come tipi di dati complessi all’interno dei nostri programmi. </a:t>
            </a:r>
          </a:p>
          <a:p>
            <a:r>
              <a:rPr lang="it-IT" sz="1800" dirty="0">
                <a:effectLst/>
                <a:latin typeface="Times New Roman" panose="02020603050405020304" pitchFamily="18" charset="0"/>
                <a:ea typeface="Times New Roman" panose="02020603050405020304" pitchFamily="18" charset="0"/>
              </a:rPr>
              <a:t>Infine, saranno presentati li array, un argomento che risulta piuttosto ostico a molti programmatori.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Un array rappresenta un tipo di dato complesso che definisce una collezione di elementi indicizzati di un certo tipo. Con un solo nome potremo accedere agli elementi della collezione mediante un indice.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Infine per completare il discorso verrà introdotta una interessante caratteristica introdotta nella versione 10, che rende il codice Java meno verboso: la deduzione del tipo per le variabili locali, argomento meglio conosciuto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dal nome della parola utilizzata per l’implementazione.</a:t>
            </a:r>
          </a:p>
        </p:txBody>
      </p:sp>
      <p:sp>
        <p:nvSpPr>
          <p:cNvPr id="4" name="Segnaposto numero diapositiva 3"/>
          <p:cNvSpPr>
            <a:spLocks noGrp="1"/>
          </p:cNvSpPr>
          <p:nvPr>
            <p:ph type="sldNum" sz="quarter" idx="5"/>
          </p:nvPr>
        </p:nvSpPr>
        <p:spPr/>
        <p:txBody>
          <a:bodyPr/>
          <a:lstStyle/>
          <a:p>
            <a:fld id="{545D8BF2-49EE-4CE2-A2D7-61B744D1E4D9}" type="slidenum">
              <a:rPr lang="it-IT" smtClean="0"/>
              <a:t>2</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 il termine </a:t>
            </a:r>
            <a:r>
              <a:rPr lang="it-IT" sz="1800" b="1" dirty="0">
                <a:effectLst/>
                <a:latin typeface="Times New Roman" panose="02020603050405020304" pitchFamily="18" charset="0"/>
                <a:ea typeface="Times New Roman" panose="02020603050405020304" pitchFamily="18" charset="0"/>
              </a:rPr>
              <a:t>stile di codifica</a:t>
            </a:r>
            <a:r>
              <a:rPr lang="it-IT" sz="1800" dirty="0">
                <a:effectLst/>
                <a:latin typeface="Times New Roman" panose="02020603050405020304" pitchFamily="18" charset="0"/>
                <a:ea typeface="Times New Roman" panose="02020603050405020304" pitchFamily="18" charset="0"/>
              </a:rPr>
              <a:t> intendiamo una serie di regole obbligatorie e non, che caratterizzano solitamente il codice Java. Delle regole obbligatorie non si può fare ovviamente a meno, ma anche le facoltative sono molto importanti, perché utilizzate dai programmatori di tutto il mondo. Usare gli standard, semplifica enormemente la leggibilità del codice. Alcune delle regole che riportiamo di seguito, dovrebbero essere già chiare al lettore. Nei seguenti paragrafi vengono solo formalizzate.</a:t>
            </a:r>
          </a:p>
          <a:p>
            <a:r>
              <a:rPr lang="it-IT" sz="1800" dirty="0">
                <a:effectLst/>
                <a:latin typeface="Times New Roman" panose="02020603050405020304" pitchFamily="18" charset="0"/>
                <a:ea typeface="Times New Roman" panose="02020603050405020304" pitchFamily="18" charset="0"/>
              </a:rPr>
              <a:t>In particolare, il linguaggio Java:</a:t>
            </a:r>
          </a:p>
        </p:txBody>
      </p:sp>
      <p:sp>
        <p:nvSpPr>
          <p:cNvPr id="4" name="Segnaposto numero diapositiva 3"/>
          <p:cNvSpPr>
            <a:spLocks noGrp="1"/>
          </p:cNvSpPr>
          <p:nvPr>
            <p:ph type="sldNum" sz="quarter" idx="5"/>
          </p:nvPr>
        </p:nvSpPr>
        <p:spPr/>
        <p:txBody>
          <a:bodyPr/>
          <a:lstStyle/>
          <a:p>
            <a:fld id="{545D8BF2-49EE-4CE2-A2D7-61B744D1E4D9}" type="slidenum">
              <a:rPr lang="it-IT" smtClean="0"/>
              <a:t>3</a:t>
            </a:fld>
            <a:endParaRPr lang="it-IT"/>
          </a:p>
        </p:txBody>
      </p:sp>
    </p:spTree>
    <p:extLst>
      <p:ext uri="{BB962C8B-B14F-4D97-AF65-F5344CB8AC3E}">
        <p14:creationId xmlns:p14="http://schemas.microsoft.com/office/powerpoint/2010/main" val="57234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asserito in precedenza, Java è un linguaggio a </a:t>
            </a:r>
            <a:r>
              <a:rPr lang="it-IT" sz="1800" b="1" dirty="0">
                <a:effectLst/>
                <a:latin typeface="Times New Roman" panose="02020603050405020304" pitchFamily="18" charset="0"/>
                <a:ea typeface="Times New Roman" panose="02020603050405020304" pitchFamily="18" charset="0"/>
              </a:rPr>
              <a:t>schema libero</a:t>
            </a:r>
            <a:r>
              <a:rPr lang="it-IT" sz="1800" dirty="0">
                <a:effectLst/>
                <a:latin typeface="Times New Roman" panose="02020603050405020304" pitchFamily="18" charset="0"/>
                <a:ea typeface="Times New Roman" panose="02020603050405020304" pitchFamily="18" charset="0"/>
              </a:rPr>
              <a:t>. Questo non significa che possiamo violare le regole del linguaggio. Per esempio, l’istruzione di dichiarazione di package deve essere sempre la prima in un file, le istruzioni di importazione devono seguire l’eventuale dichiarazione di package, la dichiarazione di una classe non può precedere le dichiarazioni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package</a:t>
            </a:r>
            <a:r>
              <a:rPr lang="it-IT" sz="1800" dirty="0">
                <a:effectLst/>
                <a:latin typeface="Times New Roman" panose="02020603050405020304" pitchFamily="18" charset="0"/>
                <a:ea typeface="Times New Roman" panose="02020603050405020304" pitchFamily="18" charset="0"/>
              </a:rPr>
              <a:t> 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le classi e i metodi sono delimitate da parentesi graffe e così via. Queste ed altre regole, non possono essere violate perché il compilatore ci restituirebbe errori in compilazione. Java è un linguaggio a schema libero nel senso che potremmo scrivere un intero programma su di un’unica riga, oppure andando a capo dopo ogni parola: il compilatore non avrebbe problemi a compilare il codice se esso è corretto. Il problema semmai sarebbe dello sviluppatore che avrebbe grandi difficoltà a comprendere il codice!</a:t>
            </a:r>
          </a:p>
          <a:p>
            <a:r>
              <a:rPr lang="it-IT" sz="1800" b="1" dirty="0">
                <a:effectLst/>
                <a:latin typeface="Times New Roman" panose="02020603050405020304" pitchFamily="18" charset="0"/>
                <a:ea typeface="Times New Roman" panose="02020603050405020304" pitchFamily="18" charset="0"/>
              </a:rPr>
              <a:t>(ICONA BEST PRACTICE)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Esistono quindi metodi d’</a:t>
            </a:r>
            <a:r>
              <a:rPr lang="it-IT" sz="1800" b="1" dirty="0">
                <a:effectLst/>
                <a:latin typeface="Times New Roman" panose="02020603050405020304" pitchFamily="18" charset="0"/>
                <a:ea typeface="Times New Roman" panose="02020603050405020304" pitchFamily="18" charset="0"/>
              </a:rPr>
              <a:t>indentazione del codice</a:t>
            </a:r>
            <a:r>
              <a:rPr lang="it-IT" sz="1800" dirty="0">
                <a:effectLst/>
                <a:latin typeface="Times New Roman" panose="02020603050405020304" pitchFamily="18" charset="0"/>
                <a:ea typeface="Times New Roman" panose="02020603050405020304" pitchFamily="18" charset="0"/>
              </a:rPr>
              <a:t> che facilitano la lettura di un programma Java. Di seguito è presentata una semplice classe che utilizza lo stile di formattazione standard per il linguaggio Java:</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Classe</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a:t>
            </a:r>
            <a:r>
              <a:rPr lang="en-GB" sz="1800" dirty="0" err="1">
                <a:solidFill>
                  <a:srgbClr val="000000"/>
                </a:solidFill>
                <a:effectLst/>
                <a:latin typeface="Courier New" panose="02070309020205020404" pitchFamily="49" charset="0"/>
                <a:ea typeface="Times New Roman" panose="02020603050405020304" pitchFamily="18" charset="0"/>
              </a:rPr>
              <a:t>intero</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void metodo()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intero = 29;</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int </a:t>
            </a:r>
            <a:r>
              <a:rPr lang="it-IT" sz="1800" dirty="0" err="1">
                <a:solidFill>
                  <a:srgbClr val="000000"/>
                </a:solidFill>
                <a:effectLst/>
                <a:latin typeface="Courier New" panose="02070309020205020404" pitchFamily="49" charset="0"/>
                <a:ea typeface="Times New Roman" panose="02020603050405020304" pitchFamily="18" charset="0"/>
              </a:rPr>
              <a:t>unAltroIntero</a:t>
            </a:r>
            <a:r>
              <a:rPr lang="it-IT" sz="1800" dirty="0">
                <a:solidFill>
                  <a:srgbClr val="000000"/>
                </a:solidFill>
                <a:effectLst/>
                <a:latin typeface="Courier New" panose="02070309020205020404" pitchFamily="49" charset="0"/>
                <a:ea typeface="Times New Roman" panose="02020603050405020304" pitchFamily="18" charset="0"/>
              </a:rPr>
              <a:t> = 7;</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System.out.println(intero + </a:t>
            </a:r>
            <a:r>
              <a:rPr lang="it-IT" sz="1800" dirty="0" err="1">
                <a:solidFill>
                  <a:srgbClr val="000000"/>
                </a:solidFill>
                <a:effectLst/>
                <a:latin typeface="Courier New" panose="02070309020205020404" pitchFamily="49" charset="0"/>
                <a:ea typeface="Times New Roman" panose="02020603050405020304" pitchFamily="18" charset="0"/>
              </a:rPr>
              <a:t>unAltroIntero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 utilizziamo questo stile, chi legge il codice può comprendere a colpo d’occhio subito dove la classe ha inizio e dove ha fine, dato che la parentesi graffa di chiusura è incolonnata con la prima lettera della definizione della classe (la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a:t>
            </a:r>
            <a:r>
              <a:rPr lang="it-IT" sz="1800" dirty="0">
                <a:effectLst/>
                <a:latin typeface="Times New Roman" panose="02020603050405020304" pitchFamily="18" charset="0"/>
                <a:ea typeface="Times New Roman" panose="02020603050405020304" pitchFamily="18" charset="0"/>
              </a:rPr>
              <a:t>”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Stesso discorso per il metodo: è chiaro dove inizia, dove finisce ed il codice che ne definisce il comportamento. È lo stile che abbiamo già utilizzato principalmente fino ad ora. Si raccomanda, sempre una rigorosa applicazione dello stile appena presentato. La formattazione è comunque automatizzabile tramite la pressione di una combinazione di tasti sui vari IDE.</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Qualche programmatore potrebbe utilizzare uno stile di formattazione leggermente diverso (come quello che abbiamo utilizzato noi nel primo esempio del primo capitolo con la classe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HelloWorld</a:t>
            </a:r>
            <a:r>
              <a:rPr lang="it-IT" sz="1800" b="1" dirty="0">
                <a:solidFill>
                  <a:srgbClr val="000000"/>
                </a:solidFill>
                <a:effectLst/>
                <a:latin typeface="Times New Roman" panose="02020603050405020304" pitchFamily="18" charset="0"/>
                <a:ea typeface="Times New Roman" panose="02020603050405020304" pitchFamily="18" charset="0"/>
              </a:rPr>
              <a:t>). Di solito si tratta di sviluppatori che programmavano in precedenza con linguaggi come C, e che sono più restii a cambiare abitudine.</a:t>
            </a:r>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Alcuni dei tipici errori che il programmatore alle prime armi commette, sono semplici dimenticanze. È frequente dimenticare di chiudere una parentesi graffa di una classe, o dimenticare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per terminare uno statement, o anche le parentesi tonde che seguono l’invocazione di un metodo. Per questo è consigliato al lettore di abituarsi a scrivere ogni istruzione in maniera completa, per poi pensare eventualmente a formattarla in maniera corretta. </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4</a:t>
            </a:fld>
            <a:endParaRPr lang="it-IT"/>
          </a:p>
        </p:txBody>
      </p:sp>
    </p:spTree>
    <p:extLst>
      <p:ext uri="{BB962C8B-B14F-4D97-AF65-F5344CB8AC3E}">
        <p14:creationId xmlns:p14="http://schemas.microsoft.com/office/powerpoint/2010/main" val="3613783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5</a:t>
            </a:fld>
            <a:endParaRPr lang="it-IT"/>
          </a:p>
        </p:txBody>
      </p:sp>
    </p:spTree>
    <p:extLst>
      <p:ext uri="{BB962C8B-B14F-4D97-AF65-F5344CB8AC3E}">
        <p14:creationId xmlns:p14="http://schemas.microsoft.com/office/powerpoint/2010/main" val="244774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Per i </a:t>
            </a:r>
            <a:r>
              <a:rPr lang="it-IT" sz="1800" b="1" dirty="0">
                <a:effectLst/>
                <a:latin typeface="Times New Roman" panose="02020603050405020304" pitchFamily="18" charset="0"/>
                <a:ea typeface="Times New Roman" panose="02020603050405020304" pitchFamily="18" charset="0"/>
              </a:rPr>
              <a:t>commenti a singola riga</a:t>
            </a:r>
            <a:r>
              <a:rPr lang="it-IT" sz="1800" dirty="0">
                <a:effectLst/>
                <a:latin typeface="Times New Roman" panose="02020603050405020304" pitchFamily="18" charset="0"/>
                <a:ea typeface="Times New Roman" panose="02020603050405020304" pitchFamily="18" charset="0"/>
              </a:rPr>
              <a:t> tutto ciò che scriveremo su di una riga che segue i simboli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non sarà preso in considerazione dal compilatore. Questa sintassi permetterà di commentare brevemente alcune parti di codice. Per esempio:</a:t>
            </a:r>
          </a:p>
          <a:p>
            <a:r>
              <a:rPr lang="it-IT" sz="1800" dirty="0">
                <a:solidFill>
                  <a:srgbClr val="000000"/>
                </a:solidFill>
                <a:effectLst/>
                <a:latin typeface="Courier New" panose="02070309020205020404" pitchFamily="49" charset="0"/>
                <a:ea typeface="Times New Roman" panose="02020603050405020304" pitchFamily="18" charset="0"/>
              </a:rPr>
              <a:t>// Questo è un metodo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public void metodo()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int a; //Questa è una variabile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commento su più righe</a:t>
            </a:r>
            <a:r>
              <a:rPr lang="it-IT" sz="1800" dirty="0">
                <a:effectLst/>
                <a:latin typeface="Times New Roman" panose="02020603050405020304" pitchFamily="18" charset="0"/>
                <a:ea typeface="Times New Roman" panose="02020603050405020304" pitchFamily="18" charset="0"/>
              </a:rPr>
              <a:t> potrebbe essere utile, ogni volta ci sia bisogno di commenti lunghi. La sintassi richiede di includere il testo da considerare come commento tra i simboli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Questo tipo di commento è spesso utilizzato anche per commentare parti di codice che non si è ancora sicuri di eliminare definitivamente (vedi paragrafo successivo). Per esempio:</a:t>
            </a: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Questo metodo è in un commento, quindi per il compilatore non esiste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void metodo()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Queste due prime tipologie di commenti sono importate dal linguaggio C++.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terzo tipo di commento (</a:t>
            </a:r>
            <a:r>
              <a:rPr lang="it-IT" sz="1800" b="1" dirty="0">
                <a:effectLst/>
                <a:latin typeface="Times New Roman" panose="02020603050405020304" pitchFamily="18" charset="0"/>
                <a:ea typeface="Times New Roman" panose="02020603050405020304" pitchFamily="18" charset="0"/>
              </a:rPr>
              <a:t>commento Javadoc</a:t>
            </a:r>
            <a:r>
              <a:rPr lang="it-IT" sz="1800" dirty="0">
                <a:effectLst/>
                <a:latin typeface="Times New Roman" panose="02020603050405020304" pitchFamily="18" charset="0"/>
                <a:ea typeface="Times New Roman" panose="02020603050405020304" pitchFamily="18" charset="0"/>
              </a:rPr>
              <a:t>) è del tutto simile al commento multilinea. A livello di sintassi l’unica differenza è che il commento si apre con i simboli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(notare l’asterisco in più) ma si chiude allo stesso modo con i simboli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Il commento di documentazione però, offre in più la possibilità di produrre in modo standard, in formato HTML, la </a:t>
            </a:r>
            <a:r>
              <a:rPr lang="it-IT" sz="1800" b="1" dirty="0">
                <a:effectLst/>
                <a:latin typeface="Times New Roman" panose="02020603050405020304" pitchFamily="18" charset="0"/>
                <a:ea typeface="Times New Roman" panose="02020603050405020304" pitchFamily="18" charset="0"/>
              </a:rPr>
              <a:t>documentazione tecnica</a:t>
            </a:r>
            <a:r>
              <a:rPr lang="it-IT" sz="1800" dirty="0">
                <a:effectLst/>
                <a:latin typeface="Times New Roman" panose="02020603050405020304" pitchFamily="18" charset="0"/>
                <a:ea typeface="Times New Roman" panose="02020603050405020304" pitchFamily="18" charset="0"/>
              </a:rPr>
              <a:t> del programma, sfruttando un comando chiamato </a:t>
            </a:r>
            <a:r>
              <a:rPr lang="it-IT" sz="1800" dirty="0">
                <a:effectLst/>
                <a:latin typeface="Arial" panose="020B0604020202020204" pitchFamily="34" charset="0"/>
                <a:ea typeface="Times New Roman" panose="02020603050405020304" pitchFamily="18" charset="0"/>
                <a:cs typeface="Arial" panose="020B0604020202020204" pitchFamily="34" charset="0"/>
              </a:rPr>
              <a:t>javadoc</a:t>
            </a:r>
            <a:r>
              <a:rPr lang="it-IT" sz="1800" dirty="0">
                <a:effectLst/>
                <a:latin typeface="Times New Roman" panose="02020603050405020304" pitchFamily="18" charset="0"/>
                <a:ea typeface="Times New Roman" panose="02020603050405020304" pitchFamily="18" charset="0"/>
              </a:rPr>
              <a:t>. Per “documentazione tecnica” intendiamo la documentazione che spiega il funzionamento dei componenti Java (principalmente le classi, i metodi e i costruttori, ma non solo), descrivendo i parametri di input, quelli di output, e il comportamento (ovvero ciò che fa) con una sintassi precisa e standard. Vedremo delle applicazioni di tale tipologia di commento più avanti nel capitolo, nel paragrafo intitolato “Lo strumento </a:t>
            </a:r>
            <a:r>
              <a:rPr lang="it-IT" sz="1800" dirty="0">
                <a:effectLst/>
                <a:latin typeface="Arial" panose="020B0604020202020204" pitchFamily="34" charset="0"/>
                <a:ea typeface="Times New Roman" panose="02020603050405020304" pitchFamily="18" charset="0"/>
                <a:cs typeface="Arial" panose="020B0604020202020204" pitchFamily="34" charset="0"/>
              </a:rPr>
              <a:t>javadoc</a:t>
            </a:r>
            <a:r>
              <a:rPr lang="it-IT" sz="1800" dirty="0">
                <a:effectLst/>
                <a:latin typeface="Times New Roman" panose="02020603050405020304" pitchFamily="18" charset="0"/>
                <a:ea typeface="Times New Roman" panose="02020603050405020304" pitchFamily="18" charset="0"/>
              </a:rPr>
              <a:t>”.</a:t>
            </a:r>
          </a:p>
        </p:txBody>
      </p:sp>
      <p:sp>
        <p:nvSpPr>
          <p:cNvPr id="4" name="Segnaposto numero diapositiva 3"/>
          <p:cNvSpPr>
            <a:spLocks noGrp="1"/>
          </p:cNvSpPr>
          <p:nvPr>
            <p:ph type="sldNum" sz="quarter" idx="5"/>
          </p:nvPr>
        </p:nvSpPr>
        <p:spPr/>
        <p:txBody>
          <a:bodyPr/>
          <a:lstStyle/>
          <a:p>
            <a:fld id="{545D8BF2-49EE-4CE2-A2D7-61B744D1E4D9}" type="slidenum">
              <a:rPr lang="it-IT" smtClean="0"/>
              <a:t>6</a:t>
            </a:fld>
            <a:endParaRPr lang="it-IT"/>
          </a:p>
        </p:txBody>
      </p:sp>
    </p:spTree>
    <p:extLst>
      <p:ext uri="{BB962C8B-B14F-4D97-AF65-F5344CB8AC3E}">
        <p14:creationId xmlns:p14="http://schemas.microsoft.com/office/powerpoint/2010/main" val="409605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teoria, la funzione principale dei commenti, dovrebbe essere quella di spiegare o chiarire le istruzioni Java che abbiamo scritto. Per un neofita, commentare il codice è una pratica che può accelerare il suo apprendimento. I commenti non solo chiariscono il codice che scriviamo, ma ci obbligano anche a capire bene cosa stiamo scrivendo, visto che bisogna descriverlo. Un commento d’altronde, è anche una forma di formalizzazione, una dichiarazione di consapevolezza da parte del programmatore. Il nostro consiglio per chi sta iniziando a programmare quindi, è quello di commentare ogni riga scritta per accrescere la propria consapevolezza del codice. </a:t>
            </a:r>
          </a:p>
          <a:p>
            <a:r>
              <a:rPr lang="it-IT" sz="1800" dirty="0">
                <a:effectLst/>
                <a:latin typeface="Times New Roman" panose="02020603050405020304" pitchFamily="18" charset="0"/>
                <a:ea typeface="Times New Roman" panose="02020603050405020304" pitchFamily="18" charset="0"/>
              </a:rPr>
              <a:t>Il tipo di commento più adatto per questa attività, è indubbiamente quello del commento a singola linea. Si preferisce questo tipo di commento anche se il commento si estende per più di una linea, usando più commenti a singola linea su righe differenti. Per esempio:</a:t>
            </a:r>
          </a:p>
          <a:p>
            <a:r>
              <a:rPr lang="it-IT" sz="1800" dirty="0">
                <a:solidFill>
                  <a:srgbClr val="000000"/>
                </a:solidFill>
                <a:effectLst/>
                <a:latin typeface="Courier New" panose="02070309020205020404" pitchFamily="49" charset="0"/>
                <a:ea typeface="Times New Roman" panose="02020603050405020304" pitchFamily="18" charset="0"/>
              </a:rPr>
              <a:t>// nella seguente riga ci sono tre istruzioni eseguite nel seguente ordine: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1) Punto </a:t>
            </a:r>
            <a:r>
              <a:rPr lang="it-IT" sz="1800" dirty="0" err="1">
                <a:solidFill>
                  <a:srgbClr val="000000"/>
                </a:solidFill>
                <a:effectLst/>
                <a:latin typeface="Courier New" panose="02070309020205020404" pitchFamily="49" charset="0"/>
                <a:ea typeface="Times New Roman" panose="02020603050405020304" pitchFamily="18" charset="0"/>
              </a:rPr>
              <a:t>punto</a:t>
            </a:r>
            <a:r>
              <a:rPr lang="it-IT" sz="1800" dirty="0">
                <a:solidFill>
                  <a:srgbClr val="000000"/>
                </a:solidFill>
                <a:effectLst/>
                <a:latin typeface="Courier New" panose="02070309020205020404" pitchFamily="49" charset="0"/>
                <a:ea typeface="Times New Roman" panose="02020603050405020304" pitchFamily="18" charset="0"/>
              </a:rPr>
              <a:t> : dichiarazione del reference punto di tipo Punto.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2) new Punto() : istanza dell’oggetto di tipo Punto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3) punto = new Punto() : assegnazione dell’oggetto al reference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Punto </a:t>
            </a:r>
            <a:r>
              <a:rPr lang="it-IT" sz="1800" dirty="0" err="1">
                <a:solidFill>
                  <a:srgbClr val="000000"/>
                </a:solidFill>
                <a:effectLst/>
                <a:latin typeface="Courier New" panose="02070309020205020404" pitchFamily="49" charset="0"/>
                <a:ea typeface="Times New Roman" panose="02020603050405020304" pitchFamily="18" charset="0"/>
              </a:rPr>
              <a:t>punto</a:t>
            </a:r>
            <a:r>
              <a:rPr lang="it-IT" sz="1800" dirty="0">
                <a:solidFill>
                  <a:srgbClr val="000000"/>
                </a:solidFill>
                <a:effectLst/>
                <a:latin typeface="Courier New" panose="02070309020205020404" pitchFamily="49" charset="0"/>
                <a:ea typeface="Times New Roman" panose="02020603050405020304" pitchFamily="18" charset="0"/>
              </a:rPr>
              <a:t> = new Punto();</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Per i programmatori esperti invece, la maggior parte dei commenti dovrebbero risultare quasi inutili. Infatti, se vengono utilizzate correttamente l’astrazione e gli altri principi dell’OOP, il codice dovrebbe risultare talmente leggibile da rendere superflua la pratica di aggiungere commentare. In effetti il codice non mente mai, i commenti a volte sì! Infatti, il software per sua natura si evolve, e i programmatori, concentrati nelle modifiche del codice, non si prendono cura di aggiornare anche i commenti.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 commenti non vengono utilizzati solo per spiegare il codice. Infatti, siccome il contenuto dei commenti viene ignorato dal compilatore, è pratica comune utilizzarli per circondare il codice che non funziona correttamente. Infatti, supponiamo di avere del codice che per essere implementato ci ha portato via del tempo, ma alla prova dei fatti non ha dato i risultati che ci aspettavamo. Prima di cancellarlo e provare altre soluzioni, probabilmente saremo tentati dal lasciarlo dov’è, ma all’interno di un commento. Questo perché, dopo lo sforzo di averlo scritto, ci rimane la speranza che potrebbe risultare di nuovo utile in futuro. Purtroppo la maggior parte delle volte, la speranza è solo un’illusione, e il nostro commento contenente il codice non funzionante, rimarrà nel file sorgente senza una reale utilità. Per questo tipo di attività, vengono utilizzati sia i commenti a singola riga, che quelli su più righe. Il primo infatti, permette di escludere dalla compilazione intere righe, il secondo può essere utilizzato per commentare anche parti di righe. Per esempio, potremmo commentare un parametro di un metodo:</a:t>
            </a:r>
          </a:p>
          <a:p>
            <a:r>
              <a:rPr lang="it-IT" sz="1800" dirty="0">
                <a:solidFill>
                  <a:srgbClr val="000000"/>
                </a:solidFill>
                <a:effectLst/>
                <a:latin typeface="Courier New" panose="02070309020205020404" pitchFamily="49" charset="0"/>
                <a:ea typeface="Times New Roman" panose="02020603050405020304" pitchFamily="18" charset="0"/>
              </a:rPr>
              <a:t>public void metodo(/* double d*/ int i)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1854994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b="1" dirty="0"/>
              <a:t>La scelta di un identificatore riguarda il concetto di astrazione e può portare vie anche diversi minuti</a:t>
            </a:r>
          </a:p>
          <a:p>
            <a:r>
              <a:rPr lang="it-IT" sz="1800" b="1" dirty="0"/>
              <a:t>Nel caso succeda, è possibile che ci sia un problema nel nostro processo di astrazione che dovrebbe essere rivalutato</a:t>
            </a:r>
          </a:p>
          <a:p>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Gli identificatori (sinonimo di nomi) dei metodi, delle classi, degli oggetti, dei package, delle</a:t>
            </a:r>
          </a:p>
          <a:p>
            <a:r>
              <a:rPr lang="it-IT" sz="1800" dirty="0">
                <a:effectLst/>
                <a:latin typeface="Times New Roman" panose="02020603050405020304" pitchFamily="18" charset="0"/>
                <a:ea typeface="Times New Roman" panose="02020603050405020304" pitchFamily="18" charset="0"/>
              </a:rPr>
              <a:t>variabili e delle costanti. In realtà, esistono anche altri elementi della programmazione che non abbiamo ancora studiato (alcuni nominati nell’approfondimento 2.1 on line), a cui è necessario assegnare degli identificatori. In particolare, le interfacce, le enumerazioni, i record e le annotazioni hanno alcune caratteristiche in comune con le classi: per esempio possono essere definiti in maniera indipendente all’interno di un file dedicato. Tutti questi elementi fondamentali di programmazione, appartengono alla categoria dei </a:t>
            </a:r>
            <a:r>
              <a:rPr lang="it-IT" sz="1800" b="1" dirty="0">
                <a:effectLst/>
                <a:latin typeface="Times New Roman" panose="02020603050405020304" pitchFamily="18" charset="0"/>
                <a:ea typeface="Times New Roman" panose="02020603050405020304" pitchFamily="18" charset="0"/>
              </a:rPr>
              <a:t>tipi di Java</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Java types</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Attenzione a non confondere l’argomento principale di questo capitolo (i tipi di dato) con questa definizione. Il termine </a:t>
            </a:r>
            <a:r>
              <a:rPr lang="it-IT" sz="1800" b="1" i="1" dirty="0">
                <a:solidFill>
                  <a:srgbClr val="000000"/>
                </a:solidFill>
                <a:effectLst/>
                <a:latin typeface="Times New Roman" panose="02020603050405020304" pitchFamily="18" charset="0"/>
                <a:ea typeface="Times New Roman" panose="02020603050405020304" pitchFamily="18" charset="0"/>
              </a:rPr>
              <a:t>tipi di Java</a:t>
            </a:r>
            <a:r>
              <a:rPr lang="it-IT" sz="1800" b="1" dirty="0">
                <a:solidFill>
                  <a:srgbClr val="000000"/>
                </a:solidFill>
                <a:effectLst/>
                <a:latin typeface="Times New Roman" panose="02020603050405020304" pitchFamily="18" charset="0"/>
                <a:ea typeface="Times New Roman" panose="02020603050405020304" pitchFamily="18" charset="0"/>
              </a:rPr>
              <a:t>, ci serve solo per individuare una categoria di elementi di programmazione che hanno delle caratteristiche in comune (che scopriremo quando le studieremo).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abbiamo visto nel capitolo 2, assegnare un nome ad una certa astrazione, è un’attività particolarmente importante nella programmazione ad oggetti. Scegliere un identificatore, potrebbe sembrare una banalità, ma non lo è, e non deve mai esserlo! A volte scegliere un identificatore corretto, richiede diversi minuti, ed è molto frequente che si decida di modificare un identificatore in un secondo momento. Quando un identificatore è difficile da scegliere, probabilmente è un segno che non abbiamo le idee chiare su cosa dobbiamo fare.</a:t>
            </a:r>
          </a:p>
          <a:p>
            <a:r>
              <a:rPr lang="it-IT" sz="1800" dirty="0">
                <a:effectLst/>
                <a:latin typeface="Times New Roman" panose="02020603050405020304" pitchFamily="18" charset="0"/>
                <a:ea typeface="Times New Roman" panose="02020603050405020304" pitchFamily="18" charset="0"/>
              </a:rPr>
              <a:t>Detto questo, per non ottenere degli errori in fase di compilazione, ci sono due semplici regole da rispettare quando si sceglie un identificatore.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Quindi non potremo chiamare una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class</a:t>
            </a:r>
            <a:r>
              <a:rPr lang="it-IT" sz="1800" dirty="0">
                <a:effectLst/>
                <a:latin typeface="Times New Roman" panose="02020603050405020304" pitchFamily="18" charset="0"/>
                <a:ea typeface="Times New Roman" panose="02020603050405020304" pitchFamily="18" charset="0"/>
              </a:rPr>
              <a:t>, oppure un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Bisogna anche ricordare che Java è un linguaggio </a:t>
            </a:r>
            <a:r>
              <a:rPr lang="it-IT" sz="1800" b="1" dirty="0">
                <a:effectLst/>
                <a:latin typeface="Times New Roman" panose="02020603050405020304" pitchFamily="18" charset="0"/>
                <a:ea typeface="Times New Roman" panose="02020603050405020304" pitchFamily="18" charset="0"/>
              </a:rPr>
              <a:t>case sensitive</a:t>
            </a:r>
            <a:r>
              <a:rPr lang="it-IT" sz="1800" dirty="0">
                <a:effectLst/>
                <a:latin typeface="Times New Roman" panose="02020603050405020304" pitchFamily="18" charset="0"/>
                <a:ea typeface="Times New Roman" panose="02020603050405020304" pitchFamily="18" charset="0"/>
              </a:rPr>
              <a:t>, ovvero fa distinzione tra lettere maiuscole e minuscole. Il programmatore alle prime armi tende a digerire poco questa caratteristica del linguaggio. Per esempio non è possibile dichiarare una classe scrivendo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class</a:t>
            </a:r>
            <a:r>
              <a:rPr lang="it-IT" sz="1800" dirty="0">
                <a:effectLst/>
                <a:latin typeface="Times New Roman" panose="02020603050405020304" pitchFamily="18" charset="0"/>
                <a:ea typeface="Times New Roman" panose="02020603050405020304" pitchFamily="18" charset="0"/>
              </a:rPr>
              <a:t> con lettera iniziale maiuscola, perché per il compilatore non significa niente. L’identificatore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unAltroIntero</a:t>
            </a:r>
            <a:r>
              <a:rPr lang="it-IT" sz="1800" dirty="0">
                <a:effectLst/>
                <a:latin typeface="Times New Roman" panose="02020603050405020304" pitchFamily="18" charset="0"/>
                <a:ea typeface="Times New Roman" panose="02020603050405020304" pitchFamily="18" charset="0"/>
              </a:rPr>
              <a:t> è diverso dall’identificatore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unaltroIntero</a:t>
            </a:r>
            <a:r>
              <a:rPr lang="it-IT" sz="1800" dirty="0">
                <a:effectLst/>
                <a:latin typeface="Times New Roman" panose="02020603050405020304" pitchFamily="18" charset="0"/>
                <a:ea typeface="Times New Roman" panose="02020603050405020304" pitchFamily="18" charset="0"/>
              </a:rPr>
              <a:t>. Bisogna quindi fare attenzione e, specialmente nei primi tempi, avere un po’ di pazienza.</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che tutte le parole nella tabella precedente contengono solo lettere minuscole (oltre ai simboli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_</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Possiamo notare alcune parole chiave che abbiamo già incontrato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package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return</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class</a:t>
            </a:r>
            <a:r>
              <a:rPr lang="it-IT" sz="1800" dirty="0">
                <a:effectLst/>
                <a:latin typeface="Times New Roman" panose="02020603050405020304" pitchFamily="18" charset="0"/>
                <a:ea typeface="Times New Roman" panose="02020603050405020304" pitchFamily="18" charset="0"/>
              </a:rPr>
              <a:t>, e di cui già conosciamo (o quasi) il significato. </a:t>
            </a:r>
          </a:p>
          <a:p>
            <a:r>
              <a:rPr lang="it-IT" sz="1800" dirty="0">
                <a:effectLst/>
                <a:latin typeface="Times New Roman" panose="02020603050405020304" pitchFamily="18" charset="0"/>
                <a:ea typeface="Times New Roman" panose="02020603050405020304" pitchFamily="18" charset="0"/>
              </a:rPr>
              <a:t>Vengono chiamate </a:t>
            </a:r>
            <a:r>
              <a:rPr lang="it-IT" sz="1800" b="1" dirty="0">
                <a:effectLst/>
                <a:latin typeface="Times New Roman" panose="02020603050405020304" pitchFamily="18" charset="0"/>
                <a:ea typeface="Times New Roman" panose="02020603050405020304" pitchFamily="18" charset="0"/>
              </a:rPr>
              <a:t>parole riservate</a:t>
            </a:r>
            <a:r>
              <a:rPr lang="it-IT" sz="1800" dirty="0">
                <a:effectLst/>
                <a:latin typeface="Times New Roman" panose="02020603050405020304" pitchFamily="18" charset="0"/>
                <a:ea typeface="Times New Roman" panose="02020603050405020304" pitchFamily="18" charset="0"/>
              </a:rPr>
              <a:t> (</a:t>
            </a:r>
            <a:r>
              <a:rPr lang="it-IT" sz="1800" b="1" dirty="0" err="1">
                <a:effectLst/>
                <a:latin typeface="Times New Roman" panose="02020603050405020304" pitchFamily="18" charset="0"/>
                <a:ea typeface="Times New Roman" panose="02020603050405020304" pitchFamily="18" charset="0"/>
              </a:rPr>
              <a:t>reserved</a:t>
            </a:r>
            <a:r>
              <a:rPr lang="it-IT" sz="1800" b="1" dirty="0">
                <a:effectLst/>
                <a:latin typeface="Times New Roman" panose="02020603050405020304" pitchFamily="18" charset="0"/>
                <a:ea typeface="Times New Roman" panose="02020603050405020304" pitchFamily="18" charset="0"/>
              </a:rPr>
              <a:t> word</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goto</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const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_</a:t>
            </a:r>
            <a:r>
              <a:rPr lang="it-IT" sz="1800" dirty="0">
                <a:effectLst/>
                <a:latin typeface="Times New Roman" panose="02020603050405020304" pitchFamily="18" charset="0"/>
                <a:ea typeface="Times New Roman" panose="02020603050405020304" pitchFamily="18" charset="0"/>
              </a:rPr>
              <a:t> (quest’ultimo inteso come simbolo di sottolineatura, che in inglese solitamente chiamiamo </a:t>
            </a:r>
            <a:r>
              <a:rPr lang="it-IT" sz="1800" b="1" dirty="0">
                <a:effectLst/>
                <a:latin typeface="Times New Roman" panose="02020603050405020304" pitchFamily="18" charset="0"/>
                <a:ea typeface="Times New Roman" panose="02020603050405020304" pitchFamily="18" charset="0"/>
              </a:rPr>
              <a:t>underscore</a:t>
            </a:r>
            <a:r>
              <a:rPr lang="it-IT" sz="1800" dirty="0">
                <a:effectLst/>
                <a:latin typeface="Times New Roman" panose="02020603050405020304" pitchFamily="18" charset="0"/>
                <a:ea typeface="Times New Roman" panose="02020603050405020304" pitchFamily="18" charset="0"/>
              </a:rPr>
              <a:t>). Queste parole infatti non hanno un significato per il linguaggio, ma semplicemente non si possono utilizzare come identificatori. Le parole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goto</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const</a:t>
            </a:r>
            <a:r>
              <a:rPr lang="it-IT" sz="1800" dirty="0">
                <a:effectLst/>
                <a:latin typeface="Times New Roman" panose="02020603050405020304" pitchFamily="18" charset="0"/>
                <a:ea typeface="Times New Roman" panose="02020603050405020304" pitchFamily="18" charset="0"/>
              </a:rPr>
              <a:t> sono parole riservate da quando è nato il linguaggio, mentre per quanto riguarda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_</a:t>
            </a:r>
            <a:r>
              <a:rPr lang="it-IT" sz="1800" dirty="0">
                <a:effectLst/>
                <a:latin typeface="Times New Roman" panose="02020603050405020304" pitchFamily="18" charset="0"/>
                <a:ea typeface="Times New Roman" panose="02020603050405020304" pitchFamily="18" charset="0"/>
              </a:rPr>
              <a:t> è una novità di Java 9. </a:t>
            </a:r>
          </a:p>
          <a:p>
            <a:r>
              <a:rPr lang="it-IT" sz="1800" b="1" dirty="0">
                <a:effectLst/>
                <a:latin typeface="Times New Roman" panose="02020603050405020304" pitchFamily="18" charset="0"/>
                <a:ea typeface="Times New Roman" panose="02020603050405020304" pitchFamily="18" charset="0"/>
              </a:rPr>
              <a:t>(ICONA JAVA 9)</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Anche altre parole della precedente tabella sono state introdotte con Java 9: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exports</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module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open</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opens</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provides</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requires</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to</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transitive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uses</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with</a:t>
            </a:r>
            <a:r>
              <a:rPr lang="it-IT" sz="1800" dirty="0">
                <a:effectLst/>
                <a:latin typeface="Times New Roman" panose="02020603050405020304" pitchFamily="18" charset="0"/>
                <a:ea typeface="Times New Roman" panose="02020603050405020304" pitchFamily="18" charset="0"/>
              </a:rPr>
              <a:t>. Queste vengono dette </a:t>
            </a:r>
            <a:r>
              <a:rPr lang="it-IT" sz="1800" b="1" dirty="0">
                <a:effectLst/>
                <a:latin typeface="Times New Roman" panose="02020603050405020304" pitchFamily="18" charset="0"/>
                <a:ea typeface="Times New Roman" panose="02020603050405020304" pitchFamily="18" charset="0"/>
              </a:rPr>
              <a:t>parole a utilizzo limitato</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restricted word</a:t>
            </a:r>
            <a:r>
              <a:rPr lang="it-IT" sz="1800" dirty="0">
                <a:effectLst/>
                <a:latin typeface="Times New Roman" panose="02020603050405020304" pitchFamily="18" charset="0"/>
                <a:ea typeface="Times New Roman" panose="02020603050405020304" pitchFamily="18" charset="0"/>
              </a:rPr>
              <a:t>), in quanto non sono utilizzabili come identificatori solo nell’ambito della dichiarazione di un modulo. Quindi potremmo dire che sono keyword solo nel caso di dichiarazione di moduli.</a:t>
            </a:r>
          </a:p>
          <a:p>
            <a:r>
              <a:rPr lang="it-IT" sz="1800" b="1" dirty="0">
                <a:effectLst/>
                <a:latin typeface="Times New Roman" panose="02020603050405020304" pitchFamily="18" charset="0"/>
                <a:ea typeface="Times New Roman" panose="02020603050405020304" pitchFamily="18" charset="0"/>
              </a:rPr>
              <a:t>(ICONA JAVA 13)</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Nella versione 13 è stata introdotta la parola ad utilizzo limitato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che viene utilizzata solo nel nuovo costrutto dell'espressione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switch</a:t>
            </a:r>
            <a:r>
              <a:rPr lang="it-IT" sz="1800" dirty="0">
                <a:effectLst/>
                <a:latin typeface="Times New Roman" panose="02020603050405020304" pitchFamily="18" charset="0"/>
                <a:ea typeface="Times New Roman" panose="02020603050405020304" pitchFamily="18" charset="0"/>
              </a:rPr>
              <a:t> per produrre un valore (argomento del prossimo capitolo). Per quanto riguarda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l’unico vincolo esistente è che non può essere utilizzato come identificatore di un tipo di Java (una classe, un’interfaccia, un’enumerazione, un’annotazione o un record). Possiamo però usare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dirty="0">
                <a:effectLst/>
                <a:latin typeface="Times New Roman" panose="02020603050405020304" pitchFamily="18" charset="0"/>
                <a:ea typeface="Times New Roman" panose="02020603050405020304" pitchFamily="18" charset="0"/>
              </a:rPr>
              <a:t> come identificatore per variabili, metodi, package etc. senza problemi.</a:t>
            </a:r>
          </a:p>
          <a:p>
            <a:r>
              <a:rPr lang="en-GB" sz="1800" b="1" dirty="0">
                <a:effectLst/>
                <a:latin typeface="Times New Roman" panose="02020603050405020304" pitchFamily="18" charset="0"/>
                <a:ea typeface="Times New Roman" panose="02020603050405020304" pitchFamily="18" charset="0"/>
              </a:rPr>
              <a:t>(JAVA 14 ICON)</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Stesso di discorso vale per la restricted word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record</a:t>
            </a:r>
            <a:r>
              <a:rPr lang="it-IT" sz="1800" dirty="0">
                <a:effectLst/>
                <a:latin typeface="Times New Roman" panose="02020603050405020304" pitchFamily="18" charset="0"/>
                <a:ea typeface="Times New Roman" panose="02020603050405020304" pitchFamily="18" charset="0"/>
              </a:rPr>
              <a:t> introdotta in Java 14. </a:t>
            </a:r>
          </a:p>
          <a:p>
            <a:r>
              <a:rPr lang="it-IT" sz="1800" b="1" dirty="0">
                <a:effectLst/>
                <a:latin typeface="Times New Roman" panose="02020603050405020304" pitchFamily="18" charset="0"/>
                <a:ea typeface="Times New Roman" panose="02020603050405020304" pitchFamily="18" charset="0"/>
              </a:rPr>
              <a:t>(JAVA 15 ICON)</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Infine, anche le restricted word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sealed</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permits</a:t>
            </a:r>
            <a:r>
              <a:rPr lang="it-IT" sz="1800" dirty="0">
                <a:effectLst/>
                <a:latin typeface="Times New Roman" panose="02020603050405020304" pitchFamily="18" charset="0"/>
                <a:ea typeface="Times New Roman" panose="02020603050405020304" pitchFamily="18" charset="0"/>
              </a:rPr>
              <a:t>, introdotte nella versione 15, hanno lo stesso vincolo sui nomi dei tipi Java. Invece,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non-sealed</a:t>
            </a:r>
            <a:r>
              <a:rPr lang="it-IT" sz="1800" dirty="0">
                <a:effectLst/>
                <a:latin typeface="Times New Roman" panose="02020603050405020304" pitchFamily="18" charset="0"/>
                <a:ea typeface="Times New Roman" panose="02020603050405020304" pitchFamily="18" charset="0"/>
              </a:rPr>
              <a:t>, contiene un simbolo non usabile per i nomi.</a:t>
            </a:r>
          </a:p>
          <a:p>
            <a:r>
              <a:rPr lang="it-IT" sz="1800" b="1" dirty="0">
                <a:effectLst/>
                <a:latin typeface="Times New Roman" panose="02020603050405020304" pitchFamily="18" charset="0"/>
                <a:ea typeface="Times New Roman" panose="02020603050405020304" pitchFamily="18" charset="0"/>
              </a:rPr>
              <a:t>(ICONA JAVA 10)</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parola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invece, è definita come </a:t>
            </a:r>
            <a:r>
              <a:rPr lang="it-IT" sz="1800" b="1" dirty="0">
                <a:effectLst/>
                <a:latin typeface="Times New Roman" panose="02020603050405020304" pitchFamily="18" charset="0"/>
                <a:ea typeface="Times New Roman" panose="02020603050405020304" pitchFamily="18" charset="0"/>
              </a:rPr>
              <a:t>nome di tipo riservato</a:t>
            </a:r>
            <a:r>
              <a:rPr lang="it-IT" sz="1800" dirty="0">
                <a:effectLst/>
                <a:latin typeface="Times New Roman" panose="02020603050405020304" pitchFamily="18" charset="0"/>
                <a:ea typeface="Times New Roman" panose="02020603050405020304" pitchFamily="18" charset="0"/>
              </a:rPr>
              <a:t> (in inglese </a:t>
            </a:r>
            <a:r>
              <a:rPr lang="it-IT" sz="1800" b="1" dirty="0" err="1">
                <a:effectLst/>
                <a:latin typeface="Times New Roman" panose="02020603050405020304" pitchFamily="18" charset="0"/>
                <a:ea typeface="Times New Roman" panose="02020603050405020304" pitchFamily="18" charset="0"/>
              </a:rPr>
              <a:t>reserved</a:t>
            </a:r>
            <a:r>
              <a:rPr lang="it-IT" sz="1800" b="1" dirty="0">
                <a:effectLst/>
                <a:latin typeface="Times New Roman" panose="02020603050405020304" pitchFamily="18" charset="0"/>
                <a:ea typeface="Times New Roman" panose="02020603050405020304" pitchFamily="18" charset="0"/>
              </a:rPr>
              <a:t> type name</a:t>
            </a:r>
            <a:r>
              <a:rPr lang="it-IT" sz="1800" dirty="0">
                <a:effectLst/>
                <a:latin typeface="Times New Roman" panose="02020603050405020304" pitchFamily="18" charset="0"/>
                <a:ea typeface="Times New Roman" panose="02020603050405020304" pitchFamily="18" charset="0"/>
              </a:rPr>
              <a:t>). È stata introdotta con la versione 10 di Java, e ad essa è dedicato il paragrafo 3.7. Tuttavia, anche per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l’unico vincolo rimane quello di non poter utilizzare questa parola come identificatore per una classe o un altro tipo Java.</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Nel prossimo paragrafo, vedremo che esiste una convenzione che richiede che i nomi dei tipi inizino con lettera maiuscola. Questo riduce drasticamente la possibilità che l’introduzione delle parole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var</a:t>
            </a:r>
            <a:r>
              <a:rPr lang="it-IT" sz="1800" b="1" dirty="0">
                <a:solidFill>
                  <a:srgbClr val="000000"/>
                </a:solidFill>
                <a:effectLst/>
                <a:latin typeface="Times New Roman" panose="02020603050405020304" pitchFamily="18"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sealed</a:t>
            </a:r>
            <a:r>
              <a:rPr lang="it-IT" sz="1800" b="1" dirty="0">
                <a:solidFill>
                  <a:srgbClr val="000000"/>
                </a:solidFill>
                <a:effectLst/>
                <a:latin typeface="Times New Roman" panose="02020603050405020304" pitchFamily="18"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permits</a:t>
            </a:r>
            <a:r>
              <a:rPr lang="it-IT" sz="1800" b="1" dirty="0">
                <a:solidFill>
                  <a:srgbClr val="000000"/>
                </a:solidFill>
                <a:effectLst/>
                <a:latin typeface="Times New Roman" panose="02020603050405020304" pitchFamily="18"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record</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yield</a:t>
            </a:r>
            <a:r>
              <a:rPr lang="it-IT" sz="1800" b="1" dirty="0">
                <a:solidFill>
                  <a:srgbClr val="000000"/>
                </a:solidFill>
                <a:effectLst/>
                <a:latin typeface="Times New Roman" panose="02020603050405020304" pitchFamily="18" charset="0"/>
                <a:ea typeface="Times New Roman" panose="02020603050405020304" pitchFamily="18" charset="0"/>
              </a:rPr>
              <a:t>, possa causare danni al codice scritto prima che tali parole fossero definite nel linguaggio.</a:t>
            </a:r>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 noti che le parole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@interface</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non-sealed</a:t>
            </a:r>
            <a:r>
              <a:rPr lang="it-IT" sz="1800" dirty="0">
                <a:effectLst/>
                <a:latin typeface="Times New Roman" panose="02020603050405020304" pitchFamily="18" charset="0"/>
                <a:ea typeface="Times New Roman" panose="02020603050405020304" pitchFamily="18" charset="0"/>
              </a:rPr>
              <a:t>,  utilizzando i simboli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non potrebbero comunque essere utilizzata come identificatori. Infatti, che tali simboli non sono validi per definire un identificatore come abbiamo asserito all’inizio di questo paragrafo.</a:t>
            </a:r>
          </a:p>
          <a:p>
            <a:r>
              <a:rPr lang="it-IT" sz="1800" b="1" dirty="0">
                <a:effectLst/>
                <a:latin typeface="Times New Roman" panose="02020603050405020304" pitchFamily="18" charset="0"/>
                <a:ea typeface="Times New Roman" panose="02020603050405020304" pitchFamily="18" charset="0"/>
              </a:rPr>
              <a:t>(ICONA BEST PRACTICE)</a:t>
            </a:r>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8477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Gli identificatori (sinonimo di nomi) dei metodi, delle classi, degli oggetti, dei package, delle</a:t>
            </a:r>
          </a:p>
          <a:p>
            <a:r>
              <a:rPr lang="it-IT" sz="1800" dirty="0">
                <a:effectLst/>
                <a:latin typeface="Times New Roman" panose="02020603050405020304" pitchFamily="18" charset="0"/>
                <a:ea typeface="Times New Roman" panose="02020603050405020304" pitchFamily="18" charset="0"/>
              </a:rPr>
              <a:t>variabili e delle costanti. In realtà, esistono anche altri elementi della programmazione che non abbiamo ancora studiato (alcuni nominati nell’approfondimento 2.1 on line), a cui è necessario assegnare degli identificatori. In particolare, le interfacce, le enumerazioni, i record e le annotazioni hanno alcune caratteristiche in comune con le classi: per esempio possono essere definiti in maniera indipendente all’interno di un file dedicato. Tutti questi elementi fondamentali di programmazione, appartengono alla categoria dei </a:t>
            </a:r>
            <a:r>
              <a:rPr lang="it-IT" sz="1800" b="1" dirty="0">
                <a:effectLst/>
                <a:latin typeface="Times New Roman" panose="02020603050405020304" pitchFamily="18" charset="0"/>
                <a:ea typeface="Times New Roman" panose="02020603050405020304" pitchFamily="18" charset="0"/>
              </a:rPr>
              <a:t>tipi di Java</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Java types</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Attenzione a non confondere l’argomento principale di questo capitolo (i tipi di dato) con questa definizione. Il termine </a:t>
            </a:r>
            <a:r>
              <a:rPr lang="it-IT" sz="1800" b="1" i="1" dirty="0">
                <a:solidFill>
                  <a:srgbClr val="000000"/>
                </a:solidFill>
                <a:effectLst/>
                <a:latin typeface="Times New Roman" panose="02020603050405020304" pitchFamily="18" charset="0"/>
                <a:ea typeface="Times New Roman" panose="02020603050405020304" pitchFamily="18" charset="0"/>
              </a:rPr>
              <a:t>tipi di Java</a:t>
            </a:r>
            <a:r>
              <a:rPr lang="it-IT" sz="1800" b="1" dirty="0">
                <a:solidFill>
                  <a:srgbClr val="000000"/>
                </a:solidFill>
                <a:effectLst/>
                <a:latin typeface="Times New Roman" panose="02020603050405020304" pitchFamily="18" charset="0"/>
                <a:ea typeface="Times New Roman" panose="02020603050405020304" pitchFamily="18" charset="0"/>
              </a:rPr>
              <a:t>, ci serve solo per individuare una categoria di elementi di programmazione che hanno delle caratteristiche in comune (che scopriremo quando le studieremo).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abbiamo visto nel capitolo 2, assegnare un nome ad una certa astrazione, è un’attività particolarmente importante nella programmazione ad oggetti. Scegliere un identificatore, potrebbe sembrare una banalità, ma non lo è, e non deve mai esserlo! A volte scegliere un identificatore corretto, richiede diversi minuti, ed è molto frequente che si decida di modificare un identificatore in un secondo momento. Quando un identificatore è difficile da scegliere, probabilmente è un segno che non abbiamo le idee chiare su cosa dobbiamo fare.</a:t>
            </a:r>
          </a:p>
          <a:p>
            <a:r>
              <a:rPr lang="it-IT" sz="1800" dirty="0">
                <a:effectLst/>
                <a:latin typeface="Times New Roman" panose="02020603050405020304" pitchFamily="18" charset="0"/>
                <a:ea typeface="Times New Roman" panose="02020603050405020304" pitchFamily="18" charset="0"/>
              </a:rPr>
              <a:t>Detto questo, per non ottenere degli errori in fase di compilazione, ci sono due semplici regole da rispettare quando si sceglie un identificatore.</a:t>
            </a:r>
          </a:p>
        </p:txBody>
      </p:sp>
    </p:spTree>
    <p:extLst>
      <p:ext uri="{BB962C8B-B14F-4D97-AF65-F5344CB8AC3E}">
        <p14:creationId xmlns:p14="http://schemas.microsoft.com/office/powerpoint/2010/main" val="1014140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 primo capitolo abbiamo introdotto alcuni concetti base di informatica. Abbiamo asserito che esistono due tipologie di memoria: la </a:t>
            </a:r>
            <a:r>
              <a:rPr lang="it-IT" sz="1800" b="1" dirty="0">
                <a:effectLst/>
                <a:latin typeface="Times New Roman" panose="02020603050405020304" pitchFamily="18" charset="0"/>
                <a:ea typeface="Times New Roman" panose="02020603050405020304" pitchFamily="18" charset="0"/>
              </a:rPr>
              <a:t>memoria principale</a:t>
            </a:r>
            <a:r>
              <a:rPr lang="it-IT" sz="1800" dirty="0">
                <a:effectLst/>
                <a:latin typeface="Times New Roman" panose="02020603050405020304" pitchFamily="18" charset="0"/>
                <a:ea typeface="Times New Roman" panose="02020603050405020304" pitchFamily="18" charset="0"/>
              </a:rPr>
              <a:t> (che abbiamo associato alla memoria RAM) e la </a:t>
            </a:r>
            <a:r>
              <a:rPr lang="it-IT" sz="1800" b="1" dirty="0">
                <a:effectLst/>
                <a:latin typeface="Times New Roman" panose="02020603050405020304" pitchFamily="18" charset="0"/>
                <a:ea typeface="Times New Roman" panose="02020603050405020304" pitchFamily="18" charset="0"/>
              </a:rPr>
              <a:t>memoria secondaria</a:t>
            </a:r>
            <a:r>
              <a:rPr lang="it-IT" sz="1800" dirty="0">
                <a:effectLst/>
                <a:latin typeface="Times New Roman" panose="02020603050405020304" pitchFamily="18" charset="0"/>
                <a:ea typeface="Times New Roman" panose="02020603050405020304" pitchFamily="18" charset="0"/>
              </a:rPr>
              <a:t> (che abbiamo associato all’hard disk). La memoria secondaria è una memoria permanente (ovvero sopravvive allo spegnimento del computer). Questa è utilizzata per salvare i dati sotto forma di </a:t>
            </a:r>
            <a:r>
              <a:rPr lang="it-IT" sz="1800" b="1" dirty="0">
                <a:effectLst/>
                <a:latin typeface="Times New Roman" panose="02020603050405020304" pitchFamily="18" charset="0"/>
                <a:ea typeface="Times New Roman" panose="02020603050405020304" pitchFamily="18" charset="0"/>
              </a:rPr>
              <a:t>file</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cartelle</a:t>
            </a:r>
            <a:r>
              <a:rPr lang="it-IT" sz="1800" dirty="0">
                <a:effectLst/>
                <a:latin typeface="Times New Roman" panose="02020603050405020304" pitchFamily="18" charset="0"/>
                <a:ea typeface="Times New Roman" panose="02020603050405020304" pitchFamily="18" charset="0"/>
              </a:rPr>
              <a:t>. La memoria RAM invece è volatile, e ottimizzata per la scrittura e il recupero dei dati. Nella memoria RAM vengono caricati i programmi con i propri dati quando essi vengono eseguiti. </a:t>
            </a:r>
          </a:p>
          <a:p>
            <a:r>
              <a:rPr lang="it-IT" sz="1800" dirty="0">
                <a:effectLst/>
                <a:latin typeface="Times New Roman" panose="02020603050405020304" pitchFamily="18" charset="0"/>
                <a:ea typeface="Times New Roman" panose="02020603050405020304" pitchFamily="18" charset="0"/>
              </a:rPr>
              <a:t>È il </a:t>
            </a:r>
            <a:r>
              <a:rPr lang="it-IT" sz="1800" b="1" dirty="0">
                <a:effectLst/>
                <a:latin typeface="Times New Roman" panose="02020603050405020304" pitchFamily="18" charset="0"/>
                <a:ea typeface="Times New Roman" panose="02020603050405020304" pitchFamily="18" charset="0"/>
              </a:rPr>
              <a:t>processore</a:t>
            </a:r>
            <a:r>
              <a:rPr lang="it-IT" sz="1800" dirty="0">
                <a:effectLst/>
                <a:latin typeface="Times New Roman" panose="02020603050405020304" pitchFamily="18" charset="0"/>
                <a:ea typeface="Times New Roman" panose="02020603050405020304" pitchFamily="18" charset="0"/>
              </a:rPr>
              <a:t> che gestisce la memoria, decidendo in che parte di essa devono essere memorizzati tali dati. Infatti, possiamo immaginare la memoria come una lunga sequenza di celle che possono memorizzare uno solo tra due valori, che per convenzione assumiamo essere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Queste celle vengono dette </a:t>
            </a:r>
            <a:r>
              <a:rPr lang="it-IT" sz="1800" b="1" dirty="0">
                <a:effectLst/>
                <a:latin typeface="Times New Roman" panose="02020603050405020304" pitchFamily="18" charset="0"/>
                <a:ea typeface="Times New Roman" panose="02020603050405020304" pitchFamily="18" charset="0"/>
              </a:rPr>
              <a:t>bit</a:t>
            </a:r>
            <a:r>
              <a:rPr lang="it-IT" sz="1800" dirty="0">
                <a:effectLst/>
                <a:latin typeface="Times New Roman" panose="02020603050405020304" pitchFamily="18" charset="0"/>
                <a:ea typeface="Times New Roman" panose="02020603050405020304" pitchFamily="18" charset="0"/>
              </a:rPr>
              <a:t>, abbreviativo di </a:t>
            </a:r>
            <a:r>
              <a:rPr lang="it-IT" sz="1800" b="1" dirty="0">
                <a:effectLst/>
                <a:latin typeface="Times New Roman" panose="02020603050405020304" pitchFamily="18" charset="0"/>
                <a:ea typeface="Times New Roman" panose="02020603050405020304" pitchFamily="18" charset="0"/>
              </a:rPr>
              <a:t>binary digit</a:t>
            </a:r>
            <a:r>
              <a:rPr lang="it-IT" sz="1800" dirty="0">
                <a:effectLst/>
                <a:latin typeface="Times New Roman" panose="02020603050405020304" pitchFamily="18" charset="0"/>
                <a:ea typeface="Times New Roman" panose="02020603050405020304" pitchFamily="18" charset="0"/>
              </a:rPr>
              <a:t>, ovvero </a:t>
            </a:r>
            <a:r>
              <a:rPr lang="it-IT" sz="1800" i="1" dirty="0">
                <a:effectLst/>
                <a:latin typeface="Times New Roman" panose="02020603050405020304" pitchFamily="18" charset="0"/>
                <a:ea typeface="Times New Roman" panose="02020603050405020304" pitchFamily="18" charset="0"/>
              </a:rPr>
              <a:t>cifra binaria</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Ricordiamo che il sistema numerico binario (di cui parleremo tra poco) contempla solo i simboli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0</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1</a:t>
            </a:r>
            <a:r>
              <a:rPr lang="it-IT" sz="1800" b="1" dirty="0">
                <a:solidFill>
                  <a:srgbClr val="000000"/>
                </a:solidFill>
                <a:effectLst/>
                <a:latin typeface="Times New Roman" panose="02020603050405020304" pitchFamily="18" charset="0"/>
                <a:ea typeface="Times New Roman" panose="02020603050405020304" pitchFamily="18" charset="0"/>
              </a:rPr>
              <a:t>, che rappresentano anche l’intero vocabolario del linguaggio macchina.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All’interno di queste celle vengono memorizzati i dati dal processore. Per fare questo, la memoria viene suddivisa in sequenze di otto bit che vengono chiamate </a:t>
            </a:r>
            <a:r>
              <a:rPr lang="it-IT" sz="1800" b="1" dirty="0">
                <a:effectLst/>
                <a:latin typeface="Times New Roman" panose="02020603050405020304" pitchFamily="18" charset="0"/>
                <a:ea typeface="Times New Roman" panose="02020603050405020304" pitchFamily="18" charset="0"/>
              </a:rPr>
              <a:t>byte</a:t>
            </a:r>
            <a:r>
              <a:rPr lang="it-IT" sz="1800" dirty="0">
                <a:effectLst/>
                <a:latin typeface="Times New Roman" panose="02020603050405020304" pitchFamily="18" charset="0"/>
                <a:ea typeface="Times New Roman" panose="02020603050405020304" pitchFamily="18" charset="0"/>
              </a:rPr>
              <a:t>, che hanno la caratteristica di avere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ovvero di poter essere individuate da un numero. </a:t>
            </a:r>
          </a:p>
        </p:txBody>
      </p:sp>
      <p:sp>
        <p:nvSpPr>
          <p:cNvPr id="4" name="Segnaposto numero diapositiva 3"/>
          <p:cNvSpPr>
            <a:spLocks noGrp="1"/>
          </p:cNvSpPr>
          <p:nvPr>
            <p:ph type="sldNum" sz="quarter" idx="5"/>
          </p:nvPr>
        </p:nvSpPr>
        <p:spPr/>
        <p:txBody>
          <a:bodyPr/>
          <a:lstStyle/>
          <a:p>
            <a:fld id="{545D8BF2-49EE-4CE2-A2D7-61B744D1E4D9}" type="slidenum">
              <a:rPr lang="it-IT" smtClean="0"/>
              <a:t>11</a:t>
            </a:fld>
            <a:endParaRPr lang="it-IT"/>
          </a:p>
        </p:txBody>
      </p:sp>
    </p:spTree>
    <p:extLst>
      <p:ext uri="{BB962C8B-B14F-4D97-AF65-F5344CB8AC3E}">
        <p14:creationId xmlns:p14="http://schemas.microsoft.com/office/powerpoint/2010/main" val="2710773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Quindi un </a:t>
            </a:r>
            <a:r>
              <a:rPr lang="it-IT" sz="1800" b="1" dirty="0">
                <a:effectLst/>
                <a:latin typeface="Times New Roman" panose="02020603050405020304" pitchFamily="18" charset="0"/>
                <a:ea typeface="Times New Roman" panose="02020603050405020304" pitchFamily="18" charset="0"/>
              </a:rPr>
              <a:t>byte</a:t>
            </a:r>
            <a:r>
              <a:rPr lang="it-IT" sz="1800" dirty="0">
                <a:effectLst/>
                <a:latin typeface="Times New Roman" panose="02020603050405020304" pitchFamily="18" charset="0"/>
                <a:ea typeface="Times New Roman" panose="02020603050405020304" pitchFamily="18" charset="0"/>
              </a:rPr>
              <a:t> è composto da otto bit e ad esso è associato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numerico per essere individuato. </a:t>
            </a:r>
            <a:r>
              <a:rPr lang="it-IT" sz="1800" b="1" dirty="0">
                <a:effectLst/>
                <a:latin typeface="Times New Roman" panose="02020603050405020304" pitchFamily="18" charset="0"/>
                <a:ea typeface="Times New Roman" panose="02020603050405020304" pitchFamily="18" charset="0"/>
              </a:rPr>
              <a:t>Otto bit</a:t>
            </a:r>
            <a:r>
              <a:rPr lang="it-IT" sz="1800" dirty="0">
                <a:effectLst/>
                <a:latin typeface="Times New Roman" panose="02020603050405020304" pitchFamily="18" charset="0"/>
                <a:ea typeface="Times New Roman" panose="02020603050405020304" pitchFamily="18" charset="0"/>
              </a:rPr>
              <a:t> sono sufficienti per memorizzare ogni singolo simbolo presente su una tastiera. Infatti, come vedremo nel prossimo paragrafo, usando il sistema numerico binario, con un byte possiamo rappresentare una certa quantità di numeri. Ogni numero può essere tradotto in uno specifico simbolo, numero o carattere presente sulla tastiera, mediante uno standard di decodifica.</a:t>
            </a:r>
          </a:p>
          <a:p>
            <a:r>
              <a:rPr lang="it-IT" sz="1800" dirty="0">
                <a:effectLst/>
                <a:latin typeface="Times New Roman" panose="02020603050405020304" pitchFamily="18" charset="0"/>
                <a:ea typeface="Times New Roman" panose="02020603050405020304" pitchFamily="18" charset="0"/>
              </a:rPr>
              <a:t>Il fatto che un particolare byte possa essere individuato tramite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numerico, permette al processore di tenere traccia di dove i dati vengono immagazzinati, per poi recuperarli velocemente in futuro.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L’indirizzo viene scelto non dall’hardware, ma dal programma. Nel caso di Java sarà la Java Virtual Machine ad occuparsi di tutto, il programmatore non interagirà mai con la memoria a basso livello, come avviene in altri linguaggi.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 un dato è troppo grande per essere immagazzinato in un byte, allora esso verrà memorizzato anche su altri byte adiacenti, che verranno considerati un’unica </a:t>
            </a:r>
            <a:r>
              <a:rPr lang="it-IT" sz="1800" b="1" dirty="0">
                <a:effectLst/>
                <a:latin typeface="Times New Roman" panose="02020603050405020304" pitchFamily="18" charset="0"/>
                <a:ea typeface="Times New Roman" panose="02020603050405020304" pitchFamily="18" charset="0"/>
              </a:rPr>
              <a:t>area di memoria</a:t>
            </a:r>
            <a:r>
              <a:rPr lang="it-IT" sz="1800" dirty="0">
                <a:effectLst/>
                <a:latin typeface="Times New Roman" panose="02020603050405020304" pitchFamily="18" charset="0"/>
                <a:ea typeface="Times New Roman" panose="02020603050405020304" pitchFamily="18" charset="0"/>
              </a:rPr>
              <a:t> il cui indirizzo coinciderà con l’indirizzo del primo byte. Nella figura 3.1, viene rappresentato un esempio di come alcuni dati potrebbero essere immagazzinati in memoria.</a:t>
            </a:r>
          </a:p>
          <a:p>
            <a:r>
              <a:rPr lang="it-IT" sz="1800" b="1" dirty="0">
                <a:solidFill>
                  <a:srgbClr val="0000FF"/>
                </a:solidFill>
                <a:effectLst/>
                <a:latin typeface="Arial" panose="020B0604020202020204" pitchFamily="34" charset="0"/>
                <a:ea typeface="MS Mincho" panose="02020609040205080304" pitchFamily="49" charset="-128"/>
              </a:rPr>
              <a:t>Figura 3.1 - Rappresentazione della memoria.</a:t>
            </a:r>
            <a:endParaRPr lang="it-IT" sz="1800" dirty="0">
              <a:solidFill>
                <a:srgbClr val="00008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Le sequenze di 8 bit (i byte) quindi rappresentano numeri interi. Questi possono essere decodificati anche in caratteri, simboli, in numeri decimali o in altri numeri utilizzando un metodo di decodifica. Anche se la programmazione Java, non richiede la gestione della memoria diretta, è utile avere almeno un’idea di come vengono memorizzate le informazioni in Java. Partiamo dai numeri interi.</a:t>
            </a:r>
          </a:p>
        </p:txBody>
      </p:sp>
    </p:spTree>
    <p:extLst>
      <p:ext uri="{BB962C8B-B14F-4D97-AF65-F5344CB8AC3E}">
        <p14:creationId xmlns:p14="http://schemas.microsoft.com/office/powerpoint/2010/main" val="796897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modo in cui i numeri interi vengono memorizzati in memoria, non è particolarmente complicato. Inoltre, fa parte del tipico bagaglio di un programmatore conoscere quantomeno le basi della memorizzazione dei dati. Per quanto riguarda i numeri interi, dobbiamo comprendere il meccanismo del metodo noto come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Un prerequisito per poter comprendere agevolmente questo argomento però, è quello di conoscere come funziona il </a:t>
            </a:r>
            <a:r>
              <a:rPr lang="it-IT" sz="1800" b="1" dirty="0">
                <a:effectLst/>
                <a:latin typeface="Times New Roman" panose="02020603050405020304" pitchFamily="18" charset="0"/>
                <a:ea typeface="Times New Roman" panose="02020603050405020304" pitchFamily="18" charset="0"/>
              </a:rPr>
              <a:t>sistema numerico binario</a:t>
            </a:r>
            <a:r>
              <a:rPr lang="it-IT" sz="1800" dirty="0">
                <a:effectLst/>
                <a:latin typeface="Times New Roman" panose="02020603050405020304" pitchFamily="18" charset="0"/>
                <a:ea typeface="Times New Roman" panose="02020603050405020304" pitchFamily="18" charset="0"/>
              </a:rPr>
              <a:t>. Quindi, nel prossimo paragrafo, presentiamo una piccola parentesi matematica sui sistemi numerici.</a:t>
            </a: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sistema numerico binario</a:t>
            </a:r>
            <a:r>
              <a:rPr lang="it-IT" sz="1800" dirty="0">
                <a:effectLst/>
                <a:latin typeface="Times New Roman" panose="02020603050405020304" pitchFamily="18" charset="0"/>
                <a:ea typeface="Times New Roman" panose="02020603050405020304" pitchFamily="18" charset="0"/>
              </a:rPr>
              <a:t> è un sistema che permette di rappresentare i numeri interi. Esso, è equivalente al </a:t>
            </a:r>
            <a:r>
              <a:rPr lang="it-IT" sz="1800" b="1" dirty="0">
                <a:effectLst/>
                <a:latin typeface="Times New Roman" panose="02020603050405020304" pitchFamily="18" charset="0"/>
                <a:ea typeface="Times New Roman" panose="02020603050405020304" pitchFamily="18" charset="0"/>
              </a:rPr>
              <a:t>sistema numerico decimale</a:t>
            </a:r>
            <a:r>
              <a:rPr lang="it-IT" sz="1800" dirty="0">
                <a:effectLst/>
                <a:latin typeface="Times New Roman" panose="02020603050405020304" pitchFamily="18" charset="0"/>
                <a:ea typeface="Times New Roman" panose="02020603050405020304" pitchFamily="18" charset="0"/>
              </a:rPr>
              <a:t> che utilizziamo usualmente nella vita di tutti i giorni. La differenza essenziale, è che il sistema numerico decimale utilizza dieci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8</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mentre il sistema numerico binario solo due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ma è comunque capace di rappresentare qualsiasi numero intero. </a:t>
            </a:r>
          </a:p>
          <a:p>
            <a:r>
              <a:rPr lang="it-IT" sz="1800" dirty="0">
                <a:effectLst/>
                <a:latin typeface="Times New Roman" panose="02020603050405020304" pitchFamily="18" charset="0"/>
                <a:ea typeface="Times New Roman" panose="02020603050405020304" pitchFamily="18" charset="0"/>
              </a:rPr>
              <a:t>Il sistema numerico decimale e il sistema numerico binario vengono anche detti </a:t>
            </a:r>
            <a:r>
              <a:rPr lang="it-IT" sz="1800" b="1" dirty="0">
                <a:effectLst/>
                <a:latin typeface="Times New Roman" panose="02020603050405020304" pitchFamily="18" charset="0"/>
                <a:ea typeface="Times New Roman" panose="02020603050405020304" pitchFamily="18" charset="0"/>
              </a:rPr>
              <a:t>sistema numerico posizionale in base 10</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sistema numerico posizionale in base 2</a:t>
            </a:r>
            <a:r>
              <a:rPr lang="it-IT" sz="1800" dirty="0">
                <a:effectLst/>
                <a:latin typeface="Times New Roman" panose="02020603050405020304" pitchFamily="18" charset="0"/>
                <a:ea typeface="Times New Roman" panose="02020603050405020304" pitchFamily="18" charset="0"/>
              </a:rPr>
              <a:t>. Infatti, in entrambi i sistemi, ogni cifra di un numero viene interpretata in base alla sua posizione. Partendo da destra verso sinistra e considerando la posizione iniziale con indice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avremo che:</a:t>
            </a:r>
          </a:p>
          <a:p>
            <a:pPr marL="180340" indent="180340"/>
            <a:r>
              <a:rPr lang="it-IT" sz="1800" dirty="0">
                <a:effectLst/>
                <a:latin typeface="Times New Roman" panose="02020603050405020304" pitchFamily="18" charset="0"/>
                <a:ea typeface="MS Mincho" panose="02020609040205080304" pitchFamily="49" charset="-128"/>
              </a:rPr>
              <a:t>per interpretare un numero nel sistema decimale, ogni cifra nella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deve essere moltiplicato per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e i risultati delle moltiplicazioni vanno poi sommati tra loro.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Tenendo presente che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risulterà che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+ 2*10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che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100+20+7</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Per interpretare un numero nel sistema binario, ogni cifra nella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deve essere moltiplicata per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e i risultati delle moltiplicazioni vanno poi sommati tra loro. Per rappresentare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con il sistema binario quindi, dovremo scrivere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MS Mincho" panose="02020609040205080304" pitchFamily="49" charset="-128"/>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64+32+16+8+4+2+1</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a:t>
            </a:r>
          </a:p>
          <a:p>
            <a:r>
              <a:rPr lang="it-IT" sz="1800" dirty="0">
                <a:effectLst/>
                <a:latin typeface="Times New Roman" panose="02020603050405020304" pitchFamily="18" charset="0"/>
                <a:ea typeface="Times New Roman" panose="02020603050405020304" pitchFamily="18" charset="0"/>
              </a:rPr>
              <a:t>Esistono anche altri sistemi come il </a:t>
            </a:r>
            <a:r>
              <a:rPr lang="it-IT" sz="1800" b="1" dirty="0">
                <a:effectLst/>
                <a:latin typeface="Times New Roman" panose="02020603050405020304" pitchFamily="18" charset="0"/>
                <a:ea typeface="Times New Roman" panose="02020603050405020304" pitchFamily="18" charset="0"/>
              </a:rPr>
              <a:t>sistema numerico ottale</a:t>
            </a:r>
            <a:r>
              <a:rPr lang="it-IT" sz="1800" dirty="0">
                <a:effectLst/>
                <a:latin typeface="Times New Roman" panose="02020603050405020304" pitchFamily="18" charset="0"/>
                <a:ea typeface="Times New Roman" panose="02020603050405020304" pitchFamily="18" charset="0"/>
              </a:rPr>
              <a:t> ed il </a:t>
            </a:r>
            <a:r>
              <a:rPr lang="it-IT" sz="1800" b="1" dirty="0">
                <a:effectLst/>
                <a:latin typeface="Times New Roman" panose="02020603050405020304" pitchFamily="18" charset="0"/>
                <a:ea typeface="Times New Roman" panose="02020603050405020304" pitchFamily="18" charset="0"/>
              </a:rPr>
              <a:t>sistema numerico esadecimale</a:t>
            </a:r>
            <a:r>
              <a:rPr lang="it-IT" sz="1800" dirty="0">
                <a:effectLst/>
                <a:latin typeface="Times New Roman" panose="02020603050405020304" pitchFamily="18" charset="0"/>
                <a:ea typeface="Times New Roman" panose="02020603050405020304" pitchFamily="18" charset="0"/>
              </a:rPr>
              <a:t>, detti anche rispettivamente </a:t>
            </a:r>
            <a:r>
              <a:rPr lang="it-IT" sz="1800" b="1" dirty="0">
                <a:effectLst/>
                <a:latin typeface="Times New Roman" panose="02020603050405020304" pitchFamily="18" charset="0"/>
                <a:ea typeface="Times New Roman" panose="02020603050405020304" pitchFamily="18" charset="0"/>
              </a:rPr>
              <a:t>sistema numerico posizionale in base 8</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sistema numerico posizionale in base 16</a:t>
            </a:r>
            <a:r>
              <a:rPr lang="it-IT" sz="1800" dirty="0">
                <a:effectLst/>
                <a:latin typeface="Times New Roman" panose="02020603050405020304" pitchFamily="18" charset="0"/>
                <a:ea typeface="Times New Roman" panose="02020603050405020304" pitchFamily="18" charset="0"/>
              </a:rPr>
              <a:t>. Il sistema numerico ottale utilizza solo otto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mentre l’esadecimale ben sedici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8</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D</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a:t>
            </a:r>
            <a:r>
              <a:rPr lang="it-IT" sz="1800" dirty="0">
                <a:effectLst/>
                <a:latin typeface="Times New Roman" panose="02020603050405020304" pitchFamily="18" charset="0"/>
                <a:ea typeface="Times New Roman" panose="02020603050405020304" pitchFamily="18" charset="0"/>
              </a:rPr>
              <a:t>). Per questi sistemi valgono le stesse considerazioni fatte per il sistema decimale e il sistema binario. Quindi col sistema ottale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sarà scritto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177</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64+56+7 = 127</a:t>
            </a:r>
            <a:r>
              <a:rPr lang="it-IT" sz="1800" dirty="0">
                <a:effectLst/>
                <a:latin typeface="Times New Roman" panose="02020603050405020304" pitchFamily="18" charset="0"/>
                <a:ea typeface="Times New Roman" panose="02020603050405020304" pitchFamily="18" charset="0"/>
              </a:rPr>
              <a:t>). Invece in esadecimale scriveremo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7F</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7*16</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F*16</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112+15 = 127</a:t>
            </a:r>
            <a:r>
              <a:rPr lang="it-IT" sz="1800" dirty="0">
                <a:effectLst/>
                <a:latin typeface="Times New Roman" panose="02020603050405020304" pitchFamily="18" charset="0"/>
                <a:ea typeface="Times New Roman" panose="02020603050405020304" pitchFamily="18" charset="0"/>
              </a:rPr>
              <a:t>).</a:t>
            </a:r>
          </a:p>
          <a:p>
            <a:pPr marL="548640" indent="-548640">
              <a:spcBef>
                <a:spcPts val="1200"/>
              </a:spcBef>
              <a:spcAft>
                <a:spcPts val="300"/>
              </a:spcAft>
              <a:tabLst>
                <a:tab pos="228600" algn="l"/>
              </a:tabLst>
            </a:pPr>
            <a:r>
              <a:rPr lang="it-IT" sz="1800" b="1" dirty="0">
                <a:effectLst/>
                <a:latin typeface="Arial" panose="020B0604020202020204" pitchFamily="34" charset="0"/>
              </a:rPr>
              <a:t>3.2.2.2 Metodo del complemento a due</a:t>
            </a:r>
          </a:p>
          <a:p>
            <a:r>
              <a:rPr lang="it-IT" sz="1800" dirty="0">
                <a:effectLst/>
                <a:latin typeface="Times New Roman" panose="02020603050405020304" pitchFamily="18" charset="0"/>
                <a:ea typeface="Times New Roman" panose="02020603050405020304" pitchFamily="18" charset="0"/>
              </a:rPr>
              <a:t>Abbiamo visto come è possibile rappresentare i numeri interi con il sistema binario. Sappiamo anche che la memoria è divisa in byte, ovvero sequenze da 8 bit. Il linguaggio Java, per immagazzinare i numeri interi, sfrutta proprio il sistema binario, visto che all’interno di un singolo bit, non è possibile utilizzare null’altro che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Tuttavia bisogna immagazzinare anche i numeri negativi, e quindi occorre un metodo per memorizzare all’interno dei byte anche il segno del numero intero. Il metodo usato da Java e da tutti i linguaggi di programmazione moderni, si chiama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two’s complement</a:t>
            </a:r>
            <a:r>
              <a:rPr lang="it-IT" sz="1800" dirty="0">
                <a:effectLst/>
                <a:latin typeface="Times New Roman" panose="02020603050405020304" pitchFamily="18" charset="0"/>
                <a:ea typeface="Times New Roman" panose="02020603050405020304" pitchFamily="18" charset="0"/>
              </a:rPr>
              <a:t>). Questo metodo stabilisce le regole che il processore deve usare per la rappresentazione dei numeri con segno. Con il complemento a due, in un singolo byte (ovvero 8 bit) riusciremo a rappresentare un numero intero tra 256 possibilità. In particolare, questo numero intero sarà compreso tra 128 numeri positivi e 128 negativi. Quindi l’</a:t>
            </a:r>
            <a:r>
              <a:rPr lang="it-IT" sz="1800" b="1" dirty="0">
                <a:effectLst/>
                <a:latin typeface="Times New Roman" panose="02020603050405020304" pitchFamily="18" charset="0"/>
                <a:ea typeface="Times New Roman" panose="02020603050405020304" pitchFamily="18" charset="0"/>
              </a:rPr>
              <a:t>intervallo di rappresentazione</a:t>
            </a:r>
            <a:r>
              <a:rPr lang="it-IT" sz="1800" dirty="0">
                <a:effectLst/>
                <a:latin typeface="Times New Roman" panose="02020603050405020304" pitchFamily="18" charset="0"/>
                <a:ea typeface="Times New Roman" panose="02020603050405020304" pitchFamily="18" charset="0"/>
              </a:rPr>
              <a:t> di un byte, è compreso tra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considerato un numero positivo). Infatti, il primo bit (quello più a sinistra), viene considerato speciale, e viene detto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(o anche </a:t>
            </a:r>
            <a:r>
              <a:rPr lang="it-IT" sz="1800" b="1" dirty="0">
                <a:effectLst/>
                <a:latin typeface="Times New Roman" panose="02020603050405020304" pitchFamily="18" charset="0"/>
                <a:ea typeface="Times New Roman" panose="02020603050405020304" pitchFamily="18" charset="0"/>
              </a:rPr>
              <a:t>bit più significativo</a:t>
            </a:r>
            <a:r>
              <a:rPr lang="it-IT" sz="1800" dirty="0">
                <a:effectLst/>
                <a:latin typeface="Times New Roman" panose="02020603050405020304" pitchFamily="18" charset="0"/>
                <a:ea typeface="Times New Roman" panose="02020603050405020304" pitchFamily="18" charset="0"/>
              </a:rPr>
              <a:t>), perché viene utilizzato per dichiarare il segno del numero definito dai bit seguenti. Se questo bit contiene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vuol dire che il numero rappresentato dai successivi bit è positivo, mentre se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vuole dire che è negativo. Quindi se il bit del segno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mentre se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Utilizzato un bit per il segno, in un byte ci restano 7 bit per poter rappresentare un numero. Come abbiamo visto nell’esempio del paragrafo precedente, il numero più alto rappresentabile con 7 bit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rappresentato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Times New Roman" panose="02020603050405020304" pitchFamily="18" charset="0"/>
              </a:rPr>
              <a:t>. In definitiva il valore più alto che si può rappresentare in un byte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01111111</a:t>
            </a:r>
            <a:r>
              <a:rPr lang="it-IT" sz="1800" dirty="0">
                <a:effectLst/>
                <a:latin typeface="Times New Roman" panose="02020603050405020304" pitchFamily="18" charset="0"/>
                <a:ea typeface="Times New Roman" panose="02020603050405020304" pitchFamily="18" charset="0"/>
              </a:rPr>
              <a:t>, dove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il bit del segno 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rappresentare un numero negativo con il complemento a due, bisogna invertire tutti i valori dei bit del relativo numero positivo e poi sommare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che in binario ha la seguente rappresentazione:</a:t>
            </a:r>
          </a:p>
          <a:p>
            <a:r>
              <a:rPr lang="it-IT" sz="1800" dirty="0">
                <a:effectLst/>
                <a:latin typeface="Courier New" panose="02070309020205020404" pitchFamily="49" charset="0"/>
                <a:ea typeface="MS Mincho" panose="02020609040205080304" pitchFamily="49" charset="-128"/>
              </a:rPr>
              <a:t>00001001</a:t>
            </a:r>
            <a:r>
              <a:rPr lang="it-IT" sz="1800" dirty="0">
                <a:effectLst/>
                <a:latin typeface="Courier New" panose="02070309020205020404" pitchFamily="49"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rPr>
              <a:t>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baseline="30000" dirty="0">
                <a:effectLst/>
                <a:latin typeface="Courier New" panose="02070309020205020404" pitchFamily="49"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MS Mincho" panose="02020609040205080304" pitchFamily="49" charset="-128"/>
              </a:rPr>
              <a:t>+ 0+0+0+8+0+0+1 = +9</a:t>
            </a:r>
            <a:r>
              <a:rPr lang="it-IT" sz="1800" dirty="0">
                <a:effectLst/>
                <a:latin typeface="Courier New" panose="02070309020205020404" pitchFamily="49"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ottenere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bisogna prima invertire tutti i valori dei bit ottenendo quello che viene detto </a:t>
            </a:r>
            <a:r>
              <a:rPr lang="it-IT" sz="1800" b="1" dirty="0">
                <a:effectLst/>
                <a:latin typeface="Times New Roman" panose="02020603050405020304" pitchFamily="18" charset="0"/>
                <a:ea typeface="Times New Roman" panose="02020603050405020304" pitchFamily="18" charset="0"/>
              </a:rPr>
              <a:t>complemento a uno</a:t>
            </a:r>
            <a:r>
              <a:rPr lang="it-IT" sz="1800" dirty="0">
                <a:effectLst/>
                <a:latin typeface="Times New Roman" panose="02020603050405020304" pitchFamily="18" charset="0"/>
                <a:ea typeface="Times New Roman" panose="02020603050405020304" pitchFamily="18" charset="0"/>
              </a:rPr>
              <a:t> (che è un altro metodo di rappresentazione dei numeri con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11110110</a:t>
            </a:r>
            <a:r>
              <a:rPr lang="it-IT" sz="1800" dirty="0">
                <a:effectLst/>
                <a:latin typeface="Times New Roman" panose="02020603050405020304" pitchFamily="18" charset="0"/>
                <a:ea typeface="Times New Roman" panose="02020603050405020304" pitchFamily="18" charset="0"/>
              </a:rPr>
              <a:t>. Poi bisogna sommare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(che in binario si scrive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00000001</a:t>
            </a:r>
            <a:r>
              <a:rPr lang="it-IT" sz="1800" dirty="0">
                <a:effectLst/>
                <a:latin typeface="Times New Roman" panose="02020603050405020304" pitchFamily="18" charset="0"/>
                <a:ea typeface="Times New Roman" panose="02020603050405020304" pitchFamily="18" charset="0"/>
              </a:rPr>
              <a:t>) a questo risultato ottenendo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11110111</a:t>
            </a:r>
            <a:r>
              <a:rPr lang="it-IT" sz="1800" dirty="0">
                <a:effectLst/>
                <a:latin typeface="Times New Roman" panose="02020603050405020304" pitchFamily="18" charset="0"/>
                <a:ea typeface="Times New Roman" panose="02020603050405020304" pitchFamily="18" charset="0"/>
              </a:rPr>
              <a:t>, che è la rappresentazione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in complemento a due. Notare che il bit del segno questa volta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il che implica il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davanti al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Se vogliamo immagazzinare un numero superiore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automaticamente il dato si estenderà su di un’area di memoria più estesa che comprenderà più byte, ma che considererà come bit del segno, il primo bit del primo byte (quello più a sinistra). Per esempio se volessimo immagazzinare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2004</a:t>
            </a:r>
            <a:r>
              <a:rPr lang="it-IT" sz="1800" dirty="0">
                <a:effectLst/>
                <a:latin typeface="Times New Roman" panose="02020603050405020304" pitchFamily="18" charset="0"/>
                <a:ea typeface="Times New Roman" panose="02020603050405020304" pitchFamily="18" charset="0"/>
              </a:rPr>
              <a:t>, allora ci occorrerebbero due byte (16 bit):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0000011111010100</a:t>
            </a:r>
            <a:r>
              <a:rPr lang="it-IT" sz="1800" dirty="0">
                <a:effectLst/>
                <a:latin typeface="Times New Roman" panose="02020603050405020304" pitchFamily="18" charset="0"/>
                <a:ea typeface="Times New Roman" panose="02020603050405020304" pitchFamily="18" charset="0"/>
              </a:rPr>
              <a:t>, dove il primo bit è il bit del segno (positivo). Il complemento a due è il metodo di rappresentazione più utilizzato nell’informatica moderna, per la sua efficienza in alcuni tipi di operazioni.</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13</a:t>
            </a:fld>
            <a:endParaRPr lang="it-IT"/>
          </a:p>
        </p:txBody>
      </p:sp>
    </p:spTree>
    <p:extLst>
      <p:ext uri="{BB962C8B-B14F-4D97-AF65-F5344CB8AC3E}">
        <p14:creationId xmlns:p14="http://schemas.microsoft.com/office/powerpoint/2010/main" val="3582024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modo in cui i numeri interi vengono memorizzati in memoria, non è particolarmente complicato. Inoltre, fa parte del tipico bagaglio di un programmatore conoscere quantomeno le basi della memorizzazione dei dati. Per quanto riguarda i numeri interi, dobbiamo comprendere il meccanismo del metodo noto come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Un prerequisito per poter comprendere agevolmente questo argomento però, è quello di conoscere come funziona il </a:t>
            </a:r>
            <a:r>
              <a:rPr lang="it-IT" sz="1800" b="1" dirty="0">
                <a:effectLst/>
                <a:latin typeface="Times New Roman" panose="02020603050405020304" pitchFamily="18" charset="0"/>
                <a:ea typeface="Times New Roman" panose="02020603050405020304" pitchFamily="18" charset="0"/>
              </a:rPr>
              <a:t>sistema numerico binario</a:t>
            </a:r>
            <a:r>
              <a:rPr lang="it-IT" sz="1800" dirty="0">
                <a:effectLst/>
                <a:latin typeface="Times New Roman" panose="02020603050405020304" pitchFamily="18" charset="0"/>
                <a:ea typeface="Times New Roman" panose="02020603050405020304" pitchFamily="18" charset="0"/>
              </a:rPr>
              <a:t>. Quindi, nel prossimo paragrafo, presentiamo una piccola parentesi matematica sui sistemi numerici.</a:t>
            </a: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sistema numerico binario</a:t>
            </a:r>
            <a:r>
              <a:rPr lang="it-IT" sz="1800" dirty="0">
                <a:effectLst/>
                <a:latin typeface="Times New Roman" panose="02020603050405020304" pitchFamily="18" charset="0"/>
                <a:ea typeface="Times New Roman" panose="02020603050405020304" pitchFamily="18" charset="0"/>
              </a:rPr>
              <a:t> è un sistema che permette di rappresentare i numeri interi. Esso, è equivalente al </a:t>
            </a:r>
            <a:r>
              <a:rPr lang="it-IT" sz="1800" b="1" dirty="0">
                <a:effectLst/>
                <a:latin typeface="Times New Roman" panose="02020603050405020304" pitchFamily="18" charset="0"/>
                <a:ea typeface="Times New Roman" panose="02020603050405020304" pitchFamily="18" charset="0"/>
              </a:rPr>
              <a:t>sistema numerico decimale</a:t>
            </a:r>
            <a:r>
              <a:rPr lang="it-IT" sz="1800" dirty="0">
                <a:effectLst/>
                <a:latin typeface="Times New Roman" panose="02020603050405020304" pitchFamily="18" charset="0"/>
                <a:ea typeface="Times New Roman" panose="02020603050405020304" pitchFamily="18" charset="0"/>
              </a:rPr>
              <a:t> che utilizziamo usualmente nella vita di tutti i giorni. La differenza essenziale, è che il sistema numerico decimale utilizza dieci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8</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mentre il sistema numerico binario solo due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ma è comunque capace di rappresentare qualsiasi numero intero. </a:t>
            </a:r>
          </a:p>
          <a:p>
            <a:r>
              <a:rPr lang="it-IT" sz="1800" dirty="0">
                <a:effectLst/>
                <a:latin typeface="Times New Roman" panose="02020603050405020304" pitchFamily="18" charset="0"/>
                <a:ea typeface="Times New Roman" panose="02020603050405020304" pitchFamily="18" charset="0"/>
              </a:rPr>
              <a:t>Il sistema numerico decimale e il sistema numerico binario vengono anche detti </a:t>
            </a:r>
            <a:r>
              <a:rPr lang="it-IT" sz="1800" b="1" dirty="0">
                <a:effectLst/>
                <a:latin typeface="Times New Roman" panose="02020603050405020304" pitchFamily="18" charset="0"/>
                <a:ea typeface="Times New Roman" panose="02020603050405020304" pitchFamily="18" charset="0"/>
              </a:rPr>
              <a:t>sistema numerico posizionale in base 10</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sistema numerico posizionale in base 2</a:t>
            </a:r>
            <a:r>
              <a:rPr lang="it-IT" sz="1800" dirty="0">
                <a:effectLst/>
                <a:latin typeface="Times New Roman" panose="02020603050405020304" pitchFamily="18" charset="0"/>
                <a:ea typeface="Times New Roman" panose="02020603050405020304" pitchFamily="18" charset="0"/>
              </a:rPr>
              <a:t>. Infatti, in entrambi i sistemi, ogni cifra di un numero viene interpretata in base alla sua posizione. Partendo da destra verso sinistra e considerando la posizione iniziale con indice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avremo che:</a:t>
            </a:r>
          </a:p>
          <a:p>
            <a:pPr marL="180340" indent="180340"/>
            <a:r>
              <a:rPr lang="it-IT" sz="1800" dirty="0">
                <a:effectLst/>
                <a:latin typeface="Times New Roman" panose="02020603050405020304" pitchFamily="18" charset="0"/>
                <a:ea typeface="MS Mincho" panose="02020609040205080304" pitchFamily="49" charset="-128"/>
              </a:rPr>
              <a:t>per interpretare un numero nel sistema decimale, ogni cifra nella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deve essere moltiplicato per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e i risultati delle moltiplicazioni vanno poi sommati tra loro.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Tenendo presente che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MS Mincho" panose="02020609040205080304" pitchFamily="49" charset="-128"/>
              </a:rPr>
              <a:t> è alla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risulterà che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+ 2*10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+ 7*10</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che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100+20+7</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Per interpretare un numero nel sistema binario, ogni cifra nella posizione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deve essere moltiplicata per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e i risultati delle moltiplicazioni vanno poi sommati tra loro. Per rappresentare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 con il sistema binario quindi, dovremo scrivere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MS Mincho" panose="02020609040205080304" pitchFamily="49" charset="-128"/>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MS Mincho" panose="02020609040205080304" pitchFamily="49" charset="-128"/>
              </a:rPr>
              <a:t> è uguale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64+32+16+8+4+2+1</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MS Mincho" panose="02020609040205080304" pitchFamily="49" charset="-128"/>
              </a:rPr>
              <a:t>.</a:t>
            </a:r>
          </a:p>
          <a:p>
            <a:r>
              <a:rPr lang="it-IT" sz="1800" dirty="0">
                <a:effectLst/>
                <a:latin typeface="Times New Roman" panose="02020603050405020304" pitchFamily="18" charset="0"/>
                <a:ea typeface="Times New Roman" panose="02020603050405020304" pitchFamily="18" charset="0"/>
              </a:rPr>
              <a:t>Esistono anche altri sistemi come il </a:t>
            </a:r>
            <a:r>
              <a:rPr lang="it-IT" sz="1800" b="1" dirty="0">
                <a:effectLst/>
                <a:latin typeface="Times New Roman" panose="02020603050405020304" pitchFamily="18" charset="0"/>
                <a:ea typeface="Times New Roman" panose="02020603050405020304" pitchFamily="18" charset="0"/>
              </a:rPr>
              <a:t>sistema numerico ottale</a:t>
            </a:r>
            <a:r>
              <a:rPr lang="it-IT" sz="1800" dirty="0">
                <a:effectLst/>
                <a:latin typeface="Times New Roman" panose="02020603050405020304" pitchFamily="18" charset="0"/>
                <a:ea typeface="Times New Roman" panose="02020603050405020304" pitchFamily="18" charset="0"/>
              </a:rPr>
              <a:t> ed il </a:t>
            </a:r>
            <a:r>
              <a:rPr lang="it-IT" sz="1800" b="1" dirty="0">
                <a:effectLst/>
                <a:latin typeface="Times New Roman" panose="02020603050405020304" pitchFamily="18" charset="0"/>
                <a:ea typeface="Times New Roman" panose="02020603050405020304" pitchFamily="18" charset="0"/>
              </a:rPr>
              <a:t>sistema numerico esadecimale</a:t>
            </a:r>
            <a:r>
              <a:rPr lang="it-IT" sz="1800" dirty="0">
                <a:effectLst/>
                <a:latin typeface="Times New Roman" panose="02020603050405020304" pitchFamily="18" charset="0"/>
                <a:ea typeface="Times New Roman" panose="02020603050405020304" pitchFamily="18" charset="0"/>
              </a:rPr>
              <a:t>, detti anche rispettivamente </a:t>
            </a:r>
            <a:r>
              <a:rPr lang="it-IT" sz="1800" b="1" dirty="0">
                <a:effectLst/>
                <a:latin typeface="Times New Roman" panose="02020603050405020304" pitchFamily="18" charset="0"/>
                <a:ea typeface="Times New Roman" panose="02020603050405020304" pitchFamily="18" charset="0"/>
              </a:rPr>
              <a:t>sistema numerico posizionale in base 8</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sistema numerico posizionale in base 16</a:t>
            </a:r>
            <a:r>
              <a:rPr lang="it-IT" sz="1800" dirty="0">
                <a:effectLst/>
                <a:latin typeface="Times New Roman" panose="02020603050405020304" pitchFamily="18" charset="0"/>
                <a:ea typeface="Times New Roman" panose="02020603050405020304" pitchFamily="18" charset="0"/>
              </a:rPr>
              <a:t>. Il sistema numerico ottale utilizza solo otto cifre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mentre l’esadecimale ben sedici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8</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D</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a:t>
            </a:r>
            <a:r>
              <a:rPr lang="it-IT" sz="1800" dirty="0">
                <a:effectLst/>
                <a:latin typeface="Times New Roman" panose="02020603050405020304" pitchFamily="18" charset="0"/>
                <a:ea typeface="Times New Roman" panose="02020603050405020304" pitchFamily="18" charset="0"/>
              </a:rPr>
              <a:t>). Per questi sistemi valgono le stesse considerazioni fatte per il sistema decimale e il sistema binario. Quindi col sistema ottale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sarà scritto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177</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+ 7*8</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64+56+7 = 127</a:t>
            </a:r>
            <a:r>
              <a:rPr lang="it-IT" sz="1800" dirty="0">
                <a:effectLst/>
                <a:latin typeface="Times New Roman" panose="02020603050405020304" pitchFamily="18" charset="0"/>
                <a:ea typeface="Times New Roman" panose="02020603050405020304" pitchFamily="18" charset="0"/>
              </a:rPr>
              <a:t>). Invece in esadecimale scriveremo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7F</a:t>
            </a:r>
            <a:r>
              <a:rPr lang="it-IT" sz="1800" dirty="0">
                <a:effectLst/>
                <a:latin typeface="Times New Roman" panose="02020603050405020304" pitchFamily="18" charset="0"/>
                <a:ea typeface="Times New Roman" panose="02020603050405020304" pitchFamily="18" charset="0"/>
              </a:rPr>
              <a:t> (infatti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7*16</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F*16</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 = 112+15 = 127</a:t>
            </a:r>
            <a:r>
              <a:rPr lang="it-IT" sz="1800" dirty="0">
                <a:effectLst/>
                <a:latin typeface="Times New Roman" panose="02020603050405020304" pitchFamily="18" charset="0"/>
                <a:ea typeface="Times New Roman" panose="02020603050405020304" pitchFamily="18" charset="0"/>
              </a:rPr>
              <a:t>).</a:t>
            </a:r>
          </a:p>
          <a:p>
            <a:pPr marL="548640" indent="-548640">
              <a:spcBef>
                <a:spcPts val="1200"/>
              </a:spcBef>
              <a:spcAft>
                <a:spcPts val="300"/>
              </a:spcAft>
              <a:tabLst>
                <a:tab pos="228600" algn="l"/>
              </a:tabLst>
            </a:pPr>
            <a:r>
              <a:rPr lang="it-IT" sz="1800" b="1" dirty="0">
                <a:effectLst/>
                <a:latin typeface="Arial" panose="020B0604020202020204" pitchFamily="34" charset="0"/>
              </a:rPr>
              <a:t>3.2.2.2 Metodo del complemento a due</a:t>
            </a:r>
          </a:p>
          <a:p>
            <a:r>
              <a:rPr lang="it-IT" sz="1800" dirty="0">
                <a:effectLst/>
                <a:latin typeface="Times New Roman" panose="02020603050405020304" pitchFamily="18" charset="0"/>
                <a:ea typeface="Times New Roman" panose="02020603050405020304" pitchFamily="18" charset="0"/>
              </a:rPr>
              <a:t>Abbiamo visto come è possibile rappresentare i numeri interi con il sistema binario. Sappiamo anche che la memoria è divisa in byte, ovvero sequenze da 8 bit. Il linguaggio Java, per immagazzinare i numeri interi, sfrutta proprio il sistema binario, visto che all’interno di un singolo bit, non è possibile utilizzare null’altro che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Tuttavia bisogna immagazzinare anche i numeri negativi, e quindi occorre un metodo per memorizzare all’interno dei byte anche il segno del numero intero. Il metodo usato da Java e da tutti i linguaggi di programmazione moderni, si chiama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two’s complement</a:t>
            </a:r>
            <a:r>
              <a:rPr lang="it-IT" sz="1800" dirty="0">
                <a:effectLst/>
                <a:latin typeface="Times New Roman" panose="02020603050405020304" pitchFamily="18" charset="0"/>
                <a:ea typeface="Times New Roman" panose="02020603050405020304" pitchFamily="18" charset="0"/>
              </a:rPr>
              <a:t>). Questo metodo stabilisce le regole che il processore deve usare per la rappresentazione dei numeri con segno. Con il complemento a due, in un singolo byte (ovvero 8 bit) riusciremo a rappresentare un numero intero tra 256 possibilità. In particolare, questo numero intero sarà compreso tra 128 numeri positivi e 128 negativi. Quindi l’</a:t>
            </a:r>
            <a:r>
              <a:rPr lang="it-IT" sz="1800" b="1" dirty="0">
                <a:effectLst/>
                <a:latin typeface="Times New Roman" panose="02020603050405020304" pitchFamily="18" charset="0"/>
                <a:ea typeface="Times New Roman" panose="02020603050405020304" pitchFamily="18" charset="0"/>
              </a:rPr>
              <a:t>intervallo di rappresentazione</a:t>
            </a:r>
            <a:r>
              <a:rPr lang="it-IT" sz="1800" dirty="0">
                <a:effectLst/>
                <a:latin typeface="Times New Roman" panose="02020603050405020304" pitchFamily="18" charset="0"/>
                <a:ea typeface="Times New Roman" panose="02020603050405020304" pitchFamily="18" charset="0"/>
              </a:rPr>
              <a:t> di un byte, è compreso tra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considerato un numero positivo). Infatti, il primo bit (quello più a sinistra), viene considerato speciale, e viene detto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(o anche </a:t>
            </a:r>
            <a:r>
              <a:rPr lang="it-IT" sz="1800" b="1" dirty="0">
                <a:effectLst/>
                <a:latin typeface="Times New Roman" panose="02020603050405020304" pitchFamily="18" charset="0"/>
                <a:ea typeface="Times New Roman" panose="02020603050405020304" pitchFamily="18" charset="0"/>
              </a:rPr>
              <a:t>bit più significativo</a:t>
            </a:r>
            <a:r>
              <a:rPr lang="it-IT" sz="1800" dirty="0">
                <a:effectLst/>
                <a:latin typeface="Times New Roman" panose="02020603050405020304" pitchFamily="18" charset="0"/>
                <a:ea typeface="Times New Roman" panose="02020603050405020304" pitchFamily="18" charset="0"/>
              </a:rPr>
              <a:t>), perché viene utilizzato per dichiarare il segno del numero definito dai bit seguenti. Se questo bit contiene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vuol dire che il numero rappresentato dai successivi bit è positivo, mentre se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vuole dire che è negativo. Quindi se il bit del segno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mentre se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Utilizzato un bit per il segno, in un byte ci restano 7 bit per poter rappresentare un numero. Come abbiamo visto nell’esempio del paragrafo precedente, il numero più alto rappresentabile con 7 bit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rappresentato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Times New Roman" panose="02020603050405020304" pitchFamily="18" charset="0"/>
              </a:rPr>
              <a:t>. In definitiva il valore più alto che si può rappresentare in un byte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01111111</a:t>
            </a:r>
            <a:r>
              <a:rPr lang="it-IT" sz="1800" dirty="0">
                <a:effectLst/>
                <a:latin typeface="Times New Roman" panose="02020603050405020304" pitchFamily="18" charset="0"/>
                <a:ea typeface="Times New Roman" panose="02020603050405020304" pitchFamily="18" charset="0"/>
              </a:rPr>
              <a:t>, dove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il bit del segno 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rappresentare un numero negativo con il complemento a due, bisogna invertire tutti i valori dei bit del relativo numero positivo e poi sommare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che in binario ha la seguente rappresentazione:</a:t>
            </a:r>
          </a:p>
          <a:p>
            <a:r>
              <a:rPr lang="it-IT" sz="1800" dirty="0">
                <a:effectLst/>
                <a:latin typeface="Courier New" panose="02070309020205020404" pitchFamily="49" charset="0"/>
                <a:ea typeface="MS Mincho" panose="02020609040205080304" pitchFamily="49" charset="-128"/>
              </a:rPr>
              <a:t>00001001</a:t>
            </a:r>
            <a:r>
              <a:rPr lang="it-IT" sz="1800" dirty="0">
                <a:effectLst/>
                <a:latin typeface="Courier New" panose="02070309020205020404" pitchFamily="49"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rPr>
              <a:t>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baseline="30000" dirty="0">
                <a:effectLst/>
                <a:latin typeface="Courier New" panose="02070309020205020404" pitchFamily="49"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MS Mincho" panose="02020609040205080304" pitchFamily="49" charset="-128"/>
              </a:rPr>
              <a:t>+ 0+0+0+8+0+0+1 = +9</a:t>
            </a:r>
            <a:r>
              <a:rPr lang="it-IT" sz="1800" dirty="0">
                <a:effectLst/>
                <a:latin typeface="Courier New" panose="02070309020205020404" pitchFamily="49"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ottenere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bisogna prima invertire tutti i valori dei bit ottenendo quello che viene detto </a:t>
            </a:r>
            <a:r>
              <a:rPr lang="it-IT" sz="1800" b="1" dirty="0">
                <a:effectLst/>
                <a:latin typeface="Times New Roman" panose="02020603050405020304" pitchFamily="18" charset="0"/>
                <a:ea typeface="Times New Roman" panose="02020603050405020304" pitchFamily="18" charset="0"/>
              </a:rPr>
              <a:t>complemento a uno</a:t>
            </a:r>
            <a:r>
              <a:rPr lang="it-IT" sz="1800" dirty="0">
                <a:effectLst/>
                <a:latin typeface="Times New Roman" panose="02020603050405020304" pitchFamily="18" charset="0"/>
                <a:ea typeface="Times New Roman" panose="02020603050405020304" pitchFamily="18" charset="0"/>
              </a:rPr>
              <a:t> (che è un altro metodo di rappresentazione dei numeri con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11110110</a:t>
            </a:r>
            <a:r>
              <a:rPr lang="it-IT" sz="1800" dirty="0">
                <a:effectLst/>
                <a:latin typeface="Times New Roman" panose="02020603050405020304" pitchFamily="18" charset="0"/>
                <a:ea typeface="Times New Roman" panose="02020603050405020304" pitchFamily="18" charset="0"/>
              </a:rPr>
              <a:t>. Poi bisogna sommare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(che in binario si scrive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00000001</a:t>
            </a:r>
            <a:r>
              <a:rPr lang="it-IT" sz="1800" dirty="0">
                <a:effectLst/>
                <a:latin typeface="Times New Roman" panose="02020603050405020304" pitchFamily="18" charset="0"/>
                <a:ea typeface="Times New Roman" panose="02020603050405020304" pitchFamily="18" charset="0"/>
              </a:rPr>
              <a:t>) a questo risultato ottenendo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11110111</a:t>
            </a:r>
            <a:r>
              <a:rPr lang="it-IT" sz="1800" dirty="0">
                <a:effectLst/>
                <a:latin typeface="Times New Roman" panose="02020603050405020304" pitchFamily="18" charset="0"/>
                <a:ea typeface="Times New Roman" panose="02020603050405020304" pitchFamily="18" charset="0"/>
              </a:rPr>
              <a:t>, che è la rappresentazione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in complemento a due. Notare che il bit del segno questa volta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il che implica il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davanti al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Se vogliamo immagazzinare un numero superiore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automaticamente il dato si estenderà su di un’area di memoria più estesa che comprenderà più byte, ma che considererà come bit del segno, il primo bit del primo byte (quello più a sinistra). Per esempio se volessimo immagazzinare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2004</a:t>
            </a:r>
            <a:r>
              <a:rPr lang="it-IT" sz="1800" dirty="0">
                <a:effectLst/>
                <a:latin typeface="Times New Roman" panose="02020603050405020304" pitchFamily="18" charset="0"/>
                <a:ea typeface="Times New Roman" panose="02020603050405020304" pitchFamily="18" charset="0"/>
              </a:rPr>
              <a:t>, allora ci occorrerebbero due byte (16 bit):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0000011111010100</a:t>
            </a:r>
            <a:r>
              <a:rPr lang="it-IT" sz="1800" dirty="0">
                <a:effectLst/>
                <a:latin typeface="Times New Roman" panose="02020603050405020304" pitchFamily="18" charset="0"/>
                <a:ea typeface="Times New Roman" panose="02020603050405020304" pitchFamily="18" charset="0"/>
              </a:rPr>
              <a:t>, dove il primo bit è il bit del segno (positivo). Il complemento a due è il metodo di rappresentazione più utilizzato nell’informatica moderna, per la sua efficienza in alcuni tipi di operazioni.</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14</a:t>
            </a:fld>
            <a:endParaRPr lang="it-IT"/>
          </a:p>
        </p:txBody>
      </p:sp>
    </p:spTree>
    <p:extLst>
      <p:ext uri="{BB962C8B-B14F-4D97-AF65-F5344CB8AC3E}">
        <p14:creationId xmlns:p14="http://schemas.microsoft.com/office/powerpoint/2010/main" val="2906681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548640" indent="-548640">
              <a:spcBef>
                <a:spcPts val="1200"/>
              </a:spcBef>
              <a:spcAft>
                <a:spcPts val="300"/>
              </a:spcAft>
              <a:tabLst>
                <a:tab pos="228600" algn="l"/>
              </a:tabLst>
            </a:pPr>
            <a:r>
              <a:rPr lang="it-IT" sz="1800" b="1" dirty="0">
                <a:effectLst/>
                <a:latin typeface="Arial" panose="020B0604020202020204" pitchFamily="34" charset="0"/>
              </a:rPr>
              <a:t>Metodo del complemento a due</a:t>
            </a:r>
          </a:p>
          <a:p>
            <a:r>
              <a:rPr lang="it-IT" sz="1800" dirty="0">
                <a:effectLst/>
                <a:latin typeface="Times New Roman" panose="02020603050405020304" pitchFamily="18" charset="0"/>
                <a:ea typeface="Times New Roman" panose="02020603050405020304" pitchFamily="18" charset="0"/>
              </a:rPr>
              <a:t>Abbiamo visto come è possibile rappresentare i numeri interi con il sistema binario. Sappiamo anche che la memoria è divisa in byte, ovvero sequenze da 8 bit. Il linguaggio Java, per immagazzinare i numeri interi, sfrutta proprio il sistema binario, visto che all’interno di un singolo bit, non è possibile utilizzare null’altro che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Tuttavia bisogna immagazzinare anche i numeri negativi, e quindi occorre un metodo per memorizzare all’interno dei byte anche il segno del numero intero. Il metodo usato da Java e da tutti i linguaggi di programmazione moderni, si chiama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two’s complement</a:t>
            </a:r>
            <a:r>
              <a:rPr lang="it-IT" sz="1800" dirty="0">
                <a:effectLst/>
                <a:latin typeface="Times New Roman" panose="02020603050405020304" pitchFamily="18" charset="0"/>
                <a:ea typeface="Times New Roman" panose="02020603050405020304" pitchFamily="18" charset="0"/>
              </a:rPr>
              <a:t>). Questo metodo stabilisce le regole che il processore deve usare per la rappresentazione dei numeri con segno. Con il complemento a due, in un singolo byte (ovvero 8 bit) riusciremo a rappresentare un numero intero tra 256 possibilità. In particolare, questo numero intero sarà compreso tra 128 numeri positivi e 128 negativi. Quindi l’</a:t>
            </a:r>
            <a:r>
              <a:rPr lang="it-IT" sz="1800" b="1" dirty="0">
                <a:effectLst/>
                <a:latin typeface="Times New Roman" panose="02020603050405020304" pitchFamily="18" charset="0"/>
                <a:ea typeface="Times New Roman" panose="02020603050405020304" pitchFamily="18" charset="0"/>
              </a:rPr>
              <a:t>intervallo di rappresentazione</a:t>
            </a:r>
            <a:r>
              <a:rPr lang="it-IT" sz="1800" dirty="0">
                <a:effectLst/>
                <a:latin typeface="Times New Roman" panose="02020603050405020304" pitchFamily="18" charset="0"/>
                <a:ea typeface="Times New Roman" panose="02020603050405020304" pitchFamily="18" charset="0"/>
              </a:rPr>
              <a:t> di un byte, è compreso tra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considerato un numero positivo). Infatti, il primo bit (quello più a sinistra), viene considerato speciale, e viene detto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(o anche </a:t>
            </a:r>
            <a:r>
              <a:rPr lang="it-IT" sz="1800" b="1" dirty="0">
                <a:effectLst/>
                <a:latin typeface="Times New Roman" panose="02020603050405020304" pitchFamily="18" charset="0"/>
                <a:ea typeface="Times New Roman" panose="02020603050405020304" pitchFamily="18" charset="0"/>
              </a:rPr>
              <a:t>bit più significativo</a:t>
            </a:r>
            <a:r>
              <a:rPr lang="it-IT" sz="1800" dirty="0">
                <a:effectLst/>
                <a:latin typeface="Times New Roman" panose="02020603050405020304" pitchFamily="18" charset="0"/>
                <a:ea typeface="Times New Roman" panose="02020603050405020304" pitchFamily="18" charset="0"/>
              </a:rPr>
              <a:t>), perché viene utilizzato per dichiarare il segno del numero definito dai bit seguenti. Se questo bit contiene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vuol dire che il numero rappresentato dai successivi bit è positivo, mentre se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vuole dire che è negativo. Quindi se il bit del segno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mentre se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Utilizzato un bit per il segno, in un byte ci restano 7 bit per poter rappresentare un numero. Come abbiamo visto nell’esempio del paragrafo precedente, il numero più alto rappresentabile con 7 bit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rappresentato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Times New Roman" panose="02020603050405020304" pitchFamily="18" charset="0"/>
              </a:rPr>
              <a:t>. In definitiva il valore più alto che si può rappresentare in un byte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01111111</a:t>
            </a:r>
            <a:r>
              <a:rPr lang="it-IT" sz="1800" dirty="0">
                <a:effectLst/>
                <a:latin typeface="Times New Roman" panose="02020603050405020304" pitchFamily="18" charset="0"/>
                <a:ea typeface="Times New Roman" panose="02020603050405020304" pitchFamily="18" charset="0"/>
              </a:rPr>
              <a:t>, dove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il bit del segno 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rappresentare un numero negativo con il complemento a due, bisogna invertire tutti i valori dei bit del relativo numero positivo e poi sommare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che in binario ha la seguente rappresentazione:</a:t>
            </a:r>
          </a:p>
          <a:p>
            <a:r>
              <a:rPr lang="it-IT" sz="1800" dirty="0">
                <a:effectLst/>
                <a:latin typeface="Courier New" panose="02070309020205020404" pitchFamily="49" charset="0"/>
                <a:ea typeface="MS Mincho" panose="02020609040205080304" pitchFamily="49" charset="-128"/>
              </a:rPr>
              <a:t>00001001</a:t>
            </a:r>
            <a:r>
              <a:rPr lang="it-IT" sz="1800" dirty="0">
                <a:effectLst/>
                <a:latin typeface="Courier New" panose="02070309020205020404" pitchFamily="49"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rPr>
              <a:t>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baseline="30000" dirty="0">
                <a:effectLst/>
                <a:latin typeface="Courier New" panose="02070309020205020404" pitchFamily="49"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MS Mincho" panose="02020609040205080304" pitchFamily="49" charset="-128"/>
              </a:rPr>
              <a:t>+ 0+0+0+8+0+0+1 = +9</a:t>
            </a:r>
            <a:r>
              <a:rPr lang="it-IT" sz="1800" dirty="0">
                <a:effectLst/>
                <a:latin typeface="Courier New" panose="02070309020205020404" pitchFamily="49"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ottenere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bisogna prima invertire tutti i valori dei bit ottenendo quello che viene detto </a:t>
            </a:r>
            <a:r>
              <a:rPr lang="it-IT" sz="1800" b="1" dirty="0">
                <a:effectLst/>
                <a:latin typeface="Times New Roman" panose="02020603050405020304" pitchFamily="18" charset="0"/>
                <a:ea typeface="Times New Roman" panose="02020603050405020304" pitchFamily="18" charset="0"/>
              </a:rPr>
              <a:t>complemento a uno</a:t>
            </a:r>
            <a:r>
              <a:rPr lang="it-IT" sz="1800" dirty="0">
                <a:effectLst/>
                <a:latin typeface="Times New Roman" panose="02020603050405020304" pitchFamily="18" charset="0"/>
                <a:ea typeface="Times New Roman" panose="02020603050405020304" pitchFamily="18" charset="0"/>
              </a:rPr>
              <a:t> (che è un altro metodo di rappresentazione dei numeri con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11110110</a:t>
            </a:r>
            <a:r>
              <a:rPr lang="it-IT" sz="1800" dirty="0">
                <a:effectLst/>
                <a:latin typeface="Times New Roman" panose="02020603050405020304" pitchFamily="18" charset="0"/>
                <a:ea typeface="Times New Roman" panose="02020603050405020304" pitchFamily="18" charset="0"/>
              </a:rPr>
              <a:t>. Poi bisogna sommare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(che in binario si scrive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00000001</a:t>
            </a:r>
            <a:r>
              <a:rPr lang="it-IT" sz="1800" dirty="0">
                <a:effectLst/>
                <a:latin typeface="Times New Roman" panose="02020603050405020304" pitchFamily="18" charset="0"/>
                <a:ea typeface="Times New Roman" panose="02020603050405020304" pitchFamily="18" charset="0"/>
              </a:rPr>
              <a:t>) a questo risultato ottenendo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11110111</a:t>
            </a:r>
            <a:r>
              <a:rPr lang="it-IT" sz="1800" dirty="0">
                <a:effectLst/>
                <a:latin typeface="Times New Roman" panose="02020603050405020304" pitchFamily="18" charset="0"/>
                <a:ea typeface="Times New Roman" panose="02020603050405020304" pitchFamily="18" charset="0"/>
              </a:rPr>
              <a:t>, che è la rappresentazione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in complemento a due. Notare che il bit del segno questa volta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il che implica il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davanti al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Se vogliamo immagazzinare un numero superiore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automaticamente il dato si estenderà su di un’area di memoria più estesa che comprenderà più byte, ma che considererà come bit del segno, il primo bit del primo byte (quello più a sinistra). Per esempio se volessimo immagazzinare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2004</a:t>
            </a:r>
            <a:r>
              <a:rPr lang="it-IT" sz="1800" dirty="0">
                <a:effectLst/>
                <a:latin typeface="Times New Roman" panose="02020603050405020304" pitchFamily="18" charset="0"/>
                <a:ea typeface="Times New Roman" panose="02020603050405020304" pitchFamily="18" charset="0"/>
              </a:rPr>
              <a:t>, allora ci occorrerebbero due byte (16 bit):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0000011111010100</a:t>
            </a:r>
            <a:r>
              <a:rPr lang="it-IT" sz="1800" dirty="0">
                <a:effectLst/>
                <a:latin typeface="Times New Roman" panose="02020603050405020304" pitchFamily="18" charset="0"/>
                <a:ea typeface="Times New Roman" panose="02020603050405020304" pitchFamily="18" charset="0"/>
              </a:rPr>
              <a:t>, dove il primo bit è il bit del segno (positivo). Il complemento a due è il metodo di rappresentazione più utilizzato nell’informatica moderna, per la sua efficienza in alcuni tipi di operazioni.</a:t>
            </a:r>
          </a:p>
        </p:txBody>
      </p:sp>
    </p:spTree>
    <p:extLst>
      <p:ext uri="{BB962C8B-B14F-4D97-AF65-F5344CB8AC3E}">
        <p14:creationId xmlns:p14="http://schemas.microsoft.com/office/powerpoint/2010/main" val="3326710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548640" indent="-548640">
              <a:spcBef>
                <a:spcPts val="1200"/>
              </a:spcBef>
              <a:spcAft>
                <a:spcPts val="300"/>
              </a:spcAft>
              <a:tabLst>
                <a:tab pos="228600" algn="l"/>
              </a:tabLst>
            </a:pPr>
            <a:r>
              <a:rPr lang="it-IT" sz="1800" b="1" dirty="0">
                <a:effectLst/>
                <a:latin typeface="Arial" panose="020B0604020202020204" pitchFamily="34" charset="0"/>
              </a:rPr>
              <a:t>Metodo del complemento a due</a:t>
            </a:r>
          </a:p>
          <a:p>
            <a:r>
              <a:rPr lang="it-IT" sz="1800" dirty="0">
                <a:effectLst/>
                <a:latin typeface="Times New Roman" panose="02020603050405020304" pitchFamily="18" charset="0"/>
                <a:ea typeface="Times New Roman" panose="02020603050405020304" pitchFamily="18" charset="0"/>
              </a:rPr>
              <a:t>Abbiamo visto come è possibile rappresentare i numeri interi con il sistema binario. Sappiamo anche che la memoria è divisa in byte, ovvero sequenze da 8 bit. Il linguaggio Java, per immagazzinare i numeri interi, sfrutta proprio il sistema binario, visto che all’interno di un singolo bit, non è possibile utilizzare null’altro che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Tuttavia bisogna immagazzinare anche i numeri negativi, e quindi occorre un metodo per memorizzare all’interno dei byte anche il segno del numero intero. Il metodo usato da Java e da tutti i linguaggi di programmazione moderni, si chiama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two’s complement</a:t>
            </a:r>
            <a:r>
              <a:rPr lang="it-IT" sz="1800" dirty="0">
                <a:effectLst/>
                <a:latin typeface="Times New Roman" panose="02020603050405020304" pitchFamily="18" charset="0"/>
                <a:ea typeface="Times New Roman" panose="02020603050405020304" pitchFamily="18" charset="0"/>
              </a:rPr>
              <a:t>). Questo metodo stabilisce le regole che il processore deve usare per la rappresentazione dei numeri con segno. Con il complemento a due, in un singolo byte (ovvero 8 bit) riusciremo a rappresentare un numero intero tra 256 possibilità. In particolare, questo numero intero sarà compreso tra 128 numeri positivi e 128 negativi. Quindi l’</a:t>
            </a:r>
            <a:r>
              <a:rPr lang="it-IT" sz="1800" b="1" dirty="0">
                <a:effectLst/>
                <a:latin typeface="Times New Roman" panose="02020603050405020304" pitchFamily="18" charset="0"/>
                <a:ea typeface="Times New Roman" panose="02020603050405020304" pitchFamily="18" charset="0"/>
              </a:rPr>
              <a:t>intervallo di rappresentazione</a:t>
            </a:r>
            <a:r>
              <a:rPr lang="it-IT" sz="1800" dirty="0">
                <a:effectLst/>
                <a:latin typeface="Times New Roman" panose="02020603050405020304" pitchFamily="18" charset="0"/>
                <a:ea typeface="Times New Roman" panose="02020603050405020304" pitchFamily="18" charset="0"/>
              </a:rPr>
              <a:t> di un byte, è compreso tra i numeri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considerato un numero positivo). Infatti, il primo bit (quello più a sinistra), viene considerato speciale, e viene detto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(o anche </a:t>
            </a:r>
            <a:r>
              <a:rPr lang="it-IT" sz="1800" b="1" dirty="0">
                <a:effectLst/>
                <a:latin typeface="Times New Roman" panose="02020603050405020304" pitchFamily="18" charset="0"/>
                <a:ea typeface="Times New Roman" panose="02020603050405020304" pitchFamily="18" charset="0"/>
              </a:rPr>
              <a:t>bit più significativo</a:t>
            </a:r>
            <a:r>
              <a:rPr lang="it-IT" sz="1800" dirty="0">
                <a:effectLst/>
                <a:latin typeface="Times New Roman" panose="02020603050405020304" pitchFamily="18" charset="0"/>
                <a:ea typeface="Times New Roman" panose="02020603050405020304" pitchFamily="18" charset="0"/>
              </a:rPr>
              <a:t>), perché viene utilizzato per dichiarare il segno del numero definito dai bit seguenti. Se questo bit contiene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vuol dire che il numero rappresentato dai successivi bit è positivo, mentre se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vuole dire che è negativo. Quindi se il bit del segno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mentre se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equivale al simbolo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Utilizzato un bit per il segno, in un byte ci restano 7 bit per poter rappresentare un numero. Come abbiamo visto nell’esempio del paragrafo precedente, il numero più alto rappresentabile con 7 bit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rappresentato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1800" dirty="0">
                <a:effectLst/>
                <a:latin typeface="Times New Roman" panose="02020603050405020304" pitchFamily="18" charset="0"/>
                <a:ea typeface="Times New Roman" panose="02020603050405020304" pitchFamily="18" charset="0"/>
              </a:rPr>
              <a:t>. In definitiva il valore più alto che si può rappresentare in un byte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01111111</a:t>
            </a:r>
            <a:r>
              <a:rPr lang="it-IT" sz="1800" dirty="0">
                <a:effectLst/>
                <a:latin typeface="Times New Roman" panose="02020603050405020304" pitchFamily="18" charset="0"/>
                <a:ea typeface="Times New Roman" panose="02020603050405020304" pitchFamily="18" charset="0"/>
              </a:rPr>
              <a:t>, dove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è il bit del segno e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rappresentare un numero negativo con il complemento a due, bisogna invertire tutti i valori dei bit del relativo numero positivo e poi sommare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Per esempio, consideriamo il numero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che in binario ha la seguente rappresentazione:</a:t>
            </a:r>
          </a:p>
          <a:p>
            <a:r>
              <a:rPr lang="it-IT" sz="1800" dirty="0">
                <a:effectLst/>
                <a:latin typeface="Courier New" panose="02070309020205020404" pitchFamily="49" charset="0"/>
                <a:ea typeface="MS Mincho" panose="02020609040205080304" pitchFamily="49" charset="-128"/>
              </a:rPr>
              <a:t>00001001</a:t>
            </a:r>
            <a:r>
              <a:rPr lang="it-IT" sz="1800" dirty="0">
                <a:effectLst/>
                <a:latin typeface="Courier New" panose="02070309020205020404" pitchFamily="49" charset="0"/>
                <a:ea typeface="Times New Roman" panose="02020603050405020304" pitchFamily="18" charset="0"/>
              </a:rPr>
              <a:t> ([+]</a:t>
            </a:r>
            <a:r>
              <a:rPr lang="it-IT" sz="1800" dirty="0">
                <a:effectLst/>
                <a:latin typeface="Courier New" panose="02070309020205020404" pitchFamily="49" charset="0"/>
                <a:ea typeface="MS Mincho" panose="02020609040205080304" pitchFamily="49" charset="-128"/>
              </a:rPr>
              <a:t>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1800" dirty="0">
                <a:effectLst/>
                <a:latin typeface="Courier New" panose="02070309020205020404" pitchFamily="49" charset="0"/>
                <a:ea typeface="MS Mincho" panose="02020609040205080304" pitchFamily="49" charset="-128"/>
              </a:rPr>
              <a:t> + 0*2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Courier New" panose="02070309020205020404" pitchFamily="49" charset="0"/>
                <a:ea typeface="MS Mincho" panose="02020609040205080304" pitchFamily="49" charset="-128"/>
              </a:rPr>
              <a:t> + 1*2</a:t>
            </a:r>
            <a:r>
              <a:rPr lang="it-IT" sz="18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1800" baseline="30000" dirty="0">
                <a:effectLst/>
                <a:latin typeface="Courier New" panose="02070309020205020404" pitchFamily="49"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MS Mincho" panose="02020609040205080304" pitchFamily="49" charset="-128"/>
              </a:rPr>
              <a:t>+ 0+0+0+8+0+0+1 = +9</a:t>
            </a:r>
            <a:r>
              <a:rPr lang="it-IT" sz="1800" dirty="0">
                <a:effectLst/>
                <a:latin typeface="Courier New" panose="02070309020205020404" pitchFamily="49"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ottenere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bisogna prima invertire tutti i valori dei bit ottenendo quello che viene detto </a:t>
            </a:r>
            <a:r>
              <a:rPr lang="it-IT" sz="1800" b="1" dirty="0">
                <a:effectLst/>
                <a:latin typeface="Times New Roman" panose="02020603050405020304" pitchFamily="18" charset="0"/>
                <a:ea typeface="Times New Roman" panose="02020603050405020304" pitchFamily="18" charset="0"/>
              </a:rPr>
              <a:t>complemento a uno</a:t>
            </a:r>
            <a:r>
              <a:rPr lang="it-IT" sz="1800" dirty="0">
                <a:effectLst/>
                <a:latin typeface="Times New Roman" panose="02020603050405020304" pitchFamily="18" charset="0"/>
                <a:ea typeface="Times New Roman" panose="02020603050405020304" pitchFamily="18" charset="0"/>
              </a:rPr>
              <a:t> (che è un altro metodo di rappresentazione dei numeri con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11110110</a:t>
            </a:r>
            <a:r>
              <a:rPr lang="it-IT" sz="1800" dirty="0">
                <a:effectLst/>
                <a:latin typeface="Times New Roman" panose="02020603050405020304" pitchFamily="18" charset="0"/>
                <a:ea typeface="Times New Roman" panose="02020603050405020304" pitchFamily="18" charset="0"/>
              </a:rPr>
              <a:t>. Poi bisogna sommare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(che in binario si scrive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00000001</a:t>
            </a:r>
            <a:r>
              <a:rPr lang="it-IT" sz="1800" dirty="0">
                <a:effectLst/>
                <a:latin typeface="Times New Roman" panose="02020603050405020304" pitchFamily="18" charset="0"/>
                <a:ea typeface="Times New Roman" panose="02020603050405020304" pitchFamily="18" charset="0"/>
              </a:rPr>
              <a:t>) a questo risultato ottenendo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11110111</a:t>
            </a:r>
            <a:r>
              <a:rPr lang="it-IT" sz="1800" dirty="0">
                <a:effectLst/>
                <a:latin typeface="Times New Roman" panose="02020603050405020304" pitchFamily="18" charset="0"/>
                <a:ea typeface="Times New Roman" panose="02020603050405020304" pitchFamily="18" charset="0"/>
              </a:rPr>
              <a:t>, che è la rappresentazione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in complemento a due. Notare che il bit del segno questa volta vale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il che implica il segno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davanti al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Se vogliamo immagazzinare un numero superiore 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automaticamente il dato si estenderà su di un’area di memoria più estesa che comprenderà più byte, ma che considererà come bit del segno, il primo bit del primo byte (quello più a sinistra). Per esempio se volessimo immagazzinare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2004</a:t>
            </a:r>
            <a:r>
              <a:rPr lang="it-IT" sz="1800" dirty="0">
                <a:effectLst/>
                <a:latin typeface="Times New Roman" panose="02020603050405020304" pitchFamily="18" charset="0"/>
                <a:ea typeface="Times New Roman" panose="02020603050405020304" pitchFamily="18" charset="0"/>
              </a:rPr>
              <a:t>, allora ci occorrerebbero due byte (16 bit):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0000011111010100</a:t>
            </a:r>
            <a:r>
              <a:rPr lang="it-IT" sz="1800" dirty="0">
                <a:effectLst/>
                <a:latin typeface="Times New Roman" panose="02020603050405020304" pitchFamily="18" charset="0"/>
                <a:ea typeface="Times New Roman" panose="02020603050405020304" pitchFamily="18" charset="0"/>
              </a:rPr>
              <a:t>, dove il primo bit è il bit del segno (positivo). Il complemento a due è il metodo di rappresentazione più utilizzato nell’informatica moderna, per la sua efficienza in alcuni tipi di operazioni.</a:t>
            </a:r>
          </a:p>
        </p:txBody>
      </p:sp>
    </p:spTree>
    <p:extLst>
      <p:ext uri="{BB962C8B-B14F-4D97-AF65-F5344CB8AC3E}">
        <p14:creationId xmlns:p14="http://schemas.microsoft.com/office/powerpoint/2010/main" val="3196500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ora un’idea di come i numeri interi con segno vengano immagazzinati in memoria. Ma come vengono immagazzinati i caratteri e simboli? È molto semplice, per ogni numero intero positivo rappresentabile, esiste uno standard di decodifica che associa il numero ad un certo carattere o simbolo: lo standard Unicode. Infatti la codifica </a:t>
            </a:r>
            <a:r>
              <a:rPr lang="it-IT" sz="1800" b="1" dirty="0">
                <a:effectLst/>
                <a:latin typeface="Times New Roman" panose="02020603050405020304" pitchFamily="18" charset="0"/>
                <a:ea typeface="Times New Roman" panose="02020603050405020304" pitchFamily="18" charset="0"/>
              </a:rPr>
              <a:t>Unicode</a:t>
            </a:r>
            <a:r>
              <a:rPr lang="it-IT" sz="1800" dirty="0">
                <a:effectLst/>
                <a:latin typeface="Times New Roman" panose="02020603050405020304" pitchFamily="18" charset="0"/>
                <a:ea typeface="Times New Roman" panose="02020603050405020304" pitchFamily="18" charset="0"/>
              </a:rPr>
              <a:t> si occupa di standardizzare tutti i caratteri (ma anche simboli, emoji, ideogrammi, etc.) esistenti su questo pianeta, associandoli ad un numero intero positivo.</a:t>
            </a:r>
          </a:p>
          <a:p>
            <a:r>
              <a:rPr lang="it-IT" sz="1800" b="1" dirty="0">
                <a:effectLst/>
                <a:latin typeface="Times New Roman" panose="02020603050405020304" pitchFamily="18" charset="0"/>
                <a:ea typeface="Times New Roman" panose="02020603050405020304" pitchFamily="18" charset="0"/>
              </a:rPr>
              <a:t>[ICONA APPROFONDIMENTO 3.2]</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Unicode è uno standard in continua evoluzione. Se volete farvi un’idea, potete leggere l’approfondimento 3.2 on line.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Oggi Unicode ha mappato migliaia e migliaia tra caratteri, simboli, ideogrammi da ogni lingua nel mondo, e il numero continua a crescere. Tutto sommato, se date uno sguardo alla vostra tastiera, e pensate a tutti i caratteri e simboli che solitamente utilizziamo in Italia, ci basterebbero nella situazione peggiore poche centinaia di numeri da mappare. In effetti tutti i caratteri e simboli che solitamente utilizziamo, sono mappati con i primi 256 numeri interi dello standard Unicode. Per esempio, il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97</a:t>
            </a:r>
            <a:r>
              <a:rPr lang="it-IT" sz="1800" dirty="0">
                <a:effectLst/>
                <a:latin typeface="Times New Roman" panose="02020603050405020304" pitchFamily="18" charset="0"/>
                <a:ea typeface="Times New Roman" panose="02020603050405020304" pitchFamily="18" charset="0"/>
              </a:rPr>
              <a:t> identifica la lettera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Siccome Unicode è un’estensione della codifica nota come </a:t>
            </a:r>
            <a:r>
              <a:rPr lang="it-IT" sz="1800" b="1" dirty="0">
                <a:effectLst/>
                <a:latin typeface="Times New Roman" panose="02020603050405020304" pitchFamily="18" charset="0"/>
                <a:ea typeface="Times New Roman" panose="02020603050405020304" pitchFamily="18" charset="0"/>
              </a:rPr>
              <a:t>UTF-8</a:t>
            </a:r>
            <a:r>
              <a:rPr lang="it-IT" sz="1800" dirty="0">
                <a:effectLst/>
                <a:latin typeface="Times New Roman" panose="02020603050405020304" pitchFamily="18" charset="0"/>
                <a:ea typeface="Times New Roman" panose="02020603050405020304" pitchFamily="18" charset="0"/>
              </a:rPr>
              <a:t>, che a sua volta è basata sul vecchio standard </a:t>
            </a:r>
            <a:r>
              <a:rPr lang="it-IT" sz="1800" b="1" dirty="0">
                <a:effectLst/>
                <a:latin typeface="Times New Roman" panose="02020603050405020304" pitchFamily="18" charset="0"/>
                <a:ea typeface="Times New Roman" panose="02020603050405020304" pitchFamily="18" charset="0"/>
              </a:rPr>
              <a:t>Extended ASCII</a:t>
            </a:r>
            <a:r>
              <a:rPr lang="it-IT" sz="1800" dirty="0">
                <a:effectLst/>
                <a:latin typeface="Times New Roman" panose="02020603050405020304" pitchFamily="18" charset="0"/>
                <a:ea typeface="Times New Roman" panose="02020603050405020304" pitchFamily="18" charset="0"/>
              </a:rPr>
              <a:t> ad 8 bit, che a sua volta contiene il più antico standard noto come </a:t>
            </a:r>
            <a:r>
              <a:rPr lang="it-IT" sz="1800" b="1" dirty="0">
                <a:effectLst/>
                <a:latin typeface="Times New Roman" panose="02020603050405020304" pitchFamily="18" charset="0"/>
                <a:ea typeface="Times New Roman" panose="02020603050405020304" pitchFamily="18" charset="0"/>
              </a:rPr>
              <a:t>codice ASCII</a:t>
            </a:r>
            <a:r>
              <a:rPr lang="it-IT" sz="1800" dirty="0">
                <a:effectLst/>
                <a:latin typeface="Times New Roman" panose="02020603050405020304" pitchFamily="18" charset="0"/>
                <a:ea typeface="Times New Roman" panose="02020603050405020304" pitchFamily="18" charset="0"/>
              </a:rPr>
              <a:t>, potete verificare visitando il link 3.3, che tutti i caratteri e simboli che utilizziamo solitamente, sono mappati nei primi 256 posti.</a:t>
            </a:r>
          </a:p>
          <a:p>
            <a:r>
              <a:rPr lang="it-IT" sz="1800" b="1" dirty="0">
                <a:effectLst/>
                <a:latin typeface="Times New Roman" panose="02020603050405020304" pitchFamily="18" charset="0"/>
                <a:ea typeface="Times New Roman" panose="02020603050405020304" pitchFamily="18" charset="0"/>
              </a:rPr>
              <a:t>[ICONA LINK 3.3]</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Al link 3.3, è presente una tabella ASCII completa con la mappatura di 256 numeri positivi (ovvero in 8 bit considerando solo numeri positivi, e quindi senza conservare un bit per il segno come nel metodo del complemento a due).</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70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usa un metodo di rappresentazione approssimata dei numeri decimali e per eseguire operazioni aritmetiche, chiamato </a:t>
            </a:r>
            <a:r>
              <a:rPr lang="it-IT" sz="1800" b="1" dirty="0">
                <a:effectLst/>
                <a:latin typeface="Times New Roman" panose="02020603050405020304" pitchFamily="18" charset="0"/>
                <a:ea typeface="Times New Roman" panose="02020603050405020304" pitchFamily="18" charset="0"/>
              </a:rPr>
              <a:t>metodo a</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virgola mobile</a:t>
            </a:r>
            <a:r>
              <a:rPr lang="it-IT" sz="180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floating point</a:t>
            </a:r>
            <a:r>
              <a:rPr lang="it-IT" sz="1800" dirty="0">
                <a:effectLst/>
                <a:latin typeface="Times New Roman" panose="02020603050405020304" pitchFamily="18" charset="0"/>
                <a:ea typeface="Times New Roman" panose="02020603050405020304" pitchFamily="18" charset="0"/>
              </a:rPr>
              <a:t>). Essa si basa sul principio dello spostamento della virgola utilizzando la notazione scientifica di un numero. Lavorando con le approssimazioni, questo standard permette di memorizzare un numero molto alto di numeri, e permette di eseguire operazioni con buone prestazioni, tuttavia i risultati possono appunto risultare approssimati. L’IEEE-754 è comunque lo standard più usato dai linguaggi di programmazione moderni. Non scenderemo nei dettagli della rappresentazione non essendo questa la sede adatta per farlo. Infatti, non avremo mai a che fare con la memoria direttamente programmando in Java. </a:t>
            </a:r>
          </a:p>
          <a:p>
            <a:r>
              <a:rPr lang="it-IT" sz="1800" dirty="0">
                <a:effectLst/>
                <a:latin typeface="Times New Roman" panose="02020603050405020304" pitchFamily="18" charset="0"/>
                <a:ea typeface="Times New Roman" panose="02020603050405020304" pitchFamily="18" charset="0"/>
              </a:rPr>
              <a:t>Ora che abbiamo un’idea di come le informazioni vengano immagazzinate in memoria, possiamo passare a studiare i tipi primitivi definiti dal linguaggio.</a:t>
            </a:r>
          </a:p>
        </p:txBody>
      </p:sp>
    </p:spTree>
    <p:extLst>
      <p:ext uri="{BB962C8B-B14F-4D97-AF65-F5344CB8AC3E}">
        <p14:creationId xmlns:p14="http://schemas.microsoft.com/office/powerpoint/2010/main" val="15714916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definisce solamente otto </a:t>
            </a:r>
            <a:r>
              <a:rPr lang="it-IT" sz="1800" b="1" dirty="0">
                <a:effectLst/>
                <a:latin typeface="Times New Roman" panose="02020603050405020304" pitchFamily="18" charset="0"/>
                <a:ea typeface="Times New Roman" panose="02020603050405020304" pitchFamily="18" charset="0"/>
              </a:rPr>
              <a:t>tipi di dati primitivi</a:t>
            </a:r>
            <a:r>
              <a:rPr lang="it-IT" sz="1800" dirty="0">
                <a:effectLst/>
                <a:latin typeface="Times New Roman" panose="02020603050405020304" pitchFamily="18" charset="0"/>
                <a:ea typeface="Times New Roman" panose="02020603050405020304" pitchFamily="18" charset="0"/>
              </a:rPr>
              <a:t>, ovvero tipi di dati semplici che vedremo differenziarsi dai tipi di dato complessi:</a:t>
            </a:r>
          </a:p>
          <a:p>
            <a:pPr marL="180340" indent="180340"/>
            <a:r>
              <a:rPr lang="it-IT" sz="1800" dirty="0">
                <a:effectLst/>
                <a:latin typeface="Times New Roman" panose="02020603050405020304" pitchFamily="18" charset="0"/>
                <a:ea typeface="MS Mincho" panose="02020609040205080304" pitchFamily="49" charset="-128"/>
              </a:rPr>
              <a:t>tipi interi: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MS Mincho" panose="02020609040205080304" pitchFamily="49" charset="-128"/>
              </a:rPr>
              <a:t>;</a:t>
            </a:r>
          </a:p>
          <a:p>
            <a:pPr marL="180340" indent="180340"/>
            <a:r>
              <a:rPr lang="en-GB" sz="1800" dirty="0">
                <a:effectLst/>
                <a:latin typeface="Times New Roman" panose="02020603050405020304" pitchFamily="18" charset="0"/>
                <a:ea typeface="MS Mincho" panose="02020609040205080304" pitchFamily="49" charset="-128"/>
              </a:rPr>
              <a:t>tipi floating point (o a </a:t>
            </a:r>
            <a:r>
              <a:rPr lang="en-GB" sz="1800" dirty="0" err="1">
                <a:effectLst/>
                <a:latin typeface="Times New Roman" panose="02020603050405020304" pitchFamily="18" charset="0"/>
                <a:ea typeface="MS Mincho" panose="02020609040205080304" pitchFamily="49" charset="-128"/>
              </a:rPr>
              <a:t>virgola</a:t>
            </a:r>
            <a:r>
              <a:rPr lang="en-GB" sz="1800" dirty="0">
                <a:effectLst/>
                <a:latin typeface="Times New Roman" panose="02020603050405020304" pitchFamily="18" charset="0"/>
                <a:ea typeface="MS Mincho" panose="02020609040205080304" pitchFamily="49" charset="-128"/>
              </a:rPr>
              <a:t> mobile): </a:t>
            </a:r>
            <a:r>
              <a:rPr lang="en-GB" sz="1800" dirty="0">
                <a:effectLst/>
                <a:latin typeface="Courier New" panose="02070309020205020404" pitchFamily="49" charset="0"/>
                <a:ea typeface="MS Mincho" panose="02020609040205080304" pitchFamily="49" charset="-128"/>
                <a:cs typeface="Courier New" panose="02070309020205020404" pitchFamily="49" charset="0"/>
              </a:rPr>
              <a:t>float</a:t>
            </a:r>
            <a:r>
              <a:rPr lang="en-GB" sz="1800" dirty="0">
                <a:effectLst/>
                <a:latin typeface="Times New Roman" panose="02020603050405020304" pitchFamily="18" charset="0"/>
                <a:ea typeface="MS Mincho" panose="02020609040205080304" pitchFamily="49" charset="-128"/>
              </a:rPr>
              <a:t> e </a:t>
            </a:r>
            <a:r>
              <a:rPr lang="en-GB" sz="1800" dirty="0">
                <a:effectLst/>
                <a:latin typeface="Courier New" panose="02070309020205020404" pitchFamily="49" charset="0"/>
                <a:ea typeface="MS Mincho" panose="02020609040205080304" pitchFamily="49" charset="-128"/>
                <a:cs typeface="Courier New" panose="02070309020205020404" pitchFamily="49" charset="0"/>
              </a:rPr>
              <a:t>double</a:t>
            </a:r>
            <a:r>
              <a:rPr lang="en-GB" sz="1800" dirty="0">
                <a:effectLst/>
                <a:latin typeface="Times New Roman" panose="02020603050405020304" pitchFamily="18" charset="0"/>
                <a:ea typeface="MS Mincho" panose="02020609040205080304" pitchFamily="49" charset="-128"/>
              </a:rPr>
              <a:t>;</a:t>
            </a:r>
            <a:endParaRPr lang="it-IT" sz="1800" dirty="0">
              <a:effectLst/>
              <a:latin typeface="Times New Roman" panose="02020603050405020304" pitchFamily="18" charset="0"/>
              <a:ea typeface="MS Mincho" panose="02020609040205080304" pitchFamily="49" charset="-128"/>
            </a:endParaRPr>
          </a:p>
          <a:p>
            <a:pPr marL="180340" indent="180340"/>
            <a:r>
              <a:rPr lang="it-IT" sz="1800" dirty="0">
                <a:effectLst/>
                <a:latin typeface="Times New Roman" panose="02020603050405020304" pitchFamily="18" charset="0"/>
                <a:ea typeface="MS Mincho" panose="02020609040205080304" pitchFamily="49" charset="-128"/>
              </a:rPr>
              <a:t>tipo testuale: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char</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tipo logico-booleano: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boolean</a:t>
            </a:r>
            <a:r>
              <a:rPr lang="it-IT" sz="1800" dirty="0">
                <a:effectLst/>
                <a:latin typeface="Times New Roman" panose="02020603050405020304" pitchFamily="18" charset="0"/>
                <a:ea typeface="MS Mincho" panose="02020609040205080304" pitchFamily="49" charset="-128"/>
              </a:rPr>
              <a:t>;</a:t>
            </a:r>
          </a:p>
          <a:p>
            <a:r>
              <a:rPr lang="it-IT" sz="1800" dirty="0">
                <a:effectLst/>
                <a:latin typeface="Times New Roman" panose="02020603050405020304" pitchFamily="18" charset="0"/>
                <a:ea typeface="Times New Roman" panose="02020603050405020304" pitchFamily="18" charset="0"/>
              </a:rPr>
              <a:t>Prima di scendere nei particolari, è bene formalizzare nuovamente la definizione di </a:t>
            </a:r>
            <a:r>
              <a:rPr lang="it-IT" sz="1800" i="1" dirty="0">
                <a:effectLst/>
                <a:latin typeface="Times New Roman" panose="02020603050405020304" pitchFamily="18" charset="0"/>
                <a:ea typeface="Times New Roman" panose="02020603050405020304" pitchFamily="18" charset="0"/>
              </a:rPr>
              <a:t>literals</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Vengono definiti </a:t>
            </a:r>
            <a:r>
              <a:rPr lang="it-IT" sz="1800" b="1" dirty="0">
                <a:effectLst/>
                <a:latin typeface="Times New Roman" panose="02020603050405020304" pitchFamily="18" charset="0"/>
                <a:ea typeface="Times New Roman" panose="02020603050405020304" pitchFamily="18" charset="0"/>
              </a:rPr>
              <a:t>literals</a:t>
            </a:r>
            <a:r>
              <a:rPr lang="it-IT" sz="1800" dirty="0">
                <a:effectLst/>
                <a:latin typeface="Times New Roman" panose="02020603050405020304" pitchFamily="18" charset="0"/>
                <a:ea typeface="Times New Roman" panose="02020603050405020304" pitchFamily="18" charset="0"/>
              </a:rPr>
              <a:t>, i valori che vengono specificati nel codice sorgente invece che al runtime. Possono rappresentare variabili primitive o stringhe, e possono apparire solo sul lato destro di un’assegnazione o come argomenti quando si invocano metodi. Non è possibile assegnare valori ai literals, perché non sono variabili, sono valori costanti che si possono assegnare alle variabili. Segue qualche esempio di literal assegnati a variabili di vari tipi che vedremo in questo capitolo:</a:t>
            </a:r>
          </a:p>
          <a:p>
            <a:r>
              <a:rPr lang="en-GB" sz="1800" dirty="0">
                <a:solidFill>
                  <a:srgbClr val="000000"/>
                </a:solidFill>
                <a:effectLst/>
                <a:latin typeface="Courier New" panose="02070309020205020404" pitchFamily="49" charset="0"/>
                <a:ea typeface="Times New Roman" panose="02020603050405020304" pitchFamily="18" charset="0"/>
              </a:rPr>
              <a:t>boolean </a:t>
            </a:r>
            <a:r>
              <a:rPr lang="en-GB" sz="1800" dirty="0" err="1">
                <a:solidFill>
                  <a:srgbClr val="000000"/>
                </a:solidFill>
                <a:effectLst/>
                <a:latin typeface="Courier New" panose="02070309020205020404" pitchFamily="49" charset="0"/>
                <a:ea typeface="Times New Roman" panose="02020603050405020304" pitchFamily="18" charset="0"/>
              </a:rPr>
              <a:t>isBig</a:t>
            </a:r>
            <a:r>
              <a:rPr lang="en-GB" sz="1800" dirty="0">
                <a:solidFill>
                  <a:srgbClr val="000000"/>
                </a:solidFill>
                <a:effectLst/>
                <a:latin typeface="Courier New" panose="02070309020205020404" pitchFamily="49" charset="0"/>
                <a:ea typeface="Times New Roman" panose="02020603050405020304" pitchFamily="18" charset="0"/>
              </a:rPr>
              <a:t> = true;</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char c = 'w';</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String a = "\n";</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int i = 0x1c;</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short s = 0;</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float f = 3.14f;</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double d = 3.14;</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a:t>
            </a:r>
            <a:r>
              <a:rPr lang="it-IT" sz="1800" dirty="0" err="1">
                <a:solidFill>
                  <a:srgbClr val="000000"/>
                </a:solidFill>
                <a:effectLst/>
                <a:latin typeface="Courier New" panose="02070309020205020404" pitchFamily="49" charset="0"/>
                <a:ea typeface="Times New Roman" panose="02020603050405020304" pitchFamily="18" charset="0"/>
              </a:rPr>
              <a:t>unMiliardo</a:t>
            </a:r>
            <a:r>
              <a:rPr lang="it-IT" sz="1800" dirty="0">
                <a:solidFill>
                  <a:srgbClr val="000000"/>
                </a:solidFill>
                <a:effectLst/>
                <a:latin typeface="Courier New" panose="02070309020205020404" pitchFamily="49" charset="0"/>
                <a:ea typeface="Times New Roman" panose="02020603050405020304" pitchFamily="18" charset="0"/>
              </a:rPr>
              <a:t> = 1_000_000_000;</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La definizione di literal potrebbe sembrare fine a sé stessa, ma è una di quelle definizioni che spesso viene menzionata nella documentazione standard.</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98994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di dati interi</a:t>
            </a:r>
            <a:r>
              <a:rPr lang="it-IT" sz="1800" dirty="0">
                <a:effectLst/>
                <a:latin typeface="Times New Roman" panose="02020603050405020304" pitchFamily="18" charset="0"/>
                <a:ea typeface="Times New Roman" panose="02020603050405020304" pitchFamily="18" charset="0"/>
              </a:rPr>
              <a:t> sono quattro: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e vengono memorizzati tramite il metodo del complemento a due. Essi condividono la stessa funzionalità (tutti possono immagazzinare numeri interi positivi o negativi), ma differiscono per quanto riguarda il proprio intervallo di rappresentazione. Infatti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può immagazzinare un intero utilizzando un byte (otto bit), uno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due byte (16 bit),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quattro byte (32 bit) ed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otto byte (64 bit). Lo schema seguente riassume dettagliatamente i vari intervalli di rappresentazione:</a:t>
            </a:r>
          </a:p>
        </p:txBody>
      </p:sp>
    </p:spTree>
    <p:extLst>
      <p:ext uri="{BB962C8B-B14F-4D97-AF65-F5344CB8AC3E}">
        <p14:creationId xmlns:p14="http://schemas.microsoft.com/office/powerpoint/2010/main" val="832260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en-GB" sz="1200" b="1" dirty="0">
                <a:solidFill>
                  <a:srgbClr val="000000"/>
                </a:solidFill>
                <a:effectLst/>
                <a:latin typeface="Times New Roman" panose="02020603050405020304" pitchFamily="18" charset="0"/>
                <a:ea typeface="Times New Roman" panose="02020603050405020304" pitchFamily="18" charset="0"/>
              </a:rPr>
              <a:t>Nel </a:t>
            </a:r>
            <a:r>
              <a:rPr lang="en-GB" sz="1200" b="1" dirty="0" err="1">
                <a:solidFill>
                  <a:srgbClr val="000000"/>
                </a:solidFill>
                <a:effectLst/>
                <a:latin typeface="Times New Roman" panose="02020603050405020304" pitchFamily="18" charset="0"/>
                <a:ea typeface="Times New Roman" panose="02020603050405020304" pitchFamily="18" charset="0"/>
              </a:rPr>
              <a:t>terzo</a:t>
            </a:r>
            <a:r>
              <a:rPr lang="en-GB" sz="1200" b="1" dirty="0">
                <a:solidFill>
                  <a:srgbClr val="000000"/>
                </a:solidFill>
                <a:effectLst/>
                <a:latin typeface="Times New Roman" panose="02020603050405020304" pitchFamily="18" charset="0"/>
                <a:ea typeface="Times New Roman" panose="02020603050405020304" pitchFamily="18" charset="0"/>
              </a:rPr>
              <a:t> esempio </a:t>
            </a:r>
            <a:r>
              <a:rPr lang="en-GB" sz="1200" b="1" dirty="0" err="1">
                <a:solidFill>
                  <a:srgbClr val="000000"/>
                </a:solidFill>
                <a:effectLst/>
                <a:latin typeface="Times New Roman" panose="02020603050405020304" pitchFamily="18" charset="0"/>
                <a:ea typeface="Times New Roman" panose="02020603050405020304" pitchFamily="18" charset="0"/>
              </a:rPr>
              <a:t>si</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può</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notare</a:t>
            </a:r>
            <a:r>
              <a:rPr lang="en-GB" sz="1200" b="1" dirty="0">
                <a:solidFill>
                  <a:srgbClr val="000000"/>
                </a:solidFill>
                <a:effectLst/>
                <a:latin typeface="Times New Roman" panose="02020603050405020304" pitchFamily="18" charset="0"/>
                <a:ea typeface="Times New Roman" panose="02020603050405020304" pitchFamily="18" charset="0"/>
              </a:rPr>
              <a:t> come non </a:t>
            </a:r>
            <a:r>
              <a:rPr lang="en-GB" sz="1200" b="1" dirty="0" err="1">
                <a:solidFill>
                  <a:srgbClr val="000000"/>
                </a:solidFill>
                <a:effectLst/>
                <a:latin typeface="Times New Roman" panose="02020603050405020304" pitchFamily="18" charset="0"/>
                <a:ea typeface="Times New Roman" panose="02020603050405020304" pitchFamily="18" charset="0"/>
              </a:rPr>
              <a:t>faccia</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differenza</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l’utilizzo</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dei</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caratteri</a:t>
            </a:r>
            <a:r>
              <a:rPr lang="en-GB" sz="1200" b="1" dirty="0">
                <a:solidFill>
                  <a:srgbClr val="000000"/>
                </a:solidFill>
                <a:effectLst/>
                <a:latin typeface="Times New Roman" panose="02020603050405020304" pitchFamily="18" charset="0"/>
                <a:ea typeface="Times New Roman" panose="02020603050405020304" pitchFamily="18" charset="0"/>
              </a:rPr>
              <a:t> </a:t>
            </a:r>
            <a:r>
              <a:rPr lang="en-GB" sz="1200" b="1" dirty="0" err="1">
                <a:solidFill>
                  <a:srgbClr val="000000"/>
                </a:solidFill>
                <a:effectLst/>
                <a:latin typeface="Times New Roman" panose="02020603050405020304" pitchFamily="18" charset="0"/>
                <a:ea typeface="Times New Roman" panose="02020603050405020304" pitchFamily="18" charset="0"/>
              </a:rPr>
              <a:t>esadecimali</a:t>
            </a:r>
            <a:r>
              <a:rPr lang="en-GB" sz="1200" b="1" dirty="0">
                <a:solidFill>
                  <a:srgbClr val="000000"/>
                </a:solidFill>
                <a:effectLst/>
                <a:latin typeface="Times New Roman" panose="02020603050405020304" pitchFamily="18" charset="0"/>
                <a:ea typeface="Times New Roman" panose="02020603050405020304" pitchFamily="18" charset="0"/>
              </a:rPr>
              <a:t> in </a:t>
            </a:r>
            <a:r>
              <a:rPr lang="en-GB" sz="1200" b="1" dirty="0" err="1">
                <a:solidFill>
                  <a:srgbClr val="000000"/>
                </a:solidFill>
                <a:effectLst/>
                <a:latin typeface="Times New Roman" panose="02020603050405020304" pitchFamily="18" charset="0"/>
                <a:ea typeface="Times New Roman" panose="02020603050405020304" pitchFamily="18" charset="0"/>
              </a:rPr>
              <a:t>maiuscolo</a:t>
            </a:r>
            <a:r>
              <a:rPr lang="en-GB" sz="1200" b="1" dirty="0">
                <a:solidFill>
                  <a:srgbClr val="000000"/>
                </a:solidFill>
                <a:effectLst/>
                <a:latin typeface="Times New Roman" panose="02020603050405020304" pitchFamily="18" charset="0"/>
                <a:ea typeface="Times New Roman" panose="02020603050405020304" pitchFamily="18" charset="0"/>
              </a:rPr>
              <a:t> o in </a:t>
            </a:r>
            <a:r>
              <a:rPr lang="en-GB" sz="1200" b="1" dirty="0" err="1">
                <a:solidFill>
                  <a:srgbClr val="000000"/>
                </a:solidFill>
                <a:effectLst/>
                <a:latin typeface="Times New Roman" panose="02020603050405020304" pitchFamily="18" charset="0"/>
                <a:ea typeface="Times New Roman" panose="02020603050405020304" pitchFamily="18" charset="0"/>
              </a:rPr>
              <a:t>minuscolo</a:t>
            </a:r>
            <a:r>
              <a:rPr lang="en-GB" sz="1200" b="1" dirty="0">
                <a:solidFill>
                  <a:srgbClr val="000000"/>
                </a:solidFill>
                <a:effectLst/>
                <a:latin typeface="Times New Roman" panose="02020603050405020304" pitchFamily="18" charset="0"/>
                <a:ea typeface="Times New Roman" panose="02020603050405020304" pitchFamily="18" charset="0"/>
              </a:rPr>
              <a:t>.</a:t>
            </a:r>
            <a:endParaRPr lang="it-IT" sz="1200" b="1"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Ci sono alcune osservazioni da fare riguardo i tipi di dati primitivi. Ci sono diversi problemi che potreste incontrare mentre li utilizzate, e quindi è meglio conoscere questi problemi prima di incontrarli mentre programmate. Facciamo subito un esempio considerando la seguente assegnazione:</a:t>
            </a:r>
          </a:p>
          <a:p>
            <a:r>
              <a:rPr lang="it-IT" sz="1200" dirty="0">
                <a:solidFill>
                  <a:srgbClr val="000000"/>
                </a:solidFill>
                <a:effectLst/>
                <a:latin typeface="Courier New" panose="02070309020205020404" pitchFamily="49" charset="0"/>
                <a:ea typeface="Times New Roman" panose="02020603050405020304" pitchFamily="18" charset="0"/>
              </a:rPr>
              <a:t>byte b = 127;</a:t>
            </a:r>
            <a:endParaRPr lang="it-IT" sz="12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Il compilatore è in grado di capire che </a:t>
            </a:r>
            <a:r>
              <a:rPr lang="it-IT" sz="1200" dirty="0">
                <a:effectLst/>
                <a:latin typeface="Courier New" panose="02070309020205020404" pitchFamily="49" charset="0"/>
                <a:ea typeface="Times New Roman" panose="02020603050405020304" pitchFamily="18" charset="0"/>
                <a:cs typeface="Courier New" panose="02070309020205020404" pitchFamily="49" charset="0"/>
              </a:rPr>
              <a:t>127</a:t>
            </a:r>
            <a:r>
              <a:rPr lang="it-IT" sz="1200" dirty="0">
                <a:effectLst/>
                <a:latin typeface="Times New Roman" panose="02020603050405020304" pitchFamily="18" charset="0"/>
                <a:ea typeface="Times New Roman" panose="02020603050405020304" pitchFamily="18" charset="0"/>
              </a:rPr>
              <a:t> è un numero appartenente all’intervallo di rappresentazione dei </a:t>
            </a:r>
            <a:r>
              <a:rPr lang="it-IT" sz="12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200" dirty="0">
                <a:effectLst/>
                <a:latin typeface="Times New Roman" panose="02020603050405020304" pitchFamily="18" charset="0"/>
                <a:ea typeface="Times New Roman" panose="02020603050405020304" pitchFamily="18" charset="0"/>
              </a:rPr>
              <a:t> e quindi l’espressione precedente è corretta e compilabile senza problemi. Al contrario le seguenti istruzioni:</a:t>
            </a:r>
          </a:p>
          <a:p>
            <a:r>
              <a:rPr lang="it-IT" sz="1200" dirty="0">
                <a:solidFill>
                  <a:srgbClr val="000000"/>
                </a:solidFill>
                <a:effectLst/>
                <a:latin typeface="Courier New" panose="02070309020205020404" pitchFamily="49" charset="0"/>
                <a:ea typeface="Times New Roman" panose="02020603050405020304" pitchFamily="18" charset="0"/>
              </a:rPr>
              <a:t>byte b = 128; //il massimo per byte è 127</a:t>
            </a:r>
            <a:endParaRPr lang="it-IT" sz="1200" dirty="0">
              <a:effectLst/>
              <a:latin typeface="Courier New" panose="02070309020205020404" pitchFamily="49" charset="0"/>
              <a:ea typeface="Times New Roman" panose="02020603050405020304" pitchFamily="18" charset="0"/>
            </a:endParaRPr>
          </a:p>
          <a:p>
            <a:r>
              <a:rPr lang="it-IT" sz="1200" dirty="0">
                <a:solidFill>
                  <a:srgbClr val="000000"/>
                </a:solidFill>
                <a:effectLst/>
                <a:latin typeface="Courier New" panose="02070309020205020404" pitchFamily="49" charset="0"/>
                <a:ea typeface="Times New Roman" panose="02020603050405020304" pitchFamily="18" charset="0"/>
              </a:rPr>
              <a:t>short s = 32768; //il massimo per short è 32767</a:t>
            </a:r>
            <a:endParaRPr lang="it-IT" sz="1200" dirty="0">
              <a:effectLst/>
              <a:latin typeface="Courier New" panose="02070309020205020404" pitchFamily="49" charset="0"/>
              <a:ea typeface="Times New Roman" panose="02020603050405020304" pitchFamily="18" charset="0"/>
            </a:endParaRPr>
          </a:p>
          <a:p>
            <a:r>
              <a:rPr lang="it-IT" sz="1200" dirty="0">
                <a:solidFill>
                  <a:srgbClr val="000000"/>
                </a:solidFill>
                <a:effectLst/>
                <a:latin typeface="Courier New" panose="02070309020205020404" pitchFamily="49" charset="0"/>
                <a:ea typeface="Times New Roman" panose="02020603050405020304" pitchFamily="18" charset="0"/>
              </a:rPr>
              <a:t>int i = 2147483648; //il massimo per int è 2147483647</a:t>
            </a:r>
            <a:endParaRPr lang="it-IT" sz="12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provocano errori in compilazione.</a:t>
            </a:r>
            <a:endParaRPr lang="it-IT" sz="12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2725766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Consideriamo ora la seguente istruzione:</a:t>
            </a:r>
          </a:p>
          <a:p>
            <a:r>
              <a:rPr lang="it-IT" sz="1800" dirty="0">
                <a:solidFill>
                  <a:srgbClr val="000000"/>
                </a:solidFill>
                <a:effectLst/>
                <a:latin typeface="Courier New" panose="02070309020205020404" pitchFamily="49" charset="0"/>
                <a:ea typeface="Times New Roman" panose="02020603050405020304" pitchFamily="18" charset="0"/>
              </a:rPr>
              <a:t>byte b = 50;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Questo statement è corretto. Il numero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50</a:t>
            </a:r>
            <a:r>
              <a:rPr lang="it-IT" sz="1800" dirty="0">
                <a:effectLst/>
                <a:latin typeface="Times New Roman" panose="02020603050405020304" pitchFamily="18" charset="0"/>
                <a:ea typeface="Times New Roman" panose="02020603050405020304" pitchFamily="18" charset="0"/>
              </a:rPr>
              <a:t> è tranquillamente compreso nell’intervallo di rappresentazione di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cs typeface="Courier New" panose="02070309020205020404" pitchFamily="49" charset="0"/>
              </a:rPr>
              <a:t>, </a:t>
            </a:r>
            <a:r>
              <a:rPr lang="it-IT" sz="1800" dirty="0">
                <a:effectLst/>
                <a:latin typeface="Times New Roman" panose="02020603050405020304" pitchFamily="18" charset="0"/>
                <a:ea typeface="Times New Roman" panose="02020603050405020304" pitchFamily="18" charset="0"/>
              </a:rPr>
              <a:t>che va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Il compilatore determina la grandezza del valore numerico e controlla se è compatibile con il tipo di dato dichiarato. </a:t>
            </a:r>
          </a:p>
          <a:p>
            <a:r>
              <a:rPr lang="it-IT" sz="1800" dirty="0">
                <a:effectLst/>
                <a:latin typeface="Times New Roman" panose="02020603050405020304" pitchFamily="18" charset="0"/>
                <a:ea typeface="Times New Roman" panose="02020603050405020304" pitchFamily="18" charset="0"/>
              </a:rPr>
              <a:t>Adesso consideriamo quest’altro statement:</a:t>
            </a:r>
          </a:p>
          <a:p>
            <a:r>
              <a:rPr lang="it-IT" sz="1800" dirty="0">
                <a:solidFill>
                  <a:srgbClr val="000000"/>
                </a:solidFill>
                <a:effectLst/>
                <a:latin typeface="Courier New" panose="02070309020205020404" pitchFamily="49" charset="0"/>
                <a:ea typeface="Times New Roman" panose="02020603050405020304" pitchFamily="18" charset="0"/>
              </a:rPr>
              <a:t>b = b * 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Ciò darà luogo ad un errore in compilazione! Infatti il compilatore non eseguirà l’operazione di moltiplicazione per controllare la compatibilità con il tipo di dato dichiarato. Invece promuoverà automaticamente i due operandi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visto che considererà il literal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Quindi, 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50*2</a:t>
            </a:r>
            <a:r>
              <a:rPr lang="it-IT" sz="1800" dirty="0">
                <a:effectLst/>
                <a:latin typeface="Times New Roman" panose="02020603050405020304" pitchFamily="18" charset="0"/>
                <a:ea typeface="Times New Roman" panose="02020603050405020304" pitchFamily="18" charset="0"/>
              </a:rPr>
              <a:t> è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non può essere immagazzinato in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che è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Il fenomeno appena descritto è conosciuto come </a:t>
            </a:r>
            <a:r>
              <a:rPr lang="it-IT" sz="1800" b="1" dirty="0">
                <a:effectLst/>
                <a:latin typeface="Times New Roman" panose="02020603050405020304" pitchFamily="18" charset="0"/>
                <a:ea typeface="Times New Roman" panose="02020603050405020304" pitchFamily="18" charset="0"/>
              </a:rPr>
              <a:t>promozione automatica nelle espressioni</a:t>
            </a:r>
            <a:r>
              <a:rPr lang="it-IT" sz="1800" dirty="0">
                <a:effectLst/>
                <a:latin typeface="Times New Roman" panose="02020603050405020304" pitchFamily="18" charset="0"/>
                <a:ea typeface="Times New Roman" panose="02020603050405020304" pitchFamily="18" charset="0"/>
              </a:rPr>
              <a:t> (in inglese sinteticamente </a:t>
            </a:r>
            <a:r>
              <a:rPr lang="it-IT" sz="1800" b="1" dirty="0">
                <a:effectLst/>
                <a:latin typeface="Times New Roman" panose="02020603050405020304" pitchFamily="18" charset="0"/>
                <a:ea typeface="Times New Roman" panose="02020603050405020304" pitchFamily="18" charset="0"/>
              </a:rPr>
              <a:t>promotion</a:t>
            </a:r>
            <a:r>
              <a:rPr lang="it-IT"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2593732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Per gli </a:t>
            </a:r>
            <a:r>
              <a:rPr lang="it-IT" sz="1800" b="1" dirty="0">
                <a:effectLst/>
                <a:latin typeface="Times New Roman" panose="02020603050405020304" pitchFamily="18" charset="0"/>
                <a:ea typeface="Times New Roman" panose="02020603050405020304" pitchFamily="18" charset="0"/>
              </a:rPr>
              <a:t>operatori binari</a:t>
            </a:r>
            <a:r>
              <a:rPr lang="it-IT" sz="1800" dirty="0">
                <a:effectLst/>
                <a:latin typeface="Times New Roman" panose="02020603050405020304" pitchFamily="18" charset="0"/>
                <a:ea typeface="Times New Roman" panose="02020603050405020304" pitchFamily="18" charset="0"/>
              </a:rPr>
              <a:t>, ovvero gli operatori che utilizzano due operandi (per esempio gli operatori aritmetici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esistono quattro regole per la gestione della promozione automatica. Esse dipendono dai tipi degli operandi in questione:</a:t>
            </a:r>
          </a:p>
          <a:p>
            <a:pPr marL="180340" indent="180340"/>
            <a:r>
              <a:rPr lang="it-IT" sz="1800" dirty="0">
                <a:effectLst/>
                <a:latin typeface="Times New Roman" panose="02020603050405020304" pitchFamily="18" charset="0"/>
                <a:ea typeface="MS Mincho" panose="02020609040205080304" pitchFamily="49" charset="-128"/>
              </a:rPr>
              <a:t>se uno degli operandi è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double</a:t>
            </a:r>
            <a:r>
              <a:rPr lang="it-IT" sz="1800" dirty="0">
                <a:effectLst/>
                <a:latin typeface="Times New Roman" panose="02020603050405020304" pitchFamily="18" charset="0"/>
                <a:ea typeface="MS Mincho" panose="02020609040205080304" pitchFamily="49" charset="-128"/>
              </a:rPr>
              <a:t>, l’altro operando sarà convertito in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double</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se il tipo con intervallo di rappresentazione più ampio tra gli operandi è un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float</a:t>
            </a:r>
            <a:r>
              <a:rPr lang="it-IT" sz="1800" dirty="0">
                <a:effectLst/>
                <a:latin typeface="Times New Roman" panose="02020603050405020304" pitchFamily="18" charset="0"/>
                <a:ea typeface="MS Mincho" panose="02020609040205080304" pitchFamily="49" charset="-128"/>
              </a:rPr>
              <a:t>, l’altro operando sarà convertito in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float</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se il tipo con intervallo di rappresentazione più ampio tra gli operandi è un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MS Mincho" panose="02020609040205080304" pitchFamily="49" charset="-128"/>
              </a:rPr>
              <a:t>, l’altro operando sarà convertito in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in ogni altro caso entrambi gli operandi saranno convertiti in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La promozione automatica degli operandi avviene prima che venga eseguita una qualsiasi operazione binaria.</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55454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Ritornando all’esempio, è evidente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50*2</a:t>
            </a:r>
            <a:r>
              <a:rPr lang="it-IT" sz="1800" dirty="0">
                <a:effectLst/>
                <a:latin typeface="Times New Roman" panose="02020603050405020304" pitchFamily="18" charset="0"/>
                <a:ea typeface="Times New Roman" panose="02020603050405020304" pitchFamily="18" charset="0"/>
              </a:rPr>
              <a:t> è immagazzinabile in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Esiste una tecnica per forzare una certa quantità ad essere immagazzinata in un certo tipo di dato. Questa tecnica è nota come </a:t>
            </a:r>
            <a:r>
              <a:rPr lang="it-IT" sz="1800" b="1" dirty="0">
                <a:effectLst/>
                <a:latin typeface="Times New Roman" panose="02020603050405020304" pitchFamily="18" charset="0"/>
                <a:ea typeface="Times New Roman" panose="02020603050405020304" pitchFamily="18" charset="0"/>
              </a:rPr>
              <a:t>cast</a:t>
            </a:r>
            <a:r>
              <a:rPr lang="it-IT" sz="180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casting</a:t>
            </a:r>
            <a:r>
              <a:rPr lang="it-IT" sz="1800" dirty="0">
                <a:effectLst/>
                <a:latin typeface="Times New Roman" panose="02020603050405020304" pitchFamily="18" charset="0"/>
                <a:ea typeface="Times New Roman" panose="02020603050405020304" pitchFamily="18" charset="0"/>
              </a:rPr>
              <a:t>). La sintassi da utilizzare per risolvere il nostro problema è:</a:t>
            </a:r>
          </a:p>
          <a:p>
            <a:r>
              <a:rPr lang="it-IT" sz="1800" dirty="0">
                <a:solidFill>
                  <a:srgbClr val="000000"/>
                </a:solidFill>
                <a:effectLst/>
                <a:latin typeface="Courier New" panose="02070309020205020404" pitchFamily="49" charset="0"/>
                <a:ea typeface="Times New Roman" panose="02020603050405020304" pitchFamily="18" charset="0"/>
              </a:rPr>
              <a:t>b = (byte)(b * 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ovvero bisogna anteporre all’espressione da convertire (verbo che noi italiani amiamo trasformare in </a:t>
            </a:r>
            <a:r>
              <a:rPr lang="it-IT" sz="1800" i="1" dirty="0">
                <a:effectLst/>
                <a:latin typeface="Times New Roman" panose="02020603050405020304" pitchFamily="18" charset="0"/>
                <a:ea typeface="Times New Roman" panose="02020603050405020304" pitchFamily="18" charset="0"/>
              </a:rPr>
              <a:t>castare</a:t>
            </a:r>
            <a:r>
              <a:rPr lang="it-IT" sz="1800" dirty="0">
                <a:effectLst/>
                <a:latin typeface="Times New Roman" panose="02020603050405020304" pitchFamily="18" charset="0"/>
                <a:ea typeface="Times New Roman" panose="02020603050405020304" pitchFamily="18" charset="0"/>
              </a:rPr>
              <a:t>), il tipo di dato a cui vogliamo restringere il risultato, incluso tra parentesi tonde. In questo modo il compilatore sarà avvertito che un’eventuale perdita di precisione è calcolata e sotto controllo da parte del programmatore.</a:t>
            </a:r>
          </a:p>
        </p:txBody>
      </p:sp>
    </p:spTree>
    <p:extLst>
      <p:ext uri="{BB962C8B-B14F-4D97-AF65-F5344CB8AC3E}">
        <p14:creationId xmlns:p14="http://schemas.microsoft.com/office/powerpoint/2010/main" val="2241490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Bisogna essere però molto prudenti nell’utilizzare il casting in modo corretto. Infatti se scrivessimo:</a:t>
            </a:r>
          </a:p>
          <a:p>
            <a:r>
              <a:rPr lang="it-IT" sz="1800" dirty="0">
                <a:solidFill>
                  <a:srgbClr val="000000"/>
                </a:solidFill>
                <a:effectLst/>
                <a:latin typeface="Courier New" panose="02070309020205020404" pitchFamily="49" charset="0"/>
                <a:ea typeface="Times New Roman" panose="02020603050405020304" pitchFamily="18" charset="0"/>
              </a:rPr>
              <a:t>b = (byte)128;</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compilatore non segnalerebbe nessun tipo d’errore. Siccome il cast agisce troncando i bit in eccedenza. Nel nostro caso, dato che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utilizza 32 bit, mentre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solo 8, saranno troncati i primi 24 bit </a:t>
            </a:r>
            <a:r>
              <a:rPr lang="it-IT" sz="1800" dirty="0" err="1">
                <a:effectLst/>
                <a:latin typeface="Times New Roman" panose="02020603050405020304" pitchFamily="18" charset="0"/>
                <a:ea typeface="Times New Roman" panose="02020603050405020304" pitchFamily="18" charset="0"/>
              </a:rPr>
              <a:t>dell’</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Quindi, dato che la rappresentazione del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all’interno di un tipo int (32 bit) è la seguente:</a:t>
            </a:r>
          </a:p>
          <a:p>
            <a:r>
              <a:rPr lang="it-IT" sz="1800" dirty="0">
                <a:solidFill>
                  <a:srgbClr val="000000"/>
                </a:solidFill>
                <a:effectLst/>
                <a:latin typeface="Courier New" panose="02070309020205020404" pitchFamily="49" charset="0"/>
                <a:ea typeface="Times New Roman" panose="02020603050405020304" pitchFamily="18" charset="0"/>
              </a:rPr>
              <a:t>00000000000000000000000010000000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troncando i primi 24 bit avremo:</a:t>
            </a:r>
          </a:p>
          <a:p>
            <a:r>
              <a:rPr lang="it-IT" sz="1800" dirty="0">
                <a:solidFill>
                  <a:srgbClr val="000000"/>
                </a:solidFill>
                <a:effectLst/>
                <a:latin typeface="Courier New" panose="02070309020205020404" pitchFamily="49" charset="0"/>
                <a:ea typeface="Times New Roman" panose="02020603050405020304" pitchFamily="18" charset="0"/>
              </a:rPr>
              <a:t>10000000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rappresenta il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quindi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avrà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e non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5223762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altro tipico problema di cui preoccuparsi, è la </a:t>
            </a:r>
            <a:r>
              <a:rPr lang="it-IT" sz="1800" b="1" dirty="0">
                <a:effectLst/>
                <a:latin typeface="Times New Roman" panose="02020603050405020304" pitchFamily="18" charset="0"/>
                <a:ea typeface="Times New Roman" panose="02020603050405020304" pitchFamily="18" charset="0"/>
              </a:rPr>
              <a:t>somma di due interi</a:t>
            </a:r>
            <a:r>
              <a:rPr lang="it-IT" sz="1800" dirty="0">
                <a:effectLst/>
                <a:latin typeface="Times New Roman" panose="02020603050405020304" pitchFamily="18" charset="0"/>
                <a:ea typeface="Times New Roman" panose="02020603050405020304" pitchFamily="18" charset="0"/>
              </a:rPr>
              <a:t>. Per le stesse ragioni di cui sopra, se la somma di due interi supera il range consentito, è comunque possibile immagazzinarne il risultato in un intero senza avere errori in compilazione, ma il risultato sarà diverso da quello previsto. Per esempio, le seguenti istruzioni saranno compilate senza errori:</a:t>
            </a:r>
          </a:p>
          <a:p>
            <a:r>
              <a:rPr lang="it-IT" sz="1800" dirty="0">
                <a:solidFill>
                  <a:srgbClr val="000000"/>
                </a:solidFill>
                <a:effectLst/>
                <a:latin typeface="Courier New" panose="02070309020205020404" pitchFamily="49" charset="0"/>
                <a:ea typeface="Times New Roman" panose="02020603050405020304" pitchFamily="18" charset="0"/>
              </a:rPr>
              <a:t>int a = 2147483647; // Massimo valore per un int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risultato = </a:t>
            </a:r>
            <a:r>
              <a:rPr lang="it-IT" sz="1800" dirty="0" err="1">
                <a:solidFill>
                  <a:srgbClr val="000000"/>
                </a:solidFill>
                <a:effectLst/>
                <a:latin typeface="Courier New" panose="02070309020205020404" pitchFamily="49" charset="0"/>
                <a:ea typeface="Times New Roman" panose="02020603050405020304" pitchFamily="18" charset="0"/>
              </a:rPr>
              <a:t>a+b</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ma il valore della variabile risultato sarà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-2147483648</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Anche la </a:t>
            </a:r>
            <a:r>
              <a:rPr lang="it-IT" sz="1800" b="1" dirty="0">
                <a:effectLst/>
                <a:latin typeface="Times New Roman" panose="02020603050405020304" pitchFamily="18" charset="0"/>
                <a:ea typeface="Times New Roman" panose="02020603050405020304" pitchFamily="18" charset="0"/>
              </a:rPr>
              <a:t>divisione tra due interi</a:t>
            </a:r>
            <a:r>
              <a:rPr lang="it-IT" sz="1800" dirty="0">
                <a:effectLst/>
                <a:latin typeface="Times New Roman" panose="02020603050405020304" pitchFamily="18" charset="0"/>
                <a:ea typeface="Times New Roman" panose="02020603050405020304" pitchFamily="18" charset="0"/>
              </a:rPr>
              <a:t> rappresenta un punto critico. Infatti, per le regole descritte sopra, il risultato finale non potrà che essere immagazzinato in un intero, ignorando così eventuali cifre decimali. Quindi in Java, a meno di cast esplicito,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3</a:t>
            </a:r>
            <a:r>
              <a:rPr lang="it-IT" sz="1800" dirty="0">
                <a:effectLst/>
                <a:latin typeface="Times New Roman" panose="02020603050405020304" pitchFamily="18" charset="0"/>
                <a:ea typeface="Times New Roman" panose="02020603050405020304" pitchFamily="18" charset="0"/>
              </a:rPr>
              <a:t> diviso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800" dirty="0">
                <a:effectLst/>
                <a:latin typeface="Times New Roman" panose="02020603050405020304" pitchFamily="18" charset="0"/>
                <a:ea typeface="Times New Roman" panose="02020603050405020304" pitchFamily="18" charset="0"/>
              </a:rPr>
              <a:t> darà come risultato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e non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1.5</a:t>
            </a:r>
            <a:r>
              <a:rPr lang="it-IT" sz="1800" dirty="0">
                <a:effectLst/>
                <a:latin typeface="Times New Roman" panose="02020603050405020304" pitchFamily="18" charset="0"/>
                <a:ea typeface="Times New Roman" panose="02020603050405020304" pitchFamily="18" charset="0"/>
              </a:rPr>
              <a:t> come ci si aspetterebbe.</a:t>
            </a:r>
          </a:p>
          <a:p>
            <a:r>
              <a:rPr lang="it-IT" sz="1800" dirty="0">
                <a:effectLst/>
                <a:latin typeface="Times New Roman" panose="02020603050405020304" pitchFamily="18" charset="0"/>
                <a:ea typeface="Times New Roman" panose="02020603050405020304" pitchFamily="18" charset="0"/>
              </a:rPr>
              <a:t>Inoltre, se utilizziamo una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a meno di cast espliciti, essa sarà </a:t>
            </a:r>
            <a:r>
              <a:rPr lang="it-IT" sz="1800" u="sng" dirty="0">
                <a:effectLst/>
                <a:latin typeface="Times New Roman" panose="02020603050405020304" pitchFamily="18" charset="0"/>
                <a:ea typeface="Times New Roman" panose="02020603050405020304" pitchFamily="18" charset="0"/>
              </a:rPr>
              <a:t>sempre inizializzata con un intero</a:t>
            </a:r>
            <a:r>
              <a:rPr lang="it-IT" sz="1800" dirty="0">
                <a:effectLst/>
                <a:latin typeface="Times New Roman" panose="02020603050405020304" pitchFamily="18" charset="0"/>
                <a:ea typeface="Times New Roman" panose="02020603050405020304" pitchFamily="18" charset="0"/>
              </a:rPr>
              <a:t>. Infatti un literal di un numero intero, verrà sempre considerato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Quindi, se scriviamo:</a:t>
            </a:r>
          </a:p>
          <a:p>
            <a:r>
              <a:rPr lang="it-IT" sz="1800" dirty="0">
                <a:solidFill>
                  <a:srgbClr val="000000"/>
                </a:solidFill>
                <a:effectLst/>
                <a:latin typeface="Courier New" panose="02070309020205020404" pitchFamily="49" charset="0"/>
                <a:ea typeface="Times New Roman" panose="02020603050405020304" pitchFamily="18" charset="0"/>
              </a:rPr>
              <a:t>long duemila = 2000;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dobbiamo tener ben presente che i literal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2000</a:t>
            </a:r>
            <a:r>
              <a:rPr lang="it-IT" sz="1800" dirty="0">
                <a:effectLst/>
                <a:latin typeface="Times New Roman" panose="02020603050405020304" pitchFamily="18" charset="0"/>
                <a:ea typeface="Times New Roman" panose="02020603050405020304" pitchFamily="18" charset="0"/>
              </a:rPr>
              <a:t> è considerato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per default, ma il compilatore non ci segnalerà errori perché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(32 bit) può essere tranquillamente immagazzinato in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(64 bit). Anche se non ce n’è tecnicamente bisogno, per essere precisi, dovremmo usare la seguente sintassi:</a:t>
            </a:r>
          </a:p>
          <a:p>
            <a:r>
              <a:rPr lang="it-IT" sz="1800" dirty="0">
                <a:solidFill>
                  <a:srgbClr val="000000"/>
                </a:solidFill>
                <a:effectLst/>
                <a:latin typeface="Courier New" panose="02070309020205020404" pitchFamily="49" charset="0"/>
                <a:ea typeface="Times New Roman" panose="02020603050405020304" pitchFamily="18" charset="0"/>
              </a:rPr>
              <a:t>long duemila = 2000L;</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rappresenta con una </a:t>
            </a:r>
            <a:r>
              <a:rPr lang="it-IT" sz="1800" b="0" i="1" dirty="0">
                <a:effectLst/>
                <a:latin typeface="Times New Roman" panose="02020603050405020304" pitchFamily="18" charset="0"/>
                <a:ea typeface="Times New Roman" panose="02020603050405020304" pitchFamily="18" charset="0"/>
              </a:rPr>
              <a:t>sintassi più compatta</a:t>
            </a:r>
            <a:r>
              <a:rPr lang="it-IT" sz="1800" dirty="0">
                <a:effectLst/>
                <a:latin typeface="Times New Roman" panose="02020603050405020304" pitchFamily="18" charset="0"/>
                <a:ea typeface="Times New Roman" panose="02020603050405020304" pitchFamily="18" charset="0"/>
              </a:rPr>
              <a:t> il casting al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In particolare, un cast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di un literal, si può ottenere anche con una sintassi diversa da quella vista nel paragrafo precedente, posponendo una elle maiuscola o minuscola al valore intero assegnato.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preferisce utilizzare la notazione maiuscola, dato che una elle minuscola si può confondere con il numero 1 in alcuni ambienti di sviluppo.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saremmo obbligati ad un casting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nel caso in cui avessimo voluto assegnare alla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duemila</a:t>
            </a:r>
            <a:r>
              <a:rPr lang="it-IT" sz="1800" dirty="0">
                <a:effectLst/>
                <a:latin typeface="Times New Roman" panose="02020603050405020304" pitchFamily="18" charset="0"/>
                <a:ea typeface="Times New Roman" panose="02020603050405020304" pitchFamily="18" charset="0"/>
              </a:rPr>
              <a:t>, un valore fuori dell’intervallo di rappresentazione di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Per esempio:</a:t>
            </a:r>
          </a:p>
          <a:p>
            <a:r>
              <a:rPr lang="it-IT" sz="1800" dirty="0">
                <a:solidFill>
                  <a:srgbClr val="000000"/>
                </a:solidFill>
                <a:effectLst/>
                <a:latin typeface="Courier New" panose="02070309020205020404" pitchFamily="49" charset="0"/>
                <a:ea typeface="Times New Roman" panose="02020603050405020304" pitchFamily="18" charset="0"/>
              </a:rPr>
              <a:t>long </a:t>
            </a:r>
            <a:r>
              <a:rPr lang="it-IT" sz="1800" dirty="0" err="1">
                <a:solidFill>
                  <a:srgbClr val="000000"/>
                </a:solidFill>
                <a:effectLst/>
                <a:latin typeface="Courier New" panose="02070309020205020404" pitchFamily="49" charset="0"/>
                <a:ea typeface="Times New Roman" panose="02020603050405020304" pitchFamily="18" charset="0"/>
              </a:rPr>
              <a:t>tremiliardi</a:t>
            </a:r>
            <a:r>
              <a:rPr lang="it-IT" sz="1800" dirty="0">
                <a:solidFill>
                  <a:srgbClr val="000000"/>
                </a:solidFill>
                <a:effectLst/>
                <a:latin typeface="Courier New" panose="02070309020205020404" pitchFamily="49" charset="0"/>
                <a:ea typeface="Times New Roman" panose="02020603050405020304" pitchFamily="18" charset="0"/>
              </a:rPr>
              <a:t> = 3000000000;</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produrrebbe un errore in compilazione. Bisogna eseguire il casting nel seguente modo:</a:t>
            </a:r>
          </a:p>
          <a:p>
            <a:r>
              <a:rPr lang="it-IT" sz="1800" dirty="0">
                <a:solidFill>
                  <a:srgbClr val="000000"/>
                </a:solidFill>
                <a:effectLst/>
                <a:latin typeface="Courier New" panose="02070309020205020404" pitchFamily="49" charset="0"/>
                <a:ea typeface="Times New Roman" panose="02020603050405020304" pitchFamily="18" charset="0"/>
              </a:rPr>
              <a:t>long </a:t>
            </a:r>
            <a:r>
              <a:rPr lang="it-IT" sz="1800" dirty="0" err="1">
                <a:solidFill>
                  <a:srgbClr val="000000"/>
                </a:solidFill>
                <a:effectLst/>
                <a:latin typeface="Courier New" panose="02070309020205020404" pitchFamily="49" charset="0"/>
                <a:ea typeface="Times New Roman" panose="02020603050405020304" pitchFamily="18" charset="0"/>
              </a:rPr>
              <a:t>tremiliardi</a:t>
            </a:r>
            <a:r>
              <a:rPr lang="it-IT" sz="1800" dirty="0">
                <a:solidFill>
                  <a:srgbClr val="000000"/>
                </a:solidFill>
                <a:effectLst/>
                <a:latin typeface="Courier New" panose="02070309020205020404" pitchFamily="49" charset="0"/>
                <a:ea typeface="Times New Roman" panose="02020603050405020304" pitchFamily="18" charset="0"/>
              </a:rPr>
              <a:t> = 3000000000L;</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Nonostante tutto, </a:t>
            </a:r>
            <a:r>
              <a:rPr lang="it-IT" sz="1800" dirty="0" err="1">
                <a:effectLst/>
                <a:latin typeface="Times New Roman" panose="02020603050405020304" pitchFamily="18" charset="0"/>
                <a:ea typeface="Times New Roman" panose="02020603050405020304" pitchFamily="18" charset="0"/>
              </a:rPr>
              <a:t>l’</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è il tipo intero che viene usato più spesso.</a:t>
            </a:r>
          </a:p>
        </p:txBody>
      </p:sp>
    </p:spTree>
    <p:extLst>
      <p:ext uri="{BB962C8B-B14F-4D97-AF65-F5344CB8AC3E}">
        <p14:creationId xmlns:p14="http://schemas.microsoft.com/office/powerpoint/2010/main" val="33782693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Negli Stati Uniti viene usato come separatore decimale (il simbolo che separa la parte intera da quella frazionaria) il simbolo di punto. Anche in Java si userà quindi tale simbolo. Noi italiani invece, siamo abituati ad utilizzare il simbolo di virgola. Quindi per esempio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12,3</a:t>
            </a:r>
            <a:r>
              <a:rPr lang="it-IT" sz="1800" b="1" dirty="0">
                <a:solidFill>
                  <a:srgbClr val="000000"/>
                </a:solidFill>
                <a:effectLst/>
                <a:latin typeface="Times New Roman" panose="02020603050405020304" pitchFamily="18" charset="0"/>
                <a:ea typeface="Times New Roman" panose="02020603050405020304" pitchFamily="18" charset="0"/>
              </a:rPr>
              <a:t> in Java si scriverà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12.3</a:t>
            </a:r>
            <a:r>
              <a:rPr lang="it-IT" sz="1800" b="1" dirty="0">
                <a:solidFill>
                  <a:srgbClr val="000000"/>
                </a:solidFill>
                <a:effectLst/>
                <a:latin typeface="Times New Roman" panose="02020603050405020304" pitchFamily="18" charset="0"/>
                <a:ea typeface="Times New Roman" panose="02020603050405020304" pitchFamily="18" charset="0"/>
              </a:rPr>
              <a:t>. Questo spiega anche perché abbiamo tradotto </a:t>
            </a:r>
            <a:r>
              <a:rPr lang="it-IT" sz="1800" b="1" i="1" dirty="0">
                <a:solidFill>
                  <a:srgbClr val="000000"/>
                </a:solidFill>
                <a:effectLst/>
                <a:latin typeface="Times New Roman" panose="02020603050405020304" pitchFamily="18" charset="0"/>
                <a:ea typeface="Times New Roman" panose="02020603050405020304" pitchFamily="18" charset="0"/>
              </a:rPr>
              <a:t>floating point</a:t>
            </a:r>
            <a:r>
              <a:rPr lang="it-IT" sz="1800" b="1" dirty="0">
                <a:solidFill>
                  <a:srgbClr val="000000"/>
                </a:solidFill>
                <a:effectLst/>
                <a:latin typeface="Times New Roman" panose="02020603050405020304" pitchFamily="18" charset="0"/>
                <a:ea typeface="Times New Roman" panose="02020603050405020304" pitchFamily="18" charset="0"/>
              </a:rPr>
              <a:t> (letteralmente punto fluttuante) con </a:t>
            </a:r>
            <a:r>
              <a:rPr lang="it-IT" sz="1800" b="1" i="1" dirty="0">
                <a:solidFill>
                  <a:srgbClr val="000000"/>
                </a:solidFill>
                <a:effectLst/>
                <a:latin typeface="Times New Roman" panose="02020603050405020304" pitchFamily="18" charset="0"/>
                <a:ea typeface="Times New Roman" panose="02020603050405020304" pitchFamily="18" charset="0"/>
              </a:rPr>
              <a:t>virgola mobile</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 primo esempio di dichiarazione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potrebbe essere il seguente:</a:t>
            </a:r>
          </a:p>
          <a:p>
            <a:r>
              <a:rPr lang="it-IT" sz="1800" dirty="0">
                <a:solidFill>
                  <a:srgbClr val="000000"/>
                </a:solidFill>
                <a:effectLst/>
                <a:latin typeface="Courier New" panose="02070309020205020404" pitchFamily="49" charset="0"/>
                <a:ea typeface="Times New Roman" panose="02020603050405020304" pitchFamily="18" charset="0"/>
              </a:rPr>
              <a:t>double d = 0.0126;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anche possibile utilizzare la </a:t>
            </a:r>
            <a:r>
              <a:rPr lang="it-IT" sz="1800" b="1" dirty="0">
                <a:effectLst/>
                <a:latin typeface="Times New Roman" panose="02020603050405020304" pitchFamily="18" charset="0"/>
                <a:ea typeface="Times New Roman" panose="02020603050405020304" pitchFamily="18" charset="0"/>
              </a:rPr>
              <a:t>notazione esponenziale</a:t>
            </a:r>
            <a:r>
              <a:rPr lang="it-IT" sz="180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ingegneristica</a:t>
            </a:r>
            <a:r>
              <a:rPr lang="it-IT" sz="1800" dirty="0">
                <a:effectLst/>
                <a:latin typeface="Times New Roman" panose="02020603050405020304" pitchFamily="18" charset="0"/>
                <a:ea typeface="Times New Roman" panose="02020603050405020304" pitchFamily="18" charset="0"/>
              </a:rPr>
              <a:t> (la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e</a:t>
            </a:r>
            <a:r>
              <a:rPr lang="it-IT" sz="1800" dirty="0">
                <a:effectLst/>
                <a:latin typeface="Times New Roman" panose="02020603050405020304" pitchFamily="18" charset="0"/>
                <a:ea typeface="Times New Roman" panose="02020603050405020304" pitchFamily="18" charset="0"/>
              </a:rPr>
              <a:t>” può essere sia maiuscola sia minuscola) per specificare un literal, per esempio:</a:t>
            </a:r>
          </a:p>
          <a:p>
            <a:r>
              <a:rPr lang="it-IT" sz="1800" dirty="0">
                <a:solidFill>
                  <a:srgbClr val="000000"/>
                </a:solidFill>
                <a:effectLst/>
                <a:latin typeface="Courier New" panose="02070309020205020404" pitchFamily="49" charset="0"/>
                <a:ea typeface="Times New Roman" panose="02020603050405020304" pitchFamily="18" charset="0"/>
              </a:rPr>
              <a:t>double d = 1.26E-2; //equivalente a 1.26 diviso 100 = 0.0126</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832438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Alcune operazioni matematiche, potrebbero dare risultati che non sono compresi nell’insieme dei numeri reali (per esempio </a:t>
            </a:r>
            <a:r>
              <a:rPr lang="it-IT" sz="1800" i="1" dirty="0">
                <a:effectLst/>
                <a:latin typeface="Times New Roman" panose="02020603050405020304" pitchFamily="18" charset="0"/>
                <a:ea typeface="Times New Roman" panose="02020603050405020304" pitchFamily="18" charset="0"/>
              </a:rPr>
              <a:t>infinito</a:t>
            </a:r>
            <a:r>
              <a:rPr lang="it-IT" sz="1800" dirty="0">
                <a:effectLst/>
                <a:latin typeface="Times New Roman" panose="02020603050405020304" pitchFamily="18" charset="0"/>
                <a:ea typeface="Times New Roman" panose="02020603050405020304" pitchFamily="18" charset="0"/>
              </a:rPr>
              <a:t>). Nella libreria standard sono definite delle classi dette </a:t>
            </a:r>
            <a:r>
              <a:rPr lang="it-IT" sz="1800" b="1" dirty="0">
                <a:effectLst/>
                <a:latin typeface="Times New Roman" panose="02020603050405020304" pitchFamily="18" charset="0"/>
                <a:ea typeface="Times New Roman" panose="02020603050405020304" pitchFamily="18" charset="0"/>
              </a:rPr>
              <a:t>classi wrapper</a:t>
            </a:r>
            <a:r>
              <a:rPr lang="it-IT" sz="1800" dirty="0">
                <a:effectLst/>
                <a:latin typeface="Times New Roman" panose="02020603050405020304" pitchFamily="18" charset="0"/>
                <a:ea typeface="Times New Roman" panose="02020603050405020304" pitchFamily="18" charset="0"/>
              </a:rPr>
              <a:t> (in italiano </a:t>
            </a:r>
            <a:r>
              <a:rPr lang="it-IT" sz="1800" b="1" dirty="0">
                <a:effectLst/>
                <a:latin typeface="Times New Roman" panose="02020603050405020304" pitchFamily="18" charset="0"/>
                <a:ea typeface="Times New Roman" panose="02020603050405020304" pitchFamily="18" charset="0"/>
              </a:rPr>
              <a:t>classi involucro</a:t>
            </a:r>
            <a:r>
              <a:rPr lang="it-IT" sz="1800" dirty="0">
                <a:effectLst/>
                <a:latin typeface="Times New Roman" panose="02020603050405020304" pitchFamily="18" charset="0"/>
                <a:ea typeface="Times New Roman" panose="02020603050405020304" pitchFamily="18" charset="0"/>
              </a:rPr>
              <a:t>), che non sono altro che classi che rappresentano i tipi di dati primitivi. Per esempio, esiste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Integer</a:t>
            </a:r>
            <a:r>
              <a:rPr lang="it-IT" sz="1800" dirty="0">
                <a:effectLst/>
                <a:latin typeface="Times New Roman" panose="02020603050405020304" pitchFamily="18" charset="0"/>
                <a:ea typeface="Times New Roman" panose="02020603050405020304" pitchFamily="18" charset="0"/>
              </a:rPr>
              <a:t> per il tipo primitivo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per il tipo di dato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e così via. Gli oggetti istanziati da queste classi sono intercambiabili con i dati primitivi, grazie alla caratteristica di Java nota come </a:t>
            </a:r>
            <a:r>
              <a:rPr lang="it-IT" sz="1800" b="1" dirty="0">
                <a:effectLst/>
                <a:latin typeface="Times New Roman" panose="02020603050405020304" pitchFamily="18" charset="0"/>
                <a:ea typeface="Times New Roman" panose="02020603050405020304" pitchFamily="18" charset="0"/>
              </a:rPr>
              <a:t>autoboxing-autounboxing</a:t>
            </a:r>
            <a:r>
              <a:rPr lang="it-IT" sz="1800" dirty="0">
                <a:effectLst/>
                <a:latin typeface="Times New Roman" panose="02020603050405020304" pitchFamily="18" charset="0"/>
                <a:ea typeface="Times New Roman" panose="02020603050405020304" pitchFamily="18" charset="0"/>
              </a:rPr>
              <a:t>. È per questo che le classi wrapper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dirty="0">
                <a:effectLst/>
                <a:latin typeface="Times New Roman" panose="02020603050405020304" pitchFamily="18" charset="0"/>
                <a:ea typeface="Times New Roman" panose="02020603050405020304" pitchFamily="18" charset="0"/>
              </a:rPr>
              <a:t>, forniscono le seguenti costanti statiche:</a:t>
            </a: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Float.NaN</a:t>
            </a:r>
            <a:endParaRPr lang="it-IT" sz="1800" dirty="0">
              <a:effectLst/>
              <a:latin typeface="Times New Roman" panose="02020603050405020304" pitchFamily="18" charset="0"/>
              <a:ea typeface="MS Mincho" panose="02020609040205080304" pitchFamily="49" charset="-128"/>
            </a:endParaRP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Float.NEGATIVE_INFINITY</a:t>
            </a:r>
            <a:endParaRPr lang="it-IT" sz="1800" dirty="0">
              <a:effectLst/>
              <a:latin typeface="Times New Roman" panose="02020603050405020304" pitchFamily="18" charset="0"/>
              <a:ea typeface="MS Mincho" panose="02020609040205080304" pitchFamily="49" charset="-128"/>
            </a:endParaRP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Float.POSITIVE_INFINITY</a:t>
            </a:r>
            <a:endParaRPr lang="it-IT" sz="1800" dirty="0">
              <a:effectLst/>
              <a:latin typeface="Times New Roman" panose="02020603050405020304" pitchFamily="18" charset="0"/>
              <a:ea typeface="MS Mincho" panose="02020609040205080304" pitchFamily="49" charset="-128"/>
            </a:endParaRP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Double.NaN</a:t>
            </a:r>
            <a:endParaRPr lang="it-IT" sz="1800" dirty="0">
              <a:effectLst/>
              <a:latin typeface="Times New Roman" panose="02020603050405020304" pitchFamily="18" charset="0"/>
              <a:ea typeface="MS Mincho" panose="02020609040205080304" pitchFamily="49" charset="-128"/>
            </a:endParaRP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Double.NEGATIVE_INFINITY</a:t>
            </a:r>
            <a:endParaRPr lang="it-IT" sz="1800" dirty="0">
              <a:effectLst/>
              <a:latin typeface="Times New Roman" panose="02020603050405020304" pitchFamily="18" charset="0"/>
              <a:ea typeface="MS Mincho" panose="02020609040205080304" pitchFamily="49" charset="-128"/>
            </a:endParaRPr>
          </a:p>
          <a:p>
            <a:pPr marL="180340" indent="180340"/>
            <a:r>
              <a:rPr lang="en-GB" sz="1800" dirty="0" err="1">
                <a:effectLst/>
                <a:latin typeface="Courier New" panose="02070309020205020404" pitchFamily="49" charset="0"/>
                <a:ea typeface="MS Mincho" panose="02020609040205080304" pitchFamily="49" charset="-128"/>
                <a:cs typeface="Courier New" panose="02070309020205020404" pitchFamily="49" charset="0"/>
              </a:rPr>
              <a:t>Double.POSITIVE_INFINITY</a:t>
            </a:r>
            <a:endParaRPr lang="it-IT" sz="1800" dirty="0">
              <a:effectLst/>
              <a:latin typeface="Times New Roman" panose="02020603050405020304" pitchFamily="18"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Dove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NaN</a:t>
            </a:r>
            <a:r>
              <a:rPr lang="it-IT" sz="1800" dirty="0">
                <a:effectLst/>
                <a:latin typeface="Times New Roman" panose="02020603050405020304" pitchFamily="18" charset="0"/>
                <a:ea typeface="Times New Roman" panose="02020603050405020304" pitchFamily="18" charset="0"/>
              </a:rPr>
              <a:t> sta per </a:t>
            </a:r>
            <a:r>
              <a:rPr lang="it-IT" sz="1800" i="1" dirty="0">
                <a:effectLst/>
                <a:latin typeface="Times New Roman" panose="02020603050405020304" pitchFamily="18" charset="0"/>
                <a:ea typeface="Times New Roman" panose="02020603050405020304" pitchFamily="18" charset="0"/>
              </a:rPr>
              <a:t>Not a Number</a:t>
            </a:r>
            <a:r>
              <a:rPr lang="it-IT" sz="1800" dirty="0">
                <a:effectLst/>
                <a:latin typeface="Times New Roman" panose="02020603050405020304" pitchFamily="18" charset="0"/>
                <a:ea typeface="Times New Roman" panose="02020603050405020304" pitchFamily="18" charset="0"/>
              </a:rPr>
              <a:t> (</a:t>
            </a:r>
            <a:r>
              <a:rPr lang="it-IT" sz="1800" i="1" dirty="0">
                <a:effectLst/>
                <a:latin typeface="Times New Roman" panose="02020603050405020304" pitchFamily="18" charset="0"/>
                <a:ea typeface="Times New Roman" panose="02020603050405020304" pitchFamily="18" charset="0"/>
              </a:rPr>
              <a:t>non un numero</a:t>
            </a:r>
            <a:r>
              <a:rPr lang="it-IT" sz="1800" dirty="0">
                <a:effectLst/>
                <a:latin typeface="Times New Roman" panose="02020603050405020304" pitchFamily="18" charset="0"/>
                <a:ea typeface="Times New Roman" panose="02020603050405020304" pitchFamily="18" charset="0"/>
              </a:rPr>
              <a:t>). Per esempio:</a:t>
            </a:r>
          </a:p>
          <a:p>
            <a:r>
              <a:rPr lang="it-IT" sz="1800" dirty="0">
                <a:solidFill>
                  <a:srgbClr val="000000"/>
                </a:solidFill>
                <a:effectLst/>
                <a:latin typeface="Courier New" panose="02070309020205020404" pitchFamily="49" charset="0"/>
                <a:ea typeface="Times New Roman" panose="02020603050405020304" pitchFamily="18" charset="0"/>
              </a:rPr>
              <a:t>double d = -10.0 / 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System.out.println(d);</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produrrà il seguente output:</a:t>
            </a:r>
          </a:p>
          <a:p>
            <a:r>
              <a:rPr lang="it-IT" sz="1800" dirty="0">
                <a:solidFill>
                  <a:srgbClr val="000000"/>
                </a:solidFill>
                <a:effectLst/>
                <a:latin typeface="Courier New" panose="02070309020205020404" pitchFamily="49" charset="0"/>
                <a:ea typeface="Times New Roman" panose="02020603050405020304" pitchFamily="18" charset="0"/>
              </a:rPr>
              <a:t>NEGATIVE_INFINITY</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Incontreremo le classi wrapper più volte durante la lettura di questo libro.</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È bene aprire una piccola parentesi sui modificatori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b="1" dirty="0">
                <a:solidFill>
                  <a:srgbClr val="000000"/>
                </a:solidFill>
                <a:effectLst/>
                <a:latin typeface="Times New Roman" panose="02020603050405020304" pitchFamily="18" charset="0"/>
                <a:ea typeface="Times New Roman" panose="02020603050405020304" pitchFamily="18" charset="0"/>
              </a:rPr>
              <a:t>. Infatti, una costante statica in Java è una variabile dichiarata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b="1" dirty="0">
                <a:solidFill>
                  <a:srgbClr val="000000"/>
                </a:solidFill>
                <a:effectLst/>
                <a:latin typeface="Times New Roman" panose="02020603050405020304" pitchFamily="18" charset="0"/>
                <a:ea typeface="Times New Roman" panose="02020603050405020304" pitchFamily="18" charset="0"/>
              </a:rPr>
              <a:t>. In particolare, il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b="1" dirty="0">
                <a:solidFill>
                  <a:srgbClr val="000000"/>
                </a:solidFill>
                <a:effectLst/>
                <a:latin typeface="Times New Roman" panose="02020603050405020304" pitchFamily="18" charset="0"/>
                <a:ea typeface="Times New Roman" panose="02020603050405020304" pitchFamily="18" charset="0"/>
              </a:rPr>
              <a:t> applicato ad una variabile farà in modo che ogni tentativo di cambiare il valore di tale variabile (già inizializzata) produrrà un errore in compilazione. Quindi una variabile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b="1" dirty="0">
                <a:solidFill>
                  <a:srgbClr val="000000"/>
                </a:solidFill>
                <a:effectLst/>
                <a:latin typeface="Times New Roman" panose="02020603050405020304" pitchFamily="18" charset="0"/>
                <a:ea typeface="Times New Roman" panose="02020603050405020304" pitchFamily="18" charset="0"/>
              </a:rPr>
              <a:t> è a tutti gli effetti una costante. </a:t>
            </a:r>
            <a:br>
              <a:rPr lang="it-IT" sz="1800" b="1" dirty="0">
                <a:solidFill>
                  <a:srgbClr val="000000"/>
                </a:solidFill>
                <a:effectLst/>
                <a:latin typeface="Times New Roman" panose="02020603050405020304" pitchFamily="18" charset="0"/>
                <a:ea typeface="Times New Roman" panose="02020603050405020304" pitchFamily="18" charset="0"/>
              </a:rPr>
            </a:br>
            <a:r>
              <a:rPr lang="it-IT" sz="1800" b="1" dirty="0">
                <a:solidFill>
                  <a:srgbClr val="000000"/>
                </a:solidFill>
                <a:effectLst/>
                <a:latin typeface="Times New Roman" panose="02020603050405020304" pitchFamily="18" charset="0"/>
                <a:ea typeface="Times New Roman" panose="02020603050405020304" pitchFamily="18" charset="0"/>
              </a:rPr>
              <a:t>Per quanto riguarda il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b="1" dirty="0">
                <a:solidFill>
                  <a:srgbClr val="000000"/>
                </a:solidFill>
                <a:effectLst/>
                <a:latin typeface="Times New Roman" panose="02020603050405020304" pitchFamily="18" charset="0"/>
                <a:ea typeface="Times New Roman" panose="02020603050405020304" pitchFamily="18" charset="0"/>
              </a:rPr>
              <a:t>, come abbiamo già avuto modo di asserire precedentemente, il discorso è più complicato. Quando dichiariamo una variabile statica, tale variabile sarà condivisa da tutte le istanze di quella classe, ovvero è come se appartenesse proprio alla classe invece che ai suoi oggetti.</a:t>
            </a:r>
            <a:endParaRPr lang="it-IT" sz="1800" b="1"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Ecco perché accediamo alle costanti statiche tramite la sintassi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NomeClasse.nomeCostanteStatica</a:t>
            </a:r>
            <a:r>
              <a:rPr lang="it-IT" sz="1800" b="1" dirty="0">
                <a:solidFill>
                  <a:srgbClr val="000000"/>
                </a:solidFill>
                <a:effectLst/>
                <a:latin typeface="Times New Roman" panose="02020603050405020304" pitchFamily="18" charset="0"/>
                <a:ea typeface="Times New Roman" panose="02020603050405020304" pitchFamily="18" charset="0"/>
              </a:rPr>
              <a:t> (per esempio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Float.NaN</a:t>
            </a:r>
            <a:r>
              <a:rPr lang="it-IT" sz="1800" b="1" dirty="0">
                <a:solidFill>
                  <a:srgbClr val="000000"/>
                </a:solidFill>
                <a:effectLst/>
                <a:latin typeface="Times New Roman" panose="02020603050405020304" pitchFamily="18" charset="0"/>
                <a:ea typeface="Times New Roman" panose="02020603050405020304" pitchFamily="18" charset="0"/>
              </a:rPr>
              <a:t>) invece di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nomeOggetto.nomeCostanteStatica</a:t>
            </a:r>
            <a:r>
              <a:rPr lang="it-IT" sz="1800" b="1" dirty="0">
                <a:solidFill>
                  <a:srgbClr val="000000"/>
                </a:solidFill>
                <a:effectLst/>
                <a:latin typeface="Times New Roman" panose="02020603050405020304" pitchFamily="18" charset="0"/>
                <a:ea typeface="Times New Roman" panose="02020603050405020304" pitchFamily="18" charset="0"/>
              </a:rPr>
              <a:t>. I modificatori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b="1" dirty="0">
                <a:solidFill>
                  <a:srgbClr val="000000"/>
                </a:solidFill>
                <a:effectLst/>
                <a:latin typeface="Times New Roman" panose="02020603050405020304" pitchFamily="18" charset="0"/>
                <a:ea typeface="Times New Roman" panose="02020603050405020304" pitchFamily="18" charset="0"/>
              </a:rPr>
              <a:t>, saranno trattati in dettaglio nei capitoli 6 e 7.</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48533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rappresentazione di numeri floating point non è precisa, e spesso si avrà che fare con arrotondamenti. In particolare, per 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dirty="0">
                <a:effectLst/>
                <a:latin typeface="Times New Roman" panose="02020603050405020304" pitchFamily="18" charset="0"/>
                <a:ea typeface="Times New Roman" panose="02020603050405020304" pitchFamily="18" charset="0"/>
              </a:rPr>
              <a:t> composti da almeno 9 cifre, possono avvenire arrotondamenti imprevisti. Per esempio, il seguente snippet:</a:t>
            </a:r>
          </a:p>
          <a:p>
            <a:r>
              <a:rPr lang="en-GB" sz="1800" dirty="0">
                <a:solidFill>
                  <a:srgbClr val="000000"/>
                </a:solidFill>
                <a:effectLst/>
                <a:latin typeface="Courier New" panose="02070309020205020404" pitchFamily="49" charset="0"/>
                <a:ea typeface="Times New Roman" panose="02020603050405020304" pitchFamily="18" charset="0"/>
              </a:rPr>
              <a:t>float f = 123456789.0F;</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System.out.println(f);</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produrrà l’output:</a:t>
            </a:r>
          </a:p>
          <a:p>
            <a:r>
              <a:rPr lang="it-IT" sz="1800" dirty="0">
                <a:solidFill>
                  <a:srgbClr val="FFFFFF"/>
                </a:solidFill>
                <a:effectLst/>
                <a:latin typeface="Courier New" panose="02070309020205020404" pitchFamily="49" charset="0"/>
                <a:ea typeface="MS Mincho" panose="02020609040205080304" pitchFamily="49" charset="-128"/>
              </a:rPr>
              <a:t>1.23456792E8</a:t>
            </a:r>
          </a:p>
          <a:p>
            <a:r>
              <a:rPr lang="it-IT" sz="1800" dirty="0">
                <a:effectLst/>
                <a:latin typeface="Times New Roman" panose="02020603050405020304" pitchFamily="18" charset="0"/>
                <a:ea typeface="Times New Roman" panose="02020603050405020304" pitchFamily="18" charset="0"/>
              </a:rPr>
              <a:t>che evidenzia il fatto che il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123456789</a:t>
            </a:r>
            <a:r>
              <a:rPr lang="it-IT" sz="1800" dirty="0">
                <a:effectLst/>
                <a:latin typeface="Times New Roman" panose="02020603050405020304" pitchFamily="18" charset="0"/>
                <a:ea typeface="Times New Roman" panose="02020603050405020304" pitchFamily="18" charset="0"/>
              </a:rPr>
              <a:t> sia rappresentato all’interno di un float con una rappresentazione decimale imprecisa. Il numero è rappresentato con la notazione scientifica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1.23456792E8</a:t>
            </a:r>
            <a:r>
              <a:rPr lang="it-IT" sz="1800" dirty="0">
                <a:effectLst/>
                <a:latin typeface="Times New Roman" panose="02020603050405020304" pitchFamily="18" charset="0"/>
                <a:ea typeface="Times New Roman" panose="02020603050405020304" pitchFamily="18" charset="0"/>
              </a:rPr>
              <a:t>. Infatti, siccome il valore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a:t>
            </a:r>
            <a:r>
              <a:rPr lang="it-IT" sz="1800" dirty="0">
                <a:effectLst/>
                <a:latin typeface="Times New Roman" panose="02020603050405020304" pitchFamily="18" charset="0"/>
                <a:ea typeface="Times New Roman" panose="02020603050405020304" pitchFamily="18" charset="0"/>
              </a:rPr>
              <a:t>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123456789.0</a:t>
            </a:r>
            <a:r>
              <a:rPr lang="it-IT" sz="1800" dirty="0">
                <a:effectLst/>
                <a:latin typeface="Times New Roman" panose="02020603050405020304" pitchFamily="18" charset="0"/>
                <a:ea typeface="Times New Roman" panose="02020603050405020304" pitchFamily="18" charset="0"/>
              </a:rPr>
              <a:t> che equivale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123456789</a:t>
            </a:r>
            <a:r>
              <a:rPr lang="it-IT" sz="1800" dirty="0">
                <a:effectLst/>
                <a:latin typeface="Times New Roman" panose="02020603050405020304" pitchFamily="18" charset="0"/>
                <a:ea typeface="Times New Roman" panose="02020603050405020304" pitchFamily="18" charset="0"/>
              </a:rPr>
              <a:t>, possiamo provare a stamparlo dopo aver fatto un castato ad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en-GB" sz="1800" dirty="0">
                <a:solidFill>
                  <a:srgbClr val="000000"/>
                </a:solidFill>
                <a:effectLst/>
                <a:latin typeface="Courier New" panose="02070309020205020404" pitchFamily="49" charset="0"/>
                <a:ea typeface="Times New Roman" panose="02020603050405020304" pitchFamily="18" charset="0"/>
              </a:rPr>
              <a:t>System.out.println((int)f);</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il numero verrà stampato senza notazione scientifica:</a:t>
            </a:r>
          </a:p>
          <a:p>
            <a:r>
              <a:rPr lang="it-IT" sz="1800" dirty="0">
                <a:solidFill>
                  <a:srgbClr val="FFFFFF"/>
                </a:solidFill>
                <a:effectLst/>
                <a:latin typeface="Courier New" panose="02070309020205020404" pitchFamily="49" charset="0"/>
                <a:ea typeface="MS Mincho" panose="02020609040205080304" pitchFamily="49" charset="-128"/>
              </a:rPr>
              <a:t>123456792</a:t>
            </a:r>
          </a:p>
          <a:p>
            <a:r>
              <a:rPr lang="it-IT" sz="1800" dirty="0">
                <a:effectLst/>
                <a:latin typeface="Times New Roman" panose="02020603050405020304" pitchFamily="18" charset="0"/>
                <a:ea typeface="Times New Roman" panose="02020603050405020304" pitchFamily="18" charset="0"/>
              </a:rPr>
              <a:t>Ed è così evidente che il numero originale è aumentato di tre unità! </a:t>
            </a:r>
          </a:p>
          <a:p>
            <a:r>
              <a:rPr lang="it-IT" sz="1800" dirty="0">
                <a:effectLst/>
                <a:latin typeface="Times New Roman" panose="02020603050405020304" pitchFamily="18" charset="0"/>
                <a:ea typeface="Times New Roman" panose="02020603050405020304" pitchFamily="18" charset="0"/>
              </a:rPr>
              <a:t>Per i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(il cui nome sta ad indicare una precisione raddoppiata), si ha precisione per numeri molto più alti, ma la sostanza non cambia. Ne</a:t>
            </a:r>
            <a:r>
              <a:rPr lang="en-GB" sz="1800" dirty="0">
                <a:effectLst/>
                <a:latin typeface="Times New Roman" panose="02020603050405020304" pitchFamily="18" charset="0"/>
                <a:ea typeface="Times New Roman" panose="02020603050405020304" pitchFamily="18" charset="0"/>
              </a:rPr>
              <a:t>l seguente snippet:</a:t>
            </a:r>
            <a:endParaRPr lang="it-IT" sz="1800" dirty="0">
              <a:effectLst/>
              <a:latin typeface="Times New Roman" panose="02020603050405020304" pitchFamily="18"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long </a:t>
            </a:r>
            <a:r>
              <a:rPr lang="en-GB" sz="1800" dirty="0" err="1">
                <a:solidFill>
                  <a:srgbClr val="000000"/>
                </a:solidFill>
                <a:effectLst/>
                <a:latin typeface="Courier New" panose="02070309020205020404" pitchFamily="49" charset="0"/>
                <a:ea typeface="Times New Roman" panose="02020603050405020304" pitchFamily="18" charset="0"/>
              </a:rPr>
              <a:t>numeroLong</a:t>
            </a:r>
            <a:r>
              <a:rPr lang="en-GB" sz="1800" dirty="0">
                <a:solidFill>
                  <a:srgbClr val="000000"/>
                </a:solidFill>
                <a:effectLst/>
                <a:latin typeface="Courier New" panose="02070309020205020404" pitchFamily="49" charset="0"/>
                <a:ea typeface="Times New Roman" panose="02020603050405020304" pitchFamily="18" charset="0"/>
              </a:rPr>
              <a:t> = 9999999999999991L;</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double d = </a:t>
            </a:r>
            <a:r>
              <a:rPr lang="it-IT" sz="1800" dirty="0" err="1">
                <a:solidFill>
                  <a:srgbClr val="000000"/>
                </a:solidFill>
                <a:effectLst/>
                <a:latin typeface="Courier New" panose="02070309020205020404" pitchFamily="49" charset="0"/>
                <a:ea typeface="Times New Roman" panose="02020603050405020304" pitchFamily="18" charset="0"/>
              </a:rPr>
              <a:t>numeroLong</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System.out.println(d);</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System.out.println(</a:t>
            </a:r>
            <a:r>
              <a:rPr lang="en-GB" sz="1800" dirty="0" err="1">
                <a:solidFill>
                  <a:srgbClr val="000000"/>
                </a:solidFill>
                <a:effectLst/>
                <a:latin typeface="Courier New" panose="02070309020205020404" pitchFamily="49" charset="0"/>
                <a:ea typeface="Times New Roman" panose="02020603050405020304" pitchFamily="18" charset="0"/>
              </a:rPr>
              <a:t>numeroLong</a:t>
            </a:r>
            <a:r>
              <a:rPr lang="en-GB" sz="1800" dirty="0">
                <a:solidFill>
                  <a:srgbClr val="000000"/>
                </a:solidFill>
                <a:effectLst/>
                <a:latin typeface="Courier New" panose="02070309020205020404" pitchFamily="49" charset="0"/>
                <a:ea typeface="Times New Roman" panose="02020603050405020304" pitchFamily="18" charset="0"/>
              </a:rPr>
              <a:t> -(long)d);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cui output è:</a:t>
            </a:r>
          </a:p>
          <a:p>
            <a:r>
              <a:rPr lang="it-IT" sz="1800" dirty="0">
                <a:solidFill>
                  <a:srgbClr val="FFFFFF"/>
                </a:solidFill>
                <a:effectLst/>
                <a:latin typeface="Courier New" panose="02070309020205020404" pitchFamily="49" charset="0"/>
                <a:ea typeface="MS Mincho" panose="02020609040205080304" pitchFamily="49" charset="-128"/>
              </a:rPr>
              <a:t>9.999999999999992E15</a:t>
            </a:r>
          </a:p>
          <a:p>
            <a:r>
              <a:rPr lang="it-IT" sz="1800" dirty="0">
                <a:solidFill>
                  <a:srgbClr val="FFFFFF"/>
                </a:solidFill>
                <a:effectLst/>
                <a:latin typeface="Courier New" panose="02070309020205020404" pitchFamily="49" charset="0"/>
                <a:ea typeface="MS Mincho" panose="02020609040205080304" pitchFamily="49" charset="-128"/>
              </a:rPr>
              <a:t>-1</a:t>
            </a:r>
          </a:p>
          <a:p>
            <a:r>
              <a:rPr lang="it-IT" sz="1800" dirty="0">
                <a:effectLst/>
                <a:latin typeface="Times New Roman" panose="02020603050405020304" pitchFamily="18" charset="0"/>
                <a:ea typeface="Times New Roman" panose="02020603050405020304" pitchFamily="18" charset="0"/>
              </a:rPr>
              <a:t>dove si evidenzia che il numero originale, nel passaggio di rappresentazione da numero intero a floating point sia stato incrementato di un’unità.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Notare che abbiamo assegnato un numero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b="1" dirty="0">
                <a:solidFill>
                  <a:srgbClr val="000000"/>
                </a:solidFill>
                <a:effectLst/>
                <a:latin typeface="Times New Roman" panose="02020603050405020304" pitchFamily="18" charset="0"/>
                <a:ea typeface="Times New Roman" panose="02020603050405020304" pitchFamily="18" charset="0"/>
              </a:rPr>
              <a:t> ad un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perché il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può contenere più numeri rispetto ad un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b="1" dirty="0">
                <a:solidFill>
                  <a:srgbClr val="000000"/>
                </a:solidFill>
                <a:effectLst/>
                <a:latin typeface="Times New Roman" panose="02020603050405020304" pitchFamily="18" charset="0"/>
                <a:ea typeface="Times New Roman" panose="02020603050405020304" pitchFamily="18" charset="0"/>
              </a:rPr>
              <a:t>, ed ha quindi un intervallo di rappresentazione maggiore.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Le regole di approssimazione definite nell’IEEE-754 sono complesse, e non è sempre prevedibile cosa succederà quando utilizzeremo determinati numeri floating point, soprattutto quando si operano espressioni aritmetiche. Per esempio, considerando il seguente snippet:</a:t>
            </a:r>
          </a:p>
          <a:p>
            <a:r>
              <a:rPr lang="it-IT" sz="1800" dirty="0">
                <a:solidFill>
                  <a:srgbClr val="000000"/>
                </a:solidFill>
                <a:effectLst/>
                <a:latin typeface="Courier New" panose="02070309020205020404" pitchFamily="49" charset="0"/>
                <a:ea typeface="Times New Roman" panose="02020603050405020304" pitchFamily="18" charset="0"/>
              </a:rPr>
              <a:t>System.out.println((0.1+0.3));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System.out.println((0.1+0.2));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L’output è sorprendente:</a:t>
            </a:r>
          </a:p>
          <a:p>
            <a:r>
              <a:rPr lang="it-IT" sz="1800" dirty="0">
                <a:solidFill>
                  <a:srgbClr val="FFFFFF"/>
                </a:solidFill>
                <a:effectLst/>
                <a:latin typeface="Courier New" panose="02070309020205020404" pitchFamily="49" charset="0"/>
                <a:ea typeface="MS Mincho" panose="02020609040205080304" pitchFamily="49" charset="-128"/>
              </a:rPr>
              <a:t>0.4</a:t>
            </a:r>
          </a:p>
          <a:p>
            <a:r>
              <a:rPr lang="it-IT" sz="1800" dirty="0">
                <a:solidFill>
                  <a:srgbClr val="FFFFFF"/>
                </a:solidFill>
                <a:effectLst/>
                <a:latin typeface="Courier New" panose="02070309020205020404" pitchFamily="49" charset="0"/>
                <a:ea typeface="MS Mincho" panose="02020609040205080304" pitchFamily="49" charset="-128"/>
              </a:rPr>
              <a:t>0.30000000000000004</a:t>
            </a:r>
          </a:p>
          <a:p>
            <a:r>
              <a:rPr lang="it-IT" sz="1800" dirty="0">
                <a:effectLst/>
                <a:latin typeface="Times New Roman" panose="02020603050405020304" pitchFamily="18" charset="0"/>
                <a:ea typeface="Times New Roman" panose="02020603050405020304" pitchFamily="18" charset="0"/>
              </a:rPr>
              <a:t>la prima espressione è stata calcolata precisamente, mentre la seconda no! </a:t>
            </a:r>
          </a:p>
          <a:p>
            <a:r>
              <a:rPr lang="it-IT" sz="1800" b="1" dirty="0">
                <a:effectLst/>
                <a:latin typeface="Times New Roman" panose="02020603050405020304" pitchFamily="18" charset="0"/>
                <a:ea typeface="Times New Roman" panose="02020603050405020304" pitchFamily="18" charset="0"/>
              </a:rPr>
              <a:t>[ICONA LINK 3.4]</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Questo tipo di comportamenti relativi ad i floating point non sono propri solamente di Java, ma sono comuni a tutti i maggiori linguaggi di programmazione che utilizzano lo standard di rappresentazione per i numeri floating point IEEE 754, per esempio C, C++ o Javascript. Se volete approfondire il discorso sui numeri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(singola precisione)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(doppia precisione), potete consultare i link 3.3 on line.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Sembra evidente che non sia così banale eseguire calcoli con i tipi primitivi. Spesso conviene utilizzare solamente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in caso di espressioni aritmetiche che coinvolgono numeri decimali. Come abbiamo visto però, persino utilizzando solo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 </a:t>
            </a:r>
            <a:r>
              <a:rPr lang="it-IT" sz="1800" dirty="0">
                <a:effectLst/>
                <a:latin typeface="Times New Roman" panose="02020603050405020304" pitchFamily="18" charset="0"/>
                <a:ea typeface="Times New Roman" panose="02020603050405020304" pitchFamily="18" charset="0"/>
              </a:rPr>
              <a:t>non saremo sicuri di ottenere risultati precisi in caso di espressioni aritmetiche. Infatti, avendo 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 </a:t>
            </a:r>
            <a:r>
              <a:rPr lang="it-IT" sz="1800" dirty="0">
                <a:effectLst/>
                <a:latin typeface="Times New Roman" panose="02020603050405020304" pitchFamily="18" charset="0"/>
                <a:ea typeface="Times New Roman" panose="02020603050405020304" pitchFamily="18" charset="0"/>
              </a:rPr>
              <a:t>una rappresentazione numerica comunque limitata, a volte devono essere arrotondati. Inoltre l’arrotondamento dipende dall’architettura dalla piattaforma su cui viene eseguito il calcolo.</a:t>
            </a:r>
          </a:p>
          <a:p>
            <a:r>
              <a:rPr lang="it-IT" sz="1800" b="1" dirty="0">
                <a:effectLst/>
                <a:latin typeface="Times New Roman" panose="02020603050405020304" pitchFamily="18" charset="0"/>
                <a:ea typeface="Times New Roman" panose="02020603050405020304" pitchFamily="18" charset="0"/>
              </a:rPr>
              <a:t>(ICONA UTILIZZO NON COMUNE)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Esiste in Java un modificatore che viene usato rarissimamente, si tratta di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e probabilmente la maggior parte dei programmatori Java non ne ha mai fatto uso. Dichiarare le variabili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come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permetterebbe di troncare i bit che farebbero variare questi arrotondamenti su piattaforme diverse, garantendo così uniformità di risultati su tutte le piattaforme. Purtroppo i risultati potrebbero comunque essere sbagliati! Il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può marcare non solo le variabili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ma anche classi o metodi. In questi casi tutte le operazioni fatte all’interno di queste classi o metodi seguiranno le regole del troncamento imposto da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ottenere risultati precisi nelle operazioni, è necessario utilizzare una classe della libreria Java: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BigDecimal</a:t>
            </a:r>
            <a:r>
              <a:rPr lang="it-IT" sz="1800" dirty="0">
                <a:effectLst/>
                <a:latin typeface="Times New Roman" panose="02020603050405020304" pitchFamily="18" charset="0"/>
                <a:ea typeface="Times New Roman" panose="02020603050405020304" pitchFamily="18" charset="0"/>
              </a:rPr>
              <a:t> in luogo del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Tale classe si può importare. È definita nel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java.math</a:t>
            </a:r>
            <a:r>
              <a:rPr lang="it-IT" sz="1800" dirty="0">
                <a:effectLst/>
                <a:latin typeface="Times New Roman" panose="02020603050405020304" pitchFamily="18" charset="0"/>
                <a:ea typeface="Times New Roman" panose="02020603050405020304" pitchFamily="18" charset="0"/>
              </a:rPr>
              <a:t>, che contiene classi di utilità relative alla matematica, e ne parleremo più avanti e negli esercizi.</a:t>
            </a:r>
          </a:p>
        </p:txBody>
      </p:sp>
    </p:spTree>
    <p:extLst>
      <p:ext uri="{BB962C8B-B14F-4D97-AF65-F5344CB8AC3E}">
        <p14:creationId xmlns:p14="http://schemas.microsoft.com/office/powerpoint/2010/main" val="42633208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Questo tipo di comportamenti relativi ad i floating point non sono propri solamente di Java, ma sono comuni a tutti i maggiori linguaggi di programmazione che utilizzano lo standard di rappresentazione per i numeri floating point IEEE 754, per esempio C, C++ o Javascript. Se volete approfondire il discorso sui numeri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(singola precisione)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(doppia precisione), potete consultare i link 3.3 on line.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Sembra evidente che non sia così banale eseguire calcoli con i tipi primitivi. Spesso conviene utilizzare solamente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in caso di espressioni aritmetiche che coinvolgono numeri decimali. Come abbiamo visto però, persino utilizzando solo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 </a:t>
            </a:r>
            <a:r>
              <a:rPr lang="it-IT" sz="1800" dirty="0">
                <a:effectLst/>
                <a:latin typeface="Times New Roman" panose="02020603050405020304" pitchFamily="18" charset="0"/>
                <a:ea typeface="Times New Roman" panose="02020603050405020304" pitchFamily="18" charset="0"/>
              </a:rPr>
              <a:t>non saremo sicuri di ottenere risultati precisi in caso di espressioni aritmetiche. Infatti, avendo 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 </a:t>
            </a:r>
            <a:r>
              <a:rPr lang="it-IT" sz="1800" dirty="0">
                <a:effectLst/>
                <a:latin typeface="Times New Roman" panose="02020603050405020304" pitchFamily="18" charset="0"/>
                <a:ea typeface="Times New Roman" panose="02020603050405020304" pitchFamily="18" charset="0"/>
              </a:rPr>
              <a:t>una rappresentazione numerica comunque limitata, a volte devono essere arrotondati. Inoltre l’arrotondamento dipende dall’architettura dalla piattaforma su cui viene eseguito il calcolo.</a:t>
            </a:r>
          </a:p>
          <a:p>
            <a:r>
              <a:rPr lang="it-IT" sz="1800" b="1" dirty="0">
                <a:effectLst/>
                <a:latin typeface="Times New Roman" panose="02020603050405020304" pitchFamily="18" charset="0"/>
                <a:ea typeface="Times New Roman" panose="02020603050405020304" pitchFamily="18" charset="0"/>
              </a:rPr>
              <a:t>(ICONA UTILIZZO NON COMUNE)</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Esiste in Java un modificatore che viene usato rarissimamente, si tratta di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e probabilmente la maggior parte dei programmatori Java non ne ha mai fatto uso. Dichiarare le variabili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come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permetterebbe di troncare i bit che farebbero variare questi arrotondamenti su piattaforme diverse, garantendo così uniformità di risultati su tutte le piattaforme. Purtroppo i risultati potrebbero comunque essere sbagliati! Il modificatore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 può marcare non solo le variabili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1" dirty="0">
                <a:solidFill>
                  <a:srgbClr val="000000"/>
                </a:solidFill>
                <a:effectLst/>
                <a:latin typeface="Times New Roman" panose="02020603050405020304" pitchFamily="18" charset="0"/>
                <a:ea typeface="Times New Roman" panose="02020603050405020304" pitchFamily="18" charset="0"/>
              </a:rPr>
              <a:t>, ma anche classi o metodi. In questi casi tutte le operazioni fatte all’interno di queste classi o metodi seguiranno le regole del troncamento imposto da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strictfp</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ottenere risultati precisi nelle operazioni, è necessario utilizzare una classe della libreria Java: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BigDecimal</a:t>
            </a:r>
            <a:r>
              <a:rPr lang="it-IT" sz="1800" dirty="0">
                <a:effectLst/>
                <a:latin typeface="Times New Roman" panose="02020603050405020304" pitchFamily="18" charset="0"/>
                <a:ea typeface="Times New Roman" panose="02020603050405020304" pitchFamily="18" charset="0"/>
              </a:rPr>
              <a:t> in luogo del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Tale classe si può importare. È definita nel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java.math</a:t>
            </a:r>
            <a:r>
              <a:rPr lang="it-IT" sz="1800" dirty="0">
                <a:effectLst/>
                <a:latin typeface="Times New Roman" panose="02020603050405020304" pitchFamily="18" charset="0"/>
                <a:ea typeface="Times New Roman" panose="02020603050405020304" pitchFamily="18" charset="0"/>
              </a:rPr>
              <a:t>, che contiene classi di utilità relative alla matematica, e ne parleremo più avanti e negli esercizi.</a:t>
            </a:r>
          </a:p>
        </p:txBody>
      </p:sp>
    </p:spTree>
    <p:extLst>
      <p:ext uri="{BB962C8B-B14F-4D97-AF65-F5344CB8AC3E}">
        <p14:creationId xmlns:p14="http://schemas.microsoft.com/office/powerpoint/2010/main" val="40147034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47754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62867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133294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tipo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permette di immagazzinare caratteri (uno per volta).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tratta di un tipo di dato non particolarmente utilizzato, perché nella maggior parte dei casi si ha bisogno di stringhe, che permettono di immagazzinare sequenze di caratteri (cfr. paragrafo 3.5.2).</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Segue un semplice esempio dove viene assegnato ad un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il valore del carattere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primoCarattere</a:t>
            </a:r>
            <a:r>
              <a:rPr lang="it-IT" sz="1800" dirty="0">
                <a:solidFill>
                  <a:srgbClr val="000000"/>
                </a:solidFill>
                <a:effectLst/>
                <a:latin typeface="Courier New" panose="02070309020205020404" pitchFamily="49" charset="0"/>
                <a:ea typeface="Times New Roman" panose="02020603050405020304" pitchFamily="18" charset="0"/>
              </a:rPr>
              <a:t> = 'a';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ogni literal di tipo carattere deve essere incluso tra due apici singoli.</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Abbiamo già stampato literal di stringhe in precedenza, ma non le abbiamo mai dichiarate. Ecco un esempio:</a:t>
            </a:r>
          </a:p>
          <a:p>
            <a:r>
              <a:rPr lang="it-IT" sz="1800" dirty="0">
                <a:solidFill>
                  <a:srgbClr val="000000"/>
                </a:solidFill>
                <a:effectLst/>
                <a:latin typeface="Courier New" panose="02070309020205020404" pitchFamily="49" charset="0"/>
                <a:ea typeface="Times New Roman" panose="02020603050405020304" pitchFamily="18" charset="0"/>
              </a:rPr>
              <a:t>String s = "Java </a:t>
            </a:r>
            <a:r>
              <a:rPr lang="it-IT" sz="1800" dirty="0" err="1">
                <a:solidFill>
                  <a:srgbClr val="000000"/>
                </a:solidFill>
                <a:effectLst/>
                <a:latin typeface="Courier New" panose="02070309020205020404" pitchFamily="49" charset="0"/>
                <a:ea typeface="Times New Roman" panose="02020603050405020304" pitchFamily="18" charset="0"/>
              </a:rPr>
              <a:t>melius</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semper</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quam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latinam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linguam</a:t>
            </a:r>
            <a:r>
              <a:rPr lang="it-IT" sz="1800" dirty="0">
                <a:solidFill>
                  <a:srgbClr val="000000"/>
                </a:solidFill>
                <a:effectLst/>
                <a:latin typeface="Courier New" panose="02070309020205020404" pitchFamily="49" charset="0"/>
                <a:ea typeface="Times New Roman" panose="02020603050405020304" pitchFamily="18" charset="0"/>
              </a:rPr>
              <a:t> est";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 tipico errore quando si inizia a programmare in Java, è proprio il confondere gli apici singoli (utilizzati per i caratteri) con gli apici doppi (usati per le stringhe). Per esempio le seguenti istruzioni sono entrambe errate:</a:t>
            </a:r>
          </a:p>
          <a:p>
            <a:r>
              <a:rPr lang="it-IT" sz="1800" dirty="0">
                <a:solidFill>
                  <a:srgbClr val="000000"/>
                </a:solidFill>
                <a:effectLst/>
                <a:latin typeface="Courier New" panose="02070309020205020404" pitchFamily="49" charset="0"/>
                <a:ea typeface="Times New Roman" panose="02020603050405020304" pitchFamily="18" charset="0"/>
              </a:rPr>
              <a:t>char c = "C";</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String s = '</a:t>
            </a:r>
            <a:r>
              <a:rPr lang="it-IT" sz="1800" dirty="0" err="1">
                <a:solidFill>
                  <a:srgbClr val="000000"/>
                </a:solidFill>
                <a:effectLst/>
                <a:latin typeface="Courier New" panose="02070309020205020404" pitchFamily="49" charset="0"/>
                <a:ea typeface="Times New Roman" panose="02020603050405020304" pitchFamily="18" charset="0"/>
              </a:rPr>
              <a:t>Meum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filium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maxime</a:t>
            </a:r>
            <a:r>
              <a:rPr lang="it-IT" sz="1800" dirty="0">
                <a:solidFill>
                  <a:srgbClr val="000000"/>
                </a:solidFill>
                <a:effectLst/>
                <a:latin typeface="Courier New" panose="02070309020205020404" pitchFamily="49" charset="0"/>
                <a:ea typeface="Times New Roman" panose="02020603050405020304" pitchFamily="18" charset="0"/>
              </a:rPr>
              <a:t> amo, sed </a:t>
            </a:r>
            <a:r>
              <a:rPr lang="it-IT" sz="1800" dirty="0" err="1">
                <a:solidFill>
                  <a:srgbClr val="000000"/>
                </a:solidFill>
                <a:effectLst/>
                <a:latin typeface="Courier New" panose="02070309020205020404" pitchFamily="49" charset="0"/>
                <a:ea typeface="Times New Roman" panose="02020603050405020304" pitchFamily="18" charset="0"/>
              </a:rPr>
              <a:t>ille</a:t>
            </a:r>
            <a:r>
              <a:rPr lang="it-IT" sz="1800" dirty="0">
                <a:solidFill>
                  <a:srgbClr val="000000"/>
                </a:solidFill>
                <a:effectLst/>
                <a:latin typeface="Courier New" panose="02070309020205020404" pitchFamily="49" charset="0"/>
                <a:ea typeface="Times New Roman" panose="02020603050405020304" pitchFamily="18" charset="0"/>
              </a:rPr>
              <a:t> me </a:t>
            </a:r>
            <a:r>
              <a:rPr lang="it-IT" sz="1800" dirty="0" err="1">
                <a:solidFill>
                  <a:srgbClr val="000000"/>
                </a:solidFill>
                <a:effectLst/>
                <a:latin typeface="Courier New" panose="02070309020205020404" pitchFamily="49" charset="0"/>
                <a:ea typeface="Times New Roman" panose="02020603050405020304" pitchFamily="18" charset="0"/>
              </a:rPr>
              <a:t>latinam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linguam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studere</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compellit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realtà ci sono tre modi per assegnare un valore (literal) ad un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e tutti e tre i modi richiedono l’inclusione del valore tra apici singoli: </a:t>
            </a:r>
          </a:p>
          <a:p>
            <a:pPr marL="180340" indent="180340"/>
            <a:r>
              <a:rPr lang="it-IT" sz="1800" dirty="0">
                <a:effectLst/>
                <a:latin typeface="Times New Roman" panose="02020603050405020304" pitchFamily="18" charset="0"/>
                <a:ea typeface="MS Mincho" panose="02020609040205080304" pitchFamily="49" charset="-128"/>
              </a:rPr>
              <a:t>utilizzare un unico carattere presente sulla tastiera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utilizzare il formato Unicode con notazione esadecimale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'\u0061'</a:t>
            </a:r>
            <a:r>
              <a:rPr lang="it-IT" sz="1800" dirty="0">
                <a:effectLst/>
                <a:latin typeface="Times New Roman" panose="02020603050405020304" pitchFamily="18" charset="0"/>
                <a:ea typeface="MS Mincho" panose="02020609040205080304" pitchFamily="49" charset="-128"/>
              </a:rPr>
              <a:t>, che equivale al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97</a:t>
            </a:r>
            <a:r>
              <a:rPr lang="it-IT" sz="1800" dirty="0">
                <a:effectLst/>
                <a:latin typeface="Times New Roman" panose="02020603050405020304" pitchFamily="18" charset="0"/>
                <a:ea typeface="MS Mincho" panose="02020609040205080304" pitchFamily="49" charset="-128"/>
              </a:rPr>
              <a:t> e che identifica la lettera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utilizzare un </a:t>
            </a:r>
            <a:r>
              <a:rPr lang="it-IT" sz="1800" i="1" dirty="0">
                <a:effectLst/>
                <a:latin typeface="Times New Roman" panose="02020603050405020304" pitchFamily="18" charset="0"/>
                <a:ea typeface="MS Mincho" panose="02020609040205080304" pitchFamily="49" charset="-128"/>
              </a:rPr>
              <a:t>carattere di escape</a:t>
            </a:r>
            <a:r>
              <a:rPr lang="it-IT" sz="1800" dirty="0">
                <a:effectLst/>
                <a:latin typeface="Times New Roman" panose="02020603050405020304" pitchFamily="18" charset="0"/>
                <a:ea typeface="MS Mincho" panose="02020609040205080304" pitchFamily="49" charset="-128"/>
              </a:rPr>
              <a:t>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che indica il carattere </a:t>
            </a:r>
            <a:r>
              <a:rPr lang="it-IT" sz="1800" i="1" dirty="0">
                <a:effectLst/>
                <a:latin typeface="Times New Roman" panose="02020603050405020304" pitchFamily="18" charset="0"/>
                <a:ea typeface="MS Mincho" panose="02020609040205080304" pitchFamily="49" charset="-128"/>
              </a:rPr>
              <a:t>line feed</a:t>
            </a:r>
            <a:r>
              <a:rPr lang="it-IT" sz="1800" dirty="0">
                <a:effectLst/>
                <a:latin typeface="Times New Roman" panose="02020603050405020304" pitchFamily="18" charset="0"/>
                <a:ea typeface="MS Mincho" panose="02020609040205080304" pitchFamily="49" charset="-128"/>
              </a:rPr>
              <a:t>, ovvero andare a capo)</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28376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tipo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permette di immagazzinare caratteri (uno per volta).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tratta di un tipo di dato non particolarmente utilizzato, perché nella maggior parte dei casi si ha bisogno di stringhe, che permettono di immagazzinare sequenze di caratteri (cfr. paragrafo 3.5.2).</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Segue un semplice esempio dove viene assegnato ad un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il valore del carattere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primoCarattere</a:t>
            </a:r>
            <a:r>
              <a:rPr lang="it-IT" sz="1800" dirty="0">
                <a:solidFill>
                  <a:srgbClr val="000000"/>
                </a:solidFill>
                <a:effectLst/>
                <a:latin typeface="Courier New" panose="02070309020205020404" pitchFamily="49" charset="0"/>
                <a:ea typeface="Times New Roman" panose="02020603050405020304" pitchFamily="18" charset="0"/>
              </a:rPr>
              <a:t> = 'a';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ogni literal di tipo carattere deve essere incluso tra due apici singoli.</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Abbiamo già stampato literal di stringhe in precedenza, ma non le abbiamo mai dichiarate. Ecco un esempio:</a:t>
            </a:r>
          </a:p>
          <a:p>
            <a:r>
              <a:rPr lang="it-IT" sz="1800" dirty="0">
                <a:solidFill>
                  <a:srgbClr val="000000"/>
                </a:solidFill>
                <a:effectLst/>
                <a:latin typeface="Courier New" panose="02070309020205020404" pitchFamily="49" charset="0"/>
                <a:ea typeface="Times New Roman" panose="02020603050405020304" pitchFamily="18" charset="0"/>
              </a:rPr>
              <a:t>String s = "Java </a:t>
            </a:r>
            <a:r>
              <a:rPr lang="it-IT" sz="1800" dirty="0" err="1">
                <a:solidFill>
                  <a:srgbClr val="000000"/>
                </a:solidFill>
                <a:effectLst/>
                <a:latin typeface="Courier New" panose="02070309020205020404" pitchFamily="49" charset="0"/>
                <a:ea typeface="Times New Roman" panose="02020603050405020304" pitchFamily="18" charset="0"/>
              </a:rPr>
              <a:t>melius</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semper</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quam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latinam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linguam</a:t>
            </a:r>
            <a:r>
              <a:rPr lang="it-IT" sz="1800" dirty="0">
                <a:solidFill>
                  <a:srgbClr val="000000"/>
                </a:solidFill>
                <a:effectLst/>
                <a:latin typeface="Courier New" panose="02070309020205020404" pitchFamily="49" charset="0"/>
                <a:ea typeface="Times New Roman" panose="02020603050405020304" pitchFamily="18" charset="0"/>
              </a:rPr>
              <a:t> est";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 tipico errore quando si inizia a programmare in Java, è proprio il confondere gli apici singoli (utilizzati per i caratteri) con gli apici doppi (usati per le stringhe). Per esempio le seguenti istruzioni sono entrambe errate:</a:t>
            </a:r>
          </a:p>
          <a:p>
            <a:r>
              <a:rPr lang="it-IT" sz="1800" dirty="0">
                <a:solidFill>
                  <a:srgbClr val="000000"/>
                </a:solidFill>
                <a:effectLst/>
                <a:latin typeface="Courier New" panose="02070309020205020404" pitchFamily="49" charset="0"/>
                <a:ea typeface="Times New Roman" panose="02020603050405020304" pitchFamily="18" charset="0"/>
              </a:rPr>
              <a:t>char c = "C";</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String s = '</a:t>
            </a:r>
            <a:r>
              <a:rPr lang="it-IT" sz="1800" dirty="0" err="1">
                <a:solidFill>
                  <a:srgbClr val="000000"/>
                </a:solidFill>
                <a:effectLst/>
                <a:latin typeface="Courier New" panose="02070309020205020404" pitchFamily="49" charset="0"/>
                <a:ea typeface="Times New Roman" panose="02020603050405020304" pitchFamily="18" charset="0"/>
              </a:rPr>
              <a:t>Meum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filium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maxime</a:t>
            </a:r>
            <a:r>
              <a:rPr lang="it-IT" sz="1800" dirty="0">
                <a:solidFill>
                  <a:srgbClr val="000000"/>
                </a:solidFill>
                <a:effectLst/>
                <a:latin typeface="Courier New" panose="02070309020205020404" pitchFamily="49" charset="0"/>
                <a:ea typeface="Times New Roman" panose="02020603050405020304" pitchFamily="18" charset="0"/>
              </a:rPr>
              <a:t> amo, sed </a:t>
            </a:r>
            <a:r>
              <a:rPr lang="it-IT" sz="1800" dirty="0" err="1">
                <a:solidFill>
                  <a:srgbClr val="000000"/>
                </a:solidFill>
                <a:effectLst/>
                <a:latin typeface="Courier New" panose="02070309020205020404" pitchFamily="49" charset="0"/>
                <a:ea typeface="Times New Roman" panose="02020603050405020304" pitchFamily="18" charset="0"/>
              </a:rPr>
              <a:t>ille</a:t>
            </a:r>
            <a:r>
              <a:rPr lang="it-IT" sz="1800" dirty="0">
                <a:solidFill>
                  <a:srgbClr val="000000"/>
                </a:solidFill>
                <a:effectLst/>
                <a:latin typeface="Courier New" panose="02070309020205020404" pitchFamily="49" charset="0"/>
                <a:ea typeface="Times New Roman" panose="02020603050405020304" pitchFamily="18" charset="0"/>
              </a:rPr>
              <a:t> me </a:t>
            </a:r>
            <a:r>
              <a:rPr lang="it-IT" sz="1800" dirty="0" err="1">
                <a:solidFill>
                  <a:srgbClr val="000000"/>
                </a:solidFill>
                <a:effectLst/>
                <a:latin typeface="Courier New" panose="02070309020205020404" pitchFamily="49" charset="0"/>
                <a:ea typeface="Times New Roman" panose="02020603050405020304" pitchFamily="18" charset="0"/>
              </a:rPr>
              <a:t>latinam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linguam</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studere</a:t>
            </a:r>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compellit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realtà ci sono tre modi per assegnare un valore (literal) ad un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e tutti e tre i modi richiedono l’inclusione del valore tra apici singoli: </a:t>
            </a:r>
          </a:p>
          <a:p>
            <a:pPr marL="180340" indent="180340"/>
            <a:r>
              <a:rPr lang="it-IT" sz="1800" dirty="0">
                <a:effectLst/>
                <a:latin typeface="Times New Roman" panose="02020603050405020304" pitchFamily="18" charset="0"/>
                <a:ea typeface="MS Mincho" panose="02020609040205080304" pitchFamily="49" charset="-128"/>
              </a:rPr>
              <a:t>utilizzare un unico carattere presente sulla tastiera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'&amp;'</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utilizzare il formato Unicode con notazione esadecimale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'\u0061'</a:t>
            </a:r>
            <a:r>
              <a:rPr lang="it-IT" sz="1800" dirty="0">
                <a:effectLst/>
                <a:latin typeface="Times New Roman" panose="02020603050405020304" pitchFamily="18" charset="0"/>
                <a:ea typeface="MS Mincho" panose="02020609040205080304" pitchFamily="49" charset="-128"/>
              </a:rPr>
              <a:t>, che equivale al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97</a:t>
            </a:r>
            <a:r>
              <a:rPr lang="it-IT" sz="1800" dirty="0">
                <a:effectLst/>
                <a:latin typeface="Times New Roman" panose="02020603050405020304" pitchFamily="18" charset="0"/>
                <a:ea typeface="MS Mincho" panose="02020609040205080304" pitchFamily="49" charset="-128"/>
              </a:rPr>
              <a:t> e che identifica la lettera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utilizzare un </a:t>
            </a:r>
            <a:r>
              <a:rPr lang="it-IT" sz="1800" i="1" dirty="0">
                <a:effectLst/>
                <a:latin typeface="Times New Roman" panose="02020603050405020304" pitchFamily="18" charset="0"/>
                <a:ea typeface="MS Mincho" panose="02020609040205080304" pitchFamily="49" charset="-128"/>
              </a:rPr>
              <a:t>carattere di escape</a:t>
            </a:r>
            <a:r>
              <a:rPr lang="it-IT" sz="1800" dirty="0">
                <a:effectLst/>
                <a:latin typeface="Times New Roman" panose="02020603050405020304" pitchFamily="18" charset="0"/>
                <a:ea typeface="MS Mincho" panose="02020609040205080304" pitchFamily="49" charset="-128"/>
              </a:rPr>
              <a:t>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800" dirty="0">
                <a:effectLst/>
                <a:latin typeface="Times New Roman" panose="02020603050405020304" pitchFamily="18" charset="0"/>
                <a:ea typeface="MS Mincho" panose="02020609040205080304" pitchFamily="49" charset="-128"/>
              </a:rPr>
              <a:t> che indica il carattere </a:t>
            </a:r>
            <a:r>
              <a:rPr lang="it-IT" sz="1800" i="1" dirty="0">
                <a:effectLst/>
                <a:latin typeface="Times New Roman" panose="02020603050405020304" pitchFamily="18" charset="0"/>
                <a:ea typeface="MS Mincho" panose="02020609040205080304" pitchFamily="49" charset="-128"/>
              </a:rPr>
              <a:t>line feed</a:t>
            </a:r>
            <a:r>
              <a:rPr lang="it-IT" sz="1800" dirty="0">
                <a:effectLst/>
                <a:latin typeface="Times New Roman" panose="02020603050405020304" pitchFamily="18" charset="0"/>
                <a:ea typeface="MS Mincho" panose="02020609040205080304" pitchFamily="49" charset="-128"/>
              </a:rPr>
              <a:t>, ovvero andare a capo)</a:t>
            </a: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66890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Possiamo assegnare ad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un qualsiasi carattere che si trova sulla nostra tastiera, a patto che il sistema operativo supporti il carattere richiesto, e che il carattere sia </a:t>
            </a:r>
            <a:r>
              <a:rPr lang="it-IT" sz="1800" i="1" dirty="0">
                <a:effectLst/>
                <a:latin typeface="Times New Roman" panose="02020603050405020304" pitchFamily="18" charset="0"/>
                <a:ea typeface="Times New Roman" panose="02020603050405020304" pitchFamily="18" charset="0"/>
              </a:rPr>
              <a:t>stampabile</a:t>
            </a:r>
            <a:r>
              <a:rPr lang="it-IT" sz="1800" dirty="0">
                <a:effectLst/>
                <a:latin typeface="Times New Roman" panose="02020603050405020304" pitchFamily="18" charset="0"/>
                <a:ea typeface="Times New Roman" panose="02020603050405020304" pitchFamily="18" charset="0"/>
              </a:rPr>
              <a:t> (per esempio i tasti di cancellazione, o di </a:t>
            </a:r>
            <a:r>
              <a:rPr lang="it-IT" sz="1800" dirty="0">
                <a:effectLst/>
                <a:latin typeface="Arial" panose="020B0604020202020204" pitchFamily="34" charset="0"/>
                <a:ea typeface="Times New Roman" panose="02020603050405020304" pitchFamily="18" charset="0"/>
                <a:cs typeface="Arial" panose="020B0604020202020204" pitchFamily="34" charset="0"/>
              </a:rPr>
              <a:t>Invio</a:t>
            </a:r>
            <a:r>
              <a:rPr lang="it-IT" sz="1800" dirty="0">
                <a:effectLst/>
                <a:latin typeface="Times New Roman" panose="02020603050405020304" pitchFamily="18" charset="0"/>
                <a:ea typeface="Times New Roman" panose="02020603050405020304" pitchFamily="18" charset="0"/>
              </a:rPr>
              <a:t>, o le freccette etc., non sono stampabili). In qualsiasi caso, dobbiamo comprendere tra apici singoli il valore da assegnare (ovvero il literal assegnabile ad un tipo primitivo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è sempre compreso tra due apici singoli). Ecco qualche esempio:</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aMaiuscolo</a:t>
            </a:r>
            <a:r>
              <a:rPr lang="it-IT" sz="1800" dirty="0">
                <a:solidFill>
                  <a:srgbClr val="000000"/>
                </a:solidFill>
                <a:effectLst/>
                <a:latin typeface="Courier New" panose="02070309020205020404" pitchFamily="49" charset="0"/>
                <a:ea typeface="Times New Roman" panose="02020603050405020304" pitchFamily="18" charset="0"/>
              </a:rPr>
              <a:t> = 'A';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char trattino =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at</a:t>
            </a:r>
            <a:r>
              <a:rPr lang="it-IT"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tipo di dato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viene memorizzato in 2 byte (16 bit), con un range composto da soli numeri positivi che vanno da 0 a 65535. Tramite la mappatura (o </a:t>
            </a:r>
            <a:r>
              <a:rPr lang="it-IT" sz="1800" i="1" dirty="0">
                <a:effectLst/>
                <a:latin typeface="Times New Roman" panose="02020603050405020304" pitchFamily="18" charset="0"/>
                <a:ea typeface="Times New Roman" panose="02020603050405020304" pitchFamily="18" charset="0"/>
              </a:rPr>
              <a:t>codifica</a:t>
            </a:r>
            <a:r>
              <a:rPr lang="it-IT" sz="1800" dirty="0">
                <a:effectLst/>
                <a:latin typeface="Times New Roman" panose="02020603050405020304" pitchFamily="18" charset="0"/>
                <a:ea typeface="Times New Roman" panose="02020603050405020304" pitchFamily="18" charset="0"/>
              </a:rPr>
              <a:t>) è definita dallo standard </a:t>
            </a:r>
            <a:r>
              <a:rPr lang="it-IT" sz="1800" b="1" dirty="0">
                <a:effectLst/>
                <a:latin typeface="Times New Roman" panose="02020603050405020304" pitchFamily="18" charset="0"/>
                <a:ea typeface="Times New Roman" panose="02020603050405020304" pitchFamily="18" charset="0"/>
              </a:rPr>
              <a:t>Unicode</a:t>
            </a:r>
            <a:r>
              <a:rPr lang="it-IT" sz="1800" dirty="0">
                <a:effectLst/>
                <a:latin typeface="Times New Roman" panose="02020603050405020304" pitchFamily="18" charset="0"/>
                <a:ea typeface="Times New Roman" panose="02020603050405020304" pitchFamily="18" charset="0"/>
              </a:rPr>
              <a:t> viene associato ad ogni numero un certo carattere. Quindi possiamo affermare che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è un tipo numerico.</a:t>
            </a:r>
          </a:p>
          <a:p>
            <a:r>
              <a:rPr lang="it-IT" sz="1800" dirty="0">
                <a:effectLst/>
                <a:latin typeface="Times New Roman" panose="02020603050405020304" pitchFamily="18" charset="0"/>
                <a:ea typeface="Times New Roman" panose="02020603050405020304" pitchFamily="18" charset="0"/>
              </a:rPr>
              <a:t>Il fatto che ogni carattere sia rappresentato da un numero intero è importante. Infatti è possibile utilizzare caratteri in espressioni aritmetiche. Per esempio, possiamo sommare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con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Infatti, ogni carattere viene decodificato tramite Unicode a partire da un numero intero:</a:t>
            </a:r>
          </a:p>
          <a:p>
            <a:r>
              <a:rPr lang="it-IT" sz="1800" dirty="0">
                <a:solidFill>
                  <a:srgbClr val="000000"/>
                </a:solidFill>
                <a:effectLst/>
                <a:latin typeface="Courier New" panose="02070309020205020404" pitchFamily="49" charset="0"/>
                <a:ea typeface="Times New Roman" panose="02020603050405020304" pitchFamily="18" charset="0"/>
              </a:rPr>
              <a:t>int i = 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char a = 'A';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char b = (char)(</a:t>
            </a:r>
            <a:r>
              <a:rPr lang="it-IT" sz="1800" dirty="0" err="1">
                <a:solidFill>
                  <a:srgbClr val="000000"/>
                </a:solidFill>
                <a:effectLst/>
                <a:latin typeface="Courier New" panose="02070309020205020404" pitchFamily="49" charset="0"/>
                <a:ea typeface="Times New Roman" panose="02020603050405020304" pitchFamily="18" charset="0"/>
              </a:rPr>
              <a:t>a+i</a:t>
            </a:r>
            <a:r>
              <a:rPr lang="it-IT" sz="1800" dirty="0">
                <a:solidFill>
                  <a:srgbClr val="000000"/>
                </a:solidFill>
                <a:effectLst/>
                <a:latin typeface="Courier New" panose="02070309020205020404" pitchFamily="49" charset="0"/>
                <a:ea typeface="Times New Roman" panose="02020603050405020304" pitchFamily="18" charset="0"/>
              </a:rPr>
              <a:t>); // c ha valore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se non avessimo utilizzato il cast:</a:t>
            </a:r>
          </a:p>
          <a:p>
            <a:r>
              <a:rPr lang="it-IT" sz="1800" dirty="0">
                <a:solidFill>
                  <a:srgbClr val="000000"/>
                </a:solidFill>
                <a:effectLst/>
                <a:latin typeface="Courier New" panose="02070309020205020404" pitchFamily="49" charset="0"/>
                <a:ea typeface="Times New Roman" panose="02020603050405020304" pitchFamily="18" charset="0"/>
              </a:rPr>
              <a:t>char b = </a:t>
            </a:r>
            <a:r>
              <a:rPr lang="it-IT" sz="1800" dirty="0" err="1">
                <a:solidFill>
                  <a:srgbClr val="000000"/>
                </a:solidFill>
                <a:effectLst/>
                <a:latin typeface="Courier New" panose="02070309020205020404" pitchFamily="49" charset="0"/>
                <a:ea typeface="Times New Roman" panose="02020603050405020304" pitchFamily="18" charset="0"/>
              </a:rPr>
              <a:t>a+i</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avremmo ottenuto il seguente errore in compilazione:</a:t>
            </a:r>
          </a:p>
          <a:p>
            <a:r>
              <a:rPr lang="en-GB" sz="1800" dirty="0">
                <a:solidFill>
                  <a:srgbClr val="FFFFFF"/>
                </a:solidFill>
                <a:effectLst/>
                <a:latin typeface="Courier New" panose="02070309020205020404" pitchFamily="49" charset="0"/>
                <a:ea typeface="MS Mincho" panose="02020609040205080304" pitchFamily="49" charset="-128"/>
              </a:rPr>
              <a:t>error: incompatible types: possible lossy conversion from int to char</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char b = </a:t>
            </a:r>
            <a:r>
              <a:rPr lang="it-IT" sz="1800" dirty="0" err="1">
                <a:solidFill>
                  <a:srgbClr val="FFFFFF"/>
                </a:solidFill>
                <a:effectLst/>
                <a:latin typeface="Courier New" panose="02070309020205020404" pitchFamily="49" charset="0"/>
                <a:ea typeface="MS Mincho" panose="02020609040205080304" pitchFamily="49" charset="-128"/>
              </a:rPr>
              <a:t>a+i</a:t>
            </a:r>
            <a:r>
              <a:rPr lang="it-IT" sz="1800" dirty="0">
                <a:solidFill>
                  <a:srgbClr val="FFFFFF"/>
                </a:solidFill>
                <a:effectLst/>
                <a:latin typeface="Courier New" panose="02070309020205020404" pitchFamily="49" charset="0"/>
                <a:ea typeface="MS Mincho" panose="02020609040205080304" pitchFamily="49" charset="-128"/>
              </a:rPr>
              <a:t>;</a:t>
            </a:r>
          </a:p>
          <a:p>
            <a:r>
              <a:rPr lang="it-IT" sz="1800" dirty="0">
                <a:solidFill>
                  <a:srgbClr val="FFFFFF"/>
                </a:solidFill>
                <a:effectLst/>
                <a:latin typeface="Courier New" panose="02070309020205020404" pitchFamily="49" charset="0"/>
                <a:ea typeface="MS Mincho" panose="02020609040205080304" pitchFamily="49" charset="-128"/>
              </a:rPr>
              <a:t>                  ^</a:t>
            </a:r>
          </a:p>
          <a:p>
            <a:r>
              <a:rPr lang="it-IT" sz="1800" dirty="0">
                <a:solidFill>
                  <a:srgbClr val="FFFFFF"/>
                </a:solidFill>
                <a:effectLst/>
                <a:latin typeface="Courier New" panose="02070309020205020404" pitchFamily="49" charset="0"/>
                <a:ea typeface="MS Mincho" panose="02020609040205080304" pitchFamily="49" charset="-128"/>
              </a:rPr>
              <a:t>1 error</a:t>
            </a:r>
          </a:p>
          <a:p>
            <a:r>
              <a:rPr lang="it-IT" sz="1800" dirty="0">
                <a:effectLst/>
                <a:latin typeface="Times New Roman" panose="02020603050405020304" pitchFamily="18" charset="0"/>
                <a:ea typeface="Times New Roman" panose="02020603050405020304" pitchFamily="18" charset="0"/>
              </a:rPr>
              <a:t>Infatti per la regola della promozione automatica nelle espressioni (cfr. paragrafo 3.3.1.1), la somma tra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ed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restituisce un valore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Quindi la seguente istruzione:</a:t>
            </a:r>
          </a:p>
          <a:p>
            <a:r>
              <a:rPr lang="it-IT" sz="1800" dirty="0">
                <a:solidFill>
                  <a:srgbClr val="000000"/>
                </a:solidFill>
                <a:effectLst/>
                <a:latin typeface="Courier New" panose="02070309020205020404" pitchFamily="49" charset="0"/>
                <a:ea typeface="Times New Roman" panose="02020603050405020304" pitchFamily="18" charset="0"/>
              </a:rPr>
              <a:t>int ii = </a:t>
            </a:r>
            <a:r>
              <a:rPr lang="it-IT" sz="1800" dirty="0" err="1">
                <a:solidFill>
                  <a:srgbClr val="000000"/>
                </a:solidFill>
                <a:effectLst/>
                <a:latin typeface="Courier New" panose="02070309020205020404" pitchFamily="49" charset="0"/>
                <a:ea typeface="Times New Roman" panose="02020603050405020304" pitchFamily="18" charset="0"/>
              </a:rPr>
              <a:t>a+i</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valida, e il valore contenuto in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ii</a:t>
            </a:r>
            <a:r>
              <a:rPr lang="it-IT" sz="1800" dirty="0">
                <a:effectLst/>
                <a:latin typeface="Times New Roman" panose="02020603050405020304" pitchFamily="18" charset="0"/>
                <a:ea typeface="Times New Roman" panose="02020603050405020304" pitchFamily="18" charset="0"/>
              </a:rPr>
              <a:t> sarà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66</a:t>
            </a:r>
            <a:r>
              <a:rPr lang="it-IT" sz="1800" dirty="0">
                <a:effectLst/>
                <a:latin typeface="Times New Roman" panose="02020603050405020304" pitchFamily="18" charset="0"/>
                <a:ea typeface="Times New Roman" panose="02020603050405020304" pitchFamily="18" charset="0"/>
              </a:rPr>
              <a:t>, ovvero il numero che rappresenta la lettera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800" dirty="0">
                <a:effectLst/>
                <a:latin typeface="Times New Roman" panose="02020603050405020304" pitchFamily="18" charset="0"/>
                <a:ea typeface="Times New Roman" panose="02020603050405020304" pitchFamily="18" charset="0"/>
              </a:rPr>
              <a:t> nella codifica Unicode. Quindi nelle operazioni aritmetiche che coinvolgono i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vengono utilizzati i numeri interi che rappresentano il tipo carattere, e non i caratteri stessi.</a:t>
            </a:r>
          </a:p>
        </p:txBody>
      </p:sp>
    </p:spTree>
    <p:extLst>
      <p:ext uri="{BB962C8B-B14F-4D97-AF65-F5344CB8AC3E}">
        <p14:creationId xmlns:p14="http://schemas.microsoft.com/office/powerpoint/2010/main" val="12606986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Infatti per la regola della promozione automatica nelle espressioni (cfr. paragrafo 3.3.1.1), la somma tra a (di tipo char) ed i (di tipo int) restituisce un valore di tipo int. Quindi la seguente istruzione:</a:t>
            </a:r>
          </a:p>
          <a:p>
            <a:r>
              <a:rPr lang="it-IT" sz="1800" dirty="0">
                <a:effectLst/>
                <a:latin typeface="Times New Roman" panose="02020603050405020304" pitchFamily="18" charset="0"/>
                <a:ea typeface="Times New Roman" panose="02020603050405020304" pitchFamily="18" charset="0"/>
              </a:rPr>
              <a:t>int ii = </a:t>
            </a:r>
            <a:r>
              <a:rPr lang="it-IT" sz="1800" dirty="0" err="1">
                <a:effectLst/>
                <a:latin typeface="Times New Roman" panose="02020603050405020304" pitchFamily="18" charset="0"/>
                <a:ea typeface="Times New Roman" panose="02020603050405020304" pitchFamily="18" charset="0"/>
              </a:rPr>
              <a:t>a+i</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è valida, e il valore contenuto in ii sarà 66, ovvero il numero che rappresenta la lettera B nella codifica Unicode. Quindi nelle operazioni aritmetiche che coinvolgono i tipi char, vengono utilizzati i numeri interi che rappresentano il tipo carattere, e non i caratteri stessi.</a:t>
            </a:r>
          </a:p>
        </p:txBody>
      </p:sp>
    </p:spTree>
    <p:extLst>
      <p:ext uri="{BB962C8B-B14F-4D97-AF65-F5344CB8AC3E}">
        <p14:creationId xmlns:p14="http://schemas.microsoft.com/office/powerpoint/2010/main" val="29959337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detto che il tipo primitivo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è immagazzinato in 16 bit, e che quindi può definire ben 65536 caratteri diversi. Infatti la codifica </a:t>
            </a:r>
            <a:r>
              <a:rPr lang="it-IT" sz="1800" b="1" dirty="0">
                <a:effectLst/>
                <a:latin typeface="Times New Roman" panose="02020603050405020304" pitchFamily="18" charset="0"/>
                <a:ea typeface="Times New Roman" panose="02020603050405020304" pitchFamily="18" charset="0"/>
              </a:rPr>
              <a:t>Unicode</a:t>
            </a:r>
            <a:r>
              <a:rPr lang="it-IT" sz="1800" dirty="0">
                <a:effectLst/>
                <a:latin typeface="Times New Roman" panose="02020603050405020304" pitchFamily="18" charset="0"/>
                <a:ea typeface="Times New Roman" panose="02020603050405020304" pitchFamily="18" charset="0"/>
              </a:rPr>
              <a:t> si occupa di standardizzare tutti i caratteri (ma anche simboli, emoji, ideogrammi, etc.) esistenti su questo pianeta. </a:t>
            </a:r>
          </a:p>
          <a:p>
            <a:r>
              <a:rPr lang="it-IT" sz="1800" dirty="0">
                <a:effectLst/>
                <a:latin typeface="Times New Roman" panose="02020603050405020304" pitchFamily="18" charset="0"/>
                <a:ea typeface="Times New Roman" panose="02020603050405020304" pitchFamily="18" charset="0"/>
              </a:rPr>
              <a:t>Possiamo assegnare ad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direttamente un valore Unicode in formato esadecimale utilizzando 4 cifre. Tale valore, identificherà univocamente un determinato carattere, anteponendo ad esso il prefisso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\u</a:t>
            </a:r>
            <a:r>
              <a:rPr lang="it-IT" sz="1800" dirty="0">
                <a:effectLst/>
                <a:latin typeface="Times New Roman" panose="02020603050405020304" pitchFamily="18" charset="0"/>
                <a:ea typeface="Times New Roman" panose="02020603050405020304" pitchFamily="18" charset="0"/>
              </a:rPr>
              <a:t> (in questo caso sempre minuscola). Per esempio:</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letteraGrecaPhi</a:t>
            </a:r>
            <a:r>
              <a:rPr lang="it-IT" sz="1800" dirty="0">
                <a:solidFill>
                  <a:srgbClr val="000000"/>
                </a:solidFill>
                <a:effectLst/>
                <a:latin typeface="Courier New" panose="02070309020205020404" pitchFamily="49" charset="0"/>
                <a:ea typeface="Times New Roman" panose="02020603050405020304" pitchFamily="18" charset="0"/>
              </a:rPr>
              <a:t> = '\u03A6';  //(lettera "</a:t>
            </a:r>
            <a:r>
              <a:rPr lang="en-GB" sz="1800" dirty="0">
                <a:solidFill>
                  <a:srgbClr val="000000"/>
                </a:solidFill>
                <a:effectLst/>
                <a:latin typeface="Courier New" panose="02070309020205020404" pitchFamily="49" charset="0"/>
                <a:ea typeface="Times New Roman" panose="02020603050405020304" pitchFamily="18" charset="0"/>
              </a:rPr>
              <a:t>Φ</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carattereUnicodeNonIdentificato</a:t>
            </a:r>
            <a:r>
              <a:rPr lang="it-IT" sz="1800" dirty="0">
                <a:solidFill>
                  <a:srgbClr val="000000"/>
                </a:solidFill>
                <a:effectLst/>
                <a:latin typeface="Courier New" panose="02070309020205020404" pitchFamily="49" charset="0"/>
                <a:ea typeface="Times New Roman" panose="02020603050405020304" pitchFamily="18" charset="0"/>
              </a:rPr>
              <a:t> = '\uABC8';</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parliamo di </a:t>
            </a:r>
            <a:r>
              <a:rPr lang="it-IT" sz="1800" b="1" dirty="0">
                <a:effectLst/>
                <a:latin typeface="Times New Roman" panose="02020603050405020304" pitchFamily="18" charset="0"/>
                <a:ea typeface="Times New Roman" panose="02020603050405020304" pitchFamily="18" charset="0"/>
              </a:rPr>
              <a:t>literal in formato Unicode</a:t>
            </a:r>
            <a:r>
              <a:rPr lang="it-IT" sz="1800" dirty="0">
                <a:effectLst/>
                <a:latin typeface="Times New Roman" panose="02020603050405020304" pitchFamily="18" charset="0"/>
                <a:ea typeface="Times New Roman" panose="02020603050405020304" pitchFamily="18" charset="0"/>
              </a:rPr>
              <a:t> (oppure </a:t>
            </a:r>
            <a:r>
              <a:rPr lang="it-IT" sz="1800" b="1" dirty="0">
                <a:effectLst/>
                <a:latin typeface="Times New Roman" panose="02020603050405020304" pitchFamily="18" charset="0"/>
                <a:ea typeface="Times New Roman" panose="02020603050405020304" pitchFamily="18" charset="0"/>
              </a:rPr>
              <a:t>literal in formato esadecimale</a:t>
            </a:r>
            <a:r>
              <a:rPr lang="it-IT" sz="1800" dirty="0">
                <a:effectLst/>
                <a:latin typeface="Times New Roman" panose="02020603050405020304" pitchFamily="18" charset="0"/>
                <a:ea typeface="Times New Roman" panose="02020603050405020304" pitchFamily="18" charset="0"/>
              </a:rPr>
              <a:t>). Infatti, utilizzando 4 cifre con il formato esadecimale, si coprono esattamente 65536 caratteri. </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Attenzione che con questa sintassi indichiamo il numero che identifica un certo carattere nella codifica Unicode. Siccome nella codifica esistono anche i numeri interi da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(che corrisponde al numero 48)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9</a:t>
            </a:r>
            <a:r>
              <a:rPr lang="it-IT" sz="1800" dirty="0">
                <a:effectLst/>
                <a:latin typeface="Times New Roman" panose="02020603050405020304" pitchFamily="18" charset="0"/>
                <a:ea typeface="Times New Roman" panose="02020603050405020304" pitchFamily="18" charset="0"/>
              </a:rPr>
              <a:t> (che corrisponde al numero 57), allora se vogliamo stampare il numero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con la sintassi appena vista, dovremmo scrivere:</a:t>
            </a:r>
          </a:p>
          <a:p>
            <a:r>
              <a:rPr lang="it-IT" sz="1800" dirty="0">
                <a:solidFill>
                  <a:srgbClr val="000000"/>
                </a:solidFill>
                <a:effectLst/>
                <a:latin typeface="Courier New" panose="02070309020205020404" pitchFamily="49" charset="0"/>
                <a:ea typeface="Times New Roman" panose="02020603050405020304" pitchFamily="18" charset="0"/>
              </a:rPr>
              <a:t>char zero = '\u0030'; //il numero esadecimale 30 equivale al numero decimale 48</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System.out.println(zero);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mentre il valore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\u0000</a:t>
            </a:r>
            <a:r>
              <a:rPr lang="it-IT" sz="1800" dirty="0">
                <a:effectLst/>
                <a:latin typeface="Times New Roman" panose="02020603050405020304" pitchFamily="18" charset="0"/>
                <a:ea typeface="Times New Roman" panose="02020603050405020304" pitchFamily="18" charset="0"/>
              </a:rPr>
              <a:t>' equivale al </a:t>
            </a:r>
            <a:r>
              <a:rPr lang="it-IT" sz="1800" b="1" dirty="0">
                <a:effectLst/>
                <a:latin typeface="Times New Roman" panose="02020603050405020304" pitchFamily="18" charset="0"/>
                <a:ea typeface="Times New Roman" panose="02020603050405020304" pitchFamily="18" charset="0"/>
              </a:rPr>
              <a:t>carattere nullo</a:t>
            </a:r>
            <a:r>
              <a:rPr lang="it-IT" sz="1800" dirty="0">
                <a:effectLst/>
                <a:latin typeface="Times New Roman" panose="02020603050405020304" pitchFamily="18" charset="0"/>
                <a:ea typeface="Times New Roman" panose="02020603050405020304" pitchFamily="18" charset="0"/>
              </a:rPr>
              <a:t>, ovvero un carattere che non stampa niente. Ovviamente è anche possibile scrivere:</a:t>
            </a:r>
          </a:p>
          <a:p>
            <a:r>
              <a:rPr lang="it-IT" sz="1800" dirty="0">
                <a:solidFill>
                  <a:srgbClr val="000000"/>
                </a:solidFill>
                <a:effectLst/>
                <a:latin typeface="Courier New" panose="02070309020205020404" pitchFamily="49" charset="0"/>
                <a:ea typeface="Times New Roman" panose="02020603050405020304" pitchFamily="18" charset="0"/>
              </a:rPr>
              <a:t>char zero = '0';</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39893027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Da notare che assegnare il literal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ad un carattere è perfettamente legale. Quindi la seguente istruzione:</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è equivalente al seguente codice:</a:t>
            </a:r>
          </a:p>
          <a:p>
            <a:r>
              <a:rPr lang="it-IT" sz="1800" dirty="0">
                <a:solidFill>
                  <a:srgbClr val="000000"/>
                </a:solidFill>
                <a:effectLst/>
                <a:latin typeface="Courier New" panose="02070309020205020404" pitchFamily="49" charset="0"/>
                <a:ea typeface="Times New Roman" panose="02020603050405020304" pitchFamily="18" charset="0"/>
              </a:rPr>
              <a:t>char virgolette =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System.out.println(virgolette);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corretta e stamperà il carattere </a:t>
            </a:r>
            <a:r>
              <a:rPr lang="it-IT" sz="1800" i="1" dirty="0">
                <a:effectLst/>
                <a:latin typeface="Times New Roman" panose="02020603050405020304" pitchFamily="18" charset="0"/>
                <a:ea typeface="Times New Roman" panose="02020603050405020304" pitchFamily="18" charset="0"/>
              </a:rPr>
              <a:t>virgolette</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FFFFFF"/>
                </a:solidFill>
                <a:effectLst/>
                <a:latin typeface="Courier New" panose="02070309020205020404" pitchFamily="49" charset="0"/>
                <a:ea typeface="MS Mincho" panose="02020609040205080304" pitchFamily="49" charset="-128"/>
              </a:rPr>
              <a:t>"</a:t>
            </a: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Invece, se provassimo a non utilizzare il carattere di escape per un apice singolo, per esempio, con la seguente istruzione:</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otterremo i seguenti errori in compilazione, dal momento che il compilatore non potrà distinguere i delimitatori del valore del carattere:</a:t>
            </a:r>
          </a:p>
          <a:p>
            <a:r>
              <a:rPr lang="en-GB" sz="1800" dirty="0">
                <a:solidFill>
                  <a:srgbClr val="FFFFFF"/>
                </a:solidFill>
                <a:effectLst/>
                <a:latin typeface="Courier New" panose="02070309020205020404" pitchFamily="49" charset="0"/>
                <a:ea typeface="MS Mincho" panose="02020609040205080304" pitchFamily="49" charset="-128"/>
              </a:rPr>
              <a:t>error: empty character literal</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System.out.println(''');</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error: unclosed character literal</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System.out.println(''');</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a:t>
            </a:r>
          </a:p>
          <a:p>
            <a:r>
              <a:rPr lang="it-IT" sz="1800" dirty="0">
                <a:solidFill>
                  <a:srgbClr val="FFFFFF"/>
                </a:solidFill>
                <a:effectLst/>
                <a:latin typeface="Courier New" panose="02070309020205020404" pitchFamily="49" charset="0"/>
                <a:ea typeface="MS Mincho" panose="02020609040205080304" pitchFamily="49" charset="-128"/>
              </a:rPr>
              <a:t>2 </a:t>
            </a:r>
            <a:r>
              <a:rPr lang="it-IT" sz="1800" dirty="0" err="1">
                <a:solidFill>
                  <a:srgbClr val="FFFFFF"/>
                </a:solidFill>
                <a:effectLst/>
                <a:latin typeface="Courier New" panose="02070309020205020404" pitchFamily="49" charset="0"/>
                <a:ea typeface="MS Mincho" panose="02020609040205080304" pitchFamily="49" charset="-128"/>
              </a:rPr>
              <a:t>errors</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In questo caso la soluzione consiste nell’utilizzare il carattere di escape:</a:t>
            </a:r>
          </a:p>
          <a:p>
            <a:r>
              <a:rPr lang="en-US" sz="1800" dirty="0">
                <a:solidFill>
                  <a:srgbClr val="000000"/>
                </a:solidFill>
                <a:effectLst/>
                <a:latin typeface="Courier New" panose="02070309020205020404" pitchFamily="49" charset="0"/>
                <a:ea typeface="Times New Roman" panose="02020603050405020304" pitchFamily="18" charset="0"/>
              </a:rPr>
              <a:t>System.out.println('\'');</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4471992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C’è una sottile e potente differenza tra la dichiarazione di un tipo di dato primitivo ed uno complesso. In particolare, un reference differisce da una variabile di tipo primitivo nel modo in cui memorizza il suo valore. Infatti, una variabile di tipo primitivo corrisponde ad un’area di memoria dove è presente il valore primitivo. Ai nostri occhi quindi, l’effetto è quello che la variabile contenga direttamente il suo valore. Una variabile di tipo complesso (reference) invece, corrisponde ad un area di memoria dove è presente un indirizzo numerico. Tale indirizzo, individua un’altra area di memoria dove è memorizzato l’oggetto.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Qualcuno potrebbe trovare una somiglianza tra il concetto di reference e il concetto di </a:t>
            </a:r>
            <a:r>
              <a:rPr lang="it-IT" sz="1800" b="1" i="1" dirty="0">
                <a:solidFill>
                  <a:srgbClr val="000000"/>
                </a:solidFill>
                <a:effectLst/>
                <a:latin typeface="Times New Roman" panose="02020603050405020304" pitchFamily="18" charset="0"/>
                <a:ea typeface="Times New Roman" panose="02020603050405020304" pitchFamily="18" charset="0"/>
              </a:rPr>
              <a:t>puntatore</a:t>
            </a:r>
            <a:r>
              <a:rPr lang="it-IT" sz="1800" b="1" dirty="0">
                <a:solidFill>
                  <a:srgbClr val="000000"/>
                </a:solidFill>
                <a:effectLst/>
                <a:latin typeface="Times New Roman" panose="02020603050405020304" pitchFamily="18" charset="0"/>
                <a:ea typeface="Times New Roman" panose="02020603050405020304" pitchFamily="18" charset="0"/>
              </a:rPr>
              <a:t> che esiste in altri linguaggi. Infatti, un puntatore è definito come una variabile che contiene un indirizzo in memoria, tuttavia ci sono delle differenze tra i due concetti. In particolare, per scopi didattici la nostra definizione di reference è stata semplificata. Conoscere alcuni dettagli infatti, non è utile per un programmatore. </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559727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Qualcuno potrebbe trovare una somiglianza tra il concetto di reference e il concetto di </a:t>
            </a:r>
            <a:r>
              <a:rPr lang="it-IT" sz="1800" b="1" i="1" dirty="0">
                <a:solidFill>
                  <a:srgbClr val="000000"/>
                </a:solidFill>
                <a:effectLst/>
                <a:latin typeface="Times New Roman" panose="02020603050405020304" pitchFamily="18" charset="0"/>
                <a:ea typeface="Times New Roman" panose="02020603050405020304" pitchFamily="18" charset="0"/>
              </a:rPr>
              <a:t>puntatore</a:t>
            </a:r>
            <a:r>
              <a:rPr lang="it-IT" sz="1800" b="1" dirty="0">
                <a:solidFill>
                  <a:srgbClr val="000000"/>
                </a:solidFill>
                <a:effectLst/>
                <a:latin typeface="Times New Roman" panose="02020603050405020304" pitchFamily="18" charset="0"/>
                <a:ea typeface="Times New Roman" panose="02020603050405020304" pitchFamily="18" charset="0"/>
              </a:rPr>
              <a:t> che esiste in altri linguaggi. Infatti, un puntatore è definito come una variabile che contiene un indirizzo in memoria, tuttavia ci sono delle differenze tra i due concetti. In particolare, per scopi didattici la nostra definizione di reference è stata semplificata. Conoscere alcuni dettagli infatti, non è utile per un programmatore. </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229662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al solito, aiutiamoci con un esempio pratico. Consideriamo la definizione di una classe che astrae in maniera banale il concetto di data:</a:t>
            </a:r>
          </a:p>
          <a:p>
            <a:r>
              <a:rPr lang="en-GB" sz="1800" dirty="0">
                <a:solidFill>
                  <a:srgbClr val="000000"/>
                </a:solidFill>
                <a:effectLst/>
                <a:latin typeface="Courier New" panose="02070309020205020404" pitchFamily="49" charset="0"/>
                <a:ea typeface="Times New Roman" panose="02020603050405020304" pitchFamily="18" charset="0"/>
              </a:rPr>
              <a:t>public class Data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a:t>
            </a:r>
            <a:r>
              <a:rPr lang="en-GB" sz="1800" dirty="0" err="1">
                <a:solidFill>
                  <a:srgbClr val="000000"/>
                </a:solidFill>
                <a:effectLst/>
                <a:latin typeface="Courier New" panose="02070309020205020404" pitchFamily="49" charset="0"/>
                <a:ea typeface="Times New Roman" panose="02020603050405020304" pitchFamily="18" charset="0"/>
              </a:rPr>
              <a:t>giorno</a:t>
            </a:r>
            <a:r>
              <a:rPr lang="en-GB"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mese;</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anno;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quindi, rappresenta un tipo di dato complesso (non primitivo). Ora consideriamo un tipo di dato primitivo (per esempio il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e facciamo un confronto. Consideriamo il seguente snippet:</a:t>
            </a:r>
          </a:p>
          <a:p>
            <a:r>
              <a:rPr lang="it-IT" sz="1800" dirty="0">
                <a:solidFill>
                  <a:srgbClr val="000000"/>
                </a:solidFill>
                <a:effectLst/>
                <a:latin typeface="Courier New" panose="02070309020205020404" pitchFamily="49" charset="0"/>
                <a:ea typeface="Times New Roman" panose="02020603050405020304" pitchFamily="18" charset="0"/>
              </a:rPr>
              <a:t>double </a:t>
            </a:r>
            <a:r>
              <a:rPr lang="it-IT" sz="1800" dirty="0" err="1">
                <a:solidFill>
                  <a:srgbClr val="000000"/>
                </a:solidFill>
                <a:effectLst/>
                <a:latin typeface="Courier New" panose="02070309020205020404" pitchFamily="49" charset="0"/>
                <a:ea typeface="Times New Roman" panose="02020603050405020304" pitchFamily="18" charset="0"/>
              </a:rPr>
              <a:t>unNumero</a:t>
            </a:r>
            <a:r>
              <a:rPr lang="it-IT" sz="1800" dirty="0">
                <a:solidFill>
                  <a:srgbClr val="000000"/>
                </a:solidFill>
                <a:effectLst/>
                <a:latin typeface="Courier New" panose="02070309020205020404" pitchFamily="49" charset="0"/>
                <a:ea typeface="Times New Roman" panose="02020603050405020304" pitchFamily="18" charset="0"/>
              </a:rPr>
              <a:t> = 5.0;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Data </a:t>
            </a:r>
            <a:r>
              <a:rPr lang="it-IT" sz="1800" dirty="0" err="1">
                <a:solidFill>
                  <a:srgbClr val="000000"/>
                </a:solidFill>
                <a:effectLst/>
                <a:latin typeface="Courier New" panose="02070309020205020404" pitchFamily="49" charset="0"/>
                <a:ea typeface="Times New Roman" panose="02020603050405020304" pitchFamily="18" charset="0"/>
              </a:rPr>
              <a:t>unGiorno</a:t>
            </a:r>
            <a:r>
              <a:rPr lang="it-IT" sz="1800" dirty="0">
                <a:solidFill>
                  <a:srgbClr val="000000"/>
                </a:solidFill>
                <a:effectLst/>
                <a:latin typeface="Courier New" panose="02070309020205020404" pitchFamily="49" charset="0"/>
                <a:ea typeface="Times New Roman" panose="02020603050405020304" pitchFamily="18" charset="0"/>
              </a:rPr>
              <a:t> = new Data();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Potrebbe aiutarci una schematizzazione di come saranno rappresentati i dati in memoria quando l’applicazione è in esecuzione. Riportare fedelmente queste informazioni però, è un’impresa ardua e probabilmente anche inutile visto che non è possibile gestire la memoria direttamente in Java. Ad ogni modo può essere utile immaginare la situazione in memoria con il tipo di schematizzazione, frutto di una convenzione, illustrato in figura 3.2.</a:t>
            </a:r>
          </a:p>
          <a:p>
            <a:r>
              <a:rPr lang="it-IT" sz="1800" b="1" dirty="0">
                <a:solidFill>
                  <a:srgbClr val="0000FF"/>
                </a:solidFill>
                <a:effectLst/>
                <a:latin typeface="Arial" panose="020B0604020202020204" pitchFamily="34" charset="0"/>
                <a:ea typeface="MS Mincho" panose="02020609040205080304" pitchFamily="49" charset="-128"/>
              </a:rPr>
              <a:t>Figura 3.2 - Convenzione di schematizzazione della memoria (Dichiarazioni).</a:t>
            </a:r>
            <a:endParaRPr lang="it-IT" sz="1800" dirty="0">
              <a:solidFill>
                <a:srgbClr val="00008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pratica, una variabile di tipo primitivo ha come valore il valore della variabile. Una variabile di tipo complesso, ha come valore un indirizzo in memoria che </a:t>
            </a:r>
            <a:r>
              <a:rPr lang="it-IT" sz="1800" i="1" dirty="0">
                <a:effectLst/>
                <a:latin typeface="Times New Roman" panose="02020603050405020304" pitchFamily="18" charset="0"/>
                <a:ea typeface="Times New Roman" panose="02020603050405020304" pitchFamily="18" charset="0"/>
              </a:rPr>
              <a:t>punta</a:t>
            </a:r>
            <a:r>
              <a:rPr lang="it-IT" sz="1800" dirty="0">
                <a:effectLst/>
                <a:latin typeface="Times New Roman" panose="02020603050405020304" pitchFamily="18" charset="0"/>
                <a:ea typeface="Times New Roman" panose="02020603050405020304" pitchFamily="18" charset="0"/>
              </a:rPr>
              <a:t> ad un oggetto.</a:t>
            </a:r>
          </a:p>
        </p:txBody>
      </p:sp>
    </p:spTree>
    <p:extLst>
      <p:ext uri="{BB962C8B-B14F-4D97-AF65-F5344CB8AC3E}">
        <p14:creationId xmlns:p14="http://schemas.microsoft.com/office/powerpoint/2010/main" val="3789427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b="1" dirty="0">
                <a:effectLst/>
                <a:latin typeface="Times New Roman" panose="02020603050405020304" pitchFamily="18" charset="0"/>
                <a:ea typeface="Times New Roman" panose="02020603050405020304" pitchFamily="18" charset="0"/>
              </a:rPr>
              <a:t>Sia per il tipo di dato primitivo, sia per quello complesso, abbiamo creato un comportamento equivalente: </a:t>
            </a:r>
          </a:p>
          <a:p>
            <a:pPr marL="180340" indent="180340"/>
            <a:r>
              <a:rPr lang="it-IT" sz="1800" b="1" dirty="0">
                <a:effectLst/>
                <a:latin typeface="Times New Roman" panose="02020603050405020304" pitchFamily="18" charset="0"/>
                <a:ea typeface="MS Mincho" panose="02020609040205080304" pitchFamily="49" charset="-128"/>
              </a:rPr>
              <a:t>dichiarazione ed assegnazione di un valore ad una variabile;</a:t>
            </a:r>
          </a:p>
          <a:p>
            <a:pPr marL="180340" indent="180340"/>
            <a:r>
              <a:rPr lang="it-IT" sz="1800" b="1" dirty="0">
                <a:effectLst/>
                <a:latin typeface="Times New Roman" panose="02020603050405020304" pitchFamily="18" charset="0"/>
                <a:ea typeface="MS Mincho" panose="02020609040205080304" pitchFamily="49" charset="-128"/>
              </a:rPr>
              <a:t>dichiarazione di un’altra variabile dello stesso tipo, ed assegnazione a questa del valore assegnato alla variabile precedentemente creata.</a:t>
            </a:r>
          </a:p>
          <a:p>
            <a:r>
              <a:rPr lang="it-IT" sz="1800" dirty="0">
                <a:effectLst/>
                <a:latin typeface="Times New Roman" panose="02020603050405020304" pitchFamily="18" charset="0"/>
                <a:ea typeface="Times New Roman" panose="02020603050405020304" pitchFamily="18" charset="0"/>
              </a:rPr>
              <a:t>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unAltroNumero</a:t>
            </a:r>
            <a:r>
              <a:rPr lang="it-IT" sz="1800" dirty="0">
                <a:effectLst/>
                <a:latin typeface="Times New Roman" panose="02020603050405020304" pitchFamily="18" charset="0"/>
                <a:ea typeface="Times New Roman" panose="02020603050405020304" pitchFamily="18" charset="0"/>
              </a:rPr>
              <a:t> assumerà lo stesso valore della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unNumero</a:t>
            </a:r>
            <a:r>
              <a:rPr lang="it-IT" sz="1800" dirty="0">
                <a:effectLst/>
                <a:latin typeface="Times New Roman" panose="02020603050405020304" pitchFamily="18" charset="0"/>
                <a:ea typeface="Times New Roman" panose="02020603050405020304" pitchFamily="18" charset="0"/>
              </a:rPr>
              <a:t>, ma le due variabili rimarranno indipendenti l’una dall’altra. Il valore della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unNumero</a:t>
            </a:r>
            <a:r>
              <a:rPr lang="it-IT" sz="1800" dirty="0">
                <a:effectLst/>
                <a:latin typeface="Times New Roman" panose="02020603050405020304" pitchFamily="18" charset="0"/>
                <a:ea typeface="Times New Roman" panose="02020603050405020304" pitchFamily="18" charset="0"/>
              </a:rPr>
              <a:t> verrà infatti copiato nella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unAltroNumero</a:t>
            </a:r>
            <a:r>
              <a:rPr lang="it-IT" sz="1800" dirty="0">
                <a:effectLst/>
                <a:latin typeface="Times New Roman" panose="02020603050405020304" pitchFamily="18" charset="0"/>
                <a:ea typeface="Times New Roman" panose="02020603050405020304" pitchFamily="18" charset="0"/>
              </a:rPr>
              <a:t>. Se il valore di una delle due variabili sarà modificato in seguito, il valore dell’altra variabile non cambierà.</a:t>
            </a:r>
          </a:p>
          <a:p>
            <a:r>
              <a:rPr lang="it-IT" sz="1800" dirty="0">
                <a:effectLst/>
                <a:latin typeface="Times New Roman" panose="02020603050405020304" pitchFamily="18" charset="0"/>
                <a:ea typeface="Times New Roman" panose="02020603050405020304" pitchFamily="18" charset="0"/>
              </a:rPr>
              <a:t>Il reference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unAltroGiorno</a:t>
            </a:r>
            <a:r>
              <a:rPr lang="it-IT" sz="1800" dirty="0">
                <a:effectLst/>
                <a:latin typeface="Times New Roman" panose="02020603050405020304" pitchFamily="18" charset="0"/>
                <a:ea typeface="Times New Roman" panose="02020603050405020304" pitchFamily="18" charset="0"/>
              </a:rPr>
              <a:t> invece, assumerà semplicemente il valore (cioè l’indirizzo) del reference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unGiorno</a:t>
            </a:r>
            <a:r>
              <a:rPr lang="it-IT" sz="1800" dirty="0">
                <a:effectLst/>
                <a:latin typeface="Times New Roman" panose="02020603050405020304" pitchFamily="18" charset="0"/>
                <a:ea typeface="Times New Roman" panose="02020603050405020304" pitchFamily="18" charset="0"/>
              </a:rPr>
              <a:t>. Ciò significa che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unAltroGiorno</a:t>
            </a:r>
            <a:r>
              <a:rPr lang="it-IT" sz="1800" dirty="0">
                <a:effectLst/>
                <a:latin typeface="Times New Roman" panose="02020603050405020304" pitchFamily="18" charset="0"/>
                <a:ea typeface="Times New Roman" panose="02020603050405020304" pitchFamily="18" charset="0"/>
              </a:rPr>
              <a:t> punterà allo stesso oggetto cui punta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unGiorno</a:t>
            </a:r>
            <a:r>
              <a:rPr lang="it-IT" sz="1800" dirty="0">
                <a:effectLst/>
                <a:latin typeface="Times New Roman" panose="02020603050405020304" pitchFamily="18" charset="0"/>
                <a:ea typeface="Times New Roman" panose="02020603050405020304" pitchFamily="18" charset="0"/>
              </a:rPr>
              <a:t>. La figura 3.3 mostra la situazione rappresentata graficamente.</a:t>
            </a:r>
          </a:p>
          <a:p>
            <a:r>
              <a:rPr lang="it-IT" sz="1800" b="1" dirty="0">
                <a:solidFill>
                  <a:srgbClr val="0000FF"/>
                </a:solidFill>
                <a:effectLst/>
                <a:latin typeface="Arial" panose="020B0604020202020204" pitchFamily="34" charset="0"/>
                <a:ea typeface="MS Mincho" panose="02020609040205080304" pitchFamily="49" charset="-128"/>
              </a:rPr>
              <a:t>Figura 3.3 - Convenzione di schematizzazione della memoria (Assegnazioni).</a:t>
            </a:r>
            <a:endParaRPr lang="it-IT" sz="1800" dirty="0">
              <a:solidFill>
                <a:srgbClr val="000080"/>
              </a:solidFill>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Quindi, se in seguito sarà apportata una qualche modifica all’oggetto comune tramite uno dei due reference, questa sarà verificabile anche tramite l’altro reference. Per intenderci:</a:t>
            </a:r>
          </a:p>
          <a:p>
            <a:r>
              <a:rPr lang="it-IT" sz="18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unGiorno.anno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sicuramente equivalente a:</a:t>
            </a:r>
          </a:p>
          <a:p>
            <a:r>
              <a:rPr lang="it-IT" sz="1800" dirty="0" err="1">
                <a:solidFill>
                  <a:srgbClr val="000000"/>
                </a:solidFill>
                <a:effectLst/>
                <a:latin typeface="Courier New" panose="02070309020205020404" pitchFamily="49" charset="0"/>
                <a:ea typeface="Times New Roman" panose="02020603050405020304" pitchFamily="18" charset="0"/>
              </a:rPr>
              <a:t>unAltroGiorno.anno</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40356877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passaggio di parametri in Java avviene </a:t>
            </a:r>
            <a:r>
              <a:rPr lang="it-IT" sz="1800" u="sng" dirty="0">
                <a:effectLst/>
                <a:latin typeface="Times New Roman" panose="02020603050405020304" pitchFamily="18" charset="0"/>
                <a:ea typeface="Times New Roman" panose="02020603050405020304" pitchFamily="18" charset="0"/>
              </a:rPr>
              <a:t>sempre</a:t>
            </a:r>
            <a:r>
              <a:rPr lang="it-IT" sz="1800" dirty="0">
                <a:effectLst/>
                <a:latin typeface="Times New Roman" panose="02020603050405020304" pitchFamily="18" charset="0"/>
                <a:ea typeface="Times New Roman" panose="02020603050405020304" pitchFamily="18" charset="0"/>
              </a:rPr>
              <a:t> per valore.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Quest’affermazione viene contraddetta in alcuni testi, ma basterà leggere l’intero paragrafo per fugare ogni dubbio.</a:t>
            </a:r>
            <a:endParaRPr lang="it-IT" sz="1800" b="1" dirty="0">
              <a:effectLst/>
              <a:latin typeface="Times New Roman" panose="02020603050405020304" pitchFamily="18" charset="0"/>
              <a:ea typeface="Times New Roman" panose="02020603050405020304" pitchFamily="18" charset="0"/>
            </a:endParaRPr>
          </a:p>
          <a:p>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Infatti, il parametro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valore</a:t>
            </a:r>
            <a:r>
              <a:rPr lang="it-IT" sz="1800" b="1" dirty="0">
                <a:effectLst/>
                <a:latin typeface="Times New Roman" panose="02020603050405020304" pitchFamily="18" charset="0"/>
                <a:ea typeface="Times New Roman" panose="02020603050405020304" pitchFamily="18" charset="0"/>
              </a:rPr>
              <a:t> del metodo </a:t>
            </a:r>
            <a:r>
              <a:rPr lang="it-IT" sz="1800" b="1" dirty="0" err="1">
                <a:effectLst/>
                <a:latin typeface="Courier New" panose="02070309020205020404" pitchFamily="49" charset="0"/>
                <a:ea typeface="Times New Roman" panose="02020603050405020304" pitchFamily="18" charset="0"/>
                <a:cs typeface="Courier New" panose="02070309020205020404" pitchFamily="49" charset="0"/>
              </a:rPr>
              <a:t>cambiaValore</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effectLst/>
                <a:latin typeface="Times New Roman" panose="02020603050405020304" pitchFamily="18" charset="0"/>
                <a:ea typeface="Times New Roman" panose="02020603050405020304" pitchFamily="18" charset="0"/>
              </a:rPr>
              <a:t>, nel momento in cui è stato eseguito il metodo, non coincideva con la variabile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b="1" dirty="0">
                <a:effectLst/>
                <a:latin typeface="Times New Roman" panose="02020603050405020304" pitchFamily="18" charset="0"/>
                <a:ea typeface="Times New Roman" panose="02020603050405020304" pitchFamily="18" charset="0"/>
              </a:rPr>
              <a:t>, bensì immagazzinava solo la copia del suo valore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10</a:t>
            </a:r>
            <a:r>
              <a:rPr lang="it-IT" sz="1800" b="1" dirty="0">
                <a:effectLst/>
                <a:latin typeface="Times New Roman" panose="02020603050405020304" pitchFamily="18" charset="0"/>
                <a:ea typeface="Times New Roman" panose="02020603050405020304" pitchFamily="18" charset="0"/>
              </a:rPr>
              <a:t>). Quindi ovviamente la variabile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b="1" dirty="0">
                <a:effectLst/>
                <a:latin typeface="Times New Roman" panose="02020603050405020304" pitchFamily="18" charset="0"/>
                <a:ea typeface="Times New Roman" panose="02020603050405020304" pitchFamily="18" charset="0"/>
              </a:rPr>
              <a:t> non è stata modificata. </a:t>
            </a:r>
          </a:p>
        </p:txBody>
      </p:sp>
    </p:spTree>
    <p:extLst>
      <p:ext uri="{BB962C8B-B14F-4D97-AF65-F5344CB8AC3E}">
        <p14:creationId xmlns:p14="http://schemas.microsoft.com/office/powerpoint/2010/main" val="21917151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Stesso discorso vale per i tipi reference: viene sempre passato il valore del reference, ma come abbiamo detto, il valore di un reference coincide con l’indirizzo in memoria dove risiede l’oggetto. Consideriamo la seguente classe:</a:t>
            </a:r>
          </a:p>
          <a:p>
            <a:r>
              <a:rPr lang="it-IT" sz="1800" dirty="0">
                <a:effectLst/>
                <a:latin typeface="Times New Roman" panose="02020603050405020304" pitchFamily="18" charset="0"/>
                <a:ea typeface="Times New Roman" panose="02020603050405020304" pitchFamily="18" charset="0"/>
              </a:rPr>
              <a:t>Valgono quindi le stesse regole sia per i tipi primitivi che per i reference.</a:t>
            </a:r>
          </a:p>
        </p:txBody>
      </p:sp>
    </p:spTree>
    <p:extLst>
      <p:ext uri="{BB962C8B-B14F-4D97-AF65-F5344CB8AC3E}">
        <p14:creationId xmlns:p14="http://schemas.microsoft.com/office/powerpoint/2010/main" val="22410752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Infatti, all’interno del metodo avremmo cambiato le variabili dell’oggetto originali, giacché il reference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data</a:t>
            </a:r>
            <a:r>
              <a:rPr lang="it-IT" sz="1800" dirty="0">
                <a:effectLst/>
                <a:latin typeface="Times New Roman" panose="02020603050405020304" pitchFamily="18" charset="0"/>
                <a:ea typeface="Times New Roman" panose="02020603050405020304" pitchFamily="18" charset="0"/>
              </a:rPr>
              <a:t> (il parametro del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cambiaReference</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avrebbe puntato allo stesso indirizzo dell’oggetto in input (ovvero allo stesso indirizzo dell’oggetto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obj</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Il fatto che il passaggio avvenga sempre per valore, garantisce che un oggetto possa essere modificato all’interno del metodo chiamato, e contemporaneamente, si è certi che dopo la chiamata del metodo il reference punti sempre allo stesso oggetto.</a:t>
            </a:r>
          </a:p>
          <a:p>
            <a:r>
              <a:rPr lang="it-IT" sz="1800" dirty="0">
                <a:effectLst/>
                <a:latin typeface="Times New Roman" panose="02020603050405020304" pitchFamily="18" charset="0"/>
                <a:ea typeface="Times New Roman" panose="02020603050405020304" pitchFamily="18" charset="0"/>
              </a:rPr>
              <a:t>In altri linguaggi, come il C, è permesso anche il </a:t>
            </a:r>
            <a:r>
              <a:rPr lang="it-IT" sz="1800" b="1" dirty="0">
                <a:effectLst/>
                <a:latin typeface="Times New Roman" panose="02020603050405020304" pitchFamily="18" charset="0"/>
                <a:ea typeface="Times New Roman" panose="02020603050405020304" pitchFamily="18" charset="0"/>
              </a:rPr>
              <a:t>passaggio di parametri</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per riferimento</a:t>
            </a:r>
            <a:r>
              <a:rPr lang="it-IT" sz="1800" dirty="0">
                <a:effectLst/>
                <a:latin typeface="Times New Roman" panose="02020603050405020304" pitchFamily="18" charset="0"/>
                <a:ea typeface="Times New Roman" panose="02020603050405020304" pitchFamily="18" charset="0"/>
              </a:rPr>
              <a:t>. In quel caso al metodo viene passato l’intero reference, non solo il suo indirizzo, con la conseguente possibilità di poterne cambiare l'indirizzamento. Questa caratteristica non è stata importata in Java, perché considerata (a ragione) una minaccia alla sicurezza. Molti virus, worm e simili, sfruttano infatti la tecnica del passaggio per riferimento. In questo caso, Java scelse sin dall’inizio la strada della robustezza e della semplicità, favorendola rispetto alla potenza del linguaggio.</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Alcuni autori di altri testi affermano che il passaggio di parametri in Java avviene per valore per i tipi di dato primitivi, e per riferimento per i tipi di dato complesso. Chi vi scrive ribadisce che si tratta solo di un problema di terminologia. Probabilmente, se ignorassimo il linguaggio C, anche noi daremmo un significato diverso al </a:t>
            </a:r>
            <a:r>
              <a:rPr lang="it-IT" sz="1800" b="1" i="1" dirty="0">
                <a:solidFill>
                  <a:srgbClr val="000000"/>
                </a:solidFill>
                <a:effectLst/>
                <a:latin typeface="Times New Roman" panose="02020603050405020304" pitchFamily="18" charset="0"/>
                <a:ea typeface="Times New Roman" panose="02020603050405020304" pitchFamily="18" charset="0"/>
              </a:rPr>
              <a:t>passaggio per riferimento</a:t>
            </a:r>
            <a:r>
              <a:rPr lang="it-IT" sz="1800" b="1" dirty="0">
                <a:solidFill>
                  <a:srgbClr val="000000"/>
                </a:solidFill>
                <a:effectLst/>
                <a:latin typeface="Times New Roman" panose="02020603050405020304" pitchFamily="18" charset="0"/>
                <a:ea typeface="Times New Roman" panose="02020603050405020304" pitchFamily="18" charset="0"/>
              </a:rPr>
              <a:t>. L’importante è capire il concetto senza fare confusione.</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26451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b="0" dirty="0">
                <a:effectLst/>
                <a:latin typeface="Times New Roman" panose="02020603050405020304" pitchFamily="18" charset="0"/>
                <a:ea typeface="Times New Roman" panose="02020603050405020304" pitchFamily="18" charset="0"/>
              </a:rPr>
              <a:t>La maggior parte dei valori nulli presenti in questa tabella, è abbastanza prevedibile. Si possono però notare le notazioni di cast (con sintassi breve) vicino ai valori nulli di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long</a:t>
            </a:r>
            <a:r>
              <a:rPr lang="it-IT" sz="1800" b="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float</a:t>
            </a:r>
            <a:r>
              <a:rPr lang="it-IT" sz="1800" b="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b="0" dirty="0">
                <a:effectLst/>
                <a:latin typeface="Times New Roman" panose="02020603050405020304" pitchFamily="18" charset="0"/>
                <a:ea typeface="Times New Roman" panose="02020603050405020304" pitchFamily="18" charset="0"/>
              </a:rPr>
              <a:t>. Inoltre, il valore nullo del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b="0" dirty="0">
                <a:effectLst/>
                <a:latin typeface="Times New Roman" panose="02020603050405020304" pitchFamily="18" charset="0"/>
                <a:ea typeface="Times New Roman" panose="02020603050405020304" pitchFamily="18" charset="0"/>
              </a:rPr>
              <a:t> è espresso in notazione esadecimale e rappresenta </a:t>
            </a:r>
            <a:r>
              <a:rPr lang="it-IT" sz="1800" b="0" i="1" dirty="0">
                <a:effectLst/>
                <a:latin typeface="Times New Roman" panose="02020603050405020304" pitchFamily="18" charset="0"/>
                <a:ea typeface="Times New Roman" panose="02020603050405020304" pitchFamily="18" charset="0"/>
              </a:rPr>
              <a:t>nessun carattere</a:t>
            </a:r>
            <a:r>
              <a:rPr lang="it-IT" sz="1800" b="0" dirty="0">
                <a:effectLst/>
                <a:latin typeface="Times New Roman" panose="02020603050405020304" pitchFamily="18" charset="0"/>
                <a:ea typeface="Times New Roman" panose="02020603050405020304" pitchFamily="18" charset="0"/>
              </a:rPr>
              <a:t>. Infine, per ogni tipo complesso, il valore letterale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800" b="0" dirty="0">
                <a:effectLst/>
                <a:latin typeface="Times New Roman" panose="02020603050405020304" pitchFamily="18" charset="0"/>
                <a:ea typeface="Times New Roman" panose="02020603050405020304" pitchFamily="18" charset="0"/>
              </a:rPr>
              <a:t> implica che il reference non ha un indirizzo a cui puntare, e punta all’indirizzo </a:t>
            </a:r>
            <a:r>
              <a:rPr lang="it-IT" sz="1800" b="1"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800" b="0" dirty="0">
                <a:effectLst/>
                <a:latin typeface="Times New Roman" panose="02020603050405020304" pitchFamily="18" charset="0"/>
                <a:ea typeface="Times New Roman" panose="02020603050405020304" pitchFamily="18" charset="0"/>
              </a:rPr>
              <a:t>, una parola chiave di Java che indica un indirizzo </a:t>
            </a:r>
            <a:r>
              <a:rPr lang="it-IT" sz="1800" b="0" i="1" dirty="0">
                <a:effectLst/>
                <a:latin typeface="Times New Roman" panose="02020603050405020304" pitchFamily="18" charset="0"/>
                <a:ea typeface="Times New Roman" panose="02020603050405020304" pitchFamily="18" charset="0"/>
              </a:rPr>
              <a:t>vuoto</a:t>
            </a:r>
            <a:r>
              <a:rPr lang="it-IT" sz="1800" b="0" dirty="0">
                <a:effectLst/>
                <a:latin typeface="Times New Roman" panose="02020603050405020304" pitchFamily="18" charset="0"/>
                <a:ea typeface="Times New Roman" panose="02020603050405020304" pitchFamily="18" charset="0"/>
              </a:rPr>
              <a:t>, dove non ci sono oggetti. Vedremo che il più comune errore nella programmazione Java, riguarda proprio la nullità dei reference.</a:t>
            </a:r>
            <a:endParaRPr lang="it-IT" sz="1800"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ERRORE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Una variabile d’istanza dichiarata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non verrà inizializzata come una variabile normale al proprio valore nullo. Se non viene inizializzata, allora il programma non compilerà. Lo stesso vale per le variabili dichiarate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Times New Roman" panose="02020603050405020304" pitchFamily="18" charset="0"/>
              </a:rPr>
              <a:t>. Infatti una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800" dirty="0">
                <a:effectLst/>
                <a:latin typeface="Times New Roman" panose="02020603050405020304" pitchFamily="18" charset="0"/>
                <a:ea typeface="Times New Roman" panose="02020603050405020304" pitchFamily="18" charset="0"/>
              </a:rPr>
              <a:t> è una costante, e se fosse inizializzata al proprio valore nullo non potrebbe più possibile cambiare il suo valore.</a:t>
            </a:r>
          </a:p>
        </p:txBody>
      </p:sp>
    </p:spTree>
    <p:extLst>
      <p:ext uri="{BB962C8B-B14F-4D97-AF65-F5344CB8AC3E}">
        <p14:creationId xmlns:p14="http://schemas.microsoft.com/office/powerpoint/2010/main" val="28711624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già accennato più volte, Java possiede un’enorme e lussuosa libreria di classi standard che costituisce uno dei punti di forza del linguaggio. È anche nota come </a:t>
            </a:r>
            <a:r>
              <a:rPr lang="it-IT" sz="1800" b="1" dirty="0">
                <a:effectLst/>
                <a:latin typeface="Times New Roman" panose="02020603050405020304" pitchFamily="18" charset="0"/>
                <a:ea typeface="Times New Roman" panose="02020603050405020304" pitchFamily="18" charset="0"/>
              </a:rPr>
              <a:t>Java API</a:t>
            </a:r>
            <a:r>
              <a:rPr lang="it-IT" sz="1800" dirty="0">
                <a:effectLst/>
                <a:latin typeface="Times New Roman" panose="02020603050405020304" pitchFamily="18" charset="0"/>
                <a:ea typeface="Times New Roman" panose="02020603050405020304" pitchFamily="18" charset="0"/>
              </a:rPr>
              <a:t>, dove API è l’acronimo per </a:t>
            </a:r>
            <a:r>
              <a:rPr lang="it-IT" sz="1800" i="1" dirty="0">
                <a:effectLst/>
                <a:latin typeface="Times New Roman" panose="02020603050405020304" pitchFamily="18" charset="0"/>
                <a:ea typeface="Times New Roman" panose="02020603050405020304" pitchFamily="18" charset="0"/>
              </a:rPr>
              <a:t>Application Programming Interface</a:t>
            </a:r>
            <a:r>
              <a:rPr lang="it-IT" sz="1800" dirty="0">
                <a:effectLst/>
                <a:latin typeface="Times New Roman" panose="02020603050405020304" pitchFamily="18" charset="0"/>
                <a:ea typeface="Times New Roman" panose="02020603050405020304" pitchFamily="18" charset="0"/>
              </a:rPr>
              <a:t> (letteralmente </a:t>
            </a:r>
            <a:r>
              <a:rPr lang="it-IT" sz="1800" i="1" dirty="0">
                <a:effectLst/>
                <a:latin typeface="Times New Roman" panose="02020603050405020304" pitchFamily="18" charset="0"/>
                <a:ea typeface="Times New Roman" panose="02020603050405020304" pitchFamily="18" charset="0"/>
              </a:rPr>
              <a:t>Interfaccia di programmazione di un’applicazione</a:t>
            </a:r>
            <a:r>
              <a:rPr lang="it-IT" sz="1800" dirty="0">
                <a:effectLst/>
                <a:latin typeface="Times New Roman" panose="02020603050405020304" pitchFamily="18" charset="0"/>
                <a:ea typeface="Times New Roman" panose="02020603050405020304" pitchFamily="18" charset="0"/>
              </a:rPr>
              <a:t>). In particolare, la libreria è organizzata con il supporto di speciali cartelle chiamate </a:t>
            </a:r>
            <a:r>
              <a:rPr lang="it-IT" sz="1800" i="1" dirty="0">
                <a:effectLst/>
                <a:latin typeface="Times New Roman" panose="02020603050405020304" pitchFamily="18" charset="0"/>
                <a:ea typeface="Times New Roman" panose="02020603050405020304" pitchFamily="18" charset="0"/>
              </a:rPr>
              <a:t>moduli</a:t>
            </a:r>
            <a:r>
              <a:rPr lang="it-IT" sz="1800" dirty="0">
                <a:effectLst/>
                <a:latin typeface="Times New Roman" panose="02020603050405020304" pitchFamily="18" charset="0"/>
                <a:ea typeface="Times New Roman" panose="02020603050405020304" pitchFamily="18" charset="0"/>
              </a:rPr>
              <a:t>. I </a:t>
            </a:r>
            <a:r>
              <a:rPr lang="it-IT" sz="1800" b="1" dirty="0">
                <a:effectLst/>
                <a:latin typeface="Times New Roman" panose="02020603050405020304" pitchFamily="18" charset="0"/>
                <a:ea typeface="Times New Roman" panose="02020603050405020304" pitchFamily="18" charset="0"/>
              </a:rPr>
              <a:t>moduli</a:t>
            </a:r>
            <a:r>
              <a:rPr lang="it-IT" sz="1800" dirty="0">
                <a:effectLst/>
                <a:latin typeface="Times New Roman" panose="02020603050405020304" pitchFamily="18" charset="0"/>
                <a:ea typeface="Times New Roman" panose="02020603050405020304" pitchFamily="18" charset="0"/>
              </a:rPr>
              <a:t>, sono contenitori con particolari caratteristiche che spiegheremo in dettaglio in un capitolo dedicato. Essi raggruppano package dipendenti tra loro. Tali package, raccolgono tipi Java (in maggioranza classi) secondo un’organizzazione basata sul campo d’utilizzo. I principali package storici (ovvero che esistono dalla prima versione di Java) sono i seguenti:</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java.io</a:t>
            </a:r>
            <a:r>
              <a:rPr lang="it-IT" sz="1800" dirty="0">
                <a:effectLst/>
                <a:latin typeface="Times New Roman" panose="02020603050405020304" pitchFamily="18" charset="0"/>
                <a:ea typeface="MS Mincho" panose="02020609040205080304" pitchFamily="49" charset="-128"/>
              </a:rPr>
              <a:t> contiene tipi per realizzare operazioni di input e di output. Negli anni è stato affiancato da altri package complementari.</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java.awt</a:t>
            </a:r>
            <a:r>
              <a:rPr lang="it-IT" sz="1800" dirty="0">
                <a:effectLst/>
                <a:latin typeface="Times New Roman" panose="02020603050405020304" pitchFamily="18" charset="0"/>
                <a:ea typeface="MS Mincho" panose="02020609040205080304" pitchFamily="49" charset="-128"/>
              </a:rPr>
              <a:t> contiene tipi che rappresentano i componenti (raramente utilizzati) per realizzare interfacce grafiche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Button</a:t>
            </a:r>
            <a:r>
              <a:rPr lang="it-IT" sz="1800" dirty="0">
                <a:effectLst/>
                <a:latin typeface="Times New Roman" panose="02020603050405020304" pitchFamily="18" charset="0"/>
                <a:ea typeface="MS Mincho" panose="02020609040205080304" pitchFamily="49" charset="-128"/>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Checkbox</a:t>
            </a:r>
            <a:r>
              <a:rPr lang="it-IT" sz="1800" dirty="0">
                <a:effectLst/>
                <a:latin typeface="Times New Roman" panose="02020603050405020304" pitchFamily="18" charset="0"/>
                <a:ea typeface="MS Mincho" panose="02020609040205080304" pitchFamily="49" charset="-128"/>
              </a:rPr>
              <a:t>. Soprattutto contiene i tipi che gestiscono il posizionamento dei componenti all’interno su un’interfaccia grafica, e i tipi che rappresentano gli eventi che possono essere generati sull’interfaccia grafica, e gestiti per eseguire operazioni. Per esempio un click del mouse, viene astratto dal tipo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MouseEvent</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java.net</a:t>
            </a:r>
            <a:r>
              <a:rPr lang="it-IT" sz="1800" dirty="0">
                <a:effectLst/>
                <a:latin typeface="Times New Roman" panose="02020603050405020304" pitchFamily="18" charset="0"/>
                <a:ea typeface="MS Mincho" panose="02020609040205080304" pitchFamily="49" charset="-128"/>
              </a:rPr>
              <a:t> contiene tipi per realizzare connessioni di rete,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Socket</a:t>
            </a:r>
            <a:r>
              <a:rPr lang="it-IT" sz="1800" dirty="0">
                <a:effectLst/>
                <a:latin typeface="Times New Roman" panose="02020603050405020304" pitchFamily="18" charset="0"/>
                <a:ea typeface="MS Mincho" panose="02020609040205080304" pitchFamily="49" charset="-128"/>
              </a:rPr>
              <a:t>. Nella versione 13 e 15 la libreria ha subito importanti re-implementazioni per supportare al meglio i protocolli di rete moderni.</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java.applet</a:t>
            </a:r>
            <a:r>
              <a:rPr lang="it-IT" sz="1800" dirty="0">
                <a:effectLst/>
                <a:latin typeface="Times New Roman" panose="02020603050405020304" pitchFamily="18" charset="0"/>
                <a:ea typeface="MS Mincho" panose="02020609040205080304" pitchFamily="49" charset="-128"/>
              </a:rPr>
              <a:t> contiene un’unica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Applet</a:t>
            </a:r>
            <a:r>
              <a:rPr lang="it-IT" sz="1800" dirty="0">
                <a:effectLst/>
                <a:latin typeface="Times New Roman" panose="02020603050405020304" pitchFamily="18" charset="0"/>
                <a:ea typeface="MS Mincho" panose="02020609040205080304" pitchFamily="49" charset="-128"/>
              </a:rPr>
              <a:t>. Questa permette di realizzare applet. Con la versione 9 però, questa libreria è stata </a:t>
            </a:r>
            <a:r>
              <a:rPr lang="it-IT" sz="1800" b="1" dirty="0">
                <a:effectLst/>
                <a:latin typeface="Times New Roman" panose="02020603050405020304" pitchFamily="18" charset="0"/>
                <a:ea typeface="MS Mincho" panose="02020609040205080304" pitchFamily="49" charset="-128"/>
              </a:rPr>
              <a:t>deprecata</a:t>
            </a:r>
            <a:r>
              <a:rPr lang="it-IT" sz="1800" dirty="0">
                <a:effectLst/>
                <a:latin typeface="Times New Roman" panose="02020603050405020304" pitchFamily="18" charset="0"/>
                <a:ea typeface="MS Mincho" panose="02020609040205080304" pitchFamily="49" charset="-128"/>
              </a:rPr>
              <a:t>, ovvero Oracle ha deciso che non rientra più nei piani per il futuro del linguaggio, e che quindi sarà prima o poi eliminata.</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java.util</a:t>
            </a:r>
            <a:r>
              <a:rPr lang="it-IT" sz="1800" dirty="0">
                <a:effectLst/>
                <a:latin typeface="Times New Roman" panose="02020603050405020304" pitchFamily="18" charset="0"/>
                <a:ea typeface="MS Mincho" panose="02020609040205080304" pitchFamily="49" charset="-128"/>
              </a:rPr>
              <a:t> raccoglie tantissime classi d’utilità, come il framework noto come </a:t>
            </a:r>
            <a:r>
              <a:rPr lang="it-IT" sz="1800" i="1" dirty="0">
                <a:effectLst/>
                <a:latin typeface="Times New Roman" panose="02020603050405020304" pitchFamily="18" charset="0"/>
                <a:ea typeface="MS Mincho" panose="02020609040205080304" pitchFamily="49" charset="-128"/>
              </a:rPr>
              <a:t>Collections</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Courier New" panose="02070309020205020404" pitchFamily="49" charset="0"/>
                <a:ea typeface="MS Mincho" panose="02020609040205080304" pitchFamily="49" charset="-128"/>
                <a:cs typeface="Courier New" panose="02070309020205020404" pitchFamily="49" charset="0"/>
              </a:rPr>
              <a:t>java.lang</a:t>
            </a:r>
            <a:r>
              <a:rPr lang="it-IT" sz="1800" dirty="0">
                <a:effectLst/>
                <a:latin typeface="Times New Roman" panose="02020603050405020304" pitchFamily="18" charset="0"/>
                <a:ea typeface="MS Mincho" panose="02020609040205080304" pitchFamily="49" charset="-128"/>
              </a:rPr>
              <a:t> è il package che contiene le classi nucleo del linguaggio, come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System</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String</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Affronteremo questi ed altri fondamentali package durante lo studio di questo libro.</a:t>
            </a:r>
          </a:p>
        </p:txBody>
      </p:sp>
    </p:spTree>
    <p:extLst>
      <p:ext uri="{BB962C8B-B14F-4D97-AF65-F5344CB8AC3E}">
        <p14:creationId xmlns:p14="http://schemas.microsoft.com/office/powerpoint/2010/main" val="42033353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Per utilizzare una classe della libreria all’interno del nostro codice, bisogna prima importarla. Supponiamo di voler utilizzare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Date</a:t>
            </a:r>
            <a:r>
              <a:rPr lang="it-IT" sz="1800" dirty="0">
                <a:effectLst/>
                <a:latin typeface="Times New Roman" panose="02020603050405020304" pitchFamily="18" charset="0"/>
                <a:ea typeface="Times New Roman" panose="02020603050405020304" pitchFamily="18" charset="0"/>
              </a:rPr>
              <a:t> del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java.util</a:t>
            </a:r>
            <a:r>
              <a:rPr lang="it-IT" sz="1800" dirty="0">
                <a:effectLst/>
                <a:latin typeface="Times New Roman" panose="02020603050405020304" pitchFamily="18" charset="0"/>
                <a:ea typeface="Times New Roman" panose="02020603050405020304" pitchFamily="18" charset="0"/>
              </a:rPr>
              <a:t>. Prima di dichiarare la classe in cui abbiamo intenzione di utilizzare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Date</a:t>
            </a:r>
            <a:r>
              <a:rPr lang="it-IT" sz="1800" dirty="0">
                <a:effectLst/>
                <a:latin typeface="Times New Roman" panose="02020603050405020304" pitchFamily="18" charset="0"/>
                <a:ea typeface="Times New Roman" panose="02020603050405020304" pitchFamily="18" charset="0"/>
              </a:rPr>
              <a:t>, dobbiamo usare il comando:</a:t>
            </a:r>
          </a:p>
          <a:p>
            <a:r>
              <a:rPr lang="it-IT" sz="1800" dirty="0">
                <a:solidFill>
                  <a:srgbClr val="000000"/>
                </a:solidFill>
                <a:effectLst/>
                <a:latin typeface="Courier New" panose="02070309020205020404" pitchFamily="49" charset="0"/>
                <a:ea typeface="Times New Roman" panose="02020603050405020304" pitchFamily="18" charset="0"/>
              </a:rPr>
              <a:t>import java.util.Date;</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oppure, per importare tutte le classi del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java.util</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import java.util.*;</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Di default, in ogni file Java è importato </a:t>
            </a:r>
            <a:r>
              <a:rPr lang="it-IT" sz="1800" u="sng" dirty="0">
                <a:effectLst/>
                <a:latin typeface="Times New Roman" panose="02020603050405020304" pitchFamily="18" charset="0"/>
                <a:ea typeface="Times New Roman" panose="02020603050405020304" pitchFamily="18" charset="0"/>
              </a:rPr>
              <a:t>automaticamente</a:t>
            </a:r>
            <a:r>
              <a:rPr lang="it-IT" sz="1800" dirty="0">
                <a:effectLst/>
                <a:latin typeface="Times New Roman" panose="02020603050405020304" pitchFamily="18" charset="0"/>
                <a:ea typeface="Times New Roman" panose="02020603050405020304" pitchFamily="18" charset="0"/>
              </a:rPr>
              <a:t> tutto il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java.lang</a:t>
            </a:r>
            <a:r>
              <a:rPr lang="it-IT" sz="1800" dirty="0">
                <a:effectLst/>
                <a:latin typeface="Times New Roman" panose="02020603050405020304" pitchFamily="18" charset="0"/>
                <a:ea typeface="Times New Roman" panose="02020603050405020304" pitchFamily="18" charset="0"/>
              </a:rPr>
              <a:t>, senza il quale non potremmo utilizzare classi fondamentali quali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System</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Notiamo che questo è un altro esempio di come Java sia stato progettato anche per favorire l’apprendimento iniziale. Infatti, nel momento in cui compiliamo una classe Java, il compilatore anteporrà alla sua dichiarazione il comando:</a:t>
            </a:r>
          </a:p>
          <a:p>
            <a:r>
              <a:rPr lang="it-IT" sz="1800" dirty="0">
                <a:solidFill>
                  <a:srgbClr val="000000"/>
                </a:solidFill>
                <a:effectLst/>
                <a:latin typeface="Courier New" panose="02070309020205020404" pitchFamily="49" charset="0"/>
                <a:ea typeface="Times New Roman" panose="02020603050405020304" pitchFamily="18" charset="0"/>
              </a:rPr>
              <a:t>import java.lang.*;</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L’asterisco non implica l’importazione delle classi appartenenti ai </a:t>
            </a:r>
            <a:r>
              <a:rPr lang="it-IT" sz="1800" b="1" i="1" dirty="0">
                <a:solidFill>
                  <a:srgbClr val="000000"/>
                </a:solidFill>
                <a:effectLst/>
                <a:latin typeface="Times New Roman" panose="02020603050405020304" pitchFamily="18" charset="0"/>
                <a:ea typeface="Times New Roman" panose="02020603050405020304" pitchFamily="18" charset="0"/>
              </a:rPr>
              <a:t>sottopackage</a:t>
            </a:r>
            <a:r>
              <a:rPr lang="it-IT" sz="1800" b="1" dirty="0">
                <a:solidFill>
                  <a:srgbClr val="000000"/>
                </a:solidFill>
                <a:effectLst/>
                <a:latin typeface="Times New Roman" panose="02020603050405020304" pitchFamily="18" charset="0"/>
                <a:ea typeface="Times New Roman" panose="02020603050405020304" pitchFamily="18" charset="0"/>
              </a:rPr>
              <a:t>. Per esempio,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import java.</a:t>
            </a:r>
            <a:r>
              <a:rPr lang="it-IT" sz="18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non include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java.awt.</a:t>
            </a:r>
            <a:r>
              <a:rPr lang="it-IT" sz="18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né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java.awt.event</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Quindi l’istruzione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import java.</a:t>
            </a:r>
            <a:r>
              <a:rPr lang="it-IT" sz="1800" b="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non importa tutti i package fondamentali.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dare un’idea della potenza della libreria Java, viene presentata di seguito una semplicissima classe. Istanziando qualche oggetto da alcune classi del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java.awt</a:t>
            </a:r>
            <a:r>
              <a:rPr lang="it-IT" sz="1800" dirty="0">
                <a:effectLst/>
                <a:latin typeface="Times New Roman" panose="02020603050405020304" pitchFamily="18" charset="0"/>
                <a:ea typeface="Times New Roman" panose="02020603050405020304" pitchFamily="18" charset="0"/>
              </a:rPr>
              <a:t> ed assemblandoli con un certo criterio, otterremo con poche righe una finestra grafica con un bottone. La finestra, sfruttando la libreria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java.awt</a:t>
            </a:r>
            <a:r>
              <a:rPr lang="it-IT" sz="1800" dirty="0">
                <a:effectLst/>
                <a:latin typeface="Times New Roman" panose="02020603050405020304" pitchFamily="18" charset="0"/>
                <a:ea typeface="Times New Roman" panose="02020603050405020304" pitchFamily="18" charset="0"/>
              </a:rPr>
              <a:t>, erediterà lo stile grafico (</a:t>
            </a:r>
            <a:r>
              <a:rPr lang="it-IT" sz="1800" i="1" dirty="0">
                <a:effectLst/>
                <a:latin typeface="Times New Roman" panose="02020603050405020304" pitchFamily="18" charset="0"/>
                <a:ea typeface="Times New Roman" panose="02020603050405020304" pitchFamily="18" charset="0"/>
              </a:rPr>
              <a:t>look and feel</a:t>
            </a:r>
            <a:r>
              <a:rPr lang="it-IT" sz="1800" dirty="0">
                <a:effectLst/>
                <a:latin typeface="Times New Roman" panose="02020603050405020304" pitchFamily="18" charset="0"/>
                <a:ea typeface="Times New Roman" panose="02020603050405020304" pitchFamily="18" charset="0"/>
              </a:rPr>
              <a:t>) del sistema operativo su cui il programma viene eseguito. Quindi sarà visualizzato il look and feel di Windows su Windows, su macOS lo stile dei Mac e così via. Ecco il codice (facilmente analizzabile anche senza aiuti):</a:t>
            </a:r>
          </a:p>
          <a:p>
            <a:r>
              <a:rPr lang="en-GB" sz="1800" dirty="0">
                <a:solidFill>
                  <a:srgbClr val="000000"/>
                </a:solidFill>
                <a:effectLst/>
                <a:latin typeface="Courier New" panose="02070309020205020404" pitchFamily="49" charset="0"/>
                <a:ea typeface="Times New Roman" panose="02020603050405020304" pitchFamily="18" charset="0"/>
              </a:rPr>
              <a:t>import java.awt.*;</a:t>
            </a:r>
            <a:endParaRPr lang="it-IT" sz="1800" dirty="0">
              <a:effectLst/>
              <a:latin typeface="Courier New" panose="02070309020205020404" pitchFamily="49" charset="0"/>
              <a:ea typeface="Times New Roman" panose="02020603050405020304" pitchFamily="18" charset="0"/>
            </a:endParaRPr>
          </a:p>
          <a:p>
            <a:r>
              <a:rPr lang="en-GB" sz="1800" dirty="0">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FinestraConBottone</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Frame finestra = new Frame("Titolo");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Button bottone = new Button("Cliccami");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finestra.add</a:t>
            </a:r>
            <a:r>
              <a:rPr lang="it-IT" sz="1800" dirty="0">
                <a:solidFill>
                  <a:srgbClr val="000000"/>
                </a:solidFill>
                <a:effectLst/>
                <a:latin typeface="Courier New" panose="02070309020205020404" pitchFamily="49" charset="0"/>
                <a:ea typeface="Times New Roman" panose="02020603050405020304" pitchFamily="18" charset="0"/>
              </a:rPr>
              <a:t>(bottone);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finestra.setSize</a:t>
            </a:r>
            <a:r>
              <a:rPr lang="it-IT" sz="1800" dirty="0">
                <a:solidFill>
                  <a:srgbClr val="000000"/>
                </a:solidFill>
                <a:effectLst/>
                <a:latin typeface="Courier New" panose="02070309020205020404" pitchFamily="49" charset="0"/>
                <a:ea typeface="Times New Roman" panose="02020603050405020304" pitchFamily="18" charset="0"/>
              </a:rPr>
              <a:t>(200,100);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finestra.setVisible</a:t>
            </a:r>
            <a:r>
              <a:rPr lang="it-IT" sz="1800" dirty="0">
                <a:solidFill>
                  <a:srgbClr val="000000"/>
                </a:solidFill>
                <a:effectLst/>
                <a:latin typeface="Courier New" panose="02070309020205020404" pitchFamily="49" charset="0"/>
                <a:ea typeface="Times New Roman" panose="02020603050405020304" pitchFamily="18" charset="0"/>
              </a:rPr>
              <a:t>(true);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Basta conoscere un po’ d’inglese per interpretare il significato di queste righe.</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La classe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FinestraConBottone</a:t>
            </a:r>
            <a:r>
              <a:rPr lang="it-IT" sz="1800" b="1" dirty="0">
                <a:solidFill>
                  <a:srgbClr val="000000"/>
                </a:solidFill>
                <a:effectLst/>
                <a:latin typeface="Times New Roman" panose="02020603050405020304" pitchFamily="18" charset="0"/>
                <a:ea typeface="Times New Roman" panose="02020603050405020304" pitchFamily="18" charset="0"/>
              </a:rPr>
              <a:t> è stata riportata a puro scopo dimostrativo. La pressione del bottone non provocherà nessuna azione, come nemmeno il tentativo di chiudere la finestra. Solo il ridimensionamento della finestra è permesso perché rientra nelle caratteristiche della classe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Frame</a:t>
            </a:r>
            <a:r>
              <a:rPr lang="it-IT" sz="1800" b="1" dirty="0">
                <a:solidFill>
                  <a:srgbClr val="000000"/>
                </a:solidFill>
                <a:effectLst/>
                <a:latin typeface="Times New Roman" panose="02020603050405020304" pitchFamily="18" charset="0"/>
                <a:ea typeface="Times New Roman" panose="02020603050405020304" pitchFamily="18" charset="0"/>
              </a:rPr>
              <a:t>. Quindi, per chiudere l’applicazione bisogna spostarsi sulla prompt DOS da dove la si è eseguita, e terminare il processo in esecuzione premendo contemporaneamente i tasti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CTRL</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a:t>
            </a:r>
            <a:r>
              <a:rPr lang="it-IT" sz="1800" b="1" dirty="0">
                <a:solidFill>
                  <a:srgbClr val="000000"/>
                </a:solidFill>
                <a:effectLst/>
                <a:latin typeface="Times New Roman" panose="02020603050405020304" pitchFamily="18" charset="0"/>
                <a:ea typeface="Times New Roman" panose="02020603050405020304" pitchFamily="18" charset="0"/>
              </a:rPr>
              <a:t>. Se lanciate il programma con EJE, premere il pulsante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Interrompi processo</a:t>
            </a:r>
            <a:r>
              <a:rPr lang="it-IT" sz="1800" b="1" dirty="0">
                <a:solidFill>
                  <a:srgbClr val="000000"/>
                </a:solidFill>
                <a:effectLst/>
                <a:latin typeface="Times New Roman" panose="02020603050405020304" pitchFamily="18" charset="0"/>
                <a:ea typeface="Times New Roman" panose="02020603050405020304" pitchFamily="18" charset="0"/>
              </a:rPr>
              <a:t> (o premere il tasto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ESC</a:t>
            </a:r>
            <a:r>
              <a:rPr lang="it-IT" sz="1800" b="1" dirty="0">
                <a:solidFill>
                  <a:srgbClr val="000000"/>
                </a:solidFill>
                <a:effectLst/>
                <a:latin typeface="Times New Roman" panose="02020603050405020304" pitchFamily="18" charset="0"/>
                <a:ea typeface="Times New Roman" panose="02020603050405020304" pitchFamily="18" charset="0"/>
              </a:rPr>
              <a:t>). Un'altra soluzione è bloccare il processo Java direttamente dal task manager di Windows.</a:t>
            </a:r>
            <a:br>
              <a:rPr lang="it-IT" sz="1800" b="1" dirty="0">
                <a:solidFill>
                  <a:srgbClr val="000000"/>
                </a:solidFill>
                <a:effectLst/>
                <a:latin typeface="Times New Roman" panose="02020603050405020304" pitchFamily="18" charset="0"/>
                <a:ea typeface="Times New Roman" panose="02020603050405020304" pitchFamily="18" charset="0"/>
              </a:rPr>
            </a:br>
            <a:r>
              <a:rPr lang="it-IT" sz="1800" b="1" dirty="0">
                <a:solidFill>
                  <a:srgbClr val="000000"/>
                </a:solidFill>
                <a:effectLst/>
                <a:latin typeface="Times New Roman" panose="02020603050405020304" pitchFamily="18" charset="0"/>
                <a:ea typeface="Times New Roman" panose="02020603050405020304" pitchFamily="18" charset="0"/>
              </a:rPr>
              <a:t>Anche se l’argomento vi ha incuriosito, il consiglio è di non perdere tempo nel creare interfacce grafiche inutili ed inutilizzabili: bisogna prima imparare Java! Alle interfacce grafiche sono comunque dedicati specifici capitoli di approfondimento.</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935842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visto che il tipo primitivo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permette di immagazzinare un carattere alla volta. In un tipo stringa è invece possibile immagazzinare un testo composto da caratteri, numeri e simboli. Nei nostri programmi utilizzeremo quasi sempre le stringhe e molto più raramente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è la classe indubbiamente più utilizzata nella programmazione Java. Si i tratta evidentemente una classe speciale, non solo per la sua frequenza di utilizzo, ma anche altre caratteristiche.</a:t>
            </a:r>
          </a:p>
          <a:p>
            <a:pPr marL="548640" indent="-548640">
              <a:spcBef>
                <a:spcPts val="1200"/>
              </a:spcBef>
              <a:spcAft>
                <a:spcPts val="300"/>
              </a:spcAft>
              <a:tabLst>
                <a:tab pos="228600" algn="l"/>
              </a:tabLst>
            </a:pPr>
            <a:r>
              <a:rPr lang="it-IT" sz="1800" b="1" dirty="0">
                <a:effectLst/>
                <a:latin typeface="Arial" panose="020B0604020202020204" pitchFamily="34" charset="0"/>
              </a:rPr>
              <a:t>3.5.2.1 Istanziare una stringa</a:t>
            </a:r>
          </a:p>
          <a:p>
            <a:r>
              <a:rPr lang="it-IT" sz="1800" dirty="0">
                <a:effectLst/>
                <a:latin typeface="Times New Roman" panose="02020603050405020304" pitchFamily="18" charset="0"/>
                <a:ea typeface="Times New Roman" panose="02020603050405020304" pitchFamily="18" charset="0"/>
              </a:rPr>
              <a:t>In Java le stringhe sono oggetti, e in quanto oggetti dovrebbero essere istanziate con la solita sintassi tramite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Per esempio, con la seguente istruzione: </a:t>
            </a:r>
          </a:p>
          <a:p>
            <a:r>
              <a:rPr lang="it-IT" sz="1800" dirty="0">
                <a:solidFill>
                  <a:srgbClr val="000000"/>
                </a:solidFill>
                <a:effectLst/>
                <a:latin typeface="Courier New" panose="02070309020205020404" pitchFamily="49" charset="0"/>
                <a:ea typeface="Times New Roman" panose="02020603050405020304" pitchFamily="18" charset="0"/>
              </a:rPr>
              <a:t>String nome = new String("Salvatore Quasimodo");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istanziamo l’oggetto sfruttando il concetto di costruttore. </a:t>
            </a:r>
          </a:p>
          <a:p>
            <a:r>
              <a:rPr lang="it-IT" sz="1800" dirty="0">
                <a:effectLst/>
                <a:latin typeface="Times New Roman" panose="02020603050405020304" pitchFamily="18" charset="0"/>
                <a:ea typeface="Times New Roman" panose="02020603050405020304" pitchFamily="18" charset="0"/>
              </a:rPr>
              <a:t>Java però, come spesso accade, semplifica la vita del programmatore permettendogli di utilizzare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come se fosse un tipo di dato primitivo. Per esempio:</a:t>
            </a:r>
          </a:p>
          <a:p>
            <a:r>
              <a:rPr lang="it-IT" sz="1800" dirty="0">
                <a:solidFill>
                  <a:srgbClr val="000000"/>
                </a:solidFill>
                <a:effectLst/>
                <a:latin typeface="Courier New" panose="02070309020205020404" pitchFamily="49" charset="0"/>
                <a:ea typeface="Times New Roman" panose="02020603050405020304" pitchFamily="18" charset="0"/>
              </a:rPr>
              <a:t>String nome = "Salvatore Quasimodo";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equivalente a scrivere:</a:t>
            </a:r>
          </a:p>
          <a:p>
            <a:r>
              <a:rPr lang="it-IT" sz="1800" dirty="0">
                <a:solidFill>
                  <a:srgbClr val="000000"/>
                </a:solidFill>
                <a:effectLst/>
                <a:latin typeface="Courier New" panose="02070309020205020404" pitchFamily="49" charset="0"/>
                <a:ea typeface="Times New Roman" panose="02020603050405020304" pitchFamily="18" charset="0"/>
              </a:rPr>
              <a:t>String nome = new String("Salvatore Quasimodo");</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In realtà c’è una differenza sottile tra le precedenti linee di codice, ma ne parleremo più avanti. In qualsiasi caso possiamo apprezzare quest’altra semplificazione che ci offre Java. Il fatto che sia consentito utilizzare una classe così importante come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b="1" dirty="0">
                <a:solidFill>
                  <a:srgbClr val="000000"/>
                </a:solidFill>
                <a:effectLst/>
                <a:latin typeface="Times New Roman" panose="02020603050405020304" pitchFamily="18" charset="0"/>
                <a:ea typeface="Times New Roman" panose="02020603050405020304" pitchFamily="18" charset="0"/>
              </a:rPr>
              <a:t>, come se fosse un tipo di dato primitivo, ci ha permesso d’approcciare ai primi esempi di codice senza l’ulteriore difficoltà di capire come funziona un costruttore.</a:t>
            </a:r>
          </a:p>
          <a:p>
            <a:pPr marL="548640" indent="-548640">
              <a:spcBef>
                <a:spcPts val="1200"/>
              </a:spcBef>
              <a:spcAft>
                <a:spcPts val="300"/>
              </a:spcAft>
              <a:tabLst>
                <a:tab pos="228600" algn="l"/>
              </a:tabLst>
            </a:pPr>
            <a:r>
              <a:rPr lang="it-IT" sz="1800" b="1" dirty="0">
                <a:effectLst/>
                <a:latin typeface="Arial" panose="020B0604020202020204" pitchFamily="34" charset="0"/>
              </a:rPr>
              <a:t>Operazioni con le stringhe</a:t>
            </a:r>
          </a:p>
          <a:p>
            <a:r>
              <a:rPr lang="it-IT" sz="1800" dirty="0">
                <a:effectLst/>
                <a:latin typeface="Times New Roman" panose="02020603050405020304" pitchFamily="18" charset="0"/>
                <a:ea typeface="Times New Roman" panose="02020603050405020304" pitchFamily="18" charset="0"/>
              </a:rPr>
              <a:t>Il fatto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sia una classe, ci garantisce la possibilità di poter usufruire di una serie di metodi di utilità, semplici da utilizzare e sempre disponibili, per compiere operazioni con le stringhe. Per esempio,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a:t>
            </a:r>
            <a:r>
              <a:rPr lang="it-IT" sz="1800" dirty="0">
                <a:effectLst/>
                <a:latin typeface="Times New Roman" panose="02020603050405020304" pitchFamily="18" charset="0"/>
                <a:ea typeface="Times New Roman" panose="02020603050405020304" pitchFamily="18" charset="0"/>
              </a:rPr>
              <a:t>, ci permette di recuperare un carattere della stringa ad un certo indice specificato (gli indici iniziano da 0 e non da 1). Infatti l’output del seguente snippet:</a:t>
            </a:r>
          </a:p>
          <a:p>
            <a:r>
              <a:rPr lang="en-US" sz="1800" dirty="0">
                <a:solidFill>
                  <a:srgbClr val="000000"/>
                </a:solidFill>
                <a:effectLst/>
                <a:latin typeface="Courier New" panose="02070309020205020404" pitchFamily="49" charset="0"/>
                <a:ea typeface="Times New Roman" panose="02020603050405020304" pitchFamily="18" charset="0"/>
              </a:rPr>
              <a:t>String java = "Java";</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char charAt2 = </a:t>
            </a:r>
            <a:r>
              <a:rPr lang="en-US" sz="1800" dirty="0" err="1">
                <a:solidFill>
                  <a:srgbClr val="000000"/>
                </a:solidFill>
                <a:effectLst/>
                <a:latin typeface="Courier New" panose="02070309020205020404" pitchFamily="49" charset="0"/>
                <a:ea typeface="Times New Roman" panose="02020603050405020304" pitchFamily="18" charset="0"/>
              </a:rPr>
              <a:t>java.charAt</a:t>
            </a:r>
            <a:r>
              <a:rPr lang="en-US" sz="1800" dirty="0">
                <a:solidFill>
                  <a:srgbClr val="000000"/>
                </a:solidFill>
                <a:effectLst/>
                <a:latin typeface="Courier New" panose="02070309020205020404" pitchFamily="49" charset="0"/>
                <a:ea typeface="Times New Roman" panose="02020603050405020304" pitchFamily="18" charset="0"/>
              </a:rPr>
              <a:t>(2);</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System.out.println(charAt2);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a:t>
            </a:r>
          </a:p>
          <a:p>
            <a:r>
              <a:rPr lang="it-IT" sz="1800" dirty="0">
                <a:solidFill>
                  <a:srgbClr val="FFFFFF"/>
                </a:solidFill>
                <a:effectLst/>
                <a:latin typeface="Courier New" panose="02070309020205020404" pitchFamily="49" charset="0"/>
                <a:ea typeface="MS Mincho" panose="02020609040205080304" pitchFamily="49" charset="-128"/>
              </a:rPr>
              <a:t>v</a:t>
            </a:r>
          </a:p>
          <a:p>
            <a:r>
              <a:rPr lang="it-IT" sz="1800" dirty="0">
                <a:effectLst/>
                <a:latin typeface="Times New Roman" panose="02020603050405020304" pitchFamily="18" charset="0"/>
                <a:ea typeface="Times New Roman" panose="02020603050405020304" pitchFamily="18" charset="0"/>
              </a:rPr>
              <a:t>Inversamente,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indexOf</a:t>
            </a:r>
            <a:r>
              <a:rPr lang="it-IT" sz="1800" dirty="0">
                <a:effectLst/>
                <a:latin typeface="Times New Roman" panose="02020603050405020304" pitchFamily="18" charset="0"/>
                <a:ea typeface="Times New Roman" panose="02020603050405020304" pitchFamily="18" charset="0"/>
              </a:rPr>
              <a:t> permette di recuperare l’indice della prima occorrenza di un certo carattere specificato. Per esempio, lanciando il seguente snippet:</a:t>
            </a:r>
          </a:p>
          <a:p>
            <a:r>
              <a:rPr lang="en-US" sz="1800" dirty="0">
                <a:solidFill>
                  <a:srgbClr val="000000"/>
                </a:solidFill>
                <a:effectLst/>
                <a:latin typeface="Courier New" panose="02070309020205020404" pitchFamily="49" charset="0"/>
                <a:ea typeface="Times New Roman" panose="02020603050405020304" pitchFamily="18" charset="0"/>
              </a:rPr>
              <a:t>int </a:t>
            </a:r>
            <a:r>
              <a:rPr lang="en-US" sz="1800" dirty="0" err="1">
                <a:solidFill>
                  <a:srgbClr val="000000"/>
                </a:solidFill>
                <a:effectLst/>
                <a:latin typeface="Courier New" panose="02070309020205020404" pitchFamily="49" charset="0"/>
                <a:ea typeface="Times New Roman" panose="02020603050405020304" pitchFamily="18" charset="0"/>
              </a:rPr>
              <a:t>indexOfA</a:t>
            </a:r>
            <a:r>
              <a:rPr lang="en-US" sz="1800" dirty="0">
                <a:solidFill>
                  <a:srgbClr val="000000"/>
                </a:solidFill>
                <a:effectLst/>
                <a:latin typeface="Courier New" panose="02070309020205020404" pitchFamily="49" charset="0"/>
                <a:ea typeface="Times New Roman" panose="02020603050405020304" pitchFamily="18" charset="0"/>
              </a:rPr>
              <a:t> = </a:t>
            </a:r>
            <a:r>
              <a:rPr lang="en-US" sz="1800" dirty="0" err="1">
                <a:solidFill>
                  <a:srgbClr val="000000"/>
                </a:solidFill>
                <a:effectLst/>
                <a:latin typeface="Courier New" panose="02070309020205020404" pitchFamily="49" charset="0"/>
                <a:ea typeface="Times New Roman" panose="02020603050405020304" pitchFamily="18" charset="0"/>
              </a:rPr>
              <a:t>java.indexOf</a:t>
            </a:r>
            <a:r>
              <a:rPr lang="en-US" sz="1800" dirty="0">
                <a:solidFill>
                  <a:srgbClr val="000000"/>
                </a:solidFill>
                <a:effectLst/>
                <a:latin typeface="Courier New" panose="02070309020205020404" pitchFamily="49" charset="0"/>
                <a:ea typeface="Times New Roman" panose="02020603050405020304" pitchFamily="18" charset="0"/>
              </a:rPr>
              <a:t>("a");</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System.out.println(</a:t>
            </a:r>
            <a:r>
              <a:rPr lang="en-US" sz="1800" dirty="0" err="1">
                <a:solidFill>
                  <a:srgbClr val="000000"/>
                </a:solidFill>
                <a:effectLst/>
                <a:latin typeface="Courier New" panose="02070309020205020404" pitchFamily="49" charset="0"/>
                <a:ea typeface="Times New Roman" panose="02020603050405020304" pitchFamily="18" charset="0"/>
              </a:rPr>
              <a:t>indexOfA</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err="1">
                <a:effectLst/>
                <a:latin typeface="Times New Roman" panose="02020603050405020304" pitchFamily="18" charset="0"/>
                <a:ea typeface="Times New Roman" panose="02020603050405020304" pitchFamily="18" charset="0"/>
              </a:rPr>
              <a:t>otterremo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l’output</a:t>
            </a:r>
            <a:r>
              <a:rPr lang="en-US" sz="1800" dirty="0">
                <a:effectLst/>
                <a:latin typeface="Times New Roman" panose="02020603050405020304" pitchFamily="18" charset="0"/>
                <a:ea typeface="Times New Roman" panose="02020603050405020304" pitchFamily="18" charset="0"/>
              </a:rPr>
              <a:t>:</a:t>
            </a:r>
            <a:endParaRPr lang="it-IT" sz="1800" dirty="0">
              <a:effectLst/>
              <a:latin typeface="Times New Roman" panose="02020603050405020304" pitchFamily="18" charset="0"/>
              <a:ea typeface="Times New Roman" panose="02020603050405020304" pitchFamily="18" charset="0"/>
            </a:endParaRPr>
          </a:p>
          <a:p>
            <a:r>
              <a:rPr lang="it-IT" sz="1800" dirty="0">
                <a:solidFill>
                  <a:srgbClr val="FFFFFF"/>
                </a:solidFill>
                <a:effectLst/>
                <a:latin typeface="Courier New" panose="02070309020205020404" pitchFamily="49" charset="0"/>
                <a:ea typeface="MS Mincho" panose="02020609040205080304" pitchFamily="49" charset="-128"/>
              </a:rPr>
              <a:t>1</a:t>
            </a:r>
          </a:p>
          <a:p>
            <a:r>
              <a:rPr lang="it-IT" sz="1800" dirty="0">
                <a:effectLst/>
                <a:latin typeface="Times New Roman" panose="02020603050405020304" pitchFamily="18" charset="0"/>
                <a:ea typeface="Times New Roman" panose="02020603050405020304" pitchFamily="18" charset="0"/>
              </a:rPr>
              <a:t>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length</a:t>
            </a:r>
            <a:r>
              <a:rPr lang="it-IT" sz="1800" dirty="0">
                <a:effectLst/>
                <a:latin typeface="Times New Roman" panose="02020603050405020304" pitchFamily="18" charset="0"/>
                <a:ea typeface="Times New Roman" panose="02020603050405020304" pitchFamily="18" charset="0"/>
              </a:rPr>
              <a:t> invece, restituisce il numero dei caratteri che costituiscono la stringa su cui è chiamato il metodo. Per esempio, l’output del seguente snippet: </a:t>
            </a:r>
          </a:p>
          <a:p>
            <a:r>
              <a:rPr lang="it-IT" sz="1800" dirty="0">
                <a:solidFill>
                  <a:srgbClr val="000000"/>
                </a:solidFill>
                <a:effectLst/>
                <a:latin typeface="Courier New" panose="02070309020205020404" pitchFamily="49" charset="0"/>
                <a:ea typeface="Times New Roman" panose="02020603050405020304" pitchFamily="18" charset="0"/>
              </a:rPr>
              <a:t>int lunghezza = </a:t>
            </a:r>
            <a:r>
              <a:rPr lang="it-IT" sz="1800" dirty="0" err="1">
                <a:solidFill>
                  <a:srgbClr val="000000"/>
                </a:solidFill>
                <a:effectLst/>
                <a:latin typeface="Courier New" panose="02070309020205020404" pitchFamily="49" charset="0"/>
                <a:ea typeface="Times New Roman" panose="02020603050405020304" pitchFamily="18" charset="0"/>
              </a:rPr>
              <a:t>java.length</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System.out.println(lunghezza);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sarà:</a:t>
            </a:r>
          </a:p>
          <a:p>
            <a:r>
              <a:rPr lang="it-IT" sz="1800" dirty="0">
                <a:solidFill>
                  <a:srgbClr val="FFFFFF"/>
                </a:solidFill>
                <a:effectLst/>
                <a:latin typeface="Courier New" panose="02070309020205020404" pitchFamily="49" charset="0"/>
                <a:ea typeface="MS Mincho" panose="02020609040205080304" pitchFamily="49" charset="-128"/>
              </a:rPr>
              <a:t>4</a:t>
            </a:r>
          </a:p>
          <a:p>
            <a:r>
              <a:rPr lang="it-IT" sz="1800" dirty="0">
                <a:effectLst/>
                <a:latin typeface="Times New Roman" panose="02020603050405020304" pitchFamily="18" charset="0"/>
                <a:ea typeface="Times New Roman" panose="02020603050405020304" pitchFamily="18" charset="0"/>
              </a:rPr>
              <a:t>Esistono tanti metodi definiti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ma nessuno di essi può modificare un 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a:t>
            </a:r>
          </a:p>
          <a:p>
            <a:pPr marL="914400"/>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834117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visto che il tipo primitivo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permette di immagazzinare un carattere alla volta. In un tipo stringa è invece possibile immagazzinare un testo composto da caratteri, numeri e simboli. Nei nostri programmi utilizzeremo quasi sempre le stringhe e molto più raramente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è la classe indubbiamente più utilizzata nella programmazione Java. Si i tratta evidentemente una classe speciale, non solo per la sua frequenza di utilizzo, ma anche altre caratteristiche.</a:t>
            </a:r>
          </a:p>
          <a:p>
            <a:pPr marL="548640" indent="-548640">
              <a:spcBef>
                <a:spcPts val="1200"/>
              </a:spcBef>
              <a:spcAft>
                <a:spcPts val="300"/>
              </a:spcAft>
              <a:tabLst>
                <a:tab pos="228600" algn="l"/>
              </a:tabLst>
            </a:pPr>
            <a:r>
              <a:rPr lang="it-IT" sz="1800" b="1" dirty="0">
                <a:effectLst/>
                <a:latin typeface="Arial" panose="020B0604020202020204" pitchFamily="34" charset="0"/>
              </a:rPr>
              <a:t>3.5.2.1 Istanziare una stringa</a:t>
            </a:r>
          </a:p>
          <a:p>
            <a:r>
              <a:rPr lang="it-IT" sz="1800" dirty="0">
                <a:effectLst/>
                <a:latin typeface="Times New Roman" panose="02020603050405020304" pitchFamily="18" charset="0"/>
                <a:ea typeface="Times New Roman" panose="02020603050405020304" pitchFamily="18" charset="0"/>
              </a:rPr>
              <a:t>In Java le stringhe sono oggetti, e in quanto oggetti dovrebbero essere istanziate con la solita sintassi tramite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Per esempio, con la seguente istruzione: </a:t>
            </a:r>
          </a:p>
          <a:p>
            <a:r>
              <a:rPr lang="it-IT" sz="1800" dirty="0">
                <a:solidFill>
                  <a:srgbClr val="000000"/>
                </a:solidFill>
                <a:effectLst/>
                <a:latin typeface="Courier New" panose="02070309020205020404" pitchFamily="49" charset="0"/>
                <a:ea typeface="Times New Roman" panose="02020603050405020304" pitchFamily="18" charset="0"/>
              </a:rPr>
              <a:t>String nome = new String("Salvatore Quasimodo");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istanziamo l’oggetto sfruttando il concetto di costruttore. </a:t>
            </a:r>
          </a:p>
          <a:p>
            <a:r>
              <a:rPr lang="it-IT" sz="1800" dirty="0">
                <a:effectLst/>
                <a:latin typeface="Times New Roman" panose="02020603050405020304" pitchFamily="18" charset="0"/>
                <a:ea typeface="Times New Roman" panose="02020603050405020304" pitchFamily="18" charset="0"/>
              </a:rPr>
              <a:t>Java però, come spesso accade, semplifica la vita del programmatore permettendogli di utilizzare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come se fosse un tipo di dato primitivo. Per esempio:</a:t>
            </a:r>
          </a:p>
          <a:p>
            <a:r>
              <a:rPr lang="it-IT" sz="1800" dirty="0">
                <a:solidFill>
                  <a:srgbClr val="000000"/>
                </a:solidFill>
                <a:effectLst/>
                <a:latin typeface="Courier New" panose="02070309020205020404" pitchFamily="49" charset="0"/>
                <a:ea typeface="Times New Roman" panose="02020603050405020304" pitchFamily="18" charset="0"/>
              </a:rPr>
              <a:t>String nome = "Salvatore Quasimodo";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equivalente a scrivere:</a:t>
            </a:r>
          </a:p>
          <a:p>
            <a:r>
              <a:rPr lang="it-IT" sz="1800" dirty="0">
                <a:solidFill>
                  <a:srgbClr val="000000"/>
                </a:solidFill>
                <a:effectLst/>
                <a:latin typeface="Courier New" panose="02070309020205020404" pitchFamily="49" charset="0"/>
                <a:ea typeface="Times New Roman" panose="02020603050405020304" pitchFamily="18" charset="0"/>
              </a:rPr>
              <a:t>String nome = new String("Salvatore Quasimodo");</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In realtà c’è una differenza sottile tra le precedenti linee di codice, ma ne parleremo più avanti. In qualsiasi caso possiamo apprezzare quest’altra semplificazione che ci offre Java. Il fatto che sia consentito utilizzare una classe così importante come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b="1" dirty="0">
                <a:solidFill>
                  <a:srgbClr val="000000"/>
                </a:solidFill>
                <a:effectLst/>
                <a:latin typeface="Times New Roman" panose="02020603050405020304" pitchFamily="18" charset="0"/>
                <a:ea typeface="Times New Roman" panose="02020603050405020304" pitchFamily="18" charset="0"/>
              </a:rPr>
              <a:t>, come se fosse un tipo di dato primitivo, ci ha permesso d’approcciare ai primi esempi di codice senza l’ulteriore difficoltà di capire come funziona un costruttore.</a:t>
            </a:r>
          </a:p>
          <a:p>
            <a:pPr marL="548640" indent="-548640">
              <a:spcBef>
                <a:spcPts val="1200"/>
              </a:spcBef>
              <a:spcAft>
                <a:spcPts val="300"/>
              </a:spcAft>
              <a:tabLst>
                <a:tab pos="228600" algn="l"/>
              </a:tabLst>
            </a:pPr>
            <a:r>
              <a:rPr lang="it-IT" sz="1800" b="1" dirty="0">
                <a:effectLst/>
                <a:latin typeface="Arial" panose="020B0604020202020204" pitchFamily="34" charset="0"/>
              </a:rPr>
              <a:t>Operazioni con le stringhe</a:t>
            </a:r>
          </a:p>
          <a:p>
            <a:r>
              <a:rPr lang="it-IT" sz="1800" dirty="0">
                <a:effectLst/>
                <a:latin typeface="Times New Roman" panose="02020603050405020304" pitchFamily="18" charset="0"/>
                <a:ea typeface="Times New Roman" panose="02020603050405020304" pitchFamily="18" charset="0"/>
              </a:rPr>
              <a:t>Il fatto 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sia una classe, ci garantisce la possibilità di poter usufruire di una serie di metodi di utilità, semplici da utilizzare e sempre disponibili, per compiere operazioni con le stringhe. Per esempio,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a:t>
            </a:r>
            <a:r>
              <a:rPr lang="it-IT" sz="1800" dirty="0">
                <a:effectLst/>
                <a:latin typeface="Times New Roman" panose="02020603050405020304" pitchFamily="18" charset="0"/>
                <a:ea typeface="Times New Roman" panose="02020603050405020304" pitchFamily="18" charset="0"/>
              </a:rPr>
              <a:t>, ci permette di recuperare un carattere della stringa ad un certo indice specificato (gli indici iniziano da 0 e non da 1). Infatti l’output del seguente snippet:</a:t>
            </a:r>
          </a:p>
          <a:p>
            <a:r>
              <a:rPr lang="en-US" sz="1800" dirty="0">
                <a:solidFill>
                  <a:srgbClr val="000000"/>
                </a:solidFill>
                <a:effectLst/>
                <a:latin typeface="Courier New" panose="02070309020205020404" pitchFamily="49" charset="0"/>
                <a:ea typeface="Times New Roman" panose="02020603050405020304" pitchFamily="18" charset="0"/>
              </a:rPr>
              <a:t>String java = "Java";</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char charAt2 = </a:t>
            </a:r>
            <a:r>
              <a:rPr lang="en-US" sz="1800" dirty="0" err="1">
                <a:solidFill>
                  <a:srgbClr val="000000"/>
                </a:solidFill>
                <a:effectLst/>
                <a:latin typeface="Courier New" panose="02070309020205020404" pitchFamily="49" charset="0"/>
                <a:ea typeface="Times New Roman" panose="02020603050405020304" pitchFamily="18" charset="0"/>
              </a:rPr>
              <a:t>java.charAt</a:t>
            </a:r>
            <a:r>
              <a:rPr lang="en-US" sz="1800" dirty="0">
                <a:solidFill>
                  <a:srgbClr val="000000"/>
                </a:solidFill>
                <a:effectLst/>
                <a:latin typeface="Courier New" panose="02070309020205020404" pitchFamily="49" charset="0"/>
                <a:ea typeface="Times New Roman" panose="02020603050405020304" pitchFamily="18" charset="0"/>
              </a:rPr>
              <a:t>(2);</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System.out.println(charAt2);</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a:t>
            </a:r>
          </a:p>
          <a:p>
            <a:r>
              <a:rPr lang="it-IT" sz="1800" dirty="0">
                <a:solidFill>
                  <a:srgbClr val="FFFFFF"/>
                </a:solidFill>
                <a:effectLst/>
                <a:latin typeface="Courier New" panose="02070309020205020404" pitchFamily="49" charset="0"/>
                <a:ea typeface="MS Mincho" panose="02020609040205080304" pitchFamily="49" charset="-128"/>
              </a:rPr>
              <a:t>v</a:t>
            </a:r>
          </a:p>
          <a:p>
            <a:r>
              <a:rPr lang="it-IT" sz="1800" dirty="0">
                <a:effectLst/>
                <a:latin typeface="Times New Roman" panose="02020603050405020304" pitchFamily="18" charset="0"/>
                <a:ea typeface="Times New Roman" panose="02020603050405020304" pitchFamily="18" charset="0"/>
              </a:rPr>
              <a:t>Inversamente,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indexOf</a:t>
            </a:r>
            <a:r>
              <a:rPr lang="it-IT" sz="1800" dirty="0">
                <a:effectLst/>
                <a:latin typeface="Times New Roman" panose="02020603050405020304" pitchFamily="18" charset="0"/>
                <a:ea typeface="Times New Roman" panose="02020603050405020304" pitchFamily="18" charset="0"/>
              </a:rPr>
              <a:t> permette di recuperare l’indice della prima occorrenza di un certo carattere specificato. Per esempio, lanciando il seguente snippet:</a:t>
            </a:r>
          </a:p>
          <a:p>
            <a:r>
              <a:rPr lang="en-US" sz="1800" dirty="0">
                <a:solidFill>
                  <a:srgbClr val="000000"/>
                </a:solidFill>
                <a:effectLst/>
                <a:latin typeface="Courier New" panose="02070309020205020404" pitchFamily="49" charset="0"/>
                <a:ea typeface="Times New Roman" panose="02020603050405020304" pitchFamily="18" charset="0"/>
              </a:rPr>
              <a:t>int </a:t>
            </a:r>
            <a:r>
              <a:rPr lang="en-US" sz="1800" dirty="0" err="1">
                <a:solidFill>
                  <a:srgbClr val="000000"/>
                </a:solidFill>
                <a:effectLst/>
                <a:latin typeface="Courier New" panose="02070309020205020404" pitchFamily="49" charset="0"/>
                <a:ea typeface="Times New Roman" panose="02020603050405020304" pitchFamily="18" charset="0"/>
              </a:rPr>
              <a:t>indexOfA</a:t>
            </a:r>
            <a:r>
              <a:rPr lang="en-US" sz="1800" dirty="0">
                <a:solidFill>
                  <a:srgbClr val="000000"/>
                </a:solidFill>
                <a:effectLst/>
                <a:latin typeface="Courier New" panose="02070309020205020404" pitchFamily="49" charset="0"/>
                <a:ea typeface="Times New Roman" panose="02020603050405020304" pitchFamily="18" charset="0"/>
              </a:rPr>
              <a:t> = </a:t>
            </a:r>
            <a:r>
              <a:rPr lang="en-US" sz="1800" dirty="0" err="1">
                <a:solidFill>
                  <a:srgbClr val="000000"/>
                </a:solidFill>
                <a:effectLst/>
                <a:latin typeface="Courier New" panose="02070309020205020404" pitchFamily="49" charset="0"/>
                <a:ea typeface="Times New Roman" panose="02020603050405020304" pitchFamily="18" charset="0"/>
              </a:rPr>
              <a:t>java.indexOf</a:t>
            </a:r>
            <a:r>
              <a:rPr lang="en-US" sz="1800" dirty="0">
                <a:solidFill>
                  <a:srgbClr val="000000"/>
                </a:solidFill>
                <a:effectLst/>
                <a:latin typeface="Courier New" panose="02070309020205020404" pitchFamily="49" charset="0"/>
                <a:ea typeface="Times New Roman" panose="02020603050405020304" pitchFamily="18" charset="0"/>
              </a:rPr>
              <a:t>("a");</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System.out.println(</a:t>
            </a:r>
            <a:r>
              <a:rPr lang="en-US" sz="1800" dirty="0" err="1">
                <a:solidFill>
                  <a:srgbClr val="000000"/>
                </a:solidFill>
                <a:effectLst/>
                <a:latin typeface="Courier New" panose="02070309020205020404" pitchFamily="49" charset="0"/>
                <a:ea typeface="Times New Roman" panose="02020603050405020304" pitchFamily="18" charset="0"/>
              </a:rPr>
              <a:t>indexOfA</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err="1">
                <a:effectLst/>
                <a:latin typeface="Times New Roman" panose="02020603050405020304" pitchFamily="18" charset="0"/>
                <a:ea typeface="Times New Roman" panose="02020603050405020304" pitchFamily="18" charset="0"/>
              </a:rPr>
              <a:t>otterremo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l’output</a:t>
            </a:r>
            <a:r>
              <a:rPr lang="en-US" sz="1800" dirty="0">
                <a:effectLst/>
                <a:latin typeface="Times New Roman" panose="02020603050405020304" pitchFamily="18" charset="0"/>
                <a:ea typeface="Times New Roman" panose="02020603050405020304" pitchFamily="18" charset="0"/>
              </a:rPr>
              <a:t>:</a:t>
            </a:r>
            <a:endParaRPr lang="it-IT" sz="1800" dirty="0">
              <a:effectLst/>
              <a:latin typeface="Times New Roman" panose="02020603050405020304" pitchFamily="18" charset="0"/>
              <a:ea typeface="Times New Roman" panose="02020603050405020304" pitchFamily="18" charset="0"/>
            </a:endParaRPr>
          </a:p>
          <a:p>
            <a:r>
              <a:rPr lang="it-IT" sz="1800" dirty="0">
                <a:solidFill>
                  <a:srgbClr val="FFFFFF"/>
                </a:solidFill>
                <a:effectLst/>
                <a:latin typeface="Courier New" panose="02070309020205020404" pitchFamily="49" charset="0"/>
                <a:ea typeface="MS Mincho" panose="02020609040205080304" pitchFamily="49" charset="-128"/>
              </a:rPr>
              <a:t>1</a:t>
            </a:r>
          </a:p>
          <a:p>
            <a:r>
              <a:rPr lang="it-IT" sz="1800" dirty="0">
                <a:effectLst/>
                <a:latin typeface="Times New Roman" panose="02020603050405020304" pitchFamily="18" charset="0"/>
                <a:ea typeface="Times New Roman" panose="02020603050405020304" pitchFamily="18" charset="0"/>
              </a:rPr>
              <a:t>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length</a:t>
            </a:r>
            <a:r>
              <a:rPr lang="it-IT" sz="1800" dirty="0">
                <a:effectLst/>
                <a:latin typeface="Times New Roman" panose="02020603050405020304" pitchFamily="18" charset="0"/>
                <a:ea typeface="Times New Roman" panose="02020603050405020304" pitchFamily="18" charset="0"/>
              </a:rPr>
              <a:t> invece, restituisce il numero dei caratteri che costituiscono la stringa su cui è chiamato il metodo. Per esempio, l’output del seguente snippet: </a:t>
            </a:r>
          </a:p>
          <a:p>
            <a:r>
              <a:rPr lang="it-IT" sz="1800" dirty="0">
                <a:solidFill>
                  <a:srgbClr val="000000"/>
                </a:solidFill>
                <a:effectLst/>
                <a:latin typeface="Courier New" panose="02070309020205020404" pitchFamily="49" charset="0"/>
                <a:ea typeface="Times New Roman" panose="02020603050405020304" pitchFamily="18" charset="0"/>
              </a:rPr>
              <a:t>int lunghezza = </a:t>
            </a:r>
            <a:r>
              <a:rPr lang="it-IT" sz="1800" dirty="0" err="1">
                <a:solidFill>
                  <a:srgbClr val="000000"/>
                </a:solidFill>
                <a:effectLst/>
                <a:latin typeface="Courier New" panose="02070309020205020404" pitchFamily="49" charset="0"/>
                <a:ea typeface="Times New Roman" panose="02020603050405020304" pitchFamily="18" charset="0"/>
              </a:rPr>
              <a:t>java.length</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System.out.println(lunghezza);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sarà:</a:t>
            </a:r>
          </a:p>
          <a:p>
            <a:r>
              <a:rPr lang="it-IT" sz="1800" dirty="0">
                <a:solidFill>
                  <a:srgbClr val="FFFFFF"/>
                </a:solidFill>
                <a:effectLst/>
                <a:latin typeface="Courier New" panose="02070309020205020404" pitchFamily="49" charset="0"/>
                <a:ea typeface="MS Mincho" panose="02020609040205080304" pitchFamily="49" charset="-128"/>
              </a:rPr>
              <a:t>4</a:t>
            </a:r>
          </a:p>
          <a:p>
            <a:r>
              <a:rPr lang="it-IT" sz="1800" dirty="0">
                <a:effectLst/>
                <a:latin typeface="Times New Roman" panose="02020603050405020304" pitchFamily="18" charset="0"/>
                <a:ea typeface="Times New Roman" panose="02020603050405020304" pitchFamily="18" charset="0"/>
              </a:rPr>
              <a:t>Esistono tanti metodi definiti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ma nessuno di essi può modificare un 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dirty="0">
                <a:effectLst/>
                <a:latin typeface="Times New Roman" panose="02020603050405020304" pitchFamily="18" charset="0"/>
                <a:ea typeface="Times New Roman" panose="02020603050405020304" pitchFamily="18" charset="0"/>
              </a:rPr>
              <a:t>. </a:t>
            </a:r>
          </a:p>
          <a:p>
            <a:pPr marL="914400"/>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70028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Come abbiamo avuto più volte modo di sottolineare, i literal delle stringhe sono sempre compresi tra virgolette (doppi apici), diversamente dai literals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che sono sempre all’interno di apici singoli. Abbiamo anche già asserito nel paragrafo 3.3.5.3, che gli stessi caratteri di escape che abbiamo elencato per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possono essere utilizzati anche all’interno delle stringhe. Per i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abbiamo anche sottolineato come sia necessario utilizzare il carattere di escape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per rappresentare un apice singolo come literal. In pratica era necessario utilizzare la seguente sintassi:</a:t>
            </a:r>
          </a:p>
          <a:p>
            <a:r>
              <a:rPr lang="en-US" sz="1800" dirty="0">
                <a:solidFill>
                  <a:srgbClr val="000000"/>
                </a:solidFill>
                <a:effectLst/>
                <a:latin typeface="Courier New" panose="02070309020205020404" pitchFamily="49" charset="0"/>
                <a:ea typeface="Times New Roman" panose="02020603050405020304" pitchFamily="18" charset="0"/>
              </a:rPr>
              <a:t>char </a:t>
            </a:r>
            <a:r>
              <a:rPr lang="en-US" sz="1800" dirty="0" err="1">
                <a:solidFill>
                  <a:srgbClr val="000000"/>
                </a:solidFill>
                <a:effectLst/>
                <a:latin typeface="Courier New" panose="02070309020205020404" pitchFamily="49" charset="0"/>
                <a:ea typeface="Times New Roman" panose="02020603050405020304" pitchFamily="18" charset="0"/>
              </a:rPr>
              <a:t>apice</a:t>
            </a:r>
            <a:r>
              <a:rPr lang="en-US"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mentre non era necessario utilizzare caratteri di escape per rappresentare il simbolo di doppio apice. Quindi è valido scrivere:</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doppioApice</a:t>
            </a:r>
            <a:r>
              <a:rPr lang="it-IT" sz="1800" dirty="0">
                <a:solidFill>
                  <a:srgbClr val="000000"/>
                </a:solidFill>
                <a:effectLst/>
                <a:latin typeface="Courier New" panose="02070309020205020404" pitchFamily="49" charset="0"/>
                <a:ea typeface="Times New Roman" panose="02020603050405020304" pitchFamily="18" charset="0"/>
              </a:rPr>
              <a:t> =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Siccome i delimitatori per i literal delle stringhe sono rappresentati con i doppi apici, la situazione si capovolge: è possibile rappresentare apici singoli all’interno di una stringa. Per esempio:</a:t>
            </a:r>
          </a:p>
          <a:p>
            <a:r>
              <a:rPr lang="it-IT" sz="1800" dirty="0">
                <a:solidFill>
                  <a:srgbClr val="000000"/>
                </a:solidFill>
                <a:effectLst/>
                <a:latin typeface="Courier New" panose="02070309020205020404" pitchFamily="49" charset="0"/>
                <a:ea typeface="Times New Roman" panose="02020603050405020304" pitchFamily="18" charset="0"/>
              </a:rPr>
              <a:t>System.out.println("'IQ'");</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stamperà:</a:t>
            </a:r>
          </a:p>
          <a:p>
            <a:r>
              <a:rPr lang="it-IT" sz="1800" dirty="0">
                <a:solidFill>
                  <a:srgbClr val="FFFFFF"/>
                </a:solidFill>
                <a:effectLst/>
                <a:latin typeface="Courier New" panose="02070309020205020404" pitchFamily="49" charset="0"/>
                <a:ea typeface="MS Mincho" panose="02020609040205080304" pitchFamily="49" charset="-128"/>
              </a:rPr>
              <a:t>'IQ'</a:t>
            </a:r>
          </a:p>
          <a:p>
            <a:r>
              <a:rPr lang="it-IT" sz="1800" dirty="0">
                <a:effectLst/>
                <a:latin typeface="Times New Roman" panose="02020603050405020304" pitchFamily="18" charset="0"/>
                <a:ea typeface="Times New Roman" panose="02020603050405020304" pitchFamily="18" charset="0"/>
              </a:rPr>
              <a:t>Invece, bisogna utilizzare il carattere di escape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per utilizzare le virgolette all’interno di una stringa. Infatti la seguente istruzione:</a:t>
            </a:r>
          </a:p>
          <a:p>
            <a:r>
              <a:rPr lang="it-IT" sz="1800" dirty="0">
                <a:solidFill>
                  <a:srgbClr val="000000"/>
                </a:solidFill>
                <a:effectLst/>
                <a:latin typeface="Courier New" panose="02070309020205020404" pitchFamily="49" charset="0"/>
                <a:ea typeface="Times New Roman" panose="02020603050405020304" pitchFamily="18" charset="0"/>
              </a:rPr>
              <a:t>System.out.println(""IQ"");</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provocherà i seguenti errori di compilazione:</a:t>
            </a:r>
          </a:p>
          <a:p>
            <a:r>
              <a:rPr lang="en-GB" sz="1800" dirty="0">
                <a:solidFill>
                  <a:srgbClr val="FFFFFF"/>
                </a:solidFill>
                <a:effectLst/>
                <a:latin typeface="Courier New" panose="02070309020205020404" pitchFamily="49" charset="0"/>
                <a:ea typeface="MS Mincho" panose="02020609040205080304" pitchFamily="49" charset="-128"/>
              </a:rPr>
              <a:t>error: ')' expected</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System.out.println(""IQ"");</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error: ';' expected</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System.out.println(""IQ"");</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a:t>
            </a:r>
          </a:p>
          <a:p>
            <a:r>
              <a:rPr lang="it-IT" sz="1800" dirty="0">
                <a:solidFill>
                  <a:srgbClr val="FFFFFF"/>
                </a:solidFill>
                <a:effectLst/>
                <a:latin typeface="Courier New" panose="02070309020205020404" pitchFamily="49" charset="0"/>
                <a:ea typeface="MS Mincho" panose="02020609040205080304" pitchFamily="49" charset="-128"/>
              </a:rPr>
              <a:t>2 </a:t>
            </a:r>
            <a:r>
              <a:rPr lang="it-IT" sz="1800" dirty="0" err="1">
                <a:solidFill>
                  <a:srgbClr val="FFFFFF"/>
                </a:solidFill>
                <a:effectLst/>
                <a:latin typeface="Courier New" panose="02070309020205020404" pitchFamily="49" charset="0"/>
                <a:ea typeface="MS Mincho" panose="02020609040205080304" pitchFamily="49" charset="-128"/>
              </a:rPr>
              <a:t>errors</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La soluzione corretta è la seguente:</a:t>
            </a:r>
          </a:p>
          <a:p>
            <a:r>
              <a:rPr lang="it-IT" sz="1800" dirty="0">
                <a:solidFill>
                  <a:srgbClr val="000000"/>
                </a:solidFill>
                <a:effectLst/>
                <a:latin typeface="Courier New" panose="02070309020205020404" pitchFamily="49" charset="0"/>
                <a:ea typeface="Times New Roman" panose="02020603050405020304" pitchFamily="18" charset="0"/>
              </a:rPr>
              <a:t>System.out.println("\"IQ\"");</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stamperà:</a:t>
            </a:r>
          </a:p>
          <a:p>
            <a:r>
              <a:rPr lang="it-IT" sz="1800" dirty="0">
                <a:solidFill>
                  <a:srgbClr val="FFFFFF"/>
                </a:solidFill>
                <a:effectLst/>
                <a:latin typeface="Courier New" panose="02070309020205020404" pitchFamily="49" charset="0"/>
                <a:ea typeface="MS Mincho" panose="02020609040205080304" pitchFamily="49" charset="-128"/>
              </a:rPr>
              <a:t>"IQ"</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generale, se si prova a stampare un reference di una stringa che punta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800" dirty="0">
                <a:effectLst/>
                <a:latin typeface="Times New Roman" panose="02020603050405020304" pitchFamily="18" charset="0"/>
                <a:ea typeface="Times New Roman" panose="02020603050405020304" pitchFamily="18" charset="0"/>
              </a:rPr>
              <a:t>, sarà stampata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La classe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r>
              <a:rPr lang="it-IT" sz="1800" b="1" dirty="0">
                <a:solidFill>
                  <a:srgbClr val="000000"/>
                </a:solidFill>
                <a:effectLst/>
                <a:latin typeface="Times New Roman" panose="02020603050405020304" pitchFamily="18" charset="0"/>
                <a:ea typeface="Times New Roman" panose="02020603050405020304" pitchFamily="18" charset="0"/>
              </a:rPr>
              <a:t> verrà discussa in dettaglio nel capitolo dedicato alle librerie principali del linguaggio.</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890150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Purtroppo però, la situazione non è così semplice come sembra. Infatti l’esempio precedente riporta uno degli scenari più semplici. Con EJE, questo tipo di scenario viene coperto senza complicazioni, in quanto EJE gestirebbe per voi il posizionamento dei file e la creazione delle cartelle (a patto che i file </a:t>
            </a:r>
            <a:r>
              <a:rPr lang="it-IT" sz="1800" dirty="0">
                <a:effectLst/>
                <a:latin typeface="Arial" panose="020B0604020202020204" pitchFamily="34" charset="0"/>
                <a:ea typeface="Times New Roman" panose="02020603050405020304" pitchFamily="18" charset="0"/>
                <a:cs typeface="Arial" panose="020B0604020202020204" pitchFamily="34" charset="0"/>
              </a:rPr>
              <a:t>.java</a:t>
            </a:r>
            <a:r>
              <a:rPr lang="it-IT" sz="1800" dirty="0">
                <a:effectLst/>
                <a:latin typeface="Times New Roman" panose="02020603050405020304" pitchFamily="18" charset="0"/>
                <a:ea typeface="Times New Roman" panose="02020603050405020304" pitchFamily="18" charset="0"/>
              </a:rPr>
              <a:t> si trovino entrambi nella stessa cartella iniziale). Se invece provassimo a compilare con la prompt dei comandi, dovremmo utilizzare la seguente sintassi per eseguire la compilazione, dopo esserci posizionati nella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test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FFFFFF"/>
                </a:solidFill>
                <a:effectLst/>
                <a:latin typeface="Courier New" panose="02070309020205020404" pitchFamily="49" charset="0"/>
                <a:ea typeface="MS Mincho" panose="02020609040205080304" pitchFamily="49" charset="-128"/>
              </a:rPr>
              <a:t>javac -d . Punto.java TestPunto.java</a:t>
            </a:r>
          </a:p>
          <a:p>
            <a:r>
              <a:rPr lang="it-IT" sz="1800" dirty="0">
                <a:effectLst/>
                <a:latin typeface="Times New Roman" panose="02020603050405020304" pitchFamily="18" charset="0"/>
                <a:ea typeface="Times New Roman" panose="02020603050405020304" pitchFamily="18" charset="0"/>
              </a:rPr>
              <a:t>In questo modo, compileremmo entrambi i file contemporaneamente specificando di voler creare le directory (sinonimo di cartelle) con l’opzione </a:t>
            </a:r>
            <a:r>
              <a:rPr lang="it-IT" sz="1800" dirty="0">
                <a:effectLst/>
                <a:latin typeface="Arial" panose="020B0604020202020204" pitchFamily="34" charset="0"/>
                <a:ea typeface="Times New Roman" panose="02020603050405020304" pitchFamily="18" charset="0"/>
                <a:cs typeface="Arial" panose="020B0604020202020204" pitchFamily="34" charset="0"/>
              </a:rPr>
              <a:t>-d</a:t>
            </a:r>
            <a:r>
              <a:rPr lang="it-IT" sz="1800" dirty="0">
                <a:effectLst/>
                <a:latin typeface="Times New Roman" panose="02020603050405020304" pitchFamily="18" charset="0"/>
                <a:ea typeface="Times New Roman" panose="02020603050405020304" pitchFamily="18" charset="0"/>
              </a:rPr>
              <a:t> (abbreviativo di </a:t>
            </a:r>
            <a:r>
              <a:rPr lang="it-IT" sz="1800" dirty="0">
                <a:effectLst/>
                <a:latin typeface="Arial" panose="020B0604020202020204" pitchFamily="34" charset="0"/>
                <a:ea typeface="Times New Roman" panose="02020603050405020304" pitchFamily="18" charset="0"/>
                <a:cs typeface="Arial" panose="020B0604020202020204" pitchFamily="34" charset="0"/>
              </a:rPr>
              <a:t>-directory</a:t>
            </a:r>
            <a:r>
              <a:rPr lang="it-IT" sz="1800" dirty="0">
                <a:effectLst/>
                <a:latin typeface="Times New Roman" panose="02020603050405020304" pitchFamily="18" charset="0"/>
                <a:ea typeface="Times New Roman" panose="02020603050405020304" pitchFamily="18" charset="0"/>
              </a:rPr>
              <a:t>) e specificando che tali cartelle devono essere create a partire dalla cartella corrente (che nell’informatica viene individuata solitamente con il simbolo di “</a:t>
            </a:r>
            <a:r>
              <a:rPr lang="it-IT" sz="1800" dirty="0">
                <a:effectLst/>
                <a:latin typeface="Arial" panose="020B0604020202020204" pitchFamily="34" charset="0"/>
                <a:ea typeface="Times New Roman" panose="02020603050405020304" pitchFamily="18" charset="0"/>
                <a:cs typeface="Arial" panose="020B0604020202020204" pitchFamily="34"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eseguire il file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TestPunto</a:t>
            </a:r>
            <a:r>
              <a:rPr lang="it-IT" sz="1800" dirty="0">
                <a:effectLst/>
                <a:latin typeface="Times New Roman" panose="02020603050405020304" pitchFamily="18" charset="0"/>
                <a:ea typeface="Times New Roman" panose="02020603050405020304" pitchFamily="18" charset="0"/>
              </a:rPr>
              <a:t> invece, sempre dalla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test</a:t>
            </a:r>
            <a:r>
              <a:rPr lang="it-IT" sz="1800" dirty="0">
                <a:effectLst/>
                <a:latin typeface="Times New Roman" panose="02020603050405020304" pitchFamily="18" charset="0"/>
                <a:ea typeface="Times New Roman" panose="02020603050405020304" pitchFamily="18" charset="0"/>
              </a:rPr>
              <a:t> dovremmo lanciare il comando:</a:t>
            </a:r>
          </a:p>
          <a:p>
            <a:r>
              <a:rPr lang="it-IT" sz="1800" dirty="0">
                <a:solidFill>
                  <a:srgbClr val="FFFFFF"/>
                </a:solidFill>
                <a:effectLst/>
                <a:latin typeface="Courier New" panose="02070309020205020404" pitchFamily="49" charset="0"/>
                <a:ea typeface="MS Mincho" panose="02020609040205080304" pitchFamily="49" charset="-128"/>
              </a:rPr>
              <a:t>java </a:t>
            </a:r>
            <a:r>
              <a:rPr lang="it-IT" sz="1800" dirty="0" err="1">
                <a:solidFill>
                  <a:srgbClr val="FFFFFF"/>
                </a:solidFill>
                <a:effectLst/>
                <a:latin typeface="Courier New" panose="02070309020205020404" pitchFamily="49" charset="0"/>
                <a:ea typeface="MS Mincho" panose="02020609040205080304" pitchFamily="49" charset="-128"/>
              </a:rPr>
              <a:t>studio.matematica.geometria.test.TestPunto</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ovvero dovrete anteporre al nome della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TestPunto</a:t>
            </a:r>
            <a:r>
              <a:rPr lang="it-IT" sz="1800" dirty="0">
                <a:effectLst/>
                <a:latin typeface="Times New Roman" panose="02020603050405020304" pitchFamily="18" charset="0"/>
                <a:ea typeface="Times New Roman" panose="02020603050405020304" pitchFamily="18" charset="0"/>
              </a:rPr>
              <a:t>, la dichiarazione del suo package per indicare dove si trova il bytecode alla Java Virtual Machine. Questa versione lunga del nome della classe è detta </a:t>
            </a:r>
            <a:r>
              <a:rPr lang="it-IT" sz="1800" b="1" dirty="0">
                <a:effectLst/>
                <a:latin typeface="Times New Roman" panose="02020603050405020304" pitchFamily="18" charset="0"/>
                <a:ea typeface="Times New Roman" panose="02020603050405020304" pitchFamily="18" charset="0"/>
              </a:rPr>
              <a:t>fully-qualified name</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Altri scenari che prevedono il posizionamento dei file sorgente in cartelle diverse, richiedono ulteriori accorgimenti (spiegati in dettaglio nel capitolo 5) che potrebbero far diventare l’apprendimento di Java un vero e proprio incubo per il neofita. La soluzione è offerta dagli IDE, che gestiscono automaticamente il posizionamento dei file sorgente e dei file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esonerando il programmatore dal compito di preoccuparsi del posizionamento dei file. </a:t>
            </a:r>
          </a:p>
          <a:p>
            <a:r>
              <a:rPr lang="it-IT" sz="1800" dirty="0">
                <a:effectLst/>
                <a:latin typeface="Times New Roman" panose="02020603050405020304" pitchFamily="18" charset="0"/>
                <a:ea typeface="Times New Roman" panose="02020603050405020304" pitchFamily="18" charset="0"/>
              </a:rPr>
              <a:t>Giacché il concetto di package non è essenziale al fine di approcciare correttamente al linguaggio, è stato scelto di rimandare al capitolo 5 la trattazione dettagliata di questo argomento. Fino a quel momento non dichiareremo più package nei nostri esempi e nei nostri esercizi.</a:t>
            </a:r>
          </a:p>
        </p:txBody>
      </p:sp>
    </p:spTree>
    <p:extLst>
      <p:ext uri="{BB962C8B-B14F-4D97-AF65-F5344CB8AC3E}">
        <p14:creationId xmlns:p14="http://schemas.microsoft.com/office/powerpoint/2010/main" val="19119218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200" dirty="0">
                <a:effectLst/>
                <a:latin typeface="Times New Roman" panose="02020603050405020304" pitchFamily="18" charset="0"/>
                <a:ea typeface="Times New Roman" panose="02020603050405020304" pitchFamily="18" charset="0"/>
              </a:rPr>
              <a:t>Un </a:t>
            </a:r>
            <a:r>
              <a:rPr lang="it-IT" sz="1200" b="1" dirty="0">
                <a:effectLst/>
                <a:latin typeface="Times New Roman" panose="02020603050405020304" pitchFamily="18" charset="0"/>
                <a:ea typeface="Times New Roman" panose="02020603050405020304" pitchFamily="18" charset="0"/>
              </a:rPr>
              <a:t>array</a:t>
            </a:r>
            <a:r>
              <a:rPr lang="it-IT" sz="1200" dirty="0">
                <a:effectLst/>
                <a:latin typeface="Times New Roman" panose="02020603050405020304" pitchFamily="18" charset="0"/>
                <a:ea typeface="Times New Roman" panose="02020603050405020304" pitchFamily="18" charset="0"/>
              </a:rPr>
              <a:t> è una collezione indicizzata di dati primitivi o complessi o di altri array. Gli array permettono di utilizzare un solo identificatore per individuare una collezione costituita da vari elementi, che saranno accessibili tramite indici interi. </a:t>
            </a:r>
          </a:p>
          <a:p>
            <a:r>
              <a:rPr lang="it-IT" sz="1200" dirty="0">
                <a:effectLst/>
                <a:latin typeface="Times New Roman" panose="02020603050405020304" pitchFamily="18" charset="0"/>
                <a:ea typeface="Times New Roman" panose="02020603050405020304" pitchFamily="18" charset="0"/>
              </a:rPr>
              <a:t>In Java gli array sono, in quanto collezioni, oggetti. La sintassi degli array però, differisce da quella degli altri oggetti. In qualsiasi caso, per utilizzare un array bisogna quindi passare attraverso tre fasi: dichiarazione, creazione ed inizializzazione.</a:t>
            </a: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3.6.1 Dichiarazione</a:t>
            </a:r>
          </a:p>
          <a:p>
            <a:r>
              <a:rPr lang="it-IT" sz="1200" dirty="0">
                <a:effectLst/>
                <a:latin typeface="Times New Roman" panose="02020603050405020304" pitchFamily="18" charset="0"/>
                <a:ea typeface="Times New Roman" panose="02020603050405020304" pitchFamily="18" charset="0"/>
              </a:rPr>
              <a:t>Di seguito presentiamo due dichiarazioni di array. Nella prima dichiariamo un array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200" dirty="0">
                <a:effectLst/>
                <a:latin typeface="Times New Roman" panose="02020603050405020304" pitchFamily="18" charset="0"/>
                <a:ea typeface="Times New Roman" panose="02020603050405020304" pitchFamily="18" charset="0"/>
              </a:rPr>
              <a:t> (tipo primitivo), nella seconda dichiariamo un array di istanze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File</a:t>
            </a:r>
            <a:r>
              <a:rPr lang="it-IT" sz="1200" dirty="0">
                <a:effectLst/>
                <a:latin typeface="Times New Roman" panose="02020603050405020304" pitchFamily="18" charset="0"/>
                <a:ea typeface="Times New Roman" panose="02020603050405020304" pitchFamily="18" charset="0"/>
              </a:rPr>
              <a:t> (classe appartenente al package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java.io</a:t>
            </a:r>
            <a:r>
              <a:rPr lang="it-IT" sz="1200" dirty="0">
                <a:effectLst/>
                <a:latin typeface="Times New Roman" panose="02020603050405020304" pitchFamily="18" charset="0"/>
                <a:ea typeface="Times New Roman" panose="02020603050405020304" pitchFamily="18" charset="0"/>
              </a:rPr>
              <a:t>, quindi tipo complesso):</a:t>
            </a:r>
          </a:p>
          <a:p>
            <a:r>
              <a:rPr lang="it-IT" sz="1000" dirty="0">
                <a:solidFill>
                  <a:srgbClr val="000000"/>
                </a:solidFill>
                <a:effectLst/>
                <a:latin typeface="Courier New" panose="02070309020205020404" pitchFamily="49" charset="0"/>
                <a:ea typeface="Times New Roman" panose="02020603050405020304" pitchFamily="18" charset="0"/>
              </a:rPr>
              <a:t>char alfabeto [];        oppure        char [] alfabeto;</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File files [];           oppure        File [] files;</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Quindi, per dichiarare un array, basta posporre, oppure anteporre, una coppia di parentesi quadre all’identificatore. </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Le due sintassi sono equivalenti, e non si può dire che esista uno standard da seguire. Usate pure quella che vi sembra più opportuna. </a:t>
            </a:r>
            <a:endParaRPr lang="it-IT" sz="1200" b="1" dirty="0">
              <a:effectLst/>
              <a:latin typeface="Times New Roman" panose="02020603050405020304" pitchFamily="18" charset="0"/>
              <a:ea typeface="Times New Roman" panose="02020603050405020304" pitchFamily="18" charset="0"/>
            </a:endParaRP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3.6.2 Creazione</a:t>
            </a:r>
          </a:p>
          <a:p>
            <a:r>
              <a:rPr lang="it-IT" sz="1200" dirty="0">
                <a:effectLst/>
                <a:latin typeface="Times New Roman" panose="02020603050405020304" pitchFamily="18" charset="0"/>
                <a:ea typeface="Times New Roman" panose="02020603050405020304" pitchFamily="18" charset="0"/>
              </a:rPr>
              <a:t>Per usare l’identificatore di un array, non bisogna specificare le parentesi quadre. Il reference dei due array che abbiamo creati quindi, sono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alfabeto</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files</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Un array è un oggetto speciale in Java e, in quanto tale, va istanziato in modo speciale. La sintassi è la seguente:</a:t>
            </a:r>
          </a:p>
          <a:p>
            <a:r>
              <a:rPr lang="it-IT" sz="1000" dirty="0">
                <a:solidFill>
                  <a:srgbClr val="000000"/>
                </a:solidFill>
                <a:effectLst/>
                <a:latin typeface="Courier New" panose="02070309020205020404" pitchFamily="49" charset="0"/>
                <a:ea typeface="Times New Roman" panose="02020603050405020304" pitchFamily="18" charset="0"/>
              </a:rPr>
              <a:t>alfabeto = new char[21];</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files = new File[3];</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Come si può notare, è obbligatorio specificare al momento dell’istanza dell’array, la dimensione dell’array stesso tra parentesi quadre, una sintassi che ricorda quella del costruttore. Questa dimensione, una volta dichiarata, non è più modificabile. A questo punto tutti gli elementi dei due array sono inizializzati automaticamente ai relativi valori nulli. Ricordiamo che il valore nullo per un tipo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200" dirty="0">
                <a:effectLst/>
                <a:latin typeface="Times New Roman" panose="02020603050405020304" pitchFamily="18" charset="0"/>
                <a:ea typeface="Times New Roman" panose="02020603050405020304" pitchFamily="18" charset="0"/>
              </a:rPr>
              <a:t> corrisponde al carattere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'\u0000'</a:t>
            </a:r>
            <a:r>
              <a:rPr lang="it-IT" sz="1200" dirty="0">
                <a:effectLst/>
                <a:latin typeface="Times New Roman" panose="02020603050405020304" pitchFamily="18" charset="0"/>
                <a:ea typeface="Times New Roman" panose="02020603050405020304" pitchFamily="18" charset="0"/>
              </a:rPr>
              <a:t>, mentre il valore nullo per un oggetto corrisponde al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Vediamo allora come inizializzare esplicitamente gli elementi dell’array.</a:t>
            </a: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3.6.3 Inizializzazione</a:t>
            </a:r>
          </a:p>
          <a:p>
            <a:r>
              <a:rPr lang="it-IT" sz="1200" dirty="0">
                <a:effectLst/>
                <a:latin typeface="Times New Roman" panose="02020603050405020304" pitchFamily="18" charset="0"/>
                <a:ea typeface="Times New Roman" panose="02020603050405020304" pitchFamily="18" charset="0"/>
              </a:rPr>
              <a:t>Per inizializzare un array, bisogna inizializzarne ogni elemento singolarmente:</a:t>
            </a:r>
          </a:p>
          <a:p>
            <a:r>
              <a:rPr lang="it-IT" sz="1000" dirty="0">
                <a:solidFill>
                  <a:srgbClr val="000000"/>
                </a:solidFill>
                <a:effectLst/>
                <a:latin typeface="Courier New" panose="02070309020205020404" pitchFamily="49" charset="0"/>
                <a:ea typeface="Times New Roman" panose="02020603050405020304" pitchFamily="18" charset="0"/>
              </a:rPr>
              <a:t>alfabeto[0] = 'a';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alfabeto[1] = 'b';</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alfabeto[2] = 'c';</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alfabeto[3] = 'd';</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//Omettiamo per brevità alcune righe di codice...</a:t>
            </a:r>
            <a:endParaRPr lang="it-IT" sz="1000" dirty="0">
              <a:effectLst/>
              <a:latin typeface="Courier New" panose="02070309020205020404" pitchFamily="49" charset="0"/>
              <a:ea typeface="Times New Roman" panose="02020603050405020304" pitchFamily="18" charset="0"/>
            </a:endParaRPr>
          </a:p>
          <a:p>
            <a:r>
              <a:rPr lang="en-GB" sz="1000" dirty="0" err="1">
                <a:solidFill>
                  <a:srgbClr val="000000"/>
                </a:solidFill>
                <a:effectLst/>
                <a:latin typeface="Courier New" panose="02070309020205020404" pitchFamily="49" charset="0"/>
                <a:ea typeface="Times New Roman" panose="02020603050405020304" pitchFamily="18" charset="0"/>
              </a:rPr>
              <a:t>alfabeto</a:t>
            </a:r>
            <a:r>
              <a:rPr lang="en-GB" sz="1000" dirty="0">
                <a:solidFill>
                  <a:srgbClr val="000000"/>
                </a:solidFill>
                <a:effectLst/>
                <a:latin typeface="Courier New" panose="02070309020205020404" pitchFamily="49" charset="0"/>
                <a:ea typeface="Times New Roman" panose="02020603050405020304" pitchFamily="18" charset="0"/>
              </a:rPr>
              <a:t>[20] = 'z';</a:t>
            </a:r>
            <a:endParaRPr lang="it-IT" sz="1000" dirty="0">
              <a:effectLst/>
              <a:latin typeface="Courier New" panose="02070309020205020404" pitchFamily="49" charset="0"/>
              <a:ea typeface="Times New Roman" panose="02020603050405020304" pitchFamily="18" charset="0"/>
            </a:endParaRPr>
          </a:p>
          <a:p>
            <a:r>
              <a:rPr lang="en-GB" sz="1000" dirty="0">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files[0] = new File("HelloWorld.java");</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files[1] = new File("HelloWorld.class");</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files[2] = new File("HelloWorld.html");</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L’indice di un array inizia sempre da zero. Quindi un array dichiarato di 21 posti, avrà come indice minimo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200" dirty="0">
                <a:effectLst/>
                <a:latin typeface="Times New Roman" panose="02020603050405020304" pitchFamily="18" charset="0"/>
                <a:ea typeface="Times New Roman" panose="02020603050405020304" pitchFamily="18" charset="0"/>
              </a:rPr>
              <a:t> e massimo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200" dirty="0">
                <a:effectLst/>
                <a:latin typeface="Times New Roman" panose="02020603050405020304" pitchFamily="18" charset="0"/>
                <a:ea typeface="Times New Roman" panose="02020603050405020304" pitchFamily="18" charset="0"/>
              </a:rPr>
              <a:t> (un array di dimensione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200" dirty="0">
                <a:effectLst/>
                <a:latin typeface="Times New Roman" panose="02020603050405020304" pitchFamily="18" charset="0"/>
                <a:ea typeface="Times New Roman" panose="02020603050405020304" pitchFamily="18" charset="0"/>
              </a:rPr>
              <a:t> implica il massimo indice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n-1</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Si noti la differenza tra un array dichiarato di tipo primitivo e un array dichiarato di tipo complesso. Il primo contiene direttamente i suoi elementi. Il secondo contiene solo reference, non gli elementi stessi. </a:t>
            </a:r>
          </a:p>
        </p:txBody>
      </p:sp>
    </p:spTree>
    <p:extLst>
      <p:ext uri="{BB962C8B-B14F-4D97-AF65-F5344CB8AC3E}">
        <p14:creationId xmlns:p14="http://schemas.microsoft.com/office/powerpoint/2010/main" val="39048821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200" dirty="0">
                <a:effectLst/>
                <a:latin typeface="Times New Roman" panose="02020603050405020304" pitchFamily="18" charset="0"/>
                <a:ea typeface="Times New Roman" panose="02020603050405020304" pitchFamily="18" charset="0"/>
              </a:rPr>
              <a:t>Un </a:t>
            </a:r>
            <a:r>
              <a:rPr lang="it-IT" sz="1200" b="1" dirty="0">
                <a:effectLst/>
                <a:latin typeface="Times New Roman" panose="02020603050405020304" pitchFamily="18" charset="0"/>
                <a:ea typeface="Times New Roman" panose="02020603050405020304" pitchFamily="18" charset="0"/>
              </a:rPr>
              <a:t>array</a:t>
            </a:r>
            <a:r>
              <a:rPr lang="it-IT" sz="1200" dirty="0">
                <a:effectLst/>
                <a:latin typeface="Times New Roman" panose="02020603050405020304" pitchFamily="18" charset="0"/>
                <a:ea typeface="Times New Roman" panose="02020603050405020304" pitchFamily="18" charset="0"/>
              </a:rPr>
              <a:t> è una collezione indicizzata di dati primitivi o complessi o di altri array. Gli array permettono di utilizzare un solo identificatore per individuare una collezione costituita da vari elementi, che saranno accessibili tramite indici interi. </a:t>
            </a:r>
          </a:p>
          <a:p>
            <a:r>
              <a:rPr lang="it-IT" sz="1200" dirty="0">
                <a:effectLst/>
                <a:latin typeface="Times New Roman" panose="02020603050405020304" pitchFamily="18" charset="0"/>
                <a:ea typeface="Times New Roman" panose="02020603050405020304" pitchFamily="18" charset="0"/>
              </a:rPr>
              <a:t>In Java gli array sono, in quanto collezioni, oggetti. La sintassi degli array però, differisce da quella degli altri oggetti. In qualsiasi caso, per utilizzare un array bisogna quindi passare attraverso tre fasi: dichiarazione, creazione ed inizializzazione.</a:t>
            </a: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3.6.1 Dichiarazione</a:t>
            </a:r>
          </a:p>
          <a:p>
            <a:r>
              <a:rPr lang="it-IT" sz="1200" dirty="0">
                <a:effectLst/>
                <a:latin typeface="Times New Roman" panose="02020603050405020304" pitchFamily="18" charset="0"/>
                <a:ea typeface="Times New Roman" panose="02020603050405020304" pitchFamily="18" charset="0"/>
              </a:rPr>
              <a:t>Di seguito presentiamo due dichiarazioni di array. Nella prima dichiariamo un array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200" dirty="0">
                <a:effectLst/>
                <a:latin typeface="Times New Roman" panose="02020603050405020304" pitchFamily="18" charset="0"/>
                <a:ea typeface="Times New Roman" panose="02020603050405020304" pitchFamily="18" charset="0"/>
              </a:rPr>
              <a:t> (tipo primitivo), nella seconda dichiariamo un array di istanze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File</a:t>
            </a:r>
            <a:r>
              <a:rPr lang="it-IT" sz="1200" dirty="0">
                <a:effectLst/>
                <a:latin typeface="Times New Roman" panose="02020603050405020304" pitchFamily="18" charset="0"/>
                <a:ea typeface="Times New Roman" panose="02020603050405020304" pitchFamily="18" charset="0"/>
              </a:rPr>
              <a:t> (classe appartenente al package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java.io</a:t>
            </a:r>
            <a:r>
              <a:rPr lang="it-IT" sz="1200" dirty="0">
                <a:effectLst/>
                <a:latin typeface="Times New Roman" panose="02020603050405020304" pitchFamily="18" charset="0"/>
                <a:ea typeface="Times New Roman" panose="02020603050405020304" pitchFamily="18" charset="0"/>
              </a:rPr>
              <a:t>, quindi tipo complesso):</a:t>
            </a:r>
          </a:p>
          <a:p>
            <a:r>
              <a:rPr lang="it-IT" sz="1000" dirty="0">
                <a:solidFill>
                  <a:srgbClr val="000000"/>
                </a:solidFill>
                <a:effectLst/>
                <a:latin typeface="Courier New" panose="02070309020205020404" pitchFamily="49" charset="0"/>
                <a:ea typeface="Times New Roman" panose="02020603050405020304" pitchFamily="18" charset="0"/>
              </a:rPr>
              <a:t>char alfabeto [];        oppure        char [] alfabeto;</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File files [];           oppure        File [] files;</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Quindi, per dichiarare un array, basta posporre, oppure anteporre, una coppia di parentesi quadre all’identificatore. </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Le due sintassi sono equivalenti, e non si può dire che esista uno standard da seguire. Usate pure quella che vi sembra più opportuna. </a:t>
            </a:r>
            <a:endParaRPr lang="it-IT" sz="1200" b="1" dirty="0">
              <a:effectLst/>
              <a:latin typeface="Times New Roman" panose="02020603050405020304" pitchFamily="18" charset="0"/>
              <a:ea typeface="Times New Roman" panose="02020603050405020304" pitchFamily="18" charset="0"/>
            </a:endParaRP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3.6.2 Creazione</a:t>
            </a:r>
          </a:p>
          <a:p>
            <a:r>
              <a:rPr lang="it-IT" sz="1200" dirty="0">
                <a:effectLst/>
                <a:latin typeface="Times New Roman" panose="02020603050405020304" pitchFamily="18" charset="0"/>
                <a:ea typeface="Times New Roman" panose="02020603050405020304" pitchFamily="18" charset="0"/>
              </a:rPr>
              <a:t>Per usare l’identificatore di un array, non bisogna specificare le parentesi quadre. Il reference dei due array che abbiamo creati quindi, sono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alfabeto</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files</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Un array è un oggetto speciale in Java e, in quanto tale, va istanziato in modo speciale. La sintassi è la seguente:</a:t>
            </a:r>
          </a:p>
          <a:p>
            <a:r>
              <a:rPr lang="it-IT" sz="1000" dirty="0">
                <a:solidFill>
                  <a:srgbClr val="000000"/>
                </a:solidFill>
                <a:effectLst/>
                <a:latin typeface="Courier New" panose="02070309020205020404" pitchFamily="49" charset="0"/>
                <a:ea typeface="Times New Roman" panose="02020603050405020304" pitchFamily="18" charset="0"/>
              </a:rPr>
              <a:t>alfabeto = new char[21];</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files = new File[3];</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Come si può notare, è obbligatorio specificare al momento dell’istanza dell’array, la dimensione dell’array stesso tra parentesi quadre, una sintassi che ricorda quella del costruttore. Questa dimensione, una volta dichiarata, non è più modificabile. A questo punto tutti gli elementi dei due array sono inizializzati automaticamente ai relativi valori nulli. Ricordiamo che il valore nullo per un tipo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200" dirty="0">
                <a:effectLst/>
                <a:latin typeface="Times New Roman" panose="02020603050405020304" pitchFamily="18" charset="0"/>
                <a:ea typeface="Times New Roman" panose="02020603050405020304" pitchFamily="18" charset="0"/>
              </a:rPr>
              <a:t> corrisponde al carattere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'\u0000'</a:t>
            </a:r>
            <a:r>
              <a:rPr lang="it-IT" sz="1200" dirty="0">
                <a:effectLst/>
                <a:latin typeface="Times New Roman" panose="02020603050405020304" pitchFamily="18" charset="0"/>
                <a:ea typeface="Times New Roman" panose="02020603050405020304" pitchFamily="18" charset="0"/>
              </a:rPr>
              <a:t>, mentre il valore nullo per un oggetto corrisponde al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null</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Vediamo allora come inizializzare esplicitamente gli elementi dell’array.</a:t>
            </a: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3.6.3 Inizializzazione</a:t>
            </a:r>
          </a:p>
          <a:p>
            <a:r>
              <a:rPr lang="it-IT" sz="1200" dirty="0">
                <a:effectLst/>
                <a:latin typeface="Times New Roman" panose="02020603050405020304" pitchFamily="18" charset="0"/>
                <a:ea typeface="Times New Roman" panose="02020603050405020304" pitchFamily="18" charset="0"/>
              </a:rPr>
              <a:t>Per inizializzare un array, bisogna inizializzarne ogni elemento singolarmente:</a:t>
            </a:r>
          </a:p>
          <a:p>
            <a:r>
              <a:rPr lang="it-IT" sz="1000" dirty="0">
                <a:solidFill>
                  <a:srgbClr val="000000"/>
                </a:solidFill>
                <a:effectLst/>
                <a:latin typeface="Courier New" panose="02070309020205020404" pitchFamily="49" charset="0"/>
                <a:ea typeface="Times New Roman" panose="02020603050405020304" pitchFamily="18" charset="0"/>
              </a:rPr>
              <a:t>alfabeto[0] = 'a';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alfabeto[1] = 'b';</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alfabeto[2] = 'c';</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alfabeto[3] = 'd';</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//Omettiamo per brevità alcune righe di codice...</a:t>
            </a:r>
            <a:endParaRPr lang="it-IT" sz="1000" dirty="0">
              <a:effectLst/>
              <a:latin typeface="Courier New" panose="02070309020205020404" pitchFamily="49" charset="0"/>
              <a:ea typeface="Times New Roman" panose="02020603050405020304" pitchFamily="18" charset="0"/>
            </a:endParaRPr>
          </a:p>
          <a:p>
            <a:r>
              <a:rPr lang="en-GB" sz="1000" dirty="0" err="1">
                <a:solidFill>
                  <a:srgbClr val="000000"/>
                </a:solidFill>
                <a:effectLst/>
                <a:latin typeface="Courier New" panose="02070309020205020404" pitchFamily="49" charset="0"/>
                <a:ea typeface="Times New Roman" panose="02020603050405020304" pitchFamily="18" charset="0"/>
              </a:rPr>
              <a:t>alfabeto</a:t>
            </a:r>
            <a:r>
              <a:rPr lang="en-GB" sz="1000" dirty="0">
                <a:solidFill>
                  <a:srgbClr val="000000"/>
                </a:solidFill>
                <a:effectLst/>
                <a:latin typeface="Courier New" panose="02070309020205020404" pitchFamily="49" charset="0"/>
                <a:ea typeface="Times New Roman" panose="02020603050405020304" pitchFamily="18" charset="0"/>
              </a:rPr>
              <a:t>[20] = 'z';</a:t>
            </a:r>
            <a:endParaRPr lang="it-IT" sz="1000" dirty="0">
              <a:effectLst/>
              <a:latin typeface="Courier New" panose="02070309020205020404" pitchFamily="49" charset="0"/>
              <a:ea typeface="Times New Roman" panose="02020603050405020304" pitchFamily="18" charset="0"/>
            </a:endParaRPr>
          </a:p>
          <a:p>
            <a:r>
              <a:rPr lang="en-GB" sz="1000" dirty="0">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files[0] = new File("HelloWorld.java");</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files[1] = new File("HelloWorld.class");</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files[2] = new File("HelloWorld.html");</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L’indice di un array inizia sempre da zero. Quindi un array dichiarato di 21 posti, avrà come indice minimo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200" dirty="0">
                <a:effectLst/>
                <a:latin typeface="Times New Roman" panose="02020603050405020304" pitchFamily="18" charset="0"/>
                <a:ea typeface="Times New Roman" panose="02020603050405020304" pitchFamily="18" charset="0"/>
              </a:rPr>
              <a:t> e massimo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200" dirty="0">
                <a:effectLst/>
                <a:latin typeface="Times New Roman" panose="02020603050405020304" pitchFamily="18" charset="0"/>
                <a:ea typeface="Times New Roman" panose="02020603050405020304" pitchFamily="18" charset="0"/>
              </a:rPr>
              <a:t> (un array di dimensione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a:t>
            </a:r>
            <a:r>
              <a:rPr lang="it-IT" sz="1200" dirty="0">
                <a:effectLst/>
                <a:latin typeface="Times New Roman" panose="02020603050405020304" pitchFamily="18" charset="0"/>
                <a:ea typeface="Times New Roman" panose="02020603050405020304" pitchFamily="18" charset="0"/>
              </a:rPr>
              <a:t> implica il massimo indice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n-1</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Si noti la differenza tra un array dichiarato di tipo primitivo e un array dichiarato di tipo complesso. Il primo contiene direttamente i suoi elementi. Il secondo contiene solo reference, non gli elementi stessi. </a:t>
            </a:r>
          </a:p>
        </p:txBody>
      </p:sp>
    </p:spTree>
    <p:extLst>
      <p:ext uri="{BB962C8B-B14F-4D97-AF65-F5344CB8AC3E}">
        <p14:creationId xmlns:p14="http://schemas.microsoft.com/office/powerpoint/2010/main" val="15925653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lettore avrà sicuramente notato che può risultare alquanto scomodo inizializzare un array in questo modo, per di più dopo averlo prima dichiarato ed istanziato. Ma Java ci viene incontro dando la possibilità di eseguire tutti e tre i passi principali per creare un array tramite una particolare </a:t>
            </a:r>
            <a:r>
              <a:rPr lang="it-IT" sz="1800" b="1" dirty="0">
                <a:effectLst/>
                <a:latin typeface="Times New Roman" panose="02020603050405020304" pitchFamily="18" charset="0"/>
                <a:ea typeface="Times New Roman" panose="02020603050405020304" pitchFamily="18" charset="0"/>
              </a:rPr>
              <a:t>sintassi breve</a:t>
            </a:r>
            <a:r>
              <a:rPr lang="it-IT" sz="1800" dirty="0">
                <a:effectLst/>
                <a:latin typeface="Times New Roman" panose="02020603050405020304" pitchFamily="18" charset="0"/>
                <a:ea typeface="Times New Roman" panose="02020603050405020304" pitchFamily="18" charset="0"/>
              </a:rPr>
              <a:t> che presentiamo di seguito:</a:t>
            </a:r>
          </a:p>
          <a:p>
            <a:r>
              <a:rPr lang="it-IT" sz="1800" dirty="0">
                <a:solidFill>
                  <a:srgbClr val="000000"/>
                </a:solidFill>
                <a:effectLst/>
                <a:latin typeface="Courier New" panose="02070309020205020404" pitchFamily="49" charset="0"/>
                <a:ea typeface="Times New Roman" panose="02020603050405020304" pitchFamily="18" charset="0"/>
              </a:rPr>
              <a:t>char alfabeto [] = {'a', 'b', 'c', 'd', 'e', 'f', 'g', 'h', 'i', 'l',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'm', 'n', 'o', 'p', 'q', 'r', 's', 't', 'u', 'v', 'z'};</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File files [] = {new File("HelloWorld.java"), new File("HelloWorld.class"),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new File("HelloWorld.html")};</a:t>
            </a:r>
            <a:endParaRPr lang="it-IT" sz="1800" dirty="0">
              <a:effectLst/>
              <a:latin typeface="Courier New" panose="02070309020205020404" pitchFamily="49"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UTILIZZO NON COMUNE)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realtà è possibile anche utilizzare la seguente sintassi:</a:t>
            </a:r>
          </a:p>
          <a:p>
            <a:r>
              <a:rPr lang="it-IT" sz="1800" dirty="0">
                <a:solidFill>
                  <a:srgbClr val="000000"/>
                </a:solidFill>
                <a:effectLst/>
                <a:latin typeface="Courier New" panose="02070309020205020404" pitchFamily="49" charset="0"/>
                <a:ea typeface="Times New Roman" panose="02020603050405020304" pitchFamily="18" charset="0"/>
              </a:rPr>
              <a:t>char alfabeto [] = new char []{'a', 'b', 'c', 'd', 'e', 'f', 'g', 'h', 'i', 'l',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'm', 'n', 'o', 'p', 'q', 'r', 's', 't', 'u', 'v', 'z'};</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File files [] = new File [] {new File("HelloWorld.java"),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new File("HelloWorld.class"), new File("HelloWorld.html")};</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Chiaramente, gli esempi che abbiamo presentato risultano comunque ostici nella parte di inizializzazione. Solitamente, uno dei vantaggi che porta l’uso di array, è quello di poterne sfruttare l’indice all’interno di cicli. Essi ci permetteranno di assegnare i valori ad un array in maniera molto più compatta. I cicli, verranno trattati nel prossimo capitolo. </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904386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Java un array bidimensionale non deve per forza essere rettangolare</a:t>
            </a:r>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628849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Notare che nella prima riga, quando abbiamo istanziato l’oggetto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arrayNonRettangolare</a:t>
            </a:r>
            <a:r>
              <a:rPr lang="it-IT" sz="1800" dirty="0">
                <a:effectLst/>
                <a:latin typeface="Times New Roman" panose="02020603050405020304" pitchFamily="18" charset="0"/>
                <a:ea typeface="Times New Roman" panose="02020603050405020304" pitchFamily="18" charset="0"/>
              </a:rPr>
              <a:t>, abbiamo specificato solo la prima dimensione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Questo significa che ci saranno quattro elementi di questo array, ed ogni elemento sarà a sua volta un altro array di lunghezza ancora da scegliere. </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rappresentazione grafica di un array è solo una convenzione che ci aiuta a schematizzare il concetto. Non si dovrebbe quindi parlare di righe e colonne per un array bidimensionale, le righe e le colonne sono solo nella nostra mente. In realtà Java è capace anche di creare array a dieci dimensioni, che noi non potremmo mai rappresentare graficamente.</a:t>
            </a:r>
          </a:p>
        </p:txBody>
      </p:sp>
    </p:spTree>
    <p:extLst>
      <p:ext uri="{BB962C8B-B14F-4D97-AF65-F5344CB8AC3E}">
        <p14:creationId xmlns:p14="http://schemas.microsoft.com/office/powerpoint/2010/main" val="31029658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La firma del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prevede come parametro di input un array di stringhe (di solito chiamato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a:t>
            </a:r>
            <a:r>
              <a:rPr lang="it-IT" sz="1800" dirty="0">
                <a:effectLst/>
                <a:latin typeface="Times New Roman" panose="02020603050405020304" pitchFamily="18" charset="0"/>
                <a:ea typeface="Times New Roman" panose="02020603050405020304" pitchFamily="18" charset="0"/>
              </a:rPr>
              <a:t>). Questo array può immagazzinare stringhe da riga di comando nel modo seguente. Se per eseguire la nostra applicazione, invece di scrivere a riga di comando:</a:t>
            </a:r>
          </a:p>
          <a:p>
            <a:r>
              <a:rPr lang="it-IT" sz="1800" dirty="0">
                <a:solidFill>
                  <a:srgbClr val="FFFFFF"/>
                </a:solidFill>
                <a:effectLst/>
                <a:latin typeface="Courier New" panose="02070309020205020404" pitchFamily="49" charset="0"/>
                <a:ea typeface="MS Mincho" panose="02020609040205080304" pitchFamily="49" charset="-128"/>
              </a:rPr>
              <a:t>java </a:t>
            </a:r>
            <a:r>
              <a:rPr lang="it-IT" sz="1800" dirty="0" err="1">
                <a:solidFill>
                  <a:srgbClr val="FFFFFF"/>
                </a:solidFill>
                <a:effectLst/>
                <a:latin typeface="Courier New" panose="02070309020205020404" pitchFamily="49" charset="0"/>
                <a:ea typeface="MS Mincho" panose="02020609040205080304" pitchFamily="49" charset="-128"/>
              </a:rPr>
              <a:t>NomeClassDelMain</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scrivessimo:</a:t>
            </a:r>
          </a:p>
          <a:p>
            <a:r>
              <a:rPr lang="it-IT" sz="1800" dirty="0">
                <a:solidFill>
                  <a:srgbClr val="FFFFFF"/>
                </a:solidFill>
                <a:effectLst/>
                <a:latin typeface="Courier New" panose="02070309020205020404" pitchFamily="49" charset="0"/>
                <a:ea typeface="MS Mincho" panose="02020609040205080304" pitchFamily="49" charset="-128"/>
              </a:rPr>
              <a:t>java </a:t>
            </a:r>
            <a:r>
              <a:rPr lang="it-IT" sz="1800" dirty="0" err="1">
                <a:solidFill>
                  <a:srgbClr val="FFFFFF"/>
                </a:solidFill>
                <a:effectLst/>
                <a:latin typeface="Courier New" panose="02070309020205020404" pitchFamily="49" charset="0"/>
                <a:ea typeface="MS Mincho" panose="02020609040205080304" pitchFamily="49" charset="-128"/>
              </a:rPr>
              <a:t>NomeClassDelMain</a:t>
            </a:r>
            <a:r>
              <a:rPr lang="it-IT" sz="1800" dirty="0">
                <a:solidFill>
                  <a:srgbClr val="FFFFFF"/>
                </a:solidFill>
                <a:effectLst/>
                <a:latin typeface="Courier New" panose="02070309020205020404" pitchFamily="49" charset="0"/>
                <a:ea typeface="MS Mincho" panose="02020609040205080304" pitchFamily="49" charset="-128"/>
              </a:rPr>
              <a:t> Andrea De Sio Cesari</a:t>
            </a:r>
          </a:p>
          <a:p>
            <a:r>
              <a:rPr lang="it-IT" sz="1800" dirty="0">
                <a:effectLst/>
                <a:latin typeface="Times New Roman" panose="02020603050405020304" pitchFamily="18" charset="0"/>
                <a:ea typeface="Times New Roman" panose="02020603050405020304" pitchFamily="18" charset="0"/>
              </a:rPr>
              <a:t>all’interno della nostra applicazione avremmo a disposizione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args[0]</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Andrea</a:t>
            </a:r>
            <a:r>
              <a:rPr lang="it-IT" sz="1800" dirty="0">
                <a:effectLst/>
                <a:latin typeface="Times New Roman" panose="02020603050405020304" pitchFamily="18" charset="0"/>
                <a:ea typeface="Times New Roman" panose="02020603050405020304" pitchFamily="18" charset="0"/>
              </a:rPr>
              <a:t>,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args[1]</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De</a:t>
            </a:r>
            <a:r>
              <a:rPr lang="it-IT" sz="1800" dirty="0">
                <a:effectLst/>
                <a:latin typeface="Times New Roman" panose="02020603050405020304" pitchFamily="18" charset="0"/>
                <a:ea typeface="Times New Roman" panose="02020603050405020304" pitchFamily="18" charset="0"/>
              </a:rPr>
              <a:t>,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args[2]</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Sio</a:t>
            </a:r>
            <a:r>
              <a:rPr lang="it-IT" sz="1800" dirty="0">
                <a:effectLst/>
                <a:latin typeface="Times New Roman" panose="02020603050405020304" pitchFamily="18" charset="0"/>
                <a:ea typeface="Times New Roman" panose="02020603050405020304" pitchFamily="18" charset="0"/>
              </a:rPr>
              <a:t>, e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args[3]</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Cesari</a:t>
            </a:r>
            <a:r>
              <a:rPr lang="it-IT" sz="1800" dirty="0">
                <a:effectLst/>
                <a:latin typeface="Times New Roman" panose="02020603050405020304" pitchFamily="18" charset="0"/>
                <a:ea typeface="Times New Roman" panose="02020603050405020304" pitchFamily="18" charset="0"/>
              </a:rPr>
              <a:t>. In pratica, l’array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a:t>
            </a:r>
            <a:r>
              <a:rPr lang="it-IT" sz="1800" dirty="0">
                <a:effectLst/>
                <a:latin typeface="Times New Roman" panose="02020603050405020304" pitchFamily="18" charset="0"/>
                <a:ea typeface="Times New Roman" panose="02020603050405020304" pitchFamily="18" charset="0"/>
              </a:rPr>
              <a:t> viene inizializzato istanziato ed inizializzato automaticamente con i valori specificati da riga di comando.</a:t>
            </a:r>
          </a:p>
          <a:p>
            <a:r>
              <a:rPr lang="it-IT" sz="1800" dirty="0">
                <a:effectLst/>
                <a:latin typeface="Times New Roman" panose="02020603050405020304" pitchFamily="18" charset="0"/>
                <a:ea typeface="Times New Roman" panose="02020603050405020304" pitchFamily="18" charset="0"/>
              </a:rPr>
              <a:t>Potremmo anche scrivere:</a:t>
            </a:r>
          </a:p>
          <a:p>
            <a:r>
              <a:rPr lang="it-IT" sz="1800" dirty="0">
                <a:solidFill>
                  <a:srgbClr val="FFFFFF"/>
                </a:solidFill>
                <a:effectLst/>
                <a:latin typeface="Courier New" panose="02070309020205020404" pitchFamily="49" charset="0"/>
                <a:ea typeface="MS Mincho" panose="02020609040205080304" pitchFamily="49" charset="-128"/>
              </a:rPr>
              <a:t>java </a:t>
            </a:r>
            <a:r>
              <a:rPr lang="it-IT" sz="1800" dirty="0" err="1">
                <a:solidFill>
                  <a:srgbClr val="FFFFFF"/>
                </a:solidFill>
                <a:effectLst/>
                <a:latin typeface="Courier New" panose="02070309020205020404" pitchFamily="49" charset="0"/>
                <a:ea typeface="MS Mincho" panose="02020609040205080304" pitchFamily="49" charset="-128"/>
              </a:rPr>
              <a:t>NomeClassDelMain</a:t>
            </a:r>
            <a:r>
              <a:rPr lang="it-IT" sz="1800" dirty="0">
                <a:solidFill>
                  <a:srgbClr val="FFFFFF"/>
                </a:solidFill>
                <a:effectLst/>
                <a:latin typeface="Courier New" panose="02070309020205020404" pitchFamily="49" charset="0"/>
                <a:ea typeface="MS Mincho" panose="02020609040205080304" pitchFamily="49" charset="-128"/>
              </a:rPr>
              <a:t> Andrea "De Sio Cesari"</a:t>
            </a:r>
          </a:p>
          <a:p>
            <a:r>
              <a:rPr lang="it-IT" sz="1800" dirty="0">
                <a:effectLst/>
                <a:latin typeface="Times New Roman" panose="02020603050405020304" pitchFamily="18" charset="0"/>
                <a:ea typeface="Times New Roman" panose="02020603050405020304" pitchFamily="18" charset="0"/>
              </a:rPr>
              <a:t>In questo modo, all’interno dell’applicazione potremmo utilizzare solamente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args[0]</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Andrea</a:t>
            </a:r>
            <a:r>
              <a:rPr lang="it-IT" sz="1800" dirty="0">
                <a:effectLst/>
                <a:latin typeface="Times New Roman" panose="02020603050405020304" pitchFamily="18" charset="0"/>
                <a:ea typeface="Times New Roman" panose="02020603050405020304" pitchFamily="18" charset="0"/>
              </a:rPr>
              <a:t>, e la stringa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args[1]</a:t>
            </a:r>
            <a:r>
              <a:rPr lang="it-IT" sz="1800" dirty="0">
                <a:effectLst/>
                <a:latin typeface="Times New Roman" panose="02020603050405020304" pitchFamily="18" charset="0"/>
                <a:ea typeface="Times New Roman" panose="02020603050405020304" pitchFamily="18" charset="0"/>
              </a:rPr>
              <a:t> che ha come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De Sio Cesari</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Con EJE per poter passare parametri da riga di comando potete usare la scorciatoia costituita dalla pressione dei tasti </a:t>
            </a:r>
            <a:r>
              <a:rPr lang="it-IT"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MAIUSC-F9</a:t>
            </a:r>
            <a:r>
              <a:rPr lang="it-IT" sz="1800" b="1" dirty="0">
                <a:solidFill>
                  <a:srgbClr val="000000"/>
                </a:solidFill>
                <a:effectLst/>
                <a:latin typeface="Times New Roman" panose="02020603050405020304" pitchFamily="18" charset="0"/>
                <a:ea typeface="Times New Roman" panose="02020603050405020304" pitchFamily="18" charset="0"/>
              </a:rPr>
              <a:t>. Verrà presentata una maschera per inserire gli argomenti.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 seconda di quanti argomenti passiamo da riga di comando, la JVM istanzierà l’array di stringhe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args</a:t>
            </a:r>
            <a:r>
              <a:rPr lang="it-IT" sz="1800" dirty="0">
                <a:effectLst/>
                <a:latin typeface="Times New Roman" panose="02020603050405020304" pitchFamily="18" charset="0"/>
                <a:ea typeface="Times New Roman" panose="02020603050405020304" pitchFamily="18" charset="0"/>
              </a:rPr>
              <a:t> di lunghezza pari al numero di argomenti passati, e lo inizializzerà come abbiamo detto. Per esempio il seguente codice:</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TestArgs</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System.out.println(args[0]);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stamperà solo il primo eventuale argomento passato da riga di comando. Se però non passeremo nessun argomento da riga di comando, il programma terminerà con la seguente eccezione:</a:t>
            </a:r>
          </a:p>
          <a:p>
            <a:r>
              <a:rPr lang="en-GB" sz="1800" dirty="0">
                <a:solidFill>
                  <a:srgbClr val="FFFFFF"/>
                </a:solidFill>
                <a:effectLst/>
                <a:latin typeface="Courier New" panose="02070309020205020404" pitchFamily="49" charset="0"/>
                <a:ea typeface="MS Mincho" panose="02020609040205080304" pitchFamily="49" charset="-128"/>
              </a:rPr>
              <a:t>Exception in thread "main" </a:t>
            </a:r>
            <a:r>
              <a:rPr lang="en-GB" sz="1800" dirty="0" err="1">
                <a:solidFill>
                  <a:srgbClr val="FFFFFF"/>
                </a:solidFill>
                <a:effectLst/>
                <a:latin typeface="Courier New" panose="02070309020205020404" pitchFamily="49" charset="0"/>
                <a:ea typeface="MS Mincho" panose="02020609040205080304" pitchFamily="49" charset="-128"/>
              </a:rPr>
              <a:t>java.lang.ArrayIndexOutOfBoundsException</a:t>
            </a:r>
            <a:r>
              <a:rPr lang="en-GB" sz="1800" dirty="0">
                <a:solidFill>
                  <a:srgbClr val="FFFFFF"/>
                </a:solidFill>
                <a:effectLst/>
                <a:latin typeface="Courier New" panose="02070309020205020404" pitchFamily="49" charset="0"/>
                <a:ea typeface="MS Mincho" panose="02020609040205080304" pitchFamily="49" charset="-128"/>
              </a:rPr>
              <a:t>: 0</a:t>
            </a:r>
            <a:endParaRPr lang="it-IT" sz="1800" dirty="0">
              <a:solidFill>
                <a:srgbClr val="FFFFFF"/>
              </a:solidFill>
              <a:effectLst/>
              <a:latin typeface="Courier New" panose="02070309020205020404" pitchFamily="49" charset="0"/>
              <a:ea typeface="MS Mincho" panose="02020609040205080304" pitchFamily="49" charset="-128"/>
            </a:endParaRPr>
          </a:p>
          <a:p>
            <a:r>
              <a:rPr lang="en-GB" sz="1800" dirty="0">
                <a:solidFill>
                  <a:srgbClr val="FFFFFF"/>
                </a:solidFill>
                <a:effectLst/>
                <a:latin typeface="Courier New" panose="02070309020205020404" pitchFamily="49" charset="0"/>
                <a:ea typeface="MS Mincho" panose="02020609040205080304" pitchFamily="49" charset="-128"/>
              </a:rPr>
              <a:t>	at </a:t>
            </a:r>
            <a:r>
              <a:rPr lang="en-GB" sz="1800" dirty="0" err="1">
                <a:solidFill>
                  <a:srgbClr val="FFFFFF"/>
                </a:solidFill>
                <a:effectLst/>
                <a:latin typeface="Courier New" panose="02070309020205020404" pitchFamily="49" charset="0"/>
                <a:ea typeface="MS Mincho" panose="02020609040205080304" pitchFamily="49" charset="-128"/>
              </a:rPr>
              <a:t>TestArgs.main</a:t>
            </a:r>
            <a:r>
              <a:rPr lang="en-GB" sz="1800" dirty="0">
                <a:solidFill>
                  <a:srgbClr val="FFFFFF"/>
                </a:solidFill>
                <a:effectLst/>
                <a:latin typeface="Courier New" panose="02070309020205020404" pitchFamily="49" charset="0"/>
                <a:ea typeface="MS Mincho" panose="02020609040205080304" pitchFamily="49" charset="-128"/>
              </a:rPr>
              <a:t>(TestArgs.java:3)</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Studieremo le eccezioni approfonditamente in un capitolo dedicato, ma già dal prossimo capitolo, dove studieremo cicli e condizioni, impareremo a scrivere programmi che non si interrompano così facilmente.</a:t>
            </a:r>
          </a:p>
        </p:txBody>
      </p:sp>
    </p:spTree>
    <p:extLst>
      <p:ext uri="{BB962C8B-B14F-4D97-AF65-F5344CB8AC3E}">
        <p14:creationId xmlns:p14="http://schemas.microsoft.com/office/powerpoint/2010/main" val="25897475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200" dirty="0">
                <a:effectLst/>
                <a:latin typeface="Times New Roman" panose="02020603050405020304" pitchFamily="18" charset="0"/>
                <a:ea typeface="Times New Roman" panose="02020603050405020304" pitchFamily="18" charset="0"/>
              </a:rPr>
              <a:t>Questo paragrafo parla della più importante novità introdotta con Java 10. A dispetto del nome complicato, in realtà si tratta di una caratteristica piuttosto semplice. Per prima cosa cerchiamo di capire cosa intendiamo con </a:t>
            </a:r>
            <a:r>
              <a:rPr lang="it-IT" sz="1200" b="1" dirty="0">
                <a:effectLst/>
                <a:latin typeface="Times New Roman" panose="02020603050405020304" pitchFamily="18" charset="0"/>
                <a:ea typeface="Times New Roman" panose="02020603050405020304" pitchFamily="18" charset="0"/>
              </a:rPr>
              <a:t>deduzione del tipo per le variabili locali</a:t>
            </a:r>
            <a:r>
              <a:rPr lang="it-IT" sz="1200" dirty="0">
                <a:effectLst/>
                <a:latin typeface="Times New Roman" panose="02020603050405020304" pitchFamily="18" charset="0"/>
                <a:ea typeface="Times New Roman" panose="02020603050405020304" pitchFamily="18" charset="0"/>
              </a:rPr>
              <a:t> (in inglese </a:t>
            </a:r>
            <a:r>
              <a:rPr lang="it-IT" sz="1200" b="1" dirty="0">
                <a:effectLst/>
                <a:latin typeface="Times New Roman" panose="02020603050405020304" pitchFamily="18" charset="0"/>
                <a:ea typeface="Times New Roman" panose="02020603050405020304" pitchFamily="18" charset="0"/>
              </a:rPr>
              <a:t>Local Variable Type Inference</a:t>
            </a:r>
            <a:r>
              <a:rPr lang="it-IT" sz="1200" dirty="0">
                <a:effectLst/>
                <a:latin typeface="Times New Roman" panose="02020603050405020304" pitchFamily="18" charset="0"/>
                <a:ea typeface="Times New Roman" panose="02020603050405020304" pitchFamily="18" charset="0"/>
              </a:rPr>
              <a:t>). </a:t>
            </a:r>
          </a:p>
          <a:p>
            <a:pPr marL="1143000" lvl="2" indent="-228600">
              <a:spcAft>
                <a:spcPts val="1190"/>
              </a:spcAft>
              <a:buFont typeface="Arial" panose="020B0604020202020204" pitchFamily="34" charset="0"/>
              <a:buChar char=""/>
            </a:pPr>
            <a:r>
              <a:rPr lang="it-IT" sz="1300" b="1" dirty="0">
                <a:effectLst/>
                <a:latin typeface="Arial" panose="020B0604020202020204" pitchFamily="34" charset="0"/>
              </a:rPr>
              <a:t>3.7.1 Verbosità e leggibilità</a:t>
            </a:r>
          </a:p>
          <a:p>
            <a:r>
              <a:rPr lang="it-IT" sz="1200" dirty="0">
                <a:effectLst/>
                <a:latin typeface="Times New Roman" panose="02020603050405020304" pitchFamily="18" charset="0"/>
                <a:ea typeface="Times New Roman" panose="02020603050405020304" pitchFamily="18" charset="0"/>
              </a:rPr>
              <a:t>Negli ultimi anni, una parte importante dell’evoluzione del linguaggio Java è stata dedicata a rendere la sintassi più sintetica (nella programmazione solitamente si preferisce dire </a:t>
            </a:r>
            <a:r>
              <a:rPr lang="it-IT" sz="1200" i="1" dirty="0">
                <a:effectLst/>
                <a:latin typeface="Times New Roman" panose="02020603050405020304" pitchFamily="18" charset="0"/>
                <a:ea typeface="Times New Roman" panose="02020603050405020304" pitchFamily="18" charset="0"/>
              </a:rPr>
              <a:t>meno verbosa</a:t>
            </a:r>
            <a:r>
              <a:rPr lang="it-IT" sz="1200" dirty="0">
                <a:effectLst/>
                <a:latin typeface="Times New Roman" panose="02020603050405020304" pitchFamily="18" charset="0"/>
                <a:ea typeface="Times New Roman" panose="02020603050405020304" pitchFamily="18" charset="0"/>
              </a:rPr>
              <a:t>). Per fare ciò, si è soprattutto cercato di assegnare ulteriori compiti al compilatore. Nel caso della deduzione del tipo per le variabili locali, il compilatore, riesce a dedurre automaticamente il tipo della variabile locale che stiamo dichiarando, permettendoci di utilizzare la parola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200" dirty="0">
                <a:effectLst/>
                <a:latin typeface="Times New Roman" panose="02020603050405020304" pitchFamily="18" charset="0"/>
                <a:ea typeface="Times New Roman" panose="02020603050405020304" pitchFamily="18" charset="0"/>
              </a:rPr>
              <a:t>, in luogo del tipo della variabile. Per esempio, supponiamo di avere 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LibroSuJava</a:t>
            </a:r>
            <a:r>
              <a:rPr lang="it-IT" sz="1200" dirty="0">
                <a:effectLst/>
                <a:latin typeface="Times New Roman" panose="02020603050405020304" pitchFamily="18" charset="0"/>
                <a:ea typeface="Times New Roman" panose="02020603050405020304" pitchFamily="18" charset="0"/>
              </a:rPr>
              <a:t>, sappiamo istanziarne un oggetto con la seguente sintassi:</a:t>
            </a:r>
          </a:p>
          <a:p>
            <a:r>
              <a:rPr lang="it-IT" sz="1000" dirty="0">
                <a:solidFill>
                  <a:srgbClr val="000000"/>
                </a:solidFill>
                <a:effectLst/>
                <a:latin typeface="Courier New" panose="02070309020205020404" pitchFamily="49" charset="0"/>
                <a:ea typeface="Times New Roman" panose="02020603050405020304" pitchFamily="18" charset="0"/>
              </a:rPr>
              <a:t>LibroSuJava ogg1 = new LibroSuJava();</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Sfruttando la deduzione del tipo per le variabili locali, possiamo invece scrivere:</a:t>
            </a:r>
          </a:p>
          <a:p>
            <a:r>
              <a:rPr lang="it-IT" sz="1000" dirty="0">
                <a:solidFill>
                  <a:srgbClr val="000000"/>
                </a:solidFill>
                <a:effectLst/>
                <a:latin typeface="Courier New" panose="02070309020205020404" pitchFamily="49" charset="0"/>
                <a:ea typeface="Times New Roman" panose="02020603050405020304" pitchFamily="18" charset="0"/>
              </a:rPr>
              <a:t>var ogg1 = new LibroSuJava();</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Il compilatore infatti, è capace di dedurre il tipo della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200" dirty="0">
                <a:effectLst/>
                <a:latin typeface="Times New Roman" panose="02020603050405020304" pitchFamily="18" charset="0"/>
                <a:ea typeface="Times New Roman" panose="02020603050405020304" pitchFamily="18" charset="0"/>
              </a:rPr>
              <a:t> leggendo la sua inizializzazione, ovvero la </a:t>
            </a:r>
            <a:r>
              <a:rPr lang="it-IT" sz="1200" b="1" dirty="0">
                <a:effectLst/>
                <a:latin typeface="Times New Roman" panose="02020603050405020304" pitchFamily="18" charset="0"/>
                <a:ea typeface="Times New Roman" panose="02020603050405020304" pitchFamily="18" charset="0"/>
              </a:rPr>
              <a:t>parte destra</a:t>
            </a:r>
            <a:r>
              <a:rPr lang="it-IT" sz="1200" dirty="0">
                <a:effectLst/>
                <a:latin typeface="Times New Roman" panose="02020603050405020304" pitchFamily="18" charset="0"/>
                <a:ea typeface="Times New Roman" panose="02020603050405020304" pitchFamily="18" charset="0"/>
              </a:rPr>
              <a:t> (in inglese </a:t>
            </a:r>
            <a:r>
              <a:rPr lang="it-IT" sz="1200" b="1" dirty="0" err="1">
                <a:effectLst/>
                <a:latin typeface="Times New Roman" panose="02020603050405020304" pitchFamily="18" charset="0"/>
                <a:ea typeface="Times New Roman" panose="02020603050405020304" pitchFamily="18" charset="0"/>
              </a:rPr>
              <a:t>right</a:t>
            </a:r>
            <a:r>
              <a:rPr lang="it-IT" sz="1200" b="1" dirty="0">
                <a:effectLst/>
                <a:latin typeface="Times New Roman" panose="02020603050405020304" pitchFamily="18" charset="0"/>
                <a:ea typeface="Times New Roman" panose="02020603050405020304" pitchFamily="18" charset="0"/>
              </a:rPr>
              <a:t> hand side</a:t>
            </a:r>
            <a:r>
              <a:rPr lang="it-IT" sz="1200" dirty="0">
                <a:effectLst/>
                <a:latin typeface="Times New Roman" panose="02020603050405020304" pitchFamily="18" charset="0"/>
                <a:ea typeface="Times New Roman" panose="02020603050405020304" pitchFamily="18" charset="0"/>
              </a:rPr>
              <a:t> che viene spesso abbreviato in </a:t>
            </a:r>
            <a:r>
              <a:rPr lang="it-IT" sz="1200" b="1" dirty="0">
                <a:effectLst/>
                <a:latin typeface="Times New Roman" panose="02020603050405020304" pitchFamily="18" charset="0"/>
                <a:ea typeface="Times New Roman" panose="02020603050405020304" pitchFamily="18" charset="0"/>
              </a:rPr>
              <a:t>RHS</a:t>
            </a:r>
            <a:r>
              <a:rPr lang="it-IT" sz="1200" dirty="0">
                <a:effectLst/>
                <a:latin typeface="Times New Roman" panose="02020603050405020304" pitchFamily="18" charset="0"/>
                <a:ea typeface="Times New Roman" panose="02020603050405020304" pitchFamily="18" charset="0"/>
              </a:rPr>
              <a:t>) della dichiarazione. In particolare nel caso dell’esempio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200" dirty="0">
                <a:effectLst/>
                <a:latin typeface="Times New Roman" panose="02020603050405020304" pitchFamily="18" charset="0"/>
                <a:ea typeface="Times New Roman" panose="02020603050405020304" pitchFamily="18" charset="0"/>
              </a:rPr>
              <a:t> di parla di </a:t>
            </a:r>
            <a:r>
              <a:rPr lang="it-IT" sz="1200" b="1" dirty="0">
                <a:effectLst/>
                <a:latin typeface="Times New Roman" panose="02020603050405020304" pitchFamily="18" charset="0"/>
                <a:ea typeface="Times New Roman" panose="02020603050405020304" pitchFamily="18" charset="0"/>
              </a:rPr>
              <a:t>tipo manifesto</a:t>
            </a:r>
            <a:r>
              <a:rPr lang="it-IT" sz="1200" dirty="0">
                <a:effectLst/>
                <a:latin typeface="Times New Roman" panose="02020603050405020304" pitchFamily="18" charset="0"/>
                <a:ea typeface="Times New Roman" panose="02020603050405020304" pitchFamily="18" charset="0"/>
              </a:rPr>
              <a:t> (in inglese </a:t>
            </a:r>
            <a:r>
              <a:rPr lang="it-IT" sz="1200" b="1" dirty="0">
                <a:effectLst/>
                <a:latin typeface="Times New Roman" panose="02020603050405020304" pitchFamily="18" charset="0"/>
                <a:ea typeface="Times New Roman" panose="02020603050405020304" pitchFamily="18" charset="0"/>
              </a:rPr>
              <a:t>manifest type</a:t>
            </a:r>
            <a:r>
              <a:rPr lang="it-IT" sz="1200" dirty="0">
                <a:effectLst/>
                <a:latin typeface="Times New Roman" panose="02020603050405020304" pitchFamily="18" charset="0"/>
                <a:ea typeface="Times New Roman" panose="02020603050405020304" pitchFamily="18" charset="0"/>
              </a:rPr>
              <a:t>). Il vantaggio è che abbiamo scritto meno codice, rischiando di sbagliare di meno e senza compromettere la leggibilità. Infatti leggendo la dichiarazione, possiamo capire il tipo della variabile anche noi, basandoci sulla parte destra, invece che sulla parte sinistra.</a:t>
            </a:r>
          </a:p>
          <a:p>
            <a:r>
              <a:rPr lang="it-IT" sz="1200" dirty="0">
                <a:effectLst/>
                <a:latin typeface="Times New Roman" panose="02020603050405020304" pitchFamily="18" charset="0"/>
                <a:ea typeface="Times New Roman" panose="02020603050405020304" pitchFamily="18" charset="0"/>
              </a:rPr>
              <a:t>La deduzione del tipo però, avrebbe luogo anche nel caso in cui, invece di assegnare alla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200" dirty="0">
                <a:effectLst/>
                <a:latin typeface="Times New Roman" panose="02020603050405020304" pitchFamily="18" charset="0"/>
                <a:ea typeface="Times New Roman" panose="02020603050405020304" pitchFamily="18" charset="0"/>
              </a:rPr>
              <a:t> manifestamente un’istanza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LibroSuJava</a:t>
            </a:r>
            <a:r>
              <a:rPr lang="it-IT" sz="1200" dirty="0">
                <a:effectLst/>
                <a:latin typeface="Times New Roman" panose="02020603050405020304" pitchFamily="18" charset="0"/>
                <a:ea typeface="Times New Roman" panose="02020603050405020304" pitchFamily="18" charset="0"/>
              </a:rPr>
              <a:t>, le assegnassimo il valore di ritorno di un metodo. Per esempio, supponiamo di avere a disposizione nella stessa classe il seguente metodo:</a:t>
            </a:r>
          </a:p>
          <a:p>
            <a:r>
              <a:rPr lang="it-IT" sz="1000" dirty="0">
                <a:solidFill>
                  <a:srgbClr val="000000"/>
                </a:solidFill>
                <a:effectLst/>
                <a:latin typeface="Courier New" panose="02070309020205020404" pitchFamily="49" charset="0"/>
                <a:ea typeface="Times New Roman" panose="02020603050405020304" pitchFamily="18" charset="0"/>
              </a:rPr>
              <a:t>public LibroSuJava </a:t>
            </a:r>
            <a:r>
              <a:rPr lang="it-IT" sz="1000" dirty="0" err="1">
                <a:solidFill>
                  <a:srgbClr val="000000"/>
                </a:solidFill>
                <a:effectLst/>
                <a:latin typeface="Courier New" panose="02070309020205020404" pitchFamily="49" charset="0"/>
                <a:ea typeface="Times New Roman" panose="02020603050405020304" pitchFamily="18" charset="0"/>
              </a:rPr>
              <a:t>getIstanza</a:t>
            </a:r>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return new LibroSuJava();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potremmo comunque sfruttare la deduzione del tipo in questo modo:</a:t>
            </a:r>
          </a:p>
          <a:p>
            <a:r>
              <a:rPr lang="it-IT" sz="1000" dirty="0">
                <a:solidFill>
                  <a:srgbClr val="000000"/>
                </a:solidFill>
                <a:effectLst/>
                <a:latin typeface="Courier New" panose="02070309020205020404" pitchFamily="49" charset="0"/>
                <a:ea typeface="Times New Roman" panose="02020603050405020304" pitchFamily="18" charset="0"/>
              </a:rPr>
              <a:t>var ogg2 = </a:t>
            </a:r>
            <a:r>
              <a:rPr lang="it-IT" sz="1000" dirty="0" err="1">
                <a:solidFill>
                  <a:srgbClr val="000000"/>
                </a:solidFill>
                <a:effectLst/>
                <a:latin typeface="Courier New" panose="02070309020205020404" pitchFamily="49" charset="0"/>
                <a:ea typeface="Times New Roman" panose="02020603050405020304" pitchFamily="18" charset="0"/>
              </a:rPr>
              <a:t>getIstanza</a:t>
            </a:r>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Ovviamente nel caso del tipo manifesto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200" dirty="0">
                <a:effectLst/>
                <a:latin typeface="Times New Roman" panose="02020603050405020304" pitchFamily="18" charset="0"/>
                <a:ea typeface="Times New Roman" panose="02020603050405020304" pitchFamily="18" charset="0"/>
              </a:rPr>
              <a:t>), leggendo la parte destra della dichiarazione, non avremmo mai avuto dubbi riguardo il tipo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ogg1</a:t>
            </a:r>
            <a:r>
              <a:rPr lang="it-IT" sz="1200" dirty="0">
                <a:effectLst/>
                <a:latin typeface="Times New Roman" panose="02020603050405020304" pitchFamily="18" charset="0"/>
                <a:ea typeface="Times New Roman" panose="02020603050405020304" pitchFamily="18" charset="0"/>
              </a:rPr>
              <a:t>. Nel caso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ogg2</a:t>
            </a:r>
            <a:r>
              <a:rPr lang="it-IT" sz="1200" dirty="0">
                <a:effectLst/>
                <a:latin typeface="Times New Roman" panose="02020603050405020304" pitchFamily="18" charset="0"/>
                <a:ea typeface="Times New Roman" panose="02020603050405020304" pitchFamily="18" charset="0"/>
              </a:rPr>
              <a:t> invece, senza leggere la dichiarazione del metodo, non possiamo essere sicuri che ritorni proprio un’istanza del tipo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LibroSuJava</a:t>
            </a:r>
            <a:r>
              <a:rPr lang="it-IT" sz="1200" dirty="0">
                <a:effectLst/>
                <a:latin typeface="Times New Roman" panose="02020603050405020304" pitchFamily="18" charset="0"/>
                <a:ea typeface="Times New Roman" panose="02020603050405020304" pitchFamily="18" charset="0"/>
              </a:rPr>
              <a:t>. Quindi non bisogna utilizzare questa caratteristica in maniera ingiustificata. </a:t>
            </a:r>
          </a:p>
          <a:p>
            <a:r>
              <a:rPr lang="it-IT" sz="1200" dirty="0">
                <a:effectLst/>
                <a:latin typeface="Times New Roman" panose="02020603050405020304" pitchFamily="18" charset="0"/>
                <a:ea typeface="Times New Roman" panose="02020603050405020304" pitchFamily="18" charset="0"/>
              </a:rPr>
              <a:t>Possiamo avere casi in cui si migliora la </a:t>
            </a:r>
            <a:r>
              <a:rPr lang="it-IT" sz="1200" i="1" dirty="0">
                <a:effectLst/>
                <a:latin typeface="Times New Roman" panose="02020603050405020304" pitchFamily="18" charset="0"/>
                <a:ea typeface="Times New Roman" panose="02020603050405020304" pitchFamily="18" charset="0"/>
              </a:rPr>
              <a:t>verbosità</a:t>
            </a:r>
            <a:r>
              <a:rPr lang="it-IT" sz="1200" dirty="0">
                <a:effectLst/>
                <a:latin typeface="Times New Roman" panose="02020603050405020304" pitchFamily="18" charset="0"/>
                <a:ea typeface="Times New Roman" panose="02020603050405020304" pitchFamily="18" charset="0"/>
              </a:rPr>
              <a:t> del nostro codice a discapito della </a:t>
            </a:r>
            <a:r>
              <a:rPr lang="it-IT" sz="1200" i="1" dirty="0">
                <a:effectLst/>
                <a:latin typeface="Times New Roman" panose="02020603050405020304" pitchFamily="18" charset="0"/>
                <a:ea typeface="Times New Roman" panose="02020603050405020304" pitchFamily="18" charset="0"/>
              </a:rPr>
              <a:t>leggibilità</a:t>
            </a:r>
            <a:r>
              <a:rPr lang="it-IT" sz="1200" dirty="0">
                <a:effectLst/>
                <a:latin typeface="Times New Roman" panose="02020603050405020304" pitchFamily="18" charset="0"/>
                <a:ea typeface="Times New Roman" panose="02020603050405020304" pitchFamily="18" charset="0"/>
              </a:rPr>
              <a:t>, e nonostante la soggettività del significato che ognuno di noi può dare a questa parola, bisogna essere consapevoli che il codice che scriviamo dovrebbe essere facilmente leggibile anche da parte di altri sviluppatori. Bisognerebbe sempre favorire la manutenzione dei nostri programmi piuttosto che risparmiare qualche digitazione sulla tastiera.</a:t>
            </a:r>
          </a:p>
          <a:p>
            <a:r>
              <a:rPr lang="it-IT" sz="1200" b="1" dirty="0">
                <a:effectLst/>
                <a:latin typeface="Times New Roman" panose="02020603050405020304" pitchFamily="18" charset="0"/>
                <a:ea typeface="Times New Roman" panose="02020603050405020304" pitchFamily="18" charset="0"/>
              </a:rPr>
              <a:t>(ICONA BEST PRACTICE)</a:t>
            </a:r>
            <a:endParaRPr lang="it-IT" sz="1200"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 tal proposito, l’utilizzo di questa caratteristica accresce in modo esponenziale l’importanza della scelta del nome di questa variabile. L’identificatore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ogg2</a:t>
            </a:r>
            <a:r>
              <a:rPr lang="it-IT" sz="1200" dirty="0">
                <a:effectLst/>
                <a:latin typeface="Times New Roman" panose="02020603050405020304" pitchFamily="18" charset="0"/>
                <a:ea typeface="Times New Roman" panose="02020603050405020304" pitchFamily="18" charset="0"/>
              </a:rPr>
              <a:t> non sembra essere accettabile, perché mai ci darà informazioni sul suo tipo. Se proprio si decide di voler utilizzare il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getIstanza</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200" dirty="0">
                <a:effectLst/>
                <a:latin typeface="Times New Roman" panose="02020603050405020304" pitchFamily="18" charset="0"/>
                <a:ea typeface="Times New Roman" panose="02020603050405020304" pitchFamily="18" charset="0"/>
              </a:rPr>
              <a:t> e la parola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var</a:t>
            </a:r>
            <a:r>
              <a:rPr lang="it-IT" sz="1200" dirty="0">
                <a:effectLst/>
                <a:latin typeface="Times New Roman" panose="02020603050405020304" pitchFamily="18" charset="0"/>
                <a:ea typeface="Times New Roman" panose="02020603050405020304" pitchFamily="18" charset="0"/>
              </a:rPr>
              <a:t>, allora potrebbe essere accettabile cambiare il nome dell’identificatore, per esempio:</a:t>
            </a:r>
          </a:p>
          <a:p>
            <a:r>
              <a:rPr lang="it-IT" sz="1000" dirty="0">
                <a:solidFill>
                  <a:srgbClr val="000000"/>
                </a:solidFill>
                <a:effectLst/>
                <a:latin typeface="Courier New" panose="02070309020205020404" pitchFamily="49" charset="0"/>
                <a:ea typeface="Times New Roman" panose="02020603050405020304" pitchFamily="18" charset="0"/>
              </a:rPr>
              <a:t>var </a:t>
            </a:r>
            <a:r>
              <a:rPr lang="it-IT" sz="1000" dirty="0" err="1">
                <a:solidFill>
                  <a:srgbClr val="000000"/>
                </a:solidFill>
                <a:effectLst/>
                <a:latin typeface="Courier New" panose="02070309020205020404" pitchFamily="49" charset="0"/>
                <a:ea typeface="Times New Roman" panose="02020603050405020304" pitchFamily="18" charset="0"/>
              </a:rPr>
              <a:t>libroSuJava</a:t>
            </a:r>
            <a:r>
              <a:rPr lang="it-IT" sz="1000" dirty="0">
                <a:solidFill>
                  <a:srgbClr val="000000"/>
                </a:solidFill>
                <a:effectLst/>
                <a:latin typeface="Courier New" panose="02070309020205020404" pitchFamily="49" charset="0"/>
                <a:ea typeface="Times New Roman" panose="02020603050405020304" pitchFamily="18" charset="0"/>
              </a:rPr>
              <a:t> = </a:t>
            </a:r>
            <a:r>
              <a:rPr lang="it-IT" sz="1000" dirty="0" err="1">
                <a:solidFill>
                  <a:srgbClr val="000000"/>
                </a:solidFill>
                <a:effectLst/>
                <a:latin typeface="Courier New" panose="02070309020205020404" pitchFamily="49" charset="0"/>
                <a:ea typeface="Times New Roman" panose="02020603050405020304" pitchFamily="18" charset="0"/>
              </a:rPr>
              <a:t>getIstanza</a:t>
            </a:r>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 quel punto potremmo supporre ragionevolmente il tipo della variabile.</a:t>
            </a:r>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871424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342900" indent="-342900">
              <a:buFont typeface="Arial" panose="020B0604020202020204" pitchFamily="34" charset="0"/>
              <a:buChar char="•"/>
            </a:pPr>
            <a:r>
              <a:rPr lang="it-IT" sz="1200" b="1" dirty="0"/>
              <a:t>Si migliora la verbosità del nostro codice a discapito della leggibilità, e nonostante la soggettività del significato che ognuno di noi può dare a questa parola, bisogna essere consapevoli che il codice che scriviamo dovrebbe essere facilmente leggibile anche da parte di altri sviluppatori. Bisognerebbe sempre favorire la manutenzione dei nostri programmi piuttosto che risparmiare qualche digitazione sulla tastiera.</a:t>
            </a:r>
          </a:p>
        </p:txBody>
      </p:sp>
    </p:spTree>
    <p:extLst>
      <p:ext uri="{BB962C8B-B14F-4D97-AF65-F5344CB8AC3E}">
        <p14:creationId xmlns:p14="http://schemas.microsoft.com/office/powerpoint/2010/main" val="17635004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342900" indent="-342900">
              <a:buFont typeface="Arial" panose="020B0604020202020204" pitchFamily="34" charset="0"/>
              <a:buChar char="•"/>
            </a:pPr>
            <a:r>
              <a:rPr lang="it-IT" sz="1200" b="1" dirty="0"/>
              <a:t>Si migliora la verbosità del nostro codice a discapito della leggibilità, e nonostante la soggettività del significato che ognuno di noi può dare a questa parola, bisogna essere consapevoli che il codice che scriviamo dovrebbe essere facilmente leggibile anche da parte di altri sviluppatori. Bisognerebbe sempre favorire la manutenzione dei nostri programmi piuttosto che risparmiare qualche digitazione sulla tastiera.</a:t>
            </a:r>
          </a:p>
        </p:txBody>
      </p:sp>
    </p:spTree>
    <p:extLst>
      <p:ext uri="{BB962C8B-B14F-4D97-AF65-F5344CB8AC3E}">
        <p14:creationId xmlns:p14="http://schemas.microsoft.com/office/powerpoint/2010/main" val="31796287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342900" indent="-342900">
              <a:buFont typeface="Arial" panose="020B0604020202020204" pitchFamily="34" charset="0"/>
              <a:buChar char="•"/>
            </a:pPr>
            <a:r>
              <a:rPr lang="it-IT" sz="1200" b="1" dirty="0"/>
              <a:t>Applicabilità</a:t>
            </a:r>
          </a:p>
        </p:txBody>
      </p:sp>
    </p:spTree>
    <p:extLst>
      <p:ext uri="{BB962C8B-B14F-4D97-AF65-F5344CB8AC3E}">
        <p14:creationId xmlns:p14="http://schemas.microsoft.com/office/powerpoint/2010/main" val="27962229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342900" indent="-342900">
              <a:buFont typeface="Arial" panose="020B0604020202020204" pitchFamily="34" charset="0"/>
              <a:buChar char="•"/>
            </a:pPr>
            <a:r>
              <a:rPr lang="it-IT" sz="1200" b="1" dirty="0"/>
              <a:t>Applicabilità</a:t>
            </a:r>
          </a:p>
        </p:txBody>
      </p:sp>
    </p:spTree>
    <p:extLst>
      <p:ext uri="{BB962C8B-B14F-4D97-AF65-F5344CB8AC3E}">
        <p14:creationId xmlns:p14="http://schemas.microsoft.com/office/powerpoint/2010/main" val="25667966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342900" indent="-342900">
              <a:buFont typeface="Arial" panose="020B0604020202020204" pitchFamily="34" charset="0"/>
              <a:buChar char="•"/>
            </a:pPr>
            <a:r>
              <a:rPr lang="it-IT" sz="1200" b="1" dirty="0"/>
              <a:t>Applicabilità</a:t>
            </a:r>
          </a:p>
        </p:txBody>
      </p:sp>
    </p:spTree>
    <p:extLst>
      <p:ext uri="{BB962C8B-B14F-4D97-AF65-F5344CB8AC3E}">
        <p14:creationId xmlns:p14="http://schemas.microsoft.com/office/powerpoint/2010/main" val="167120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è a </a:t>
            </a:r>
            <a:r>
              <a:rPr lang="it-IT" sz="1800" b="1" dirty="0">
                <a:effectLst/>
                <a:latin typeface="Times New Roman" panose="02020603050405020304" pitchFamily="18" charset="0"/>
                <a:ea typeface="Times New Roman" panose="02020603050405020304" pitchFamily="18" charset="0"/>
              </a:rPr>
              <a:t>schema libero</a:t>
            </a:r>
            <a:r>
              <a:rPr lang="it-IT" sz="1800" dirty="0">
                <a:effectLst/>
                <a:latin typeface="Times New Roman" panose="02020603050405020304" pitchFamily="18" charset="0"/>
                <a:ea typeface="Times New Roman" panose="02020603050405020304" pitchFamily="18" charset="0"/>
              </a:rPr>
              <a:t> ma l’indentazione del codice è fondamentale per la leggibilità dei nostri programmi. Supporta tre tipologie di </a:t>
            </a:r>
            <a:r>
              <a:rPr lang="it-IT" sz="1800" b="1" dirty="0">
                <a:effectLst/>
                <a:latin typeface="Times New Roman" panose="02020603050405020304" pitchFamily="18" charset="0"/>
                <a:ea typeface="Times New Roman" panose="02020603050405020304" pitchFamily="18" charset="0"/>
              </a:rPr>
              <a:t>commenti</a:t>
            </a:r>
            <a:r>
              <a:rPr lang="it-IT" sz="1800" dirty="0">
                <a:effectLst/>
                <a:latin typeface="Times New Roman" panose="02020603050405020304" pitchFamily="18" charset="0"/>
                <a:ea typeface="Times New Roman" panose="02020603050405020304" pitchFamily="18" charset="0"/>
              </a:rPr>
              <a:t> (a singola </a:t>
            </a:r>
            <a:r>
              <a:rPr lang="it-IT" sz="1800" b="1" dirty="0">
                <a:effectLst/>
                <a:latin typeface="Times New Roman" panose="02020603050405020304" pitchFamily="18" charset="0"/>
                <a:ea typeface="Times New Roman" panose="02020603050405020304" pitchFamily="18" charset="0"/>
              </a:rPr>
              <a:t>linea</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multilinea</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È un linguaggio </a:t>
            </a:r>
            <a:r>
              <a:rPr lang="it-IT" sz="1800" b="1" dirty="0">
                <a:effectLst/>
                <a:latin typeface="Times New Roman" panose="02020603050405020304" pitchFamily="18" charset="0"/>
                <a:ea typeface="Times New Roman" panose="02020603050405020304" pitchFamily="18" charset="0"/>
              </a:rPr>
              <a:t>case sensitive</a:t>
            </a:r>
            <a:r>
              <a:rPr lang="it-IT" sz="1800" dirty="0">
                <a:effectLst/>
                <a:latin typeface="Times New Roman" panose="02020603050405020304" pitchFamily="18" charset="0"/>
                <a:ea typeface="Times New Roman" panose="02020603050405020304" pitchFamily="18" charset="0"/>
              </a:rPr>
              <a:t> e definisce </a:t>
            </a:r>
            <a:r>
              <a:rPr lang="it-IT" sz="1800" b="1" dirty="0">
                <a:effectLst/>
                <a:latin typeface="Times New Roman" panose="02020603050405020304" pitchFamily="18" charset="0"/>
                <a:ea typeface="Times New Roman" panose="02020603050405020304" pitchFamily="18" charset="0"/>
              </a:rPr>
              <a:t>parole chiave</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riservate</a:t>
            </a:r>
            <a:r>
              <a:rPr lang="it-IT" sz="1800" dirty="0">
                <a:effectLst/>
                <a:latin typeface="Times New Roman" panose="02020603050405020304" pitchFamily="18" charset="0"/>
                <a:ea typeface="Times New Roman" panose="02020603050405020304" pitchFamily="18" charset="0"/>
              </a:rPr>
              <a:t> che non possono essere usate come </a:t>
            </a:r>
            <a:r>
              <a:rPr lang="it-IT" sz="1800" b="1"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e </a:t>
            </a:r>
            <a:r>
              <a:rPr lang="it-IT" sz="1800" b="1" dirty="0">
                <a:effectLst/>
                <a:latin typeface="Times New Roman" panose="02020603050405020304" pitchFamily="18" charset="0"/>
                <a:ea typeface="Times New Roman" panose="02020603050405020304" pitchFamily="18" charset="0"/>
              </a:rPr>
              <a:t>parole a utilizzo limitate</a:t>
            </a:r>
            <a:r>
              <a:rPr lang="it-IT" sz="1800" dirty="0">
                <a:effectLst/>
                <a:latin typeface="Times New Roman" panose="02020603050405020304" pitchFamily="18" charset="0"/>
                <a:ea typeface="Times New Roman" panose="02020603050405020304" pitchFamily="18" charset="0"/>
              </a:rPr>
              <a:t> e un </a:t>
            </a:r>
            <a:r>
              <a:rPr lang="it-IT" sz="1800" b="1" dirty="0">
                <a:effectLst/>
                <a:latin typeface="Times New Roman" panose="02020603050405020304" pitchFamily="18" charset="0"/>
                <a:ea typeface="Times New Roman" panose="02020603050405020304" pitchFamily="18" charset="0"/>
              </a:rPr>
              <a:t>nome di tipo riservato</a:t>
            </a:r>
            <a:r>
              <a:rPr lang="it-IT" sz="1800" dirty="0">
                <a:effectLst/>
                <a:latin typeface="Times New Roman" panose="02020603050405020304" pitchFamily="18" charset="0"/>
                <a:ea typeface="Times New Roman" panose="02020603050405020304" pitchFamily="18" charset="0"/>
              </a:rPr>
              <a:t> che in alcuni casi non possono essere usate come </a:t>
            </a:r>
            <a:r>
              <a:rPr lang="it-IT" sz="1800" b="0" dirty="0">
                <a:effectLst/>
                <a:latin typeface="Times New Roman" panose="02020603050405020304" pitchFamily="18" charset="0"/>
                <a:ea typeface="Times New Roman" panose="02020603050405020304" pitchFamily="18" charset="0"/>
              </a:rPr>
              <a:t>identificatori</a:t>
            </a:r>
            <a:r>
              <a:rPr lang="it-IT" sz="1800" dirty="0">
                <a:effectLst/>
                <a:latin typeface="Times New Roman" panose="02020603050405020304" pitchFamily="18" charset="0"/>
                <a:ea typeface="Times New Roman" panose="02020603050405020304" pitchFamily="18" charset="0"/>
              </a:rPr>
              <a:t>. Questi possono essere composti solo da determinati </a:t>
            </a:r>
            <a:r>
              <a:rPr lang="it-IT" sz="1800" b="1" dirty="0">
                <a:effectLst/>
                <a:latin typeface="Times New Roman" panose="02020603050405020304" pitchFamily="18" charset="0"/>
                <a:ea typeface="Times New Roman" panose="02020603050405020304" pitchFamily="18" charset="0"/>
              </a:rPr>
              <a:t>caratteri e simboli</a:t>
            </a:r>
            <a:r>
              <a:rPr lang="it-IT" sz="1800" dirty="0">
                <a:effectLst/>
                <a:latin typeface="Times New Roman" panose="02020603050405020304" pitchFamily="18" charset="0"/>
                <a:ea typeface="Times New Roman" panose="02020603050405020304" pitchFamily="18" charset="0"/>
              </a:rPr>
              <a:t> e vanno dichiarati rispettando le </a:t>
            </a:r>
            <a:r>
              <a:rPr lang="it-IT" sz="1800" b="1" dirty="0">
                <a:effectLst/>
                <a:latin typeface="Times New Roman" panose="02020603050405020304" pitchFamily="18" charset="0"/>
                <a:ea typeface="Times New Roman" panose="02020603050405020304" pitchFamily="18" charset="0"/>
              </a:rPr>
              <a:t>convenzioni standard</a:t>
            </a:r>
            <a:r>
              <a:rPr lang="it-IT" sz="1800" dirty="0">
                <a:effectLst/>
                <a:latin typeface="Times New Roman" panose="02020603050405020304" pitchFamily="18" charset="0"/>
                <a:ea typeface="Times New Roman" panose="02020603050405020304" pitchFamily="18" charset="0"/>
              </a:rPr>
              <a:t> di Java.</a:t>
            </a:r>
          </a:p>
          <a:p>
            <a:r>
              <a:rPr lang="it-IT" sz="1800" dirty="0">
                <a:effectLst/>
                <a:latin typeface="Times New Roman" panose="02020603050405020304" pitchFamily="18" charset="0"/>
                <a:ea typeface="Times New Roman" panose="02020603050405020304" pitchFamily="18" charset="0"/>
              </a:rPr>
              <a:t>La memoria è una sequenza di unità di memoria dette </a:t>
            </a:r>
            <a:r>
              <a:rPr lang="it-IT" sz="1800" b="1" dirty="0">
                <a:effectLst/>
                <a:latin typeface="Times New Roman" panose="02020603050405020304" pitchFamily="18" charset="0"/>
                <a:ea typeface="Times New Roman" panose="02020603050405020304" pitchFamily="18" charset="0"/>
              </a:rPr>
              <a:t>byte</a:t>
            </a:r>
            <a:r>
              <a:rPr lang="it-IT" sz="1800" dirty="0">
                <a:effectLst/>
                <a:latin typeface="Times New Roman" panose="02020603050405020304" pitchFamily="18" charset="0"/>
                <a:ea typeface="Times New Roman" panose="02020603050405020304" pitchFamily="18" charset="0"/>
              </a:rPr>
              <a:t>. Ogni byte è composto da 8 </a:t>
            </a:r>
            <a:r>
              <a:rPr lang="it-IT" sz="1800" b="1" dirty="0">
                <a:effectLst/>
                <a:latin typeface="Times New Roman" panose="02020603050405020304" pitchFamily="18" charset="0"/>
                <a:ea typeface="Times New Roman" panose="02020603050405020304" pitchFamily="18" charset="0"/>
              </a:rPr>
              <a:t>bit</a:t>
            </a:r>
            <a:r>
              <a:rPr lang="it-IT" sz="1800" dirty="0">
                <a:effectLst/>
                <a:latin typeface="Times New Roman" panose="02020603050405020304" pitchFamily="18" charset="0"/>
                <a:ea typeface="Times New Roman" panose="02020603050405020304" pitchFamily="18" charset="0"/>
              </a:rPr>
              <a:t> ed ogni bit può immagazzinare un unico valore tra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 sistemi numerici </a:t>
            </a:r>
            <a:r>
              <a:rPr lang="it-IT" sz="1800" b="1" dirty="0">
                <a:effectLst/>
                <a:latin typeface="Times New Roman" panose="02020603050405020304" pitchFamily="18" charset="0"/>
                <a:ea typeface="Times New Roman" panose="02020603050405020304" pitchFamily="18" charset="0"/>
              </a:rPr>
              <a:t>decimale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binario</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ottale</a:t>
            </a:r>
            <a:r>
              <a:rPr lang="it-IT" sz="1800" dirty="0">
                <a:effectLst/>
                <a:latin typeface="Times New Roman" panose="02020603050405020304" pitchFamily="18" charset="0"/>
                <a:ea typeface="Times New Roman" panose="02020603050405020304" pitchFamily="18" charset="0"/>
              </a:rPr>
              <a:t> ed </a:t>
            </a:r>
            <a:r>
              <a:rPr lang="it-IT" sz="1800" b="1" dirty="0">
                <a:effectLst/>
                <a:latin typeface="Times New Roman" panose="02020603050405020304" pitchFamily="18" charset="0"/>
                <a:ea typeface="Times New Roman" panose="02020603050405020304" pitchFamily="18" charset="0"/>
              </a:rPr>
              <a:t>esadecimale</a:t>
            </a:r>
            <a:r>
              <a:rPr lang="it-IT" sz="1800" dirty="0">
                <a:effectLst/>
                <a:latin typeface="Times New Roman" panose="02020603050405020304" pitchFamily="18" charset="0"/>
                <a:ea typeface="Times New Roman" panose="02020603050405020304" pitchFamily="18" charset="0"/>
              </a:rPr>
              <a:t> sono sistemi posizionali e possono rappresentare qualsiasi dato intero. Java usa il metodo di rappresentazione noto come </a:t>
            </a:r>
            <a:r>
              <a:rPr lang="it-IT" sz="1800" b="1" dirty="0">
                <a:effectLst/>
                <a:latin typeface="Times New Roman" panose="02020603050405020304" pitchFamily="18" charset="0"/>
                <a:ea typeface="Times New Roman" panose="02020603050405020304" pitchFamily="18" charset="0"/>
              </a:rPr>
              <a:t>complemento a due</a:t>
            </a:r>
            <a:r>
              <a:rPr lang="it-IT" sz="1800" dirty="0">
                <a:effectLst/>
                <a:latin typeface="Times New Roman" panose="02020603050405020304" pitchFamily="18" charset="0"/>
                <a:ea typeface="Times New Roman" panose="02020603050405020304" pitchFamily="18" charset="0"/>
              </a:rPr>
              <a:t> per la rappresentazione dei numeri con segno. All’interno di un byte il </a:t>
            </a:r>
            <a:r>
              <a:rPr lang="it-IT" sz="1800" b="1" dirty="0">
                <a:effectLst/>
                <a:latin typeface="Times New Roman" panose="02020603050405020304" pitchFamily="18" charset="0"/>
                <a:ea typeface="Times New Roman" panose="02020603050405020304" pitchFamily="18" charset="0"/>
              </a:rPr>
              <a:t>bit del segno</a:t>
            </a:r>
            <a:r>
              <a:rPr lang="it-IT" sz="1800" dirty="0">
                <a:effectLst/>
                <a:latin typeface="Times New Roman" panose="02020603050405020304" pitchFamily="18" charset="0"/>
                <a:ea typeface="Times New Roman" panose="02020603050405020304" pitchFamily="18" charset="0"/>
              </a:rPr>
              <a:t> conterrà il valore del segno del numero, e ogni byte potrà rappresentare un numero compreso tra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I byte hanno un </a:t>
            </a:r>
            <a:r>
              <a:rPr lang="it-IT" sz="1800" b="1" dirty="0">
                <a:effectLst/>
                <a:latin typeface="Times New Roman" panose="02020603050405020304" pitchFamily="18" charset="0"/>
                <a:ea typeface="Times New Roman" panose="02020603050405020304" pitchFamily="18" charset="0"/>
              </a:rPr>
              <a:t>indirizzo</a:t>
            </a:r>
            <a:r>
              <a:rPr lang="it-IT" sz="1800" dirty="0">
                <a:effectLst/>
                <a:latin typeface="Times New Roman" panose="02020603050405020304" pitchFamily="18" charset="0"/>
                <a:ea typeface="Times New Roman" panose="02020603050405020304" pitchFamily="18" charset="0"/>
              </a:rPr>
              <a:t> che il programma usa per salvare e recuperare successivamente i dati in maniera performante. Un numero maggiore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1800" dirty="0">
                <a:effectLst/>
                <a:latin typeface="Times New Roman" panose="02020603050405020304" pitchFamily="18" charset="0"/>
                <a:ea typeface="Times New Roman" panose="02020603050405020304" pitchFamily="18" charset="0"/>
              </a:rPr>
              <a:t> o minore di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-128</a:t>
            </a:r>
            <a:r>
              <a:rPr lang="it-IT" sz="1800" dirty="0">
                <a:effectLst/>
                <a:latin typeface="Times New Roman" panose="02020603050405020304" pitchFamily="18" charset="0"/>
                <a:ea typeface="Times New Roman" panose="02020603050405020304" pitchFamily="18" charset="0"/>
              </a:rPr>
              <a:t> sarà immagazzinato in più byte adiacenti.</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interi</a:t>
            </a:r>
            <a:r>
              <a:rPr lang="it-IT" sz="1800" dirty="0">
                <a:effectLst/>
                <a:latin typeface="Times New Roman" panose="02020603050405020304" pitchFamily="18" charset="0"/>
                <a:ea typeface="Times New Roman" panose="02020603050405020304" pitchFamily="18" charset="0"/>
              </a:rPr>
              <a:t> sono quattro, e differiscono non per funzionalità ma solo per come vengono immagazzinati in memoria. Il più utilizzato è indubbiamente </a:t>
            </a:r>
            <a:r>
              <a:rPr lang="it-IT" sz="1800" b="1" dirty="0" err="1">
                <a:effectLst/>
                <a:latin typeface="Times New Roman" panose="02020603050405020304" pitchFamily="18" charset="0"/>
                <a:ea typeface="Times New Roman" panose="02020603050405020304" pitchFamily="18" charset="0"/>
              </a:rPr>
              <a:t>l’</a:t>
            </a:r>
            <a:r>
              <a:rPr lang="it-IT" sz="1800" b="1" dirty="0" err="1">
                <a:effectLst/>
                <a:latin typeface="Courier New" panose="02070309020205020404" pitchFamily="49" charset="0"/>
                <a:ea typeface="MS Mincho" panose="02020609040205080304" pitchFamily="49" charset="-128"/>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è a 32 bit. Meno utilizzati ci sono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byte</a:t>
            </a:r>
            <a:r>
              <a:rPr lang="it-IT" sz="1800" dirty="0">
                <a:effectLst/>
                <a:latin typeface="Times New Roman" panose="02020603050405020304" pitchFamily="18" charset="0"/>
                <a:ea typeface="Times New Roman" panose="02020603050405020304" pitchFamily="18" charset="0"/>
              </a:rPr>
              <a:t> (8 bit), lo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short</a:t>
            </a:r>
            <a:r>
              <a:rPr lang="it-IT" sz="1800" dirty="0">
                <a:effectLst/>
                <a:latin typeface="Times New Roman" panose="02020603050405020304" pitchFamily="18" charset="0"/>
                <a:ea typeface="Times New Roman" panose="02020603050405020304" pitchFamily="18" charset="0"/>
              </a:rPr>
              <a:t> (16 bit) e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long</a:t>
            </a:r>
            <a:r>
              <a:rPr lang="it-IT" sz="1800" dirty="0">
                <a:effectLst/>
                <a:latin typeface="Times New Roman" panose="02020603050405020304" pitchFamily="18" charset="0"/>
                <a:ea typeface="Times New Roman" panose="02020603050405020304" pitchFamily="18" charset="0"/>
              </a:rPr>
              <a:t> (a 64 bit).</a:t>
            </a:r>
          </a:p>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tipi a virgola mobile</a:t>
            </a:r>
            <a:r>
              <a:rPr lang="it-IT" sz="1800" dirty="0">
                <a:effectLst/>
                <a:latin typeface="Times New Roman" panose="02020603050405020304" pitchFamily="18" charset="0"/>
                <a:ea typeface="Times New Roman" panose="02020603050405020304" pitchFamily="18" charset="0"/>
              </a:rPr>
              <a:t> sono due: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float</a:t>
            </a:r>
            <a:r>
              <a:rPr lang="it-IT" sz="1800" dirty="0">
                <a:effectLst/>
                <a:latin typeface="Times New Roman" panose="02020603050405020304" pitchFamily="18" charset="0"/>
                <a:ea typeface="Times New Roman" panose="02020603050405020304" pitchFamily="18" charset="0"/>
              </a:rPr>
              <a:t> (a 32 bit) e il più utilizzato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(64 bit), ed utilizzano lo standard IEEE-754 per la rappresentazione dei numeri reali e per eseguire operazioni matematiche.</a:t>
            </a:r>
          </a:p>
          <a:p>
            <a:r>
              <a:rPr lang="it-IT" sz="1800" dirty="0">
                <a:effectLst/>
                <a:latin typeface="Times New Roman" panose="02020603050405020304" pitchFamily="18" charset="0"/>
                <a:ea typeface="Times New Roman" panose="02020603050405020304" pitchFamily="18" charset="0"/>
              </a:rPr>
              <a:t>Per tutti questi dati esistono varie problematiche (come la </a:t>
            </a:r>
            <a:r>
              <a:rPr lang="it-IT" sz="1800" b="1" dirty="0">
                <a:effectLst/>
                <a:latin typeface="Times New Roman" panose="02020603050405020304" pitchFamily="18" charset="0"/>
                <a:ea typeface="Times New Roman" panose="02020603050405020304" pitchFamily="18" charset="0"/>
              </a:rPr>
              <a:t>promotion</a:t>
            </a:r>
            <a:r>
              <a:rPr lang="it-IT" sz="1800" b="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l’approssimazione</a:t>
            </a:r>
            <a:r>
              <a:rPr lang="it-IT" sz="1800" b="0" dirty="0">
                <a:effectLst/>
                <a:latin typeface="Times New Roman" panose="02020603050405020304" pitchFamily="18" charset="0"/>
                <a:ea typeface="Times New Roman" panose="02020603050405020304" pitchFamily="18" charset="0"/>
              </a:rPr>
              <a:t> dei numeri reali</a:t>
            </a:r>
            <a:r>
              <a:rPr lang="it-IT" sz="1800" dirty="0">
                <a:effectLst/>
                <a:latin typeface="Times New Roman" panose="02020603050405020304" pitchFamily="18" charset="0"/>
                <a:ea typeface="Times New Roman" panose="02020603050405020304" pitchFamily="18" charset="0"/>
              </a:rPr>
              <a:t>) per quanto riguardano le operazioni aritmetiche. Il </a:t>
            </a:r>
            <a:r>
              <a:rPr lang="it-IT" sz="1800" b="1" dirty="0">
                <a:effectLst/>
                <a:latin typeface="Times New Roman" panose="02020603050405020304" pitchFamily="18" charset="0"/>
                <a:ea typeface="Times New Roman" panose="02020603050405020304" pitchFamily="18" charset="0"/>
              </a:rPr>
              <a:t>cast</a:t>
            </a:r>
            <a:r>
              <a:rPr lang="it-IT" sz="1800" dirty="0">
                <a:effectLst/>
                <a:latin typeface="Times New Roman" panose="02020603050405020304" pitchFamily="18" charset="0"/>
                <a:ea typeface="Times New Roman" panose="02020603050405020304" pitchFamily="18" charset="0"/>
              </a:rPr>
              <a:t> permette di adattare un certo tipo di dato ad essere trattato come un altro tipo di dato.</a:t>
            </a:r>
          </a:p>
          <a:p>
            <a:r>
              <a:rPr lang="it-IT" sz="1800" dirty="0">
                <a:effectLst/>
                <a:latin typeface="Times New Roman" panose="02020603050405020304" pitchFamily="18" charset="0"/>
                <a:ea typeface="Times New Roman" panose="02020603050405020304" pitchFamily="18" charset="0"/>
              </a:rPr>
              <a:t>Il tipo di </a:t>
            </a:r>
            <a:r>
              <a:rPr lang="it-IT" sz="1800" b="1" dirty="0">
                <a:effectLst/>
                <a:latin typeface="Times New Roman" panose="02020603050405020304" pitchFamily="18" charset="0"/>
                <a:ea typeface="Times New Roman" panose="02020603050405020304" pitchFamily="18" charset="0"/>
              </a:rPr>
              <a:t>carattere logico-booleano</a:t>
            </a:r>
            <a:r>
              <a:rPr lang="it-IT" sz="1800" dirty="0">
                <a:effectLst/>
                <a:latin typeface="Times New Roman" panose="02020603050405020304" pitchFamily="18" charset="0"/>
                <a:ea typeface="Times New Roman" panose="02020603050405020304" pitchFamily="18" charset="0"/>
              </a:rPr>
              <a:t> è il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boolean</a:t>
            </a:r>
            <a:r>
              <a:rPr lang="it-IT" sz="1800" dirty="0">
                <a:effectLst/>
                <a:latin typeface="Times New Roman" panose="02020603050405020304" pitchFamily="18" charset="0"/>
                <a:ea typeface="Times New Roman" panose="02020603050405020304" pitchFamily="18" charset="0"/>
              </a:rPr>
              <a:t>, che può assumere come valore solo due literals: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true</a:t>
            </a:r>
            <a:r>
              <a:rPr lang="it-IT" sz="1800" dirty="0">
                <a:effectLst/>
                <a:latin typeface="Times New Roman" panose="02020603050405020304" pitchFamily="18" charset="0"/>
                <a:ea typeface="Times New Roman" panose="02020603050405020304" pitchFamily="18" charset="0"/>
              </a:rPr>
              <a:t> 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false</a:t>
            </a:r>
            <a:r>
              <a:rPr lang="it-IT" sz="1800" dirty="0">
                <a:effectLst/>
                <a:latin typeface="Times New Roman" panose="02020603050405020304" pitchFamily="18" charset="0"/>
                <a:ea typeface="Times New Roman" panose="02020603050405020304" pitchFamily="18" charset="0"/>
              </a:rPr>
              <a:t>. Vengono definiti </a:t>
            </a:r>
            <a:r>
              <a:rPr lang="it-IT" sz="1800" b="1" dirty="0">
                <a:effectLst/>
                <a:latin typeface="Times New Roman" panose="02020603050405020304" pitchFamily="18" charset="0"/>
                <a:ea typeface="Times New Roman" panose="02020603050405020304" pitchFamily="18" charset="0"/>
              </a:rPr>
              <a:t>literals</a:t>
            </a:r>
            <a:r>
              <a:rPr lang="it-IT" sz="1800" dirty="0">
                <a:effectLst/>
                <a:latin typeface="Times New Roman" panose="02020603050405020304" pitchFamily="18" charset="0"/>
                <a:ea typeface="Times New Roman" panose="02020603050405020304" pitchFamily="18" charset="0"/>
              </a:rPr>
              <a:t> i valori che vengono specificati nel codice sorgente invece che al runtime. Possono rappresentare variabili primitive o stringhe e possono apparire solo sul lato destro di un’assegnazione o come argomenti quando si invocano metodi. Non è possibile assegnare valori ai literals. In pratica sono i valori costanti che si assegnano alle variabili.</a:t>
            </a:r>
          </a:p>
          <a:p>
            <a:r>
              <a:rPr lang="it-IT" sz="1800" dirty="0">
                <a:effectLst/>
                <a:latin typeface="Times New Roman" panose="02020603050405020304" pitchFamily="18" charset="0"/>
                <a:ea typeface="Times New Roman" panose="02020603050405020304" pitchFamily="18" charset="0"/>
              </a:rPr>
              <a:t>L’unico tipo di dato primitivo letterale è il </a:t>
            </a:r>
            <a:r>
              <a:rPr lang="it-IT" sz="1800" b="1" dirty="0">
                <a:effectLst/>
                <a:latin typeface="Times New Roman" panose="02020603050405020304" pitchFamily="18" charset="0"/>
                <a:ea typeface="Times New Roman" panose="02020603050405020304" pitchFamily="18" charset="0"/>
              </a:rPr>
              <a:t>carattere</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 che può essere utilizzato per immagazzinare un singolo carattere incluso tra una coppia di apici singoli. È possibile utilizzare tre tipi di formati diversi, il formato ordinario (con un carattere stampabile), il formato Unicode (che fa uso del sistema esadecimale) e i caratteri di escape. Un carattere è comunque rappresentato da un numero intero ed utilizza lo standard di decodifica Unicode in qualsiasi caso. </a:t>
            </a:r>
          </a:p>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stringa</a:t>
            </a:r>
            <a:r>
              <a:rPr lang="it-IT" sz="1800" dirty="0">
                <a:effectLst/>
                <a:latin typeface="Times New Roman" panose="02020603050405020304" pitchFamily="18" charset="0"/>
                <a:ea typeface="Times New Roman" panose="02020603050405020304" pitchFamily="18" charset="0"/>
              </a:rPr>
              <a:t> invece può immagazzinare frasi intere e il suo valore va incluso tra due virgolette. Una stringa è un oggetto incluso nel package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java.lang</a:t>
            </a:r>
            <a:r>
              <a:rPr lang="it-IT" sz="1800" dirty="0">
                <a:effectLst/>
                <a:latin typeface="Times New Roman" panose="02020603050405020304" pitchFamily="18" charset="0"/>
                <a:ea typeface="Times New Roman" panose="02020603050405020304" pitchFamily="18" charset="0"/>
              </a:rPr>
              <a:t> che ha la caratteristica di essere immutabile e di poter essere istanziato mediante una sintassi breve che non fa uso del costruttore; ciò è molto utile visto che probabilmente è l’oggetto più usato in assoluto nei programmi Java.</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reference</a:t>
            </a:r>
            <a:r>
              <a:rPr lang="it-IT" sz="1800" dirty="0">
                <a:effectLst/>
                <a:latin typeface="Times New Roman" panose="02020603050405020304" pitchFamily="18" charset="0"/>
                <a:ea typeface="Times New Roman" panose="02020603050405020304" pitchFamily="18" charset="0"/>
              </a:rPr>
              <a:t> è il </a:t>
            </a:r>
            <a:r>
              <a:rPr lang="it-IT" sz="1800" i="1" dirty="0">
                <a:effectLst/>
                <a:latin typeface="Times New Roman" panose="02020603050405020304" pitchFamily="18" charset="0"/>
                <a:ea typeface="Times New Roman" panose="02020603050405020304" pitchFamily="18" charset="0"/>
              </a:rPr>
              <a:t>nome che diamo ad un oggetto</a:t>
            </a:r>
            <a:r>
              <a:rPr lang="it-IT" sz="1800" dirty="0">
                <a:effectLst/>
                <a:latin typeface="Times New Roman" panose="02020603050405020304" pitchFamily="18" charset="0"/>
                <a:ea typeface="Times New Roman" panose="02020603050405020304" pitchFamily="18" charset="0"/>
              </a:rPr>
              <a:t>, una particolare variabile che contiene come valore l’indirizzo a cui deve puntare, e che deve conoscere il tipo che andrà a puntare. </a:t>
            </a:r>
          </a:p>
          <a:p>
            <a:r>
              <a:rPr lang="it-IT" sz="1800" dirty="0">
                <a:effectLst/>
                <a:latin typeface="Times New Roman" panose="02020603050405020304" pitchFamily="18" charset="0"/>
                <a:ea typeface="Times New Roman" panose="02020603050405020304" pitchFamily="18" charset="0"/>
              </a:rPr>
              <a:t>Quando un oggetto viene istanziato tutte le sue variabili d’istanza vengono automaticamente inizializzate ai propri </a:t>
            </a:r>
            <a:r>
              <a:rPr lang="it-IT" sz="1800" b="1" dirty="0">
                <a:effectLst/>
                <a:latin typeface="Times New Roman" panose="02020603050405020304" pitchFamily="18" charset="0"/>
                <a:ea typeface="Times New Roman" panose="02020603050405020304" pitchFamily="18" charset="0"/>
              </a:rPr>
              <a:t>valori nulli</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Il </a:t>
            </a:r>
            <a:r>
              <a:rPr lang="it-IT" sz="1800" b="1" dirty="0">
                <a:effectLst/>
                <a:latin typeface="Times New Roman" panose="02020603050405020304" pitchFamily="18" charset="0"/>
                <a:ea typeface="Times New Roman" panose="02020603050405020304" pitchFamily="18" charset="0"/>
              </a:rPr>
              <a:t>passaggio di parametri</a:t>
            </a:r>
            <a:r>
              <a:rPr lang="it-IT" sz="1800" dirty="0">
                <a:effectLst/>
                <a:latin typeface="Times New Roman" panose="02020603050405020304" pitchFamily="18" charset="0"/>
                <a:ea typeface="Times New Roman" panose="02020603050405020304" pitchFamily="18" charset="0"/>
              </a:rPr>
              <a:t> ad un metodo avviene sempre </a:t>
            </a:r>
            <a:r>
              <a:rPr lang="it-IT" sz="1800" b="1" dirty="0">
                <a:effectLst/>
                <a:latin typeface="Times New Roman" panose="02020603050405020304" pitchFamily="18" charset="0"/>
                <a:ea typeface="Times New Roman" panose="02020603050405020304" pitchFamily="18" charset="0"/>
              </a:rPr>
              <a:t>per valore</a:t>
            </a:r>
            <a:r>
              <a:rPr lang="it-IT" sz="1800" dirty="0">
                <a:effectLst/>
                <a:latin typeface="Times New Roman" panose="02020603050405020304" pitchFamily="18" charset="0"/>
                <a:ea typeface="Times New Roman" panose="02020603050405020304" pitchFamily="18" charset="0"/>
              </a:rPr>
              <a:t>, nel senso che nel momento in cui si passa un valore primitivo ad un parametro di un metodo, verrà copiato nel parametro questo valore. Anche quando si passa un reference verrà passato il suo valore (l’indirizzo del reference) e copiato nel parametro del metodo.</a:t>
            </a:r>
          </a:p>
          <a:p>
            <a:r>
              <a:rPr lang="it-IT" sz="1800" dirty="0">
                <a:effectLst/>
                <a:latin typeface="Times New Roman" panose="02020603050405020304" pitchFamily="18" charset="0"/>
                <a:ea typeface="Times New Roman" panose="02020603050405020304" pitchFamily="18" charset="0"/>
              </a:rPr>
              <a:t>La consultazione della </a:t>
            </a:r>
            <a:r>
              <a:rPr lang="it-IT" sz="1800" b="1" dirty="0">
                <a:effectLst/>
                <a:latin typeface="Times New Roman" panose="02020603050405020304" pitchFamily="18" charset="0"/>
                <a:ea typeface="Times New Roman" panose="02020603050405020304" pitchFamily="18" charset="0"/>
              </a:rPr>
              <a:t>documentazione della libreria standard</a:t>
            </a:r>
            <a:r>
              <a:rPr lang="it-IT" sz="1800" dirty="0">
                <a:effectLst/>
                <a:latin typeface="Times New Roman" panose="02020603050405020304" pitchFamily="18" charset="0"/>
                <a:ea typeface="Times New Roman" panose="02020603050405020304" pitchFamily="18" charset="0"/>
              </a:rPr>
              <a:t> è fondamentale. Possiamo anche creare la documentazione del nostro software con lo stesso stile della documentazione Java, commentando il codice con i commenti di documentazione e utilizzando il comando </a:t>
            </a:r>
            <a:r>
              <a:rPr lang="it-IT" sz="1800" b="1" dirty="0">
                <a:effectLst/>
                <a:latin typeface="Times New Roman" panose="02020603050405020304" pitchFamily="18" charset="0"/>
                <a:ea typeface="Times New Roman" panose="02020603050405020304" pitchFamily="18" charset="0"/>
              </a:rPr>
              <a:t>javadoc</a:t>
            </a:r>
            <a:r>
              <a:rPr lang="it-IT" sz="1800" dirty="0">
                <a:effectLst/>
                <a:latin typeface="Times New Roman" panose="02020603050405020304" pitchFamily="18" charset="0"/>
                <a:ea typeface="Times New Roman" panose="02020603050405020304" pitchFamily="18" charset="0"/>
              </a:rPr>
              <a:t> da riga di comando. Possiamo importare all’interno dei nostri programmi le classi della libreria standard utilizzando il comando </a:t>
            </a:r>
            <a:r>
              <a:rPr lang="it-IT" sz="1800" b="1" dirty="0">
                <a:effectLst/>
                <a:latin typeface="Times New Roman" panose="02020603050405020304" pitchFamily="18" charset="0"/>
                <a:ea typeface="Times New Roman" panose="02020603050405020304" pitchFamily="18" charset="0"/>
              </a:rPr>
              <a:t>import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array</a:t>
            </a:r>
            <a:r>
              <a:rPr lang="it-IT" sz="1800" dirty="0">
                <a:effectLst/>
                <a:latin typeface="Times New Roman" panose="02020603050405020304" pitchFamily="18" charset="0"/>
                <a:ea typeface="Times New Roman" panose="02020603050405020304" pitchFamily="18" charset="0"/>
              </a:rPr>
              <a:t> rappresenta un tipo di dato complesso (oggetto) che definisce una collezione di elementi di un certo tipo, indicizzati. Con un solo nome potremo accedere agli elementi della collezione mediante un indice. È possibile creare array di reference, array bidimensionali (non obbligatoriamente matrici) ed array multidimensionali. Il parametro array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String args[]</a:t>
            </a:r>
            <a:r>
              <a:rPr lang="it-IT" sz="1800" dirty="0">
                <a:effectLst/>
                <a:latin typeface="Times New Roman" panose="02020603050405020304" pitchFamily="18" charset="0"/>
                <a:ea typeface="Times New Roman" panose="02020603050405020304" pitchFamily="18" charset="0"/>
              </a:rPr>
              <a:t> del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lo si può utilizzare per passare in </a:t>
            </a:r>
            <a:r>
              <a:rPr lang="it-IT" sz="1800" b="1" dirty="0">
                <a:effectLst/>
                <a:latin typeface="Times New Roman" panose="02020603050405020304" pitchFamily="18" charset="0"/>
                <a:ea typeface="Times New Roman" panose="02020603050405020304" pitchFamily="18" charset="0"/>
              </a:rPr>
              <a:t>input al programma</a:t>
            </a:r>
            <a:r>
              <a:rPr lang="it-IT" sz="1800" dirty="0">
                <a:effectLst/>
                <a:latin typeface="Times New Roman" panose="02020603050405020304" pitchFamily="18" charset="0"/>
                <a:ea typeface="Times New Roman" panose="02020603050405020304" pitchFamily="18" charset="0"/>
              </a:rPr>
              <a:t> alcuni dati provenienti dall’esterno.</a:t>
            </a:r>
          </a:p>
          <a:p>
            <a:r>
              <a:rPr lang="it-IT" sz="1800" dirty="0">
                <a:effectLst/>
                <a:latin typeface="Times New Roman" panose="02020603050405020304" pitchFamily="18" charset="0"/>
                <a:ea typeface="Times New Roman" panose="02020603050405020304" pitchFamily="18" charset="0"/>
              </a:rPr>
              <a:t>La </a:t>
            </a:r>
            <a:r>
              <a:rPr lang="it-IT" sz="1800" b="1" dirty="0">
                <a:effectLst/>
                <a:latin typeface="Times New Roman" panose="02020603050405020304" pitchFamily="18" charset="0"/>
                <a:ea typeface="Times New Roman" panose="02020603050405020304" pitchFamily="18" charset="0"/>
              </a:rPr>
              <a:t>deduzione del tipo per le variabili locali</a:t>
            </a:r>
            <a:r>
              <a:rPr lang="it-IT" sz="1800" dirty="0">
                <a:effectLst/>
                <a:latin typeface="Times New Roman" panose="02020603050405020304" pitchFamily="18" charset="0"/>
                <a:ea typeface="Times New Roman" panose="02020603050405020304" pitchFamily="18" charset="0"/>
              </a:rPr>
              <a:t>, permette di utilizzare la parola </a:t>
            </a:r>
            <a:r>
              <a:rPr lang="it-IT" sz="1800" b="1" dirty="0">
                <a:effectLst/>
                <a:latin typeface="Courier New" panose="02070309020205020404" pitchFamily="49" charset="0"/>
                <a:ea typeface="MS Mincho" panose="02020609040205080304" pitchFamily="49" charset="-128"/>
                <a:cs typeface="Courier New" panose="02070309020205020404" pitchFamily="49" charset="0"/>
              </a:rPr>
              <a:t>var</a:t>
            </a:r>
            <a:r>
              <a:rPr lang="it-IT" sz="1800" dirty="0">
                <a:effectLst/>
                <a:latin typeface="Times New Roman" panose="02020603050405020304" pitchFamily="18" charset="0"/>
                <a:ea typeface="Times New Roman" panose="02020603050405020304" pitchFamily="18" charset="0"/>
              </a:rPr>
              <a:t>, in luogo del tipo vero e proprio della variabile, che verrà dedotto dall’inizializzazione nella parte destra (</a:t>
            </a:r>
            <a:r>
              <a:rPr lang="it-IT" sz="1800" b="1" dirty="0">
                <a:effectLst/>
                <a:latin typeface="Times New Roman" panose="02020603050405020304" pitchFamily="18" charset="0"/>
                <a:ea typeface="Times New Roman" panose="02020603050405020304" pitchFamily="18" charset="0"/>
              </a:rPr>
              <a:t>RHS</a:t>
            </a:r>
            <a:r>
              <a:rPr lang="it-IT" sz="1800" dirty="0">
                <a:effectLst/>
                <a:latin typeface="Times New Roman" panose="02020603050405020304" pitchFamily="18" charset="0"/>
                <a:ea typeface="Times New Roman" panose="02020603050405020304" pitchFamily="18" charset="0"/>
              </a:rPr>
              <a:t>) della dichiarazione. Se usata bene, questa caratteristica permette di ridurre la verbosità dell’applicazione senza ridurne la leggibilità. La sua applicabilità è limitata alle variabili locali inizializzate correttamente, e a pochi altri casi che studieremo nei prossimi capitoli. </a:t>
            </a:r>
            <a:r>
              <a:rPr lang="it-IT" sz="1800">
                <a:effectLst/>
                <a:latin typeface="Times New Roman" panose="02020603050405020304" pitchFamily="18" charset="0"/>
                <a:ea typeface="Times New Roman" panose="02020603050405020304" pitchFamily="18" charset="0"/>
              </a:rPr>
              <a:t>Essendo </a:t>
            </a:r>
            <a:r>
              <a:rPr lang="it-IT" sz="1800">
                <a:effectLst/>
                <a:latin typeface="Courier New" panose="02070309020205020404" pitchFamily="49" charset="0"/>
                <a:ea typeface="MS Mincho" panose="02020609040205080304" pitchFamily="49" charset="-128"/>
                <a:cs typeface="Courier New" panose="02070309020205020404" pitchFamily="49" charset="0"/>
              </a:rPr>
              <a:t>var</a:t>
            </a:r>
            <a:r>
              <a:rPr lang="it-IT" sz="1800">
                <a:effectLst/>
                <a:latin typeface="Times New Roman" panose="02020603050405020304" pitchFamily="18" charset="0"/>
                <a:ea typeface="Times New Roman" panose="02020603050405020304" pitchFamily="18" charset="0"/>
              </a:rPr>
              <a:t> un nome di tipo riservato (e non una parola chiave), è possibile utilizzarla come identificatore per variabili, metodi, package e moduli, ma non per tipi (classi, interfacce, enumerazioni, record e annotazioni).</a:t>
            </a:r>
          </a:p>
          <a:p>
            <a:endParaRPr lang="it-IT" sz="1800" dirty="0">
              <a:effectLst/>
              <a:latin typeface="Times New Roman" panose="02020603050405020304" pitchFamily="18" charset="0"/>
              <a:ea typeface="MS Mincho" panose="02020609040205080304" pitchFamily="49" charset="-128"/>
            </a:endParaRPr>
          </a:p>
        </p:txBody>
      </p:sp>
    </p:spTree>
    <p:extLst>
      <p:ext uri="{BB962C8B-B14F-4D97-AF65-F5344CB8AC3E}">
        <p14:creationId xmlns:p14="http://schemas.microsoft.com/office/powerpoint/2010/main" val="209166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NJ-003</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12073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NJ-003</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45809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NJ-003</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67430" y="476590"/>
            <a:ext cx="8229600" cy="1252728"/>
          </a:xfrm>
        </p:spPr>
        <p:txBody>
          <a:bodyPr/>
          <a:lstStyle>
            <a:lvl1pPr algn="l">
              <a:defRPr sz="1800">
                <a:solidFill>
                  <a:srgbClr val="C00000"/>
                </a:solidFill>
              </a:defRPr>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NJ-003</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3"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NJ-003</a:t>
            </a:r>
            <a:endParaRPr lang="it-IT" dirty="0"/>
          </a:p>
        </p:txBody>
      </p:sp>
      <p:sp>
        <p:nvSpPr>
          <p:cNvPr id="4"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D7110DCC-F880-45A0-B38F-83BA2DDD42DF}" type="slidenum">
              <a:rPr lang="it-IT"/>
              <a:pPr>
                <a:defRPr/>
              </a:pPr>
              <a:t>‹N›</a:t>
            </a:fld>
            <a:endParaRPr lang="it-IT"/>
          </a:p>
        </p:txBody>
      </p:sp>
    </p:spTree>
    <p:extLst>
      <p:ext uri="{BB962C8B-B14F-4D97-AF65-F5344CB8AC3E}">
        <p14:creationId xmlns:p14="http://schemas.microsoft.com/office/powerpoint/2010/main" val="130319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4"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NJ-003</a:t>
            </a:r>
            <a:endParaRPr lang="it-IT" dirty="0"/>
          </a:p>
        </p:txBody>
      </p:sp>
      <p:sp>
        <p:nvSpPr>
          <p:cNvPr id="5"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EAFDC1E0-E1FA-475B-A781-6647668C09E3}" type="slidenum">
              <a:rPr lang="it-IT"/>
              <a:pPr>
                <a:defRPr/>
              </a:pPr>
              <a:t>‹N›</a:t>
            </a:fld>
            <a:endParaRPr lang="it-IT"/>
          </a:p>
        </p:txBody>
      </p:sp>
    </p:spTree>
    <p:extLst>
      <p:ext uri="{BB962C8B-B14F-4D97-AF65-F5344CB8AC3E}">
        <p14:creationId xmlns:p14="http://schemas.microsoft.com/office/powerpoint/2010/main" val="160463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NJ-003</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23931951-706E-4828-A5DF-A5F618EB3661}" type="slidenum">
              <a:rPr lang="it-IT"/>
              <a:pPr>
                <a:defRPr/>
              </a:pPr>
              <a:t>‹N›</a:t>
            </a:fld>
            <a:endParaRPr lang="it-IT"/>
          </a:p>
        </p:txBody>
      </p:sp>
    </p:spTree>
    <p:extLst>
      <p:ext uri="{BB962C8B-B14F-4D97-AF65-F5344CB8AC3E}">
        <p14:creationId xmlns:p14="http://schemas.microsoft.com/office/powerpoint/2010/main" val="194474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NJ-003</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E38AB037-F906-4F18-AB42-E6112392815B}" type="slidenum">
              <a:rPr lang="it-IT"/>
              <a:pPr>
                <a:defRPr/>
              </a:pPr>
              <a:t>‹N›</a:t>
            </a:fld>
            <a:endParaRPr lang="it-IT"/>
          </a:p>
        </p:txBody>
      </p:sp>
    </p:spTree>
    <p:extLst>
      <p:ext uri="{BB962C8B-B14F-4D97-AF65-F5344CB8AC3E}">
        <p14:creationId xmlns:p14="http://schemas.microsoft.com/office/powerpoint/2010/main" val="71203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p:cNvSpPr>
            <a:spLocks noGrp="1"/>
          </p:cNvSpPr>
          <p:nvPr>
            <p:ph type="dt" sz="half" idx="10"/>
          </p:nvPr>
        </p:nvSpPr>
        <p:spPr/>
        <p:txBody>
          <a:bodyPr/>
          <a:lstStyle>
            <a:lvl1pPr>
              <a:defRPr/>
            </a:lvl1pPr>
          </a:lstStyle>
          <a:p>
            <a:pPr>
              <a:defRPr/>
            </a:pPr>
            <a:r>
              <a:rPr lang="it-IT"/>
              <a:t>20/03/2012</a:t>
            </a:r>
          </a:p>
        </p:txBody>
      </p:sp>
      <p:sp>
        <p:nvSpPr>
          <p:cNvPr id="6" name="Segnaposto piè di pagina 4"/>
          <p:cNvSpPr>
            <a:spLocks noGrp="1"/>
          </p:cNvSpPr>
          <p:nvPr>
            <p:ph type="ftr" sz="quarter" idx="11"/>
          </p:nvPr>
        </p:nvSpPr>
        <p:spPr/>
        <p:txBody>
          <a:bodyPr/>
          <a:lstStyle>
            <a:lvl1pPr>
              <a:defRPr/>
            </a:lvl1pPr>
          </a:lstStyle>
          <a:p>
            <a:pPr>
              <a:defRPr/>
            </a:pPr>
            <a:r>
              <a:rPr lang="it-IT"/>
              <a:t>Claudio De Sio Cesari: NJ-003</a:t>
            </a:r>
            <a:endParaRPr lang="it-IT" dirty="0"/>
          </a:p>
        </p:txBody>
      </p:sp>
      <p:sp>
        <p:nvSpPr>
          <p:cNvPr id="7" name="Segnaposto numero diapositiva 5"/>
          <p:cNvSpPr>
            <a:spLocks noGrp="1"/>
          </p:cNvSpPr>
          <p:nvPr>
            <p:ph type="sldNum" sz="quarter" idx="12"/>
          </p:nvPr>
        </p:nvSpPr>
        <p:spPr/>
        <p:txBody>
          <a:bodyPr/>
          <a:lstStyle>
            <a:lvl1pPr>
              <a:defRPr/>
            </a:lvl1pPr>
          </a:lstStyle>
          <a:p>
            <a:pPr>
              <a:defRPr/>
            </a:pPr>
            <a:fld id="{1B333BF1-6409-4282-97C2-A463B03E8B60}" type="slidenum">
              <a:rPr lang="it-IT"/>
              <a:pPr>
                <a:defRPr/>
              </a:pPr>
              <a:t>‹N›</a:t>
            </a:fld>
            <a:endParaRPr lang="it-IT"/>
          </a:p>
        </p:txBody>
      </p:sp>
    </p:spTree>
    <p:extLst>
      <p:ext uri="{BB962C8B-B14F-4D97-AF65-F5344CB8AC3E}">
        <p14:creationId xmlns:p14="http://schemas.microsoft.com/office/powerpoint/2010/main" val="407706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NJ-003</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136658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NJ-003</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351982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NJ-003</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376022"/>
            <a:ext cx="8229600" cy="1252728"/>
          </a:xfrm>
        </p:spPr>
        <p:txBody>
          <a:bodyPr/>
          <a:lstStyle>
            <a:lvl1pPr algn="l">
              <a:defRPr sz="1800"/>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NJ-003</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NJ-003</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2298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NJ-003</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832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NJ-003</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20928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94878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it-IT"/>
              <a:t>Fare clic per modificare lo stile del titolo</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4" name="Content Placeholder 3"/>
          <p:cNvSpPr>
            <a:spLocks noGrp="1"/>
          </p:cNvSpPr>
          <p:nvPr>
            <p:ph sz="half" idx="2"/>
          </p:nvPr>
        </p:nvSpPr>
        <p:spPr>
          <a:xfrm>
            <a:off x="840000" y="2505075"/>
            <a:ext cx="3768912"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6" name="Content Placeholder 5"/>
          <p:cNvSpPr>
            <a:spLocks noGrp="1"/>
          </p:cNvSpPr>
          <p:nvPr>
            <p:ph sz="quarter" idx="4"/>
          </p:nvPr>
        </p:nvSpPr>
        <p:spPr>
          <a:xfrm>
            <a:off x="4739880" y="2505075"/>
            <a:ext cx="3776661"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NJ-003</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32944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NJ-003</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605346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20/03/2012</a:t>
            </a:r>
          </a:p>
        </p:txBody>
      </p:sp>
      <p:sp>
        <p:nvSpPr>
          <p:cNvPr id="3" name="Footer Placeholder 2"/>
          <p:cNvSpPr>
            <a:spLocks noGrp="1"/>
          </p:cNvSpPr>
          <p:nvPr>
            <p:ph type="ftr" sz="quarter" idx="11"/>
          </p:nvPr>
        </p:nvSpPr>
        <p:spPr/>
        <p:txBody>
          <a:bodyPr/>
          <a:lstStyle/>
          <a:p>
            <a:r>
              <a:rPr lang="it-IT"/>
              <a:t>Claudio De Sio Cesari: NJ-003</a:t>
            </a:r>
            <a:endParaRPr lang="it-IT" dirty="0"/>
          </a:p>
        </p:txBody>
      </p:sp>
      <p:sp>
        <p:nvSpPr>
          <p:cNvPr id="4" name="Slide Number Placeholder 3"/>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8511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99333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07234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04770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222046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it-IT"/>
              <a:t>Fare clic per modificare lo stile del titolo</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97361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NJ-003</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269067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NJ-003</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60497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NJ-003</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683349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NJ-003</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14924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it-IT"/>
              <a:t>Fare clic per modificare lo stile del titolo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NJ-003</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07958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it-IT"/>
              <a:t>Claudio De Sio Cesari: NJ-003</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lo stile del titolo</a:t>
            </a:r>
          </a:p>
        </p:txBody>
      </p:sp>
      <p:sp>
        <p:nvSpPr>
          <p:cNvPr id="2051"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smtClean="0">
                <a:solidFill>
                  <a:schemeClr val="tx1">
                    <a:tint val="75000"/>
                  </a:schemeClr>
                </a:solidFill>
                <a:ea typeface="ＭＳ Ｐゴシック" pitchFamily="-111" charset="-128"/>
                <a:cs typeface="+mn-cs"/>
              </a:defRPr>
            </a:lvl1pPr>
          </a:lstStyle>
          <a:p>
            <a:pPr>
              <a:defRPr/>
            </a:pPr>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ea typeface="ＭＳ Ｐゴシック" pitchFamily="-111" charset="-128"/>
                <a:cs typeface="+mn-cs"/>
              </a:defRPr>
            </a:lvl1pPr>
          </a:lstStyle>
          <a:p>
            <a:pPr>
              <a:defRPr/>
            </a:pPr>
            <a:r>
              <a:rPr lang="it-IT"/>
              <a:t>Claudio De Sio Cesari: NJ-003</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smtClean="0">
                <a:solidFill>
                  <a:schemeClr val="tx1">
                    <a:tint val="75000"/>
                  </a:schemeClr>
                </a:solidFill>
                <a:ea typeface="ＭＳ Ｐゴシック" pitchFamily="-111" charset="-128"/>
                <a:cs typeface="+mn-cs"/>
              </a:defRPr>
            </a:lvl1pPr>
          </a:lstStyle>
          <a:p>
            <a:pPr>
              <a:defRPr/>
            </a:pPr>
            <a:fld id="{BF9AA21D-CBBF-4F18-852F-35D67877B6D0}" type="slidenum">
              <a:rPr lang="it-IT"/>
              <a:pPr>
                <a:defRPr/>
              </a:pPr>
              <a:t>‹N›</a:t>
            </a:fld>
            <a:endParaRPr lang="it-IT"/>
          </a:p>
        </p:txBody>
      </p:sp>
      <p:pic>
        <p:nvPicPr>
          <p:cNvPr id="2055" name="Immagine 3" descr="PPT_template-04-04.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 y="0"/>
            <a:ext cx="91424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3"/>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pt-BR">
                <a:solidFill>
                  <a:prstClr val="black">
                    <a:tint val="75000"/>
                  </a:prstClr>
                </a:solidFill>
              </a:rPr>
              <a:t>Claudio De Sio Cesari: NJ-003</a:t>
            </a:r>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3"/>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pPr/>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33367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20/03/2012</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Claudio De Sio Cesari: NJ-003</a:t>
            </a:r>
            <a:endParaRPr lang="it-I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8135336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hyperlink" Target="https://home.unicode.org/" TargetMode="External"/><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p:nvPr>
        </p:nvSpPr>
        <p:spPr>
          <a:xfrm>
            <a:off x="527360" y="1052670"/>
            <a:ext cx="8077200" cy="3976530"/>
          </a:xfrm>
        </p:spPr>
        <p:txBody>
          <a:bodyPr>
            <a:normAutofit fontScale="90000"/>
          </a:bodyPr>
          <a:lstStyle/>
          <a:p>
            <a:pPr algn="ctr"/>
            <a:r>
              <a:rPr lang="it-IT" sz="8000" b="1" dirty="0"/>
              <a:t>Claudio De Sio Cesari</a:t>
            </a:r>
            <a:br>
              <a:rPr lang="it-IT" b="1" dirty="0"/>
            </a:br>
            <a:br>
              <a:rPr lang="it-IT" sz="3200" dirty="0">
                <a:solidFill>
                  <a:srgbClr val="000000"/>
                </a:solidFill>
                <a:latin typeface="Calibri" panose="020F0502020204030204" pitchFamily="34" charset="0"/>
              </a:rPr>
            </a:br>
            <a:r>
              <a:rPr lang="it-IT" sz="7300" dirty="0">
                <a:solidFill>
                  <a:srgbClr val="000000"/>
                </a:solidFill>
                <a:latin typeface="Calibri" panose="020F0502020204030204" pitchFamily="34" charset="0"/>
              </a:rPr>
              <a:t> Il nuovo Java</a:t>
            </a:r>
            <a:br>
              <a:rPr lang="it-IT" sz="54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Stile di codifica, tipi di dati ed array</a:t>
            </a:r>
            <a:br>
              <a:rPr lang="it-IT" sz="60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(NJ</a:t>
            </a:r>
            <a:r>
              <a:rPr lang="it-IT" sz="6000" b="1" dirty="0"/>
              <a:t>– 003)</a:t>
            </a:r>
            <a:r>
              <a:rPr lang="it-IT" sz="6000" dirty="0">
                <a:solidFill>
                  <a:srgbClr val="000000"/>
                </a:solidFill>
                <a:latin typeface="Calibri" panose="020F0502020204030204" pitchFamily="34" charset="0"/>
              </a:rPr>
              <a:t> </a:t>
            </a:r>
            <a:endParaRPr lang="it-IT" sz="6000" dirty="0"/>
          </a:p>
        </p:txBody>
      </p:sp>
    </p:spTree>
    <p:extLst>
      <p:ext uri="{BB962C8B-B14F-4D97-AF65-F5344CB8AC3E}">
        <p14:creationId xmlns:p14="http://schemas.microsoft.com/office/powerpoint/2010/main" val="40882864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340710"/>
          </a:xfrm>
        </p:spPr>
        <p:txBody>
          <a:bodyPr/>
          <a:lstStyle/>
          <a:p>
            <a:pPr algn="ctr"/>
            <a:r>
              <a:rPr lang="it-IT" dirty="0"/>
              <a:t>Stile di codifica, tipi di dati ed array</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24680"/>
            <a:ext cx="9144000" cy="5368193"/>
          </a:xfrm>
        </p:spPr>
        <p:txBody>
          <a:bodyPr>
            <a:noAutofit/>
          </a:bodyPr>
          <a:lstStyle/>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Conoscere le regole e le convenzioni per dichiarare identificatori per il codice Java.</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Comprendere come viene gestita la memoria, i sistemi numerici posizionali e come vengono rappresentati in memoria i vari tipi di dati.</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Conoscere e saper utilizzare tutti i tipi di dati primitivi.</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gestire cast e promotion.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utilizzare i reference e capirne la filosofia.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Iniziare ad esplorare la documentazione della libreria standard di Java.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utilizzare la classe </a:t>
            </a:r>
            <a:r>
              <a:rPr lang="it-IT" sz="2200" i="1" dirty="0">
                <a:effectLst/>
                <a:latin typeface="Calibri" panose="020F0502020204030204" pitchFamily="34" charset="0"/>
                <a:ea typeface="Times New Roman" panose="02020603050405020304" pitchFamily="18" charset="0"/>
                <a:cs typeface="Calibri" panose="020F0502020204030204" pitchFamily="34" charset="0"/>
              </a:rPr>
              <a:t>String</a:t>
            </a:r>
            <a:r>
              <a:rPr lang="it-IT" sz="2200" dirty="0">
                <a:effectLst/>
                <a:latin typeface="Calibri" panose="020F0502020204030204" pitchFamily="34" charset="0"/>
                <a:ea typeface="Times New Roman" panose="02020603050405020304" pitchFamily="18" charset="0"/>
                <a:cs typeface="Calibri" panose="020F0502020204030204" pitchFamily="34" charset="0"/>
              </a:rPr>
              <a:t>.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commentare il proprio codice ed essere in grado di utilizzare lo strumento javadoc per produrre documentazione tecnica esterna.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definire, creare, ed inizializzare gli array.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definire la deduzione del tipo per le variabili locali, e saper utilizzare la parola speciale </a:t>
            </a:r>
            <a:r>
              <a:rPr lang="it-IT" sz="2200" i="1" dirty="0">
                <a:effectLst/>
                <a:latin typeface="Calibri" panose="020F0502020204030204" pitchFamily="34" charset="0"/>
                <a:ea typeface="Times New Roman" panose="02020603050405020304" pitchFamily="18" charset="0"/>
                <a:cs typeface="Calibri" panose="020F0502020204030204" pitchFamily="34" charset="0"/>
              </a:rPr>
              <a:t>var</a:t>
            </a:r>
            <a:r>
              <a:rPr lang="it-IT" sz="2200" dirty="0">
                <a:effectLst/>
                <a:latin typeface="Calibri" panose="020F0502020204030204" pitchFamily="34" charset="0"/>
                <a:ea typeface="Times New Roman" panose="02020603050405020304" pitchFamily="18" charset="0"/>
                <a:cs typeface="Calibri" panose="020F0502020204030204" pitchFamily="34" charset="0"/>
              </a:rPr>
              <a:t>.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dirty="0"/>
              <a:t>Claudio De Sio Cesari: NJ-003</a:t>
            </a:r>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a:t>
            </a:fld>
            <a:endParaRPr lang="it-IT"/>
          </a:p>
        </p:txBody>
      </p:sp>
    </p:spTree>
    <p:extLst>
      <p:ext uri="{BB962C8B-B14F-4D97-AF65-F5344CB8AC3E}">
        <p14:creationId xmlns:p14="http://schemas.microsoft.com/office/powerpoint/2010/main" val="8053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500"/>
            <a:ext cx="7886700" cy="1862189"/>
          </a:xfrm>
        </p:spPr>
        <p:txBody>
          <a:bodyPr/>
          <a:lstStyle/>
          <a:p>
            <a:pPr algn="ctr"/>
            <a:r>
              <a:rPr lang="it-IT" dirty="0"/>
              <a:t>Stile di codifica di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1412720"/>
            <a:ext cx="7759880" cy="4943631"/>
          </a:xfrm>
        </p:spPr>
        <p:txBody>
          <a:bodyPr>
            <a:normAutofit/>
          </a:bodyPr>
          <a:lstStyle/>
          <a:p>
            <a:r>
              <a:rPr lang="it-IT" sz="3200" dirty="0"/>
              <a:t>È a schema libero, ma ha degli standard per la formattazione</a:t>
            </a:r>
          </a:p>
          <a:p>
            <a:r>
              <a:rPr lang="it-IT" sz="3200" dirty="0"/>
              <a:t>Supporta vari tipi di commenti</a:t>
            </a:r>
          </a:p>
          <a:p>
            <a:r>
              <a:rPr lang="it-IT" sz="3200" dirty="0"/>
              <a:t>Definisce parole chiave ed altri parole speciali</a:t>
            </a:r>
          </a:p>
          <a:p>
            <a:r>
              <a:rPr lang="it-IT" sz="3200" dirty="0"/>
              <a:t>È case sensitive</a:t>
            </a:r>
          </a:p>
          <a:p>
            <a:r>
              <a:rPr lang="it-IT" sz="3200" dirty="0"/>
              <a:t>Ha regole ferree per i tipi di dati </a:t>
            </a:r>
          </a:p>
          <a:p>
            <a:r>
              <a:rPr lang="it-IT" sz="3200" dirty="0"/>
              <a:t>Esistono alcune semplici convenzioni per i nomi</a:t>
            </a:r>
          </a:p>
          <a:p>
            <a:pPr marL="0" indent="0">
              <a:buNone/>
            </a:pPr>
            <a:endParaRPr lang="it-IT" sz="3200" dirty="0"/>
          </a:p>
          <a:p>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a:t>
            </a:fld>
            <a:endParaRPr lang="it-IT"/>
          </a:p>
        </p:txBody>
      </p:sp>
    </p:spTree>
    <p:extLst>
      <p:ext uri="{BB962C8B-B14F-4D97-AF65-F5344CB8AC3E}">
        <p14:creationId xmlns:p14="http://schemas.microsoft.com/office/powerpoint/2010/main" val="284554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1484730"/>
          </a:xfrm>
        </p:spPr>
        <p:txBody>
          <a:bodyPr/>
          <a:lstStyle/>
          <a:p>
            <a:pPr algn="ctr"/>
            <a:r>
              <a:rPr lang="it-IT" dirty="0"/>
              <a:t>Schema Libero e standard di formattazione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484730"/>
            <a:ext cx="8515350" cy="1512209"/>
          </a:xfrm>
        </p:spPr>
        <p:txBody>
          <a:bodyPr>
            <a:normAutofit fontScale="92500" lnSpcReduction="10000"/>
          </a:bodyPr>
          <a:lstStyle/>
          <a:p>
            <a:r>
              <a:rPr lang="it-IT" sz="3200" dirty="0">
                <a:effectLst/>
                <a:ea typeface="Times New Roman" panose="02020603050405020304" pitchFamily="18" charset="0"/>
              </a:rPr>
              <a:t>È un linguaggio a schema libero</a:t>
            </a:r>
          </a:p>
          <a:p>
            <a:r>
              <a:rPr lang="it-IT" sz="3200" dirty="0">
                <a:effectLst/>
                <a:ea typeface="Times New Roman" panose="02020603050405020304" pitchFamily="18" charset="0"/>
              </a:rPr>
              <a:t>Indentazione standard (formattazione)</a:t>
            </a:r>
          </a:p>
          <a:p>
            <a:r>
              <a:rPr lang="it-IT" sz="3200" dirty="0">
                <a:ea typeface="Times New Roman" panose="02020603050405020304" pitchFamily="18" charset="0"/>
              </a:rPr>
              <a:t>Attenzione a parentesi e ";"</a:t>
            </a:r>
            <a:endParaRPr lang="it-IT" sz="3200" dirty="0">
              <a:effectLst/>
              <a:ea typeface="Times New Roman" panose="02020603050405020304" pitchFamily="18" charset="0"/>
            </a:endParaRPr>
          </a:p>
          <a:p>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a:t>
            </a:fld>
            <a:endParaRPr lang="it-IT"/>
          </a:p>
        </p:txBody>
      </p:sp>
      <p:sp>
        <p:nvSpPr>
          <p:cNvPr id="9" name="CasellaDiTesto 8">
            <a:extLst>
              <a:ext uri="{FF2B5EF4-FFF2-40B4-BE49-F238E27FC236}">
                <a16:creationId xmlns:a16="http://schemas.microsoft.com/office/drawing/2014/main" id="{683DB8E0-882E-4F45-98AC-A140A7E33F83}"/>
              </a:ext>
            </a:extLst>
          </p:cNvPr>
          <p:cNvSpPr txBox="1"/>
          <p:nvPr/>
        </p:nvSpPr>
        <p:spPr>
          <a:xfrm>
            <a:off x="755470" y="3058010"/>
            <a:ext cx="7742680" cy="3539430"/>
          </a:xfrm>
          <a:prstGeom prst="rect">
            <a:avLst/>
          </a:prstGeom>
          <a:noFill/>
        </p:spPr>
        <p:txBody>
          <a:bodyPr wrap="square">
            <a:spAutoFit/>
          </a:bodyPr>
          <a:lstStyle/>
          <a:p>
            <a:r>
              <a:rPr lang="it-IT" sz="2800" dirty="0">
                <a:solidFill>
                  <a:schemeClr val="accent5"/>
                </a:solidFill>
              </a:rPr>
              <a:t>public class Classe {</a:t>
            </a:r>
          </a:p>
          <a:p>
            <a:r>
              <a:rPr lang="it-IT" sz="2800" dirty="0">
                <a:solidFill>
                  <a:schemeClr val="accent5"/>
                </a:solidFill>
              </a:rPr>
              <a:t>    public int intero;</a:t>
            </a:r>
          </a:p>
          <a:p>
            <a:r>
              <a:rPr lang="it-IT" sz="2800" dirty="0">
                <a:solidFill>
                  <a:schemeClr val="accent5"/>
                </a:solidFill>
              </a:rPr>
              <a:t>    public void metodo() {</a:t>
            </a:r>
          </a:p>
          <a:p>
            <a:r>
              <a:rPr lang="it-IT" sz="2800" dirty="0">
                <a:solidFill>
                  <a:schemeClr val="accent5"/>
                </a:solidFill>
              </a:rPr>
              <a:t>        intero = 29;</a:t>
            </a:r>
          </a:p>
          <a:p>
            <a:r>
              <a:rPr lang="it-IT" sz="2800" dirty="0">
                <a:solidFill>
                  <a:schemeClr val="accent5"/>
                </a:solidFill>
              </a:rPr>
              <a:t>        int </a:t>
            </a:r>
            <a:r>
              <a:rPr lang="it-IT" sz="2800" dirty="0" err="1">
                <a:solidFill>
                  <a:schemeClr val="accent5"/>
                </a:solidFill>
              </a:rPr>
              <a:t>unAltroIntero</a:t>
            </a:r>
            <a:r>
              <a:rPr lang="it-IT" sz="2800" dirty="0">
                <a:solidFill>
                  <a:schemeClr val="accent5"/>
                </a:solidFill>
              </a:rPr>
              <a:t> = 7;</a:t>
            </a:r>
          </a:p>
          <a:p>
            <a:r>
              <a:rPr lang="it-IT" sz="2800" dirty="0">
                <a:solidFill>
                  <a:schemeClr val="accent5"/>
                </a:solidFill>
              </a:rPr>
              <a:t>        System.out.println(intero + </a:t>
            </a:r>
            <a:r>
              <a:rPr lang="it-IT" sz="2800" dirty="0" err="1">
                <a:solidFill>
                  <a:schemeClr val="accent5"/>
                </a:solidFill>
              </a:rPr>
              <a:t>unAltroIntero</a:t>
            </a:r>
            <a:r>
              <a:rPr lang="it-IT" sz="2800" dirty="0">
                <a:solidFill>
                  <a:schemeClr val="accent5"/>
                </a:solidFill>
              </a:rPr>
              <a:t>);</a:t>
            </a:r>
          </a:p>
          <a:p>
            <a:r>
              <a:rPr lang="it-IT" sz="2800" dirty="0">
                <a:solidFill>
                  <a:schemeClr val="accent5"/>
                </a:solidFill>
              </a:rPr>
              <a:t>    }</a:t>
            </a:r>
          </a:p>
          <a:p>
            <a:r>
              <a:rPr lang="it-IT" sz="2800" dirty="0">
                <a:solidFill>
                  <a:schemeClr val="accent5"/>
                </a:solidFill>
              </a:rPr>
              <a:t>}</a:t>
            </a:r>
          </a:p>
        </p:txBody>
      </p:sp>
    </p:spTree>
    <p:extLst>
      <p:ext uri="{BB962C8B-B14F-4D97-AF65-F5344CB8AC3E}">
        <p14:creationId xmlns:p14="http://schemas.microsoft.com/office/powerpoint/2010/main" val="2706583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500"/>
            <a:ext cx="7886700" cy="1862189"/>
          </a:xfrm>
        </p:spPr>
        <p:txBody>
          <a:bodyPr/>
          <a:lstStyle/>
          <a:p>
            <a:pPr algn="ctr"/>
            <a:r>
              <a:rPr lang="it-IT" dirty="0"/>
              <a:t>Best practice per scrivere codice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1484730"/>
            <a:ext cx="7759880" cy="5236746"/>
          </a:xfrm>
        </p:spPr>
        <p:txBody>
          <a:bodyPr>
            <a:noAutofit/>
          </a:bodyPr>
          <a:lstStyle/>
          <a:p>
            <a:r>
              <a:rPr lang="it-IT" sz="2600" dirty="0">
                <a:effectLst/>
                <a:ea typeface="Times New Roman" panose="02020603050405020304" pitchFamily="18" charset="0"/>
              </a:rPr>
              <a:t>Passo 1: dichiarazione:</a:t>
            </a:r>
          </a:p>
          <a:p>
            <a:pPr marL="0" indent="0">
              <a:buNone/>
            </a:pPr>
            <a:r>
              <a:rPr lang="it-IT" sz="2600" dirty="0">
                <a:solidFill>
                  <a:schemeClr val="accent5"/>
                </a:solidFill>
                <a:effectLst/>
                <a:ea typeface="Times New Roman" panose="02020603050405020304" pitchFamily="18" charset="0"/>
              </a:rPr>
              <a:t>public class Classe {}</a:t>
            </a:r>
          </a:p>
          <a:p>
            <a:r>
              <a:rPr lang="it-IT" sz="2600" dirty="0">
                <a:effectLst/>
                <a:ea typeface="Times New Roman" panose="02020603050405020304" pitchFamily="18" charset="0"/>
              </a:rPr>
              <a:t>Passo 2: formattazione:</a:t>
            </a:r>
          </a:p>
          <a:p>
            <a:pPr marL="0" indent="0">
              <a:buNone/>
            </a:pPr>
            <a:r>
              <a:rPr lang="it-IT" sz="2600" dirty="0">
                <a:solidFill>
                  <a:schemeClr val="accent5"/>
                </a:solidFill>
                <a:effectLst/>
                <a:ea typeface="Times New Roman" panose="02020603050405020304" pitchFamily="18" charset="0"/>
              </a:rPr>
              <a:t>public class Classe {</a:t>
            </a:r>
          </a:p>
          <a:p>
            <a:pPr marL="0" indent="0">
              <a:buNone/>
            </a:pPr>
            <a:endParaRPr lang="it-IT" sz="2600" dirty="0">
              <a:solidFill>
                <a:schemeClr val="accent5"/>
              </a:solidFill>
              <a:effectLst/>
              <a:ea typeface="Times New Roman" panose="02020603050405020304" pitchFamily="18" charset="0"/>
            </a:endParaRPr>
          </a:p>
          <a:p>
            <a:pPr marL="0" indent="0">
              <a:buNone/>
            </a:pPr>
            <a:r>
              <a:rPr lang="it-IT" sz="2600" dirty="0">
                <a:solidFill>
                  <a:schemeClr val="accent5"/>
                </a:solidFill>
                <a:effectLst/>
                <a:ea typeface="Times New Roman" panose="02020603050405020304" pitchFamily="18" charset="0"/>
              </a:rPr>
              <a:t>}</a:t>
            </a:r>
          </a:p>
          <a:p>
            <a:r>
              <a:rPr lang="it-IT" sz="2600" dirty="0">
                <a:ea typeface="Times New Roman" panose="02020603050405020304" pitchFamily="18" charset="0"/>
              </a:rPr>
              <a:t>P</a:t>
            </a:r>
            <a:r>
              <a:rPr lang="it-IT" sz="2600" dirty="0">
                <a:effectLst/>
                <a:ea typeface="Times New Roman" panose="02020603050405020304" pitchFamily="18" charset="0"/>
              </a:rPr>
              <a:t>asso 3: completamento: </a:t>
            </a:r>
          </a:p>
          <a:p>
            <a:pPr marL="0" indent="0">
              <a:buNone/>
            </a:pPr>
            <a:r>
              <a:rPr lang="it-IT" sz="2600" dirty="0">
                <a:solidFill>
                  <a:schemeClr val="accent5"/>
                </a:solidFill>
                <a:effectLst/>
                <a:ea typeface="Times New Roman" panose="02020603050405020304" pitchFamily="18" charset="0"/>
              </a:rPr>
              <a:t>public class Classe {</a:t>
            </a:r>
          </a:p>
          <a:p>
            <a:pPr marL="0" indent="0">
              <a:buNone/>
            </a:pPr>
            <a:r>
              <a:rPr lang="it-IT" sz="2600" dirty="0">
                <a:solidFill>
                  <a:schemeClr val="accent5"/>
                </a:solidFill>
                <a:effectLst/>
                <a:ea typeface="Times New Roman" panose="02020603050405020304" pitchFamily="18" charset="0"/>
              </a:rPr>
              <a:t>    public int intero;</a:t>
            </a:r>
          </a:p>
          <a:p>
            <a:pPr marL="0" indent="0">
              <a:buNone/>
            </a:pPr>
            <a:r>
              <a:rPr lang="it-IT" sz="2600" dirty="0">
                <a:solidFill>
                  <a:schemeClr val="accent5"/>
                </a:solidFill>
                <a:effectLst/>
                <a:ea typeface="Times New Roman" panose="02020603050405020304" pitchFamily="18" charset="0"/>
              </a:rPr>
              <a:t>    ...</a:t>
            </a:r>
          </a:p>
          <a:p>
            <a:pPr marL="0" indent="0">
              <a:buNone/>
            </a:pPr>
            <a:r>
              <a:rPr lang="it-IT" sz="2600" dirty="0">
                <a:solidFill>
                  <a:schemeClr val="accent5"/>
                </a:solidFill>
                <a:effectLst/>
                <a:ea typeface="Times New Roman" panose="02020603050405020304" pitchFamily="18" charset="0"/>
              </a:rPr>
              <a:t>}</a:t>
            </a:r>
          </a:p>
          <a:p>
            <a:endParaRPr lang="it-IT" dirty="0"/>
          </a:p>
          <a:p>
            <a:pPr lvl="1"/>
            <a:endParaRPr lang="it-IT" sz="24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a:t>
            </a:fld>
            <a:endParaRPr lang="it-IT"/>
          </a:p>
        </p:txBody>
      </p:sp>
    </p:spTree>
    <p:extLst>
      <p:ext uri="{BB962C8B-B14F-4D97-AF65-F5344CB8AC3E}">
        <p14:creationId xmlns:p14="http://schemas.microsoft.com/office/powerpoint/2010/main" val="2993077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052670"/>
          </a:xfrm>
        </p:spPr>
        <p:txBody>
          <a:bodyPr/>
          <a:lstStyle/>
          <a:p>
            <a:pPr algn="ctr"/>
            <a:r>
              <a:rPr lang="it-IT" dirty="0"/>
              <a:t>Commenti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323410" y="908650"/>
            <a:ext cx="8497180" cy="5740816"/>
          </a:xfrm>
        </p:spPr>
        <p:txBody>
          <a:bodyPr>
            <a:noAutofit/>
          </a:bodyPr>
          <a:lstStyle/>
          <a:p>
            <a:r>
              <a:rPr lang="it-IT" sz="2200" dirty="0">
                <a:effectLst/>
                <a:ea typeface="Times New Roman" panose="02020603050405020304" pitchFamily="18" charset="0"/>
              </a:rPr>
              <a:t>Java supporta tre modi diversi per commentare il codice:</a:t>
            </a:r>
          </a:p>
          <a:p>
            <a:r>
              <a:rPr lang="it-IT" sz="2200" dirty="0">
                <a:effectLst/>
                <a:ea typeface="Times New Roman" panose="02020603050405020304" pitchFamily="18" charset="0"/>
              </a:rPr>
              <a:t>Commenti a singola riga (letteralmente single-line </a:t>
            </a:r>
            <a:r>
              <a:rPr lang="it-IT" sz="2200" dirty="0" err="1">
                <a:effectLst/>
                <a:ea typeface="Times New Roman" panose="02020603050405020304" pitchFamily="18" charset="0"/>
              </a:rPr>
              <a:t>comments</a:t>
            </a:r>
            <a:r>
              <a:rPr lang="it-IT" sz="2200" dirty="0">
                <a:effectLst/>
                <a:ea typeface="Times New Roman" panose="02020603050405020304" pitchFamily="18" charset="0"/>
              </a:rPr>
              <a:t>):</a:t>
            </a:r>
          </a:p>
          <a:p>
            <a:pPr marL="0" indent="0">
              <a:buNone/>
            </a:pPr>
            <a:r>
              <a:rPr lang="it-IT" sz="2200" dirty="0">
                <a:solidFill>
                  <a:schemeClr val="accent5"/>
                </a:solidFill>
                <a:effectLst/>
                <a:ea typeface="Times New Roman" panose="02020603050405020304" pitchFamily="18" charset="0"/>
              </a:rPr>
              <a:t>// Questo è un commento su una sola riga </a:t>
            </a:r>
          </a:p>
          <a:p>
            <a:r>
              <a:rPr lang="it-IT" sz="2200" dirty="0"/>
              <a:t>Commenti</a:t>
            </a:r>
            <a:r>
              <a:rPr lang="it-IT" sz="2200" dirty="0">
                <a:effectLst/>
                <a:ea typeface="Times New Roman" panose="02020603050405020304" pitchFamily="18" charset="0"/>
              </a:rPr>
              <a:t> multilinea (letteralmente multi-line </a:t>
            </a:r>
            <a:r>
              <a:rPr lang="it-IT" sz="2200" dirty="0" err="1">
                <a:effectLst/>
                <a:ea typeface="Times New Roman" panose="02020603050405020304" pitchFamily="18" charset="0"/>
              </a:rPr>
              <a:t>comments</a:t>
            </a:r>
            <a:r>
              <a:rPr lang="it-IT" sz="2200" dirty="0">
                <a:effectLst/>
                <a:ea typeface="Times New Roman" panose="02020603050405020304" pitchFamily="18" charset="0"/>
              </a:rPr>
              <a:t>):</a:t>
            </a:r>
          </a:p>
          <a:p>
            <a:pPr marL="0" indent="0">
              <a:buNone/>
            </a:pPr>
            <a:r>
              <a:rPr lang="it-IT" sz="2200" dirty="0">
                <a:solidFill>
                  <a:schemeClr val="accent5"/>
                </a:solidFill>
                <a:effectLst/>
                <a:ea typeface="Times New Roman" panose="02020603050405020304" pitchFamily="18" charset="0"/>
              </a:rPr>
              <a:t>/*</a:t>
            </a:r>
          </a:p>
          <a:p>
            <a:pPr marL="0" indent="0">
              <a:buNone/>
            </a:pPr>
            <a:r>
              <a:rPr lang="it-IT" sz="2200" dirty="0">
                <a:solidFill>
                  <a:schemeClr val="accent5"/>
                </a:solidFill>
                <a:effectLst/>
                <a:ea typeface="Times New Roman" panose="02020603050405020304" pitchFamily="18" charset="0"/>
              </a:rPr>
              <a:t>   Questo è un commento</a:t>
            </a:r>
          </a:p>
          <a:p>
            <a:pPr marL="0" indent="0">
              <a:buNone/>
            </a:pPr>
            <a:r>
              <a:rPr lang="it-IT" sz="2200" dirty="0">
                <a:solidFill>
                  <a:schemeClr val="accent5"/>
                </a:solidFill>
                <a:effectLst/>
                <a:ea typeface="Times New Roman" panose="02020603050405020304" pitchFamily="18" charset="0"/>
              </a:rPr>
              <a:t>   su più righe</a:t>
            </a:r>
          </a:p>
          <a:p>
            <a:pPr marL="0" indent="0">
              <a:buNone/>
            </a:pPr>
            <a:r>
              <a:rPr lang="it-IT" sz="2200" dirty="0">
                <a:solidFill>
                  <a:schemeClr val="accent5"/>
                </a:solidFill>
                <a:effectLst/>
                <a:ea typeface="Times New Roman" panose="02020603050405020304" pitchFamily="18" charset="0"/>
              </a:rPr>
              <a:t>*/</a:t>
            </a:r>
          </a:p>
          <a:p>
            <a:r>
              <a:rPr lang="it-IT" sz="2200" dirty="0">
                <a:effectLst/>
                <a:ea typeface="Times New Roman" panose="02020603050405020304" pitchFamily="18" charset="0"/>
              </a:rPr>
              <a:t>Commenti di documentazione (letteralmente </a:t>
            </a:r>
            <a:r>
              <a:rPr lang="it-IT" sz="2200" dirty="0" err="1">
                <a:effectLst/>
                <a:ea typeface="Times New Roman" panose="02020603050405020304" pitchFamily="18" charset="0"/>
              </a:rPr>
              <a:t>documentation</a:t>
            </a:r>
            <a:r>
              <a:rPr lang="it-IT" sz="2200" dirty="0">
                <a:effectLst/>
                <a:ea typeface="Times New Roman" panose="02020603050405020304" pitchFamily="18" charset="0"/>
              </a:rPr>
              <a:t> </a:t>
            </a:r>
            <a:r>
              <a:rPr lang="it-IT" sz="2200" dirty="0" err="1">
                <a:effectLst/>
                <a:ea typeface="Times New Roman" panose="02020603050405020304" pitchFamily="18" charset="0"/>
              </a:rPr>
              <a:t>comments</a:t>
            </a:r>
            <a:r>
              <a:rPr lang="it-IT" sz="2200" dirty="0">
                <a:effectLst/>
                <a:ea typeface="Times New Roman" panose="02020603050405020304" pitchFamily="18" charset="0"/>
              </a:rPr>
              <a:t>), conosciuti anche come commenti Javadoc:</a:t>
            </a:r>
          </a:p>
          <a:p>
            <a:pPr marL="0" indent="0">
              <a:buNone/>
            </a:pPr>
            <a:r>
              <a:rPr lang="it-IT" sz="2200" dirty="0">
                <a:solidFill>
                  <a:schemeClr val="accent5"/>
                </a:solidFill>
                <a:effectLst/>
                <a:ea typeface="Times New Roman" panose="02020603050405020304" pitchFamily="18" charset="0"/>
              </a:rPr>
              <a:t>/**</a:t>
            </a:r>
          </a:p>
          <a:p>
            <a:pPr marL="0" indent="0">
              <a:buNone/>
            </a:pPr>
            <a:r>
              <a:rPr lang="it-IT" sz="2200" dirty="0">
                <a:solidFill>
                  <a:schemeClr val="accent5"/>
                </a:solidFill>
                <a:effectLst/>
                <a:ea typeface="Times New Roman" panose="02020603050405020304" pitchFamily="18" charset="0"/>
              </a:rPr>
              <a:t>   Questo commento permette di produrre</a:t>
            </a:r>
          </a:p>
          <a:p>
            <a:pPr marL="0" indent="0">
              <a:buNone/>
            </a:pPr>
            <a:r>
              <a:rPr lang="it-IT" sz="2200" dirty="0">
                <a:solidFill>
                  <a:schemeClr val="accent5"/>
                </a:solidFill>
                <a:effectLst/>
                <a:ea typeface="Times New Roman" panose="02020603050405020304" pitchFamily="18" charset="0"/>
              </a:rPr>
              <a:t>   la documentazione del codice</a:t>
            </a:r>
          </a:p>
          <a:p>
            <a:pPr marL="0" indent="0">
              <a:buNone/>
            </a:pPr>
            <a:r>
              <a:rPr lang="it-IT" sz="2200" dirty="0">
                <a:solidFill>
                  <a:schemeClr val="accent5"/>
                </a:solidFill>
                <a:effectLst/>
                <a:ea typeface="Times New Roman" panose="02020603050405020304" pitchFamily="18" charset="0"/>
              </a:rPr>
              <a:t>   in formato HTML, nello standard Javadoc</a:t>
            </a:r>
          </a:p>
          <a:p>
            <a:pPr marL="0" indent="0">
              <a:buNone/>
            </a:pPr>
            <a:r>
              <a:rPr lang="it-IT" sz="2200" dirty="0">
                <a:solidFill>
                  <a:schemeClr val="accent5"/>
                </a:solidFill>
                <a:effectLst/>
                <a:ea typeface="Times New Roman" panose="02020603050405020304" pitchFamily="18" charset="0"/>
              </a:rPr>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a:t>
            </a:fld>
            <a:endParaRPr lang="it-IT"/>
          </a:p>
        </p:txBody>
      </p:sp>
    </p:spTree>
    <p:extLst>
      <p:ext uri="{BB962C8B-B14F-4D97-AF65-F5344CB8AC3E}">
        <p14:creationId xmlns:p14="http://schemas.microsoft.com/office/powerpoint/2010/main" val="137569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5147"/>
            <a:ext cx="7886700" cy="1325563"/>
          </a:xfrm>
        </p:spPr>
        <p:txBody>
          <a:bodyPr/>
          <a:lstStyle/>
          <a:p>
            <a:pPr algn="ctr"/>
            <a:r>
              <a:rPr lang="it-IT" dirty="0"/>
              <a:t>Quando utilizzare i commenti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96690"/>
            <a:ext cx="9144000" cy="5661309"/>
          </a:xfrm>
        </p:spPr>
        <p:txBody>
          <a:bodyPr>
            <a:normAutofit lnSpcReduction="10000"/>
          </a:bodyPr>
          <a:lstStyle/>
          <a:p>
            <a:r>
              <a:rPr lang="it-IT" sz="3000" dirty="0"/>
              <a:t>All’inizio è opportuno descrivere ogni riga di codice con commenti a singola riga:</a:t>
            </a:r>
          </a:p>
          <a:p>
            <a:pPr marL="0" indent="0">
              <a:buNone/>
            </a:pPr>
            <a:r>
              <a:rPr lang="it-IT" sz="2800" dirty="0">
                <a:solidFill>
                  <a:schemeClr val="accent5"/>
                </a:solidFill>
              </a:rPr>
              <a:t>// Nella seguente riga ci sono tre istruzioni:</a:t>
            </a:r>
          </a:p>
          <a:p>
            <a:pPr marL="0" indent="0">
              <a:buNone/>
            </a:pPr>
            <a:r>
              <a:rPr lang="it-IT" sz="2800" dirty="0">
                <a:solidFill>
                  <a:schemeClr val="accent5"/>
                </a:solidFill>
              </a:rPr>
              <a:t>// 1) Punto </a:t>
            </a:r>
            <a:r>
              <a:rPr lang="it-IT" sz="2800" dirty="0" err="1">
                <a:solidFill>
                  <a:schemeClr val="accent5"/>
                </a:solidFill>
              </a:rPr>
              <a:t>punto</a:t>
            </a:r>
            <a:r>
              <a:rPr lang="it-IT" sz="2800" dirty="0">
                <a:solidFill>
                  <a:schemeClr val="accent5"/>
                </a:solidFill>
              </a:rPr>
              <a:t> : dichiarazione del reference di tipo Punto.</a:t>
            </a:r>
          </a:p>
          <a:p>
            <a:pPr marL="0" indent="0">
              <a:buNone/>
            </a:pPr>
            <a:r>
              <a:rPr lang="it-IT" sz="2800" dirty="0">
                <a:solidFill>
                  <a:schemeClr val="accent5"/>
                </a:solidFill>
              </a:rPr>
              <a:t>// 2) new Punto() : istanza dell’oggetto di tipo Punto</a:t>
            </a:r>
          </a:p>
          <a:p>
            <a:pPr marL="0" indent="0">
              <a:buNone/>
            </a:pPr>
            <a:r>
              <a:rPr lang="it-IT" sz="2800" dirty="0">
                <a:solidFill>
                  <a:schemeClr val="accent5"/>
                </a:solidFill>
              </a:rPr>
              <a:t>// 3) punto = new Punto() : assegnazione dell’oggetto al reference</a:t>
            </a:r>
          </a:p>
          <a:p>
            <a:pPr marL="0" indent="0">
              <a:buNone/>
            </a:pPr>
            <a:r>
              <a:rPr lang="it-IT" sz="2800" dirty="0">
                <a:solidFill>
                  <a:schemeClr val="accent5"/>
                </a:solidFill>
              </a:rPr>
              <a:t>Punto </a:t>
            </a:r>
            <a:r>
              <a:rPr lang="it-IT" sz="2800" dirty="0" err="1">
                <a:solidFill>
                  <a:schemeClr val="accent5"/>
                </a:solidFill>
              </a:rPr>
              <a:t>punto</a:t>
            </a:r>
            <a:r>
              <a:rPr lang="it-IT" sz="2800" dirty="0">
                <a:solidFill>
                  <a:schemeClr val="accent5"/>
                </a:solidFill>
              </a:rPr>
              <a:t> = new Punto();</a:t>
            </a:r>
          </a:p>
          <a:p>
            <a:r>
              <a:rPr lang="it-IT" sz="3000" dirty="0"/>
              <a:t>Commentare parti di codice:</a:t>
            </a:r>
          </a:p>
          <a:p>
            <a:pPr marL="0" indent="0">
              <a:buNone/>
            </a:pPr>
            <a:r>
              <a:rPr lang="en-US" sz="2800" dirty="0">
                <a:solidFill>
                  <a:schemeClr val="accent5"/>
                </a:solidFill>
              </a:rPr>
              <a:t>//System.out.println(i);</a:t>
            </a:r>
          </a:p>
          <a:p>
            <a:pPr marL="0" indent="0">
              <a:buNone/>
            </a:pPr>
            <a:r>
              <a:rPr lang="en-US" sz="2800" dirty="0">
                <a:solidFill>
                  <a:schemeClr val="accent5"/>
                </a:solidFill>
              </a:rPr>
              <a:t>public void metodo(/* double d*/ int i) {</a:t>
            </a:r>
          </a:p>
          <a:p>
            <a:pPr marL="0" indent="0">
              <a:buNone/>
            </a:pPr>
            <a:r>
              <a:rPr lang="en-US" sz="2800" dirty="0">
                <a:solidFill>
                  <a:schemeClr val="accent5"/>
                </a:solidFill>
              </a:rPr>
              <a:t>}</a:t>
            </a:r>
          </a:p>
          <a:p>
            <a:endParaRPr lang="it-IT" sz="2800" dirty="0"/>
          </a:p>
          <a:p>
            <a:endParaRPr lang="it-IT" sz="28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7</a:t>
            </a:fld>
            <a:endParaRPr lang="it-IT"/>
          </a:p>
        </p:txBody>
      </p:sp>
    </p:spTree>
    <p:extLst>
      <p:ext uri="{BB962C8B-B14F-4D97-AF65-F5344CB8AC3E}">
        <p14:creationId xmlns:p14="http://schemas.microsoft.com/office/powerpoint/2010/main" val="3304286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5147"/>
            <a:ext cx="7886700" cy="1037523"/>
          </a:xfrm>
        </p:spPr>
        <p:txBody>
          <a:bodyPr/>
          <a:lstStyle/>
          <a:p>
            <a:pPr algn="ctr"/>
            <a:r>
              <a:rPr lang="it-IT" dirty="0"/>
              <a:t>Identificatori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08650" y="1113097"/>
            <a:ext cx="9252650" cy="5196303"/>
          </a:xfrm>
        </p:spPr>
        <p:txBody>
          <a:bodyPr>
            <a:normAutofit fontScale="47500" lnSpcReduction="20000"/>
          </a:bodyPr>
          <a:lstStyle/>
          <a:p>
            <a:r>
              <a:rPr lang="it-IT" sz="6300" dirty="0"/>
              <a:t>Sono i nomi che diamo agli elementi di programmazione</a:t>
            </a:r>
          </a:p>
          <a:p>
            <a:r>
              <a:rPr lang="it-IT" sz="6300" dirty="0"/>
              <a:t>Hanno regole da seguire obbligatoriamente e standard non obbligatori ma fondamentali per una programmazione di qualità</a:t>
            </a:r>
          </a:p>
          <a:p>
            <a:r>
              <a:rPr lang="it-IT" sz="6300" dirty="0"/>
              <a:t>Java è un linguaggio case sensitive e gli identificatori possono usare solo un certo insieme di caratteri, numeri e simboli:</a:t>
            </a:r>
          </a:p>
          <a:p>
            <a:pPr lvl="1"/>
            <a:r>
              <a:rPr lang="it-IT" sz="6300" dirty="0">
                <a:solidFill>
                  <a:srgbClr val="00B0F0"/>
                </a:solidFill>
              </a:rPr>
              <a:t>Il primo carattere può essere A-Z, a-z, _, $</a:t>
            </a:r>
          </a:p>
          <a:p>
            <a:pPr lvl="1"/>
            <a:r>
              <a:rPr lang="it-IT" sz="6300" dirty="0">
                <a:solidFill>
                  <a:srgbClr val="00B0F0"/>
                </a:solidFill>
              </a:rPr>
              <a:t>Il secondo ed i successivi possono essere A-Z, a-z, _, $, 0-9</a:t>
            </a:r>
          </a:p>
          <a:p>
            <a:r>
              <a:rPr lang="it-IT" sz="6300" dirty="0"/>
              <a:t>Quindi: </a:t>
            </a:r>
            <a:r>
              <a:rPr lang="it-IT" sz="6300" i="1" dirty="0"/>
              <a:t>a2</a:t>
            </a:r>
            <a:r>
              <a:rPr lang="it-IT" sz="6300" dirty="0"/>
              <a:t> è un identificatore valido, mentre </a:t>
            </a:r>
            <a:r>
              <a:rPr lang="it-IT" sz="6300" i="1" dirty="0"/>
              <a:t>2a</a:t>
            </a:r>
            <a:r>
              <a:rPr lang="it-IT" sz="6300" dirty="0"/>
              <a:t> non lo è. </a:t>
            </a:r>
          </a:p>
          <a:p>
            <a:r>
              <a:rPr lang="it-IT" sz="6300" dirty="0"/>
              <a:t>Il simbolo </a:t>
            </a:r>
            <a:r>
              <a:rPr lang="it-IT" sz="6300" i="1" dirty="0"/>
              <a:t>$</a:t>
            </a:r>
            <a:r>
              <a:rPr lang="it-IT" sz="6300" dirty="0"/>
              <a:t> non vien praticamente mai utilizzato per un identificatore.</a:t>
            </a:r>
          </a:p>
          <a:p>
            <a:endParaRPr lang="it-IT" sz="4000" dirty="0"/>
          </a:p>
          <a:p>
            <a:endParaRPr lang="it-IT" sz="4000" dirty="0"/>
          </a:p>
          <a:p>
            <a:pPr lvl="1"/>
            <a:endParaRPr lang="it-IT" dirty="0"/>
          </a:p>
          <a:p>
            <a:pPr lvl="1"/>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8</a:t>
            </a:fld>
            <a:endParaRPr lang="it-IT"/>
          </a:p>
        </p:txBody>
      </p:sp>
    </p:spTree>
    <p:extLst>
      <p:ext uri="{BB962C8B-B14F-4D97-AF65-F5344CB8AC3E}">
        <p14:creationId xmlns:p14="http://schemas.microsoft.com/office/powerpoint/2010/main" val="427464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836640"/>
          </a:xfrm>
        </p:spPr>
        <p:txBody>
          <a:bodyPr/>
          <a:lstStyle/>
          <a:p>
            <a:pPr algn="ctr"/>
            <a:r>
              <a:rPr lang="it-IT" dirty="0"/>
              <a:t>Parole definite dal linguaggio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9</a:t>
            </a:fld>
            <a:endParaRPr lang="it-IT"/>
          </a:p>
        </p:txBody>
      </p:sp>
      <p:pic>
        <p:nvPicPr>
          <p:cNvPr id="9" name="Immagine 8">
            <a:extLst>
              <a:ext uri="{FF2B5EF4-FFF2-40B4-BE49-F238E27FC236}">
                <a16:creationId xmlns:a16="http://schemas.microsoft.com/office/drawing/2014/main" id="{F79FA14D-C6B1-4B8A-A555-B6767E9BB413}"/>
              </a:ext>
            </a:extLst>
          </p:cNvPr>
          <p:cNvPicPr>
            <a:picLocks noChangeAspect="1"/>
          </p:cNvPicPr>
          <p:nvPr/>
        </p:nvPicPr>
        <p:blipFill>
          <a:blip r:embed="rId3"/>
          <a:stretch>
            <a:fillRect/>
          </a:stretch>
        </p:blipFill>
        <p:spPr>
          <a:xfrm>
            <a:off x="628650" y="1124680"/>
            <a:ext cx="7886700" cy="5101764"/>
          </a:xfrm>
          <a:prstGeom prst="rect">
            <a:avLst/>
          </a:prstGeom>
        </p:spPr>
      </p:pic>
    </p:spTree>
    <p:extLst>
      <p:ext uri="{BB962C8B-B14F-4D97-AF65-F5344CB8AC3E}">
        <p14:creationId xmlns:p14="http://schemas.microsoft.com/office/powerpoint/2010/main" val="3562619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681037"/>
          </a:xfrm>
        </p:spPr>
        <p:txBody>
          <a:bodyPr>
            <a:normAutofit fontScale="90000"/>
          </a:bodyPr>
          <a:lstStyle/>
          <a:p>
            <a:r>
              <a:rPr lang="it-IT" dirty="0"/>
              <a:t>Identificatori: standard e convenzioni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681036"/>
            <a:ext cx="5364110" cy="6040439"/>
          </a:xfrm>
        </p:spPr>
        <p:txBody>
          <a:bodyPr>
            <a:normAutofit fontScale="40000" lnSpcReduction="20000"/>
          </a:bodyPr>
          <a:lstStyle/>
          <a:p>
            <a:r>
              <a:rPr lang="it-IT" sz="7000" dirty="0"/>
              <a:t>Classi (e altri tipi Java):</a:t>
            </a:r>
          </a:p>
          <a:p>
            <a:pPr marL="0" indent="0">
              <a:buNone/>
            </a:pPr>
            <a:r>
              <a:rPr lang="it-IT" sz="7000" dirty="0">
                <a:solidFill>
                  <a:schemeClr val="accent5"/>
                </a:solidFill>
              </a:rPr>
              <a:t>Persona</a:t>
            </a:r>
          </a:p>
          <a:p>
            <a:pPr marL="0" indent="0">
              <a:buNone/>
            </a:pPr>
            <a:r>
              <a:rPr lang="it-IT" sz="7000" dirty="0" err="1">
                <a:solidFill>
                  <a:schemeClr val="accent5"/>
                </a:solidFill>
              </a:rPr>
              <a:t>MacchinaDaCorsa</a:t>
            </a:r>
            <a:endParaRPr lang="it-IT" sz="7000" dirty="0">
              <a:solidFill>
                <a:schemeClr val="accent5"/>
              </a:solidFill>
            </a:endParaRPr>
          </a:p>
          <a:p>
            <a:pPr marL="0" indent="0">
              <a:buNone/>
            </a:pPr>
            <a:r>
              <a:rPr lang="it-IT" sz="7000" dirty="0" err="1">
                <a:solidFill>
                  <a:schemeClr val="accent5"/>
                </a:solidFill>
              </a:rPr>
              <a:t>FiguraGeometrica</a:t>
            </a:r>
            <a:endParaRPr lang="it-IT" sz="7000" dirty="0">
              <a:solidFill>
                <a:schemeClr val="accent5"/>
              </a:solidFill>
            </a:endParaRPr>
          </a:p>
          <a:p>
            <a:pPr marL="0" indent="0">
              <a:buNone/>
            </a:pPr>
            <a:endParaRPr lang="it-IT" sz="7000" dirty="0">
              <a:solidFill>
                <a:schemeClr val="accent5"/>
              </a:solidFill>
            </a:endParaRPr>
          </a:p>
          <a:p>
            <a:r>
              <a:rPr lang="it-IT" sz="7000" dirty="0"/>
              <a:t>Variabili:</a:t>
            </a:r>
          </a:p>
          <a:p>
            <a:pPr marL="0" indent="0">
              <a:buNone/>
            </a:pPr>
            <a:r>
              <a:rPr lang="it-IT" sz="7000" dirty="0" err="1">
                <a:solidFill>
                  <a:schemeClr val="accent5"/>
                </a:solidFill>
              </a:rPr>
              <a:t>pesoSpecifico</a:t>
            </a:r>
            <a:endParaRPr lang="it-IT" sz="7000" dirty="0">
              <a:solidFill>
                <a:schemeClr val="accent5"/>
              </a:solidFill>
            </a:endParaRPr>
          </a:p>
          <a:p>
            <a:pPr marL="0" indent="0">
              <a:buNone/>
            </a:pPr>
            <a:r>
              <a:rPr lang="it-IT" sz="7000" dirty="0" err="1">
                <a:solidFill>
                  <a:schemeClr val="accent5"/>
                </a:solidFill>
              </a:rPr>
              <a:t>numeroDiMinutiComplessivi</a:t>
            </a:r>
            <a:endParaRPr lang="it-IT" sz="7000" dirty="0">
              <a:solidFill>
                <a:schemeClr val="accent5"/>
              </a:solidFill>
            </a:endParaRPr>
          </a:p>
          <a:p>
            <a:pPr marL="0" indent="0">
              <a:buNone/>
            </a:pPr>
            <a:r>
              <a:rPr lang="it-IT" sz="7000" dirty="0">
                <a:solidFill>
                  <a:schemeClr val="accent5"/>
                </a:solidFill>
              </a:rPr>
              <a:t>x</a:t>
            </a:r>
          </a:p>
          <a:p>
            <a:pPr marL="0" indent="0">
              <a:buNone/>
            </a:pPr>
            <a:endParaRPr lang="it-IT" sz="7000" dirty="0">
              <a:solidFill>
                <a:schemeClr val="accent5"/>
              </a:solidFill>
            </a:endParaRPr>
          </a:p>
          <a:p>
            <a:r>
              <a:rPr lang="it-IT" sz="7000" dirty="0"/>
              <a:t>Metodi:</a:t>
            </a:r>
          </a:p>
          <a:p>
            <a:pPr marL="0" indent="0">
              <a:buNone/>
            </a:pPr>
            <a:r>
              <a:rPr lang="it-IT" sz="7000" dirty="0" err="1">
                <a:solidFill>
                  <a:schemeClr val="accent5"/>
                </a:solidFill>
              </a:rPr>
              <a:t>sommaDueNumeri</a:t>
            </a:r>
            <a:r>
              <a:rPr lang="it-IT" sz="7000" dirty="0">
                <a:solidFill>
                  <a:schemeClr val="accent5"/>
                </a:solidFill>
              </a:rPr>
              <a:t>(int a, int b)</a:t>
            </a:r>
          </a:p>
          <a:p>
            <a:pPr marL="0" indent="0">
              <a:buNone/>
            </a:pPr>
            <a:r>
              <a:rPr lang="it-IT" sz="7000" dirty="0" err="1">
                <a:solidFill>
                  <a:schemeClr val="accent5"/>
                </a:solidFill>
              </a:rPr>
              <a:t>cercaUnaParola</a:t>
            </a:r>
            <a:r>
              <a:rPr lang="it-IT" sz="7000" dirty="0">
                <a:solidFill>
                  <a:schemeClr val="accent5"/>
                </a:solidFill>
              </a:rPr>
              <a:t>(String parola)</a:t>
            </a:r>
          </a:p>
          <a:p>
            <a:pPr marL="0" indent="0">
              <a:buNone/>
            </a:pPr>
            <a:r>
              <a:rPr lang="it-IT" sz="7000" dirty="0">
                <a:solidFill>
                  <a:schemeClr val="accent5"/>
                </a:solidFill>
              </a:rPr>
              <a:t>stampa()</a:t>
            </a:r>
            <a:endParaRPr lang="it-IT" sz="7000" dirty="0"/>
          </a:p>
          <a:p>
            <a:endParaRPr lang="it-IT" sz="8000" dirty="0">
              <a:solidFill>
                <a:schemeClr val="accent5"/>
              </a:solidFill>
            </a:endParaRPr>
          </a:p>
          <a:p>
            <a:endParaRPr lang="it-IT" dirty="0"/>
          </a:p>
          <a:p>
            <a:pPr lvl="1"/>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10</a:t>
            </a:fld>
            <a:endParaRPr lang="it-IT"/>
          </a:p>
        </p:txBody>
      </p:sp>
      <p:sp>
        <p:nvSpPr>
          <p:cNvPr id="7" name="CasellaDiTesto 6">
            <a:extLst>
              <a:ext uri="{FF2B5EF4-FFF2-40B4-BE49-F238E27FC236}">
                <a16:creationId xmlns:a16="http://schemas.microsoft.com/office/drawing/2014/main" id="{3D9B218D-22F9-4632-82F2-349F7F6DEA19}"/>
              </a:ext>
            </a:extLst>
          </p:cNvPr>
          <p:cNvSpPr txBox="1"/>
          <p:nvPr/>
        </p:nvSpPr>
        <p:spPr>
          <a:xfrm>
            <a:off x="4427981" y="1401780"/>
            <a:ext cx="4716020" cy="3539430"/>
          </a:xfrm>
          <a:prstGeom prst="rect">
            <a:avLst/>
          </a:prstGeom>
          <a:noFill/>
        </p:spPr>
        <p:txBody>
          <a:bodyPr wrap="square">
            <a:spAutoFit/>
          </a:bodyPr>
          <a:lstStyle/>
          <a:p>
            <a:r>
              <a:rPr lang="it-IT" sz="2800" dirty="0"/>
              <a:t>Package (e moduli)</a:t>
            </a:r>
          </a:p>
          <a:p>
            <a:pPr marL="0" indent="0">
              <a:buNone/>
            </a:pPr>
            <a:r>
              <a:rPr lang="it-IT" sz="2800" dirty="0" err="1">
                <a:solidFill>
                  <a:schemeClr val="accent5"/>
                </a:solidFill>
              </a:rPr>
              <a:t>assistenza.clienti</a:t>
            </a:r>
            <a:endParaRPr lang="it-IT" sz="2800" dirty="0">
              <a:solidFill>
                <a:schemeClr val="accent5"/>
              </a:solidFill>
            </a:endParaRPr>
          </a:p>
          <a:p>
            <a:pPr marL="0" indent="0">
              <a:buNone/>
            </a:pPr>
            <a:r>
              <a:rPr lang="it-IT" sz="2800" dirty="0" err="1">
                <a:solidFill>
                  <a:schemeClr val="accent5"/>
                </a:solidFill>
              </a:rPr>
              <a:t>com.claudiodesio.miaapp.test</a:t>
            </a:r>
            <a:br>
              <a:rPr lang="it-IT" sz="2800" dirty="0"/>
            </a:br>
            <a:endParaRPr lang="it-IT" sz="2800" dirty="0"/>
          </a:p>
          <a:p>
            <a:r>
              <a:rPr lang="it-IT" sz="2800" dirty="0"/>
              <a:t>Costanti:</a:t>
            </a:r>
          </a:p>
          <a:p>
            <a:pPr marL="0" indent="0">
              <a:buNone/>
            </a:pPr>
            <a:r>
              <a:rPr lang="it-IT" sz="2800" dirty="0">
                <a:solidFill>
                  <a:schemeClr val="accent5"/>
                </a:solidFill>
              </a:rPr>
              <a:t>NUMERO_RUOTE</a:t>
            </a:r>
          </a:p>
          <a:p>
            <a:pPr marL="0" indent="0">
              <a:buNone/>
            </a:pPr>
            <a:r>
              <a:rPr lang="it-IT" sz="2800" dirty="0">
                <a:solidFill>
                  <a:schemeClr val="accent5"/>
                </a:solidFill>
              </a:rPr>
              <a:t>PI_GRECO</a:t>
            </a:r>
          </a:p>
          <a:p>
            <a:pPr marL="0" indent="0">
              <a:buNone/>
            </a:pPr>
            <a:endParaRPr lang="it-IT" sz="2800" dirty="0"/>
          </a:p>
        </p:txBody>
      </p:sp>
    </p:spTree>
    <p:extLst>
      <p:ext uri="{BB962C8B-B14F-4D97-AF65-F5344CB8AC3E}">
        <p14:creationId xmlns:p14="http://schemas.microsoft.com/office/powerpoint/2010/main" val="2118352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4"/>
            <a:ext cx="7886700" cy="1554165"/>
          </a:xfrm>
        </p:spPr>
        <p:txBody>
          <a:bodyPr/>
          <a:lstStyle/>
          <a:p>
            <a:pPr algn="ctr"/>
            <a:r>
              <a:rPr lang="it-IT" dirty="0"/>
              <a:t>Gestione della memoria</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0" y="1556740"/>
            <a:ext cx="9144000" cy="4620223"/>
          </a:xfrm>
        </p:spPr>
        <p:txBody>
          <a:bodyPr>
            <a:normAutofit/>
          </a:bodyPr>
          <a:lstStyle/>
          <a:p>
            <a:r>
              <a:rPr lang="it-IT" sz="3200" dirty="0"/>
              <a:t>Memoria principale per i programmi (RAM)</a:t>
            </a:r>
          </a:p>
          <a:p>
            <a:r>
              <a:rPr lang="it-IT" sz="3200" dirty="0"/>
              <a:t>Memoria secondaria per file cartelle (HD-SSD)</a:t>
            </a:r>
          </a:p>
          <a:p>
            <a:r>
              <a:rPr lang="it-IT" sz="3200" dirty="0"/>
              <a:t>Processore gestisce la memoria</a:t>
            </a:r>
          </a:p>
          <a:p>
            <a:r>
              <a:rPr lang="it-IT" sz="3200" dirty="0"/>
              <a:t>Concetto di </a:t>
            </a:r>
            <a:r>
              <a:rPr lang="it-IT" sz="3200" b="1" dirty="0"/>
              <a:t>bit</a:t>
            </a:r>
            <a:r>
              <a:rPr lang="it-IT" sz="3200" dirty="0"/>
              <a:t> (binary digit)</a:t>
            </a:r>
          </a:p>
          <a:p>
            <a:r>
              <a:rPr lang="it-IT" sz="3200" dirty="0"/>
              <a:t>La memoria viene suddivisa in sequenze di otto bit che vengono chiamate </a:t>
            </a:r>
            <a:r>
              <a:rPr lang="it-IT" sz="3200" b="1" dirty="0"/>
              <a:t>byte</a:t>
            </a:r>
            <a:r>
              <a:rPr lang="it-IT" sz="3200" dirty="0"/>
              <a:t>, che hanno la caratteristica di avere un indirizzo, ovvero di poter essere individuate da un numero. </a:t>
            </a:r>
          </a:p>
          <a:p>
            <a:endParaRPr lang="it-IT" sz="3200" dirty="0"/>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11</a:t>
            </a:fld>
            <a:endParaRPr lang="it-IT"/>
          </a:p>
        </p:txBody>
      </p:sp>
    </p:spTree>
    <p:extLst>
      <p:ext uri="{BB962C8B-B14F-4D97-AF65-F5344CB8AC3E}">
        <p14:creationId xmlns:p14="http://schemas.microsoft.com/office/powerpoint/2010/main" val="3649336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8515350" cy="1012954"/>
          </a:xfrm>
        </p:spPr>
        <p:txBody>
          <a:bodyPr/>
          <a:lstStyle/>
          <a:p>
            <a:r>
              <a:rPr lang="it-IT" dirty="0"/>
              <a:t>Byte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12</a:t>
            </a:fld>
            <a:endParaRPr lang="it-IT"/>
          </a:p>
        </p:txBody>
      </p:sp>
      <p:pic>
        <p:nvPicPr>
          <p:cNvPr id="6" name="Immagine 5">
            <a:extLst>
              <a:ext uri="{FF2B5EF4-FFF2-40B4-BE49-F238E27FC236}">
                <a16:creationId xmlns:a16="http://schemas.microsoft.com/office/drawing/2014/main" id="{4A386312-4D30-452E-BB75-B7CD1896D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3208" y="0"/>
            <a:ext cx="5217583" cy="6858000"/>
          </a:xfrm>
          <a:prstGeom prst="rect">
            <a:avLst/>
          </a:prstGeom>
        </p:spPr>
      </p:pic>
    </p:spTree>
    <p:extLst>
      <p:ext uri="{BB962C8B-B14F-4D97-AF65-F5344CB8AC3E}">
        <p14:creationId xmlns:p14="http://schemas.microsoft.com/office/powerpoint/2010/main" val="240473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2D6D6B-4C15-49B1-B550-586B9664DB81}"/>
              </a:ext>
            </a:extLst>
          </p:cNvPr>
          <p:cNvSpPr>
            <a:spLocks noGrp="1"/>
          </p:cNvSpPr>
          <p:nvPr>
            <p:ph type="title"/>
          </p:nvPr>
        </p:nvSpPr>
        <p:spPr>
          <a:xfrm>
            <a:off x="467430" y="260560"/>
            <a:ext cx="8676570" cy="936130"/>
          </a:xfrm>
        </p:spPr>
        <p:txBody>
          <a:bodyPr/>
          <a:lstStyle/>
          <a:p>
            <a:r>
              <a:rPr lang="it-IT" dirty="0"/>
              <a:t>Memorizzazione dei numeri interi</a:t>
            </a:r>
          </a:p>
        </p:txBody>
      </p:sp>
      <p:sp>
        <p:nvSpPr>
          <p:cNvPr id="3" name="Segnaposto contenuto 2">
            <a:extLst>
              <a:ext uri="{FF2B5EF4-FFF2-40B4-BE49-F238E27FC236}">
                <a16:creationId xmlns:a16="http://schemas.microsoft.com/office/drawing/2014/main" id="{1B0AF8AC-F454-45E3-9B39-7A4B04435911}"/>
              </a:ext>
            </a:extLst>
          </p:cNvPr>
          <p:cNvSpPr>
            <a:spLocks noGrp="1"/>
          </p:cNvSpPr>
          <p:nvPr>
            <p:ph idx="1"/>
          </p:nvPr>
        </p:nvSpPr>
        <p:spPr>
          <a:xfrm>
            <a:off x="840000" y="980660"/>
            <a:ext cx="7675350" cy="5196303"/>
          </a:xfrm>
        </p:spPr>
        <p:txBody>
          <a:bodyPr>
            <a:normAutofit/>
          </a:bodyPr>
          <a:lstStyle/>
          <a:p>
            <a:endParaRPr lang="it-IT" sz="2800" dirty="0"/>
          </a:p>
          <a:p>
            <a:r>
              <a:rPr lang="it-IT" sz="2800" b="1" dirty="0"/>
              <a:t>Metodo del complemento a due</a:t>
            </a:r>
          </a:p>
          <a:p>
            <a:r>
              <a:rPr lang="it-IT" sz="2800" dirty="0"/>
              <a:t>Sistemi numerici (</a:t>
            </a:r>
            <a:r>
              <a:rPr lang="it-IT" sz="2800" u="sng" dirty="0"/>
              <a:t>posizionali</a:t>
            </a:r>
            <a:r>
              <a:rPr lang="it-IT" sz="2800" dirty="0"/>
              <a:t>)</a:t>
            </a:r>
          </a:p>
          <a:p>
            <a:r>
              <a:rPr lang="it-IT" sz="2800" b="1" dirty="0"/>
              <a:t>Sistema</a:t>
            </a:r>
            <a:r>
              <a:rPr lang="it-IT" sz="2800" dirty="0"/>
              <a:t> </a:t>
            </a:r>
            <a:r>
              <a:rPr lang="it-IT" sz="2800" b="1" dirty="0"/>
              <a:t>decimale</a:t>
            </a:r>
            <a:r>
              <a:rPr lang="it-IT" sz="2800" dirty="0"/>
              <a:t> (o in base 10) utilizza 10 cifre:</a:t>
            </a:r>
          </a:p>
          <a:p>
            <a:pPr marL="342900" lvl="1" indent="0">
              <a:buNone/>
            </a:pPr>
            <a:r>
              <a:rPr lang="it-IT" sz="2400" dirty="0">
                <a:solidFill>
                  <a:schemeClr val="accent5"/>
                </a:solidFill>
              </a:rPr>
              <a:t>0, 1, 2, 3, 4, 5, 6, 7, 8, 9</a:t>
            </a:r>
          </a:p>
          <a:p>
            <a:r>
              <a:rPr lang="it-IT" sz="2800" b="1" dirty="0"/>
              <a:t>Sistema binario </a:t>
            </a:r>
            <a:r>
              <a:rPr lang="it-IT" sz="2800" dirty="0"/>
              <a:t>(in base 2) utilizza 2 cifre:</a:t>
            </a:r>
          </a:p>
          <a:p>
            <a:pPr marL="342900" lvl="1" indent="0">
              <a:buNone/>
            </a:pPr>
            <a:r>
              <a:rPr lang="it-IT" sz="2400" dirty="0">
                <a:solidFill>
                  <a:schemeClr val="accent5"/>
                </a:solidFill>
              </a:rPr>
              <a:t>0,1 </a:t>
            </a:r>
          </a:p>
          <a:p>
            <a:r>
              <a:rPr lang="it-IT" sz="2800" b="1" dirty="0"/>
              <a:t>Sistema ottale </a:t>
            </a:r>
            <a:r>
              <a:rPr lang="it-IT" sz="2800" dirty="0"/>
              <a:t>(in base 8) utilizza 8 cifre:</a:t>
            </a:r>
          </a:p>
          <a:p>
            <a:pPr marL="342900" lvl="1" indent="0">
              <a:buNone/>
            </a:pPr>
            <a:r>
              <a:rPr lang="it-IT" sz="2400" dirty="0">
                <a:solidFill>
                  <a:schemeClr val="accent5"/>
                </a:solidFill>
              </a:rPr>
              <a:t>0, 1, 2, 3, 4, 5, 6, 7</a:t>
            </a:r>
            <a:endParaRPr lang="it-IT" sz="2400" dirty="0"/>
          </a:p>
          <a:p>
            <a:r>
              <a:rPr lang="it-IT" sz="2800" b="1" dirty="0"/>
              <a:t>Sistema esadecimale </a:t>
            </a:r>
            <a:r>
              <a:rPr lang="it-IT" sz="2800" dirty="0"/>
              <a:t>(in base 16) utilizza 16 cifre:</a:t>
            </a:r>
          </a:p>
          <a:p>
            <a:pPr marL="342900" lvl="1" indent="0">
              <a:buNone/>
            </a:pPr>
            <a:r>
              <a:rPr lang="it-IT" sz="2400" dirty="0">
                <a:solidFill>
                  <a:schemeClr val="accent5"/>
                </a:solidFill>
              </a:rPr>
              <a:t>0, 1, 2, 3, 4, 5, 6, 7, 8, 9, A, B, C ,D ,E, F</a:t>
            </a:r>
          </a:p>
          <a:p>
            <a:pPr marL="342900" lvl="1" indent="0">
              <a:buNone/>
            </a:pPr>
            <a:endParaRPr lang="it-IT" sz="2400" b="1" dirty="0"/>
          </a:p>
          <a:p>
            <a:endParaRPr lang="it-IT" sz="2800" dirty="0"/>
          </a:p>
        </p:txBody>
      </p:sp>
      <p:sp>
        <p:nvSpPr>
          <p:cNvPr id="4" name="Segnaposto piè di pagina 3">
            <a:extLst>
              <a:ext uri="{FF2B5EF4-FFF2-40B4-BE49-F238E27FC236}">
                <a16:creationId xmlns:a16="http://schemas.microsoft.com/office/drawing/2014/main" id="{FAA0DADD-4466-4EDD-89D2-0F5B643DE945}"/>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A2233C3-3D4B-41F0-9ACF-16D0C0AEF244}"/>
              </a:ext>
            </a:extLst>
          </p:cNvPr>
          <p:cNvSpPr>
            <a:spLocks noGrp="1"/>
          </p:cNvSpPr>
          <p:nvPr>
            <p:ph type="sldNum" sz="quarter" idx="12"/>
          </p:nvPr>
        </p:nvSpPr>
        <p:spPr/>
        <p:txBody>
          <a:bodyPr/>
          <a:lstStyle/>
          <a:p>
            <a:fld id="{EA83E0A8-4958-4553-8C1A-CC59A6ABE123}" type="slidenum">
              <a:rPr lang="it-IT" smtClean="0"/>
              <a:t>13</a:t>
            </a:fld>
            <a:endParaRPr lang="it-IT"/>
          </a:p>
        </p:txBody>
      </p:sp>
    </p:spTree>
    <p:extLst>
      <p:ext uri="{BB962C8B-B14F-4D97-AF65-F5344CB8AC3E}">
        <p14:creationId xmlns:p14="http://schemas.microsoft.com/office/powerpoint/2010/main" val="1256682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2D6D6B-4C15-49B1-B550-586B9664DB81}"/>
              </a:ext>
            </a:extLst>
          </p:cNvPr>
          <p:cNvSpPr>
            <a:spLocks noGrp="1"/>
          </p:cNvSpPr>
          <p:nvPr>
            <p:ph type="title"/>
          </p:nvPr>
        </p:nvSpPr>
        <p:spPr>
          <a:xfrm>
            <a:off x="467430" y="0"/>
            <a:ext cx="8676570" cy="801272"/>
          </a:xfrm>
        </p:spPr>
        <p:txBody>
          <a:bodyPr/>
          <a:lstStyle/>
          <a:p>
            <a:r>
              <a:rPr lang="it-IT" dirty="0"/>
              <a:t>Sistemi numerici posizionali</a:t>
            </a:r>
          </a:p>
        </p:txBody>
      </p:sp>
      <p:sp>
        <p:nvSpPr>
          <p:cNvPr id="3" name="Segnaposto contenuto 2">
            <a:extLst>
              <a:ext uri="{FF2B5EF4-FFF2-40B4-BE49-F238E27FC236}">
                <a16:creationId xmlns:a16="http://schemas.microsoft.com/office/drawing/2014/main" id="{1B0AF8AC-F454-45E3-9B39-7A4B04435911}"/>
              </a:ext>
            </a:extLst>
          </p:cNvPr>
          <p:cNvSpPr>
            <a:spLocks noGrp="1"/>
          </p:cNvSpPr>
          <p:nvPr>
            <p:ph idx="1"/>
          </p:nvPr>
        </p:nvSpPr>
        <p:spPr>
          <a:xfrm>
            <a:off x="0" y="692620"/>
            <a:ext cx="9144000" cy="5484343"/>
          </a:xfrm>
        </p:spPr>
        <p:txBody>
          <a:bodyPr>
            <a:normAutofit fontScale="92500" lnSpcReduction="10000"/>
          </a:bodyPr>
          <a:lstStyle/>
          <a:p>
            <a:endParaRPr lang="it-IT" sz="2800" dirty="0"/>
          </a:p>
          <a:p>
            <a:r>
              <a:rPr lang="it-IT" sz="2800" b="1" dirty="0"/>
              <a:t>Sistema</a:t>
            </a:r>
            <a:r>
              <a:rPr lang="it-IT" sz="2800" dirty="0"/>
              <a:t> </a:t>
            </a:r>
            <a:r>
              <a:rPr lang="it-IT" sz="2800" b="1" dirty="0"/>
              <a:t>decimale:</a:t>
            </a:r>
          </a:p>
          <a:p>
            <a:pPr lvl="1"/>
            <a:r>
              <a:rPr lang="it-IT" sz="2400" dirty="0">
                <a:effectLst/>
                <a:latin typeface="Times New Roman" panose="02020603050405020304" pitchFamily="18" charset="0"/>
                <a:ea typeface="MS Mincho" panose="02020609040205080304" pitchFamily="49" charset="-128"/>
              </a:rPr>
              <a:t>Ogni cifra nella posizione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n</a:t>
            </a:r>
            <a:r>
              <a:rPr lang="it-IT" sz="2400" dirty="0">
                <a:effectLst/>
                <a:latin typeface="Times New Roman" panose="02020603050405020304" pitchFamily="18" charset="0"/>
                <a:ea typeface="MS Mincho" panose="02020609040205080304" pitchFamily="49" charset="-128"/>
              </a:rPr>
              <a:t>, deve essere moltiplicato per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10</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2400" dirty="0">
                <a:effectLst/>
                <a:latin typeface="Times New Roman" panose="02020603050405020304" pitchFamily="18" charset="0"/>
                <a:ea typeface="MS Mincho" panose="02020609040205080304" pitchFamily="49" charset="-128"/>
              </a:rPr>
              <a:t>, e i risultati delle moltiplicazioni vanno poi sommati tra loro. Per esempio, consideriamo il numero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2400" dirty="0">
                <a:effectLst/>
                <a:latin typeface="Times New Roman" panose="02020603050405020304" pitchFamily="18" charset="0"/>
                <a:ea typeface="MS Mincho" panose="02020609040205080304" pitchFamily="49" charset="-128"/>
              </a:rPr>
              <a:t>. Tenendo presente che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a:t>
            </a:r>
            <a:r>
              <a:rPr lang="it-IT" sz="2400" dirty="0">
                <a:effectLst/>
                <a:latin typeface="Times New Roman" panose="02020603050405020304" pitchFamily="18" charset="0"/>
                <a:ea typeface="MS Mincho" panose="02020609040205080304" pitchFamily="49" charset="-128"/>
              </a:rPr>
              <a:t> è alla posizione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2</a:t>
            </a:r>
            <a:r>
              <a:rPr lang="it-IT" sz="2400" dirty="0">
                <a:effectLst/>
                <a:latin typeface="Times New Roman" panose="02020603050405020304" pitchFamily="18" charset="0"/>
                <a:ea typeface="MS Mincho" panose="02020609040205080304" pitchFamily="49" charset="-128"/>
              </a:rPr>
              <a:t>,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2</a:t>
            </a:r>
            <a:r>
              <a:rPr lang="it-IT" sz="2400" dirty="0">
                <a:effectLst/>
                <a:latin typeface="Times New Roman" panose="02020603050405020304" pitchFamily="18" charset="0"/>
                <a:ea typeface="MS Mincho" panose="02020609040205080304" pitchFamily="49" charset="-128"/>
              </a:rPr>
              <a:t> è alla posizione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a:t>
            </a:r>
            <a:r>
              <a:rPr lang="it-IT" sz="2400" dirty="0">
                <a:effectLst/>
                <a:latin typeface="Times New Roman" panose="02020603050405020304" pitchFamily="18" charset="0"/>
                <a:ea typeface="MS Mincho" panose="02020609040205080304" pitchFamily="49" charset="-128"/>
              </a:rPr>
              <a:t>, 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7</a:t>
            </a:r>
            <a:r>
              <a:rPr lang="it-IT" sz="2400" dirty="0">
                <a:effectLst/>
                <a:latin typeface="Times New Roman" panose="02020603050405020304" pitchFamily="18" charset="0"/>
                <a:ea typeface="MS Mincho" panose="02020609040205080304" pitchFamily="49" charset="-128"/>
              </a:rPr>
              <a:t> è alla posizione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0</a:t>
            </a:r>
            <a:r>
              <a:rPr lang="it-IT" sz="2400" dirty="0">
                <a:effectLst/>
                <a:latin typeface="Times New Roman" panose="02020603050405020304" pitchFamily="18" charset="0"/>
                <a:ea typeface="MS Mincho" panose="02020609040205080304" pitchFamily="49" charset="-128"/>
              </a:rPr>
              <a:t>, risulterà che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2400" dirty="0">
                <a:effectLst/>
                <a:latin typeface="Times New Roman" panose="02020603050405020304" pitchFamily="18" charset="0"/>
                <a:ea typeface="MS Mincho" panose="02020609040205080304" pitchFamily="49" charset="-128"/>
              </a:rPr>
              <a:t> è uguale a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1x10</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+ 2x10</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+ 7x10</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2400" dirty="0">
                <a:effectLst/>
                <a:latin typeface="Times New Roman" panose="02020603050405020304" pitchFamily="18" charset="0"/>
                <a:ea typeface="MS Mincho" panose="02020609040205080304" pitchFamily="49" charset="-128"/>
              </a:rPr>
              <a:t> che è uguale a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100+20+7</a:t>
            </a:r>
            <a:r>
              <a:rPr lang="it-IT" sz="2400" dirty="0">
                <a:effectLst/>
                <a:latin typeface="Times New Roman" panose="02020603050405020304" pitchFamily="18" charset="0"/>
                <a:ea typeface="MS Mincho" panose="02020609040205080304" pitchFamily="49" charset="-128"/>
              </a:rPr>
              <a:t>.</a:t>
            </a:r>
            <a:endParaRPr lang="it-IT" sz="2400" b="1" dirty="0"/>
          </a:p>
          <a:p>
            <a:r>
              <a:rPr lang="it-IT" sz="2800" b="1" dirty="0"/>
              <a:t>Sistema binario </a:t>
            </a:r>
            <a:r>
              <a:rPr lang="it-IT" sz="2800" dirty="0"/>
              <a:t>(in base 2) utilizza 2 cifre:</a:t>
            </a:r>
          </a:p>
          <a:p>
            <a:pPr lvl="1"/>
            <a:r>
              <a:rPr lang="it-IT" sz="2400" dirty="0">
                <a:effectLst/>
                <a:latin typeface="Times New Roman" panose="02020603050405020304" pitchFamily="18" charset="0"/>
                <a:ea typeface="MS Mincho" panose="02020609040205080304" pitchFamily="49" charset="-128"/>
              </a:rPr>
              <a:t>Ogni cifra nella posizione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n</a:t>
            </a:r>
            <a:r>
              <a:rPr lang="it-IT" sz="2400" dirty="0">
                <a:effectLst/>
                <a:latin typeface="Times New Roman" panose="02020603050405020304" pitchFamily="18" charset="0"/>
                <a:ea typeface="MS Mincho" panose="02020609040205080304" pitchFamily="49" charset="-128"/>
              </a:rPr>
              <a:t> deve essere moltiplicata per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n</a:t>
            </a:r>
            <a:r>
              <a:rPr lang="it-IT" sz="2400" dirty="0">
                <a:effectLst/>
                <a:latin typeface="Times New Roman" panose="02020603050405020304" pitchFamily="18" charset="0"/>
                <a:ea typeface="MS Mincho" panose="02020609040205080304" pitchFamily="49" charset="-128"/>
              </a:rPr>
              <a:t>, e i risultati delle moltiplicazioni vanno poi sommati tra loro. Per rappresentare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2400" dirty="0">
                <a:effectLst/>
                <a:latin typeface="Times New Roman" panose="02020603050405020304" pitchFamily="18" charset="0"/>
                <a:ea typeface="MS Mincho" panose="02020609040205080304" pitchFamily="49" charset="-128"/>
              </a:rPr>
              <a:t> con il sistema binario quindi, dovremo scrivere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1111111</a:t>
            </a:r>
            <a:r>
              <a:rPr lang="it-IT" sz="2400" dirty="0">
                <a:effectLst/>
                <a:latin typeface="Times New Roman" panose="02020603050405020304" pitchFamily="18" charset="0"/>
                <a:ea typeface="MS Mincho" panose="02020609040205080304" pitchFamily="49" charset="-128"/>
              </a:rPr>
              <a:t>. Infatti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6</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5</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4</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3</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2</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1</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+ 1x2</a:t>
            </a:r>
            <a:r>
              <a:rPr lang="it-IT" sz="2400" baseline="30000" dirty="0">
                <a:effectLst/>
                <a:latin typeface="Courier New" panose="02070309020205020404" pitchFamily="49" charset="0"/>
                <a:ea typeface="MS Mincho" panose="02020609040205080304" pitchFamily="49" charset="-128"/>
                <a:cs typeface="Courier New" panose="02070309020205020404" pitchFamily="49" charset="0"/>
              </a:rPr>
              <a:t>0</a:t>
            </a:r>
            <a:r>
              <a:rPr lang="it-IT" sz="2400" dirty="0">
                <a:effectLst/>
                <a:latin typeface="Times New Roman" panose="02020603050405020304" pitchFamily="18" charset="0"/>
                <a:ea typeface="MS Mincho" panose="02020609040205080304" pitchFamily="49" charset="-128"/>
              </a:rPr>
              <a:t> è uguale a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64+32+16+8+4+2+1</a:t>
            </a:r>
            <a:r>
              <a:rPr lang="it-IT" sz="2400" dirty="0">
                <a:effectLst/>
                <a:latin typeface="Times New Roman" panose="02020603050405020304" pitchFamily="18" charset="0"/>
                <a:ea typeface="MS Mincho" panose="02020609040205080304" pitchFamily="49" charset="-128"/>
              </a:rPr>
              <a:t>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a:t>
            </a:r>
            <a:r>
              <a:rPr lang="it-IT" sz="2400" dirty="0">
                <a:effectLst/>
                <a:latin typeface="Times New Roman" panose="02020603050405020304" pitchFamily="18" charset="0"/>
                <a:ea typeface="MS Mincho" panose="02020609040205080304" pitchFamily="49" charset="-128"/>
              </a:rPr>
              <a:t> </a:t>
            </a:r>
            <a:r>
              <a:rPr lang="it-IT" sz="2400" dirty="0">
                <a:effectLst/>
                <a:latin typeface="Courier New" panose="02070309020205020404" pitchFamily="49" charset="0"/>
                <a:ea typeface="MS Mincho" panose="02020609040205080304" pitchFamily="49" charset="-128"/>
                <a:cs typeface="Courier New" panose="02070309020205020404" pitchFamily="49" charset="0"/>
              </a:rPr>
              <a:t>127</a:t>
            </a:r>
            <a:r>
              <a:rPr lang="it-IT" sz="2400" dirty="0">
                <a:effectLst/>
                <a:latin typeface="Times New Roman" panose="02020603050405020304" pitchFamily="18" charset="0"/>
                <a:ea typeface="MS Mincho" panose="02020609040205080304" pitchFamily="49" charset="-128"/>
              </a:rPr>
              <a:t>.</a:t>
            </a:r>
            <a:endParaRPr lang="it-IT" sz="2400" dirty="0"/>
          </a:p>
          <a:p>
            <a:r>
              <a:rPr lang="it-IT" sz="2800" b="1" dirty="0"/>
              <a:t>Sistema ottale </a:t>
            </a:r>
            <a:r>
              <a:rPr lang="it-IT" sz="2800" dirty="0"/>
              <a:t>(in base 8) utilizza 8 cifre:</a:t>
            </a:r>
          </a:p>
          <a:p>
            <a:pPr lvl="1"/>
            <a:r>
              <a:rPr lang="it-IT" sz="2400" dirty="0">
                <a:latin typeface="Times New Roman" panose="02020603050405020304" pitchFamily="18" charset="0"/>
                <a:ea typeface="MS Mincho" panose="02020609040205080304" pitchFamily="49" charset="-128"/>
              </a:rPr>
              <a:t>127 si scrive177 (infatti 1x8</a:t>
            </a:r>
            <a:r>
              <a:rPr lang="it-IT" sz="2400" baseline="30000" dirty="0">
                <a:latin typeface="Courier New" panose="02070309020205020404" pitchFamily="49" charset="0"/>
                <a:ea typeface="MS Mincho" panose="02020609040205080304" pitchFamily="49" charset="-128"/>
                <a:cs typeface="Courier New" panose="02070309020205020404" pitchFamily="49" charset="0"/>
              </a:rPr>
              <a:t>2</a:t>
            </a:r>
            <a:r>
              <a:rPr lang="it-IT" sz="2400" dirty="0">
                <a:latin typeface="Times New Roman" panose="02020603050405020304" pitchFamily="18" charset="0"/>
                <a:ea typeface="MS Mincho" panose="02020609040205080304" pitchFamily="49" charset="-128"/>
              </a:rPr>
              <a:t> + 7x8</a:t>
            </a:r>
            <a:r>
              <a:rPr lang="it-IT" sz="2400" baseline="30000" dirty="0">
                <a:latin typeface="Courier New" panose="02070309020205020404" pitchFamily="49" charset="0"/>
                <a:ea typeface="MS Mincho" panose="02020609040205080304" pitchFamily="49" charset="-128"/>
                <a:cs typeface="Courier New" panose="02070309020205020404" pitchFamily="49" charset="0"/>
              </a:rPr>
              <a:t>1</a:t>
            </a:r>
            <a:r>
              <a:rPr lang="it-IT" sz="2400" dirty="0">
                <a:latin typeface="Times New Roman" panose="02020603050405020304" pitchFamily="18" charset="0"/>
                <a:ea typeface="MS Mincho" panose="02020609040205080304" pitchFamily="49" charset="-128"/>
              </a:rPr>
              <a:t> + 7x8</a:t>
            </a:r>
            <a:r>
              <a:rPr lang="it-IT" sz="2400" baseline="30000" dirty="0">
                <a:latin typeface="Courier New" panose="02070309020205020404" pitchFamily="49" charset="0"/>
                <a:ea typeface="MS Mincho" panose="02020609040205080304" pitchFamily="49" charset="-128"/>
                <a:cs typeface="Courier New" panose="02070309020205020404" pitchFamily="49" charset="0"/>
              </a:rPr>
              <a:t>0</a:t>
            </a:r>
            <a:r>
              <a:rPr lang="it-IT" sz="2400" dirty="0">
                <a:latin typeface="Times New Roman" panose="02020603050405020304" pitchFamily="18" charset="0"/>
                <a:ea typeface="MS Mincho" panose="02020609040205080304" pitchFamily="49" charset="-128"/>
              </a:rPr>
              <a:t> = 64+56+7 = 127)</a:t>
            </a:r>
          </a:p>
          <a:p>
            <a:r>
              <a:rPr lang="it-IT" sz="2800" b="1" dirty="0"/>
              <a:t>Sistema esadecimale </a:t>
            </a:r>
            <a:r>
              <a:rPr lang="it-IT" sz="2800" dirty="0"/>
              <a:t>(in base 16) utilizza 16 cifre</a:t>
            </a:r>
          </a:p>
          <a:p>
            <a:pPr lvl="1"/>
            <a:r>
              <a:rPr lang="it-IT" sz="2000" dirty="0">
                <a:latin typeface="Times New Roman" panose="02020603050405020304" pitchFamily="18" charset="0"/>
                <a:ea typeface="MS Mincho" panose="02020609040205080304" pitchFamily="49" charset="-128"/>
              </a:rPr>
              <a:t>127 si scrive 7F (infatti 7x16</a:t>
            </a:r>
            <a:r>
              <a:rPr lang="it-IT" sz="2400" baseline="30000" dirty="0">
                <a:latin typeface="Courier New" panose="02070309020205020404" pitchFamily="49" charset="0"/>
                <a:ea typeface="MS Mincho" panose="02020609040205080304" pitchFamily="49" charset="-128"/>
                <a:cs typeface="Courier New" panose="02070309020205020404" pitchFamily="49" charset="0"/>
              </a:rPr>
              <a:t>1</a:t>
            </a:r>
            <a:r>
              <a:rPr lang="it-IT" sz="2000" dirty="0">
                <a:latin typeface="Times New Roman" panose="02020603050405020304" pitchFamily="18" charset="0"/>
                <a:ea typeface="MS Mincho" panose="02020609040205080304" pitchFamily="49" charset="-128"/>
              </a:rPr>
              <a:t> + Fx16</a:t>
            </a:r>
            <a:r>
              <a:rPr lang="it-IT" sz="2400" baseline="30000" dirty="0">
                <a:latin typeface="Courier New" panose="02070309020205020404" pitchFamily="49" charset="0"/>
                <a:ea typeface="MS Mincho" panose="02020609040205080304" pitchFamily="49" charset="-128"/>
                <a:cs typeface="Courier New" panose="02070309020205020404" pitchFamily="49" charset="0"/>
              </a:rPr>
              <a:t>0</a:t>
            </a:r>
            <a:r>
              <a:rPr lang="it-IT" sz="2000" dirty="0">
                <a:latin typeface="Times New Roman" panose="02020603050405020304" pitchFamily="18" charset="0"/>
                <a:ea typeface="MS Mincho" panose="02020609040205080304" pitchFamily="49" charset="-128"/>
              </a:rPr>
              <a:t> = 112+15 = 127)</a:t>
            </a:r>
            <a:endParaRPr lang="it-IT" b="1" dirty="0"/>
          </a:p>
          <a:p>
            <a:endParaRPr lang="it-IT" sz="2800" dirty="0"/>
          </a:p>
        </p:txBody>
      </p:sp>
      <p:sp>
        <p:nvSpPr>
          <p:cNvPr id="4" name="Segnaposto piè di pagina 3">
            <a:extLst>
              <a:ext uri="{FF2B5EF4-FFF2-40B4-BE49-F238E27FC236}">
                <a16:creationId xmlns:a16="http://schemas.microsoft.com/office/drawing/2014/main" id="{FAA0DADD-4466-4EDD-89D2-0F5B643DE945}"/>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A2233C3-3D4B-41F0-9ACF-16D0C0AEF244}"/>
              </a:ext>
            </a:extLst>
          </p:cNvPr>
          <p:cNvSpPr>
            <a:spLocks noGrp="1"/>
          </p:cNvSpPr>
          <p:nvPr>
            <p:ph type="sldNum" sz="quarter" idx="12"/>
          </p:nvPr>
        </p:nvSpPr>
        <p:spPr/>
        <p:txBody>
          <a:bodyPr/>
          <a:lstStyle/>
          <a:p>
            <a:fld id="{EA83E0A8-4958-4553-8C1A-CC59A6ABE123}" type="slidenum">
              <a:rPr lang="it-IT" smtClean="0"/>
              <a:t>14</a:t>
            </a:fld>
            <a:endParaRPr lang="it-IT"/>
          </a:p>
        </p:txBody>
      </p:sp>
    </p:spTree>
    <p:extLst>
      <p:ext uri="{BB962C8B-B14F-4D97-AF65-F5344CB8AC3E}">
        <p14:creationId xmlns:p14="http://schemas.microsoft.com/office/powerpoint/2010/main" val="3509001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365127"/>
            <a:ext cx="7886700" cy="687544"/>
          </a:xfrm>
        </p:spPr>
        <p:txBody>
          <a:bodyPr>
            <a:normAutofit fontScale="90000"/>
          </a:bodyPr>
          <a:lstStyle/>
          <a:p>
            <a:r>
              <a:rPr lang="it-IT" dirty="0"/>
              <a:t>Metodo del complemento a due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15</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467430" y="1340710"/>
            <a:ext cx="8047920" cy="4836253"/>
          </a:xfrm>
        </p:spPr>
        <p:txBody>
          <a:bodyPr>
            <a:noAutofit/>
          </a:bodyPr>
          <a:lstStyle/>
          <a:p>
            <a:r>
              <a:rPr lang="it-IT" sz="2800" dirty="0"/>
              <a:t>La rappresentazione binaria dei numeri interi richiede minimo 8 bit, e il primo bit viene detto </a:t>
            </a:r>
            <a:r>
              <a:rPr lang="it-IT" sz="2800" b="1" dirty="0"/>
              <a:t>bit del segno</a:t>
            </a:r>
            <a:r>
              <a:rPr lang="it-IT" sz="2800" dirty="0"/>
              <a:t> (o </a:t>
            </a:r>
            <a:r>
              <a:rPr lang="it-IT" sz="2800" b="1" dirty="0"/>
              <a:t>bit più significativo</a:t>
            </a:r>
            <a:r>
              <a:rPr lang="it-IT" sz="2800" dirty="0"/>
              <a:t>) dove 0 significa positivo e 1 negativo</a:t>
            </a:r>
          </a:p>
          <a:p>
            <a:r>
              <a:rPr lang="it-IT" sz="2800" dirty="0"/>
              <a:t>Per scrivere un numero negativo</a:t>
            </a:r>
          </a:p>
          <a:p>
            <a:pPr lvl="1"/>
            <a:r>
              <a:rPr lang="it-IT" sz="2800" dirty="0"/>
              <a:t>Si parte dalla rappresentazione binaria del corrispondente numero positivo, all’interno di almeno un byte (8 bit)</a:t>
            </a:r>
          </a:p>
          <a:p>
            <a:pPr lvl="1"/>
            <a:r>
              <a:rPr lang="it-IT" sz="2800" dirty="0"/>
              <a:t>Si inverte la sua rappresentazione binaria: 1 diventa 0 e 0 diventa 1 (complemento a 1)</a:t>
            </a:r>
          </a:p>
          <a:p>
            <a:pPr lvl="1"/>
            <a:r>
              <a:rPr lang="it-IT" sz="2800" dirty="0"/>
              <a:t>Infine si somma 1</a:t>
            </a:r>
          </a:p>
          <a:p>
            <a:pPr lvl="1"/>
            <a:endParaRPr lang="it-IT" sz="2400" dirty="0"/>
          </a:p>
          <a:p>
            <a:pPr lvl="1"/>
            <a:endParaRPr lang="it-IT" sz="2400" dirty="0"/>
          </a:p>
        </p:txBody>
      </p:sp>
    </p:spTree>
    <p:extLst>
      <p:ext uri="{BB962C8B-B14F-4D97-AF65-F5344CB8AC3E}">
        <p14:creationId xmlns:p14="http://schemas.microsoft.com/office/powerpoint/2010/main" val="761887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365127"/>
            <a:ext cx="7886700" cy="687544"/>
          </a:xfrm>
        </p:spPr>
        <p:txBody>
          <a:bodyPr>
            <a:normAutofit fontScale="90000"/>
          </a:bodyPr>
          <a:lstStyle/>
          <a:p>
            <a:r>
              <a:rPr lang="it-IT" dirty="0"/>
              <a:t>Metodo del complemento a due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16</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467430" y="1340710"/>
            <a:ext cx="8047920" cy="4836253"/>
          </a:xfrm>
        </p:spPr>
        <p:txBody>
          <a:bodyPr>
            <a:noAutofit/>
          </a:bodyPr>
          <a:lstStyle/>
          <a:p>
            <a:pPr lvl="1"/>
            <a:r>
              <a:rPr lang="it-IT" sz="2800" dirty="0"/>
              <a:t>Per esempio, siccome il numero 9 si scrive così:</a:t>
            </a:r>
          </a:p>
          <a:p>
            <a:pPr marL="342900" lvl="1" indent="0">
              <a:buNone/>
            </a:pPr>
            <a:r>
              <a:rPr lang="it-IT" sz="2800" dirty="0">
                <a:solidFill>
                  <a:schemeClr val="accent5"/>
                </a:solidFill>
                <a:effectLst/>
                <a:latin typeface="Courier New" panose="02070309020205020404" pitchFamily="49" charset="0"/>
                <a:ea typeface="MS Mincho" panose="02020609040205080304" pitchFamily="49" charset="-128"/>
              </a:rPr>
              <a:t>00001001</a:t>
            </a:r>
            <a:r>
              <a:rPr lang="it-IT" sz="2800" dirty="0">
                <a:solidFill>
                  <a:schemeClr val="accent5"/>
                </a:solidFill>
                <a:effectLst/>
                <a:latin typeface="Courier New" panose="02070309020205020404" pitchFamily="49" charset="0"/>
                <a:ea typeface="Times New Roman" panose="02020603050405020304" pitchFamily="18" charset="0"/>
              </a:rPr>
              <a:t> ([+]</a:t>
            </a:r>
            <a:r>
              <a:rPr lang="it-IT" sz="2800" dirty="0">
                <a:solidFill>
                  <a:schemeClr val="accent5"/>
                </a:solidFill>
                <a:effectLst/>
                <a:latin typeface="Courier New" panose="02070309020205020404" pitchFamily="49" charset="0"/>
                <a:ea typeface="MS Mincho" panose="02020609040205080304" pitchFamily="49" charset="-128"/>
              </a:rPr>
              <a:t> 0*2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6</a:t>
            </a:r>
            <a:r>
              <a:rPr lang="it-IT" sz="2800" dirty="0">
                <a:solidFill>
                  <a:schemeClr val="accent5"/>
                </a:solidFill>
                <a:effectLst/>
                <a:latin typeface="Courier New" panose="02070309020205020404" pitchFamily="49" charset="0"/>
                <a:ea typeface="MS Mincho" panose="02020609040205080304" pitchFamily="49" charset="-128"/>
              </a:rPr>
              <a:t> + 0*2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5</a:t>
            </a:r>
            <a:r>
              <a:rPr lang="it-IT" sz="2800" dirty="0">
                <a:solidFill>
                  <a:schemeClr val="accent5"/>
                </a:solidFill>
                <a:effectLst/>
                <a:latin typeface="Courier New" panose="02070309020205020404" pitchFamily="49" charset="0"/>
                <a:ea typeface="MS Mincho" panose="02020609040205080304" pitchFamily="49" charset="-128"/>
              </a:rPr>
              <a:t> + 0*2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4</a:t>
            </a:r>
            <a:r>
              <a:rPr lang="it-IT" sz="2800" dirty="0">
                <a:solidFill>
                  <a:schemeClr val="accent5"/>
                </a:solidFill>
                <a:effectLst/>
                <a:latin typeface="Courier New" panose="02070309020205020404" pitchFamily="49" charset="0"/>
                <a:ea typeface="MS Mincho" panose="02020609040205080304" pitchFamily="49" charset="-128"/>
              </a:rPr>
              <a:t> + 1*2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3</a:t>
            </a:r>
            <a:r>
              <a:rPr lang="it-IT" sz="2800" dirty="0">
                <a:solidFill>
                  <a:schemeClr val="accent5"/>
                </a:solidFill>
                <a:effectLst/>
                <a:latin typeface="Courier New" panose="02070309020205020404" pitchFamily="49" charset="0"/>
                <a:ea typeface="MS Mincho" panose="02020609040205080304" pitchFamily="49" charset="-128"/>
              </a:rPr>
              <a:t> + 0*2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2</a:t>
            </a:r>
            <a:r>
              <a:rPr lang="it-IT" sz="2800" dirty="0">
                <a:solidFill>
                  <a:schemeClr val="accent5"/>
                </a:solidFill>
                <a:effectLst/>
                <a:latin typeface="Courier New" panose="02070309020205020404" pitchFamily="49" charset="0"/>
                <a:ea typeface="MS Mincho" panose="02020609040205080304" pitchFamily="49" charset="-128"/>
              </a:rPr>
              <a:t> + 0*2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1</a:t>
            </a:r>
            <a:r>
              <a:rPr lang="it-IT" sz="2800" dirty="0">
                <a:solidFill>
                  <a:schemeClr val="accent5"/>
                </a:solidFill>
                <a:effectLst/>
                <a:latin typeface="Courier New" panose="02070309020205020404" pitchFamily="49" charset="0"/>
                <a:ea typeface="MS Mincho" panose="02020609040205080304" pitchFamily="49" charset="-128"/>
              </a:rPr>
              <a:t> + 1*2</a:t>
            </a:r>
            <a:r>
              <a:rPr lang="it-IT" sz="2800" baseline="30000" dirty="0">
                <a:solidFill>
                  <a:schemeClr val="accent5"/>
                </a:solidFill>
                <a:effectLst/>
                <a:latin typeface="Courier New" panose="02070309020205020404" pitchFamily="49" charset="0"/>
                <a:ea typeface="MS Mincho" panose="02020609040205080304" pitchFamily="49" charset="-128"/>
                <a:cs typeface="Courier New" panose="02070309020205020404" pitchFamily="49" charset="0"/>
              </a:rPr>
              <a:t>0</a:t>
            </a:r>
            <a:r>
              <a:rPr lang="it-IT" sz="2800" baseline="30000" dirty="0">
                <a:solidFill>
                  <a:schemeClr val="accent5"/>
                </a:solidFill>
                <a:effectLst/>
                <a:latin typeface="Courier New" panose="02070309020205020404" pitchFamily="49" charset="0"/>
                <a:ea typeface="MS Mincho" panose="02020609040205080304" pitchFamily="49" charset="-128"/>
              </a:rPr>
              <a:t> </a:t>
            </a:r>
            <a:r>
              <a:rPr lang="it-IT" sz="2800" dirty="0">
                <a:solidFill>
                  <a:schemeClr val="accent5"/>
                </a:solidFill>
                <a:effectLst/>
                <a:latin typeface="Courier New" panose="02070309020205020404" pitchFamily="49" charset="0"/>
                <a:ea typeface="MS Mincho" panose="02020609040205080304" pitchFamily="49" charset="-128"/>
              </a:rPr>
              <a:t>= + 0+0+0+8+0+0+1 = +9</a:t>
            </a:r>
            <a:r>
              <a:rPr lang="it-IT" sz="2800" dirty="0">
                <a:solidFill>
                  <a:schemeClr val="accent5"/>
                </a:solidFill>
                <a:effectLst/>
                <a:latin typeface="Courier New" panose="02070309020205020404" pitchFamily="49" charset="0"/>
                <a:ea typeface="Times New Roman" panose="02020603050405020304" pitchFamily="18" charset="0"/>
              </a:rPr>
              <a:t>)</a:t>
            </a:r>
            <a:endParaRPr lang="it-IT" sz="2800" dirty="0">
              <a:solidFill>
                <a:schemeClr val="accent5"/>
              </a:solidFill>
            </a:endParaRPr>
          </a:p>
          <a:p>
            <a:pPr lvl="1"/>
            <a:r>
              <a:rPr lang="it-IT" sz="2800" dirty="0"/>
              <a:t>Allora per ottenere – 9 dobbiamo prima usare il complemento a uno, ottenendo:</a:t>
            </a:r>
          </a:p>
          <a:p>
            <a:pPr marL="342900" lvl="1" indent="0">
              <a:buNone/>
            </a:pPr>
            <a:r>
              <a:rPr lang="it-IT" sz="2800" dirty="0">
                <a:solidFill>
                  <a:schemeClr val="accent5"/>
                </a:solidFill>
                <a:latin typeface="Courier New" panose="02070309020205020404" pitchFamily="49" charset="0"/>
                <a:ea typeface="MS Mincho" panose="02020609040205080304" pitchFamily="49" charset="-128"/>
              </a:rPr>
              <a:t>11110110</a:t>
            </a:r>
          </a:p>
          <a:p>
            <a:pPr lvl="1"/>
            <a:r>
              <a:rPr lang="it-IT" sz="2800" dirty="0"/>
              <a:t>E poi dobbiamo sommare 1 (ovvero </a:t>
            </a:r>
            <a:r>
              <a:rPr lang="it-IT" sz="2800" dirty="0">
                <a:solidFill>
                  <a:schemeClr val="accent5"/>
                </a:solidFill>
                <a:latin typeface="Courier New" panose="02070309020205020404" pitchFamily="49" charset="0"/>
                <a:ea typeface="MS Mincho" panose="02020609040205080304" pitchFamily="49" charset="-128"/>
              </a:rPr>
              <a:t>00000001</a:t>
            </a:r>
            <a:r>
              <a:rPr lang="it-IT" sz="2800" dirty="0"/>
              <a:t>), ottenendo:</a:t>
            </a:r>
          </a:p>
          <a:p>
            <a:pPr marL="342900" lvl="1" indent="0">
              <a:buNone/>
            </a:pPr>
            <a:r>
              <a:rPr lang="it-IT" sz="2800" dirty="0">
                <a:solidFill>
                  <a:schemeClr val="accent5"/>
                </a:solidFill>
                <a:latin typeface="Courier New" panose="02070309020205020404" pitchFamily="49" charset="0"/>
                <a:ea typeface="MS Mincho" panose="02020609040205080304" pitchFamily="49" charset="-128"/>
              </a:rPr>
              <a:t>11110111</a:t>
            </a:r>
          </a:p>
          <a:p>
            <a:pPr lvl="1"/>
            <a:r>
              <a:rPr lang="it-IT" sz="2800" dirty="0"/>
              <a:t>Se per rappresentare un numero c’è bisogno più di 8 bit, ne verranno aggiunti altri 8 bit (massimo 64)</a:t>
            </a:r>
            <a:endParaRPr lang="it-IT" sz="2400" dirty="0"/>
          </a:p>
          <a:p>
            <a:pPr lvl="1"/>
            <a:endParaRPr lang="it-IT" sz="2400" dirty="0"/>
          </a:p>
        </p:txBody>
      </p:sp>
    </p:spTree>
    <p:extLst>
      <p:ext uri="{BB962C8B-B14F-4D97-AF65-F5344CB8AC3E}">
        <p14:creationId xmlns:p14="http://schemas.microsoft.com/office/powerpoint/2010/main" val="356152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980660"/>
          </a:xfrm>
        </p:spPr>
        <p:txBody>
          <a:bodyPr>
            <a:normAutofit/>
          </a:bodyPr>
          <a:lstStyle/>
          <a:p>
            <a:r>
              <a:rPr lang="it-IT" dirty="0"/>
              <a:t>Caratteri e simboli: standard Unicode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17</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836640"/>
            <a:ext cx="9144000" cy="5400750"/>
          </a:xfrm>
        </p:spPr>
        <p:txBody>
          <a:bodyPr>
            <a:noAutofit/>
          </a:bodyPr>
          <a:lstStyle/>
          <a:p>
            <a:r>
              <a:rPr lang="it-IT" sz="2300" dirty="0"/>
              <a:t>Standard </a:t>
            </a:r>
            <a:r>
              <a:rPr lang="it-IT" sz="2300" b="1" dirty="0"/>
              <a:t>Unicode</a:t>
            </a:r>
            <a:r>
              <a:rPr lang="it-IT" sz="2300" dirty="0"/>
              <a:t>: </a:t>
            </a:r>
            <a:r>
              <a:rPr lang="it-IT" sz="2300" dirty="0">
                <a:hlinkClick r:id="rId3"/>
              </a:rPr>
              <a:t>https://home.unicode.org/</a:t>
            </a:r>
            <a:r>
              <a:rPr lang="it-IT" sz="2300" dirty="0"/>
              <a:t> e approfondimento 3.2</a:t>
            </a:r>
          </a:p>
        </p:txBody>
      </p:sp>
      <p:pic>
        <p:nvPicPr>
          <p:cNvPr id="6" name="Immagine 5">
            <a:extLst>
              <a:ext uri="{FF2B5EF4-FFF2-40B4-BE49-F238E27FC236}">
                <a16:creationId xmlns:a16="http://schemas.microsoft.com/office/drawing/2014/main" id="{E7014D67-B013-419A-9D00-2C07A1E793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823" y="1340710"/>
            <a:ext cx="7540697" cy="50156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44858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0"/>
            <a:ext cx="9144000" cy="1268699"/>
          </a:xfrm>
        </p:spPr>
        <p:txBody>
          <a:bodyPr>
            <a:normAutofit/>
          </a:bodyPr>
          <a:lstStyle/>
          <a:p>
            <a:r>
              <a:rPr lang="it-IT" dirty="0"/>
              <a:t>Numeri decimali e standard IEEE-754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18</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268700"/>
            <a:ext cx="9144000" cy="4968690"/>
          </a:xfrm>
        </p:spPr>
        <p:txBody>
          <a:bodyPr>
            <a:noAutofit/>
          </a:bodyPr>
          <a:lstStyle/>
          <a:p>
            <a:r>
              <a:rPr lang="it-IT" sz="2800" dirty="0">
                <a:effectLst/>
                <a:latin typeface="Times New Roman" panose="02020603050405020304" pitchFamily="18" charset="0"/>
                <a:ea typeface="Times New Roman" panose="02020603050405020304" pitchFamily="18" charset="0"/>
              </a:rPr>
              <a:t>Java usa un metodo di rappresentazione approssimata dei numeri decimali e per eseguire operazioni aritmetiche, chiamato </a:t>
            </a:r>
            <a:r>
              <a:rPr lang="it-IT" sz="2800" b="1" dirty="0">
                <a:effectLst/>
                <a:latin typeface="Times New Roman" panose="02020603050405020304" pitchFamily="18" charset="0"/>
                <a:ea typeface="Times New Roman" panose="02020603050405020304" pitchFamily="18" charset="0"/>
              </a:rPr>
              <a:t>metodo a virgola mobile</a:t>
            </a:r>
            <a:r>
              <a:rPr lang="it-IT" sz="2800" dirty="0">
                <a:effectLst/>
                <a:latin typeface="Times New Roman" panose="02020603050405020304" pitchFamily="18" charset="0"/>
                <a:ea typeface="Times New Roman" panose="02020603050405020304" pitchFamily="18" charset="0"/>
              </a:rPr>
              <a:t> (o </a:t>
            </a:r>
            <a:r>
              <a:rPr lang="it-IT" sz="2800" b="1" dirty="0">
                <a:effectLst/>
                <a:latin typeface="Times New Roman" panose="02020603050405020304" pitchFamily="18" charset="0"/>
                <a:ea typeface="Times New Roman" panose="02020603050405020304" pitchFamily="18" charset="0"/>
              </a:rPr>
              <a:t>floating point</a:t>
            </a:r>
            <a:r>
              <a:rPr lang="it-IT" sz="2800" dirty="0">
                <a:effectLst/>
                <a:latin typeface="Times New Roman" panose="02020603050405020304" pitchFamily="18" charset="0"/>
                <a:ea typeface="Times New Roman" panose="02020603050405020304" pitchFamily="18" charset="0"/>
              </a:rPr>
              <a:t>)</a:t>
            </a:r>
          </a:p>
          <a:p>
            <a:r>
              <a:rPr lang="it-IT" sz="2800" dirty="0">
                <a:effectLst/>
                <a:latin typeface="Times New Roman" panose="02020603050405020304" pitchFamily="18" charset="0"/>
                <a:ea typeface="Times New Roman" panose="02020603050405020304" pitchFamily="18" charset="0"/>
              </a:rPr>
              <a:t>Essa si basa sul principio dello spostamento della virgola utilizzando la notazione scientifica di un numero.</a:t>
            </a:r>
          </a:p>
          <a:p>
            <a:r>
              <a:rPr lang="it-IT" sz="2800" dirty="0">
                <a:effectLst/>
                <a:latin typeface="Times New Roman" panose="02020603050405020304" pitchFamily="18" charset="0"/>
                <a:ea typeface="Times New Roman" panose="02020603050405020304" pitchFamily="18" charset="0"/>
              </a:rPr>
              <a:t>Lavorando con le approssimazioni, questo standard permette di memorizzare un numero molto alto di numeri, e permette di eseguire operazioni con buone prestazioni, tuttavia i risultati possono appunto risultare approssimati. </a:t>
            </a:r>
          </a:p>
          <a:p>
            <a:r>
              <a:rPr lang="it-IT" sz="2800" dirty="0">
                <a:effectLst/>
                <a:latin typeface="Times New Roman" panose="02020603050405020304" pitchFamily="18" charset="0"/>
                <a:ea typeface="Times New Roman" panose="02020603050405020304" pitchFamily="18" charset="0"/>
              </a:rPr>
              <a:t>L’IEEE-754 è comunque lo standard più usato dai linguaggi di programmazione moderni.</a:t>
            </a:r>
          </a:p>
        </p:txBody>
      </p:sp>
    </p:spTree>
    <p:extLst>
      <p:ext uri="{BB962C8B-B14F-4D97-AF65-F5344CB8AC3E}">
        <p14:creationId xmlns:p14="http://schemas.microsoft.com/office/powerpoint/2010/main" val="1378175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Tipi di dati primitivi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19</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268700"/>
            <a:ext cx="9144000" cy="4968690"/>
          </a:xfrm>
        </p:spPr>
        <p:txBody>
          <a:bodyPr>
            <a:noAutofit/>
          </a:bodyPr>
          <a:lstStyle/>
          <a:p>
            <a:r>
              <a:rPr lang="it-IT" sz="3600" dirty="0">
                <a:effectLst/>
                <a:latin typeface="Times New Roman" panose="02020603050405020304" pitchFamily="18" charset="0"/>
                <a:ea typeface="Times New Roman" panose="02020603050405020304" pitchFamily="18" charset="0"/>
              </a:rPr>
              <a:t>Java definisce otto tipi di dati primitivi, ovvero tipi di dati semplici (esistono anche </a:t>
            </a:r>
            <a:r>
              <a:rPr lang="it-IT" sz="3600" dirty="0">
                <a:latin typeface="Times New Roman" panose="02020603050405020304" pitchFamily="18" charset="0"/>
                <a:ea typeface="Times New Roman" panose="02020603050405020304" pitchFamily="18" charset="0"/>
              </a:rPr>
              <a:t>i </a:t>
            </a:r>
            <a:r>
              <a:rPr lang="it-IT" sz="3600" dirty="0">
                <a:effectLst/>
                <a:latin typeface="Times New Roman" panose="02020603050405020304" pitchFamily="18" charset="0"/>
                <a:ea typeface="Times New Roman" panose="02020603050405020304" pitchFamily="18" charset="0"/>
              </a:rPr>
              <a:t>tipi di dato complessi):</a:t>
            </a:r>
          </a:p>
          <a:p>
            <a:pPr lvl="1"/>
            <a:r>
              <a:rPr lang="it-IT" sz="3600" dirty="0">
                <a:effectLst/>
                <a:latin typeface="Times New Roman" panose="02020603050405020304" pitchFamily="18" charset="0"/>
                <a:ea typeface="Times New Roman" panose="02020603050405020304" pitchFamily="18" charset="0"/>
              </a:rPr>
              <a:t>tipi interi: </a:t>
            </a:r>
            <a:r>
              <a:rPr lang="it-IT" sz="3600" b="1" dirty="0">
                <a:effectLst/>
                <a:latin typeface="Times New Roman" panose="02020603050405020304" pitchFamily="18" charset="0"/>
                <a:ea typeface="Times New Roman" panose="02020603050405020304" pitchFamily="18" charset="0"/>
              </a:rPr>
              <a:t>byte</a:t>
            </a:r>
            <a:r>
              <a:rPr lang="it-IT" sz="3600" dirty="0">
                <a:effectLst/>
                <a:latin typeface="Times New Roman" panose="02020603050405020304" pitchFamily="18" charset="0"/>
                <a:ea typeface="Times New Roman" panose="02020603050405020304" pitchFamily="18" charset="0"/>
              </a:rPr>
              <a:t>, </a:t>
            </a:r>
            <a:r>
              <a:rPr lang="it-IT" sz="3600" b="1" dirty="0">
                <a:effectLst/>
                <a:latin typeface="Times New Roman" panose="02020603050405020304" pitchFamily="18" charset="0"/>
                <a:ea typeface="Times New Roman" panose="02020603050405020304" pitchFamily="18" charset="0"/>
              </a:rPr>
              <a:t>short</a:t>
            </a:r>
            <a:r>
              <a:rPr lang="it-IT" sz="3600" dirty="0">
                <a:effectLst/>
                <a:latin typeface="Times New Roman" panose="02020603050405020304" pitchFamily="18" charset="0"/>
                <a:ea typeface="Times New Roman" panose="02020603050405020304" pitchFamily="18" charset="0"/>
              </a:rPr>
              <a:t>, </a:t>
            </a:r>
            <a:r>
              <a:rPr lang="it-IT" sz="3600" b="1" dirty="0">
                <a:effectLst/>
                <a:latin typeface="Times New Roman" panose="02020603050405020304" pitchFamily="18" charset="0"/>
                <a:ea typeface="Times New Roman" panose="02020603050405020304" pitchFamily="18" charset="0"/>
              </a:rPr>
              <a:t>int</a:t>
            </a:r>
            <a:r>
              <a:rPr lang="it-IT" sz="3600" dirty="0">
                <a:effectLst/>
                <a:latin typeface="Times New Roman" panose="02020603050405020304" pitchFamily="18" charset="0"/>
                <a:ea typeface="Times New Roman" panose="02020603050405020304" pitchFamily="18" charset="0"/>
              </a:rPr>
              <a:t>, </a:t>
            </a:r>
            <a:r>
              <a:rPr lang="it-IT" sz="3600" b="1" dirty="0">
                <a:effectLst/>
                <a:latin typeface="Times New Roman" panose="02020603050405020304" pitchFamily="18" charset="0"/>
                <a:ea typeface="Times New Roman" panose="02020603050405020304" pitchFamily="18" charset="0"/>
              </a:rPr>
              <a:t>long</a:t>
            </a:r>
            <a:r>
              <a:rPr lang="it-IT" sz="3600" dirty="0">
                <a:effectLst/>
                <a:latin typeface="Times New Roman" panose="02020603050405020304" pitchFamily="18" charset="0"/>
                <a:ea typeface="Times New Roman" panose="02020603050405020304" pitchFamily="18" charset="0"/>
              </a:rPr>
              <a:t>;</a:t>
            </a:r>
          </a:p>
          <a:p>
            <a:pPr lvl="1"/>
            <a:r>
              <a:rPr lang="it-IT" sz="3600" dirty="0">
                <a:effectLst/>
                <a:latin typeface="Times New Roman" panose="02020603050405020304" pitchFamily="18" charset="0"/>
                <a:ea typeface="Times New Roman" panose="02020603050405020304" pitchFamily="18" charset="0"/>
              </a:rPr>
              <a:t>tipi floating point (o a virgola mobile): </a:t>
            </a:r>
            <a:r>
              <a:rPr lang="it-IT" sz="3600" b="1" dirty="0">
                <a:effectLst/>
                <a:latin typeface="Times New Roman" panose="02020603050405020304" pitchFamily="18" charset="0"/>
                <a:ea typeface="Times New Roman" panose="02020603050405020304" pitchFamily="18" charset="0"/>
              </a:rPr>
              <a:t>float</a:t>
            </a:r>
            <a:r>
              <a:rPr lang="it-IT" sz="3600" dirty="0">
                <a:effectLst/>
                <a:latin typeface="Times New Roman" panose="02020603050405020304" pitchFamily="18" charset="0"/>
                <a:ea typeface="Times New Roman" panose="02020603050405020304" pitchFamily="18" charset="0"/>
              </a:rPr>
              <a:t> e </a:t>
            </a:r>
            <a:r>
              <a:rPr lang="it-IT" sz="3600" b="1" dirty="0">
                <a:effectLst/>
                <a:latin typeface="Times New Roman" panose="02020603050405020304" pitchFamily="18" charset="0"/>
                <a:ea typeface="Times New Roman" panose="02020603050405020304" pitchFamily="18" charset="0"/>
              </a:rPr>
              <a:t>double</a:t>
            </a:r>
            <a:r>
              <a:rPr lang="it-IT" sz="3600" dirty="0">
                <a:effectLst/>
                <a:latin typeface="Times New Roman" panose="02020603050405020304" pitchFamily="18" charset="0"/>
                <a:ea typeface="Times New Roman" panose="02020603050405020304" pitchFamily="18" charset="0"/>
              </a:rPr>
              <a:t>;</a:t>
            </a:r>
          </a:p>
          <a:p>
            <a:pPr lvl="1"/>
            <a:r>
              <a:rPr lang="it-IT" sz="3600" dirty="0">
                <a:effectLst/>
                <a:latin typeface="Times New Roman" panose="02020603050405020304" pitchFamily="18" charset="0"/>
                <a:ea typeface="Times New Roman" panose="02020603050405020304" pitchFamily="18" charset="0"/>
              </a:rPr>
              <a:t>tipo testuale: </a:t>
            </a:r>
            <a:r>
              <a:rPr lang="it-IT" sz="3600" b="1" dirty="0">
                <a:effectLst/>
                <a:latin typeface="Times New Roman" panose="02020603050405020304" pitchFamily="18" charset="0"/>
                <a:ea typeface="Times New Roman" panose="02020603050405020304" pitchFamily="18" charset="0"/>
              </a:rPr>
              <a:t>char</a:t>
            </a:r>
            <a:r>
              <a:rPr lang="it-IT" sz="3600" dirty="0">
                <a:effectLst/>
                <a:latin typeface="Times New Roman" panose="02020603050405020304" pitchFamily="18" charset="0"/>
                <a:ea typeface="Times New Roman" panose="02020603050405020304" pitchFamily="18" charset="0"/>
              </a:rPr>
              <a:t>;</a:t>
            </a:r>
          </a:p>
          <a:p>
            <a:pPr lvl="1"/>
            <a:r>
              <a:rPr lang="it-IT" sz="3600" dirty="0">
                <a:effectLst/>
                <a:latin typeface="Times New Roman" panose="02020603050405020304" pitchFamily="18" charset="0"/>
                <a:ea typeface="Times New Roman" panose="02020603050405020304" pitchFamily="18" charset="0"/>
              </a:rPr>
              <a:t>tipo logico-booleano: </a:t>
            </a:r>
            <a:r>
              <a:rPr lang="it-IT" sz="3600" b="1" dirty="0">
                <a:effectLst/>
                <a:latin typeface="Times New Roman" panose="02020603050405020304" pitchFamily="18" charset="0"/>
                <a:ea typeface="Times New Roman" panose="02020603050405020304" pitchFamily="18" charset="0"/>
              </a:rPr>
              <a:t>boolean</a:t>
            </a:r>
            <a:r>
              <a:rPr lang="it-IT" sz="36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000324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Tipi di dati interi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20</a:t>
            </a:fld>
            <a:endParaRPr lang="it-IT"/>
          </a:p>
        </p:txBody>
      </p:sp>
      <p:graphicFrame>
        <p:nvGraphicFramePr>
          <p:cNvPr id="9" name="Segnaposto contenuto 8">
            <a:extLst>
              <a:ext uri="{FF2B5EF4-FFF2-40B4-BE49-F238E27FC236}">
                <a16:creationId xmlns:a16="http://schemas.microsoft.com/office/drawing/2014/main" id="{70786FFD-967C-4222-8D1A-798DAB14B22B}"/>
              </a:ext>
            </a:extLst>
          </p:cNvPr>
          <p:cNvGraphicFramePr>
            <a:graphicFrameLocks noGrp="1"/>
          </p:cNvGraphicFramePr>
          <p:nvPr>
            <p:ph idx="1"/>
            <p:extLst>
              <p:ext uri="{D42A27DB-BD31-4B8C-83A1-F6EECF244321}">
                <p14:modId xmlns:p14="http://schemas.microsoft.com/office/powerpoint/2010/main" val="3568292000"/>
              </p:ext>
            </p:extLst>
          </p:nvPr>
        </p:nvGraphicFramePr>
        <p:xfrm>
          <a:off x="0" y="1412720"/>
          <a:ext cx="9144000" cy="2194560"/>
        </p:xfrm>
        <a:graphic>
          <a:graphicData uri="http://schemas.openxmlformats.org/drawingml/2006/table">
            <a:tbl>
              <a:tblPr>
                <a:tableStyleId>{5C22544A-7EE6-4342-B048-85BDC9FD1C3A}</a:tableStyleId>
              </a:tblPr>
              <a:tblGrid>
                <a:gridCol w="1569411">
                  <a:extLst>
                    <a:ext uri="{9D8B030D-6E8A-4147-A177-3AD203B41FA5}">
                      <a16:colId xmlns:a16="http://schemas.microsoft.com/office/drawing/2014/main" val="62499826"/>
                    </a:ext>
                  </a:extLst>
                </a:gridCol>
                <a:gridCol w="7574589">
                  <a:extLst>
                    <a:ext uri="{9D8B030D-6E8A-4147-A177-3AD203B41FA5}">
                      <a16:colId xmlns:a16="http://schemas.microsoft.com/office/drawing/2014/main" val="857906241"/>
                    </a:ext>
                  </a:extLst>
                </a:gridCol>
              </a:tblGrid>
              <a:tr h="345648">
                <a:tc>
                  <a:txBody>
                    <a:bodyPr/>
                    <a:lstStyle/>
                    <a:p>
                      <a:r>
                        <a:rPr lang="it-IT" sz="2400" b="1">
                          <a:effectLst/>
                        </a:rPr>
                        <a:t>Tipo</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b="1" dirty="0">
                          <a:effectLst/>
                        </a:rPr>
                        <a:t>Intervallo di rappresentazione</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1079634"/>
                  </a:ext>
                </a:extLst>
              </a:tr>
              <a:tr h="345648">
                <a:tc>
                  <a:txBody>
                    <a:bodyPr/>
                    <a:lstStyle/>
                    <a:p>
                      <a:r>
                        <a:rPr lang="it-IT" sz="2400" dirty="0">
                          <a:effectLst/>
                        </a:rPr>
                        <a:t>byte</a:t>
                      </a:r>
                      <a:endParaRPr lang="it-IT" sz="2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a:effectLst/>
                        </a:rPr>
                        <a:t>8 bit (da -128 a +127)</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77442878"/>
                  </a:ext>
                </a:extLst>
              </a:tr>
              <a:tr h="345648">
                <a:tc>
                  <a:txBody>
                    <a:bodyPr/>
                    <a:lstStyle/>
                    <a:p>
                      <a:r>
                        <a:rPr lang="it-IT" sz="2400">
                          <a:effectLst/>
                        </a:rPr>
                        <a:t>short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dirty="0">
                          <a:effectLst/>
                        </a:rPr>
                        <a:t>16 bit (da -32.768 a +32.767)</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96483143"/>
                  </a:ext>
                </a:extLst>
              </a:tr>
              <a:tr h="345648">
                <a:tc>
                  <a:txBody>
                    <a:bodyPr/>
                    <a:lstStyle/>
                    <a:p>
                      <a:r>
                        <a:rPr lang="it-IT" sz="2400">
                          <a:effectLst/>
                        </a:rPr>
                        <a:t>int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US" sz="2400" dirty="0">
                          <a:effectLst/>
                        </a:rPr>
                        <a:t>32 bit (da -2.147.483.648 a +2.147.483.647)</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63867868"/>
                  </a:ext>
                </a:extLst>
              </a:tr>
              <a:tr h="345648">
                <a:tc>
                  <a:txBody>
                    <a:bodyPr/>
                    <a:lstStyle/>
                    <a:p>
                      <a:r>
                        <a:rPr lang="it-IT" sz="2400">
                          <a:effectLst/>
                        </a:rPr>
                        <a:t>long</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dirty="0">
                          <a:effectLst/>
                        </a:rPr>
                        <a:t>64 bit (da -9.223.372.036.854.775.808 a 9.223.372.036.854.775.807)</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6008778"/>
                  </a:ext>
                </a:extLst>
              </a:tr>
            </a:tbl>
          </a:graphicData>
        </a:graphic>
      </p:graphicFrame>
      <p:graphicFrame>
        <p:nvGraphicFramePr>
          <p:cNvPr id="11" name="Tabella 10">
            <a:extLst>
              <a:ext uri="{FF2B5EF4-FFF2-40B4-BE49-F238E27FC236}">
                <a16:creationId xmlns:a16="http://schemas.microsoft.com/office/drawing/2014/main" id="{3347DF4B-AD60-4F9D-8D55-74AF126AC23F}"/>
              </a:ext>
            </a:extLst>
          </p:cNvPr>
          <p:cNvGraphicFramePr>
            <a:graphicFrameLocks noGrp="1"/>
          </p:cNvGraphicFramePr>
          <p:nvPr>
            <p:extLst>
              <p:ext uri="{D42A27DB-BD31-4B8C-83A1-F6EECF244321}">
                <p14:modId xmlns:p14="http://schemas.microsoft.com/office/powerpoint/2010/main" val="3031396295"/>
              </p:ext>
            </p:extLst>
          </p:nvPr>
        </p:nvGraphicFramePr>
        <p:xfrm>
          <a:off x="0" y="4048540"/>
          <a:ext cx="9144000" cy="1828800"/>
        </p:xfrm>
        <a:graphic>
          <a:graphicData uri="http://schemas.openxmlformats.org/drawingml/2006/table">
            <a:tbl>
              <a:tblPr>
                <a:tableStyleId>{5C22544A-7EE6-4342-B048-85BDC9FD1C3A}</a:tableStyleId>
              </a:tblPr>
              <a:tblGrid>
                <a:gridCol w="1569412">
                  <a:extLst>
                    <a:ext uri="{9D8B030D-6E8A-4147-A177-3AD203B41FA5}">
                      <a16:colId xmlns:a16="http://schemas.microsoft.com/office/drawing/2014/main" val="461914222"/>
                    </a:ext>
                  </a:extLst>
                </a:gridCol>
                <a:gridCol w="7574588">
                  <a:extLst>
                    <a:ext uri="{9D8B030D-6E8A-4147-A177-3AD203B41FA5}">
                      <a16:colId xmlns:a16="http://schemas.microsoft.com/office/drawing/2014/main" val="275914078"/>
                    </a:ext>
                  </a:extLst>
                </a:gridCol>
              </a:tblGrid>
              <a:tr h="345648">
                <a:tc>
                  <a:txBody>
                    <a:bodyPr/>
                    <a:lstStyle/>
                    <a:p>
                      <a:r>
                        <a:rPr lang="it-IT" sz="2400" b="1">
                          <a:effectLst/>
                        </a:rPr>
                        <a:t>Tipo</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b="1" dirty="0">
                          <a:effectLst/>
                        </a:rPr>
                        <a:t>Intervallo di rappresentazione</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87759625"/>
                  </a:ext>
                </a:extLst>
              </a:tr>
              <a:tr h="345648">
                <a:tc>
                  <a:txBody>
                    <a:bodyPr/>
                    <a:lstStyle/>
                    <a:p>
                      <a:r>
                        <a:rPr lang="it-IT" sz="2400">
                          <a:effectLst/>
                        </a:rPr>
                        <a:t>byte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dirty="0">
                          <a:effectLst/>
                        </a:rPr>
                        <a:t>8 bit (da -2</a:t>
                      </a:r>
                      <a:r>
                        <a:rPr lang="en-GB" sz="2400" baseline="30000" dirty="0">
                          <a:effectLst/>
                        </a:rPr>
                        <a:t>7</a:t>
                      </a:r>
                      <a:r>
                        <a:rPr lang="en-GB" sz="2400" dirty="0">
                          <a:effectLst/>
                        </a:rPr>
                        <a:t> a 2</a:t>
                      </a:r>
                      <a:r>
                        <a:rPr lang="en-GB" sz="2400" baseline="30000" dirty="0">
                          <a:effectLst/>
                        </a:rPr>
                        <a:t>7</a:t>
                      </a:r>
                      <a:r>
                        <a:rPr lang="en-GB" sz="2400" dirty="0">
                          <a:effectLst/>
                        </a:rPr>
                        <a:t>-1)</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98292368"/>
                  </a:ext>
                </a:extLst>
              </a:tr>
              <a:tr h="345648">
                <a:tc>
                  <a:txBody>
                    <a:bodyPr/>
                    <a:lstStyle/>
                    <a:p>
                      <a:r>
                        <a:rPr lang="it-IT" sz="2400">
                          <a:effectLst/>
                        </a:rPr>
                        <a:t>short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a:effectLst/>
                        </a:rPr>
                        <a:t>16 bit (da -2</a:t>
                      </a:r>
                      <a:r>
                        <a:rPr lang="en-GB" sz="2400" baseline="30000">
                          <a:effectLst/>
                        </a:rPr>
                        <a:t>15</a:t>
                      </a:r>
                      <a:r>
                        <a:rPr lang="en-GB" sz="2400">
                          <a:effectLst/>
                        </a:rPr>
                        <a:t> a 2</a:t>
                      </a:r>
                      <a:r>
                        <a:rPr lang="en-GB" sz="2400" baseline="30000">
                          <a:effectLst/>
                        </a:rPr>
                        <a:t>15</a:t>
                      </a:r>
                      <a:r>
                        <a:rPr lang="en-GB" sz="2400">
                          <a:effectLst/>
                        </a:rPr>
                        <a:t>-1)</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175777837"/>
                  </a:ext>
                </a:extLst>
              </a:tr>
              <a:tr h="345648">
                <a:tc>
                  <a:txBody>
                    <a:bodyPr/>
                    <a:lstStyle/>
                    <a:p>
                      <a:r>
                        <a:rPr lang="it-IT" sz="2400">
                          <a:effectLst/>
                        </a:rPr>
                        <a:t>int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a:effectLst/>
                        </a:rPr>
                        <a:t>32 bit (da -2</a:t>
                      </a:r>
                      <a:r>
                        <a:rPr lang="en-GB" sz="2400" baseline="30000">
                          <a:effectLst/>
                        </a:rPr>
                        <a:t>31</a:t>
                      </a:r>
                      <a:r>
                        <a:rPr lang="en-GB" sz="2400">
                          <a:effectLst/>
                        </a:rPr>
                        <a:t> a 2</a:t>
                      </a:r>
                      <a:r>
                        <a:rPr lang="en-GB" sz="2400" baseline="30000">
                          <a:effectLst/>
                        </a:rPr>
                        <a:t>31</a:t>
                      </a:r>
                      <a:r>
                        <a:rPr lang="en-GB" sz="2400">
                          <a:effectLst/>
                        </a:rPr>
                        <a:t>-1)</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00566595"/>
                  </a:ext>
                </a:extLst>
              </a:tr>
              <a:tr h="345648">
                <a:tc>
                  <a:txBody>
                    <a:bodyPr/>
                    <a:lstStyle/>
                    <a:p>
                      <a:r>
                        <a:rPr lang="it-IT" sz="2400">
                          <a:effectLst/>
                        </a:rPr>
                        <a:t>long</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dirty="0">
                          <a:effectLst/>
                        </a:rPr>
                        <a:t>64 bit (da -2</a:t>
                      </a:r>
                      <a:r>
                        <a:rPr lang="en-GB" sz="2400" baseline="30000" dirty="0">
                          <a:effectLst/>
                        </a:rPr>
                        <a:t>63</a:t>
                      </a:r>
                      <a:r>
                        <a:rPr lang="en-GB" sz="2400" dirty="0">
                          <a:effectLst/>
                        </a:rPr>
                        <a:t> a 2</a:t>
                      </a:r>
                      <a:r>
                        <a:rPr lang="en-GB" sz="2400" baseline="30000" dirty="0">
                          <a:effectLst/>
                        </a:rPr>
                        <a:t>63</a:t>
                      </a:r>
                      <a:r>
                        <a:rPr lang="en-GB" sz="2400" dirty="0">
                          <a:effectLst/>
                        </a:rPr>
                        <a:t>-1)</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84267160"/>
                  </a:ext>
                </a:extLst>
              </a:tr>
            </a:tbl>
          </a:graphicData>
        </a:graphic>
      </p:graphicFrame>
    </p:spTree>
    <p:extLst>
      <p:ext uri="{BB962C8B-B14F-4D97-AF65-F5344CB8AC3E}">
        <p14:creationId xmlns:p14="http://schemas.microsoft.com/office/powerpoint/2010/main" val="1630720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196690"/>
          </a:xfrm>
        </p:spPr>
        <p:txBody>
          <a:bodyPr/>
          <a:lstStyle/>
          <a:p>
            <a:r>
              <a:rPr lang="it-IT" dirty="0"/>
              <a:t>Notazioni per numeri interi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21</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196691"/>
            <a:ext cx="9144000" cy="4980272"/>
          </a:xfrm>
        </p:spPr>
        <p:txBody>
          <a:bodyPr>
            <a:normAutofit lnSpcReduction="10000"/>
          </a:bodyPr>
          <a:lstStyle/>
          <a:p>
            <a:r>
              <a:rPr lang="it-IT" sz="2800" b="1" dirty="0"/>
              <a:t>Notazione binaria</a:t>
            </a:r>
            <a:r>
              <a:rPr lang="it-IT" sz="2800" dirty="0"/>
              <a:t>: prefisso o (zero) e b (maiuscola o minuscola)</a:t>
            </a:r>
          </a:p>
          <a:p>
            <a:r>
              <a:rPr lang="it-IT" sz="2800" b="1" dirty="0"/>
              <a:t>Notazione ottale</a:t>
            </a:r>
            <a:r>
              <a:rPr lang="it-IT" sz="2800" dirty="0"/>
              <a:t>: prefisso o (zero)</a:t>
            </a:r>
          </a:p>
          <a:p>
            <a:r>
              <a:rPr lang="it-IT" sz="2800" b="1" dirty="0"/>
              <a:t>Notazione esadecimale</a:t>
            </a:r>
            <a:r>
              <a:rPr lang="it-IT" sz="2800" dirty="0"/>
              <a:t>: 0 e x (maiuscola o minuscola)</a:t>
            </a:r>
          </a:p>
          <a:p>
            <a:r>
              <a:rPr lang="it-IT" sz="2800" b="1" dirty="0"/>
              <a:t>Notazione decimale</a:t>
            </a:r>
            <a:r>
              <a:rPr lang="it-IT" sz="2800" dirty="0"/>
              <a:t> (o </a:t>
            </a:r>
            <a:r>
              <a:rPr lang="it-IT" sz="2800" b="1" dirty="0"/>
              <a:t>naturale</a:t>
            </a:r>
            <a:r>
              <a:rPr lang="it-IT" sz="2800" dirty="0"/>
              <a:t>): nessun prefisso</a:t>
            </a:r>
          </a:p>
          <a:p>
            <a:pPr marL="0" indent="0">
              <a:buNone/>
            </a:pPr>
            <a:r>
              <a:rPr lang="it-IT" sz="2800" dirty="0">
                <a:solidFill>
                  <a:schemeClr val="accent5"/>
                </a:solidFill>
              </a:rPr>
              <a:t>byte b = 10; //notazione decimale: b vale 10</a:t>
            </a:r>
          </a:p>
          <a:p>
            <a:pPr marL="0" indent="0">
              <a:buNone/>
            </a:pPr>
            <a:r>
              <a:rPr lang="it-IT" sz="2800" dirty="0">
                <a:solidFill>
                  <a:schemeClr val="accent5"/>
                </a:solidFill>
              </a:rPr>
              <a:t>short s = 022; //notazione ottale: s vale 18 (e non 22!) </a:t>
            </a:r>
          </a:p>
          <a:p>
            <a:pPr marL="0" indent="0">
              <a:buNone/>
            </a:pPr>
            <a:r>
              <a:rPr lang="it-IT" sz="2800" dirty="0">
                <a:solidFill>
                  <a:schemeClr val="accent5"/>
                </a:solidFill>
              </a:rPr>
              <a:t>long l = 0x12aCd; //notazione esadecimale: l vale 76493</a:t>
            </a:r>
          </a:p>
          <a:p>
            <a:pPr marL="0" indent="0">
              <a:buNone/>
            </a:pPr>
            <a:r>
              <a:rPr lang="it-IT" sz="2800" dirty="0">
                <a:solidFill>
                  <a:schemeClr val="accent5"/>
                </a:solidFill>
              </a:rPr>
              <a:t>int i = 1000000000; //notazione decimale: i vale 1000000000</a:t>
            </a:r>
          </a:p>
          <a:p>
            <a:pPr marL="0" indent="0">
              <a:buNone/>
            </a:pPr>
            <a:r>
              <a:rPr lang="it-IT" sz="2800" dirty="0">
                <a:solidFill>
                  <a:schemeClr val="accent5"/>
                </a:solidFill>
              </a:rPr>
              <a:t>int n = 0b10100001010001011010000101000101; </a:t>
            </a:r>
            <a:br>
              <a:rPr lang="it-IT" sz="2800" dirty="0">
                <a:solidFill>
                  <a:schemeClr val="accent5"/>
                </a:solidFill>
              </a:rPr>
            </a:br>
            <a:r>
              <a:rPr lang="it-IT" sz="2800" dirty="0">
                <a:solidFill>
                  <a:schemeClr val="accent5"/>
                </a:solidFill>
              </a:rPr>
              <a:t>// notazione binaria: n vale -1589272251 */</a:t>
            </a:r>
          </a:p>
          <a:p>
            <a:pPr marL="0" indent="0">
              <a:buNone/>
            </a:pPr>
            <a:endParaRPr lang="it-IT" sz="2800" dirty="0"/>
          </a:p>
        </p:txBody>
      </p:sp>
    </p:spTree>
    <p:extLst>
      <p:ext uri="{BB962C8B-B14F-4D97-AF65-F5344CB8AC3E}">
        <p14:creationId xmlns:p14="http://schemas.microsoft.com/office/powerpoint/2010/main" val="3592047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404580"/>
            <a:ext cx="9144000" cy="864120"/>
          </a:xfrm>
        </p:spPr>
        <p:txBody>
          <a:bodyPr>
            <a:normAutofit fontScale="90000"/>
          </a:bodyPr>
          <a:lstStyle/>
          <a:p>
            <a:r>
              <a:rPr lang="it-IT" dirty="0"/>
              <a:t>Promozione automatica nelle espressioni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22</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844780"/>
            <a:ext cx="9144000" cy="4260173"/>
          </a:xfrm>
        </p:spPr>
        <p:txBody>
          <a:bodyPr>
            <a:noAutofit/>
          </a:bodyPr>
          <a:lstStyle/>
          <a:p>
            <a:pPr marL="0" indent="0">
              <a:buNone/>
            </a:pPr>
            <a:r>
              <a:rPr lang="it-IT" sz="2800" dirty="0">
                <a:solidFill>
                  <a:schemeClr val="accent5"/>
                </a:solidFill>
              </a:rPr>
              <a:t>byte b = 127;		  //OK</a:t>
            </a:r>
          </a:p>
          <a:p>
            <a:pPr marL="0" indent="0">
              <a:buNone/>
            </a:pPr>
            <a:r>
              <a:rPr lang="it-IT" sz="2800" dirty="0">
                <a:solidFill>
                  <a:schemeClr val="accent5"/>
                </a:solidFill>
              </a:rPr>
              <a:t>byte b = 128; 		  //il massimo per byte è 127: errore</a:t>
            </a:r>
          </a:p>
          <a:p>
            <a:pPr marL="0" indent="0">
              <a:buNone/>
            </a:pPr>
            <a:r>
              <a:rPr lang="it-IT" sz="2800" dirty="0">
                <a:solidFill>
                  <a:schemeClr val="accent5"/>
                </a:solidFill>
              </a:rPr>
              <a:t>short s = 32768; 	  //il massimo per short è 32767 : errore</a:t>
            </a:r>
          </a:p>
          <a:p>
            <a:pPr marL="0" indent="0">
              <a:buNone/>
            </a:pPr>
            <a:r>
              <a:rPr lang="it-IT" sz="2800" dirty="0">
                <a:solidFill>
                  <a:schemeClr val="accent5"/>
                </a:solidFill>
              </a:rPr>
              <a:t>int i = 2147483648;   //il massimo per int è 2147483647 : errore</a:t>
            </a:r>
          </a:p>
          <a:p>
            <a:pPr marL="0" indent="0">
              <a:buNone/>
            </a:pPr>
            <a:endParaRPr lang="it-IT" sz="2800" dirty="0">
              <a:solidFill>
                <a:schemeClr val="accent5"/>
              </a:solidFill>
            </a:endParaRPr>
          </a:p>
          <a:p>
            <a:pPr marL="0" indent="0">
              <a:buNone/>
            </a:pPr>
            <a:r>
              <a:rPr lang="it-IT" sz="2800" dirty="0">
                <a:solidFill>
                  <a:schemeClr val="accent5"/>
                </a:solidFill>
              </a:rPr>
              <a:t>byte b = 50; 		//OK</a:t>
            </a:r>
          </a:p>
          <a:p>
            <a:pPr marL="0" indent="0">
              <a:buNone/>
            </a:pPr>
            <a:r>
              <a:rPr lang="it-IT" sz="2800" dirty="0">
                <a:solidFill>
                  <a:schemeClr val="accent5"/>
                </a:solidFill>
              </a:rPr>
              <a:t>b = b * 2;			// Promozione automatica: errore</a:t>
            </a:r>
          </a:p>
        </p:txBody>
      </p:sp>
    </p:spTree>
    <p:extLst>
      <p:ext uri="{BB962C8B-B14F-4D97-AF65-F5344CB8AC3E}">
        <p14:creationId xmlns:p14="http://schemas.microsoft.com/office/powerpoint/2010/main" val="2268771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60559"/>
            <a:ext cx="7886700" cy="720101"/>
          </a:xfrm>
        </p:spPr>
        <p:txBody>
          <a:bodyPr/>
          <a:lstStyle/>
          <a:p>
            <a:r>
              <a:rPr lang="it-IT" dirty="0"/>
              <a:t>Promozione automatica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23</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268700"/>
            <a:ext cx="9144000" cy="5112710"/>
          </a:xfrm>
        </p:spPr>
        <p:txBody>
          <a:bodyPr>
            <a:noAutofit/>
          </a:bodyPr>
          <a:lstStyle/>
          <a:p>
            <a:r>
              <a:rPr lang="it-IT" dirty="0">
                <a:solidFill>
                  <a:schemeClr val="tx1"/>
                </a:solidFill>
                <a:effectLst/>
                <a:ea typeface="Times New Roman" panose="02020603050405020304" pitchFamily="18" charset="0"/>
              </a:rPr>
              <a:t>Per gli </a:t>
            </a:r>
            <a:r>
              <a:rPr lang="it-IT" b="1" dirty="0">
                <a:solidFill>
                  <a:schemeClr val="tx1"/>
                </a:solidFill>
                <a:effectLst/>
                <a:ea typeface="Times New Roman" panose="02020603050405020304" pitchFamily="18" charset="0"/>
              </a:rPr>
              <a:t>operatori binari</a:t>
            </a:r>
            <a:r>
              <a:rPr lang="it-IT" dirty="0">
                <a:solidFill>
                  <a:schemeClr val="tx1"/>
                </a:solidFill>
                <a:effectLst/>
                <a:ea typeface="Times New Roman" panose="02020603050405020304" pitchFamily="18" charset="0"/>
              </a:rPr>
              <a:t>, ovvero gli operatori che utilizzano due operandi (per esempio gli operatori aritmetici come “+”), esistono quattro regole per la gestione della promozione automatica. Esse dipendono dai tipi degli operandi in questione:</a:t>
            </a:r>
          </a:p>
          <a:p>
            <a:pPr lvl="1"/>
            <a:r>
              <a:rPr lang="it-IT" sz="2400" dirty="0">
                <a:solidFill>
                  <a:schemeClr val="tx1"/>
                </a:solidFill>
                <a:effectLst/>
                <a:ea typeface="Times New Roman" panose="02020603050405020304" pitchFamily="18" charset="0"/>
              </a:rPr>
              <a:t>se uno degli operandi è </a:t>
            </a:r>
            <a:r>
              <a:rPr lang="it-IT" sz="2400" i="1" dirty="0">
                <a:solidFill>
                  <a:schemeClr val="tx1"/>
                </a:solidFill>
                <a:effectLst/>
                <a:ea typeface="Times New Roman" panose="02020603050405020304" pitchFamily="18" charset="0"/>
              </a:rPr>
              <a:t>double</a:t>
            </a:r>
            <a:r>
              <a:rPr lang="it-IT" sz="2400" dirty="0">
                <a:solidFill>
                  <a:schemeClr val="tx1"/>
                </a:solidFill>
                <a:effectLst/>
                <a:ea typeface="Times New Roman" panose="02020603050405020304" pitchFamily="18" charset="0"/>
              </a:rPr>
              <a:t>, l’altro operando sarà convertito in </a:t>
            </a:r>
            <a:r>
              <a:rPr lang="it-IT" sz="2400" i="1" dirty="0">
                <a:solidFill>
                  <a:schemeClr val="tx1"/>
                </a:solidFill>
                <a:effectLst/>
                <a:ea typeface="Times New Roman" panose="02020603050405020304" pitchFamily="18" charset="0"/>
              </a:rPr>
              <a:t>double</a:t>
            </a:r>
            <a:r>
              <a:rPr lang="it-IT" sz="2400" dirty="0">
                <a:solidFill>
                  <a:schemeClr val="tx1"/>
                </a:solidFill>
                <a:effectLst/>
                <a:ea typeface="Times New Roman" panose="02020603050405020304" pitchFamily="18" charset="0"/>
              </a:rPr>
              <a:t>;</a:t>
            </a:r>
          </a:p>
          <a:p>
            <a:pPr lvl="1"/>
            <a:r>
              <a:rPr lang="it-IT" sz="2400" dirty="0">
                <a:solidFill>
                  <a:schemeClr val="tx1"/>
                </a:solidFill>
                <a:effectLst/>
                <a:ea typeface="Times New Roman" panose="02020603050405020304" pitchFamily="18" charset="0"/>
              </a:rPr>
              <a:t>se il tipo con intervallo di rappresentazione più ampio tra gli operandi è un </a:t>
            </a:r>
            <a:r>
              <a:rPr lang="it-IT" sz="2400" i="1" dirty="0">
                <a:solidFill>
                  <a:schemeClr val="tx1"/>
                </a:solidFill>
                <a:effectLst/>
                <a:ea typeface="Times New Roman" panose="02020603050405020304" pitchFamily="18" charset="0"/>
              </a:rPr>
              <a:t>float</a:t>
            </a:r>
            <a:r>
              <a:rPr lang="it-IT" sz="2400" dirty="0">
                <a:solidFill>
                  <a:schemeClr val="tx1"/>
                </a:solidFill>
                <a:effectLst/>
                <a:ea typeface="Times New Roman" panose="02020603050405020304" pitchFamily="18" charset="0"/>
              </a:rPr>
              <a:t>, l’altro operando sarà convertito in </a:t>
            </a:r>
            <a:r>
              <a:rPr lang="it-IT" sz="2400" i="1" dirty="0">
                <a:solidFill>
                  <a:schemeClr val="tx1"/>
                </a:solidFill>
                <a:effectLst/>
                <a:ea typeface="Times New Roman" panose="02020603050405020304" pitchFamily="18" charset="0"/>
              </a:rPr>
              <a:t>float</a:t>
            </a:r>
            <a:r>
              <a:rPr lang="it-IT" sz="2400" dirty="0">
                <a:solidFill>
                  <a:schemeClr val="tx1"/>
                </a:solidFill>
                <a:effectLst/>
                <a:ea typeface="Times New Roman" panose="02020603050405020304" pitchFamily="18" charset="0"/>
              </a:rPr>
              <a:t>;</a:t>
            </a:r>
          </a:p>
          <a:p>
            <a:pPr lvl="1"/>
            <a:r>
              <a:rPr lang="it-IT" sz="2400" dirty="0">
                <a:solidFill>
                  <a:schemeClr val="tx1"/>
                </a:solidFill>
                <a:effectLst/>
                <a:ea typeface="Times New Roman" panose="02020603050405020304" pitchFamily="18" charset="0"/>
              </a:rPr>
              <a:t>se il tipo con intervallo di rappresentazione più ampio tra gli operandi è un </a:t>
            </a:r>
            <a:r>
              <a:rPr lang="it-IT" sz="2400" i="1" dirty="0">
                <a:solidFill>
                  <a:schemeClr val="tx1"/>
                </a:solidFill>
                <a:effectLst/>
                <a:ea typeface="Times New Roman" panose="02020603050405020304" pitchFamily="18" charset="0"/>
              </a:rPr>
              <a:t>long</a:t>
            </a:r>
            <a:r>
              <a:rPr lang="it-IT" sz="2400" dirty="0">
                <a:solidFill>
                  <a:schemeClr val="tx1"/>
                </a:solidFill>
                <a:effectLst/>
                <a:ea typeface="Times New Roman" panose="02020603050405020304" pitchFamily="18" charset="0"/>
              </a:rPr>
              <a:t>, l’altro operando sarà convertito in </a:t>
            </a:r>
            <a:r>
              <a:rPr lang="it-IT" sz="2400" i="1" dirty="0">
                <a:solidFill>
                  <a:schemeClr val="tx1"/>
                </a:solidFill>
                <a:effectLst/>
                <a:ea typeface="Times New Roman" panose="02020603050405020304" pitchFamily="18" charset="0"/>
              </a:rPr>
              <a:t>long</a:t>
            </a:r>
            <a:r>
              <a:rPr lang="it-IT" sz="2400" dirty="0">
                <a:solidFill>
                  <a:schemeClr val="tx1"/>
                </a:solidFill>
                <a:effectLst/>
                <a:ea typeface="Times New Roman" panose="02020603050405020304" pitchFamily="18" charset="0"/>
              </a:rPr>
              <a:t>;</a:t>
            </a:r>
          </a:p>
          <a:p>
            <a:pPr lvl="1"/>
            <a:r>
              <a:rPr lang="it-IT" sz="2400" dirty="0">
                <a:solidFill>
                  <a:schemeClr val="tx1"/>
                </a:solidFill>
                <a:effectLst/>
                <a:ea typeface="Times New Roman" panose="02020603050405020304" pitchFamily="18" charset="0"/>
              </a:rPr>
              <a:t>in ogni altro caso entrambi gli operandi saranno convertiti in </a:t>
            </a:r>
            <a:r>
              <a:rPr lang="it-IT" sz="2400" i="1" dirty="0">
                <a:solidFill>
                  <a:schemeClr val="tx1"/>
                </a:solidFill>
                <a:effectLst/>
                <a:ea typeface="Times New Roman" panose="02020603050405020304" pitchFamily="18" charset="0"/>
              </a:rPr>
              <a:t>int</a:t>
            </a:r>
            <a:r>
              <a:rPr lang="it-IT" sz="2400" dirty="0">
                <a:solidFill>
                  <a:schemeClr val="tx1"/>
                </a:solidFill>
                <a:effectLst/>
                <a:ea typeface="Times New Roman" panose="02020603050405020304" pitchFamily="18" charset="0"/>
              </a:rPr>
              <a:t>.</a:t>
            </a:r>
          </a:p>
          <a:p>
            <a:r>
              <a:rPr lang="it-IT" sz="2800" dirty="0">
                <a:solidFill>
                  <a:schemeClr val="tx1"/>
                </a:solidFill>
                <a:effectLst/>
                <a:ea typeface="Times New Roman" panose="02020603050405020304" pitchFamily="18" charset="0"/>
              </a:rPr>
              <a:t>La promozione automatica degli operandi avviene prima che venga eseguita una qualsiasi operazione binaria.</a:t>
            </a:r>
          </a:p>
        </p:txBody>
      </p:sp>
    </p:spTree>
    <p:extLst>
      <p:ext uri="{BB962C8B-B14F-4D97-AF65-F5344CB8AC3E}">
        <p14:creationId xmlns:p14="http://schemas.microsoft.com/office/powerpoint/2010/main" val="1255161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Cast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24</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r>
              <a:rPr lang="it-IT" sz="2800" b="1" dirty="0"/>
              <a:t>Tecnica per forzare una certa quantità ad essere immagazzinata in un certo tipo di dato. </a:t>
            </a:r>
          </a:p>
          <a:p>
            <a:r>
              <a:rPr lang="it-IT" sz="2800" b="1" dirty="0"/>
              <a:t>Bisogna anteporre all’espressione da convertire (castare), il tipo di dato a cui vogliamo restringere il risultato, incluso tra parentesi tonde. </a:t>
            </a:r>
          </a:p>
          <a:p>
            <a:r>
              <a:rPr lang="it-IT" sz="2800" b="1" dirty="0"/>
              <a:t>In questo modo il compilatore sarà avvertito che un’eventuale perdita di precisione è calcolata e sotto controllo da parte del programmatore. </a:t>
            </a:r>
          </a:p>
          <a:p>
            <a:r>
              <a:rPr lang="it-IT" sz="2800" b="1" dirty="0"/>
              <a:t>La sintassi da utilizzare per risolvere il problema  dell’esempio precedente è:</a:t>
            </a:r>
          </a:p>
          <a:p>
            <a:pPr marL="0" indent="0">
              <a:buNone/>
            </a:pPr>
            <a:r>
              <a:rPr lang="it-IT" sz="2800" b="1" dirty="0">
                <a:solidFill>
                  <a:schemeClr val="accent5"/>
                </a:solidFill>
              </a:rPr>
              <a:t>b = (byte)(b * 2);</a:t>
            </a:r>
          </a:p>
        </p:txBody>
      </p:sp>
    </p:spTree>
    <p:extLst>
      <p:ext uri="{BB962C8B-B14F-4D97-AF65-F5344CB8AC3E}">
        <p14:creationId xmlns:p14="http://schemas.microsoft.com/office/powerpoint/2010/main" val="2779444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Cast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25</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pPr marL="0" indent="0">
              <a:buNone/>
            </a:pPr>
            <a:r>
              <a:rPr lang="it-IT" b="1" dirty="0"/>
              <a:t>Con il cast la responsabilità della corretta assegnazione viene trasferita dal </a:t>
            </a:r>
            <a:r>
              <a:rPr lang="it-IT" b="1" dirty="0" err="1"/>
              <a:t>compialtore</a:t>
            </a:r>
            <a:r>
              <a:rPr lang="it-IT" b="1" dirty="0"/>
              <a:t> al programmatore. Bisogna essere però molto prudenti nell’utilizzare il cast in modo corretto. Infatti se scrivessimo:</a:t>
            </a:r>
          </a:p>
          <a:p>
            <a:pPr marL="0" indent="0">
              <a:buNone/>
            </a:pPr>
            <a:r>
              <a:rPr lang="it-IT" b="1" dirty="0">
                <a:solidFill>
                  <a:schemeClr val="accent5"/>
                </a:solidFill>
              </a:rPr>
              <a:t>b = (byte)128;</a:t>
            </a:r>
          </a:p>
          <a:p>
            <a:pPr marL="0" indent="0">
              <a:buNone/>
            </a:pPr>
            <a:r>
              <a:rPr lang="it-IT" b="1" dirty="0"/>
              <a:t>il compilatore non segnalerebbe nessun tipo d’errore. Siccome il cast agisce troncando i bit in eccedenza. Nel nostro caso, dato che un int utilizza 32 bit, mentre un byte solo 8, saranno troncati i primi 24 bit </a:t>
            </a:r>
            <a:r>
              <a:rPr lang="it-IT" b="1" dirty="0" err="1"/>
              <a:t>dell’</a:t>
            </a:r>
            <a:r>
              <a:rPr lang="it-IT" b="1" i="1" dirty="0" err="1"/>
              <a:t>int</a:t>
            </a:r>
            <a:r>
              <a:rPr lang="it-IT" b="1" dirty="0"/>
              <a:t>. Quindi, dato che la rappresentazione del numero 128 all’interno di un tipo int (32 bit) è la seguente:</a:t>
            </a:r>
          </a:p>
          <a:p>
            <a:pPr marL="0" indent="0">
              <a:buNone/>
            </a:pPr>
            <a:r>
              <a:rPr lang="it-IT" b="1" dirty="0">
                <a:solidFill>
                  <a:schemeClr val="accent5"/>
                </a:solidFill>
              </a:rPr>
              <a:t>00000000000000000000000010000000</a:t>
            </a:r>
          </a:p>
          <a:p>
            <a:pPr marL="0" indent="0">
              <a:buNone/>
            </a:pPr>
            <a:r>
              <a:rPr lang="it-IT" b="1" dirty="0"/>
              <a:t>troncando i primi 24 bit avremo:</a:t>
            </a:r>
          </a:p>
          <a:p>
            <a:pPr marL="0" indent="0">
              <a:buNone/>
            </a:pPr>
            <a:r>
              <a:rPr lang="it-IT" b="1" dirty="0">
                <a:solidFill>
                  <a:schemeClr val="accent5"/>
                </a:solidFill>
              </a:rPr>
              <a:t>10000000</a:t>
            </a:r>
          </a:p>
          <a:p>
            <a:pPr marL="0" indent="0">
              <a:buNone/>
            </a:pPr>
            <a:r>
              <a:rPr lang="it-IT" b="1" dirty="0"/>
              <a:t>che rappresenta il numero -128, quindi la variabile b avrà il valore di –128 e non di 128!</a:t>
            </a:r>
          </a:p>
        </p:txBody>
      </p:sp>
    </p:spTree>
    <p:extLst>
      <p:ext uri="{BB962C8B-B14F-4D97-AF65-F5344CB8AC3E}">
        <p14:creationId xmlns:p14="http://schemas.microsoft.com/office/powerpoint/2010/main" val="577218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Operazioni con interi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26</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r>
              <a:rPr lang="it-IT" sz="2800" dirty="0">
                <a:solidFill>
                  <a:schemeClr val="tx1"/>
                </a:solidFill>
                <a:effectLst/>
                <a:latin typeface="Times New Roman" panose="02020603050405020304" pitchFamily="18" charset="0"/>
                <a:ea typeface="Times New Roman" panose="02020603050405020304" pitchFamily="18" charset="0"/>
              </a:rPr>
              <a:t>Somma:</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a = 2147483647; 	// Massimo valore per un int</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b = 1;</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risultato = </a:t>
            </a:r>
            <a:r>
              <a:rPr lang="it-IT" sz="2800" dirty="0" err="1">
                <a:solidFill>
                  <a:schemeClr val="accent5"/>
                </a:solidFill>
                <a:effectLst/>
                <a:latin typeface="Times New Roman" panose="02020603050405020304" pitchFamily="18" charset="0"/>
                <a:ea typeface="Times New Roman" panose="02020603050405020304" pitchFamily="18" charset="0"/>
              </a:rPr>
              <a:t>a+b</a:t>
            </a:r>
            <a:r>
              <a:rPr lang="it-IT" sz="2800" dirty="0">
                <a:solidFill>
                  <a:schemeClr val="accent5"/>
                </a:solidFill>
                <a:effectLst/>
                <a:latin typeface="Times New Roman" panose="02020603050405020304" pitchFamily="18" charset="0"/>
                <a:ea typeface="Times New Roman" panose="02020603050405020304" pitchFamily="18" charset="0"/>
              </a:rPr>
              <a:t>; 	//-2147483648!</a:t>
            </a:r>
          </a:p>
          <a:p>
            <a:r>
              <a:rPr lang="it-IT" sz="2800" dirty="0">
                <a:solidFill>
                  <a:schemeClr val="tx1"/>
                </a:solidFill>
                <a:effectLst/>
                <a:latin typeface="Times New Roman" panose="02020603050405020304" pitchFamily="18" charset="0"/>
                <a:ea typeface="Times New Roman" panose="02020603050405020304" pitchFamily="18" charset="0"/>
              </a:rPr>
              <a:t>Divisione: implica elisione parte decimale (risultato immagazzinato in un intero): 3 diviso 2 = 1</a:t>
            </a:r>
          </a:p>
          <a:p>
            <a:r>
              <a:rPr lang="it-IT" sz="2800" dirty="0">
                <a:solidFill>
                  <a:schemeClr val="tx1"/>
                </a:solidFill>
                <a:effectLst/>
                <a:latin typeface="Times New Roman" panose="02020603050405020304" pitchFamily="18" charset="0"/>
                <a:ea typeface="Times New Roman" panose="02020603050405020304" pitchFamily="18" charset="0"/>
              </a:rPr>
              <a:t>Il default è </a:t>
            </a:r>
            <a:r>
              <a:rPr lang="it-IT" sz="2800" i="1" dirty="0">
                <a:solidFill>
                  <a:schemeClr val="tx1"/>
                </a:solidFill>
                <a:effectLst/>
                <a:latin typeface="Times New Roman" panose="02020603050405020304" pitchFamily="18" charset="0"/>
                <a:ea typeface="Times New Roman" panose="02020603050405020304" pitchFamily="18" charset="0"/>
              </a:rPr>
              <a:t>int</a:t>
            </a:r>
            <a:r>
              <a:rPr lang="it-IT" sz="2800" dirty="0">
                <a:solidFill>
                  <a:schemeClr val="tx1"/>
                </a:solidFill>
                <a:effectLst/>
                <a:latin typeface="Times New Roman" panose="02020603050405020304" pitchFamily="18" charset="0"/>
                <a:ea typeface="Times New Roman" panose="02020603050405020304" pitchFamily="18" charset="0"/>
              </a:rPr>
              <a:t>: </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long duemila = 2000;			// 2000 è un intero</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long duemila = 2000L;		// cast sintassi breve</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long </a:t>
            </a:r>
            <a:r>
              <a:rPr lang="it-IT" sz="2800" dirty="0" err="1">
                <a:solidFill>
                  <a:schemeClr val="accent5"/>
                </a:solidFill>
                <a:effectLst/>
                <a:latin typeface="Times New Roman" panose="02020603050405020304" pitchFamily="18" charset="0"/>
                <a:ea typeface="Times New Roman" panose="02020603050405020304" pitchFamily="18" charset="0"/>
              </a:rPr>
              <a:t>tremiliardi</a:t>
            </a:r>
            <a:r>
              <a:rPr lang="it-IT" sz="2800" dirty="0">
                <a:solidFill>
                  <a:schemeClr val="accent5"/>
                </a:solidFill>
                <a:effectLst/>
                <a:latin typeface="Times New Roman" panose="02020603050405020304" pitchFamily="18" charset="0"/>
                <a:ea typeface="Times New Roman" panose="02020603050405020304" pitchFamily="18" charset="0"/>
              </a:rPr>
              <a:t> = 3000000000;  	// errore!</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long </a:t>
            </a:r>
            <a:r>
              <a:rPr lang="it-IT" sz="2800" dirty="0" err="1">
                <a:solidFill>
                  <a:schemeClr val="accent5"/>
                </a:solidFill>
                <a:effectLst/>
                <a:latin typeface="Times New Roman" panose="02020603050405020304" pitchFamily="18" charset="0"/>
                <a:ea typeface="Times New Roman" panose="02020603050405020304" pitchFamily="18" charset="0"/>
              </a:rPr>
              <a:t>tremiliardi</a:t>
            </a:r>
            <a:r>
              <a:rPr lang="it-IT" sz="2800" dirty="0">
                <a:solidFill>
                  <a:schemeClr val="accent5"/>
                </a:solidFill>
                <a:effectLst/>
                <a:latin typeface="Times New Roman" panose="02020603050405020304" pitchFamily="18" charset="0"/>
                <a:ea typeface="Times New Roman" panose="02020603050405020304" pitchFamily="18" charset="0"/>
              </a:rPr>
              <a:t> = 3000000000L; 	//OK (cast sintassi breve)</a:t>
            </a:r>
          </a:p>
          <a:p>
            <a:pPr marL="0" indent="0">
              <a:buNone/>
            </a:pPr>
            <a:endParaRPr lang="it-IT" dirty="0">
              <a:solidFill>
                <a:schemeClr val="accent5"/>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2591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5370" y="1"/>
            <a:ext cx="9145270" cy="836640"/>
          </a:xfrm>
        </p:spPr>
        <p:txBody>
          <a:bodyPr>
            <a:normAutofit fontScale="90000"/>
          </a:bodyPr>
          <a:lstStyle/>
          <a:p>
            <a:r>
              <a:rPr lang="it-IT" dirty="0"/>
              <a:t>Tipi di dati a virgola mobile (floating point)</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35370" y="836641"/>
            <a:ext cx="9108630" cy="1872259"/>
          </a:xfrm>
        </p:spPr>
        <p:txBody>
          <a:bodyPr>
            <a:normAutofit/>
          </a:bodyPr>
          <a:lstStyle/>
          <a:p>
            <a:r>
              <a:rPr lang="it-IT" dirty="0"/>
              <a:t>Per memorizzare i numeri decimali, Java definisce due tipi a virgola mobile (in inglese floating point): float (tipo a 16 bit) e double (tipo a doppia precisione che usa 64 bit). Questi due tipi con i loro intervalli di rappresentazione (basati sullo standard IEEE-754) sono riportati di seguito: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27</a:t>
            </a:fld>
            <a:endParaRPr lang="it-IT"/>
          </a:p>
        </p:txBody>
      </p:sp>
      <p:graphicFrame>
        <p:nvGraphicFramePr>
          <p:cNvPr id="8" name="Tabella 7">
            <a:extLst>
              <a:ext uri="{FF2B5EF4-FFF2-40B4-BE49-F238E27FC236}">
                <a16:creationId xmlns:a16="http://schemas.microsoft.com/office/drawing/2014/main" id="{5EAF3D9A-A3CC-48BE-85BE-AD5B1C29A01B}"/>
              </a:ext>
            </a:extLst>
          </p:cNvPr>
          <p:cNvGraphicFramePr>
            <a:graphicFrameLocks noGrp="1"/>
          </p:cNvGraphicFramePr>
          <p:nvPr>
            <p:extLst>
              <p:ext uri="{D42A27DB-BD31-4B8C-83A1-F6EECF244321}">
                <p14:modId xmlns:p14="http://schemas.microsoft.com/office/powerpoint/2010/main" val="1536384801"/>
              </p:ext>
            </p:extLst>
          </p:nvPr>
        </p:nvGraphicFramePr>
        <p:xfrm>
          <a:off x="-56991" y="2586485"/>
          <a:ext cx="9143999" cy="1685030"/>
        </p:xfrm>
        <a:graphic>
          <a:graphicData uri="http://schemas.openxmlformats.org/drawingml/2006/table">
            <a:tbl>
              <a:tblPr>
                <a:tableStyleId>{5C22544A-7EE6-4342-B048-85BDC9FD1C3A}</a:tableStyleId>
              </a:tblPr>
              <a:tblGrid>
                <a:gridCol w="1691600">
                  <a:extLst>
                    <a:ext uri="{9D8B030D-6E8A-4147-A177-3AD203B41FA5}">
                      <a16:colId xmlns:a16="http://schemas.microsoft.com/office/drawing/2014/main" val="3659227396"/>
                    </a:ext>
                  </a:extLst>
                </a:gridCol>
                <a:gridCol w="7452399">
                  <a:extLst>
                    <a:ext uri="{9D8B030D-6E8A-4147-A177-3AD203B41FA5}">
                      <a16:colId xmlns:a16="http://schemas.microsoft.com/office/drawing/2014/main" val="1639956395"/>
                    </a:ext>
                  </a:extLst>
                </a:gridCol>
              </a:tblGrid>
              <a:tr h="476755">
                <a:tc>
                  <a:txBody>
                    <a:bodyPr/>
                    <a:lstStyle/>
                    <a:p>
                      <a:r>
                        <a:rPr lang="it-IT" sz="2400" b="1">
                          <a:effectLst/>
                        </a:rPr>
                        <a:t>Operatore</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b="1" dirty="0">
                          <a:effectLst/>
                        </a:rPr>
                        <a:t>Intervallo di rappresentazione</a:t>
                      </a:r>
                      <a:endParaRPr lang="it-IT" sz="24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052506658"/>
                  </a:ext>
                </a:extLst>
              </a:tr>
              <a:tr h="476755">
                <a:tc>
                  <a:txBody>
                    <a:bodyPr/>
                    <a:lstStyle/>
                    <a:p>
                      <a:r>
                        <a:rPr lang="it-IT" sz="2400">
                          <a:effectLst/>
                        </a:rPr>
                        <a:t>float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32 bit (da +/–1.40239846E-45 a +/–3.40282347E38)</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99875481"/>
                  </a:ext>
                </a:extLst>
              </a:tr>
              <a:tr h="476755">
                <a:tc>
                  <a:txBody>
                    <a:bodyPr/>
                    <a:lstStyle/>
                    <a:p>
                      <a:r>
                        <a:rPr lang="it-IT" sz="2400">
                          <a:effectLst/>
                        </a:rPr>
                        <a:t>double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en-GB" sz="2400" dirty="0">
                          <a:effectLst/>
                        </a:rPr>
                        <a:t>64 bit (da +/–4.94065645841246544E-324 a  +/–1.79769313486231570E</a:t>
                      </a:r>
                      <a:r>
                        <a:rPr lang="it-IT" sz="2400" dirty="0">
                          <a:effectLst/>
                        </a:rPr>
                        <a:t>328</a:t>
                      </a:r>
                      <a:r>
                        <a:rPr lang="en-GB" sz="2400" dirty="0">
                          <a:effectLst/>
                        </a:rPr>
                        <a:t>)</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200232038"/>
                  </a:ext>
                </a:extLst>
              </a:tr>
            </a:tbl>
          </a:graphicData>
        </a:graphic>
      </p:graphicFrame>
      <p:sp>
        <p:nvSpPr>
          <p:cNvPr id="10" name="CasellaDiTesto 9">
            <a:extLst>
              <a:ext uri="{FF2B5EF4-FFF2-40B4-BE49-F238E27FC236}">
                <a16:creationId xmlns:a16="http://schemas.microsoft.com/office/drawing/2014/main" id="{1EF225FE-3319-4CCF-BA9A-EBC7D00B901B}"/>
              </a:ext>
            </a:extLst>
          </p:cNvPr>
          <p:cNvSpPr txBox="1"/>
          <p:nvPr/>
        </p:nvSpPr>
        <p:spPr>
          <a:xfrm>
            <a:off x="3844" y="4370408"/>
            <a:ext cx="9104786" cy="1938992"/>
          </a:xfrm>
          <a:prstGeom prst="rect">
            <a:avLst/>
          </a:prstGeom>
          <a:noFill/>
        </p:spPr>
        <p:txBody>
          <a:bodyPr wrap="square">
            <a:spAutoFit/>
          </a:bodyPr>
          <a:lstStyle/>
          <a:p>
            <a:pPr marL="342900" indent="-342900">
              <a:buFont typeface="Arial" panose="020B0604020202020204" pitchFamily="34" charset="0"/>
              <a:buChar char="•"/>
            </a:pPr>
            <a:r>
              <a:rPr lang="it-IT" sz="2400"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rPr>
              <a:t>Esempio:</a:t>
            </a:r>
          </a:p>
          <a:p>
            <a:r>
              <a:rPr lang="it-IT" sz="2400" dirty="0">
                <a:solidFill>
                  <a:schemeClr val="accent5"/>
                </a:solidFill>
              </a:rPr>
              <a:t>double d = 0.0126;</a:t>
            </a:r>
          </a:p>
          <a:p>
            <a:pPr marL="342900" indent="-342900">
              <a:buFont typeface="Arial" panose="020B0604020202020204" pitchFamily="34" charset="0"/>
              <a:buChar char="•"/>
            </a:pPr>
            <a:r>
              <a:rPr lang="it-IT" sz="2400" dirty="0">
                <a:gradFill>
                  <a:gsLst>
                    <a:gs pos="34000">
                      <a:schemeClr val="tx1">
                        <a:lumMod val="93000"/>
                      </a:schemeClr>
                    </a:gs>
                    <a:gs pos="0">
                      <a:schemeClr val="bg1">
                        <a:lumMod val="25000"/>
                        <a:lumOff val="75000"/>
                      </a:schemeClr>
                    </a:gs>
                    <a:gs pos="100000">
                      <a:schemeClr val="tx2">
                        <a:lumMod val="0"/>
                        <a:lumOff val="100000"/>
                      </a:schemeClr>
                    </a:gs>
                  </a:gsLst>
                  <a:lin ang="4800000" scaled="0"/>
                </a:gradFill>
              </a:rPr>
              <a:t>Notazione esponenziale o ingegneristica (la “e” può essere sia maiuscola sia minuscola) :</a:t>
            </a:r>
          </a:p>
          <a:p>
            <a:r>
              <a:rPr lang="it-IT" sz="2400" dirty="0">
                <a:solidFill>
                  <a:schemeClr val="accent5"/>
                </a:solidFill>
              </a:rPr>
              <a:t>double d = 1.26E-2; //equivalente a 1.26 diviso 100 = 0.0126</a:t>
            </a:r>
          </a:p>
        </p:txBody>
      </p:sp>
    </p:spTree>
    <p:extLst>
      <p:ext uri="{BB962C8B-B14F-4D97-AF65-F5344CB8AC3E}">
        <p14:creationId xmlns:p14="http://schemas.microsoft.com/office/powerpoint/2010/main" val="2594785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36525"/>
            <a:ext cx="9144000" cy="1132176"/>
          </a:xfrm>
        </p:spPr>
        <p:txBody>
          <a:bodyPr>
            <a:noAutofit/>
          </a:bodyPr>
          <a:lstStyle/>
          <a:p>
            <a:r>
              <a:rPr lang="it-IT" sz="3600" dirty="0"/>
              <a:t>Floating Point: cast e promozione automatica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28</a:t>
            </a:fld>
            <a:endParaRPr lang="it-IT"/>
          </a:p>
        </p:txBody>
      </p:sp>
      <p:sp>
        <p:nvSpPr>
          <p:cNvPr id="8" name="CasellaDiTesto 7">
            <a:extLst>
              <a:ext uri="{FF2B5EF4-FFF2-40B4-BE49-F238E27FC236}">
                <a16:creationId xmlns:a16="http://schemas.microsoft.com/office/drawing/2014/main" id="{047CC720-955D-4CEE-9AA9-16A372F747D5}"/>
              </a:ext>
            </a:extLst>
          </p:cNvPr>
          <p:cNvSpPr txBox="1"/>
          <p:nvPr/>
        </p:nvSpPr>
        <p:spPr>
          <a:xfrm>
            <a:off x="36640" y="1343156"/>
            <a:ext cx="9144000" cy="4678204"/>
          </a:xfrm>
          <a:prstGeom prst="rect">
            <a:avLst/>
          </a:prstGeom>
          <a:noFill/>
        </p:spPr>
        <p:txBody>
          <a:bodyPr wrap="square">
            <a:spAutoFit/>
          </a:bodyPr>
          <a:lstStyle/>
          <a:p>
            <a:pPr marL="285750" indent="-285750">
              <a:buFont typeface="Arial" panose="020B0604020202020204" pitchFamily="34" charset="0"/>
              <a:buChar char="•"/>
            </a:pPr>
            <a:r>
              <a:rPr lang="it-IT" sz="2800" dirty="0">
                <a:solidFill>
                  <a:schemeClr val="tx1"/>
                </a:solidFill>
                <a:effectLst/>
                <a:latin typeface="Times New Roman" panose="02020603050405020304" pitchFamily="18" charset="0"/>
                <a:ea typeface="Times New Roman" panose="02020603050405020304" pitchFamily="18" charset="0"/>
              </a:rPr>
              <a:t>Il default è </a:t>
            </a:r>
            <a:r>
              <a:rPr lang="it-IT" sz="2800" i="1" dirty="0">
                <a:solidFill>
                  <a:schemeClr val="tx1"/>
                </a:solidFill>
                <a:effectLst/>
                <a:latin typeface="Times New Roman" panose="02020603050405020304" pitchFamily="18" charset="0"/>
                <a:ea typeface="Times New Roman" panose="02020603050405020304" pitchFamily="18" charset="0"/>
              </a:rPr>
              <a:t>double</a:t>
            </a:r>
            <a:r>
              <a:rPr lang="it-IT" sz="2800" dirty="0">
                <a:solidFill>
                  <a:schemeClr val="tx1"/>
                </a:solidFill>
                <a:effectLst/>
                <a:latin typeface="Times New Roman" panose="02020603050405020304" pitchFamily="18" charset="0"/>
                <a:ea typeface="Times New Roman" panose="02020603050405020304" pitchFamily="18" charset="0"/>
              </a:rPr>
              <a:t>: </a:t>
            </a:r>
          </a:p>
          <a:p>
            <a:r>
              <a:rPr lang="it-IT" sz="2800" dirty="0">
                <a:solidFill>
                  <a:schemeClr val="accent5"/>
                </a:solidFill>
                <a:effectLst/>
                <a:latin typeface="Times New Roman" panose="02020603050405020304" pitchFamily="18" charset="0"/>
                <a:ea typeface="Times New Roman" panose="02020603050405020304" pitchFamily="18" charset="0"/>
              </a:rPr>
              <a:t>float f = 3.14;	//Errore (doubl</a:t>
            </a:r>
            <a:r>
              <a:rPr lang="it-IT" sz="2800" dirty="0">
                <a:solidFill>
                  <a:schemeClr val="accent5"/>
                </a:solidFill>
                <a:latin typeface="Times New Roman" panose="02020603050405020304" pitchFamily="18" charset="0"/>
                <a:ea typeface="Times New Roman" panose="02020603050405020304" pitchFamily="18" charset="0"/>
              </a:rPr>
              <a:t>e in float)</a:t>
            </a:r>
          </a:p>
          <a:p>
            <a:pPr marL="285750" indent="-285750">
              <a:buFont typeface="Arial" panose="020B0604020202020204" pitchFamily="34" charset="0"/>
              <a:buChar char="•"/>
            </a:pPr>
            <a:r>
              <a:rPr lang="it-IT" sz="2800" dirty="0">
                <a:solidFill>
                  <a:schemeClr val="tx1"/>
                </a:solidFill>
                <a:effectLst/>
                <a:latin typeface="Times New Roman" panose="02020603050405020304" pitchFamily="18" charset="0"/>
                <a:ea typeface="Times New Roman" panose="02020603050405020304" pitchFamily="18" charset="0"/>
              </a:rPr>
              <a:t>Occorre un cas</a:t>
            </a:r>
            <a:r>
              <a:rPr lang="it-IT" sz="2800" dirty="0">
                <a:latin typeface="Times New Roman" panose="02020603050405020304" pitchFamily="18" charset="0"/>
                <a:ea typeface="Times New Roman" panose="02020603050405020304" pitchFamily="18" charset="0"/>
              </a:rPr>
              <a:t>t (sintassi breve con lettere maiuscola o minuscola)</a:t>
            </a:r>
          </a:p>
          <a:p>
            <a:r>
              <a:rPr lang="it-IT" sz="2800" dirty="0">
                <a:solidFill>
                  <a:schemeClr val="accent5"/>
                </a:solidFill>
                <a:effectLst/>
                <a:latin typeface="Times New Roman" panose="02020603050405020304" pitchFamily="18" charset="0"/>
                <a:ea typeface="Times New Roman" panose="02020603050405020304" pitchFamily="18" charset="0"/>
              </a:rPr>
              <a:t>float f = 3.14F;</a:t>
            </a:r>
          </a:p>
          <a:p>
            <a:pPr marL="285750" indent="-285750">
              <a:buFont typeface="Arial" panose="020B0604020202020204" pitchFamily="34" charset="0"/>
              <a:buChar char="•"/>
            </a:pPr>
            <a:r>
              <a:rPr lang="it-IT" sz="2800" dirty="0">
                <a:latin typeface="Times New Roman" panose="02020603050405020304" pitchFamily="18" charset="0"/>
              </a:rPr>
              <a:t>Esiste, per quanto ridondante, anche la forma contratta del cast per i </a:t>
            </a:r>
            <a:r>
              <a:rPr lang="it-IT" sz="2800" i="1" dirty="0">
                <a:latin typeface="Times New Roman" panose="02020603050405020304" pitchFamily="18" charset="0"/>
              </a:rPr>
              <a:t>double</a:t>
            </a:r>
            <a:r>
              <a:rPr lang="it-IT" sz="2800" dirty="0">
                <a:latin typeface="Times New Roman" panose="02020603050405020304" pitchFamily="18" charset="0"/>
              </a:rPr>
              <a:t>:</a:t>
            </a:r>
          </a:p>
          <a:p>
            <a:r>
              <a:rPr lang="it-IT" sz="2800" dirty="0">
                <a:solidFill>
                  <a:schemeClr val="accent5"/>
                </a:solidFill>
                <a:effectLst/>
                <a:latin typeface="Times New Roman" panose="02020603050405020304" pitchFamily="18" charset="0"/>
                <a:ea typeface="Times New Roman" panose="02020603050405020304" pitchFamily="18" charset="0"/>
              </a:rPr>
              <a:t>double d = 10.12E24D;</a:t>
            </a:r>
          </a:p>
          <a:p>
            <a:r>
              <a:rPr lang="it-IT" sz="2800" dirty="0">
                <a:solidFill>
                  <a:schemeClr val="tx1"/>
                </a:solidFill>
                <a:effectLst/>
                <a:latin typeface="Times New Roman" panose="02020603050405020304" pitchFamily="18" charset="0"/>
                <a:ea typeface="Times New Roman" panose="02020603050405020304" pitchFamily="18" charset="0"/>
              </a:rPr>
              <a:t>che è equivalente a scrivere:</a:t>
            </a:r>
          </a:p>
          <a:p>
            <a:r>
              <a:rPr lang="it-IT" sz="2800" dirty="0">
                <a:solidFill>
                  <a:schemeClr val="accent5"/>
                </a:solidFill>
                <a:effectLst/>
                <a:latin typeface="Times New Roman" panose="02020603050405020304" pitchFamily="18" charset="0"/>
                <a:ea typeface="Times New Roman" panose="02020603050405020304" pitchFamily="18" charset="0"/>
              </a:rPr>
              <a:t>double d = 10.12E24;</a:t>
            </a:r>
          </a:p>
          <a:p>
            <a:endParaRPr lang="it-IT" sz="18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25790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36525"/>
            <a:ext cx="9144000" cy="1132176"/>
          </a:xfrm>
        </p:spPr>
        <p:txBody>
          <a:bodyPr>
            <a:noAutofit/>
          </a:bodyPr>
          <a:lstStyle/>
          <a:p>
            <a:r>
              <a:rPr lang="it-IT" sz="3600" dirty="0"/>
              <a:t>Precisione dei numeri floating point (IEEE-754)</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29</a:t>
            </a:fld>
            <a:endParaRPr lang="it-IT"/>
          </a:p>
        </p:txBody>
      </p:sp>
      <p:sp>
        <p:nvSpPr>
          <p:cNvPr id="8" name="CasellaDiTesto 7">
            <a:extLst>
              <a:ext uri="{FF2B5EF4-FFF2-40B4-BE49-F238E27FC236}">
                <a16:creationId xmlns:a16="http://schemas.microsoft.com/office/drawing/2014/main" id="{047CC720-955D-4CEE-9AA9-16A372F747D5}"/>
              </a:ext>
            </a:extLst>
          </p:cNvPr>
          <p:cNvSpPr txBox="1"/>
          <p:nvPr/>
        </p:nvSpPr>
        <p:spPr>
          <a:xfrm>
            <a:off x="36640" y="1343156"/>
            <a:ext cx="9144000" cy="4708981"/>
          </a:xfrm>
          <a:prstGeom prst="rect">
            <a:avLst/>
          </a:prstGeom>
          <a:noFill/>
        </p:spPr>
        <p:txBody>
          <a:bodyPr wrap="square">
            <a:spAutoFit/>
          </a:bodyPr>
          <a:lstStyle/>
          <a:p>
            <a:r>
              <a:rPr lang="it-IT" sz="2500" dirty="0">
                <a:solidFill>
                  <a:schemeClr val="tx1"/>
                </a:solidFill>
                <a:effectLst/>
                <a:latin typeface="Times New Roman" panose="02020603050405020304" pitchFamily="18" charset="0"/>
                <a:ea typeface="Times New Roman" panose="02020603050405020304" pitchFamily="18" charset="0"/>
              </a:rPr>
              <a:t>IEEE-754 usa gli arrotondamenti. In particolare, per i </a:t>
            </a:r>
            <a:r>
              <a:rPr lang="it-IT" sz="2500" i="1" dirty="0">
                <a:solidFill>
                  <a:schemeClr val="tx1"/>
                </a:solidFill>
                <a:effectLst/>
                <a:latin typeface="Times New Roman" panose="02020603050405020304" pitchFamily="18" charset="0"/>
                <a:ea typeface="Times New Roman" panose="02020603050405020304" pitchFamily="18" charset="0"/>
              </a:rPr>
              <a:t>float</a:t>
            </a:r>
            <a:r>
              <a:rPr lang="it-IT" sz="2500" dirty="0">
                <a:solidFill>
                  <a:schemeClr val="tx1"/>
                </a:solidFill>
                <a:effectLst/>
                <a:latin typeface="Times New Roman" panose="02020603050405020304" pitchFamily="18" charset="0"/>
                <a:ea typeface="Times New Roman" panose="02020603050405020304" pitchFamily="18" charset="0"/>
              </a:rPr>
              <a:t> composti da almeno 9 cifre, possono avvenire arrotondamenti imprevisti:</a:t>
            </a:r>
          </a:p>
          <a:p>
            <a:r>
              <a:rPr lang="it-IT" sz="2500" dirty="0">
                <a:solidFill>
                  <a:schemeClr val="accent5"/>
                </a:solidFill>
                <a:effectLst/>
                <a:latin typeface="Times New Roman" panose="02020603050405020304" pitchFamily="18" charset="0"/>
                <a:ea typeface="Times New Roman" panose="02020603050405020304" pitchFamily="18" charset="0"/>
              </a:rPr>
              <a:t>float f = 123456789.0F;</a:t>
            </a:r>
          </a:p>
          <a:p>
            <a:r>
              <a:rPr lang="it-IT" sz="2500" dirty="0">
                <a:solidFill>
                  <a:schemeClr val="accent5"/>
                </a:solidFill>
                <a:effectLst/>
                <a:latin typeface="Times New Roman" panose="02020603050405020304" pitchFamily="18" charset="0"/>
                <a:ea typeface="Times New Roman" panose="02020603050405020304" pitchFamily="18" charset="0"/>
              </a:rPr>
              <a:t>System.out.println(f);</a:t>
            </a:r>
          </a:p>
          <a:p>
            <a:r>
              <a:rPr lang="it-IT" sz="2500" dirty="0">
                <a:latin typeface="Times New Roman" panose="02020603050405020304" pitchFamily="18" charset="0"/>
              </a:rPr>
              <a:t>produrrà l’output:</a:t>
            </a:r>
          </a:p>
          <a:p>
            <a:r>
              <a:rPr lang="it-IT" sz="2500" dirty="0">
                <a:solidFill>
                  <a:srgbClr val="92D050"/>
                </a:solidFill>
                <a:effectLst/>
                <a:latin typeface="Times New Roman" panose="02020603050405020304" pitchFamily="18" charset="0"/>
                <a:ea typeface="Times New Roman" panose="02020603050405020304" pitchFamily="18" charset="0"/>
              </a:rPr>
              <a:t>1.23456792E8	// Notazione scientifica (imprecisa)</a:t>
            </a:r>
          </a:p>
          <a:p>
            <a:r>
              <a:rPr lang="it-IT" sz="2500" dirty="0">
                <a:latin typeface="Times New Roman" panose="02020603050405020304" pitchFamily="18" charset="0"/>
              </a:rPr>
              <a:t>Siccome il valore di </a:t>
            </a:r>
            <a:r>
              <a:rPr lang="it-IT" sz="2500" i="1" dirty="0">
                <a:latin typeface="Times New Roman" panose="02020603050405020304" pitchFamily="18" charset="0"/>
              </a:rPr>
              <a:t>f</a:t>
            </a:r>
            <a:r>
              <a:rPr lang="it-IT" sz="2500" dirty="0">
                <a:latin typeface="Times New Roman" panose="02020603050405020304" pitchFamily="18" charset="0"/>
              </a:rPr>
              <a:t> è 123456789.0 equivale a 123456789, possiamo provare a stamparlo dopo aver fatto un cast ad </a:t>
            </a:r>
            <a:r>
              <a:rPr lang="it-IT" sz="2500" i="1" dirty="0">
                <a:latin typeface="Times New Roman" panose="02020603050405020304" pitchFamily="18" charset="0"/>
              </a:rPr>
              <a:t>int</a:t>
            </a:r>
            <a:r>
              <a:rPr lang="it-IT" sz="2500" dirty="0">
                <a:latin typeface="Times New Roman" panose="02020603050405020304" pitchFamily="18" charset="0"/>
              </a:rPr>
              <a:t>,</a:t>
            </a:r>
          </a:p>
          <a:p>
            <a:r>
              <a:rPr lang="it-IT" sz="2500" dirty="0">
                <a:solidFill>
                  <a:schemeClr val="accent5"/>
                </a:solidFill>
                <a:effectLst/>
                <a:latin typeface="Times New Roman" panose="02020603050405020304" pitchFamily="18" charset="0"/>
                <a:ea typeface="Times New Roman" panose="02020603050405020304" pitchFamily="18" charset="0"/>
              </a:rPr>
              <a:t>System.out.println((int)f);</a:t>
            </a:r>
          </a:p>
          <a:p>
            <a:r>
              <a:rPr lang="it-IT" sz="2500" dirty="0">
                <a:latin typeface="Times New Roman" panose="02020603050405020304" pitchFamily="18" charset="0"/>
              </a:rPr>
              <a:t>L’output sarà:</a:t>
            </a:r>
          </a:p>
          <a:p>
            <a:r>
              <a:rPr lang="it-IT" sz="2500" dirty="0">
                <a:solidFill>
                  <a:srgbClr val="92D050"/>
                </a:solidFill>
                <a:effectLst/>
                <a:latin typeface="Times New Roman" panose="02020603050405020304" pitchFamily="18" charset="0"/>
                <a:ea typeface="Times New Roman" panose="02020603050405020304" pitchFamily="18" charset="0"/>
              </a:rPr>
              <a:t>123456792</a:t>
            </a:r>
          </a:p>
          <a:p>
            <a:r>
              <a:rPr lang="it-IT" sz="2500" dirty="0">
                <a:latin typeface="Times New Roman" panose="02020603050405020304" pitchFamily="18" charset="0"/>
              </a:rPr>
              <a:t>Ed è così evidente che il numero originale è aumentato di tre unità! </a:t>
            </a:r>
          </a:p>
        </p:txBody>
      </p:sp>
    </p:spTree>
    <p:extLst>
      <p:ext uri="{BB962C8B-B14F-4D97-AF65-F5344CB8AC3E}">
        <p14:creationId xmlns:p14="http://schemas.microsoft.com/office/powerpoint/2010/main" val="41761303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7496"/>
            <a:ext cx="9144000" cy="1132176"/>
          </a:xfrm>
        </p:spPr>
        <p:txBody>
          <a:bodyPr>
            <a:noAutofit/>
          </a:bodyPr>
          <a:lstStyle/>
          <a:p>
            <a:r>
              <a:rPr lang="it-IT" sz="3600" dirty="0"/>
              <a:t>Precisione dei numeri floating point (IEEE-754)</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30</a:t>
            </a:fld>
            <a:endParaRPr lang="it-IT"/>
          </a:p>
        </p:txBody>
      </p:sp>
      <p:sp>
        <p:nvSpPr>
          <p:cNvPr id="8" name="CasellaDiTesto 7">
            <a:extLst>
              <a:ext uri="{FF2B5EF4-FFF2-40B4-BE49-F238E27FC236}">
                <a16:creationId xmlns:a16="http://schemas.microsoft.com/office/drawing/2014/main" id="{047CC720-955D-4CEE-9AA9-16A372F747D5}"/>
              </a:ext>
            </a:extLst>
          </p:cNvPr>
          <p:cNvSpPr txBox="1"/>
          <p:nvPr/>
        </p:nvSpPr>
        <p:spPr>
          <a:xfrm>
            <a:off x="36640" y="1052670"/>
            <a:ext cx="9144000" cy="5632311"/>
          </a:xfrm>
          <a:prstGeom prst="rect">
            <a:avLst/>
          </a:prstGeom>
          <a:noFill/>
        </p:spPr>
        <p:txBody>
          <a:bodyPr wrap="square">
            <a:spAutoFit/>
          </a:bodyPr>
          <a:lstStyle/>
          <a:p>
            <a:r>
              <a:rPr lang="it-IT" sz="2400" dirty="0">
                <a:solidFill>
                  <a:schemeClr val="tx1"/>
                </a:solidFill>
                <a:effectLst/>
                <a:latin typeface="Times New Roman" panose="02020603050405020304" pitchFamily="18" charset="0"/>
                <a:ea typeface="Times New Roman" panose="02020603050405020304" pitchFamily="18" charset="0"/>
              </a:rPr>
              <a:t>Per i tipi </a:t>
            </a:r>
            <a:r>
              <a:rPr lang="it-IT" sz="2400" i="1" dirty="0">
                <a:solidFill>
                  <a:schemeClr val="tx1"/>
                </a:solidFill>
                <a:effectLst/>
                <a:latin typeface="Times New Roman" panose="02020603050405020304" pitchFamily="18" charset="0"/>
                <a:ea typeface="Times New Roman" panose="02020603050405020304" pitchFamily="18" charset="0"/>
              </a:rPr>
              <a:t>double</a:t>
            </a:r>
            <a:r>
              <a:rPr lang="it-IT" sz="2400" dirty="0">
                <a:solidFill>
                  <a:schemeClr val="tx1"/>
                </a:solidFill>
                <a:effectLst/>
                <a:latin typeface="Times New Roman" panose="02020603050405020304" pitchFamily="18" charset="0"/>
                <a:ea typeface="Times New Roman" panose="02020603050405020304" pitchFamily="18" charset="0"/>
              </a:rPr>
              <a:t> (precisione raddoppiata), si ha precisione per numeri molto più alti, ma la sostanza non cambia:</a:t>
            </a:r>
          </a:p>
          <a:p>
            <a:r>
              <a:rPr lang="it-IT" sz="2400" dirty="0">
                <a:solidFill>
                  <a:schemeClr val="accent5"/>
                </a:solidFill>
                <a:effectLst/>
                <a:latin typeface="Times New Roman" panose="02020603050405020304" pitchFamily="18" charset="0"/>
                <a:ea typeface="Times New Roman" panose="02020603050405020304" pitchFamily="18" charset="0"/>
              </a:rPr>
              <a:t>long </a:t>
            </a:r>
            <a:r>
              <a:rPr lang="it-IT" sz="2400" dirty="0" err="1">
                <a:solidFill>
                  <a:schemeClr val="accent5"/>
                </a:solidFill>
                <a:effectLst/>
                <a:latin typeface="Times New Roman" panose="02020603050405020304" pitchFamily="18" charset="0"/>
                <a:ea typeface="Times New Roman" panose="02020603050405020304" pitchFamily="18" charset="0"/>
              </a:rPr>
              <a:t>numeroLong</a:t>
            </a:r>
            <a:r>
              <a:rPr lang="it-IT" sz="2400" dirty="0">
                <a:solidFill>
                  <a:schemeClr val="accent5"/>
                </a:solidFill>
                <a:effectLst/>
                <a:latin typeface="Times New Roman" panose="02020603050405020304" pitchFamily="18" charset="0"/>
                <a:ea typeface="Times New Roman" panose="02020603050405020304" pitchFamily="18" charset="0"/>
              </a:rPr>
              <a:t> = 9999999999999991L;</a:t>
            </a:r>
          </a:p>
          <a:p>
            <a:r>
              <a:rPr lang="it-IT" sz="2400" dirty="0">
                <a:solidFill>
                  <a:schemeClr val="accent5"/>
                </a:solidFill>
                <a:effectLst/>
                <a:latin typeface="Times New Roman" panose="02020603050405020304" pitchFamily="18" charset="0"/>
                <a:ea typeface="Times New Roman" panose="02020603050405020304" pitchFamily="18" charset="0"/>
              </a:rPr>
              <a:t>double d = </a:t>
            </a:r>
            <a:r>
              <a:rPr lang="it-IT" sz="2400" dirty="0" err="1">
                <a:solidFill>
                  <a:schemeClr val="accent5"/>
                </a:solidFill>
                <a:effectLst/>
                <a:latin typeface="Times New Roman" panose="02020603050405020304" pitchFamily="18" charset="0"/>
                <a:ea typeface="Times New Roman" panose="02020603050405020304" pitchFamily="18" charset="0"/>
              </a:rPr>
              <a:t>numeroLong</a:t>
            </a:r>
            <a:r>
              <a:rPr lang="it-IT" sz="2400" dirty="0">
                <a:solidFill>
                  <a:schemeClr val="accent5"/>
                </a:solidFill>
                <a:effectLst/>
                <a:latin typeface="Times New Roman" panose="02020603050405020304" pitchFamily="18" charset="0"/>
                <a:ea typeface="Times New Roman" panose="02020603050405020304" pitchFamily="18" charset="0"/>
              </a:rPr>
              <a:t>; </a:t>
            </a:r>
          </a:p>
          <a:p>
            <a:r>
              <a:rPr lang="it-IT" sz="2400" dirty="0">
                <a:solidFill>
                  <a:schemeClr val="accent5"/>
                </a:solidFill>
                <a:effectLst/>
                <a:latin typeface="Times New Roman" panose="02020603050405020304" pitchFamily="18" charset="0"/>
                <a:ea typeface="Times New Roman" panose="02020603050405020304" pitchFamily="18" charset="0"/>
              </a:rPr>
              <a:t>System.out.println(d);</a:t>
            </a:r>
          </a:p>
          <a:p>
            <a:r>
              <a:rPr lang="it-IT" sz="2400" dirty="0">
                <a:solidFill>
                  <a:schemeClr val="accent5"/>
                </a:solidFill>
                <a:effectLst/>
                <a:latin typeface="Times New Roman" panose="02020603050405020304" pitchFamily="18" charset="0"/>
                <a:ea typeface="Times New Roman" panose="02020603050405020304" pitchFamily="18" charset="0"/>
              </a:rPr>
              <a:t>System.out.println(</a:t>
            </a:r>
            <a:r>
              <a:rPr lang="it-IT" sz="2400" dirty="0" err="1">
                <a:solidFill>
                  <a:schemeClr val="accent5"/>
                </a:solidFill>
                <a:effectLst/>
                <a:latin typeface="Times New Roman" panose="02020603050405020304" pitchFamily="18" charset="0"/>
                <a:ea typeface="Times New Roman" panose="02020603050405020304" pitchFamily="18" charset="0"/>
              </a:rPr>
              <a:t>numeroLong</a:t>
            </a:r>
            <a:r>
              <a:rPr lang="it-IT" sz="2400" dirty="0">
                <a:solidFill>
                  <a:schemeClr val="accent5"/>
                </a:solidFill>
                <a:effectLst/>
                <a:latin typeface="Times New Roman" panose="02020603050405020304" pitchFamily="18" charset="0"/>
                <a:ea typeface="Times New Roman" panose="02020603050405020304" pitchFamily="18" charset="0"/>
              </a:rPr>
              <a:t> -(long)d); </a:t>
            </a:r>
          </a:p>
          <a:p>
            <a:r>
              <a:rPr lang="it-IT" sz="2400" dirty="0">
                <a:latin typeface="Times New Roman" panose="02020603050405020304" pitchFamily="18" charset="0"/>
              </a:rPr>
              <a:t>produrrà l’output:</a:t>
            </a:r>
          </a:p>
          <a:p>
            <a:r>
              <a:rPr lang="it-IT" sz="2400" dirty="0">
                <a:solidFill>
                  <a:srgbClr val="92D050"/>
                </a:solidFill>
                <a:effectLst/>
                <a:latin typeface="Times New Roman" panose="02020603050405020304" pitchFamily="18" charset="0"/>
                <a:ea typeface="Times New Roman" panose="02020603050405020304" pitchFamily="18" charset="0"/>
              </a:rPr>
              <a:t>9.999999999999992E15</a:t>
            </a:r>
          </a:p>
          <a:p>
            <a:r>
              <a:rPr lang="it-IT" sz="2400" dirty="0">
                <a:solidFill>
                  <a:srgbClr val="92D050"/>
                </a:solidFill>
                <a:effectLst/>
                <a:latin typeface="Times New Roman" panose="02020603050405020304" pitchFamily="18" charset="0"/>
                <a:ea typeface="Times New Roman" panose="02020603050405020304" pitchFamily="18" charset="0"/>
              </a:rPr>
              <a:t>-1</a:t>
            </a:r>
          </a:p>
          <a:p>
            <a:r>
              <a:rPr lang="it-IT" sz="2400" dirty="0">
                <a:latin typeface="Times New Roman" panose="02020603050405020304" pitchFamily="18" charset="0"/>
              </a:rPr>
              <a:t>Nelle espressioni i risultati sono imprevedibili:</a:t>
            </a:r>
          </a:p>
          <a:p>
            <a:r>
              <a:rPr lang="it-IT" sz="2400" dirty="0">
                <a:solidFill>
                  <a:schemeClr val="accent5"/>
                </a:solidFill>
                <a:effectLst/>
                <a:latin typeface="Times New Roman" panose="02020603050405020304" pitchFamily="18" charset="0"/>
                <a:ea typeface="Times New Roman" panose="02020603050405020304" pitchFamily="18" charset="0"/>
              </a:rPr>
              <a:t>System.out.println((0.1+0.3));</a:t>
            </a:r>
          </a:p>
          <a:p>
            <a:r>
              <a:rPr lang="it-IT" sz="2400" dirty="0">
                <a:solidFill>
                  <a:schemeClr val="accent5"/>
                </a:solidFill>
                <a:effectLst/>
                <a:latin typeface="Times New Roman" panose="02020603050405020304" pitchFamily="18" charset="0"/>
                <a:ea typeface="Times New Roman" panose="02020603050405020304" pitchFamily="18" charset="0"/>
              </a:rPr>
              <a:t>System.out.println((0.1+0.2));</a:t>
            </a:r>
          </a:p>
          <a:p>
            <a:r>
              <a:rPr lang="it-IT" sz="2400" dirty="0">
                <a:latin typeface="Times New Roman" panose="02020603050405020304" pitchFamily="18" charset="0"/>
              </a:rPr>
              <a:t>L’output è sorprendente:</a:t>
            </a:r>
          </a:p>
          <a:p>
            <a:r>
              <a:rPr lang="it-IT" sz="2400" dirty="0">
                <a:solidFill>
                  <a:srgbClr val="92D050"/>
                </a:solidFill>
                <a:effectLst/>
                <a:latin typeface="Times New Roman" panose="02020603050405020304" pitchFamily="18" charset="0"/>
                <a:ea typeface="Times New Roman" panose="02020603050405020304" pitchFamily="18" charset="0"/>
              </a:rPr>
              <a:t>0.4</a:t>
            </a:r>
          </a:p>
          <a:p>
            <a:r>
              <a:rPr lang="it-IT" sz="2400" dirty="0">
                <a:solidFill>
                  <a:srgbClr val="92D050"/>
                </a:solidFill>
                <a:effectLst/>
                <a:latin typeface="Times New Roman" panose="02020603050405020304" pitchFamily="18" charset="0"/>
                <a:ea typeface="Times New Roman" panose="02020603050405020304" pitchFamily="18" charset="0"/>
              </a:rPr>
              <a:t>0.30000000000000004</a:t>
            </a:r>
          </a:p>
        </p:txBody>
      </p:sp>
    </p:spTree>
    <p:extLst>
      <p:ext uri="{BB962C8B-B14F-4D97-AF65-F5344CB8AC3E}">
        <p14:creationId xmlns:p14="http://schemas.microsoft.com/office/powerpoint/2010/main" val="1978649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836640"/>
          </a:xfrm>
        </p:spPr>
        <p:txBody>
          <a:bodyPr>
            <a:normAutofit fontScale="90000"/>
          </a:bodyPr>
          <a:lstStyle/>
          <a:p>
            <a:r>
              <a:rPr lang="it-IT" dirty="0"/>
              <a:t>Underscore in tipi di dati numerici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31</a:t>
            </a:fld>
            <a:endParaRPr lang="it-IT"/>
          </a:p>
        </p:txBody>
      </p:sp>
      <p:sp>
        <p:nvSpPr>
          <p:cNvPr id="9" name="CasellaDiTesto 8">
            <a:extLst>
              <a:ext uri="{FF2B5EF4-FFF2-40B4-BE49-F238E27FC236}">
                <a16:creationId xmlns:a16="http://schemas.microsoft.com/office/drawing/2014/main" id="{0B5AF549-2AF5-4B84-87CB-A5C66B9ED44E}"/>
              </a:ext>
            </a:extLst>
          </p:cNvPr>
          <p:cNvSpPr txBox="1"/>
          <p:nvPr/>
        </p:nvSpPr>
        <p:spPr>
          <a:xfrm>
            <a:off x="-6324" y="780463"/>
            <a:ext cx="9150324" cy="5816977"/>
          </a:xfrm>
          <a:prstGeom prst="rect">
            <a:avLst/>
          </a:prstGeom>
          <a:noFill/>
        </p:spPr>
        <p:txBody>
          <a:bodyPr wrap="square">
            <a:spAutoFit/>
          </a:bodyPr>
          <a:lstStyle/>
          <a:p>
            <a:r>
              <a:rPr lang="it-IT" sz="2400" dirty="0">
                <a:solidFill>
                  <a:schemeClr val="accent5"/>
                </a:solidFill>
              </a:rPr>
              <a:t>int i = 1000000000;</a:t>
            </a:r>
          </a:p>
          <a:p>
            <a:r>
              <a:rPr lang="it-IT" sz="2400" dirty="0">
                <a:solidFill>
                  <a:schemeClr val="accent5"/>
                </a:solidFill>
              </a:rPr>
              <a:t>int n = 0b10100001010001011010000101000101</a:t>
            </a:r>
          </a:p>
          <a:p>
            <a:r>
              <a:rPr lang="it-IT" sz="2800" dirty="0">
                <a:latin typeface="Times New Roman" panose="02020603050405020304" pitchFamily="18" charset="0"/>
              </a:rPr>
              <a:t>possono essere riportati come segue:</a:t>
            </a:r>
          </a:p>
          <a:p>
            <a:r>
              <a:rPr lang="it-IT" sz="2400" dirty="0">
                <a:solidFill>
                  <a:schemeClr val="accent5"/>
                </a:solidFill>
              </a:rPr>
              <a:t>int i = 1_000_000_000;</a:t>
            </a:r>
          </a:p>
          <a:p>
            <a:r>
              <a:rPr lang="it-IT" sz="2400" dirty="0">
                <a:solidFill>
                  <a:schemeClr val="accent5"/>
                </a:solidFill>
              </a:rPr>
              <a:t>int n = 0b10100001_01000101_10100001_01000101</a:t>
            </a:r>
          </a:p>
          <a:p>
            <a:r>
              <a:rPr lang="it-IT" sz="2800" dirty="0">
                <a:latin typeface="Times New Roman" panose="02020603050405020304" pitchFamily="18" charset="0"/>
              </a:rPr>
              <a:t>Quando si vogliono utilizzare gli underscore all’interno dei numeri bisogna sapere che non è possibile usarli:</a:t>
            </a:r>
          </a:p>
          <a:p>
            <a:pPr marL="457200" indent="-457200">
              <a:buFont typeface="Arial" panose="020B0604020202020204" pitchFamily="34" charset="0"/>
              <a:buChar char="•"/>
            </a:pPr>
            <a:r>
              <a:rPr lang="it-IT" sz="2800" dirty="0">
                <a:latin typeface="Times New Roman" panose="02020603050405020304" pitchFamily="18" charset="0"/>
              </a:rPr>
              <a:t>all’inizio o alla fine di un numero;</a:t>
            </a:r>
          </a:p>
          <a:p>
            <a:pPr marL="457200" indent="-457200">
              <a:buFont typeface="Arial" panose="020B0604020202020204" pitchFamily="34" charset="0"/>
              <a:buChar char="•"/>
            </a:pPr>
            <a:r>
              <a:rPr lang="it-IT" sz="2800" dirty="0">
                <a:latin typeface="Times New Roman" panose="02020603050405020304" pitchFamily="18" charset="0"/>
              </a:rPr>
              <a:t>adiacenti ad un punto decimale per i tipi di dati a virgola mobile;</a:t>
            </a:r>
          </a:p>
          <a:p>
            <a:pPr marL="457200" indent="-457200">
              <a:buFont typeface="Arial" panose="020B0604020202020204" pitchFamily="34" charset="0"/>
              <a:buChar char="•"/>
            </a:pPr>
            <a:r>
              <a:rPr lang="it-IT" sz="2800" dirty="0">
                <a:latin typeface="Times New Roman" panose="02020603050405020304" pitchFamily="18" charset="0"/>
              </a:rPr>
              <a:t>prima dei suffissi F, D o L (sia maiuscole che minuscole) che vengono usati per i cast a float, double e long;</a:t>
            </a:r>
          </a:p>
          <a:p>
            <a:pPr marL="457200" indent="-457200">
              <a:buFont typeface="Arial" panose="020B0604020202020204" pitchFamily="34" charset="0"/>
              <a:buChar char="•"/>
            </a:pPr>
            <a:r>
              <a:rPr lang="it-IT" sz="2800" dirty="0">
                <a:latin typeface="Times New Roman" panose="02020603050405020304" pitchFamily="18" charset="0"/>
              </a:rPr>
              <a:t>nelle posizioni dove ci si aspetta una stringa di caratteri.</a:t>
            </a:r>
          </a:p>
          <a:p>
            <a:endParaRPr lang="it-IT" sz="2400" dirty="0">
              <a:solidFill>
                <a:schemeClr val="accent5"/>
              </a:solidFill>
            </a:endParaRPr>
          </a:p>
        </p:txBody>
      </p:sp>
    </p:spTree>
    <p:extLst>
      <p:ext uri="{BB962C8B-B14F-4D97-AF65-F5344CB8AC3E}">
        <p14:creationId xmlns:p14="http://schemas.microsoft.com/office/powerpoint/2010/main" val="3586185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692619"/>
          </a:xfrm>
        </p:spPr>
        <p:txBody>
          <a:bodyPr>
            <a:normAutofit fontScale="90000"/>
          </a:bodyPr>
          <a:lstStyle/>
          <a:p>
            <a:r>
              <a:rPr lang="it-IT" dirty="0"/>
              <a:t>Underscore in tipi di dati numerici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32</a:t>
            </a:fld>
            <a:endParaRPr lang="it-IT"/>
          </a:p>
        </p:txBody>
      </p:sp>
      <p:sp>
        <p:nvSpPr>
          <p:cNvPr id="9" name="CasellaDiTesto 8">
            <a:extLst>
              <a:ext uri="{FF2B5EF4-FFF2-40B4-BE49-F238E27FC236}">
                <a16:creationId xmlns:a16="http://schemas.microsoft.com/office/drawing/2014/main" id="{0B5AF549-2AF5-4B84-87CB-A5C66B9ED44E}"/>
              </a:ext>
            </a:extLst>
          </p:cNvPr>
          <p:cNvSpPr txBox="1"/>
          <p:nvPr/>
        </p:nvSpPr>
        <p:spPr>
          <a:xfrm>
            <a:off x="-6324" y="548600"/>
            <a:ext cx="9150324" cy="6001643"/>
          </a:xfrm>
          <a:prstGeom prst="rect">
            <a:avLst/>
          </a:prstGeom>
          <a:noFill/>
        </p:spPr>
        <p:txBody>
          <a:bodyPr wrap="square">
            <a:spAutoFit/>
          </a:bodyPr>
          <a:lstStyle/>
          <a:p>
            <a:r>
              <a:rPr lang="it-IT" sz="2400" dirty="0">
                <a:solidFill>
                  <a:schemeClr val="accent5"/>
                </a:solidFill>
              </a:rPr>
              <a:t>float </a:t>
            </a:r>
            <a:r>
              <a:rPr lang="it-IT" sz="2400" dirty="0" err="1">
                <a:solidFill>
                  <a:schemeClr val="accent5"/>
                </a:solidFill>
              </a:rPr>
              <a:t>piGreco</a:t>
            </a:r>
            <a:r>
              <a:rPr lang="it-IT" sz="2400" dirty="0">
                <a:solidFill>
                  <a:schemeClr val="accent5"/>
                </a:solidFill>
              </a:rPr>
              <a:t> = 3.14_15F;</a:t>
            </a:r>
          </a:p>
          <a:p>
            <a:r>
              <a:rPr lang="it-IT" sz="2400" dirty="0">
                <a:solidFill>
                  <a:schemeClr val="accent5"/>
                </a:solidFill>
              </a:rPr>
              <a:t>long </a:t>
            </a:r>
            <a:r>
              <a:rPr lang="it-IT" sz="2400" dirty="0" err="1">
                <a:solidFill>
                  <a:schemeClr val="accent5"/>
                </a:solidFill>
              </a:rPr>
              <a:t>bytesEsadecimali</a:t>
            </a:r>
            <a:r>
              <a:rPr lang="it-IT" sz="2400" dirty="0">
                <a:solidFill>
                  <a:schemeClr val="accent5"/>
                </a:solidFill>
              </a:rPr>
              <a:t> = 0xFF_EC_DE_5E;</a:t>
            </a:r>
          </a:p>
          <a:p>
            <a:r>
              <a:rPr lang="it-IT" sz="2400" dirty="0">
                <a:solidFill>
                  <a:schemeClr val="accent5"/>
                </a:solidFill>
              </a:rPr>
              <a:t>long </a:t>
            </a:r>
            <a:r>
              <a:rPr lang="it-IT" sz="2400" dirty="0" err="1">
                <a:solidFill>
                  <a:schemeClr val="accent5"/>
                </a:solidFill>
              </a:rPr>
              <a:t>maxLong</a:t>
            </a:r>
            <a:r>
              <a:rPr lang="it-IT" sz="2400" dirty="0">
                <a:solidFill>
                  <a:schemeClr val="accent5"/>
                </a:solidFill>
              </a:rPr>
              <a:t> = 0x7fff_ffff_ffff_ffffL;</a:t>
            </a:r>
          </a:p>
          <a:p>
            <a:r>
              <a:rPr lang="it-IT" sz="2400" dirty="0">
                <a:solidFill>
                  <a:schemeClr val="accent5"/>
                </a:solidFill>
              </a:rPr>
              <a:t>long bytes = 0b11010010_01101001_10010100_10010010;</a:t>
            </a:r>
          </a:p>
          <a:p>
            <a:r>
              <a:rPr lang="it-IT" sz="2400" dirty="0">
                <a:solidFill>
                  <a:schemeClr val="accent5"/>
                </a:solidFill>
              </a:rPr>
              <a:t>float pi1 = 3_.1415F;      // Violata regola 2</a:t>
            </a:r>
          </a:p>
          <a:p>
            <a:r>
              <a:rPr lang="it-IT" sz="2400" dirty="0">
                <a:solidFill>
                  <a:schemeClr val="accent5"/>
                </a:solidFill>
              </a:rPr>
              <a:t>float pi2 = 3._1415F;      // Violata regola 2</a:t>
            </a:r>
          </a:p>
          <a:p>
            <a:r>
              <a:rPr lang="it-IT" sz="2400" dirty="0">
                <a:solidFill>
                  <a:schemeClr val="accent5"/>
                </a:solidFill>
              </a:rPr>
              <a:t>long </a:t>
            </a:r>
            <a:r>
              <a:rPr lang="it-IT" sz="2400" dirty="0" err="1">
                <a:solidFill>
                  <a:schemeClr val="accent5"/>
                </a:solidFill>
              </a:rPr>
              <a:t>socialSecurityNumber</a:t>
            </a:r>
            <a:r>
              <a:rPr lang="it-IT" sz="2400" dirty="0">
                <a:solidFill>
                  <a:schemeClr val="accent5"/>
                </a:solidFill>
              </a:rPr>
              <a:t>  = 999_99_9999_L;	// Violata regola 3</a:t>
            </a:r>
          </a:p>
          <a:p>
            <a:r>
              <a:rPr lang="it-IT" sz="2400" dirty="0">
                <a:solidFill>
                  <a:schemeClr val="accent5"/>
                </a:solidFill>
              </a:rPr>
              <a:t>int x1 = _52;              	// Violata regola 1</a:t>
            </a:r>
          </a:p>
          <a:p>
            <a:r>
              <a:rPr lang="it-IT" sz="2400" dirty="0">
                <a:solidFill>
                  <a:schemeClr val="accent5"/>
                </a:solidFill>
              </a:rPr>
              <a:t>int x2 = 5_2;              </a:t>
            </a:r>
          </a:p>
          <a:p>
            <a:r>
              <a:rPr lang="it-IT" sz="2400" dirty="0">
                <a:solidFill>
                  <a:schemeClr val="accent5"/>
                </a:solidFill>
              </a:rPr>
              <a:t>int x3 = 52_;              	// Violata regola 1</a:t>
            </a:r>
          </a:p>
          <a:p>
            <a:r>
              <a:rPr lang="it-IT" sz="2400" dirty="0">
                <a:solidFill>
                  <a:schemeClr val="accent5"/>
                </a:solidFill>
              </a:rPr>
              <a:t>int x4 = 5_______2;        </a:t>
            </a:r>
          </a:p>
          <a:p>
            <a:r>
              <a:rPr lang="it-IT" sz="2400" dirty="0">
                <a:solidFill>
                  <a:schemeClr val="accent5"/>
                </a:solidFill>
              </a:rPr>
              <a:t>int x5 = 0_x52;            	// Violata regola 4</a:t>
            </a:r>
          </a:p>
          <a:p>
            <a:r>
              <a:rPr lang="it-IT" sz="2400" dirty="0">
                <a:solidFill>
                  <a:schemeClr val="accent5"/>
                </a:solidFill>
              </a:rPr>
              <a:t>int x6 = 0x_52;            	// Violata regola 1</a:t>
            </a:r>
          </a:p>
          <a:p>
            <a:r>
              <a:rPr lang="it-IT" sz="2400" dirty="0">
                <a:solidFill>
                  <a:schemeClr val="accent5"/>
                </a:solidFill>
              </a:rPr>
              <a:t>int x7 = 0x5_2;            </a:t>
            </a:r>
          </a:p>
          <a:p>
            <a:r>
              <a:rPr lang="it-IT" sz="2400" dirty="0">
                <a:solidFill>
                  <a:schemeClr val="accent5"/>
                </a:solidFill>
              </a:rPr>
              <a:t>int x8 = 0x52_;            	// Violata regola 1</a:t>
            </a:r>
          </a:p>
          <a:p>
            <a:r>
              <a:rPr lang="it-IT" sz="2400" dirty="0">
                <a:solidFill>
                  <a:schemeClr val="accent5"/>
                </a:solidFill>
              </a:rPr>
              <a:t>int x9 = 0_52;             	// OK! Non viola la regola 1 (notazione ottale)</a:t>
            </a:r>
          </a:p>
        </p:txBody>
      </p:sp>
    </p:spTree>
    <p:extLst>
      <p:ext uri="{BB962C8B-B14F-4D97-AF65-F5344CB8AC3E}">
        <p14:creationId xmlns:p14="http://schemas.microsoft.com/office/powerpoint/2010/main" val="3898568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88040"/>
            <a:ext cx="7886700" cy="836640"/>
          </a:xfrm>
        </p:spPr>
        <p:txBody>
          <a:bodyPr>
            <a:normAutofit/>
          </a:bodyPr>
          <a:lstStyle/>
          <a:p>
            <a:r>
              <a:rPr lang="it-IT" dirty="0"/>
              <a:t>Tipo di dato logico - booleano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33</a:t>
            </a:fld>
            <a:endParaRPr lang="it-IT"/>
          </a:p>
        </p:txBody>
      </p:sp>
      <p:sp>
        <p:nvSpPr>
          <p:cNvPr id="10" name="CasellaDiTesto 9">
            <a:extLst>
              <a:ext uri="{FF2B5EF4-FFF2-40B4-BE49-F238E27FC236}">
                <a16:creationId xmlns:a16="http://schemas.microsoft.com/office/drawing/2014/main" id="{B8112546-42EB-4A8B-B365-687B14B9FB6F}"/>
              </a:ext>
            </a:extLst>
          </p:cNvPr>
          <p:cNvSpPr txBox="1"/>
          <p:nvPr/>
        </p:nvSpPr>
        <p:spPr>
          <a:xfrm>
            <a:off x="0" y="1305342"/>
            <a:ext cx="9144000" cy="4524315"/>
          </a:xfrm>
          <a:prstGeom prst="rect">
            <a:avLst/>
          </a:prstGeom>
          <a:noFill/>
        </p:spPr>
        <p:txBody>
          <a:bodyPr wrap="square">
            <a:spAutoFit/>
          </a:bodyPr>
          <a:lstStyle/>
          <a:p>
            <a:r>
              <a:rPr lang="it-IT" sz="3200" dirty="0"/>
              <a:t>Il tipo di dato boolean utilizza può immagazzinare solo due valori: </a:t>
            </a:r>
            <a:r>
              <a:rPr lang="it-IT" sz="3200" i="1" dirty="0"/>
              <a:t>true</a:t>
            </a:r>
            <a:r>
              <a:rPr lang="it-IT" sz="3200" dirty="0"/>
              <a:t> e </a:t>
            </a:r>
            <a:r>
              <a:rPr lang="it-IT" sz="3200" i="1" dirty="0"/>
              <a:t>false</a:t>
            </a:r>
            <a:r>
              <a:rPr lang="it-IT" sz="3200" dirty="0"/>
              <a:t>:</a:t>
            </a:r>
          </a:p>
          <a:p>
            <a:r>
              <a:rPr lang="it-IT" sz="3200" dirty="0">
                <a:solidFill>
                  <a:schemeClr val="accent5"/>
                </a:solidFill>
              </a:rPr>
              <a:t>boolean b = true;</a:t>
            </a:r>
          </a:p>
          <a:p>
            <a:r>
              <a:rPr lang="it-IT" sz="3200" dirty="0"/>
              <a:t>Per memorizzare due soli valori può essere sufficiente usare solo un bit, ma le specifiche Java affermano che la JVM non è obbligata ad usare un solo bit, e che quindi non si può essere certi di quanti bit verranno utilizzati, e che gli sviluppatori non devono preoccuparsene. </a:t>
            </a:r>
          </a:p>
        </p:txBody>
      </p:sp>
    </p:spTree>
    <p:extLst>
      <p:ext uri="{BB962C8B-B14F-4D97-AF65-F5344CB8AC3E}">
        <p14:creationId xmlns:p14="http://schemas.microsoft.com/office/powerpoint/2010/main" val="1393660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88040"/>
            <a:ext cx="7886700" cy="836640"/>
          </a:xfrm>
        </p:spPr>
        <p:txBody>
          <a:bodyPr>
            <a:normAutofit/>
          </a:bodyPr>
          <a:lstStyle/>
          <a:p>
            <a:r>
              <a:rPr lang="it-IT" dirty="0"/>
              <a:t>Tipo di dato primitivo letterale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34</a:t>
            </a:fld>
            <a:endParaRPr lang="it-IT"/>
          </a:p>
        </p:txBody>
      </p:sp>
      <p:sp>
        <p:nvSpPr>
          <p:cNvPr id="10" name="CasellaDiTesto 9">
            <a:extLst>
              <a:ext uri="{FF2B5EF4-FFF2-40B4-BE49-F238E27FC236}">
                <a16:creationId xmlns:a16="http://schemas.microsoft.com/office/drawing/2014/main" id="{B8112546-42EB-4A8B-B365-687B14B9FB6F}"/>
              </a:ext>
            </a:extLst>
          </p:cNvPr>
          <p:cNvSpPr txBox="1"/>
          <p:nvPr/>
        </p:nvSpPr>
        <p:spPr>
          <a:xfrm>
            <a:off x="0" y="1477308"/>
            <a:ext cx="9144000" cy="4832092"/>
          </a:xfrm>
          <a:prstGeom prst="rect">
            <a:avLst/>
          </a:prstGeom>
          <a:noFill/>
        </p:spPr>
        <p:txBody>
          <a:bodyPr wrap="square">
            <a:spAutoFit/>
          </a:bodyPr>
          <a:lstStyle/>
          <a:p>
            <a:r>
              <a:rPr lang="it-IT" sz="2800" dirty="0"/>
              <a:t>Il tipo </a:t>
            </a:r>
            <a:r>
              <a:rPr lang="it-IT" sz="2800" i="1" dirty="0"/>
              <a:t>char</a:t>
            </a:r>
            <a:r>
              <a:rPr lang="it-IT" sz="2800" dirty="0"/>
              <a:t> permette di immagazzinare caratteri (uno per volta):</a:t>
            </a:r>
          </a:p>
          <a:p>
            <a:r>
              <a:rPr lang="it-IT" sz="2800" dirty="0">
                <a:solidFill>
                  <a:schemeClr val="accent5"/>
                </a:solidFill>
              </a:rPr>
              <a:t>char </a:t>
            </a:r>
            <a:r>
              <a:rPr lang="it-IT" sz="2800" dirty="0" err="1">
                <a:solidFill>
                  <a:schemeClr val="accent5"/>
                </a:solidFill>
              </a:rPr>
              <a:t>primoCarattere</a:t>
            </a:r>
            <a:r>
              <a:rPr lang="it-IT" sz="2800" dirty="0">
                <a:solidFill>
                  <a:schemeClr val="accent5"/>
                </a:solidFill>
              </a:rPr>
              <a:t> = 'a’;</a:t>
            </a:r>
          </a:p>
          <a:p>
            <a:r>
              <a:rPr lang="it-IT" sz="2800" dirty="0"/>
              <a:t>Nella maggior parte dei casi utilizziamo stringhe, che permettono di immagazzinare sequenze di caratteri:</a:t>
            </a:r>
          </a:p>
          <a:p>
            <a:r>
              <a:rPr lang="pt-BR" sz="2800" dirty="0">
                <a:solidFill>
                  <a:schemeClr val="accent5"/>
                </a:solidFill>
              </a:rPr>
              <a:t>String s = "Java melius semper quam latinam linguam est";</a:t>
            </a:r>
          </a:p>
          <a:p>
            <a:r>
              <a:rPr lang="pt-BR" sz="2800" dirty="0"/>
              <a:t>Non confondere le virgolette con gli apici:</a:t>
            </a:r>
          </a:p>
          <a:p>
            <a:r>
              <a:rPr lang="it-IT" sz="2800" dirty="0">
                <a:solidFill>
                  <a:schemeClr val="accent5"/>
                </a:solidFill>
              </a:rPr>
              <a:t>char c = "C";</a:t>
            </a:r>
          </a:p>
          <a:p>
            <a:r>
              <a:rPr lang="it-IT" sz="2800" dirty="0">
                <a:solidFill>
                  <a:schemeClr val="accent5"/>
                </a:solidFill>
              </a:rPr>
              <a:t>String s = '</a:t>
            </a:r>
            <a:r>
              <a:rPr lang="it-IT" sz="2800" dirty="0" err="1">
                <a:solidFill>
                  <a:schemeClr val="accent5"/>
                </a:solidFill>
              </a:rPr>
              <a:t>Meum</a:t>
            </a:r>
            <a:r>
              <a:rPr lang="it-IT" sz="2800" dirty="0">
                <a:solidFill>
                  <a:schemeClr val="accent5"/>
                </a:solidFill>
              </a:rPr>
              <a:t> </a:t>
            </a:r>
            <a:r>
              <a:rPr lang="it-IT" sz="2800" dirty="0" err="1">
                <a:solidFill>
                  <a:schemeClr val="accent5"/>
                </a:solidFill>
              </a:rPr>
              <a:t>filium</a:t>
            </a:r>
            <a:r>
              <a:rPr lang="it-IT" sz="2800" dirty="0">
                <a:solidFill>
                  <a:schemeClr val="accent5"/>
                </a:solidFill>
              </a:rPr>
              <a:t> </a:t>
            </a:r>
            <a:r>
              <a:rPr lang="it-IT" sz="2800" dirty="0" err="1">
                <a:solidFill>
                  <a:schemeClr val="accent5"/>
                </a:solidFill>
              </a:rPr>
              <a:t>maxime</a:t>
            </a:r>
            <a:r>
              <a:rPr lang="it-IT" sz="2800" dirty="0">
                <a:solidFill>
                  <a:schemeClr val="accent5"/>
                </a:solidFill>
              </a:rPr>
              <a:t> amo, sed </a:t>
            </a:r>
            <a:r>
              <a:rPr lang="it-IT" sz="2800" dirty="0" err="1">
                <a:solidFill>
                  <a:schemeClr val="accent5"/>
                </a:solidFill>
              </a:rPr>
              <a:t>ille</a:t>
            </a:r>
            <a:r>
              <a:rPr lang="it-IT" sz="2800" dirty="0">
                <a:solidFill>
                  <a:schemeClr val="accent5"/>
                </a:solidFill>
              </a:rPr>
              <a:t> me </a:t>
            </a:r>
            <a:r>
              <a:rPr lang="it-IT" sz="2800" dirty="0" err="1">
                <a:solidFill>
                  <a:schemeClr val="accent5"/>
                </a:solidFill>
              </a:rPr>
              <a:t>latinam</a:t>
            </a:r>
            <a:r>
              <a:rPr lang="it-IT" sz="2800" dirty="0">
                <a:solidFill>
                  <a:schemeClr val="accent5"/>
                </a:solidFill>
              </a:rPr>
              <a:t> </a:t>
            </a:r>
            <a:r>
              <a:rPr lang="it-IT" sz="2800" dirty="0" err="1">
                <a:solidFill>
                  <a:schemeClr val="accent5"/>
                </a:solidFill>
              </a:rPr>
              <a:t>linguam</a:t>
            </a:r>
            <a:r>
              <a:rPr lang="it-IT" sz="2800" dirty="0">
                <a:solidFill>
                  <a:schemeClr val="accent5"/>
                </a:solidFill>
              </a:rPr>
              <a:t> </a:t>
            </a:r>
            <a:r>
              <a:rPr lang="it-IT" sz="2800" dirty="0" err="1">
                <a:solidFill>
                  <a:schemeClr val="accent5"/>
                </a:solidFill>
              </a:rPr>
              <a:t>studere</a:t>
            </a:r>
            <a:r>
              <a:rPr lang="it-IT" sz="2800" dirty="0">
                <a:solidFill>
                  <a:schemeClr val="accent5"/>
                </a:solidFill>
              </a:rPr>
              <a:t> </a:t>
            </a:r>
            <a:r>
              <a:rPr lang="it-IT" sz="2800" dirty="0" err="1">
                <a:solidFill>
                  <a:schemeClr val="accent5"/>
                </a:solidFill>
              </a:rPr>
              <a:t>compellit</a:t>
            </a:r>
            <a:r>
              <a:rPr lang="it-IT" sz="2800" dirty="0">
                <a:solidFill>
                  <a:schemeClr val="accent5"/>
                </a:solidFill>
              </a:rPr>
              <a:t>';</a:t>
            </a:r>
          </a:p>
          <a:p>
            <a:endParaRPr lang="it-IT" sz="2800" dirty="0"/>
          </a:p>
        </p:txBody>
      </p:sp>
    </p:spTree>
    <p:extLst>
      <p:ext uri="{BB962C8B-B14F-4D97-AF65-F5344CB8AC3E}">
        <p14:creationId xmlns:p14="http://schemas.microsoft.com/office/powerpoint/2010/main" val="1310273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88040"/>
            <a:ext cx="7886700" cy="836640"/>
          </a:xfrm>
        </p:spPr>
        <p:txBody>
          <a:bodyPr>
            <a:normAutofit/>
          </a:bodyPr>
          <a:lstStyle/>
          <a:p>
            <a:r>
              <a:rPr lang="it-IT" dirty="0"/>
              <a:t>Tipo di dato primitivo letterale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35</a:t>
            </a:fld>
            <a:endParaRPr lang="it-IT"/>
          </a:p>
        </p:txBody>
      </p:sp>
      <p:sp>
        <p:nvSpPr>
          <p:cNvPr id="10" name="CasellaDiTesto 9">
            <a:extLst>
              <a:ext uri="{FF2B5EF4-FFF2-40B4-BE49-F238E27FC236}">
                <a16:creationId xmlns:a16="http://schemas.microsoft.com/office/drawing/2014/main" id="{B8112546-42EB-4A8B-B365-687B14B9FB6F}"/>
              </a:ext>
            </a:extLst>
          </p:cNvPr>
          <p:cNvSpPr txBox="1"/>
          <p:nvPr/>
        </p:nvSpPr>
        <p:spPr>
          <a:xfrm>
            <a:off x="0" y="1477308"/>
            <a:ext cx="9144000" cy="4401205"/>
          </a:xfrm>
          <a:prstGeom prst="rect">
            <a:avLst/>
          </a:prstGeom>
          <a:noFill/>
        </p:spPr>
        <p:txBody>
          <a:bodyPr wrap="square">
            <a:spAutoFit/>
          </a:bodyPr>
          <a:lstStyle/>
          <a:p>
            <a:r>
              <a:rPr lang="it-IT" sz="2800" dirty="0"/>
              <a:t>In realtà ci sono tre modi per assegnare un valore (literal) ad un tipo </a:t>
            </a:r>
            <a:r>
              <a:rPr lang="it-IT" sz="2800" i="1" dirty="0"/>
              <a:t>char</a:t>
            </a:r>
            <a:r>
              <a:rPr lang="it-IT" sz="2800" dirty="0"/>
              <a:t>, e tutti e tre i modi richiedono l’inclusione del valore tra apici singoli: </a:t>
            </a:r>
          </a:p>
          <a:p>
            <a:pPr marL="457200" indent="-457200">
              <a:buFont typeface="Arial" panose="020B0604020202020204" pitchFamily="34" charset="0"/>
              <a:buChar char="•"/>
            </a:pPr>
            <a:r>
              <a:rPr lang="it-IT" sz="2800" dirty="0"/>
              <a:t>Utilizzare un unico carattere presente sulla tastiera (per esempio '&amp;');</a:t>
            </a:r>
          </a:p>
          <a:p>
            <a:pPr marL="457200" indent="-457200">
              <a:buFont typeface="Arial" panose="020B0604020202020204" pitchFamily="34" charset="0"/>
              <a:buChar char="•"/>
            </a:pPr>
            <a:r>
              <a:rPr lang="it-IT" sz="2800" dirty="0"/>
              <a:t>Utilizzare il formato Unicode con notazione esadecimale (per esempio '\u0061', che equivale al numero 97 e che identifica la lettera 'a');</a:t>
            </a:r>
          </a:p>
          <a:p>
            <a:pPr marL="457200" indent="-457200">
              <a:buFont typeface="Arial" panose="020B0604020202020204" pitchFamily="34" charset="0"/>
              <a:buChar char="•"/>
            </a:pPr>
            <a:r>
              <a:rPr lang="it-IT" sz="2800" dirty="0"/>
              <a:t>Utilizzare un carattere di escape (per esempio '\n' che indica il carattere </a:t>
            </a:r>
            <a:r>
              <a:rPr lang="it-IT" sz="2800" i="1" dirty="0"/>
              <a:t>line feed</a:t>
            </a:r>
            <a:r>
              <a:rPr lang="it-IT" sz="2800" dirty="0"/>
              <a:t>, ovvero andare a capo)</a:t>
            </a:r>
          </a:p>
        </p:txBody>
      </p:sp>
    </p:spTree>
    <p:extLst>
      <p:ext uri="{BB962C8B-B14F-4D97-AF65-F5344CB8AC3E}">
        <p14:creationId xmlns:p14="http://schemas.microsoft.com/office/powerpoint/2010/main" val="10676519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Caratteri sulla tastiera stampabili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36</a:t>
            </a:fld>
            <a:endParaRPr lang="it-IT"/>
          </a:p>
        </p:txBody>
      </p:sp>
      <p:sp>
        <p:nvSpPr>
          <p:cNvPr id="8" name="CasellaDiTesto 7">
            <a:extLst>
              <a:ext uri="{FF2B5EF4-FFF2-40B4-BE49-F238E27FC236}">
                <a16:creationId xmlns:a16="http://schemas.microsoft.com/office/drawing/2014/main" id="{3EFDAF56-3EE2-482C-8864-8EC97FC21EB5}"/>
              </a:ext>
            </a:extLst>
          </p:cNvPr>
          <p:cNvSpPr txBox="1"/>
          <p:nvPr/>
        </p:nvSpPr>
        <p:spPr>
          <a:xfrm>
            <a:off x="0" y="965129"/>
            <a:ext cx="9144000" cy="5632311"/>
          </a:xfrm>
          <a:prstGeom prst="rect">
            <a:avLst/>
          </a:prstGeom>
          <a:noFill/>
        </p:spPr>
        <p:txBody>
          <a:bodyPr wrap="square">
            <a:spAutoFit/>
          </a:bodyPr>
          <a:lstStyle/>
          <a:p>
            <a:r>
              <a:rPr lang="it-IT" sz="2400" dirty="0">
                <a:effectLst/>
                <a:latin typeface="Times New Roman" panose="02020603050405020304" pitchFamily="18" charset="0"/>
                <a:ea typeface="Times New Roman" panose="02020603050405020304" pitchFamily="18" charset="0"/>
              </a:rPr>
              <a:t>Possiamo assegnare ad un char un qualsiasi carattere che si trova sulla nostra tastiera, a patto che il sistema operativo supporti il carattere richiesto, e che il carattere sia stampabile (per esempio i tasti di cancellazione, o di Invio, o le freccette etc., non sono stampabili). In qualsiasi caso, dobbiamo comprendere tra apici singoli il valore da assegnare (ovvero il literal assegnabile ad un tipo primitivo char è sempre compreso tra due apici singoli). Ecco qualche esempio:</a:t>
            </a:r>
          </a:p>
          <a:p>
            <a:r>
              <a:rPr lang="it-IT" sz="2400" dirty="0">
                <a:solidFill>
                  <a:schemeClr val="accent5"/>
                </a:solidFill>
                <a:effectLst/>
                <a:latin typeface="Times New Roman" panose="02020603050405020304" pitchFamily="18" charset="0"/>
                <a:ea typeface="Times New Roman" panose="02020603050405020304" pitchFamily="18" charset="0"/>
              </a:rPr>
              <a:t>char </a:t>
            </a:r>
            <a:r>
              <a:rPr lang="it-IT" sz="2400" dirty="0" err="1">
                <a:solidFill>
                  <a:schemeClr val="accent5"/>
                </a:solidFill>
                <a:effectLst/>
                <a:latin typeface="Times New Roman" panose="02020603050405020304" pitchFamily="18" charset="0"/>
                <a:ea typeface="Times New Roman" panose="02020603050405020304" pitchFamily="18" charset="0"/>
              </a:rPr>
              <a:t>aMaiuscolo</a:t>
            </a:r>
            <a:r>
              <a:rPr lang="it-IT" sz="2400" dirty="0">
                <a:solidFill>
                  <a:schemeClr val="accent5"/>
                </a:solidFill>
                <a:effectLst/>
                <a:latin typeface="Times New Roman" panose="02020603050405020304" pitchFamily="18" charset="0"/>
                <a:ea typeface="Times New Roman" panose="02020603050405020304" pitchFamily="18" charset="0"/>
              </a:rPr>
              <a:t> = 'A';</a:t>
            </a:r>
          </a:p>
          <a:p>
            <a:r>
              <a:rPr lang="it-IT" sz="2400" dirty="0">
                <a:solidFill>
                  <a:schemeClr val="accent5"/>
                </a:solidFill>
                <a:effectLst/>
                <a:latin typeface="Times New Roman" panose="02020603050405020304" pitchFamily="18" charset="0"/>
                <a:ea typeface="Times New Roman" panose="02020603050405020304" pitchFamily="18" charset="0"/>
              </a:rPr>
              <a:t>char trattino = '-';</a:t>
            </a:r>
          </a:p>
          <a:p>
            <a:r>
              <a:rPr lang="it-IT" sz="2400" dirty="0">
                <a:solidFill>
                  <a:schemeClr val="accent5"/>
                </a:solidFill>
                <a:effectLst/>
                <a:latin typeface="Times New Roman" panose="02020603050405020304" pitchFamily="18" charset="0"/>
                <a:ea typeface="Times New Roman" panose="02020603050405020304" pitchFamily="18" charset="0"/>
              </a:rPr>
              <a:t>char </a:t>
            </a:r>
            <a:r>
              <a:rPr lang="it-IT" sz="2400" dirty="0" err="1">
                <a:solidFill>
                  <a:schemeClr val="accent5"/>
                </a:solidFill>
                <a:effectLst/>
                <a:latin typeface="Times New Roman" panose="02020603050405020304" pitchFamily="18" charset="0"/>
                <a:ea typeface="Times New Roman" panose="02020603050405020304" pitchFamily="18" charset="0"/>
              </a:rPr>
              <a:t>at</a:t>
            </a:r>
            <a:r>
              <a:rPr lang="it-IT" sz="2400" dirty="0">
                <a:solidFill>
                  <a:schemeClr val="accent5"/>
                </a:solidFill>
                <a:effectLst/>
                <a:latin typeface="Times New Roman" panose="02020603050405020304" pitchFamily="18" charset="0"/>
                <a:ea typeface="Times New Roman" panose="02020603050405020304" pitchFamily="18" charset="0"/>
              </a:rPr>
              <a:t> = '@';</a:t>
            </a:r>
          </a:p>
          <a:p>
            <a:r>
              <a:rPr lang="it-IT" sz="2400" dirty="0">
                <a:effectLst/>
                <a:latin typeface="Times New Roman" panose="02020603050405020304" pitchFamily="18" charset="0"/>
                <a:ea typeface="Times New Roman" panose="02020603050405020304" pitchFamily="18" charset="0"/>
              </a:rPr>
              <a:t>Il tipo di dato char viene memorizzato in 2 byte (16 bit), con un range composto da soli numeri positivi che vanno da 0 a 65535. Tramite la mappatura (o codifica) è definita dallo standard Unicode viene associato ad ogni numero un certo carattere. Quindi possiamo affermare che il tipo </a:t>
            </a:r>
            <a:r>
              <a:rPr lang="it-IT" sz="2400" i="1" dirty="0">
                <a:effectLst/>
                <a:latin typeface="Times New Roman" panose="02020603050405020304" pitchFamily="18" charset="0"/>
                <a:ea typeface="Times New Roman" panose="02020603050405020304" pitchFamily="18" charset="0"/>
              </a:rPr>
              <a:t>char</a:t>
            </a:r>
            <a:r>
              <a:rPr lang="it-IT" sz="2400" dirty="0">
                <a:effectLst/>
                <a:latin typeface="Times New Roman" panose="02020603050405020304" pitchFamily="18" charset="0"/>
                <a:ea typeface="Times New Roman" panose="02020603050405020304" pitchFamily="18" charset="0"/>
              </a:rPr>
              <a:t>, è un tipo numerico.</a:t>
            </a:r>
          </a:p>
        </p:txBody>
      </p:sp>
    </p:spTree>
    <p:extLst>
      <p:ext uri="{BB962C8B-B14F-4D97-AF65-F5344CB8AC3E}">
        <p14:creationId xmlns:p14="http://schemas.microsoft.com/office/powerpoint/2010/main" val="51686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Caratteri sulla tastiera stampabili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37</a:t>
            </a:fld>
            <a:endParaRPr lang="it-IT"/>
          </a:p>
        </p:txBody>
      </p:sp>
      <p:sp>
        <p:nvSpPr>
          <p:cNvPr id="8" name="CasellaDiTesto 7">
            <a:extLst>
              <a:ext uri="{FF2B5EF4-FFF2-40B4-BE49-F238E27FC236}">
                <a16:creationId xmlns:a16="http://schemas.microsoft.com/office/drawing/2014/main" id="{3EFDAF56-3EE2-482C-8864-8EC97FC21EB5}"/>
              </a:ext>
            </a:extLst>
          </p:cNvPr>
          <p:cNvSpPr txBox="1"/>
          <p:nvPr/>
        </p:nvSpPr>
        <p:spPr>
          <a:xfrm>
            <a:off x="0" y="965129"/>
            <a:ext cx="9144000" cy="5816977"/>
          </a:xfrm>
          <a:prstGeom prst="rect">
            <a:avLst/>
          </a:prstGeom>
          <a:noFill/>
        </p:spPr>
        <p:txBody>
          <a:bodyPr wrap="square">
            <a:spAutoFit/>
          </a:bodyPr>
          <a:lstStyle/>
          <a:p>
            <a:r>
              <a:rPr lang="it-IT" sz="2400" dirty="0">
                <a:effectLst/>
                <a:latin typeface="Times New Roman" panose="02020603050405020304" pitchFamily="18" charset="0"/>
                <a:ea typeface="Times New Roman" panose="02020603050405020304" pitchFamily="18" charset="0"/>
              </a:rPr>
              <a:t>È possibile utilizzare caratteri in espressioni aritmetiche. Infatti, ogni carattere viene decodificato tramite Unicode a partire da un intero:</a:t>
            </a:r>
          </a:p>
          <a:p>
            <a:r>
              <a:rPr lang="it-IT" sz="2400" dirty="0">
                <a:solidFill>
                  <a:schemeClr val="accent5"/>
                </a:solidFill>
                <a:effectLst/>
                <a:latin typeface="Times New Roman" panose="02020603050405020304" pitchFamily="18" charset="0"/>
                <a:ea typeface="Times New Roman" panose="02020603050405020304" pitchFamily="18" charset="0"/>
              </a:rPr>
              <a:t>int i = 1;</a:t>
            </a:r>
          </a:p>
          <a:p>
            <a:r>
              <a:rPr lang="it-IT" sz="2400" dirty="0">
                <a:solidFill>
                  <a:schemeClr val="accent5"/>
                </a:solidFill>
                <a:effectLst/>
                <a:latin typeface="Times New Roman" panose="02020603050405020304" pitchFamily="18" charset="0"/>
                <a:ea typeface="Times New Roman" panose="02020603050405020304" pitchFamily="18" charset="0"/>
              </a:rPr>
              <a:t>char a = 'A';</a:t>
            </a:r>
          </a:p>
          <a:p>
            <a:r>
              <a:rPr lang="it-IT" sz="2400" dirty="0">
                <a:solidFill>
                  <a:schemeClr val="accent5"/>
                </a:solidFill>
                <a:effectLst/>
                <a:latin typeface="Times New Roman" panose="02020603050405020304" pitchFamily="18" charset="0"/>
                <a:ea typeface="Times New Roman" panose="02020603050405020304" pitchFamily="18" charset="0"/>
              </a:rPr>
              <a:t>char b = (char)(</a:t>
            </a:r>
            <a:r>
              <a:rPr lang="it-IT" sz="2400" dirty="0" err="1">
                <a:solidFill>
                  <a:schemeClr val="accent5"/>
                </a:solidFill>
                <a:effectLst/>
                <a:latin typeface="Times New Roman" panose="02020603050405020304" pitchFamily="18" charset="0"/>
                <a:ea typeface="Times New Roman" panose="02020603050405020304" pitchFamily="18" charset="0"/>
              </a:rPr>
              <a:t>a+i</a:t>
            </a:r>
            <a:r>
              <a:rPr lang="it-IT" sz="2400" dirty="0">
                <a:solidFill>
                  <a:schemeClr val="accent5"/>
                </a:solidFill>
                <a:effectLst/>
                <a:latin typeface="Times New Roman" panose="02020603050405020304" pitchFamily="18" charset="0"/>
                <a:ea typeface="Times New Roman" panose="02020603050405020304" pitchFamily="18" charset="0"/>
              </a:rPr>
              <a:t>); // c ha valore 'B'!</a:t>
            </a:r>
          </a:p>
          <a:p>
            <a:r>
              <a:rPr lang="it-IT" sz="2400" dirty="0">
                <a:effectLst/>
                <a:latin typeface="Times New Roman" panose="02020603050405020304" pitchFamily="18" charset="0"/>
                <a:ea typeface="Times New Roman" panose="02020603050405020304" pitchFamily="18" charset="0"/>
              </a:rPr>
              <a:t>notare che se non avessimo utilizzato il cast:</a:t>
            </a:r>
          </a:p>
          <a:p>
            <a:r>
              <a:rPr lang="it-IT" sz="2400" dirty="0">
                <a:solidFill>
                  <a:schemeClr val="accent5"/>
                </a:solidFill>
                <a:effectLst/>
                <a:latin typeface="Times New Roman" panose="02020603050405020304" pitchFamily="18" charset="0"/>
                <a:ea typeface="Times New Roman" panose="02020603050405020304" pitchFamily="18" charset="0"/>
              </a:rPr>
              <a:t>char b = </a:t>
            </a:r>
            <a:r>
              <a:rPr lang="it-IT" sz="2400" dirty="0" err="1">
                <a:solidFill>
                  <a:schemeClr val="accent5"/>
                </a:solidFill>
                <a:effectLst/>
                <a:latin typeface="Times New Roman" panose="02020603050405020304" pitchFamily="18" charset="0"/>
                <a:ea typeface="Times New Roman" panose="02020603050405020304" pitchFamily="18" charset="0"/>
              </a:rPr>
              <a:t>a+i</a:t>
            </a:r>
            <a:r>
              <a:rPr lang="it-IT" sz="2400" dirty="0">
                <a:solidFill>
                  <a:schemeClr val="accent5"/>
                </a:solidFill>
                <a:effectLst/>
                <a:latin typeface="Times New Roman" panose="02020603050405020304" pitchFamily="18" charset="0"/>
                <a:ea typeface="Times New Roman" panose="02020603050405020304" pitchFamily="18" charset="0"/>
              </a:rPr>
              <a:t>;</a:t>
            </a:r>
          </a:p>
          <a:p>
            <a:r>
              <a:rPr lang="it-IT" sz="2400" dirty="0">
                <a:effectLst/>
                <a:latin typeface="Times New Roman" panose="02020603050405020304" pitchFamily="18" charset="0"/>
                <a:ea typeface="Times New Roman" panose="02020603050405020304" pitchFamily="18" charset="0"/>
              </a:rPr>
              <a:t>avremmo ottenuto il seguente errore in compilazione:</a:t>
            </a:r>
          </a:p>
          <a:p>
            <a:r>
              <a:rPr lang="it-IT" sz="2400" dirty="0">
                <a:solidFill>
                  <a:schemeClr val="accent3"/>
                </a:solidFill>
                <a:effectLst/>
                <a:latin typeface="Times New Roman" panose="02020603050405020304" pitchFamily="18" charset="0"/>
                <a:ea typeface="Times New Roman" panose="02020603050405020304" pitchFamily="18" charset="0"/>
              </a:rPr>
              <a:t>error: </a:t>
            </a:r>
            <a:r>
              <a:rPr lang="it-IT" sz="2400" dirty="0" err="1">
                <a:solidFill>
                  <a:schemeClr val="accent3"/>
                </a:solidFill>
                <a:effectLst/>
                <a:latin typeface="Times New Roman" panose="02020603050405020304" pitchFamily="18" charset="0"/>
                <a:ea typeface="Times New Roman" panose="02020603050405020304" pitchFamily="18" charset="0"/>
              </a:rPr>
              <a:t>incompatible</a:t>
            </a:r>
            <a:r>
              <a:rPr lang="it-IT" sz="2400" dirty="0">
                <a:solidFill>
                  <a:schemeClr val="accent3"/>
                </a:solidFill>
                <a:effectLst/>
                <a:latin typeface="Times New Roman" panose="02020603050405020304" pitchFamily="18" charset="0"/>
                <a:ea typeface="Times New Roman" panose="02020603050405020304" pitchFamily="18" charset="0"/>
              </a:rPr>
              <a:t> types: </a:t>
            </a:r>
            <a:r>
              <a:rPr lang="it-IT" sz="2400" dirty="0" err="1">
                <a:solidFill>
                  <a:schemeClr val="accent3"/>
                </a:solidFill>
                <a:effectLst/>
                <a:latin typeface="Times New Roman" panose="02020603050405020304" pitchFamily="18" charset="0"/>
                <a:ea typeface="Times New Roman" panose="02020603050405020304" pitchFamily="18" charset="0"/>
              </a:rPr>
              <a:t>possible</a:t>
            </a:r>
            <a:r>
              <a:rPr lang="it-IT" sz="2400" dirty="0">
                <a:solidFill>
                  <a:schemeClr val="accent3"/>
                </a:solidFill>
                <a:effectLst/>
                <a:latin typeface="Times New Roman" panose="02020603050405020304" pitchFamily="18" charset="0"/>
                <a:ea typeface="Times New Roman" panose="02020603050405020304" pitchFamily="18" charset="0"/>
              </a:rPr>
              <a:t> lossy </a:t>
            </a:r>
            <a:r>
              <a:rPr lang="it-IT" sz="2400" dirty="0" err="1">
                <a:solidFill>
                  <a:schemeClr val="accent3"/>
                </a:solidFill>
                <a:effectLst/>
                <a:latin typeface="Times New Roman" panose="02020603050405020304" pitchFamily="18" charset="0"/>
                <a:ea typeface="Times New Roman" panose="02020603050405020304" pitchFamily="18" charset="0"/>
              </a:rPr>
              <a:t>conversion</a:t>
            </a:r>
            <a:r>
              <a:rPr lang="it-IT" sz="2400" dirty="0">
                <a:solidFill>
                  <a:schemeClr val="accent3"/>
                </a:solidFill>
                <a:effectLst/>
                <a:latin typeface="Times New Roman" panose="02020603050405020304" pitchFamily="18" charset="0"/>
                <a:ea typeface="Times New Roman" panose="02020603050405020304" pitchFamily="18" charset="0"/>
              </a:rPr>
              <a:t> from int to char</a:t>
            </a:r>
          </a:p>
          <a:p>
            <a:r>
              <a:rPr lang="it-IT" sz="2400" dirty="0">
                <a:solidFill>
                  <a:schemeClr val="accent3"/>
                </a:solidFill>
                <a:effectLst/>
                <a:latin typeface="Times New Roman" panose="02020603050405020304" pitchFamily="18" charset="0"/>
                <a:ea typeface="Times New Roman" panose="02020603050405020304" pitchFamily="18" charset="0"/>
              </a:rPr>
              <a:t>        char b = </a:t>
            </a:r>
            <a:r>
              <a:rPr lang="it-IT" sz="2400" dirty="0" err="1">
                <a:solidFill>
                  <a:schemeClr val="accent3"/>
                </a:solidFill>
                <a:effectLst/>
                <a:latin typeface="Times New Roman" panose="02020603050405020304" pitchFamily="18" charset="0"/>
                <a:ea typeface="Times New Roman" panose="02020603050405020304" pitchFamily="18" charset="0"/>
              </a:rPr>
              <a:t>a+i</a:t>
            </a:r>
            <a:r>
              <a:rPr lang="it-IT" sz="2400" dirty="0">
                <a:solidFill>
                  <a:schemeClr val="accent3"/>
                </a:solidFill>
                <a:effectLst/>
                <a:latin typeface="Times New Roman" panose="02020603050405020304" pitchFamily="18" charset="0"/>
                <a:ea typeface="Times New Roman" panose="02020603050405020304" pitchFamily="18" charset="0"/>
              </a:rPr>
              <a:t>;</a:t>
            </a:r>
          </a:p>
          <a:p>
            <a:r>
              <a:rPr lang="it-IT" sz="2400" dirty="0">
                <a:solidFill>
                  <a:schemeClr val="accent3"/>
                </a:solidFill>
                <a:effectLst/>
                <a:latin typeface="Times New Roman" panose="02020603050405020304" pitchFamily="18" charset="0"/>
                <a:ea typeface="Times New Roman" panose="02020603050405020304" pitchFamily="18" charset="0"/>
              </a:rPr>
              <a:t>                  ^</a:t>
            </a:r>
          </a:p>
          <a:p>
            <a:r>
              <a:rPr lang="it-IT" sz="2400" dirty="0">
                <a:solidFill>
                  <a:schemeClr val="accent3"/>
                </a:solidFill>
                <a:effectLst/>
                <a:latin typeface="Times New Roman" panose="02020603050405020304" pitchFamily="18" charset="0"/>
                <a:ea typeface="Times New Roman" panose="02020603050405020304" pitchFamily="18" charset="0"/>
              </a:rPr>
              <a:t>1 error</a:t>
            </a:r>
          </a:p>
          <a:p>
            <a:r>
              <a:rPr lang="it-IT" sz="2400" dirty="0">
                <a:latin typeface="Times New Roman" panose="02020603050405020304" pitchFamily="18" charset="0"/>
              </a:rPr>
              <a:t>Invece:</a:t>
            </a:r>
          </a:p>
          <a:p>
            <a:r>
              <a:rPr lang="it-IT" sz="2400" dirty="0">
                <a:solidFill>
                  <a:schemeClr val="accent5"/>
                </a:solidFill>
                <a:effectLst/>
                <a:latin typeface="Times New Roman" panose="02020603050405020304" pitchFamily="18" charset="0"/>
                <a:ea typeface="Times New Roman" panose="02020603050405020304" pitchFamily="18" charset="0"/>
              </a:rPr>
              <a:t>int ii = </a:t>
            </a:r>
            <a:r>
              <a:rPr lang="it-IT" sz="2400" dirty="0" err="1">
                <a:solidFill>
                  <a:schemeClr val="accent5"/>
                </a:solidFill>
                <a:effectLst/>
                <a:latin typeface="Times New Roman" panose="02020603050405020304" pitchFamily="18" charset="0"/>
                <a:ea typeface="Times New Roman" panose="02020603050405020304" pitchFamily="18" charset="0"/>
              </a:rPr>
              <a:t>a+i</a:t>
            </a:r>
            <a:r>
              <a:rPr lang="it-IT" sz="2400" dirty="0">
                <a:solidFill>
                  <a:schemeClr val="accent5"/>
                </a:solidFill>
                <a:effectLst/>
                <a:latin typeface="Times New Roman" panose="02020603050405020304" pitchFamily="18" charset="0"/>
                <a:ea typeface="Times New Roman" panose="02020603050405020304" pitchFamily="18" charset="0"/>
              </a:rPr>
              <a:t>; 	// vale 66 equivalente alla lettera B</a:t>
            </a:r>
          </a:p>
          <a:p>
            <a:endParaRPr lang="it-IT" sz="2400" dirty="0">
              <a:latin typeface="Times New Roman" panose="02020603050405020304" pitchFamily="18" charset="0"/>
            </a:endParaRPr>
          </a:p>
        </p:txBody>
      </p:sp>
    </p:spTree>
    <p:extLst>
      <p:ext uri="{BB962C8B-B14F-4D97-AF65-F5344CB8AC3E}">
        <p14:creationId xmlns:p14="http://schemas.microsoft.com/office/powerpoint/2010/main" val="4066331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980660"/>
          </a:xfrm>
        </p:spPr>
        <p:txBody>
          <a:bodyPr>
            <a:normAutofit fontScale="90000"/>
          </a:bodyPr>
          <a:lstStyle/>
          <a:p>
            <a:r>
              <a:rPr lang="it-IT" dirty="0"/>
              <a:t>Formato Unicode (notazione esadecimale)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38</a:t>
            </a:fld>
            <a:endParaRPr lang="it-IT"/>
          </a:p>
        </p:txBody>
      </p:sp>
      <p:sp>
        <p:nvSpPr>
          <p:cNvPr id="8" name="CasellaDiTesto 7">
            <a:extLst>
              <a:ext uri="{FF2B5EF4-FFF2-40B4-BE49-F238E27FC236}">
                <a16:creationId xmlns:a16="http://schemas.microsoft.com/office/drawing/2014/main" id="{3EFDAF56-3EE2-482C-8864-8EC97FC21EB5}"/>
              </a:ext>
            </a:extLst>
          </p:cNvPr>
          <p:cNvSpPr txBox="1"/>
          <p:nvPr/>
        </p:nvSpPr>
        <p:spPr>
          <a:xfrm>
            <a:off x="0" y="965129"/>
            <a:ext cx="9144000" cy="5262979"/>
          </a:xfrm>
          <a:prstGeom prst="rect">
            <a:avLst/>
          </a:prstGeom>
          <a:noFill/>
        </p:spPr>
        <p:txBody>
          <a:bodyPr wrap="square">
            <a:spAutoFit/>
          </a:bodyPr>
          <a:lstStyle/>
          <a:p>
            <a:r>
              <a:rPr lang="it-IT" sz="2400" dirty="0">
                <a:effectLst/>
                <a:latin typeface="Times New Roman" panose="02020603050405020304" pitchFamily="18" charset="0"/>
                <a:ea typeface="Times New Roman" panose="02020603050405020304" pitchFamily="18" charset="0"/>
              </a:rPr>
              <a:t>Possiamo assegnare ad un </a:t>
            </a:r>
            <a:r>
              <a:rPr lang="it-IT" sz="2400" i="1" dirty="0">
                <a:effectLst/>
                <a:latin typeface="Times New Roman" panose="02020603050405020304" pitchFamily="18" charset="0"/>
                <a:ea typeface="Times New Roman" panose="02020603050405020304" pitchFamily="18" charset="0"/>
              </a:rPr>
              <a:t>char</a:t>
            </a:r>
            <a:r>
              <a:rPr lang="it-IT" sz="2400" dirty="0">
                <a:effectLst/>
                <a:latin typeface="Times New Roman" panose="02020603050405020304" pitchFamily="18" charset="0"/>
                <a:ea typeface="Times New Roman" panose="02020603050405020304" pitchFamily="18" charset="0"/>
              </a:rPr>
              <a:t>, direttamente un valore Unicode in formato esadecimale utilizzando 4 cifre con prefisso \u (minuscola) :</a:t>
            </a:r>
          </a:p>
          <a:p>
            <a:r>
              <a:rPr lang="it-IT" sz="2400" dirty="0">
                <a:solidFill>
                  <a:schemeClr val="accent5"/>
                </a:solidFill>
                <a:effectLst/>
                <a:latin typeface="Times New Roman" panose="02020603050405020304" pitchFamily="18" charset="0"/>
                <a:ea typeface="Times New Roman" panose="02020603050405020304" pitchFamily="18" charset="0"/>
              </a:rPr>
              <a:t>char </a:t>
            </a:r>
            <a:r>
              <a:rPr lang="it-IT" sz="2400" dirty="0" err="1">
                <a:solidFill>
                  <a:schemeClr val="accent5"/>
                </a:solidFill>
                <a:effectLst/>
                <a:latin typeface="Times New Roman" panose="02020603050405020304" pitchFamily="18" charset="0"/>
                <a:ea typeface="Times New Roman" panose="02020603050405020304" pitchFamily="18" charset="0"/>
              </a:rPr>
              <a:t>letteraGrecaPhi</a:t>
            </a:r>
            <a:r>
              <a:rPr lang="it-IT" sz="2400" dirty="0">
                <a:solidFill>
                  <a:schemeClr val="accent5"/>
                </a:solidFill>
                <a:effectLst/>
                <a:latin typeface="Times New Roman" panose="02020603050405020304" pitchFamily="18" charset="0"/>
                <a:ea typeface="Times New Roman" panose="02020603050405020304" pitchFamily="18" charset="0"/>
              </a:rPr>
              <a:t> = '\u03A6';  //(lettera "Φ")</a:t>
            </a:r>
          </a:p>
          <a:p>
            <a:r>
              <a:rPr lang="it-IT" sz="2400" dirty="0">
                <a:solidFill>
                  <a:schemeClr val="accent5"/>
                </a:solidFill>
                <a:effectLst/>
                <a:latin typeface="Times New Roman" panose="02020603050405020304" pitchFamily="18" charset="0"/>
                <a:ea typeface="Times New Roman" panose="02020603050405020304" pitchFamily="18" charset="0"/>
              </a:rPr>
              <a:t>char </a:t>
            </a:r>
            <a:r>
              <a:rPr lang="it-IT" sz="2400" dirty="0" err="1">
                <a:solidFill>
                  <a:schemeClr val="accent5"/>
                </a:solidFill>
                <a:effectLst/>
                <a:latin typeface="Times New Roman" panose="02020603050405020304" pitchFamily="18" charset="0"/>
                <a:ea typeface="Times New Roman" panose="02020603050405020304" pitchFamily="18" charset="0"/>
              </a:rPr>
              <a:t>carattereUnicodeNonIdentificato</a:t>
            </a:r>
            <a:r>
              <a:rPr lang="it-IT" sz="2400" dirty="0">
                <a:solidFill>
                  <a:schemeClr val="accent5"/>
                </a:solidFill>
                <a:effectLst/>
                <a:latin typeface="Times New Roman" panose="02020603050405020304" pitchFamily="18" charset="0"/>
                <a:ea typeface="Times New Roman" panose="02020603050405020304" pitchFamily="18" charset="0"/>
              </a:rPr>
              <a:t> = '\uABC8';</a:t>
            </a:r>
          </a:p>
          <a:p>
            <a:r>
              <a:rPr lang="it-IT" sz="2400" dirty="0">
                <a:effectLst/>
                <a:latin typeface="Times New Roman" panose="02020603050405020304" pitchFamily="18" charset="0"/>
                <a:ea typeface="Times New Roman" panose="02020603050405020304" pitchFamily="18" charset="0"/>
              </a:rPr>
              <a:t>Attenzione che con questa sintassi indichiamo il numero che identifica un certo carattere nella codifica Unicode. Siccome nella codifica esistono anche i numeri interi da 0 (che corrisponde al numero 48) a 9 (che corrisponde al numero 57), allora se vogliamo stampare il numero 0 con la sintassi appena vista, dovremmo scrivere:</a:t>
            </a:r>
          </a:p>
          <a:p>
            <a:r>
              <a:rPr lang="it-IT" sz="2400" dirty="0">
                <a:solidFill>
                  <a:schemeClr val="accent5"/>
                </a:solidFill>
                <a:effectLst/>
                <a:latin typeface="Times New Roman" panose="02020603050405020304" pitchFamily="18" charset="0"/>
                <a:ea typeface="Times New Roman" panose="02020603050405020304" pitchFamily="18" charset="0"/>
              </a:rPr>
              <a:t>char zero = '\u0030'; //il numero esadecimale 30 equivale al numero 48</a:t>
            </a:r>
          </a:p>
          <a:p>
            <a:r>
              <a:rPr lang="it-IT" sz="2400" dirty="0">
                <a:solidFill>
                  <a:schemeClr val="accent5"/>
                </a:solidFill>
                <a:effectLst/>
                <a:latin typeface="Times New Roman" panose="02020603050405020304" pitchFamily="18" charset="0"/>
                <a:ea typeface="Times New Roman" panose="02020603050405020304" pitchFamily="18" charset="0"/>
              </a:rPr>
              <a:t>System.out.println(zero);</a:t>
            </a:r>
          </a:p>
          <a:p>
            <a:r>
              <a:rPr lang="it-IT" sz="2400" dirty="0">
                <a:effectLst/>
                <a:latin typeface="Times New Roman" panose="02020603050405020304" pitchFamily="18" charset="0"/>
                <a:ea typeface="Times New Roman" panose="02020603050405020304" pitchFamily="18" charset="0"/>
              </a:rPr>
              <a:t>mentre il valore '\u0000' equivale al carattere nullo, ovvero un carattere che non stampa niente. Ovviamente è anche possibile scrivere:</a:t>
            </a:r>
          </a:p>
          <a:p>
            <a:r>
              <a:rPr lang="it-IT" sz="2400" dirty="0">
                <a:solidFill>
                  <a:schemeClr val="accent5"/>
                </a:solidFill>
                <a:effectLst/>
                <a:latin typeface="Times New Roman" panose="02020603050405020304" pitchFamily="18" charset="0"/>
                <a:ea typeface="Times New Roman" panose="02020603050405020304" pitchFamily="18" charset="0"/>
              </a:rPr>
              <a:t>char zero = '0';</a:t>
            </a:r>
          </a:p>
        </p:txBody>
      </p:sp>
    </p:spTree>
    <p:extLst>
      <p:ext uri="{BB962C8B-B14F-4D97-AF65-F5344CB8AC3E}">
        <p14:creationId xmlns:p14="http://schemas.microsoft.com/office/powerpoint/2010/main" val="2361872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9144000" cy="980660"/>
          </a:xfrm>
        </p:spPr>
        <p:txBody>
          <a:bodyPr>
            <a:normAutofit/>
          </a:bodyPr>
          <a:lstStyle/>
          <a:p>
            <a:r>
              <a:rPr lang="it-IT" dirty="0"/>
              <a:t>Caratteri di escape speciali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39</a:t>
            </a:fld>
            <a:endParaRPr lang="it-IT"/>
          </a:p>
        </p:txBody>
      </p:sp>
      <p:sp>
        <p:nvSpPr>
          <p:cNvPr id="8" name="CasellaDiTesto 7">
            <a:extLst>
              <a:ext uri="{FF2B5EF4-FFF2-40B4-BE49-F238E27FC236}">
                <a16:creationId xmlns:a16="http://schemas.microsoft.com/office/drawing/2014/main" id="{3EFDAF56-3EE2-482C-8864-8EC97FC21EB5}"/>
              </a:ext>
            </a:extLst>
          </p:cNvPr>
          <p:cNvSpPr txBox="1"/>
          <p:nvPr/>
        </p:nvSpPr>
        <p:spPr>
          <a:xfrm>
            <a:off x="0" y="1240369"/>
            <a:ext cx="9144000" cy="5093702"/>
          </a:xfrm>
          <a:prstGeom prst="rect">
            <a:avLst/>
          </a:prstGeom>
          <a:noFill/>
        </p:spPr>
        <p:txBody>
          <a:bodyPr wrap="square">
            <a:spAutoFit/>
          </a:bodyPr>
          <a:lstStyle/>
          <a:p>
            <a:r>
              <a:rPr lang="it-IT" sz="2500" dirty="0">
                <a:effectLst/>
                <a:latin typeface="Times New Roman" panose="02020603050405020304" pitchFamily="18" charset="0"/>
                <a:ea typeface="Times New Roman" panose="02020603050405020304" pitchFamily="18" charset="0"/>
              </a:rPr>
              <a:t>Corrispondono alla pressione su un tasto della tastiera che non è direttamente rappresentato da un carattere o un simbolo, ma che provoca particolari comportamenti nella stampa (si usano soprattutto nelle stringhe):</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\n</a:t>
            </a:r>
            <a:r>
              <a:rPr lang="it-IT" sz="2500" dirty="0">
                <a:effectLst/>
                <a:latin typeface="Times New Roman" panose="02020603050405020304" pitchFamily="18" charset="0"/>
                <a:ea typeface="Times New Roman" panose="02020603050405020304" pitchFamily="18" charset="0"/>
              </a:rPr>
              <a:t> : line feed, ovvero ad un andare a capo (tasto Invio)</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\t</a:t>
            </a:r>
            <a:r>
              <a:rPr lang="it-IT" sz="2500" dirty="0">
                <a:effectLst/>
                <a:latin typeface="Times New Roman" panose="02020603050405020304" pitchFamily="18" charset="0"/>
                <a:ea typeface="Times New Roman" panose="02020603050405020304" pitchFamily="18" charset="0"/>
              </a:rPr>
              <a:t> : tabulazione orizzontale (tasto TAB)</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a:t>
            </a:r>
            <a:r>
              <a:rPr lang="it-IT" sz="2500" dirty="0">
                <a:effectLst/>
                <a:latin typeface="Times New Roman" panose="02020603050405020304" pitchFamily="18" charset="0"/>
                <a:ea typeface="Times New Roman" panose="02020603050405020304" pitchFamily="18" charset="0"/>
              </a:rPr>
              <a:t> : equivale ad un solo \ (infatti \ serve per i caratteri di escape)</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a:t>
            </a:r>
            <a:r>
              <a:rPr lang="it-IT" sz="2500" dirty="0">
                <a:effectLst/>
                <a:latin typeface="Times New Roman" panose="02020603050405020304" pitchFamily="18" charset="0"/>
                <a:ea typeface="Times New Roman" panose="02020603050405020304" pitchFamily="18" charset="0"/>
              </a:rPr>
              <a:t> : apice singolo (un apice singolo delimita il literal di un carattere)</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a:t>
            </a:r>
            <a:r>
              <a:rPr lang="it-IT" sz="2500" dirty="0">
                <a:effectLst/>
                <a:latin typeface="Times New Roman" panose="02020603050405020304" pitchFamily="18" charset="0"/>
                <a:ea typeface="Times New Roman" panose="02020603050405020304" pitchFamily="18" charset="0"/>
              </a:rPr>
              <a:t> : doppio apice (un doppio apice delimita il literal di una stringa)</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\b</a:t>
            </a:r>
            <a:r>
              <a:rPr lang="it-IT" sz="2500" dirty="0">
                <a:effectLst/>
                <a:latin typeface="Times New Roman" panose="02020603050405020304" pitchFamily="18" charset="0"/>
                <a:ea typeface="Times New Roman" panose="02020603050405020304" pitchFamily="18" charset="0"/>
              </a:rPr>
              <a:t> : backspace, cancellazione verso sinistra (tasto Delete)</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\r</a:t>
            </a:r>
            <a:r>
              <a:rPr lang="it-IT" sz="2500" dirty="0">
                <a:effectLst/>
                <a:latin typeface="Times New Roman" panose="02020603050405020304" pitchFamily="18" charset="0"/>
                <a:ea typeface="Times New Roman" panose="02020603050405020304" pitchFamily="18" charset="0"/>
              </a:rPr>
              <a:t> : carriage return (sposta il cursore all’inizio della riga)</a:t>
            </a:r>
          </a:p>
          <a:p>
            <a:pPr marL="342900" indent="-342900">
              <a:buFont typeface="Arial" panose="020B0604020202020204" pitchFamily="34" charset="0"/>
              <a:buChar char="•"/>
            </a:pPr>
            <a:r>
              <a:rPr lang="it-IT" sz="2500" b="1" dirty="0">
                <a:effectLst/>
                <a:latin typeface="Times New Roman" panose="02020603050405020304" pitchFamily="18" charset="0"/>
                <a:ea typeface="Times New Roman" panose="02020603050405020304" pitchFamily="18" charset="0"/>
              </a:rPr>
              <a:t>\f</a:t>
            </a:r>
            <a:r>
              <a:rPr lang="it-IT" sz="2500" dirty="0">
                <a:effectLst/>
                <a:latin typeface="Times New Roman" panose="02020603050405020304" pitchFamily="18" charset="0"/>
                <a:ea typeface="Times New Roman" panose="02020603050405020304" pitchFamily="18" charset="0"/>
              </a:rPr>
              <a:t> : </a:t>
            </a:r>
            <a:r>
              <a:rPr lang="it-IT" sz="2500" dirty="0" err="1">
                <a:effectLst/>
                <a:latin typeface="Times New Roman" panose="02020603050405020304" pitchFamily="18" charset="0"/>
                <a:ea typeface="Times New Roman" panose="02020603050405020304" pitchFamily="18" charset="0"/>
              </a:rPr>
              <a:t>form</a:t>
            </a:r>
            <a:r>
              <a:rPr lang="it-IT" sz="2500" dirty="0">
                <a:effectLst/>
                <a:latin typeface="Times New Roman" panose="02020603050405020304" pitchFamily="18" charset="0"/>
                <a:ea typeface="Times New Roman" panose="02020603050405020304" pitchFamily="18" charset="0"/>
              </a:rPr>
              <a:t> feed (carattere speciale in disuso che rappresenta lo spostamento del cursore alla pagina successiva del documento);</a:t>
            </a:r>
          </a:p>
        </p:txBody>
      </p:sp>
    </p:spTree>
    <p:extLst>
      <p:ext uri="{BB962C8B-B14F-4D97-AF65-F5344CB8AC3E}">
        <p14:creationId xmlns:p14="http://schemas.microsoft.com/office/powerpoint/2010/main" val="2807724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Tipi di dati complessi: reference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40</a:t>
            </a:fld>
            <a:endParaRPr lang="it-IT"/>
          </a:p>
        </p:txBody>
      </p:sp>
      <p:sp>
        <p:nvSpPr>
          <p:cNvPr id="16" name="CasellaDiTesto 15">
            <a:extLst>
              <a:ext uri="{FF2B5EF4-FFF2-40B4-BE49-F238E27FC236}">
                <a16:creationId xmlns:a16="http://schemas.microsoft.com/office/drawing/2014/main" id="{A63F5918-3FED-49A1-91E8-099808C46892}"/>
              </a:ext>
            </a:extLst>
          </p:cNvPr>
          <p:cNvSpPr txBox="1"/>
          <p:nvPr/>
        </p:nvSpPr>
        <p:spPr>
          <a:xfrm>
            <a:off x="0" y="1196690"/>
            <a:ext cx="9144000" cy="4893647"/>
          </a:xfrm>
          <a:prstGeom prst="rect">
            <a:avLst/>
          </a:prstGeom>
          <a:noFill/>
        </p:spPr>
        <p:txBody>
          <a:bodyPr wrap="square">
            <a:spAutoFit/>
          </a:bodyPr>
          <a:lstStyle/>
          <a:p>
            <a:r>
              <a:rPr lang="it-IT" sz="2400" dirty="0"/>
              <a:t>Istanziare un oggetto: </a:t>
            </a:r>
          </a:p>
          <a:p>
            <a:r>
              <a:rPr lang="it-IT" sz="2400" dirty="0" err="1">
                <a:solidFill>
                  <a:schemeClr val="accent5"/>
                </a:solidFill>
              </a:rPr>
              <a:t>NomeClasse</a:t>
            </a:r>
            <a:r>
              <a:rPr lang="it-IT" sz="2400" dirty="0">
                <a:solidFill>
                  <a:schemeClr val="accent5"/>
                </a:solidFill>
              </a:rPr>
              <a:t> </a:t>
            </a:r>
            <a:r>
              <a:rPr lang="it-IT" sz="2400" dirty="0" err="1">
                <a:solidFill>
                  <a:schemeClr val="accent5"/>
                </a:solidFill>
              </a:rPr>
              <a:t>nomeOggetto</a:t>
            </a:r>
            <a:r>
              <a:rPr lang="it-IT" sz="2400" dirty="0">
                <a:solidFill>
                  <a:schemeClr val="accent5"/>
                </a:solidFill>
              </a:rPr>
              <a:t> = new </a:t>
            </a:r>
            <a:r>
              <a:rPr lang="it-IT" sz="2400" dirty="0" err="1">
                <a:solidFill>
                  <a:schemeClr val="accent5"/>
                </a:solidFill>
              </a:rPr>
              <a:t>NomeClasse</a:t>
            </a:r>
            <a:r>
              <a:rPr lang="it-IT" sz="2400" dirty="0">
                <a:solidFill>
                  <a:schemeClr val="accent5"/>
                </a:solidFill>
              </a:rPr>
              <a:t>();</a:t>
            </a:r>
          </a:p>
          <a:p>
            <a:r>
              <a:rPr lang="it-IT" sz="2400" dirty="0"/>
              <a:t>Equivalente a:</a:t>
            </a:r>
          </a:p>
          <a:p>
            <a:r>
              <a:rPr lang="it-IT" sz="2400" dirty="0" err="1">
                <a:solidFill>
                  <a:schemeClr val="accent5"/>
                </a:solidFill>
              </a:rPr>
              <a:t>NomeClasse</a:t>
            </a:r>
            <a:r>
              <a:rPr lang="it-IT" sz="2400" dirty="0">
                <a:solidFill>
                  <a:schemeClr val="accent5"/>
                </a:solidFill>
              </a:rPr>
              <a:t> </a:t>
            </a:r>
            <a:r>
              <a:rPr lang="it-IT" sz="2400" dirty="0" err="1">
                <a:solidFill>
                  <a:schemeClr val="accent5"/>
                </a:solidFill>
              </a:rPr>
              <a:t>nomeOggetto</a:t>
            </a:r>
            <a:r>
              <a:rPr lang="it-IT" sz="2400" dirty="0">
                <a:solidFill>
                  <a:schemeClr val="accent5"/>
                </a:solidFill>
              </a:rPr>
              <a:t>; // dichiarazione</a:t>
            </a:r>
          </a:p>
          <a:p>
            <a:r>
              <a:rPr lang="it-IT" sz="2400" dirty="0" err="1">
                <a:solidFill>
                  <a:schemeClr val="accent5"/>
                </a:solidFill>
              </a:rPr>
              <a:t>nomeOggetto</a:t>
            </a:r>
            <a:r>
              <a:rPr lang="it-IT" sz="2400" dirty="0">
                <a:solidFill>
                  <a:schemeClr val="accent5"/>
                </a:solidFill>
              </a:rPr>
              <a:t> = new </a:t>
            </a:r>
            <a:r>
              <a:rPr lang="it-IT" sz="2400" dirty="0" err="1">
                <a:solidFill>
                  <a:schemeClr val="accent5"/>
                </a:solidFill>
              </a:rPr>
              <a:t>NomeClasse</a:t>
            </a:r>
            <a:r>
              <a:rPr lang="it-IT" sz="2400" dirty="0">
                <a:solidFill>
                  <a:schemeClr val="accent5"/>
                </a:solidFill>
              </a:rPr>
              <a:t>(); // istanza e assegnazione</a:t>
            </a:r>
          </a:p>
          <a:p>
            <a:r>
              <a:rPr lang="it-IT" sz="2400" dirty="0"/>
              <a:t>Nel secondo passo, viene istanziato un oggetto invocando un costruttore mediante l’operatore </a:t>
            </a:r>
            <a:r>
              <a:rPr lang="it-IT" sz="2400" i="1" dirty="0"/>
              <a:t>new</a:t>
            </a:r>
            <a:r>
              <a:rPr lang="it-IT" sz="2400" dirty="0"/>
              <a:t>, che poi viene assegnato a </a:t>
            </a:r>
            <a:r>
              <a:rPr lang="it-IT" sz="2400" i="1" dirty="0" err="1"/>
              <a:t>nomeOggetto</a:t>
            </a:r>
            <a:r>
              <a:rPr lang="it-IT" sz="2400" dirty="0"/>
              <a:t>. </a:t>
            </a:r>
          </a:p>
          <a:p>
            <a:r>
              <a:rPr lang="it-IT" sz="2400" dirty="0"/>
              <a:t>La variabile che rappresenta un oggetto, è una particolare variabile detta </a:t>
            </a:r>
            <a:r>
              <a:rPr lang="it-IT" sz="2400" b="1" dirty="0"/>
              <a:t>reference</a:t>
            </a:r>
            <a:r>
              <a:rPr lang="it-IT" sz="2400" dirty="0"/>
              <a:t>. Si dice anche che un reference è una </a:t>
            </a:r>
            <a:r>
              <a:rPr lang="it-IT" sz="2400" b="1" dirty="0"/>
              <a:t>variabile di tipo complesso</a:t>
            </a:r>
            <a:r>
              <a:rPr lang="it-IT" sz="2400" dirty="0"/>
              <a:t>. Per tipo complesso ovviamente, intendiamo un tipo definito da una classe, perché una classe può dichiarare al suo interno un certo numero di variabili e metodi. </a:t>
            </a:r>
          </a:p>
        </p:txBody>
      </p:sp>
    </p:spTree>
    <p:extLst>
      <p:ext uri="{BB962C8B-B14F-4D97-AF65-F5344CB8AC3E}">
        <p14:creationId xmlns:p14="http://schemas.microsoft.com/office/powerpoint/2010/main" val="1923242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44020"/>
            <a:ext cx="7886700" cy="980660"/>
          </a:xfrm>
        </p:spPr>
        <p:txBody>
          <a:bodyPr/>
          <a:lstStyle/>
          <a:p>
            <a:r>
              <a:rPr lang="it-IT" dirty="0"/>
              <a:t>Tipi di dati complessi: reference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41</a:t>
            </a:fld>
            <a:endParaRPr lang="it-IT"/>
          </a:p>
        </p:txBody>
      </p:sp>
      <p:sp>
        <p:nvSpPr>
          <p:cNvPr id="16" name="CasellaDiTesto 15">
            <a:extLst>
              <a:ext uri="{FF2B5EF4-FFF2-40B4-BE49-F238E27FC236}">
                <a16:creationId xmlns:a16="http://schemas.microsoft.com/office/drawing/2014/main" id="{A63F5918-3FED-49A1-91E8-099808C46892}"/>
              </a:ext>
            </a:extLst>
          </p:cNvPr>
          <p:cNvSpPr txBox="1"/>
          <p:nvPr/>
        </p:nvSpPr>
        <p:spPr>
          <a:xfrm>
            <a:off x="0" y="1353025"/>
            <a:ext cx="9144000" cy="4524315"/>
          </a:xfrm>
          <a:prstGeom prst="rect">
            <a:avLst/>
          </a:prstGeom>
          <a:noFill/>
        </p:spPr>
        <p:txBody>
          <a:bodyPr wrap="square">
            <a:spAutoFit/>
          </a:bodyPr>
          <a:lstStyle/>
          <a:p>
            <a:pPr marL="342900" indent="-342900">
              <a:buFont typeface="Arial" panose="020B0604020202020204" pitchFamily="34" charset="0"/>
              <a:buChar char="•"/>
            </a:pPr>
            <a:r>
              <a:rPr lang="it-IT" sz="2400" dirty="0"/>
              <a:t>C’è una sottile ma potente differenza tra la dichiarazione di un tipo di dato primitivo ed uno complesso. </a:t>
            </a:r>
          </a:p>
          <a:p>
            <a:pPr marL="342900" indent="-342900">
              <a:buFont typeface="Arial" panose="020B0604020202020204" pitchFamily="34" charset="0"/>
              <a:buChar char="•"/>
            </a:pPr>
            <a:r>
              <a:rPr lang="it-IT" sz="2400" dirty="0"/>
              <a:t>In particolare, un reference differisce da una variabile di tipo primitivo nel modo in cui memorizza il suo valore. </a:t>
            </a:r>
          </a:p>
          <a:p>
            <a:pPr marL="342900" indent="-342900">
              <a:buFont typeface="Arial" panose="020B0604020202020204" pitchFamily="34" charset="0"/>
              <a:buChar char="•"/>
            </a:pPr>
            <a:r>
              <a:rPr lang="it-IT" sz="2400" dirty="0"/>
              <a:t>Infatti, una variabile di tipo primitivo corrisponde ad un’area di memoria dove è presente il valore primitivo. </a:t>
            </a:r>
          </a:p>
          <a:p>
            <a:pPr marL="342900" indent="-342900">
              <a:buFont typeface="Arial" panose="020B0604020202020204" pitchFamily="34" charset="0"/>
              <a:buChar char="•"/>
            </a:pPr>
            <a:r>
              <a:rPr lang="it-IT" sz="2400" dirty="0"/>
              <a:t>Ai nostri occhi quindi, l’effetto è quello che la variabile contenga direttamente il suo valore. </a:t>
            </a:r>
          </a:p>
          <a:p>
            <a:pPr marL="342900" indent="-342900">
              <a:buFont typeface="Arial" panose="020B0604020202020204" pitchFamily="34" charset="0"/>
              <a:buChar char="•"/>
            </a:pPr>
            <a:r>
              <a:rPr lang="it-IT" sz="2400" dirty="0"/>
              <a:t>Una variabile di tipo complesso (reference) invece, corrisponde ad un area di memoria dove è presente un indirizzo numerico. Tale indirizzo, individua un’altra area di memoria dove è memorizzato l’oggetto. </a:t>
            </a:r>
          </a:p>
        </p:txBody>
      </p:sp>
    </p:spTree>
    <p:extLst>
      <p:ext uri="{BB962C8B-B14F-4D97-AF65-F5344CB8AC3E}">
        <p14:creationId xmlns:p14="http://schemas.microsoft.com/office/powerpoint/2010/main" val="35259090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8119930" cy="980661"/>
          </a:xfrm>
        </p:spPr>
        <p:txBody>
          <a:bodyPr/>
          <a:lstStyle/>
          <a:p>
            <a:r>
              <a:rPr lang="it-IT" dirty="0"/>
              <a:t>Tipi di dati complessi: reference</a:t>
            </a:r>
            <a:endParaRPr lang="it-IT" i="1" dirty="0"/>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362424" y="836640"/>
            <a:ext cx="2339690" cy="2304320"/>
          </a:xfrm>
        </p:spPr>
        <p:txBody>
          <a:bodyPr>
            <a:normAutofit/>
          </a:bodyPr>
          <a:lstStyle/>
          <a:p>
            <a:pPr marL="0" indent="0">
              <a:buNone/>
            </a:pPr>
            <a:r>
              <a:rPr lang="en-US" sz="2000" dirty="0">
                <a:solidFill>
                  <a:schemeClr val="accent5"/>
                </a:solidFill>
              </a:rPr>
              <a:t>public class Data {</a:t>
            </a:r>
          </a:p>
          <a:p>
            <a:pPr marL="0" indent="0">
              <a:buNone/>
            </a:pPr>
            <a:r>
              <a:rPr lang="en-US" sz="2000" dirty="0">
                <a:solidFill>
                  <a:schemeClr val="accent5"/>
                </a:solidFill>
              </a:rPr>
              <a:t>    public int </a:t>
            </a:r>
            <a:r>
              <a:rPr lang="en-US" sz="2000" dirty="0" err="1">
                <a:solidFill>
                  <a:schemeClr val="accent5"/>
                </a:solidFill>
              </a:rPr>
              <a:t>giorno</a:t>
            </a:r>
            <a:r>
              <a:rPr lang="en-US" sz="2000" dirty="0">
                <a:solidFill>
                  <a:schemeClr val="accent5"/>
                </a:solidFill>
              </a:rPr>
              <a:t>;</a:t>
            </a:r>
          </a:p>
          <a:p>
            <a:pPr marL="0" indent="0">
              <a:buNone/>
            </a:pPr>
            <a:r>
              <a:rPr lang="en-US" sz="2000" dirty="0">
                <a:solidFill>
                  <a:schemeClr val="accent5"/>
                </a:solidFill>
              </a:rPr>
              <a:t>    public int mese;</a:t>
            </a:r>
          </a:p>
          <a:p>
            <a:pPr marL="0" indent="0">
              <a:buNone/>
            </a:pPr>
            <a:r>
              <a:rPr lang="en-US" sz="2000" dirty="0">
                <a:solidFill>
                  <a:schemeClr val="accent5"/>
                </a:solidFill>
              </a:rPr>
              <a:t>    public int anno;</a:t>
            </a:r>
          </a:p>
          <a:p>
            <a:pPr marL="0" indent="0">
              <a:buNone/>
            </a:pPr>
            <a:r>
              <a:rPr lang="en-US" sz="2000" dirty="0">
                <a:solidFill>
                  <a:schemeClr val="accent5"/>
                </a:solidFill>
              </a:rPr>
              <a:t>}</a:t>
            </a:r>
          </a:p>
          <a:p>
            <a:pPr marL="0" indent="0">
              <a:buNone/>
            </a:pPr>
            <a:endParaRPr lang="it-IT" sz="28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42</a:t>
            </a:fld>
            <a:endParaRPr lang="it-IT"/>
          </a:p>
        </p:txBody>
      </p:sp>
      <p:pic>
        <p:nvPicPr>
          <p:cNvPr id="7" name="Immagine 6">
            <a:extLst>
              <a:ext uri="{FF2B5EF4-FFF2-40B4-BE49-F238E27FC236}">
                <a16:creationId xmlns:a16="http://schemas.microsoft.com/office/drawing/2014/main" id="{D11F8EE7-1D41-444A-AB58-9B10848842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43036"/>
            <a:ext cx="9144000" cy="3710384"/>
          </a:xfrm>
          <a:prstGeom prst="rect">
            <a:avLst/>
          </a:prstGeom>
        </p:spPr>
      </p:pic>
      <p:sp>
        <p:nvSpPr>
          <p:cNvPr id="9" name="CasellaDiTesto 8">
            <a:extLst>
              <a:ext uri="{FF2B5EF4-FFF2-40B4-BE49-F238E27FC236}">
                <a16:creationId xmlns:a16="http://schemas.microsoft.com/office/drawing/2014/main" id="{02A24ADA-120F-4DE0-AB64-E2A8DCDCE250}"/>
              </a:ext>
            </a:extLst>
          </p:cNvPr>
          <p:cNvSpPr txBox="1"/>
          <p:nvPr/>
        </p:nvSpPr>
        <p:spPr>
          <a:xfrm>
            <a:off x="4516917" y="900660"/>
            <a:ext cx="4603896" cy="923330"/>
          </a:xfrm>
          <a:prstGeom prst="rect">
            <a:avLst/>
          </a:prstGeom>
          <a:noFill/>
        </p:spPr>
        <p:txBody>
          <a:bodyPr wrap="square">
            <a:spAutoFit/>
          </a:bodyPr>
          <a:lstStyle/>
          <a:p>
            <a:pPr marL="0" indent="0">
              <a:buNone/>
            </a:pPr>
            <a:endParaRPr lang="it-IT" sz="1800" dirty="0"/>
          </a:p>
          <a:p>
            <a:pPr marL="0" indent="0">
              <a:buNone/>
            </a:pPr>
            <a:r>
              <a:rPr lang="it-IT" sz="1800" dirty="0">
                <a:solidFill>
                  <a:schemeClr val="accent6"/>
                </a:solidFill>
              </a:rPr>
              <a:t>double </a:t>
            </a:r>
            <a:r>
              <a:rPr lang="it-IT" sz="1800" dirty="0" err="1">
                <a:solidFill>
                  <a:schemeClr val="accent6"/>
                </a:solidFill>
              </a:rPr>
              <a:t>unNumero</a:t>
            </a:r>
            <a:r>
              <a:rPr lang="it-IT" sz="1800" dirty="0">
                <a:solidFill>
                  <a:schemeClr val="accent6"/>
                </a:solidFill>
              </a:rPr>
              <a:t> = 5.0;</a:t>
            </a:r>
          </a:p>
          <a:p>
            <a:pPr marL="0" indent="0">
              <a:buNone/>
            </a:pPr>
            <a:r>
              <a:rPr lang="it-IT" sz="1800" dirty="0">
                <a:solidFill>
                  <a:schemeClr val="accent6"/>
                </a:solidFill>
              </a:rPr>
              <a:t>Data </a:t>
            </a:r>
            <a:r>
              <a:rPr lang="it-IT" sz="1800" dirty="0" err="1">
                <a:solidFill>
                  <a:schemeClr val="accent6"/>
                </a:solidFill>
              </a:rPr>
              <a:t>unGiorno</a:t>
            </a:r>
            <a:r>
              <a:rPr lang="it-IT" sz="1800" dirty="0">
                <a:solidFill>
                  <a:schemeClr val="accent6"/>
                </a:solidFill>
              </a:rPr>
              <a:t> = new Data();</a:t>
            </a:r>
          </a:p>
        </p:txBody>
      </p:sp>
    </p:spTree>
    <p:extLst>
      <p:ext uri="{BB962C8B-B14F-4D97-AF65-F5344CB8AC3E}">
        <p14:creationId xmlns:p14="http://schemas.microsoft.com/office/powerpoint/2010/main" val="26540199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8119930" cy="980661"/>
          </a:xfrm>
        </p:spPr>
        <p:txBody>
          <a:bodyPr/>
          <a:lstStyle/>
          <a:p>
            <a:r>
              <a:rPr lang="it-IT" dirty="0"/>
              <a:t>Tipi di dati complessi: reference</a:t>
            </a:r>
            <a:endParaRPr lang="it-IT" i="1" dirty="0"/>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79390" y="836640"/>
            <a:ext cx="8713210" cy="2304320"/>
          </a:xfrm>
        </p:spPr>
        <p:txBody>
          <a:bodyPr>
            <a:normAutofit/>
          </a:bodyPr>
          <a:lstStyle/>
          <a:p>
            <a:pPr marL="0" indent="0">
              <a:buNone/>
            </a:pPr>
            <a:r>
              <a:rPr lang="it-IT" sz="2000" dirty="0">
                <a:solidFill>
                  <a:schemeClr val="accent5"/>
                </a:solidFill>
              </a:rPr>
              <a:t>double </a:t>
            </a:r>
            <a:r>
              <a:rPr lang="it-IT" sz="2000" dirty="0" err="1">
                <a:solidFill>
                  <a:schemeClr val="accent5"/>
                </a:solidFill>
              </a:rPr>
              <a:t>unNumero</a:t>
            </a:r>
            <a:r>
              <a:rPr lang="it-IT" sz="2000" dirty="0">
                <a:solidFill>
                  <a:schemeClr val="accent5"/>
                </a:solidFill>
              </a:rPr>
              <a:t> = 5.0;</a:t>
            </a:r>
          </a:p>
          <a:p>
            <a:pPr marL="0" indent="0">
              <a:buNone/>
            </a:pPr>
            <a:r>
              <a:rPr lang="it-IT" sz="2000" dirty="0">
                <a:solidFill>
                  <a:schemeClr val="accent5"/>
                </a:solidFill>
              </a:rPr>
              <a:t>double </a:t>
            </a:r>
            <a:r>
              <a:rPr lang="it-IT" sz="2000" dirty="0" err="1">
                <a:solidFill>
                  <a:schemeClr val="accent5"/>
                </a:solidFill>
              </a:rPr>
              <a:t>unAltroNumero</a:t>
            </a:r>
            <a:r>
              <a:rPr lang="it-IT" sz="2000" dirty="0">
                <a:solidFill>
                  <a:schemeClr val="accent5"/>
                </a:solidFill>
              </a:rPr>
              <a:t> = </a:t>
            </a:r>
            <a:r>
              <a:rPr lang="it-IT" sz="2000" dirty="0" err="1">
                <a:solidFill>
                  <a:schemeClr val="accent5"/>
                </a:solidFill>
              </a:rPr>
              <a:t>unNumero</a:t>
            </a:r>
            <a:r>
              <a:rPr lang="it-IT" sz="2000" dirty="0">
                <a:solidFill>
                  <a:schemeClr val="accent5"/>
                </a:solidFill>
              </a:rPr>
              <a:t>;</a:t>
            </a:r>
          </a:p>
          <a:p>
            <a:pPr marL="0" indent="0">
              <a:buNone/>
            </a:pPr>
            <a:r>
              <a:rPr lang="it-IT" sz="2000" dirty="0">
                <a:solidFill>
                  <a:schemeClr val="accent5"/>
                </a:solidFill>
              </a:rPr>
              <a:t>Data </a:t>
            </a:r>
            <a:r>
              <a:rPr lang="it-IT" sz="2000" dirty="0" err="1">
                <a:solidFill>
                  <a:schemeClr val="accent5"/>
                </a:solidFill>
              </a:rPr>
              <a:t>unGiorno</a:t>
            </a:r>
            <a:r>
              <a:rPr lang="it-IT" sz="2000" dirty="0">
                <a:solidFill>
                  <a:schemeClr val="accent5"/>
                </a:solidFill>
              </a:rPr>
              <a:t> = new Data();</a:t>
            </a:r>
          </a:p>
          <a:p>
            <a:pPr marL="0" indent="0">
              <a:buNone/>
            </a:pPr>
            <a:r>
              <a:rPr lang="it-IT" sz="2000" dirty="0">
                <a:solidFill>
                  <a:schemeClr val="accent5"/>
                </a:solidFill>
              </a:rPr>
              <a:t>Data </a:t>
            </a:r>
            <a:r>
              <a:rPr lang="it-IT" sz="2000" dirty="0" err="1">
                <a:solidFill>
                  <a:schemeClr val="accent5"/>
                </a:solidFill>
              </a:rPr>
              <a:t>unAltroGiorno</a:t>
            </a:r>
            <a:r>
              <a:rPr lang="it-IT" sz="2000" dirty="0">
                <a:solidFill>
                  <a:schemeClr val="accent5"/>
                </a:solidFill>
              </a:rPr>
              <a:t> = </a:t>
            </a:r>
            <a:r>
              <a:rPr lang="it-IT" sz="2000" dirty="0" err="1">
                <a:solidFill>
                  <a:schemeClr val="accent5"/>
                </a:solidFill>
              </a:rPr>
              <a:t>unGiorno</a:t>
            </a:r>
            <a:r>
              <a:rPr lang="it-IT" sz="2000" dirty="0">
                <a:solidFill>
                  <a:schemeClr val="accent5"/>
                </a:solidFill>
              </a:rPr>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43</a:t>
            </a:fld>
            <a:endParaRPr lang="it-IT"/>
          </a:p>
        </p:txBody>
      </p:sp>
      <p:pic>
        <p:nvPicPr>
          <p:cNvPr id="8" name="Immagine 7">
            <a:extLst>
              <a:ext uri="{FF2B5EF4-FFF2-40B4-BE49-F238E27FC236}">
                <a16:creationId xmlns:a16="http://schemas.microsoft.com/office/drawing/2014/main" id="{BF22EC55-A0F6-4A9C-B310-91EB38F9B3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53145"/>
            <a:ext cx="9144000" cy="3856255"/>
          </a:xfrm>
          <a:prstGeom prst="rect">
            <a:avLst/>
          </a:prstGeom>
        </p:spPr>
      </p:pic>
    </p:spTree>
    <p:extLst>
      <p:ext uri="{BB962C8B-B14F-4D97-AF65-F5344CB8AC3E}">
        <p14:creationId xmlns:p14="http://schemas.microsoft.com/office/powerpoint/2010/main" val="3309423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7479"/>
            <a:ext cx="8119930" cy="936130"/>
          </a:xfrm>
        </p:spPr>
        <p:txBody>
          <a:bodyPr/>
          <a:lstStyle/>
          <a:p>
            <a:r>
              <a:rPr lang="it-IT" dirty="0"/>
              <a:t>Passaggio di parametri per valore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79739"/>
            <a:ext cx="9144000" cy="648090"/>
          </a:xfrm>
        </p:spPr>
        <p:txBody>
          <a:bodyPr>
            <a:normAutofit/>
          </a:bodyPr>
          <a:lstStyle/>
          <a:p>
            <a:pPr marL="0" indent="0" algn="ctr">
              <a:buNone/>
            </a:pPr>
            <a:r>
              <a:rPr lang="it-IT" sz="2800" dirty="0"/>
              <a:t>«Il passaggio di parametri in Java avviene sempre per valore»</a:t>
            </a: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44</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0" y="1634153"/>
            <a:ext cx="9144000" cy="4647426"/>
          </a:xfrm>
          <a:prstGeom prst="rect">
            <a:avLst/>
          </a:prstGeom>
          <a:noFill/>
        </p:spPr>
        <p:txBody>
          <a:bodyPr wrap="square">
            <a:spAutoFit/>
          </a:bodyPr>
          <a:lstStyle/>
          <a:p>
            <a:r>
              <a:rPr lang="it-IT" sz="2400" dirty="0">
                <a:solidFill>
                  <a:schemeClr val="accent5"/>
                </a:solidFill>
              </a:rPr>
              <a:t>public class </a:t>
            </a:r>
            <a:r>
              <a:rPr lang="it-IT" sz="2400" dirty="0" err="1">
                <a:solidFill>
                  <a:schemeClr val="accent5"/>
                </a:solidFill>
              </a:rPr>
              <a:t>CiProvo</a:t>
            </a:r>
            <a:r>
              <a:rPr lang="it-IT" sz="2400" dirty="0">
                <a:solidFill>
                  <a:schemeClr val="accent5"/>
                </a:solidFill>
              </a:rPr>
              <a:t> {</a:t>
            </a:r>
          </a:p>
          <a:p>
            <a:r>
              <a:rPr lang="it-IT" sz="2400" dirty="0">
                <a:solidFill>
                  <a:schemeClr val="accent5"/>
                </a:solidFill>
              </a:rPr>
              <a:t>    public void </a:t>
            </a:r>
            <a:r>
              <a:rPr lang="it-IT" sz="2400" dirty="0" err="1">
                <a:solidFill>
                  <a:schemeClr val="accent5"/>
                </a:solidFill>
              </a:rPr>
              <a:t>cambiaValore</a:t>
            </a:r>
            <a:r>
              <a:rPr lang="it-IT" sz="2400" dirty="0">
                <a:solidFill>
                  <a:schemeClr val="accent5"/>
                </a:solidFill>
              </a:rPr>
              <a:t>(int valore) {</a:t>
            </a:r>
          </a:p>
          <a:p>
            <a:r>
              <a:rPr lang="it-IT" sz="2400" dirty="0">
                <a:solidFill>
                  <a:schemeClr val="accent5"/>
                </a:solidFill>
              </a:rPr>
              <a:t>        valore = 1000;</a:t>
            </a:r>
          </a:p>
          <a:p>
            <a:r>
              <a:rPr lang="it-IT" sz="2400" dirty="0">
                <a:solidFill>
                  <a:schemeClr val="accent5"/>
                </a:solidFill>
              </a:rPr>
              <a:t>    }</a:t>
            </a:r>
          </a:p>
          <a:p>
            <a:r>
              <a:rPr lang="it-IT" sz="2400" dirty="0">
                <a:solidFill>
                  <a:schemeClr val="accent5"/>
                </a:solidFill>
              </a:rPr>
              <a:t>}</a:t>
            </a:r>
          </a:p>
          <a:p>
            <a:r>
              <a:rPr lang="it-IT" sz="2800" dirty="0">
                <a:latin typeface="Times New Roman" panose="02020603050405020304" pitchFamily="18" charset="0"/>
              </a:rPr>
              <a:t>il seguente snippet:</a:t>
            </a:r>
          </a:p>
          <a:p>
            <a:r>
              <a:rPr lang="it-IT" sz="2400" dirty="0" err="1">
                <a:solidFill>
                  <a:schemeClr val="accent5"/>
                </a:solidFill>
              </a:rPr>
              <a:t>CiProvo</a:t>
            </a:r>
            <a:r>
              <a:rPr lang="it-IT" sz="2400" dirty="0">
                <a:solidFill>
                  <a:schemeClr val="accent5"/>
                </a:solidFill>
              </a:rPr>
              <a:t> </a:t>
            </a:r>
            <a:r>
              <a:rPr lang="it-IT" sz="2400" dirty="0" err="1">
                <a:solidFill>
                  <a:schemeClr val="accent5"/>
                </a:solidFill>
              </a:rPr>
              <a:t>ogg</a:t>
            </a:r>
            <a:r>
              <a:rPr lang="it-IT" sz="2400" dirty="0">
                <a:solidFill>
                  <a:schemeClr val="accent5"/>
                </a:solidFill>
              </a:rPr>
              <a:t> = new </a:t>
            </a:r>
            <a:r>
              <a:rPr lang="it-IT" sz="2400" dirty="0" err="1">
                <a:solidFill>
                  <a:schemeClr val="accent5"/>
                </a:solidFill>
              </a:rPr>
              <a:t>CiProvo</a:t>
            </a:r>
            <a:r>
              <a:rPr lang="it-IT" sz="2400" dirty="0">
                <a:solidFill>
                  <a:schemeClr val="accent5"/>
                </a:solidFill>
              </a:rPr>
              <a:t>(); // istanza dell’oggetto </a:t>
            </a:r>
            <a:r>
              <a:rPr lang="it-IT" sz="2400" dirty="0" err="1">
                <a:solidFill>
                  <a:schemeClr val="accent5"/>
                </a:solidFill>
              </a:rPr>
              <a:t>ogg</a:t>
            </a:r>
            <a:r>
              <a:rPr lang="it-IT" sz="2400" dirty="0">
                <a:solidFill>
                  <a:schemeClr val="accent5"/>
                </a:solidFill>
              </a:rPr>
              <a:t> di tipo </a:t>
            </a:r>
            <a:r>
              <a:rPr lang="it-IT" sz="2400" dirty="0" err="1">
                <a:solidFill>
                  <a:schemeClr val="accent5"/>
                </a:solidFill>
              </a:rPr>
              <a:t>CiProvo</a:t>
            </a:r>
            <a:endParaRPr lang="it-IT" sz="2400" dirty="0">
              <a:solidFill>
                <a:schemeClr val="accent5"/>
              </a:solidFill>
            </a:endParaRPr>
          </a:p>
          <a:p>
            <a:r>
              <a:rPr lang="it-IT" sz="2400" dirty="0">
                <a:solidFill>
                  <a:schemeClr val="accent5"/>
                </a:solidFill>
              </a:rPr>
              <a:t>int numero = 10; // dichiarazione della variabile numero con valore 10</a:t>
            </a:r>
          </a:p>
          <a:p>
            <a:r>
              <a:rPr lang="it-IT" sz="2400" dirty="0" err="1">
                <a:solidFill>
                  <a:schemeClr val="accent5"/>
                </a:solidFill>
              </a:rPr>
              <a:t>ogg.cambiaValore</a:t>
            </a:r>
            <a:r>
              <a:rPr lang="it-IT" sz="2400" dirty="0">
                <a:solidFill>
                  <a:schemeClr val="accent5"/>
                </a:solidFill>
              </a:rPr>
              <a:t>(numero); //chiamata al metodo </a:t>
            </a:r>
            <a:r>
              <a:rPr lang="it-IT" sz="2400" dirty="0" err="1">
                <a:solidFill>
                  <a:schemeClr val="accent5"/>
                </a:solidFill>
              </a:rPr>
              <a:t>cambiaValore</a:t>
            </a:r>
            <a:endParaRPr lang="it-IT" sz="2400" dirty="0">
              <a:solidFill>
                <a:schemeClr val="accent5"/>
              </a:solidFill>
            </a:endParaRPr>
          </a:p>
          <a:p>
            <a:r>
              <a:rPr lang="it-IT" sz="2400" dirty="0">
                <a:solidFill>
                  <a:schemeClr val="accent5"/>
                </a:solidFill>
              </a:rPr>
              <a:t>System.out.println("il valore del numero è " + numero); // stampa valore</a:t>
            </a:r>
          </a:p>
          <a:p>
            <a:r>
              <a:rPr lang="it-IT" sz="2800" dirty="0">
                <a:latin typeface="Times New Roman" panose="02020603050405020304" pitchFamily="18" charset="0"/>
              </a:rPr>
              <a:t>produrrà il seguente output:</a:t>
            </a:r>
          </a:p>
          <a:p>
            <a:r>
              <a:rPr lang="it-IT" sz="2400" dirty="0">
                <a:solidFill>
                  <a:schemeClr val="accent3"/>
                </a:solidFill>
              </a:rPr>
              <a:t>il valore del numero è 10</a:t>
            </a:r>
          </a:p>
        </p:txBody>
      </p:sp>
    </p:spTree>
    <p:extLst>
      <p:ext uri="{BB962C8B-B14F-4D97-AF65-F5344CB8AC3E}">
        <p14:creationId xmlns:p14="http://schemas.microsoft.com/office/powerpoint/2010/main" val="934814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7479"/>
            <a:ext cx="8119930" cy="936130"/>
          </a:xfrm>
        </p:spPr>
        <p:txBody>
          <a:bodyPr/>
          <a:lstStyle/>
          <a:p>
            <a:r>
              <a:rPr lang="it-IT" dirty="0"/>
              <a:t>Passaggio di parametri per valore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45</a:t>
            </a:fld>
            <a:endParaRPr lang="it-IT" dirty="0"/>
          </a:p>
        </p:txBody>
      </p:sp>
      <p:sp>
        <p:nvSpPr>
          <p:cNvPr id="9" name="CasellaDiTesto 8">
            <a:extLst>
              <a:ext uri="{FF2B5EF4-FFF2-40B4-BE49-F238E27FC236}">
                <a16:creationId xmlns:a16="http://schemas.microsoft.com/office/drawing/2014/main" id="{08677F9C-4679-4349-8957-B43D0B114F6D}"/>
              </a:ext>
            </a:extLst>
          </p:cNvPr>
          <p:cNvSpPr txBox="1"/>
          <p:nvPr/>
        </p:nvSpPr>
        <p:spPr>
          <a:xfrm>
            <a:off x="-17954" y="764630"/>
            <a:ext cx="9144000" cy="2677656"/>
          </a:xfrm>
          <a:prstGeom prst="rect">
            <a:avLst/>
          </a:prstGeom>
          <a:noFill/>
        </p:spPr>
        <p:txBody>
          <a:bodyPr wrap="square">
            <a:spAutoFit/>
          </a:bodyPr>
          <a:lstStyle/>
          <a:p>
            <a:r>
              <a:rPr lang="it-IT" sz="2400" dirty="0">
                <a:solidFill>
                  <a:schemeClr val="accent5"/>
                </a:solidFill>
                <a:effectLst/>
                <a:latin typeface="+mj-lt"/>
                <a:ea typeface="Times New Roman" panose="02020603050405020304" pitchFamily="18" charset="0"/>
              </a:rPr>
              <a:t>public class </a:t>
            </a:r>
            <a:r>
              <a:rPr lang="it-IT" sz="2400" dirty="0" err="1">
                <a:solidFill>
                  <a:schemeClr val="accent5"/>
                </a:solidFill>
                <a:effectLst/>
                <a:latin typeface="+mj-lt"/>
                <a:ea typeface="Times New Roman" panose="02020603050405020304" pitchFamily="18" charset="0"/>
              </a:rPr>
              <a:t>CiProvoConIReference</a:t>
            </a:r>
            <a:r>
              <a:rPr lang="it-IT" sz="2400" dirty="0">
                <a:solidFill>
                  <a:schemeClr val="accent5"/>
                </a:solidFill>
                <a:effectLst/>
                <a:latin typeface="+mj-lt"/>
                <a:ea typeface="Times New Roman" panose="02020603050405020304" pitchFamily="18" charset="0"/>
              </a:rPr>
              <a:t> {</a:t>
            </a:r>
          </a:p>
          <a:p>
            <a:r>
              <a:rPr lang="it-IT" sz="2400" dirty="0">
                <a:solidFill>
                  <a:schemeClr val="accent5"/>
                </a:solidFill>
                <a:effectLst/>
                <a:latin typeface="+mj-lt"/>
                <a:ea typeface="Times New Roman" panose="02020603050405020304" pitchFamily="18" charset="0"/>
              </a:rPr>
              <a:t>    public void </a:t>
            </a:r>
            <a:r>
              <a:rPr lang="it-IT" sz="2400" dirty="0" err="1">
                <a:solidFill>
                  <a:schemeClr val="accent5"/>
                </a:solidFill>
                <a:effectLst/>
                <a:latin typeface="+mj-lt"/>
                <a:ea typeface="Times New Roman" panose="02020603050405020304" pitchFamily="18" charset="0"/>
              </a:rPr>
              <a:t>cambiaReference</a:t>
            </a:r>
            <a:r>
              <a:rPr lang="it-IT" sz="2400" dirty="0">
                <a:solidFill>
                  <a:schemeClr val="accent5"/>
                </a:solidFill>
                <a:effectLst/>
                <a:latin typeface="+mj-lt"/>
                <a:ea typeface="Times New Roman" panose="02020603050405020304" pitchFamily="18" charset="0"/>
              </a:rPr>
              <a:t>(Data </a:t>
            </a:r>
            <a:r>
              <a:rPr lang="it-IT" sz="2400" dirty="0" err="1">
                <a:solidFill>
                  <a:schemeClr val="accent5"/>
                </a:solidFill>
                <a:effectLst/>
                <a:latin typeface="+mj-lt"/>
                <a:ea typeface="Times New Roman" panose="02020603050405020304" pitchFamily="18" charset="0"/>
              </a:rPr>
              <a:t>data</a:t>
            </a:r>
            <a:r>
              <a:rPr lang="it-IT" sz="2400" dirty="0">
                <a:solidFill>
                  <a:schemeClr val="accent5"/>
                </a:solidFill>
                <a:effectLst/>
                <a:latin typeface="+mj-lt"/>
                <a:ea typeface="Times New Roman" panose="02020603050405020304" pitchFamily="18" charset="0"/>
              </a:rPr>
              <a:t>) {</a:t>
            </a:r>
          </a:p>
          <a:p>
            <a:r>
              <a:rPr lang="it-IT" sz="2400" dirty="0">
                <a:solidFill>
                  <a:schemeClr val="accent5"/>
                </a:solidFill>
                <a:effectLst/>
                <a:latin typeface="+mj-lt"/>
                <a:ea typeface="Times New Roman" panose="02020603050405020304" pitchFamily="18" charset="0"/>
              </a:rPr>
              <a:t>        data = new Data();</a:t>
            </a:r>
          </a:p>
          <a:p>
            <a:r>
              <a:rPr lang="it-IT" sz="2400" dirty="0">
                <a:solidFill>
                  <a:schemeClr val="accent5"/>
                </a:solidFill>
                <a:effectLst/>
                <a:latin typeface="+mj-lt"/>
                <a:ea typeface="Times New Roman" panose="02020603050405020304" pitchFamily="18" charset="0"/>
              </a:rPr>
              <a:t>        // Un oggetto appena istanziato ha le </a:t>
            </a:r>
          </a:p>
          <a:p>
            <a:r>
              <a:rPr lang="it-IT" sz="2400" dirty="0">
                <a:solidFill>
                  <a:schemeClr val="accent5"/>
                </a:solidFill>
                <a:effectLst/>
                <a:latin typeface="+mj-lt"/>
                <a:ea typeface="Times New Roman" panose="02020603050405020304" pitchFamily="18" charset="0"/>
              </a:rPr>
              <a:t>        // variabili inizializzate a valori nulli</a:t>
            </a:r>
          </a:p>
          <a:p>
            <a:r>
              <a:rPr lang="it-IT" sz="2400" dirty="0">
                <a:solidFill>
                  <a:schemeClr val="accent5"/>
                </a:solidFill>
                <a:effectLst/>
                <a:latin typeface="+mj-lt"/>
                <a:ea typeface="Times New Roman" panose="02020603050405020304" pitchFamily="18" charset="0"/>
              </a:rPr>
              <a:t>    }</a:t>
            </a:r>
          </a:p>
          <a:p>
            <a:r>
              <a:rPr lang="it-IT" sz="2400" dirty="0">
                <a:solidFill>
                  <a:schemeClr val="accent5"/>
                </a:solidFill>
                <a:effectLst/>
                <a:latin typeface="+mj-lt"/>
                <a:ea typeface="Times New Roman" panose="02020603050405020304" pitchFamily="18" charset="0"/>
              </a:rPr>
              <a:t>}</a:t>
            </a:r>
          </a:p>
        </p:txBody>
      </p:sp>
      <p:sp>
        <p:nvSpPr>
          <p:cNvPr id="10" name="CasellaDiTesto 9">
            <a:extLst>
              <a:ext uri="{FF2B5EF4-FFF2-40B4-BE49-F238E27FC236}">
                <a16:creationId xmlns:a16="http://schemas.microsoft.com/office/drawing/2014/main" id="{23A819A4-14B7-4F57-B625-ED8396B1997F}"/>
              </a:ext>
            </a:extLst>
          </p:cNvPr>
          <p:cNvSpPr txBox="1"/>
          <p:nvPr/>
        </p:nvSpPr>
        <p:spPr>
          <a:xfrm>
            <a:off x="988700" y="2739778"/>
            <a:ext cx="8119930" cy="3785652"/>
          </a:xfrm>
          <a:prstGeom prst="rect">
            <a:avLst/>
          </a:prstGeom>
          <a:noFill/>
        </p:spPr>
        <p:txBody>
          <a:bodyPr wrap="square">
            <a:spAutoFit/>
          </a:bodyPr>
          <a:lstStyle/>
          <a:p>
            <a:r>
              <a:rPr lang="it-IT" sz="2400" dirty="0" err="1">
                <a:solidFill>
                  <a:schemeClr val="accent6"/>
                </a:solidFill>
                <a:effectLst/>
                <a:latin typeface="+mj-lt"/>
                <a:ea typeface="Times New Roman" panose="02020603050405020304" pitchFamily="18" charset="0"/>
              </a:rPr>
              <a:t>CiProvoConIReference</a:t>
            </a:r>
            <a:r>
              <a:rPr lang="it-IT" sz="2400" dirty="0">
                <a:solidFill>
                  <a:schemeClr val="accent6"/>
                </a:solidFill>
                <a:effectLst/>
                <a:latin typeface="+mj-lt"/>
                <a:ea typeface="Times New Roman" panose="02020603050405020304" pitchFamily="18" charset="0"/>
              </a:rPr>
              <a:t> </a:t>
            </a:r>
            <a:r>
              <a:rPr lang="it-IT" sz="2400" dirty="0" err="1">
                <a:solidFill>
                  <a:schemeClr val="accent6"/>
                </a:solidFill>
                <a:effectLst/>
                <a:latin typeface="+mj-lt"/>
                <a:ea typeface="Times New Roman" panose="02020603050405020304" pitchFamily="18" charset="0"/>
              </a:rPr>
              <a:t>ogg</a:t>
            </a:r>
            <a:r>
              <a:rPr lang="it-IT" sz="2400" dirty="0">
                <a:solidFill>
                  <a:schemeClr val="accent6"/>
                </a:solidFill>
                <a:effectLst/>
                <a:latin typeface="+mj-lt"/>
                <a:ea typeface="Times New Roman" panose="02020603050405020304" pitchFamily="18" charset="0"/>
              </a:rPr>
              <a:t> = new </a:t>
            </a:r>
            <a:r>
              <a:rPr lang="it-IT" sz="2400" dirty="0" err="1">
                <a:solidFill>
                  <a:schemeClr val="accent6"/>
                </a:solidFill>
                <a:effectLst/>
                <a:latin typeface="+mj-lt"/>
                <a:ea typeface="Times New Roman" panose="02020603050405020304" pitchFamily="18" charset="0"/>
              </a:rPr>
              <a:t>CiProvoConIReference</a:t>
            </a:r>
            <a:r>
              <a:rPr lang="it-IT" sz="2400" dirty="0">
                <a:solidFill>
                  <a:schemeClr val="accent6"/>
                </a:solidFill>
                <a:effectLst/>
                <a:latin typeface="+mj-lt"/>
                <a:ea typeface="Times New Roman" panose="02020603050405020304" pitchFamily="18" charset="0"/>
              </a:rPr>
              <a:t>();</a:t>
            </a:r>
          </a:p>
          <a:p>
            <a:r>
              <a:rPr lang="it-IT" sz="2400" dirty="0">
                <a:solidFill>
                  <a:schemeClr val="accent6"/>
                </a:solidFill>
                <a:effectLst/>
                <a:latin typeface="+mj-lt"/>
                <a:ea typeface="Times New Roman" panose="02020603050405020304" pitchFamily="18" charset="0"/>
              </a:rPr>
              <a:t>Data </a:t>
            </a:r>
            <a:r>
              <a:rPr lang="it-IT" sz="2400" dirty="0" err="1">
                <a:solidFill>
                  <a:schemeClr val="accent6"/>
                </a:solidFill>
                <a:effectLst/>
                <a:latin typeface="+mj-lt"/>
                <a:ea typeface="Times New Roman" panose="02020603050405020304" pitchFamily="18" charset="0"/>
              </a:rPr>
              <a:t>dataDiNascita</a:t>
            </a:r>
            <a:r>
              <a:rPr lang="it-IT" sz="2400" dirty="0">
                <a:solidFill>
                  <a:schemeClr val="accent6"/>
                </a:solidFill>
                <a:effectLst/>
                <a:latin typeface="+mj-lt"/>
                <a:ea typeface="Times New Roman" panose="02020603050405020304" pitchFamily="18" charset="0"/>
              </a:rPr>
              <a:t> = new Data();</a:t>
            </a:r>
          </a:p>
          <a:p>
            <a:r>
              <a:rPr lang="it-IT" sz="2400" dirty="0" err="1">
                <a:solidFill>
                  <a:schemeClr val="accent6"/>
                </a:solidFill>
                <a:effectLst/>
                <a:latin typeface="+mj-lt"/>
                <a:ea typeface="Times New Roman" panose="02020603050405020304" pitchFamily="18" charset="0"/>
              </a:rPr>
              <a:t>dataDiNascita.giorno</a:t>
            </a:r>
            <a:r>
              <a:rPr lang="it-IT" sz="2400" dirty="0">
                <a:solidFill>
                  <a:schemeClr val="accent6"/>
                </a:solidFill>
                <a:effectLst/>
                <a:latin typeface="+mj-lt"/>
                <a:ea typeface="Times New Roman" panose="02020603050405020304" pitchFamily="18" charset="0"/>
              </a:rPr>
              <a:t> = 14;</a:t>
            </a:r>
          </a:p>
          <a:p>
            <a:r>
              <a:rPr lang="it-IT" sz="2400" dirty="0" err="1">
                <a:solidFill>
                  <a:schemeClr val="accent6"/>
                </a:solidFill>
                <a:effectLst/>
                <a:latin typeface="+mj-lt"/>
                <a:ea typeface="Times New Roman" panose="02020603050405020304" pitchFamily="18" charset="0"/>
              </a:rPr>
              <a:t>dataDiNascita.mese</a:t>
            </a:r>
            <a:r>
              <a:rPr lang="it-IT" sz="2400" dirty="0">
                <a:solidFill>
                  <a:schemeClr val="accent6"/>
                </a:solidFill>
                <a:effectLst/>
                <a:latin typeface="+mj-lt"/>
                <a:ea typeface="Times New Roman" panose="02020603050405020304" pitchFamily="18" charset="0"/>
              </a:rPr>
              <a:t> = 4;</a:t>
            </a:r>
          </a:p>
          <a:p>
            <a:r>
              <a:rPr lang="it-IT" sz="2400" dirty="0" err="1">
                <a:solidFill>
                  <a:schemeClr val="accent6"/>
                </a:solidFill>
                <a:effectLst/>
                <a:latin typeface="+mj-lt"/>
                <a:ea typeface="Times New Roman" panose="02020603050405020304" pitchFamily="18" charset="0"/>
              </a:rPr>
              <a:t>dataDiNascita.anno</a:t>
            </a:r>
            <a:r>
              <a:rPr lang="it-IT" sz="2400" dirty="0">
                <a:solidFill>
                  <a:schemeClr val="accent6"/>
                </a:solidFill>
                <a:effectLst/>
                <a:latin typeface="+mj-lt"/>
                <a:ea typeface="Times New Roman" panose="02020603050405020304" pitchFamily="18" charset="0"/>
              </a:rPr>
              <a:t> = 2004;</a:t>
            </a:r>
          </a:p>
          <a:p>
            <a:r>
              <a:rPr lang="it-IT" sz="2400" dirty="0" err="1">
                <a:solidFill>
                  <a:schemeClr val="accent6"/>
                </a:solidFill>
                <a:effectLst/>
                <a:latin typeface="+mj-lt"/>
                <a:ea typeface="Times New Roman" panose="02020603050405020304" pitchFamily="18" charset="0"/>
              </a:rPr>
              <a:t>ogg.cambiaReference</a:t>
            </a:r>
            <a:r>
              <a:rPr lang="it-IT" sz="2400" dirty="0">
                <a:solidFill>
                  <a:schemeClr val="accent6"/>
                </a:solidFill>
                <a:effectLst/>
                <a:latin typeface="+mj-lt"/>
                <a:ea typeface="Times New Roman" panose="02020603050405020304" pitchFamily="18" charset="0"/>
              </a:rPr>
              <a:t>(</a:t>
            </a:r>
            <a:r>
              <a:rPr lang="it-IT" sz="2400" dirty="0" err="1">
                <a:solidFill>
                  <a:schemeClr val="accent6"/>
                </a:solidFill>
                <a:effectLst/>
                <a:latin typeface="+mj-lt"/>
                <a:ea typeface="Times New Roman" panose="02020603050405020304" pitchFamily="18" charset="0"/>
              </a:rPr>
              <a:t>dataDiNascita</a:t>
            </a:r>
            <a:r>
              <a:rPr lang="it-IT" sz="2400" dirty="0">
                <a:solidFill>
                  <a:schemeClr val="accent6"/>
                </a:solidFill>
                <a:effectLst/>
                <a:latin typeface="+mj-lt"/>
                <a:ea typeface="Times New Roman" panose="02020603050405020304" pitchFamily="18" charset="0"/>
              </a:rPr>
              <a:t>);</a:t>
            </a:r>
          </a:p>
          <a:p>
            <a:r>
              <a:rPr lang="it-IT" sz="2400" dirty="0">
                <a:solidFill>
                  <a:schemeClr val="accent6"/>
                </a:solidFill>
                <a:effectLst/>
                <a:latin typeface="+mj-lt"/>
                <a:ea typeface="Times New Roman" panose="02020603050405020304" pitchFamily="18" charset="0"/>
              </a:rPr>
              <a:t>System.out.println("Data di nascita = "  + </a:t>
            </a:r>
            <a:r>
              <a:rPr lang="it-IT" sz="2400" dirty="0" err="1">
                <a:solidFill>
                  <a:schemeClr val="accent6"/>
                </a:solidFill>
                <a:effectLst/>
                <a:latin typeface="+mj-lt"/>
                <a:ea typeface="Times New Roman" panose="02020603050405020304" pitchFamily="18" charset="0"/>
              </a:rPr>
              <a:t>dataDiNascita.giorno</a:t>
            </a:r>
            <a:r>
              <a:rPr lang="it-IT" sz="2400" dirty="0">
                <a:solidFill>
                  <a:schemeClr val="accent6"/>
                </a:solidFill>
                <a:effectLst/>
                <a:latin typeface="+mj-lt"/>
                <a:ea typeface="Times New Roman" panose="02020603050405020304" pitchFamily="18" charset="0"/>
              </a:rPr>
              <a:t>   </a:t>
            </a:r>
          </a:p>
          <a:p>
            <a:r>
              <a:rPr lang="it-IT" sz="2400" dirty="0">
                <a:solidFill>
                  <a:schemeClr val="accent6"/>
                </a:solidFill>
                <a:latin typeface="+mj-lt"/>
                <a:ea typeface="Times New Roman" panose="02020603050405020304" pitchFamily="18" charset="0"/>
              </a:rPr>
              <a:t>    </a:t>
            </a:r>
            <a:r>
              <a:rPr lang="it-IT" sz="2400" dirty="0">
                <a:solidFill>
                  <a:schemeClr val="accent6"/>
                </a:solidFill>
                <a:effectLst/>
                <a:latin typeface="+mj-lt"/>
                <a:ea typeface="Times New Roman" panose="02020603050405020304" pitchFamily="18" charset="0"/>
              </a:rPr>
              <a:t>+ "-" + </a:t>
            </a:r>
            <a:r>
              <a:rPr lang="it-IT" sz="2400" dirty="0" err="1">
                <a:solidFill>
                  <a:schemeClr val="accent6"/>
                </a:solidFill>
                <a:effectLst/>
                <a:latin typeface="+mj-lt"/>
                <a:ea typeface="Times New Roman" panose="02020603050405020304" pitchFamily="18" charset="0"/>
              </a:rPr>
              <a:t>dataDiNascita.mese</a:t>
            </a:r>
            <a:r>
              <a:rPr lang="it-IT" sz="2400" dirty="0">
                <a:solidFill>
                  <a:schemeClr val="accent6"/>
                </a:solidFill>
                <a:effectLst/>
                <a:latin typeface="+mj-lt"/>
                <a:ea typeface="Times New Roman" panose="02020603050405020304" pitchFamily="18" charset="0"/>
              </a:rPr>
              <a:t>  + "-" +</a:t>
            </a:r>
            <a:r>
              <a:rPr lang="it-IT" sz="2400" dirty="0" err="1">
                <a:solidFill>
                  <a:schemeClr val="accent6"/>
                </a:solidFill>
                <a:effectLst/>
                <a:latin typeface="+mj-lt"/>
                <a:ea typeface="Times New Roman" panose="02020603050405020304" pitchFamily="18" charset="0"/>
              </a:rPr>
              <a:t>dataDiNascita.anno</a:t>
            </a:r>
            <a:r>
              <a:rPr lang="it-IT" sz="2400" dirty="0">
                <a:solidFill>
                  <a:schemeClr val="accent6"/>
                </a:solidFill>
                <a:effectLst/>
                <a:latin typeface="+mj-lt"/>
                <a:ea typeface="Times New Roman" panose="02020603050405020304" pitchFamily="18" charset="0"/>
              </a:rPr>
              <a:t>);</a:t>
            </a:r>
          </a:p>
          <a:p>
            <a:r>
              <a:rPr lang="it-IT" sz="2400" dirty="0">
                <a:effectLst/>
                <a:latin typeface="+mj-lt"/>
                <a:ea typeface="Times New Roman" panose="02020603050405020304" pitchFamily="18" charset="0"/>
              </a:rPr>
              <a:t>produrrà il seguente output:</a:t>
            </a:r>
          </a:p>
          <a:p>
            <a:r>
              <a:rPr lang="it-IT" sz="2400" dirty="0">
                <a:solidFill>
                  <a:srgbClr val="92D050"/>
                </a:solidFill>
                <a:effectLst/>
                <a:latin typeface="+mj-lt"/>
                <a:ea typeface="Times New Roman" panose="02020603050405020304" pitchFamily="18" charset="0"/>
              </a:rPr>
              <a:t>Data di nascita = 14-4-2004</a:t>
            </a:r>
          </a:p>
        </p:txBody>
      </p:sp>
    </p:spTree>
    <p:extLst>
      <p:ext uri="{BB962C8B-B14F-4D97-AF65-F5344CB8AC3E}">
        <p14:creationId xmlns:p14="http://schemas.microsoft.com/office/powerpoint/2010/main" val="1285386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27479"/>
            <a:ext cx="8119930" cy="936130"/>
          </a:xfrm>
        </p:spPr>
        <p:txBody>
          <a:bodyPr/>
          <a:lstStyle/>
          <a:p>
            <a:r>
              <a:rPr lang="it-IT" dirty="0"/>
              <a:t>Passaggio di parametri per valore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46</a:t>
            </a:fld>
            <a:endParaRPr lang="it-IT" dirty="0"/>
          </a:p>
        </p:txBody>
      </p:sp>
      <p:sp>
        <p:nvSpPr>
          <p:cNvPr id="11" name="CasellaDiTesto 10">
            <a:extLst>
              <a:ext uri="{FF2B5EF4-FFF2-40B4-BE49-F238E27FC236}">
                <a16:creationId xmlns:a16="http://schemas.microsoft.com/office/drawing/2014/main" id="{9D1D61EF-9EA1-48B6-92B2-F88854B7A604}"/>
              </a:ext>
            </a:extLst>
          </p:cNvPr>
          <p:cNvSpPr txBox="1"/>
          <p:nvPr/>
        </p:nvSpPr>
        <p:spPr>
          <a:xfrm>
            <a:off x="0" y="1052670"/>
            <a:ext cx="9144000" cy="5262979"/>
          </a:xfrm>
          <a:prstGeom prst="rect">
            <a:avLst/>
          </a:prstGeom>
          <a:noFill/>
        </p:spPr>
        <p:txBody>
          <a:bodyPr wrap="square">
            <a:spAutoFit/>
          </a:bodyPr>
          <a:lstStyle/>
          <a:p>
            <a:r>
              <a:rPr lang="it-IT" sz="2400" dirty="0"/>
              <a:t>Se però riscriviamo il metodo </a:t>
            </a:r>
            <a:r>
              <a:rPr lang="it-IT" sz="2400" i="1" dirty="0" err="1"/>
              <a:t>cambiaReference</a:t>
            </a:r>
            <a:r>
              <a:rPr lang="it-IT" sz="2400" dirty="0"/>
              <a:t> in modo tale che esso cambi i valori delle variabili d'istanza dell’oggetto:</a:t>
            </a:r>
          </a:p>
          <a:p>
            <a:r>
              <a:rPr lang="it-IT" sz="2400" dirty="0">
                <a:solidFill>
                  <a:schemeClr val="accent5"/>
                </a:solidFill>
              </a:rPr>
              <a:t>public void </a:t>
            </a:r>
            <a:r>
              <a:rPr lang="it-IT" sz="2400" dirty="0" err="1">
                <a:solidFill>
                  <a:schemeClr val="accent5"/>
                </a:solidFill>
              </a:rPr>
              <a:t>cambiaReference</a:t>
            </a:r>
            <a:r>
              <a:rPr lang="it-IT" sz="2400" dirty="0">
                <a:solidFill>
                  <a:schemeClr val="accent5"/>
                </a:solidFill>
              </a:rPr>
              <a:t>(Data </a:t>
            </a:r>
            <a:r>
              <a:rPr lang="it-IT" sz="2400" dirty="0" err="1">
                <a:solidFill>
                  <a:schemeClr val="accent5"/>
                </a:solidFill>
              </a:rPr>
              <a:t>data</a:t>
            </a:r>
            <a:r>
              <a:rPr lang="it-IT" sz="2400" dirty="0">
                <a:solidFill>
                  <a:schemeClr val="accent5"/>
                </a:solidFill>
              </a:rPr>
              <a:t>){</a:t>
            </a:r>
          </a:p>
          <a:p>
            <a:r>
              <a:rPr lang="it-IT" sz="2400" dirty="0">
                <a:solidFill>
                  <a:schemeClr val="accent5"/>
                </a:solidFill>
              </a:rPr>
              <a:t>  </a:t>
            </a:r>
            <a:r>
              <a:rPr lang="it-IT" sz="2400" dirty="0" err="1">
                <a:solidFill>
                  <a:schemeClr val="accent5"/>
                </a:solidFill>
              </a:rPr>
              <a:t>data.giorno</a:t>
            </a:r>
            <a:r>
              <a:rPr lang="it-IT" sz="2400" dirty="0">
                <a:solidFill>
                  <a:schemeClr val="accent5"/>
                </a:solidFill>
              </a:rPr>
              <a:t>=12; // data punta allo stesso indirizzo</a:t>
            </a:r>
          </a:p>
          <a:p>
            <a:r>
              <a:rPr lang="it-IT" sz="2400" dirty="0">
                <a:solidFill>
                  <a:schemeClr val="accent5"/>
                </a:solidFill>
              </a:rPr>
              <a:t>  </a:t>
            </a:r>
            <a:r>
              <a:rPr lang="it-IT" sz="2400" dirty="0" err="1">
                <a:solidFill>
                  <a:schemeClr val="accent5"/>
                </a:solidFill>
              </a:rPr>
              <a:t>data.mese</a:t>
            </a:r>
            <a:r>
              <a:rPr lang="it-IT" sz="2400" dirty="0">
                <a:solidFill>
                  <a:schemeClr val="accent5"/>
                </a:solidFill>
              </a:rPr>
              <a:t>=11    // della variabile </a:t>
            </a:r>
            <a:r>
              <a:rPr lang="it-IT" sz="2400" dirty="0" err="1">
                <a:solidFill>
                  <a:schemeClr val="accent5"/>
                </a:solidFill>
              </a:rPr>
              <a:t>dataDiNascita</a:t>
            </a:r>
            <a:endParaRPr lang="it-IT" sz="2400" dirty="0">
              <a:solidFill>
                <a:schemeClr val="accent5"/>
              </a:solidFill>
            </a:endParaRPr>
          </a:p>
          <a:p>
            <a:r>
              <a:rPr lang="it-IT" sz="2400" dirty="0">
                <a:solidFill>
                  <a:schemeClr val="accent5"/>
                </a:solidFill>
              </a:rPr>
              <a:t>  </a:t>
            </a:r>
            <a:r>
              <a:rPr lang="it-IT" sz="2400" dirty="0" err="1">
                <a:solidFill>
                  <a:schemeClr val="accent5"/>
                </a:solidFill>
              </a:rPr>
              <a:t>data.anno</a:t>
            </a:r>
            <a:r>
              <a:rPr lang="it-IT" sz="2400" dirty="0">
                <a:solidFill>
                  <a:schemeClr val="accent5"/>
                </a:solidFill>
              </a:rPr>
              <a:t>=2006     </a:t>
            </a:r>
          </a:p>
          <a:p>
            <a:r>
              <a:rPr lang="it-IT" sz="2400" dirty="0">
                <a:solidFill>
                  <a:schemeClr val="accent5"/>
                </a:solidFill>
              </a:rPr>
              <a:t>}</a:t>
            </a:r>
          </a:p>
          <a:p>
            <a:r>
              <a:rPr lang="it-IT" sz="2400" dirty="0"/>
              <a:t>l’output cambierebbe:</a:t>
            </a:r>
          </a:p>
          <a:p>
            <a:r>
              <a:rPr lang="it-IT" sz="2400" dirty="0">
                <a:solidFill>
                  <a:schemeClr val="accent3"/>
                </a:solidFill>
              </a:rPr>
              <a:t>Data di nascita = 12-11-2006</a:t>
            </a:r>
          </a:p>
          <a:p>
            <a:r>
              <a:rPr lang="it-IT" sz="2400" dirty="0"/>
              <a:t>Il fatto che il passaggio avvenga sempre per valore, garantisce che un oggetto possa essere modificato all’interno del metodo chiamato, e contemporaneamente, si è certi che dopo la chiamata del metodo il reference punti sempre allo stesso oggetto.</a:t>
            </a:r>
          </a:p>
          <a:p>
            <a:endParaRPr lang="it-IT" sz="2400" dirty="0">
              <a:solidFill>
                <a:schemeClr val="accent3"/>
              </a:solidFill>
            </a:endParaRPr>
          </a:p>
        </p:txBody>
      </p:sp>
    </p:spTree>
    <p:extLst>
      <p:ext uri="{BB962C8B-B14F-4D97-AF65-F5344CB8AC3E}">
        <p14:creationId xmlns:p14="http://schemas.microsoft.com/office/powerpoint/2010/main" val="40755087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303187"/>
            <a:ext cx="9144000" cy="1325563"/>
          </a:xfrm>
        </p:spPr>
        <p:txBody>
          <a:bodyPr/>
          <a:lstStyle/>
          <a:p>
            <a:r>
              <a:rPr lang="it-IT" dirty="0"/>
              <a:t>Inizializzazione delle variabili d’istanza </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47</a:t>
            </a:fld>
            <a:endParaRPr lang="it-IT"/>
          </a:p>
        </p:txBody>
      </p:sp>
      <p:graphicFrame>
        <p:nvGraphicFramePr>
          <p:cNvPr id="3" name="Tabella 2">
            <a:extLst>
              <a:ext uri="{FF2B5EF4-FFF2-40B4-BE49-F238E27FC236}">
                <a16:creationId xmlns:a16="http://schemas.microsoft.com/office/drawing/2014/main" id="{AC1C6599-B209-49E7-BAA0-432E9DF50C50}"/>
              </a:ext>
            </a:extLst>
          </p:cNvPr>
          <p:cNvGraphicFramePr>
            <a:graphicFrameLocks noGrp="1"/>
          </p:cNvGraphicFramePr>
          <p:nvPr>
            <p:extLst>
              <p:ext uri="{D42A27DB-BD31-4B8C-83A1-F6EECF244321}">
                <p14:modId xmlns:p14="http://schemas.microsoft.com/office/powerpoint/2010/main" val="1673756847"/>
              </p:ext>
            </p:extLst>
          </p:nvPr>
        </p:nvGraphicFramePr>
        <p:xfrm>
          <a:off x="0" y="1916790"/>
          <a:ext cx="9144000" cy="3657600"/>
        </p:xfrm>
        <a:graphic>
          <a:graphicData uri="http://schemas.openxmlformats.org/drawingml/2006/table">
            <a:tbl>
              <a:tblPr>
                <a:tableStyleId>{5C22544A-7EE6-4342-B048-85BDC9FD1C3A}</a:tableStyleId>
              </a:tblPr>
              <a:tblGrid>
                <a:gridCol w="3167653">
                  <a:extLst>
                    <a:ext uri="{9D8B030D-6E8A-4147-A177-3AD203B41FA5}">
                      <a16:colId xmlns:a16="http://schemas.microsoft.com/office/drawing/2014/main" val="28341219"/>
                    </a:ext>
                  </a:extLst>
                </a:gridCol>
                <a:gridCol w="5976347">
                  <a:extLst>
                    <a:ext uri="{9D8B030D-6E8A-4147-A177-3AD203B41FA5}">
                      <a16:colId xmlns:a16="http://schemas.microsoft.com/office/drawing/2014/main" val="958663331"/>
                    </a:ext>
                  </a:extLst>
                </a:gridCol>
              </a:tblGrid>
              <a:tr h="343726">
                <a:tc>
                  <a:txBody>
                    <a:bodyPr/>
                    <a:lstStyle/>
                    <a:p>
                      <a:r>
                        <a:rPr lang="it-IT" sz="2400">
                          <a:effectLst/>
                        </a:rPr>
                        <a:t>Tipo Variabile</a:t>
                      </a:r>
                      <a:endParaRPr lang="it-IT" sz="2400" b="1">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Valore di inizializzazione</a:t>
                      </a:r>
                      <a:endParaRPr lang="it-IT" sz="24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31521508"/>
                  </a:ext>
                </a:extLst>
              </a:tr>
              <a:tr h="286438">
                <a:tc>
                  <a:txBody>
                    <a:bodyPr/>
                    <a:lstStyle/>
                    <a:p>
                      <a:r>
                        <a:rPr lang="it-IT" sz="2400">
                          <a:effectLst/>
                        </a:rPr>
                        <a:t>byte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42887011"/>
                  </a:ext>
                </a:extLst>
              </a:tr>
              <a:tr h="286438">
                <a:tc>
                  <a:txBody>
                    <a:bodyPr/>
                    <a:lstStyle/>
                    <a:p>
                      <a:r>
                        <a:rPr lang="it-IT" sz="2400">
                          <a:effectLst/>
                        </a:rPr>
                        <a:t>short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00509848"/>
                  </a:ext>
                </a:extLst>
              </a:tr>
              <a:tr h="286438">
                <a:tc>
                  <a:txBody>
                    <a:bodyPr/>
                    <a:lstStyle/>
                    <a:p>
                      <a:r>
                        <a:rPr lang="it-IT" sz="2400">
                          <a:effectLst/>
                        </a:rPr>
                        <a:t>int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3279067"/>
                  </a:ext>
                </a:extLst>
              </a:tr>
              <a:tr h="286438">
                <a:tc>
                  <a:txBody>
                    <a:bodyPr/>
                    <a:lstStyle/>
                    <a:p>
                      <a:r>
                        <a:rPr lang="it-IT" sz="2400">
                          <a:effectLst/>
                        </a:rPr>
                        <a:t>long</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0L</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36115838"/>
                  </a:ext>
                </a:extLst>
              </a:tr>
              <a:tr h="286438">
                <a:tc>
                  <a:txBody>
                    <a:bodyPr/>
                    <a:lstStyle/>
                    <a:p>
                      <a:r>
                        <a:rPr lang="it-IT" sz="2400">
                          <a:effectLst/>
                        </a:rPr>
                        <a:t>float</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0.0f</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8693898"/>
                  </a:ext>
                </a:extLst>
              </a:tr>
              <a:tr h="286438">
                <a:tc>
                  <a:txBody>
                    <a:bodyPr/>
                    <a:lstStyle/>
                    <a:p>
                      <a:r>
                        <a:rPr lang="it-IT" sz="2400">
                          <a:effectLst/>
                        </a:rPr>
                        <a:t>double</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a:effectLst/>
                        </a:rPr>
                        <a:t>0.0d</a:t>
                      </a:r>
                      <a:endParaRPr lang="it-IT" sz="2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86793043"/>
                  </a:ext>
                </a:extLst>
              </a:tr>
              <a:tr h="343726">
                <a:tc>
                  <a:txBody>
                    <a:bodyPr/>
                    <a:lstStyle/>
                    <a:p>
                      <a:r>
                        <a:rPr lang="it-IT" sz="2400">
                          <a:effectLst/>
                        </a:rPr>
                        <a:t>char</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'\u0000' (Valore nullo - nessun carattere)</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069429368"/>
                  </a:ext>
                </a:extLst>
              </a:tr>
              <a:tr h="286438">
                <a:tc>
                  <a:txBody>
                    <a:bodyPr/>
                    <a:lstStyle/>
                    <a:p>
                      <a:r>
                        <a:rPr lang="it-IT" sz="2400">
                          <a:effectLst/>
                        </a:rPr>
                        <a:t>boolean</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false</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87492763"/>
                  </a:ext>
                </a:extLst>
              </a:tr>
              <a:tr h="343726">
                <a:tc>
                  <a:txBody>
                    <a:bodyPr/>
                    <a:lstStyle/>
                    <a:p>
                      <a:r>
                        <a:rPr lang="it-IT" sz="2400">
                          <a:effectLst/>
                        </a:rPr>
                        <a:t>Ogni tipo complesso</a:t>
                      </a:r>
                      <a:endParaRPr lang="it-IT" sz="2400">
                        <a:effectLst/>
                        <a:latin typeface="Times New Roman" panose="02020603050405020304" pitchFamily="18" charset="0"/>
                        <a:ea typeface="Times New Roman" panose="02020603050405020304" pitchFamily="18" charset="0"/>
                      </a:endParaRPr>
                    </a:p>
                  </a:txBody>
                  <a:tcPr marL="68580" marR="68580" marT="0" marB="0"/>
                </a:tc>
                <a:tc>
                  <a:txBody>
                    <a:bodyPr/>
                    <a:lstStyle/>
                    <a:p>
                      <a:r>
                        <a:rPr lang="it-IT" sz="2400" dirty="0">
                          <a:effectLst/>
                        </a:rPr>
                        <a:t>null</a:t>
                      </a:r>
                      <a:endParaRPr lang="it-IT"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94211691"/>
                  </a:ext>
                </a:extLst>
              </a:tr>
            </a:tbl>
          </a:graphicData>
        </a:graphic>
      </p:graphicFrame>
    </p:spTree>
    <p:extLst>
      <p:ext uri="{BB962C8B-B14F-4D97-AF65-F5344CB8AC3E}">
        <p14:creationId xmlns:p14="http://schemas.microsoft.com/office/powerpoint/2010/main" val="2602944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8119930" cy="980660"/>
          </a:xfrm>
        </p:spPr>
        <p:txBody>
          <a:bodyPr/>
          <a:lstStyle/>
          <a:p>
            <a:r>
              <a:rPr lang="it-IT" dirty="0"/>
              <a:t>Libreria standard (Java API)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108650" y="692619"/>
            <a:ext cx="9252650" cy="5663731"/>
          </a:xfrm>
        </p:spPr>
        <p:txBody>
          <a:bodyPr>
            <a:noAutofit/>
          </a:bodyPr>
          <a:lstStyle/>
          <a:p>
            <a:r>
              <a:rPr lang="it-IT" dirty="0">
                <a:effectLst/>
                <a:ea typeface="Times New Roman" panose="02020603050405020304" pitchFamily="18" charset="0"/>
              </a:rPr>
              <a:t>Organizzata in </a:t>
            </a:r>
            <a:r>
              <a:rPr lang="it-IT" b="1" dirty="0">
                <a:effectLst/>
                <a:ea typeface="Times New Roman" panose="02020603050405020304" pitchFamily="18" charset="0"/>
              </a:rPr>
              <a:t>moduli</a:t>
            </a:r>
            <a:r>
              <a:rPr lang="it-IT" dirty="0">
                <a:effectLst/>
                <a:ea typeface="Times New Roman" panose="02020603050405020304" pitchFamily="18" charset="0"/>
              </a:rPr>
              <a:t> che raggruppano package dipendenti tra loro. Tali package raccolgono tipi Java organizzati per campo d’utilizzo. I principali package storici (ovvero che esistono dalla prima versione di Java) :</a:t>
            </a:r>
          </a:p>
          <a:p>
            <a:pPr marL="180340" indent="180340"/>
            <a:r>
              <a:rPr lang="it-IT" b="1" dirty="0">
                <a:effectLst/>
                <a:ea typeface="MS Mincho" panose="02020609040205080304" pitchFamily="49" charset="-128"/>
                <a:cs typeface="Courier New" panose="02070309020205020404" pitchFamily="49" charset="0"/>
              </a:rPr>
              <a:t>java.io</a:t>
            </a:r>
            <a:r>
              <a:rPr lang="it-IT" dirty="0">
                <a:effectLst/>
                <a:ea typeface="MS Mincho" panose="02020609040205080304" pitchFamily="49" charset="-128"/>
              </a:rPr>
              <a:t> contiene tipi per realizzare operazioni di input e di output. Negli anni è stato affiancato da altri package complementari</a:t>
            </a:r>
          </a:p>
          <a:p>
            <a:pPr marL="180340" indent="180340"/>
            <a:r>
              <a:rPr lang="it-IT" b="1" dirty="0">
                <a:effectLst/>
                <a:ea typeface="MS Mincho" panose="02020609040205080304" pitchFamily="49" charset="-128"/>
                <a:cs typeface="Courier New" panose="02070309020205020404" pitchFamily="49" charset="0"/>
              </a:rPr>
              <a:t>java.awt</a:t>
            </a:r>
            <a:r>
              <a:rPr lang="it-IT" dirty="0">
                <a:effectLst/>
                <a:ea typeface="MS Mincho" panose="02020609040205080304" pitchFamily="49" charset="-128"/>
              </a:rPr>
              <a:t> contiene tipi che rappresentano i componenti (raramente utilizzati) per realizzare interfacce grafiche come </a:t>
            </a:r>
            <a:r>
              <a:rPr lang="it-IT" dirty="0">
                <a:effectLst/>
                <a:ea typeface="MS Mincho" panose="02020609040205080304" pitchFamily="49" charset="-128"/>
                <a:cs typeface="Courier New" panose="02070309020205020404" pitchFamily="49" charset="0"/>
              </a:rPr>
              <a:t>Button</a:t>
            </a:r>
            <a:r>
              <a:rPr lang="it-IT" dirty="0">
                <a:effectLst/>
                <a:ea typeface="MS Mincho" panose="02020609040205080304" pitchFamily="49" charset="-128"/>
              </a:rPr>
              <a:t>, o </a:t>
            </a:r>
            <a:r>
              <a:rPr lang="it-IT" dirty="0">
                <a:effectLst/>
                <a:ea typeface="MS Mincho" panose="02020609040205080304" pitchFamily="49" charset="-128"/>
                <a:cs typeface="Courier New" panose="02070309020205020404" pitchFamily="49" charset="0"/>
              </a:rPr>
              <a:t>Checkbox</a:t>
            </a:r>
            <a:r>
              <a:rPr lang="it-IT" dirty="0">
                <a:effectLst/>
                <a:ea typeface="MS Mincho" panose="02020609040205080304" pitchFamily="49" charset="-128"/>
              </a:rPr>
              <a:t>., </a:t>
            </a:r>
            <a:r>
              <a:rPr lang="it-IT" dirty="0">
                <a:effectLst/>
                <a:ea typeface="MS Mincho" panose="02020609040205080304" pitchFamily="49" charset="-128"/>
                <a:cs typeface="Courier New" panose="02070309020205020404" pitchFamily="49" charset="0"/>
              </a:rPr>
              <a:t>MouseEvent e BorderLayout</a:t>
            </a:r>
            <a:endParaRPr lang="it-IT" dirty="0">
              <a:effectLst/>
              <a:ea typeface="MS Mincho" panose="02020609040205080304" pitchFamily="49" charset="-128"/>
            </a:endParaRPr>
          </a:p>
          <a:p>
            <a:pPr marL="180340" indent="180340"/>
            <a:r>
              <a:rPr lang="it-IT" b="1" dirty="0">
                <a:effectLst/>
                <a:ea typeface="MS Mincho" panose="02020609040205080304" pitchFamily="49" charset="-128"/>
                <a:cs typeface="Courier New" panose="02070309020205020404" pitchFamily="49" charset="0"/>
              </a:rPr>
              <a:t>java.net</a:t>
            </a:r>
            <a:r>
              <a:rPr lang="it-IT" dirty="0">
                <a:effectLst/>
                <a:ea typeface="MS Mincho" panose="02020609040205080304" pitchFamily="49" charset="-128"/>
              </a:rPr>
              <a:t> contiene tipi per realizzare connessioni di rete, come </a:t>
            </a:r>
            <a:r>
              <a:rPr lang="it-IT" dirty="0">
                <a:effectLst/>
                <a:ea typeface="MS Mincho" panose="02020609040205080304" pitchFamily="49" charset="-128"/>
                <a:cs typeface="Courier New" panose="02070309020205020404" pitchFamily="49" charset="0"/>
              </a:rPr>
              <a:t>Socket</a:t>
            </a:r>
            <a:endParaRPr lang="it-IT" dirty="0">
              <a:effectLst/>
              <a:ea typeface="MS Mincho" panose="02020609040205080304" pitchFamily="49" charset="-128"/>
            </a:endParaRPr>
          </a:p>
          <a:p>
            <a:pPr marL="180340" indent="180340"/>
            <a:r>
              <a:rPr lang="it-IT" b="1" dirty="0">
                <a:effectLst/>
                <a:ea typeface="MS Mincho" panose="02020609040205080304" pitchFamily="49" charset="-128"/>
                <a:cs typeface="Courier New" panose="02070309020205020404" pitchFamily="49" charset="0"/>
              </a:rPr>
              <a:t>java.applet</a:t>
            </a:r>
            <a:r>
              <a:rPr lang="it-IT" dirty="0">
                <a:effectLst/>
                <a:ea typeface="MS Mincho" panose="02020609040205080304" pitchFamily="49" charset="-128"/>
              </a:rPr>
              <a:t> contiene un’unica classe: </a:t>
            </a:r>
            <a:r>
              <a:rPr lang="it-IT" dirty="0">
                <a:effectLst/>
                <a:ea typeface="MS Mincho" panose="02020609040205080304" pitchFamily="49" charset="-128"/>
                <a:cs typeface="Courier New" panose="02070309020205020404" pitchFamily="49" charset="0"/>
              </a:rPr>
              <a:t>Applet</a:t>
            </a:r>
            <a:r>
              <a:rPr lang="it-IT" dirty="0">
                <a:effectLst/>
                <a:ea typeface="MS Mincho" panose="02020609040205080304" pitchFamily="49" charset="-128"/>
              </a:rPr>
              <a:t>. Questa permetteva di realizzare applet. Con la versione 9 però, questa libreria è stata </a:t>
            </a:r>
            <a:r>
              <a:rPr lang="it-IT" b="1" dirty="0">
                <a:effectLst/>
                <a:ea typeface="MS Mincho" panose="02020609040205080304" pitchFamily="49" charset="-128"/>
              </a:rPr>
              <a:t>deprecata</a:t>
            </a:r>
            <a:endParaRPr lang="it-IT" b="1" dirty="0">
              <a:ea typeface="MS Mincho" panose="02020609040205080304" pitchFamily="49" charset="-128"/>
            </a:endParaRPr>
          </a:p>
          <a:p>
            <a:pPr marL="180340" indent="180340"/>
            <a:r>
              <a:rPr lang="it-IT" b="1" dirty="0">
                <a:effectLst/>
                <a:ea typeface="MS Mincho" panose="02020609040205080304" pitchFamily="49" charset="-128"/>
                <a:cs typeface="Courier New" panose="02070309020205020404" pitchFamily="49" charset="0"/>
              </a:rPr>
              <a:t>java.util</a:t>
            </a:r>
            <a:r>
              <a:rPr lang="it-IT" dirty="0">
                <a:effectLst/>
                <a:ea typeface="MS Mincho" panose="02020609040205080304" pitchFamily="49" charset="-128"/>
              </a:rPr>
              <a:t> raccoglie tantissime classi d’utilità come le note </a:t>
            </a:r>
            <a:r>
              <a:rPr lang="it-IT" i="1" dirty="0">
                <a:effectLst/>
                <a:ea typeface="MS Mincho" panose="02020609040205080304" pitchFamily="49" charset="-128"/>
              </a:rPr>
              <a:t>Collections</a:t>
            </a:r>
            <a:r>
              <a:rPr lang="it-IT" dirty="0">
                <a:effectLst/>
                <a:ea typeface="MS Mincho" panose="02020609040205080304" pitchFamily="49" charset="-128"/>
              </a:rPr>
              <a:t>.</a:t>
            </a:r>
          </a:p>
          <a:p>
            <a:pPr marL="180340" indent="180340"/>
            <a:r>
              <a:rPr lang="it-IT" b="1" dirty="0">
                <a:effectLst/>
                <a:ea typeface="MS Mincho" panose="02020609040205080304" pitchFamily="49" charset="-128"/>
                <a:cs typeface="Courier New" panose="02070309020205020404" pitchFamily="49" charset="0"/>
              </a:rPr>
              <a:t>java.lang</a:t>
            </a:r>
            <a:r>
              <a:rPr lang="it-IT" dirty="0">
                <a:effectLst/>
                <a:ea typeface="MS Mincho" panose="02020609040205080304" pitchFamily="49" charset="-128"/>
              </a:rPr>
              <a:t> è il package che contiene le classi nucleo del linguaggio, come </a:t>
            </a:r>
            <a:r>
              <a:rPr lang="it-IT" i="1" dirty="0">
                <a:effectLst/>
                <a:ea typeface="MS Mincho" panose="02020609040205080304" pitchFamily="49" charset="-128"/>
                <a:cs typeface="Courier New" panose="02070309020205020404" pitchFamily="49" charset="0"/>
              </a:rPr>
              <a:t>System</a:t>
            </a:r>
            <a:r>
              <a:rPr lang="it-IT" dirty="0">
                <a:effectLst/>
                <a:ea typeface="MS Mincho" panose="02020609040205080304" pitchFamily="49" charset="-128"/>
              </a:rPr>
              <a:t> e </a:t>
            </a:r>
            <a:r>
              <a:rPr lang="it-IT" i="1" dirty="0">
                <a:effectLst/>
                <a:ea typeface="MS Mincho" panose="02020609040205080304" pitchFamily="49" charset="-128"/>
                <a:cs typeface="Courier New" panose="02070309020205020404" pitchFamily="49" charset="0"/>
              </a:rPr>
              <a:t>String</a:t>
            </a:r>
            <a:r>
              <a:rPr lang="it-IT" dirty="0">
                <a:effectLst/>
                <a:ea typeface="MS Mincho" panose="02020609040205080304" pitchFamily="49" charset="-128"/>
              </a:rPr>
              <a: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48</a:t>
            </a:fld>
            <a:endParaRPr lang="it-IT"/>
          </a:p>
        </p:txBody>
      </p:sp>
    </p:spTree>
    <p:extLst>
      <p:ext uri="{BB962C8B-B14F-4D97-AF65-F5344CB8AC3E}">
        <p14:creationId xmlns:p14="http://schemas.microsoft.com/office/powerpoint/2010/main" val="5246181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Il comando import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49</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1403560" y="2743394"/>
            <a:ext cx="6228230" cy="4154984"/>
          </a:xfrm>
          <a:prstGeom prst="rect">
            <a:avLst/>
          </a:prstGeom>
          <a:noFill/>
        </p:spPr>
        <p:txBody>
          <a:bodyPr wrap="square">
            <a:spAutoFit/>
          </a:bodyPr>
          <a:lstStyle/>
          <a:p>
            <a:r>
              <a:rPr lang="it-IT" sz="2400" dirty="0">
                <a:solidFill>
                  <a:schemeClr val="accent5"/>
                </a:solidFill>
              </a:rPr>
              <a:t>import java.awt.*;</a:t>
            </a:r>
          </a:p>
          <a:p>
            <a:endParaRPr lang="it-IT" sz="2400" dirty="0">
              <a:solidFill>
                <a:schemeClr val="accent5"/>
              </a:solidFill>
            </a:endParaRPr>
          </a:p>
          <a:p>
            <a:r>
              <a:rPr lang="it-IT" sz="2400" dirty="0">
                <a:solidFill>
                  <a:schemeClr val="accent5"/>
                </a:solidFill>
              </a:rPr>
              <a:t>public class </a:t>
            </a:r>
            <a:r>
              <a:rPr lang="it-IT" sz="2400" dirty="0" err="1">
                <a:solidFill>
                  <a:schemeClr val="accent5"/>
                </a:solidFill>
              </a:rPr>
              <a:t>FinestraConBottone</a:t>
            </a:r>
            <a:r>
              <a:rPr lang="it-IT" sz="2400" dirty="0">
                <a:solidFill>
                  <a:schemeClr val="accent5"/>
                </a:solidFill>
              </a:rPr>
              <a:t> {</a:t>
            </a:r>
          </a:p>
          <a:p>
            <a:r>
              <a:rPr lang="it-IT" sz="2400" dirty="0">
                <a:solidFill>
                  <a:schemeClr val="accent5"/>
                </a:solidFill>
              </a:rPr>
              <a:t>    public static void main(String args[]) {</a:t>
            </a:r>
          </a:p>
          <a:p>
            <a:r>
              <a:rPr lang="it-IT" sz="2400" dirty="0">
                <a:solidFill>
                  <a:schemeClr val="accent5"/>
                </a:solidFill>
              </a:rPr>
              <a:t>        Frame finestra = new Frame("Titolo");</a:t>
            </a:r>
          </a:p>
          <a:p>
            <a:r>
              <a:rPr lang="it-IT" sz="2400" dirty="0">
                <a:solidFill>
                  <a:schemeClr val="accent5"/>
                </a:solidFill>
              </a:rPr>
              <a:t>        Button bottone = new Button("Cliccami");</a:t>
            </a:r>
          </a:p>
          <a:p>
            <a:r>
              <a:rPr lang="it-IT" sz="2400" dirty="0">
                <a:solidFill>
                  <a:schemeClr val="accent5"/>
                </a:solidFill>
              </a:rPr>
              <a:t>        </a:t>
            </a:r>
            <a:r>
              <a:rPr lang="it-IT" sz="2400" dirty="0" err="1">
                <a:solidFill>
                  <a:schemeClr val="accent5"/>
                </a:solidFill>
              </a:rPr>
              <a:t>finestra.add</a:t>
            </a:r>
            <a:r>
              <a:rPr lang="it-IT" sz="2400" dirty="0">
                <a:solidFill>
                  <a:schemeClr val="accent5"/>
                </a:solidFill>
              </a:rPr>
              <a:t>(bottone);</a:t>
            </a:r>
          </a:p>
          <a:p>
            <a:r>
              <a:rPr lang="it-IT" sz="2400" dirty="0">
                <a:solidFill>
                  <a:schemeClr val="accent5"/>
                </a:solidFill>
              </a:rPr>
              <a:t>        </a:t>
            </a:r>
            <a:r>
              <a:rPr lang="it-IT" sz="2400" dirty="0" err="1">
                <a:solidFill>
                  <a:schemeClr val="accent5"/>
                </a:solidFill>
              </a:rPr>
              <a:t>finestra.setSize</a:t>
            </a:r>
            <a:r>
              <a:rPr lang="it-IT" sz="2400" dirty="0">
                <a:solidFill>
                  <a:schemeClr val="accent5"/>
                </a:solidFill>
              </a:rPr>
              <a:t>(200,100);</a:t>
            </a:r>
          </a:p>
          <a:p>
            <a:r>
              <a:rPr lang="it-IT" sz="2400" dirty="0">
                <a:solidFill>
                  <a:schemeClr val="accent5"/>
                </a:solidFill>
              </a:rPr>
              <a:t>        </a:t>
            </a:r>
            <a:r>
              <a:rPr lang="it-IT" sz="2400" dirty="0" err="1">
                <a:solidFill>
                  <a:schemeClr val="accent5"/>
                </a:solidFill>
              </a:rPr>
              <a:t>finestra.setVisible</a:t>
            </a:r>
            <a:r>
              <a:rPr lang="it-IT" sz="2400" dirty="0">
                <a:solidFill>
                  <a:schemeClr val="accent5"/>
                </a:solidFill>
              </a:rPr>
              <a:t>(true);</a:t>
            </a:r>
          </a:p>
          <a:p>
            <a:r>
              <a:rPr lang="it-IT" sz="2400" dirty="0">
                <a:solidFill>
                  <a:schemeClr val="accent5"/>
                </a:solidFill>
              </a:rPr>
              <a:t>    }</a:t>
            </a:r>
          </a:p>
          <a:p>
            <a:r>
              <a:rPr lang="it-IT" sz="2400" dirty="0">
                <a:solidFill>
                  <a:schemeClr val="accent5"/>
                </a:solidFill>
              </a:rPr>
              <a:t>}</a:t>
            </a:r>
          </a:p>
        </p:txBody>
      </p:sp>
      <p:sp>
        <p:nvSpPr>
          <p:cNvPr id="8" name="CasellaDiTesto 7">
            <a:extLst>
              <a:ext uri="{FF2B5EF4-FFF2-40B4-BE49-F238E27FC236}">
                <a16:creationId xmlns:a16="http://schemas.microsoft.com/office/drawing/2014/main" id="{A46C3B35-6CD6-4DA2-8980-29DC5DB4E0F9}"/>
              </a:ext>
            </a:extLst>
          </p:cNvPr>
          <p:cNvSpPr txBox="1"/>
          <p:nvPr/>
        </p:nvSpPr>
        <p:spPr>
          <a:xfrm>
            <a:off x="-108649" y="1123607"/>
            <a:ext cx="9252649" cy="1569660"/>
          </a:xfrm>
          <a:prstGeom prst="rect">
            <a:avLst/>
          </a:prstGeom>
          <a:noFill/>
        </p:spPr>
        <p:txBody>
          <a:bodyPr wrap="square">
            <a:spAutoFit/>
          </a:bodyPr>
          <a:lstStyle/>
          <a:p>
            <a:r>
              <a:rPr lang="it-IT" sz="2400" dirty="0">
                <a:effectLst/>
                <a:latin typeface="Times New Roman" panose="02020603050405020304" pitchFamily="18" charset="0"/>
                <a:ea typeface="Times New Roman" panose="02020603050405020304" pitchFamily="18" charset="0"/>
              </a:rPr>
              <a:t>Per utilizzare una classe della libreria all’interno del nostro codice, bisogna prima importarla: </a:t>
            </a:r>
            <a:r>
              <a:rPr lang="it-IT" sz="2400" dirty="0">
                <a:solidFill>
                  <a:schemeClr val="accent5"/>
                </a:solidFill>
                <a:effectLst/>
                <a:latin typeface="Courier New" panose="02070309020205020404" pitchFamily="49" charset="0"/>
                <a:ea typeface="Times New Roman" panose="02020603050405020304" pitchFamily="18" charset="0"/>
              </a:rPr>
              <a:t>import java.util.Date;</a:t>
            </a:r>
          </a:p>
          <a:p>
            <a:r>
              <a:rPr lang="it-IT" sz="2400" dirty="0">
                <a:effectLst/>
                <a:latin typeface="Times New Roman" panose="02020603050405020304" pitchFamily="18" charset="0"/>
                <a:ea typeface="Times New Roman" panose="02020603050405020304" pitchFamily="18" charset="0"/>
              </a:rPr>
              <a:t>oppure, per importare tutte le classi del package </a:t>
            </a:r>
            <a:r>
              <a:rPr lang="it-IT" sz="2400" dirty="0">
                <a:effectLst/>
                <a:latin typeface="Courier New" panose="02070309020205020404" pitchFamily="49" charset="0"/>
                <a:ea typeface="Times New Roman" panose="02020603050405020304" pitchFamily="18" charset="0"/>
                <a:cs typeface="Courier New" panose="02070309020205020404" pitchFamily="49" charset="0"/>
              </a:rPr>
              <a:t>java.util</a:t>
            </a:r>
            <a:r>
              <a:rPr lang="it-IT" sz="2400" dirty="0">
                <a:effectLst/>
                <a:latin typeface="Times New Roman" panose="02020603050405020304" pitchFamily="18" charset="0"/>
                <a:ea typeface="Times New Roman" panose="02020603050405020304" pitchFamily="18" charset="0"/>
              </a:rPr>
              <a:t>:</a:t>
            </a:r>
          </a:p>
          <a:p>
            <a:r>
              <a:rPr lang="it-IT" sz="2400" dirty="0">
                <a:solidFill>
                  <a:schemeClr val="accent5"/>
                </a:solidFill>
                <a:effectLst/>
                <a:latin typeface="Courier New" panose="02070309020205020404" pitchFamily="49" charset="0"/>
                <a:ea typeface="Times New Roman" panose="02020603050405020304" pitchFamily="18" charset="0"/>
              </a:rPr>
              <a:t>import java.util.*;</a:t>
            </a:r>
          </a:p>
        </p:txBody>
      </p:sp>
    </p:spTree>
    <p:extLst>
      <p:ext uri="{BB962C8B-B14F-4D97-AF65-F5344CB8AC3E}">
        <p14:creationId xmlns:p14="http://schemas.microsoft.com/office/powerpoint/2010/main" val="12843384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1"/>
            <a:ext cx="8119930" cy="802126"/>
          </a:xfrm>
        </p:spPr>
        <p:txBody>
          <a:bodyPr/>
          <a:lstStyle/>
          <a:p>
            <a:r>
              <a:rPr lang="it-IT" dirty="0"/>
              <a:t>La classe String</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50</a:t>
            </a:fld>
            <a:endParaRPr lang="it-IT"/>
          </a:p>
        </p:txBody>
      </p:sp>
      <p:sp>
        <p:nvSpPr>
          <p:cNvPr id="13" name="CasellaDiTesto 12">
            <a:extLst>
              <a:ext uri="{FF2B5EF4-FFF2-40B4-BE49-F238E27FC236}">
                <a16:creationId xmlns:a16="http://schemas.microsoft.com/office/drawing/2014/main" id="{B81B376C-7A02-4642-97E9-95A01B476877}"/>
              </a:ext>
            </a:extLst>
          </p:cNvPr>
          <p:cNvSpPr txBox="1"/>
          <p:nvPr/>
        </p:nvSpPr>
        <p:spPr>
          <a:xfrm>
            <a:off x="0" y="1262451"/>
            <a:ext cx="9144000" cy="5262979"/>
          </a:xfrm>
          <a:prstGeom prst="rect">
            <a:avLst/>
          </a:prstGeom>
          <a:noFill/>
        </p:spPr>
        <p:txBody>
          <a:bodyPr wrap="square">
            <a:spAutoFit/>
          </a:bodyPr>
          <a:lstStyle/>
          <a:p>
            <a:pPr marL="285750" indent="-285750">
              <a:buFont typeface="Arial" panose="020B0604020202020204" pitchFamily="34" charset="0"/>
              <a:buChar char="•"/>
            </a:pPr>
            <a:r>
              <a:rPr lang="it-IT" sz="2800" dirty="0"/>
              <a:t>Istanziare stringhe:</a:t>
            </a:r>
          </a:p>
          <a:p>
            <a:r>
              <a:rPr lang="it-IT" sz="2800" dirty="0">
                <a:solidFill>
                  <a:schemeClr val="accent5"/>
                </a:solidFill>
              </a:rPr>
              <a:t>String nome = "Salvatore Quasimodo";</a:t>
            </a:r>
          </a:p>
          <a:p>
            <a:r>
              <a:rPr lang="it-IT" sz="2800" dirty="0">
                <a:solidFill>
                  <a:schemeClr val="accent5"/>
                </a:solidFill>
              </a:rPr>
              <a:t>String nome = new String("Salvatore Quasimodo");</a:t>
            </a:r>
          </a:p>
          <a:p>
            <a:pPr marL="285750" indent="-285750">
              <a:buFont typeface="Arial" panose="020B0604020202020204" pitchFamily="34" charset="0"/>
              <a:buChar char="•"/>
            </a:pPr>
            <a:r>
              <a:rPr lang="it-IT" sz="2800" dirty="0"/>
              <a:t>Operazioni con le stringhe:</a:t>
            </a:r>
          </a:p>
          <a:p>
            <a:r>
              <a:rPr lang="it-IT" sz="2800" dirty="0">
                <a:solidFill>
                  <a:schemeClr val="accent5"/>
                </a:solidFill>
              </a:rPr>
              <a:t>String java = "Java";</a:t>
            </a:r>
          </a:p>
          <a:p>
            <a:r>
              <a:rPr lang="it-IT" sz="2800" dirty="0">
                <a:solidFill>
                  <a:schemeClr val="accent5"/>
                </a:solidFill>
              </a:rPr>
              <a:t>char charAt2 = </a:t>
            </a:r>
            <a:r>
              <a:rPr lang="it-IT" sz="2800" dirty="0" err="1">
                <a:solidFill>
                  <a:schemeClr val="accent5"/>
                </a:solidFill>
              </a:rPr>
              <a:t>java.charAt</a:t>
            </a:r>
            <a:r>
              <a:rPr lang="it-IT" sz="2800" dirty="0">
                <a:solidFill>
                  <a:schemeClr val="accent5"/>
                </a:solidFill>
              </a:rPr>
              <a:t>(2);</a:t>
            </a:r>
          </a:p>
          <a:p>
            <a:r>
              <a:rPr lang="it-IT" sz="2800" dirty="0">
                <a:solidFill>
                  <a:schemeClr val="accent5"/>
                </a:solidFill>
              </a:rPr>
              <a:t>System.out.println(charAt2);		// Stampa v</a:t>
            </a:r>
          </a:p>
          <a:p>
            <a:r>
              <a:rPr lang="it-IT" sz="2800" dirty="0">
                <a:solidFill>
                  <a:schemeClr val="accent5"/>
                </a:solidFill>
              </a:rPr>
              <a:t>int </a:t>
            </a:r>
            <a:r>
              <a:rPr lang="it-IT" sz="2800" dirty="0" err="1">
                <a:solidFill>
                  <a:schemeClr val="accent5"/>
                </a:solidFill>
              </a:rPr>
              <a:t>indexOfA</a:t>
            </a:r>
            <a:r>
              <a:rPr lang="it-IT" sz="2800" dirty="0">
                <a:solidFill>
                  <a:schemeClr val="accent5"/>
                </a:solidFill>
              </a:rPr>
              <a:t> = </a:t>
            </a:r>
            <a:r>
              <a:rPr lang="it-IT" sz="2800" dirty="0" err="1">
                <a:solidFill>
                  <a:schemeClr val="accent5"/>
                </a:solidFill>
              </a:rPr>
              <a:t>java.indexOf</a:t>
            </a:r>
            <a:r>
              <a:rPr lang="it-IT" sz="2800" dirty="0">
                <a:solidFill>
                  <a:schemeClr val="accent5"/>
                </a:solidFill>
              </a:rPr>
              <a:t>("a");</a:t>
            </a:r>
          </a:p>
          <a:p>
            <a:r>
              <a:rPr lang="it-IT" sz="2800" dirty="0">
                <a:solidFill>
                  <a:schemeClr val="accent5"/>
                </a:solidFill>
              </a:rPr>
              <a:t>System.out.println(</a:t>
            </a:r>
            <a:r>
              <a:rPr lang="it-IT" sz="2800" dirty="0" err="1">
                <a:solidFill>
                  <a:schemeClr val="accent5"/>
                </a:solidFill>
              </a:rPr>
              <a:t>indexOfA</a:t>
            </a:r>
            <a:r>
              <a:rPr lang="it-IT" sz="2800" dirty="0">
                <a:solidFill>
                  <a:schemeClr val="accent5"/>
                </a:solidFill>
              </a:rPr>
              <a:t>);		// Stampa 1</a:t>
            </a:r>
          </a:p>
          <a:p>
            <a:r>
              <a:rPr lang="it-IT" sz="2800" dirty="0">
                <a:solidFill>
                  <a:schemeClr val="accent5"/>
                </a:solidFill>
              </a:rPr>
              <a:t>int lunghezza = </a:t>
            </a:r>
            <a:r>
              <a:rPr lang="it-IT" sz="2800" dirty="0" err="1">
                <a:solidFill>
                  <a:schemeClr val="accent5"/>
                </a:solidFill>
              </a:rPr>
              <a:t>java.length</a:t>
            </a:r>
            <a:r>
              <a:rPr lang="it-IT" sz="2800" dirty="0">
                <a:solidFill>
                  <a:schemeClr val="accent5"/>
                </a:solidFill>
              </a:rPr>
              <a:t>();</a:t>
            </a:r>
          </a:p>
          <a:p>
            <a:r>
              <a:rPr lang="it-IT" sz="2800" dirty="0">
                <a:solidFill>
                  <a:schemeClr val="accent5"/>
                </a:solidFill>
              </a:rPr>
              <a:t>System.out.println(lunghezza);		// Stampa 4</a:t>
            </a:r>
          </a:p>
          <a:p>
            <a:endParaRPr lang="it-IT" sz="2800" dirty="0"/>
          </a:p>
        </p:txBody>
      </p:sp>
    </p:spTree>
    <p:extLst>
      <p:ext uri="{BB962C8B-B14F-4D97-AF65-F5344CB8AC3E}">
        <p14:creationId xmlns:p14="http://schemas.microsoft.com/office/powerpoint/2010/main" val="4430145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1"/>
            <a:ext cx="8119930" cy="802126"/>
          </a:xfrm>
        </p:spPr>
        <p:txBody>
          <a:bodyPr/>
          <a:lstStyle/>
          <a:p>
            <a:r>
              <a:rPr lang="it-IT" dirty="0"/>
              <a:t>La classe String</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51</a:t>
            </a:fld>
            <a:endParaRPr lang="it-IT"/>
          </a:p>
        </p:txBody>
      </p:sp>
      <p:sp>
        <p:nvSpPr>
          <p:cNvPr id="13" name="CasellaDiTesto 12">
            <a:extLst>
              <a:ext uri="{FF2B5EF4-FFF2-40B4-BE49-F238E27FC236}">
                <a16:creationId xmlns:a16="http://schemas.microsoft.com/office/drawing/2014/main" id="{B81B376C-7A02-4642-97E9-95A01B476877}"/>
              </a:ext>
            </a:extLst>
          </p:cNvPr>
          <p:cNvSpPr txBox="1"/>
          <p:nvPr/>
        </p:nvSpPr>
        <p:spPr>
          <a:xfrm>
            <a:off x="0" y="980660"/>
            <a:ext cx="9144000" cy="5693866"/>
          </a:xfrm>
          <a:prstGeom prst="rect">
            <a:avLst/>
          </a:prstGeom>
          <a:noFill/>
        </p:spPr>
        <p:txBody>
          <a:bodyPr wrap="square">
            <a:spAutoFit/>
          </a:bodyPr>
          <a:lstStyle/>
          <a:p>
            <a:pPr marL="285750" indent="-285750">
              <a:buFont typeface="Arial" panose="020B0604020202020204" pitchFamily="34" charset="0"/>
              <a:buChar char="•"/>
            </a:pPr>
            <a:r>
              <a:rPr lang="it-IT" sz="2800" dirty="0"/>
              <a:t>Immutabilità (e caching):</a:t>
            </a:r>
          </a:p>
          <a:p>
            <a:r>
              <a:rPr lang="it-IT" sz="2800" dirty="0">
                <a:solidFill>
                  <a:schemeClr val="accent5"/>
                </a:solidFill>
              </a:rPr>
              <a:t>String a = "claudio";</a:t>
            </a:r>
          </a:p>
          <a:p>
            <a:r>
              <a:rPr lang="it-IT" sz="2800" dirty="0">
                <a:solidFill>
                  <a:schemeClr val="accent5"/>
                </a:solidFill>
              </a:rPr>
              <a:t>String b = </a:t>
            </a:r>
            <a:r>
              <a:rPr lang="it-IT" sz="2800" dirty="0" err="1">
                <a:solidFill>
                  <a:schemeClr val="accent5"/>
                </a:solidFill>
              </a:rPr>
              <a:t>a.toUpperCase</a:t>
            </a:r>
            <a:r>
              <a:rPr lang="it-IT" sz="2800" dirty="0">
                <a:solidFill>
                  <a:schemeClr val="accent5"/>
                </a:solidFill>
              </a:rPr>
              <a:t>();</a:t>
            </a:r>
          </a:p>
          <a:p>
            <a:r>
              <a:rPr lang="it-IT" sz="2800" dirty="0">
                <a:solidFill>
                  <a:schemeClr val="accent5"/>
                </a:solidFill>
              </a:rPr>
              <a:t>System.out.println(a); // a rimane immutato</a:t>
            </a:r>
          </a:p>
          <a:p>
            <a:r>
              <a:rPr lang="it-IT" sz="2800" dirty="0">
                <a:solidFill>
                  <a:schemeClr val="accent5"/>
                </a:solidFill>
              </a:rPr>
              <a:t>System.out.println(b); // b è la stringa maiuscola</a:t>
            </a:r>
          </a:p>
          <a:p>
            <a:r>
              <a:rPr lang="it-IT" sz="2800" dirty="0"/>
              <a:t>produce il seguente output:</a:t>
            </a:r>
          </a:p>
          <a:p>
            <a:r>
              <a:rPr lang="it-IT" sz="2800" dirty="0">
                <a:solidFill>
                  <a:schemeClr val="accent3"/>
                </a:solidFill>
              </a:rPr>
              <a:t>claudio</a:t>
            </a:r>
          </a:p>
          <a:p>
            <a:r>
              <a:rPr lang="it-IT" sz="2800" dirty="0">
                <a:solidFill>
                  <a:schemeClr val="accent3"/>
                </a:solidFill>
              </a:rPr>
              <a:t>CLAUDIO</a:t>
            </a:r>
          </a:p>
          <a:p>
            <a:pPr marL="285750" indent="-285750">
              <a:buFont typeface="Arial" panose="020B0604020202020204" pitchFamily="34" charset="0"/>
              <a:buChar char="•"/>
            </a:pPr>
            <a:r>
              <a:rPr lang="it-IT" sz="2800" dirty="0"/>
              <a:t>Non significa costante:</a:t>
            </a:r>
          </a:p>
          <a:p>
            <a:r>
              <a:rPr lang="it-IT" sz="2800" dirty="0">
                <a:solidFill>
                  <a:schemeClr val="accent5"/>
                </a:solidFill>
              </a:rPr>
              <a:t>String s1 = "Elliot";</a:t>
            </a:r>
          </a:p>
          <a:p>
            <a:r>
              <a:rPr lang="it-IT" sz="2800" dirty="0">
                <a:solidFill>
                  <a:schemeClr val="accent5"/>
                </a:solidFill>
              </a:rPr>
              <a:t>System.out.println(s1);</a:t>
            </a:r>
          </a:p>
          <a:p>
            <a:r>
              <a:rPr lang="it-IT" sz="2800" dirty="0">
                <a:solidFill>
                  <a:schemeClr val="accent5"/>
                </a:solidFill>
              </a:rPr>
              <a:t>s1 = "Alderson";</a:t>
            </a:r>
          </a:p>
          <a:p>
            <a:r>
              <a:rPr lang="it-IT" sz="2800" dirty="0">
                <a:solidFill>
                  <a:schemeClr val="accent5"/>
                </a:solidFill>
              </a:rPr>
              <a:t>System.out.println(s1); </a:t>
            </a:r>
            <a:endParaRPr lang="it-IT" sz="2800" dirty="0"/>
          </a:p>
        </p:txBody>
      </p:sp>
    </p:spTree>
    <p:extLst>
      <p:ext uri="{BB962C8B-B14F-4D97-AF65-F5344CB8AC3E}">
        <p14:creationId xmlns:p14="http://schemas.microsoft.com/office/powerpoint/2010/main" val="25882231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1"/>
            <a:ext cx="8119930" cy="802126"/>
          </a:xfrm>
        </p:spPr>
        <p:txBody>
          <a:bodyPr/>
          <a:lstStyle/>
          <a:p>
            <a:r>
              <a:rPr lang="it-IT" dirty="0"/>
              <a:t>La classe String</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52</a:t>
            </a:fld>
            <a:endParaRPr lang="it-IT"/>
          </a:p>
        </p:txBody>
      </p:sp>
      <p:sp>
        <p:nvSpPr>
          <p:cNvPr id="13" name="CasellaDiTesto 12">
            <a:extLst>
              <a:ext uri="{FF2B5EF4-FFF2-40B4-BE49-F238E27FC236}">
                <a16:creationId xmlns:a16="http://schemas.microsoft.com/office/drawing/2014/main" id="{B81B376C-7A02-4642-97E9-95A01B476877}"/>
              </a:ext>
            </a:extLst>
          </p:cNvPr>
          <p:cNvSpPr txBox="1"/>
          <p:nvPr/>
        </p:nvSpPr>
        <p:spPr>
          <a:xfrm>
            <a:off x="683460" y="1702028"/>
            <a:ext cx="8353160" cy="3046988"/>
          </a:xfrm>
          <a:prstGeom prst="rect">
            <a:avLst/>
          </a:prstGeom>
          <a:noFill/>
        </p:spPr>
        <p:txBody>
          <a:bodyPr wrap="square">
            <a:spAutoFit/>
          </a:bodyPr>
          <a:lstStyle/>
          <a:p>
            <a:pPr marL="285750" indent="-285750">
              <a:buFont typeface="Arial" panose="020B0604020202020204" pitchFamily="34" charset="0"/>
              <a:buChar char="•"/>
            </a:pPr>
            <a:r>
              <a:rPr lang="it-IT" sz="3200" dirty="0"/>
              <a:t>Literals uso dei caratteri di escape</a:t>
            </a:r>
          </a:p>
          <a:p>
            <a:r>
              <a:rPr lang="it-IT" sz="3200" dirty="0">
                <a:solidFill>
                  <a:schemeClr val="accent5"/>
                </a:solidFill>
              </a:rPr>
              <a:t>char </a:t>
            </a:r>
            <a:r>
              <a:rPr lang="it-IT" sz="3200" dirty="0" err="1">
                <a:solidFill>
                  <a:schemeClr val="accent5"/>
                </a:solidFill>
              </a:rPr>
              <a:t>doppioApice</a:t>
            </a:r>
            <a:r>
              <a:rPr lang="it-IT" sz="3200" dirty="0">
                <a:solidFill>
                  <a:schemeClr val="accent5"/>
                </a:solidFill>
              </a:rPr>
              <a:t> = '"';		 // Ok</a:t>
            </a:r>
          </a:p>
          <a:p>
            <a:r>
              <a:rPr lang="it-IT" sz="3200" dirty="0">
                <a:solidFill>
                  <a:schemeClr val="accent5"/>
                </a:solidFill>
              </a:rPr>
              <a:t>char apice = '\'';		 		// Ok</a:t>
            </a:r>
          </a:p>
          <a:p>
            <a:r>
              <a:rPr lang="it-IT" sz="3200" dirty="0">
                <a:solidFill>
                  <a:schemeClr val="accent5"/>
                </a:solidFill>
              </a:rPr>
              <a:t>System.out.println("'IQ'");		// Ok</a:t>
            </a:r>
          </a:p>
          <a:p>
            <a:r>
              <a:rPr lang="it-IT" sz="3200" dirty="0">
                <a:solidFill>
                  <a:schemeClr val="accent5"/>
                </a:solidFill>
              </a:rPr>
              <a:t>System.out.println(""IQ"");	 	// Errore</a:t>
            </a:r>
          </a:p>
          <a:p>
            <a:r>
              <a:rPr lang="it-IT" sz="3200" dirty="0">
                <a:solidFill>
                  <a:schemeClr val="accent5"/>
                </a:solidFill>
              </a:rPr>
              <a:t>System.out.println("\"IQ\"");	// Ok</a:t>
            </a:r>
          </a:p>
        </p:txBody>
      </p:sp>
    </p:spTree>
    <p:extLst>
      <p:ext uri="{BB962C8B-B14F-4D97-AF65-F5344CB8AC3E}">
        <p14:creationId xmlns:p14="http://schemas.microsoft.com/office/powerpoint/2010/main" val="41837202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467430" y="116541"/>
            <a:ext cx="8119930" cy="936130"/>
          </a:xfrm>
        </p:spPr>
        <p:txBody>
          <a:bodyPr/>
          <a:lstStyle/>
          <a:p>
            <a:r>
              <a:rPr lang="it-IT" dirty="0"/>
              <a:t>Documentazione e javadoc</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53</a:t>
            </a:fld>
            <a:endParaRPr lang="it-IT"/>
          </a:p>
        </p:txBody>
      </p:sp>
      <p:sp>
        <p:nvSpPr>
          <p:cNvPr id="14" name="CasellaDiTesto 13">
            <a:extLst>
              <a:ext uri="{FF2B5EF4-FFF2-40B4-BE49-F238E27FC236}">
                <a16:creationId xmlns:a16="http://schemas.microsoft.com/office/drawing/2014/main" id="{AA029743-F6AB-4EC0-8A06-9E7EBCE68B0E}"/>
              </a:ext>
            </a:extLst>
          </p:cNvPr>
          <p:cNvSpPr txBox="1"/>
          <p:nvPr/>
        </p:nvSpPr>
        <p:spPr>
          <a:xfrm>
            <a:off x="0" y="1052670"/>
            <a:ext cx="9144000" cy="6740307"/>
          </a:xfrm>
          <a:prstGeom prst="rect">
            <a:avLst/>
          </a:prstGeom>
          <a:noFill/>
        </p:spPr>
        <p:txBody>
          <a:bodyPr wrap="square">
            <a:spAutoFit/>
          </a:bodyPr>
          <a:lstStyle/>
          <a:p>
            <a:pPr marL="457200" indent="-457200">
              <a:buFont typeface="Arial" panose="020B0604020202020204" pitchFamily="34" charset="0"/>
              <a:buChar char="•"/>
            </a:pPr>
            <a:r>
              <a:rPr lang="it-IT" sz="2400" dirty="0"/>
              <a:t>Non imparare a memoria: la documentazione ufficiale è insostituibile (in inglese), le librerie sono in continua evoluzione, la documentazione è in HTML e permette una rapida consultazione. </a:t>
            </a:r>
          </a:p>
          <a:p>
            <a:pPr marL="342900" indent="-342900">
              <a:buFont typeface="Arial" panose="020B0604020202020204" pitchFamily="34" charset="0"/>
              <a:buChar char="•"/>
            </a:pPr>
            <a:r>
              <a:rPr lang="it-IT" sz="2400" dirty="0"/>
              <a:t>Internet è una fonte inesauribile di informazioni ed esempi</a:t>
            </a:r>
          </a:p>
          <a:p>
            <a:pPr marL="342900" indent="-342900">
              <a:buFont typeface="Arial" panose="020B0604020202020204" pitchFamily="34" charset="0"/>
              <a:buChar char="•"/>
            </a:pPr>
            <a:r>
              <a:rPr lang="it-IT" sz="2400" dirty="0"/>
              <a:t>Javadoc: scrivere all’interno del file sorgente il codice opportunamente commentato. Bisogna utilizzare commenti del terzo tipo, quelli compresi tra /** e */:</a:t>
            </a:r>
          </a:p>
          <a:p>
            <a:pPr lvl="1"/>
            <a:r>
              <a:rPr lang="it-IT" sz="2400" dirty="0">
                <a:solidFill>
                  <a:schemeClr val="accent5"/>
                </a:solidFill>
              </a:rPr>
              <a:t>/**</a:t>
            </a:r>
          </a:p>
          <a:p>
            <a:pPr lvl="1"/>
            <a:r>
              <a:rPr lang="it-IT" sz="2400" dirty="0">
                <a:solidFill>
                  <a:schemeClr val="accent5"/>
                </a:solidFill>
              </a:rPr>
              <a:t> Questo è un metodo!</a:t>
            </a:r>
          </a:p>
          <a:p>
            <a:pPr lvl="1"/>
            <a:r>
              <a:rPr lang="it-IT" sz="2400" dirty="0">
                <a:solidFill>
                  <a:schemeClr val="accent5"/>
                </a:solidFill>
              </a:rPr>
              <a:t>*/</a:t>
            </a:r>
          </a:p>
          <a:p>
            <a:pPr lvl="1"/>
            <a:r>
              <a:rPr lang="it-IT" sz="2400" dirty="0">
                <a:solidFill>
                  <a:schemeClr val="accent5"/>
                </a:solidFill>
              </a:rPr>
              <a:t>public void metodo() {</a:t>
            </a:r>
          </a:p>
          <a:p>
            <a:pPr lvl="1"/>
            <a:r>
              <a:rPr lang="it-IT" sz="2400" dirty="0">
                <a:solidFill>
                  <a:schemeClr val="accent5"/>
                </a:solidFill>
              </a:rPr>
              <a:t>    ...</a:t>
            </a:r>
          </a:p>
          <a:p>
            <a:pPr lvl="1"/>
            <a:r>
              <a:rPr lang="it-IT" sz="2400" dirty="0">
                <a:solidFill>
                  <a:schemeClr val="accent5"/>
                </a:solidFill>
              </a:rPr>
              <a:t>}</a:t>
            </a:r>
          </a:p>
          <a:p>
            <a:pPr marL="342900" indent="-342900">
              <a:buFont typeface="Arial" panose="020B0604020202020204" pitchFamily="34" charset="0"/>
              <a:buChar char="•"/>
            </a:pPr>
            <a:r>
              <a:rPr lang="it-IT" sz="2400" dirty="0"/>
              <a:t>Utilizzare il tool javadoc. dal prompt, digitare:</a:t>
            </a:r>
          </a:p>
          <a:p>
            <a:pPr marL="342900" indent="-342900">
              <a:buFont typeface="Arial" panose="020B0604020202020204" pitchFamily="34" charset="0"/>
              <a:buChar char="•"/>
            </a:pPr>
            <a:r>
              <a:rPr lang="it-IT" sz="2400" dirty="0">
                <a:solidFill>
                  <a:schemeClr val="accent3"/>
                </a:solidFill>
              </a:rPr>
              <a:t>javadoc nomeFile.java</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p:spTree>
    <p:extLst>
      <p:ext uri="{BB962C8B-B14F-4D97-AF65-F5344CB8AC3E}">
        <p14:creationId xmlns:p14="http://schemas.microsoft.com/office/powerpoint/2010/main" val="36163977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54</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0" y="908650"/>
            <a:ext cx="9144000" cy="6370975"/>
          </a:xfrm>
          <a:prstGeom prst="rect">
            <a:avLst/>
          </a:prstGeom>
          <a:noFill/>
        </p:spPr>
        <p:txBody>
          <a:bodyPr wrap="square">
            <a:spAutoFit/>
          </a:bodyPr>
          <a:lstStyle/>
          <a:p>
            <a:pPr marL="342900" indent="-342900">
              <a:buFont typeface="Arial" panose="020B0604020202020204" pitchFamily="34" charset="0"/>
              <a:buChar char="•"/>
            </a:pPr>
            <a:r>
              <a:rPr lang="it-IT" sz="2400" dirty="0"/>
              <a:t>Un array è una collezione indicizzata di dati primitivi o complessi o di altri array, sono oggetti ma hanno una sintassi speciale</a:t>
            </a:r>
          </a:p>
          <a:p>
            <a:pPr marL="342900" indent="-342900">
              <a:buFont typeface="Arial" panose="020B0604020202020204" pitchFamily="34" charset="0"/>
              <a:buChar char="•"/>
            </a:pPr>
            <a:r>
              <a:rPr lang="it-IT" sz="2400" dirty="0"/>
              <a:t>Possiamo un solo identificatore per individuare una collezione costituita da vari elementi accessibili tramite indici interi. </a:t>
            </a:r>
          </a:p>
          <a:p>
            <a:pPr marL="342900" indent="-342900">
              <a:buFont typeface="Arial" panose="020B0604020202020204" pitchFamily="34" charset="0"/>
              <a:buChar char="•"/>
            </a:pPr>
            <a:r>
              <a:rPr lang="it-IT" sz="2400" dirty="0"/>
              <a:t>Tre fasi: dichiarazione, creazione ed inizializzazione:</a:t>
            </a:r>
          </a:p>
          <a:p>
            <a:r>
              <a:rPr lang="pt-BR" sz="2400" dirty="0">
                <a:solidFill>
                  <a:schemeClr val="accent5"/>
                </a:solidFill>
              </a:rPr>
              <a:t>char alfabeto []; // char [] alfabeto;</a:t>
            </a:r>
          </a:p>
          <a:p>
            <a:endParaRPr lang="pt-BR" sz="2400" dirty="0">
              <a:solidFill>
                <a:schemeClr val="accent5"/>
              </a:solidFill>
            </a:endParaRPr>
          </a:p>
          <a:p>
            <a:r>
              <a:rPr lang="en-US" sz="2400" dirty="0" err="1">
                <a:solidFill>
                  <a:schemeClr val="accent5"/>
                </a:solidFill>
              </a:rPr>
              <a:t>alfabeto</a:t>
            </a:r>
            <a:r>
              <a:rPr lang="en-US" sz="2400" dirty="0">
                <a:solidFill>
                  <a:schemeClr val="accent5"/>
                </a:solidFill>
              </a:rPr>
              <a:t> = new char[21];</a:t>
            </a:r>
          </a:p>
          <a:p>
            <a:endParaRPr lang="en-US" sz="2400" dirty="0">
              <a:solidFill>
                <a:schemeClr val="accent5"/>
              </a:solidFill>
            </a:endParaRPr>
          </a:p>
          <a:p>
            <a:r>
              <a:rPr lang="en-US" sz="2400" dirty="0" err="1">
                <a:solidFill>
                  <a:schemeClr val="accent5"/>
                </a:solidFill>
              </a:rPr>
              <a:t>alfabeto</a:t>
            </a:r>
            <a:r>
              <a:rPr lang="en-US" sz="2400" dirty="0">
                <a:solidFill>
                  <a:schemeClr val="accent5"/>
                </a:solidFill>
              </a:rPr>
              <a:t>[0] = 'a';</a:t>
            </a:r>
          </a:p>
          <a:p>
            <a:r>
              <a:rPr lang="en-US" sz="2400" dirty="0" err="1">
                <a:solidFill>
                  <a:schemeClr val="accent5"/>
                </a:solidFill>
              </a:rPr>
              <a:t>alfabeto</a:t>
            </a:r>
            <a:r>
              <a:rPr lang="en-US" sz="2400" dirty="0">
                <a:solidFill>
                  <a:schemeClr val="accent5"/>
                </a:solidFill>
              </a:rPr>
              <a:t>[1] = 'b’;</a:t>
            </a:r>
          </a:p>
          <a:p>
            <a:r>
              <a:rPr lang="en-US" sz="2400" dirty="0" err="1">
                <a:solidFill>
                  <a:schemeClr val="accent5"/>
                </a:solidFill>
              </a:rPr>
              <a:t>alfabeto</a:t>
            </a:r>
            <a:r>
              <a:rPr lang="en-US" sz="2400" dirty="0">
                <a:solidFill>
                  <a:schemeClr val="accent5"/>
                </a:solidFill>
              </a:rPr>
              <a:t>[2] = 'c';</a:t>
            </a:r>
          </a:p>
          <a:p>
            <a:r>
              <a:rPr lang="en-US" sz="2400" dirty="0">
                <a:solidFill>
                  <a:schemeClr val="accent5"/>
                </a:solidFill>
              </a:rPr>
              <a:t>...</a:t>
            </a:r>
          </a:p>
          <a:p>
            <a:r>
              <a:rPr lang="en-US" sz="2400" dirty="0" err="1">
                <a:solidFill>
                  <a:schemeClr val="accent5"/>
                </a:solidFill>
              </a:rPr>
              <a:t>alfabeto</a:t>
            </a:r>
            <a:r>
              <a:rPr lang="en-US" sz="2400" dirty="0">
                <a:solidFill>
                  <a:schemeClr val="accent5"/>
                </a:solidFill>
              </a:rPr>
              <a:t>[20] = 'z';</a:t>
            </a:r>
          </a:p>
          <a:p>
            <a:endParaRPr lang="en-US" sz="2400" dirty="0"/>
          </a:p>
          <a:p>
            <a:endParaRPr lang="pt-BR" sz="2400" dirty="0"/>
          </a:p>
          <a:p>
            <a:endParaRPr lang="it-IT" sz="2400" dirty="0"/>
          </a:p>
        </p:txBody>
      </p:sp>
      <p:sp>
        <p:nvSpPr>
          <p:cNvPr id="11" name="CasellaDiTesto 10">
            <a:extLst>
              <a:ext uri="{FF2B5EF4-FFF2-40B4-BE49-F238E27FC236}">
                <a16:creationId xmlns:a16="http://schemas.microsoft.com/office/drawing/2014/main" id="{B7CCD4F7-7895-4D40-9C17-D596927E0D02}"/>
              </a:ext>
            </a:extLst>
          </p:cNvPr>
          <p:cNvSpPr txBox="1"/>
          <p:nvPr/>
        </p:nvSpPr>
        <p:spPr>
          <a:xfrm>
            <a:off x="4283960" y="3271694"/>
            <a:ext cx="5362927" cy="2677656"/>
          </a:xfrm>
          <a:prstGeom prst="rect">
            <a:avLst/>
          </a:prstGeom>
          <a:noFill/>
        </p:spPr>
        <p:txBody>
          <a:bodyPr wrap="square">
            <a:spAutoFit/>
          </a:bodyPr>
          <a:lstStyle/>
          <a:p>
            <a:r>
              <a:rPr lang="pt-BR" sz="2400" dirty="0">
                <a:solidFill>
                  <a:schemeClr val="accent6"/>
                </a:solidFill>
              </a:rPr>
              <a:t>File files []; // File [] files;</a:t>
            </a:r>
          </a:p>
          <a:p>
            <a:endParaRPr lang="pt-BR" sz="2400" dirty="0">
              <a:solidFill>
                <a:schemeClr val="accent6"/>
              </a:solidFill>
            </a:endParaRPr>
          </a:p>
          <a:p>
            <a:r>
              <a:rPr lang="en-US" sz="2400" dirty="0">
                <a:solidFill>
                  <a:schemeClr val="accent6"/>
                </a:solidFill>
              </a:rPr>
              <a:t>files = new File[3];</a:t>
            </a:r>
          </a:p>
          <a:p>
            <a:endParaRPr lang="en-US" sz="2400" dirty="0">
              <a:solidFill>
                <a:schemeClr val="accent6"/>
              </a:solidFill>
            </a:endParaRPr>
          </a:p>
          <a:p>
            <a:r>
              <a:rPr lang="en-US" sz="2400" dirty="0">
                <a:solidFill>
                  <a:schemeClr val="accent6"/>
                </a:solidFill>
              </a:rPr>
              <a:t>files[0] = new File("HelloWorld.java");</a:t>
            </a:r>
          </a:p>
          <a:p>
            <a:r>
              <a:rPr lang="en-US" sz="2400" dirty="0">
                <a:solidFill>
                  <a:schemeClr val="accent6"/>
                </a:solidFill>
              </a:rPr>
              <a:t>files[1] = new File("HelloWorld.class");</a:t>
            </a:r>
          </a:p>
          <a:p>
            <a:r>
              <a:rPr lang="en-US" sz="2400" dirty="0">
                <a:solidFill>
                  <a:schemeClr val="accent6"/>
                </a:solidFill>
              </a:rPr>
              <a:t>files[2] = new File("HelloWorld.html");</a:t>
            </a:r>
          </a:p>
        </p:txBody>
      </p:sp>
    </p:spTree>
    <p:extLst>
      <p:ext uri="{BB962C8B-B14F-4D97-AF65-F5344CB8AC3E}">
        <p14:creationId xmlns:p14="http://schemas.microsoft.com/office/powerpoint/2010/main" val="38068572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 sintassi alternative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55</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0" y="908650"/>
            <a:ext cx="9144000" cy="6001643"/>
          </a:xfrm>
          <a:prstGeom prst="rect">
            <a:avLst/>
          </a:prstGeom>
          <a:noFill/>
        </p:spPr>
        <p:txBody>
          <a:bodyPr wrap="square">
            <a:spAutoFit/>
          </a:bodyPr>
          <a:lstStyle/>
          <a:p>
            <a:pPr marL="342900" indent="-342900">
              <a:buFont typeface="Arial" panose="020B0604020202020204" pitchFamily="34" charset="0"/>
              <a:buChar char="•"/>
            </a:pPr>
            <a:r>
              <a:rPr lang="it-IT" sz="2400" dirty="0"/>
              <a:t>Molto usata:</a:t>
            </a:r>
          </a:p>
          <a:p>
            <a:r>
              <a:rPr lang="it-IT" sz="2400" dirty="0">
                <a:solidFill>
                  <a:schemeClr val="accent5"/>
                </a:solidFill>
              </a:rPr>
              <a:t>char alfabeto [] = {'a', 'b', 'c', 'd', 'e', 'f', 'g', 'h', 'i', 'l',  'm', 'n', 'o', 'p', 'q', 'r’, </a:t>
            </a:r>
          </a:p>
          <a:p>
            <a:r>
              <a:rPr lang="it-IT" sz="2400" dirty="0">
                <a:solidFill>
                  <a:schemeClr val="accent5"/>
                </a:solidFill>
              </a:rPr>
              <a:t>     's', 't', 'u', 'v', 'z'};</a:t>
            </a:r>
          </a:p>
          <a:p>
            <a:r>
              <a:rPr lang="it-IT" sz="2400" dirty="0">
                <a:solidFill>
                  <a:schemeClr val="accent5"/>
                </a:solidFill>
              </a:rPr>
              <a:t>File files [] = {</a:t>
            </a:r>
          </a:p>
          <a:p>
            <a:r>
              <a:rPr lang="it-IT" sz="2400" dirty="0">
                <a:solidFill>
                  <a:schemeClr val="accent5"/>
                </a:solidFill>
              </a:rPr>
              <a:t>	new File("HelloWorld.java"), </a:t>
            </a:r>
          </a:p>
          <a:p>
            <a:r>
              <a:rPr lang="it-IT" sz="2400" dirty="0">
                <a:solidFill>
                  <a:schemeClr val="accent5"/>
                </a:solidFill>
              </a:rPr>
              <a:t>	new File("HelloWorld.class"), </a:t>
            </a:r>
          </a:p>
          <a:p>
            <a:r>
              <a:rPr lang="it-IT" sz="2400" dirty="0">
                <a:solidFill>
                  <a:schemeClr val="accent5"/>
                </a:solidFill>
              </a:rPr>
              <a:t>	 new File("HelloWorld.html")</a:t>
            </a:r>
          </a:p>
          <a:p>
            <a:r>
              <a:rPr lang="it-IT" sz="2400" dirty="0">
                <a:solidFill>
                  <a:schemeClr val="accent5"/>
                </a:solidFill>
              </a:rPr>
              <a:t>};</a:t>
            </a:r>
            <a:endParaRPr lang="it-IT" sz="2400" dirty="0"/>
          </a:p>
          <a:p>
            <a:pPr marL="342900" indent="-342900">
              <a:buFont typeface="Arial" panose="020B0604020202020204" pitchFamily="34" charset="0"/>
              <a:buChar char="•"/>
            </a:pPr>
            <a:r>
              <a:rPr lang="it-IT" sz="2400" dirty="0"/>
              <a:t>Poco usata ma utile in alcuni casi:</a:t>
            </a:r>
          </a:p>
          <a:p>
            <a:r>
              <a:rPr lang="pt-BR" sz="2400" dirty="0">
                <a:solidFill>
                  <a:schemeClr val="accent5"/>
                </a:solidFill>
              </a:rPr>
              <a:t>char alfabeto [] = new char []{'a', 'b', 'c', 'd', 'e', 'f', 'g', 'h', 'i', 'l',   'm', 'n’, </a:t>
            </a:r>
          </a:p>
          <a:p>
            <a:r>
              <a:rPr lang="pt-BR" sz="2400" dirty="0">
                <a:solidFill>
                  <a:schemeClr val="accent5"/>
                </a:solidFill>
              </a:rPr>
              <a:t>    'o', 'p', 'q', 'r', 's', 't', 'u', 'v', 'z'};</a:t>
            </a:r>
          </a:p>
          <a:p>
            <a:r>
              <a:rPr lang="pt-BR" sz="2400" dirty="0">
                <a:solidFill>
                  <a:schemeClr val="accent5"/>
                </a:solidFill>
              </a:rPr>
              <a:t>File files [] = new File [] {</a:t>
            </a:r>
          </a:p>
          <a:p>
            <a:r>
              <a:rPr lang="pt-BR" sz="2400" dirty="0">
                <a:solidFill>
                  <a:schemeClr val="accent5"/>
                </a:solidFill>
              </a:rPr>
              <a:t>	new File("HelloWorld.java"), </a:t>
            </a:r>
          </a:p>
          <a:p>
            <a:r>
              <a:rPr lang="pt-BR" sz="2400" dirty="0">
                <a:solidFill>
                  <a:schemeClr val="accent5"/>
                </a:solidFill>
              </a:rPr>
              <a:t>  	new File("HelloWorld.class"), </a:t>
            </a:r>
          </a:p>
          <a:p>
            <a:r>
              <a:rPr lang="pt-BR" sz="2400" dirty="0">
                <a:solidFill>
                  <a:schemeClr val="accent5"/>
                </a:solidFill>
              </a:rPr>
              <a:t>	new File("HelloWorld.html")</a:t>
            </a:r>
          </a:p>
          <a:p>
            <a:r>
              <a:rPr lang="pt-BR" sz="2400" dirty="0">
                <a:solidFill>
                  <a:schemeClr val="accent5"/>
                </a:solidFill>
              </a:rPr>
              <a:t>};</a:t>
            </a:r>
          </a:p>
        </p:txBody>
      </p:sp>
    </p:spTree>
    <p:extLst>
      <p:ext uri="{BB962C8B-B14F-4D97-AF65-F5344CB8AC3E}">
        <p14:creationId xmlns:p14="http://schemas.microsoft.com/office/powerpoint/2010/main" val="37654033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 caratteristiche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56</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0" y="908650"/>
            <a:ext cx="9144000" cy="5262979"/>
          </a:xfrm>
          <a:prstGeom prst="rect">
            <a:avLst/>
          </a:prstGeom>
          <a:noFill/>
        </p:spPr>
        <p:txBody>
          <a:bodyPr wrap="square">
            <a:spAutoFit/>
          </a:bodyPr>
          <a:lstStyle/>
          <a:p>
            <a:pPr marL="342900" indent="-342900">
              <a:buFont typeface="Arial" panose="020B0604020202020204" pitchFamily="34" charset="0"/>
              <a:buChar char="•"/>
            </a:pPr>
            <a:r>
              <a:rPr lang="it-IT" sz="2400" dirty="0"/>
              <a:t>Gli array sono oggetti, e definiscono quindi al loro interno delle variabili e dei metodi implicitamente. Per esempio, essi definiscono una costante pubblica chiamata </a:t>
            </a:r>
            <a:r>
              <a:rPr lang="it-IT" sz="2400" i="1" dirty="0"/>
              <a:t>length</a:t>
            </a:r>
            <a:r>
              <a:rPr lang="it-IT" sz="2400" dirty="0"/>
              <a:t> che restituisce la dimensione effettiva dell’array stesso. Quindi:</a:t>
            </a:r>
          </a:p>
          <a:p>
            <a:r>
              <a:rPr lang="it-IT" sz="2400" dirty="0" err="1">
                <a:solidFill>
                  <a:schemeClr val="accent5"/>
                </a:solidFill>
              </a:rPr>
              <a:t>alfabeto.length</a:t>
            </a:r>
            <a:endParaRPr lang="it-IT" sz="2400" dirty="0">
              <a:solidFill>
                <a:schemeClr val="accent5"/>
              </a:solidFill>
            </a:endParaRPr>
          </a:p>
          <a:p>
            <a:r>
              <a:rPr lang="it-IT" sz="2400" dirty="0"/>
              <a:t>varrà 21. </a:t>
            </a:r>
          </a:p>
          <a:p>
            <a:pPr marL="342900" indent="-342900">
              <a:buFont typeface="Arial" panose="020B0604020202020204" pitchFamily="34" charset="0"/>
              <a:buChar char="•"/>
            </a:pPr>
            <a:r>
              <a:rPr lang="it-IT" sz="2400" dirty="0"/>
              <a:t>Ricordiamo che la dimensione di un array, una volta settata non può essere modificata. Se scrivessimo:</a:t>
            </a:r>
          </a:p>
          <a:p>
            <a:r>
              <a:rPr lang="it-IT" sz="2400" dirty="0"/>
              <a:t>alfabeto = new char[27]; // inizialmente la dimensione era 21</a:t>
            </a:r>
          </a:p>
          <a:p>
            <a:pPr marL="342900" indent="-342900">
              <a:buFont typeface="Arial" panose="020B0604020202020204" pitchFamily="34" charset="0"/>
              <a:buChar char="•"/>
            </a:pPr>
            <a:r>
              <a:rPr lang="it-IT" sz="2400" dirty="0"/>
              <a:t>il risultato sarà che il reference </a:t>
            </a:r>
            <a:r>
              <a:rPr lang="it-IT" sz="2400" i="1" dirty="0"/>
              <a:t>alfabeto</a:t>
            </a:r>
            <a:r>
              <a:rPr lang="it-IT" sz="2400" dirty="0"/>
              <a:t> punterà ad un nuovo oggetto di dimensione 27, con tutti i suoi elementi nulli. L’array di dimensione 21 che era stato inizializzato precedentemente con le lettere dell’alfabeto, non sarà più puntato dal reference alfabeto, e quindi non sarà più accessibile nel nostro codice.</a:t>
            </a:r>
          </a:p>
        </p:txBody>
      </p:sp>
    </p:spTree>
    <p:extLst>
      <p:ext uri="{BB962C8B-B14F-4D97-AF65-F5344CB8AC3E}">
        <p14:creationId xmlns:p14="http://schemas.microsoft.com/office/powerpoint/2010/main" val="2494472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 multidimensionali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57</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0" y="908650"/>
            <a:ext cx="9144000" cy="6001643"/>
          </a:xfrm>
          <a:prstGeom prst="rect">
            <a:avLst/>
          </a:prstGeom>
          <a:noFill/>
        </p:spPr>
        <p:txBody>
          <a:bodyPr wrap="square">
            <a:spAutoFit/>
          </a:bodyPr>
          <a:lstStyle/>
          <a:p>
            <a:pPr marL="342900" indent="-342900">
              <a:buFont typeface="Arial" panose="020B0604020202020204" pitchFamily="34" charset="0"/>
              <a:buChar char="•"/>
            </a:pPr>
            <a:r>
              <a:rPr lang="it-IT" sz="2400" dirty="0"/>
              <a:t>Sono array di array:</a:t>
            </a:r>
          </a:p>
          <a:p>
            <a:r>
              <a:rPr lang="it-IT" sz="2400" dirty="0">
                <a:solidFill>
                  <a:schemeClr val="accent5"/>
                </a:solidFill>
              </a:rPr>
              <a:t>int </a:t>
            </a:r>
            <a:r>
              <a:rPr lang="it-IT" sz="2400" dirty="0" err="1">
                <a:solidFill>
                  <a:schemeClr val="accent5"/>
                </a:solidFill>
              </a:rPr>
              <a:t>arrayNonRettangolare</a:t>
            </a:r>
            <a:r>
              <a:rPr lang="it-IT" sz="2400" dirty="0">
                <a:solidFill>
                  <a:schemeClr val="accent5"/>
                </a:solidFill>
              </a:rPr>
              <a:t>[][] = new int[4][];</a:t>
            </a:r>
          </a:p>
          <a:p>
            <a:r>
              <a:rPr lang="it-IT" sz="2400" dirty="0" err="1">
                <a:solidFill>
                  <a:schemeClr val="accent5"/>
                </a:solidFill>
              </a:rPr>
              <a:t>arrayNonRettangolare</a:t>
            </a:r>
            <a:r>
              <a:rPr lang="it-IT" sz="2400" dirty="0">
                <a:solidFill>
                  <a:schemeClr val="accent5"/>
                </a:solidFill>
              </a:rPr>
              <a:t>[0] = new int[2];</a:t>
            </a:r>
          </a:p>
          <a:p>
            <a:r>
              <a:rPr lang="it-IT" sz="2400" dirty="0" err="1">
                <a:solidFill>
                  <a:schemeClr val="accent5"/>
                </a:solidFill>
              </a:rPr>
              <a:t>arrayNonRettangolare</a:t>
            </a:r>
            <a:r>
              <a:rPr lang="it-IT" sz="2400" dirty="0">
                <a:solidFill>
                  <a:schemeClr val="accent5"/>
                </a:solidFill>
              </a:rPr>
              <a:t>[1] = new int[4];</a:t>
            </a:r>
          </a:p>
          <a:p>
            <a:r>
              <a:rPr lang="it-IT" sz="2400" dirty="0" err="1">
                <a:solidFill>
                  <a:schemeClr val="accent5"/>
                </a:solidFill>
              </a:rPr>
              <a:t>arrayNonRettangolare</a:t>
            </a:r>
            <a:r>
              <a:rPr lang="it-IT" sz="2400" dirty="0">
                <a:solidFill>
                  <a:schemeClr val="accent5"/>
                </a:solidFill>
              </a:rPr>
              <a:t>[2] = new int[6];</a:t>
            </a:r>
          </a:p>
          <a:p>
            <a:r>
              <a:rPr lang="it-IT" sz="2400" dirty="0" err="1">
                <a:solidFill>
                  <a:schemeClr val="accent5"/>
                </a:solidFill>
              </a:rPr>
              <a:t>arrayNonRettangolare</a:t>
            </a:r>
            <a:r>
              <a:rPr lang="it-IT" sz="2400" dirty="0">
                <a:solidFill>
                  <a:schemeClr val="accent5"/>
                </a:solidFill>
              </a:rPr>
              <a:t>[3] = new int[8];</a:t>
            </a:r>
          </a:p>
          <a:p>
            <a:r>
              <a:rPr lang="it-IT" sz="2400" dirty="0" err="1">
                <a:solidFill>
                  <a:schemeClr val="accent5"/>
                </a:solidFill>
              </a:rPr>
              <a:t>arrayNonRettangolare</a:t>
            </a:r>
            <a:r>
              <a:rPr lang="it-IT" sz="2400" dirty="0">
                <a:solidFill>
                  <a:schemeClr val="accent5"/>
                </a:solidFill>
              </a:rPr>
              <a:t>[0][0] = 1;</a:t>
            </a:r>
          </a:p>
          <a:p>
            <a:r>
              <a:rPr lang="it-IT" sz="2400" dirty="0" err="1">
                <a:solidFill>
                  <a:schemeClr val="accent5"/>
                </a:solidFill>
              </a:rPr>
              <a:t>arrayNonRettangolare</a:t>
            </a:r>
            <a:r>
              <a:rPr lang="it-IT" sz="2400" dirty="0">
                <a:solidFill>
                  <a:schemeClr val="accent5"/>
                </a:solidFill>
              </a:rPr>
              <a:t>[0][1] = 2;</a:t>
            </a:r>
          </a:p>
          <a:p>
            <a:r>
              <a:rPr lang="it-IT" sz="2400" dirty="0" err="1">
                <a:solidFill>
                  <a:schemeClr val="accent5"/>
                </a:solidFill>
              </a:rPr>
              <a:t>arrayNonRettangolare</a:t>
            </a:r>
            <a:r>
              <a:rPr lang="it-IT" sz="2400" dirty="0">
                <a:solidFill>
                  <a:schemeClr val="accent5"/>
                </a:solidFill>
              </a:rPr>
              <a:t>[1][0] = 1;</a:t>
            </a:r>
          </a:p>
          <a:p>
            <a:r>
              <a:rPr lang="it-IT" sz="2400" dirty="0">
                <a:solidFill>
                  <a:schemeClr val="accent5"/>
                </a:solidFill>
              </a:rPr>
              <a:t>. . . . . . . . . . . . . . . .</a:t>
            </a:r>
          </a:p>
          <a:p>
            <a:r>
              <a:rPr lang="it-IT" sz="2400" dirty="0" err="1">
                <a:solidFill>
                  <a:schemeClr val="accent5"/>
                </a:solidFill>
              </a:rPr>
              <a:t>arrayNonRettangolare</a:t>
            </a:r>
            <a:r>
              <a:rPr lang="it-IT" sz="2400" dirty="0">
                <a:solidFill>
                  <a:schemeClr val="accent5"/>
                </a:solidFill>
              </a:rPr>
              <a:t>[3][7] = 10;</a:t>
            </a:r>
          </a:p>
          <a:p>
            <a:r>
              <a:rPr lang="it-IT" sz="2400" dirty="0">
                <a:effectLst/>
                <a:latin typeface="Times New Roman" panose="02020603050405020304" pitchFamily="18" charset="0"/>
                <a:ea typeface="Times New Roman" panose="02020603050405020304" pitchFamily="18" charset="0"/>
              </a:rPr>
              <a:t>Notare che nella prima riga, abbiamo specificato solo la prima dimensione (</a:t>
            </a:r>
            <a:r>
              <a:rPr lang="it-IT" sz="24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2400" dirty="0">
                <a:effectLst/>
                <a:latin typeface="Times New Roman" panose="02020603050405020304" pitchFamily="18" charset="0"/>
                <a:ea typeface="Times New Roman" panose="02020603050405020304" pitchFamily="18" charset="0"/>
              </a:rPr>
              <a:t>). Questo significa che ci saranno quattro elementi di questo array, ed ogni elemento sarà a sua volta un altro array di lunghezza ancora da scegliere. </a:t>
            </a:r>
          </a:p>
          <a:p>
            <a:endParaRPr lang="it-IT" sz="2400" dirty="0">
              <a:solidFill>
                <a:schemeClr val="accent5"/>
              </a:solidFill>
            </a:endParaRPr>
          </a:p>
        </p:txBody>
      </p:sp>
    </p:spTree>
    <p:extLst>
      <p:ext uri="{BB962C8B-B14F-4D97-AF65-F5344CB8AC3E}">
        <p14:creationId xmlns:p14="http://schemas.microsoft.com/office/powerpoint/2010/main" val="2288236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 multidimensionali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58</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1132779"/>
            <a:ext cx="9144000" cy="5262979"/>
          </a:xfrm>
          <a:prstGeom prst="rect">
            <a:avLst/>
          </a:prstGeom>
          <a:noFill/>
        </p:spPr>
        <p:txBody>
          <a:bodyPr wrap="square">
            <a:spAutoFit/>
          </a:bodyPr>
          <a:lstStyle/>
          <a:p>
            <a:pPr marL="342900" indent="-342900">
              <a:buFont typeface="Arial" panose="020B0604020202020204" pitchFamily="34" charset="0"/>
              <a:buChar char="•"/>
            </a:pPr>
            <a:r>
              <a:rPr lang="it-IT" sz="2400" dirty="0"/>
              <a:t>Equivalentemente:</a:t>
            </a:r>
          </a:p>
          <a:p>
            <a:r>
              <a:rPr lang="it-IT" sz="2400" dirty="0">
                <a:solidFill>
                  <a:schemeClr val="accent5"/>
                </a:solidFill>
              </a:rPr>
              <a:t>int </a:t>
            </a:r>
            <a:r>
              <a:rPr lang="it-IT" sz="2400" dirty="0" err="1">
                <a:solidFill>
                  <a:schemeClr val="accent5"/>
                </a:solidFill>
              </a:rPr>
              <a:t>arrayNonRettangolare</a:t>
            </a:r>
            <a:r>
              <a:rPr lang="it-IT" sz="2400" dirty="0">
                <a:solidFill>
                  <a:schemeClr val="accent5"/>
                </a:solidFill>
              </a:rPr>
              <a:t>[][] = {</a:t>
            </a:r>
          </a:p>
          <a:p>
            <a:r>
              <a:rPr lang="it-IT" sz="2400" dirty="0">
                <a:solidFill>
                  <a:schemeClr val="accent5"/>
                </a:solidFill>
              </a:rPr>
              <a:t>    {1,2},</a:t>
            </a:r>
          </a:p>
          <a:p>
            <a:r>
              <a:rPr lang="it-IT" sz="2400" dirty="0">
                <a:solidFill>
                  <a:schemeClr val="accent5"/>
                </a:solidFill>
              </a:rPr>
              <a:t>    {1,0,0,0},</a:t>
            </a:r>
          </a:p>
          <a:p>
            <a:r>
              <a:rPr lang="it-IT" sz="2400" dirty="0">
                <a:solidFill>
                  <a:schemeClr val="accent5"/>
                </a:solidFill>
              </a:rPr>
              <a:t>    {0,0,0,0,0,0},</a:t>
            </a:r>
          </a:p>
          <a:p>
            <a:r>
              <a:rPr lang="it-IT" sz="2400" dirty="0">
                <a:solidFill>
                  <a:schemeClr val="accent5"/>
                </a:solidFill>
              </a:rPr>
              <a:t>    {0,0,0,0,0,0,0,10}</a:t>
            </a:r>
          </a:p>
          <a:p>
            <a:r>
              <a:rPr lang="it-IT" sz="2400" dirty="0">
                <a:solidFill>
                  <a:schemeClr val="accent5"/>
                </a:solidFill>
              </a:rPr>
              <a:t>};</a:t>
            </a:r>
          </a:p>
          <a:p>
            <a:r>
              <a:rPr lang="it-IT" sz="2400" b="1" dirty="0">
                <a:effectLst/>
                <a:latin typeface="Times New Roman" panose="02020603050405020304" pitchFamily="18" charset="0"/>
                <a:ea typeface="Times New Roman" panose="02020603050405020304" pitchFamily="18" charset="0"/>
              </a:rPr>
              <a:t>CURIOSITÀ</a:t>
            </a:r>
            <a:endParaRPr lang="it-IT" sz="2400" dirty="0">
              <a:effectLst/>
              <a:latin typeface="Times New Roman" panose="02020603050405020304" pitchFamily="18" charset="0"/>
              <a:ea typeface="Times New Roman" panose="02020603050405020304" pitchFamily="18" charset="0"/>
            </a:endParaRPr>
          </a:p>
          <a:p>
            <a:r>
              <a:rPr lang="it-IT" sz="2400" dirty="0">
                <a:effectLst/>
                <a:latin typeface="Times New Roman" panose="02020603050405020304" pitchFamily="18" charset="0"/>
                <a:ea typeface="Times New Roman" panose="02020603050405020304" pitchFamily="18" charset="0"/>
              </a:rPr>
              <a:t>La rappresentazione grafica di un array è solo una convenzione che ci aiuta a schematizzare il concetto. Non si dovrebbe quindi parlare di righe e colonne per un array bidimensionale, le righe e le colonne sono solo nella nostra mente. In realtà Java è capace anche di creare array a dieci dimensioni che non potremmo mai rappresentare graficamente.</a:t>
            </a:r>
          </a:p>
          <a:p>
            <a:endParaRPr lang="it-IT" sz="2400" dirty="0">
              <a:solidFill>
                <a:schemeClr val="accent5"/>
              </a:solidFill>
            </a:endParaRPr>
          </a:p>
        </p:txBody>
      </p:sp>
    </p:spTree>
    <p:extLst>
      <p:ext uri="{BB962C8B-B14F-4D97-AF65-F5344CB8AC3E}">
        <p14:creationId xmlns:p14="http://schemas.microsoft.com/office/powerpoint/2010/main" val="25209299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0"/>
            <a:ext cx="7886700" cy="908651"/>
          </a:xfrm>
        </p:spPr>
        <p:txBody>
          <a:bodyPr>
            <a:normAutofit/>
          </a:bodyPr>
          <a:lstStyle/>
          <a:p>
            <a:r>
              <a:rPr lang="it-IT" dirty="0"/>
              <a:t>Array in Java: String args[]</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59</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764630"/>
            <a:ext cx="9144000" cy="6740307"/>
          </a:xfrm>
          <a:prstGeom prst="rect">
            <a:avLst/>
          </a:prstGeom>
          <a:noFill/>
        </p:spPr>
        <p:txBody>
          <a:bodyPr wrap="square">
            <a:spAutoFit/>
          </a:bodyPr>
          <a:lstStyle/>
          <a:p>
            <a:r>
              <a:rPr lang="it-IT" sz="2400" dirty="0">
                <a:solidFill>
                  <a:schemeClr val="accent5"/>
                </a:solidFill>
              </a:rPr>
              <a:t>public class </a:t>
            </a:r>
            <a:r>
              <a:rPr lang="it-IT" sz="2400" dirty="0" err="1">
                <a:solidFill>
                  <a:schemeClr val="accent5"/>
                </a:solidFill>
              </a:rPr>
              <a:t>TestArgs</a:t>
            </a:r>
            <a:r>
              <a:rPr lang="it-IT" sz="2400" dirty="0">
                <a:solidFill>
                  <a:schemeClr val="accent5"/>
                </a:solidFill>
              </a:rPr>
              <a:t> {</a:t>
            </a:r>
          </a:p>
          <a:p>
            <a:r>
              <a:rPr lang="it-IT" sz="2400" dirty="0">
                <a:solidFill>
                  <a:schemeClr val="accent5"/>
                </a:solidFill>
              </a:rPr>
              <a:t>    public static void main(String args[]) {</a:t>
            </a:r>
          </a:p>
          <a:p>
            <a:r>
              <a:rPr lang="it-IT" sz="2400" dirty="0">
                <a:solidFill>
                  <a:schemeClr val="accent5"/>
                </a:solidFill>
              </a:rPr>
              <a:t>        System.out.println(args[0]);</a:t>
            </a:r>
          </a:p>
          <a:p>
            <a:r>
              <a:rPr lang="it-IT" sz="2400" dirty="0">
                <a:solidFill>
                  <a:schemeClr val="accent5"/>
                </a:solidFill>
              </a:rPr>
              <a:t>    }</a:t>
            </a:r>
          </a:p>
          <a:p>
            <a:r>
              <a:rPr lang="it-IT" sz="2400" dirty="0">
                <a:solidFill>
                  <a:schemeClr val="accent5"/>
                </a:solidFill>
              </a:rPr>
              <a:t>}</a:t>
            </a:r>
          </a:p>
          <a:p>
            <a:r>
              <a:rPr lang="en-GB" sz="2400" dirty="0">
                <a:solidFill>
                  <a:schemeClr val="accent3"/>
                </a:solidFill>
                <a:effectLst/>
                <a:latin typeface="Courier New" panose="02070309020205020404" pitchFamily="49" charset="0"/>
                <a:ea typeface="MS Mincho" panose="02020609040205080304" pitchFamily="49" charset="-128"/>
              </a:rPr>
              <a:t>Exception in thread "main" </a:t>
            </a:r>
            <a:r>
              <a:rPr lang="en-GB" sz="2400" dirty="0" err="1">
                <a:solidFill>
                  <a:schemeClr val="accent3"/>
                </a:solidFill>
                <a:effectLst/>
                <a:latin typeface="Courier New" panose="02070309020205020404" pitchFamily="49" charset="0"/>
                <a:ea typeface="MS Mincho" panose="02020609040205080304" pitchFamily="49" charset="-128"/>
              </a:rPr>
              <a:t>java.lang.ArrayIndexOutOfBoundsException</a:t>
            </a:r>
            <a:r>
              <a:rPr lang="en-GB" sz="2400" dirty="0">
                <a:solidFill>
                  <a:schemeClr val="accent3"/>
                </a:solidFill>
                <a:effectLst/>
                <a:latin typeface="Courier New" panose="02070309020205020404" pitchFamily="49" charset="0"/>
                <a:ea typeface="MS Mincho" panose="02020609040205080304" pitchFamily="49" charset="-128"/>
              </a:rPr>
              <a:t>: 0</a:t>
            </a:r>
            <a:endParaRPr lang="it-IT" sz="2400" dirty="0">
              <a:solidFill>
                <a:schemeClr val="accent3"/>
              </a:solidFill>
              <a:effectLst/>
              <a:latin typeface="Courier New" panose="02070309020205020404" pitchFamily="49" charset="0"/>
              <a:ea typeface="MS Mincho" panose="02020609040205080304" pitchFamily="49" charset="-128"/>
            </a:endParaRPr>
          </a:p>
          <a:p>
            <a:r>
              <a:rPr lang="en-GB" sz="2400" dirty="0">
                <a:solidFill>
                  <a:schemeClr val="accent3"/>
                </a:solidFill>
                <a:effectLst/>
                <a:latin typeface="Courier New" panose="02070309020205020404" pitchFamily="49" charset="0"/>
                <a:ea typeface="MS Mincho" panose="02020609040205080304" pitchFamily="49" charset="-128"/>
              </a:rPr>
              <a:t>	at </a:t>
            </a:r>
            <a:r>
              <a:rPr lang="en-GB" sz="2400" dirty="0" err="1">
                <a:solidFill>
                  <a:schemeClr val="accent3"/>
                </a:solidFill>
                <a:effectLst/>
                <a:latin typeface="Courier New" panose="02070309020205020404" pitchFamily="49" charset="0"/>
                <a:ea typeface="MS Mincho" panose="02020609040205080304" pitchFamily="49" charset="-128"/>
              </a:rPr>
              <a:t>TestArgs.main</a:t>
            </a:r>
            <a:r>
              <a:rPr lang="en-GB" sz="2400" dirty="0">
                <a:solidFill>
                  <a:schemeClr val="accent3"/>
                </a:solidFill>
                <a:effectLst/>
                <a:latin typeface="Courier New" panose="02070309020205020404" pitchFamily="49" charset="0"/>
                <a:ea typeface="MS Mincho" panose="02020609040205080304" pitchFamily="49" charset="-128"/>
              </a:rPr>
              <a:t>(TestArgs.java:3)</a:t>
            </a:r>
            <a:endParaRPr lang="it-IT" sz="2400" dirty="0">
              <a:solidFill>
                <a:schemeClr val="accent3"/>
              </a:solidFill>
            </a:endParaRPr>
          </a:p>
          <a:p>
            <a:pPr marL="342900" indent="-342900">
              <a:buFont typeface="Arial" panose="020B0604020202020204" pitchFamily="34" charset="0"/>
              <a:buChar char="•"/>
            </a:pPr>
            <a:r>
              <a:rPr lang="it-IT" sz="2400" dirty="0"/>
              <a:t>Possiamo lanciare la classe con la seguente sintassi:</a:t>
            </a:r>
          </a:p>
          <a:p>
            <a:r>
              <a:rPr lang="it-IT" sz="2400" dirty="0">
                <a:solidFill>
                  <a:schemeClr val="accent5"/>
                </a:solidFill>
              </a:rPr>
              <a:t>java </a:t>
            </a:r>
            <a:r>
              <a:rPr lang="it-IT" sz="2400" dirty="0" err="1">
                <a:solidFill>
                  <a:schemeClr val="accent5"/>
                </a:solidFill>
              </a:rPr>
              <a:t>TestArgs</a:t>
            </a:r>
            <a:r>
              <a:rPr lang="it-IT" sz="2400" dirty="0">
                <a:solidFill>
                  <a:schemeClr val="accent5"/>
                </a:solidFill>
              </a:rPr>
              <a:t> Andrea De Sio Cesari</a:t>
            </a:r>
          </a:p>
          <a:p>
            <a:r>
              <a:rPr lang="it-IT" sz="2400" dirty="0">
                <a:latin typeface="Times New Roman" panose="02020603050405020304" pitchFamily="18" charset="0"/>
                <a:ea typeface="Times New Roman" panose="02020603050405020304" pitchFamily="18" charset="0"/>
              </a:rPr>
              <a:t>o</a:t>
            </a:r>
            <a:r>
              <a:rPr lang="it-IT" sz="2400" dirty="0">
                <a:effectLst/>
                <a:latin typeface="Times New Roman" panose="02020603050405020304" pitchFamily="18" charset="0"/>
                <a:ea typeface="Times New Roman" panose="02020603050405020304" pitchFamily="18" charset="0"/>
              </a:rPr>
              <a:t>ttenendo l’</a:t>
            </a:r>
            <a:r>
              <a:rPr lang="it-IT" sz="2400" dirty="0" err="1">
                <a:effectLst/>
                <a:latin typeface="Times New Roman" panose="02020603050405020304" pitchFamily="18" charset="0"/>
                <a:ea typeface="Times New Roman" panose="02020603050405020304" pitchFamily="18" charset="0"/>
              </a:rPr>
              <a:t>ouput</a:t>
            </a:r>
            <a:r>
              <a:rPr lang="it-IT" sz="2400" dirty="0">
                <a:effectLst/>
                <a:latin typeface="Times New Roman" panose="02020603050405020304" pitchFamily="18" charset="0"/>
                <a:ea typeface="Times New Roman" panose="02020603050405020304" pitchFamily="18" charset="0"/>
              </a:rPr>
              <a:t>:</a:t>
            </a:r>
          </a:p>
          <a:p>
            <a:r>
              <a:rPr lang="it-IT" sz="2400" dirty="0">
                <a:solidFill>
                  <a:schemeClr val="accent3"/>
                </a:solidFill>
                <a:effectLst/>
                <a:latin typeface="Times New Roman" panose="02020603050405020304" pitchFamily="18" charset="0"/>
                <a:ea typeface="Times New Roman" panose="02020603050405020304" pitchFamily="18" charset="0"/>
              </a:rPr>
              <a:t>Andrea</a:t>
            </a:r>
          </a:p>
          <a:p>
            <a:pPr marL="342900" indent="-34290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Oppure</a:t>
            </a:r>
          </a:p>
          <a:p>
            <a:r>
              <a:rPr lang="it-IT" sz="2400" dirty="0">
                <a:solidFill>
                  <a:schemeClr val="accent5"/>
                </a:solidFill>
              </a:rPr>
              <a:t>java </a:t>
            </a:r>
            <a:r>
              <a:rPr lang="it-IT" sz="2400" dirty="0" err="1">
                <a:solidFill>
                  <a:schemeClr val="accent5"/>
                </a:solidFill>
              </a:rPr>
              <a:t>TestArgs</a:t>
            </a:r>
            <a:r>
              <a:rPr lang="it-IT" sz="2400" dirty="0">
                <a:solidFill>
                  <a:schemeClr val="accent5"/>
                </a:solidFill>
              </a:rPr>
              <a:t> "Andrea De Sio Cesari"</a:t>
            </a:r>
          </a:p>
          <a:p>
            <a:r>
              <a:rPr lang="it-IT" sz="2400" dirty="0">
                <a:latin typeface="Times New Roman" panose="02020603050405020304" pitchFamily="18" charset="0"/>
                <a:ea typeface="Times New Roman" panose="02020603050405020304" pitchFamily="18" charset="0"/>
              </a:rPr>
              <a:t>o</a:t>
            </a:r>
            <a:r>
              <a:rPr lang="it-IT" sz="2400" dirty="0">
                <a:effectLst/>
                <a:latin typeface="Times New Roman" panose="02020603050405020304" pitchFamily="18" charset="0"/>
                <a:ea typeface="Times New Roman" panose="02020603050405020304" pitchFamily="18" charset="0"/>
              </a:rPr>
              <a:t>ttenendo l’</a:t>
            </a:r>
            <a:r>
              <a:rPr lang="it-IT" sz="2400" dirty="0" err="1">
                <a:effectLst/>
                <a:latin typeface="Times New Roman" panose="02020603050405020304" pitchFamily="18" charset="0"/>
                <a:ea typeface="Times New Roman" panose="02020603050405020304" pitchFamily="18" charset="0"/>
              </a:rPr>
              <a:t>ouput</a:t>
            </a:r>
            <a:r>
              <a:rPr lang="it-IT" sz="2400" dirty="0">
                <a:effectLst/>
                <a:latin typeface="Times New Roman" panose="02020603050405020304" pitchFamily="18" charset="0"/>
                <a:ea typeface="Times New Roman" panose="02020603050405020304" pitchFamily="18" charset="0"/>
              </a:rPr>
              <a:t>:</a:t>
            </a:r>
          </a:p>
          <a:p>
            <a:r>
              <a:rPr lang="it-IT" sz="2400" dirty="0">
                <a:solidFill>
                  <a:schemeClr val="accent3"/>
                </a:solidFill>
                <a:effectLst/>
                <a:latin typeface="Times New Roman" panose="02020603050405020304" pitchFamily="18" charset="0"/>
                <a:ea typeface="Times New Roman" panose="02020603050405020304" pitchFamily="18" charset="0"/>
              </a:rPr>
              <a:t>Andrea De Sio Cesari</a:t>
            </a:r>
          </a:p>
          <a:p>
            <a:endParaRPr lang="it-IT" sz="2400" dirty="0">
              <a:effectLst/>
              <a:latin typeface="Times New Roman" panose="02020603050405020304" pitchFamily="18" charset="0"/>
              <a:ea typeface="Times New Roman" panose="02020603050405020304" pitchFamily="18" charset="0"/>
            </a:endParaRPr>
          </a:p>
          <a:p>
            <a:endParaRPr lang="it-IT" sz="2400" dirty="0">
              <a:solidFill>
                <a:schemeClr val="accent5"/>
              </a:solidFill>
            </a:endParaRPr>
          </a:p>
        </p:txBody>
      </p:sp>
    </p:spTree>
    <p:extLst>
      <p:ext uri="{BB962C8B-B14F-4D97-AF65-F5344CB8AC3E}">
        <p14:creationId xmlns:p14="http://schemas.microsoft.com/office/powerpoint/2010/main" val="22028735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60</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1199723"/>
            <a:ext cx="9144000" cy="4893647"/>
          </a:xfrm>
          <a:prstGeom prst="rect">
            <a:avLst/>
          </a:prstGeom>
          <a:noFill/>
        </p:spPr>
        <p:txBody>
          <a:bodyPr wrap="square">
            <a:spAutoFit/>
          </a:bodyPr>
          <a:lstStyle/>
          <a:p>
            <a:pPr marL="342900" indent="-342900">
              <a:buFont typeface="Arial" panose="020B0604020202020204" pitchFamily="34" charset="0"/>
              <a:buChar char="•"/>
            </a:pPr>
            <a:r>
              <a:rPr lang="it-IT" sz="2400" dirty="0"/>
              <a:t>In Java 10 introdotta la parola </a:t>
            </a:r>
            <a:r>
              <a:rPr lang="it-IT" sz="2400" i="1" dirty="0"/>
              <a:t>var</a:t>
            </a:r>
            <a:r>
              <a:rPr lang="it-IT" sz="2400" dirty="0"/>
              <a:t>:</a:t>
            </a:r>
          </a:p>
          <a:p>
            <a:r>
              <a:rPr lang="it-IT" sz="2400" dirty="0">
                <a:solidFill>
                  <a:schemeClr val="accent5"/>
                </a:solidFill>
              </a:rPr>
              <a:t>java </a:t>
            </a:r>
            <a:r>
              <a:rPr lang="it-IT" sz="2400" dirty="0" err="1">
                <a:solidFill>
                  <a:schemeClr val="accent5"/>
                </a:solidFill>
              </a:rPr>
              <a:t>TestArgs</a:t>
            </a:r>
            <a:r>
              <a:rPr lang="it-IT" sz="2400" dirty="0">
                <a:solidFill>
                  <a:schemeClr val="accent5"/>
                </a:solidFill>
              </a:rPr>
              <a:t> Andrea De Sio Cesari</a:t>
            </a:r>
          </a:p>
          <a:p>
            <a:r>
              <a:rPr lang="it-IT" sz="2400" dirty="0">
                <a:effectLst/>
                <a:latin typeface="Times New Roman" panose="02020603050405020304" pitchFamily="18" charset="0"/>
                <a:ea typeface="Times New Roman" panose="02020603050405020304" pitchFamily="18" charset="0"/>
              </a:rPr>
              <a:t>Sfruttando la deduzione del tipo per le variabili locali, possiamo scrivere:</a:t>
            </a:r>
          </a:p>
          <a:p>
            <a:r>
              <a:rPr lang="it-IT" sz="2400" dirty="0">
                <a:solidFill>
                  <a:schemeClr val="accent5"/>
                </a:solidFill>
              </a:rPr>
              <a:t>var ogg1 = new LibroSuJava();</a:t>
            </a:r>
          </a:p>
          <a:p>
            <a:pPr marL="342900" indent="-342900">
              <a:buFont typeface="Arial" panose="020B0604020202020204" pitchFamily="34" charset="0"/>
              <a:buChar char="•"/>
            </a:pPr>
            <a:r>
              <a:rPr lang="it-IT" sz="2400" dirty="0">
                <a:latin typeface="Times New Roman" panose="02020603050405020304" pitchFamily="18" charset="0"/>
                <a:ea typeface="Times New Roman" panose="02020603050405020304" pitchFamily="18" charset="0"/>
              </a:rPr>
              <a:t>Il compilatore infatti, è capace di dedurre il tipo della variabile </a:t>
            </a:r>
            <a:r>
              <a:rPr lang="it-IT" sz="2400" i="1" dirty="0">
                <a:latin typeface="Times New Roman" panose="02020603050405020304" pitchFamily="18" charset="0"/>
                <a:ea typeface="Times New Roman" panose="02020603050405020304" pitchFamily="18" charset="0"/>
              </a:rPr>
              <a:t>ogg1</a:t>
            </a:r>
            <a:r>
              <a:rPr lang="it-IT" sz="2400" dirty="0">
                <a:latin typeface="Times New Roman" panose="02020603050405020304" pitchFamily="18" charset="0"/>
                <a:ea typeface="Times New Roman" panose="02020603050405020304" pitchFamily="18" charset="0"/>
              </a:rPr>
              <a:t> leggendo la sua inizializzazione, ovvero la parte destra (in inglese </a:t>
            </a:r>
            <a:r>
              <a:rPr lang="it-IT" sz="2400" dirty="0" err="1">
                <a:latin typeface="Times New Roman" panose="02020603050405020304" pitchFamily="18" charset="0"/>
                <a:ea typeface="Times New Roman" panose="02020603050405020304" pitchFamily="18" charset="0"/>
              </a:rPr>
              <a:t>right</a:t>
            </a:r>
            <a:r>
              <a:rPr lang="it-IT" sz="2400" dirty="0">
                <a:latin typeface="Times New Roman" panose="02020603050405020304" pitchFamily="18" charset="0"/>
                <a:ea typeface="Times New Roman" panose="02020603050405020304" pitchFamily="18" charset="0"/>
              </a:rPr>
              <a:t> hand side che viene spesso abbreviato in </a:t>
            </a:r>
            <a:r>
              <a:rPr lang="it-IT" sz="2400" b="1" dirty="0">
                <a:latin typeface="Times New Roman" panose="02020603050405020304" pitchFamily="18" charset="0"/>
                <a:ea typeface="Times New Roman" panose="02020603050405020304" pitchFamily="18" charset="0"/>
              </a:rPr>
              <a:t>RHS</a:t>
            </a:r>
            <a:r>
              <a:rPr lang="it-IT" sz="2400" dirty="0">
                <a:latin typeface="Times New Roman" panose="02020603050405020304" pitchFamily="18" charset="0"/>
                <a:ea typeface="Times New Roman" panose="02020603050405020304" pitchFamily="18" charset="0"/>
              </a:rPr>
              <a:t>) della dichiarazione. In particolare nel caso dell’esempio di </a:t>
            </a:r>
            <a:r>
              <a:rPr lang="it-IT" sz="2400" i="1" dirty="0">
                <a:latin typeface="Times New Roman" panose="02020603050405020304" pitchFamily="18" charset="0"/>
                <a:ea typeface="Times New Roman" panose="02020603050405020304" pitchFamily="18" charset="0"/>
              </a:rPr>
              <a:t>ogg1</a:t>
            </a:r>
            <a:r>
              <a:rPr lang="it-IT" sz="2400" dirty="0">
                <a:latin typeface="Times New Roman" panose="02020603050405020304" pitchFamily="18" charset="0"/>
                <a:ea typeface="Times New Roman" panose="02020603050405020304" pitchFamily="18" charset="0"/>
              </a:rPr>
              <a:t> di parla di </a:t>
            </a:r>
            <a:r>
              <a:rPr lang="it-IT" sz="2400" b="1" dirty="0">
                <a:latin typeface="Times New Roman" panose="02020603050405020304" pitchFamily="18" charset="0"/>
                <a:ea typeface="Times New Roman" panose="02020603050405020304" pitchFamily="18" charset="0"/>
              </a:rPr>
              <a:t>tipo manifesto</a:t>
            </a:r>
            <a:r>
              <a:rPr lang="it-IT" sz="2400" dirty="0">
                <a:latin typeface="Times New Roman" panose="02020603050405020304" pitchFamily="18" charset="0"/>
                <a:ea typeface="Times New Roman" panose="02020603050405020304" pitchFamily="18" charset="0"/>
              </a:rPr>
              <a:t> (in inglese </a:t>
            </a:r>
            <a:r>
              <a:rPr lang="it-IT" sz="2400" b="1" dirty="0">
                <a:latin typeface="Times New Roman" panose="02020603050405020304" pitchFamily="18" charset="0"/>
                <a:ea typeface="Times New Roman" panose="02020603050405020304" pitchFamily="18" charset="0"/>
              </a:rPr>
              <a:t>manifest type</a:t>
            </a:r>
            <a:r>
              <a:rPr lang="it-IT" sz="2400" dirty="0">
                <a:latin typeface="Times New Roman" panose="02020603050405020304" pitchFamily="18" charset="0"/>
                <a:ea typeface="Times New Roman" panose="02020603050405020304" pitchFamily="18" charset="0"/>
              </a:rPr>
              <a:t>). </a:t>
            </a:r>
          </a:p>
          <a:p>
            <a:pPr marL="342900" indent="-342900">
              <a:buFont typeface="Arial" panose="020B0604020202020204" pitchFamily="34" charset="0"/>
              <a:buChar char="•"/>
            </a:pPr>
            <a:r>
              <a:rPr lang="it-IT" sz="2400" dirty="0">
                <a:effectLst/>
                <a:latin typeface="Times New Roman" panose="02020603050405020304" pitchFamily="18" charset="0"/>
                <a:ea typeface="Times New Roman" panose="02020603050405020304" pitchFamily="18" charset="0"/>
              </a:rPr>
              <a:t>Il vantaggio è che abbiamo scritto meno codice, rischiando di sbagliare di meno e senza compromettere la leggibilità. Infatti leggendo la dichiarazione, possiamo capire il tipo della variabile anche noi, basandoci sulla parte destra, invece che sulla parte sinistra</a:t>
            </a:r>
          </a:p>
        </p:txBody>
      </p:sp>
    </p:spTree>
    <p:extLst>
      <p:ext uri="{BB962C8B-B14F-4D97-AF65-F5344CB8AC3E}">
        <p14:creationId xmlns:p14="http://schemas.microsoft.com/office/powerpoint/2010/main" val="34680705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61</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908650"/>
            <a:ext cx="9144000" cy="5632311"/>
          </a:xfrm>
          <a:prstGeom prst="rect">
            <a:avLst/>
          </a:prstGeom>
          <a:noFill/>
        </p:spPr>
        <p:txBody>
          <a:bodyPr wrap="square">
            <a:spAutoFit/>
          </a:bodyPr>
          <a:lstStyle/>
          <a:p>
            <a:pPr marL="342900" indent="-342900">
              <a:buFont typeface="Arial" panose="020B0604020202020204" pitchFamily="34" charset="0"/>
              <a:buChar char="•"/>
            </a:pPr>
            <a:r>
              <a:rPr lang="it-IT" sz="2400" dirty="0"/>
              <a:t>Tipo non manifesto, consideriamo il seguente metodo:</a:t>
            </a:r>
          </a:p>
          <a:p>
            <a:r>
              <a:rPr lang="it-IT" sz="2400" dirty="0">
                <a:solidFill>
                  <a:schemeClr val="accent5"/>
                </a:solidFill>
              </a:rPr>
              <a:t>public LibroSuJava </a:t>
            </a:r>
            <a:r>
              <a:rPr lang="it-IT" sz="2400" dirty="0" err="1">
                <a:solidFill>
                  <a:schemeClr val="accent5"/>
                </a:solidFill>
              </a:rPr>
              <a:t>getIstanza</a:t>
            </a:r>
            <a:r>
              <a:rPr lang="it-IT" sz="2400" dirty="0">
                <a:solidFill>
                  <a:schemeClr val="accent5"/>
                </a:solidFill>
              </a:rPr>
              <a:t>() {</a:t>
            </a:r>
          </a:p>
          <a:p>
            <a:r>
              <a:rPr lang="it-IT" sz="2400" dirty="0">
                <a:solidFill>
                  <a:schemeClr val="accent5"/>
                </a:solidFill>
              </a:rPr>
              <a:t>    return new LibroSuJava();</a:t>
            </a:r>
          </a:p>
          <a:p>
            <a:r>
              <a:rPr lang="it-IT" sz="2400" dirty="0">
                <a:solidFill>
                  <a:schemeClr val="accent5"/>
                </a:solidFill>
              </a:rPr>
              <a:t>}</a:t>
            </a:r>
          </a:p>
          <a:p>
            <a:r>
              <a:rPr lang="it-IT" sz="2400" dirty="0"/>
              <a:t>potremmo comunque sfruttare la deduzione del tipo in questo modo:</a:t>
            </a:r>
          </a:p>
          <a:p>
            <a:r>
              <a:rPr lang="it-IT" sz="2400" dirty="0">
                <a:solidFill>
                  <a:schemeClr val="accent5"/>
                </a:solidFill>
              </a:rPr>
              <a:t>var ogg2 = </a:t>
            </a:r>
            <a:r>
              <a:rPr lang="it-IT" sz="2400" dirty="0" err="1">
                <a:solidFill>
                  <a:schemeClr val="accent5"/>
                </a:solidFill>
              </a:rPr>
              <a:t>getIstanza</a:t>
            </a:r>
            <a:r>
              <a:rPr lang="it-IT" sz="2400" dirty="0">
                <a:solidFill>
                  <a:schemeClr val="accent5"/>
                </a:solidFill>
              </a:rPr>
              <a:t>();</a:t>
            </a:r>
          </a:p>
          <a:p>
            <a:pPr marL="342900" indent="-342900">
              <a:buFont typeface="Arial" panose="020B0604020202020204" pitchFamily="34" charset="0"/>
              <a:buChar char="•"/>
            </a:pPr>
            <a:r>
              <a:rPr lang="it-IT" sz="2400" dirty="0"/>
              <a:t>Nel caso di </a:t>
            </a:r>
            <a:r>
              <a:rPr lang="it-IT" sz="2400" i="1" dirty="0"/>
              <a:t>ogg2</a:t>
            </a:r>
            <a:r>
              <a:rPr lang="it-IT" sz="2400" dirty="0"/>
              <a:t> invece, senza leggere la dichiarazione del metodo, non possiamo essere sicuri che ritorni proprio un’istanza del tipo LibroSuJava. </a:t>
            </a:r>
          </a:p>
          <a:p>
            <a:pPr marL="342900" indent="-342900">
              <a:buFont typeface="Arial" panose="020B0604020202020204" pitchFamily="34" charset="0"/>
              <a:buChar char="•"/>
            </a:pPr>
            <a:r>
              <a:rPr lang="it-IT" sz="2400" dirty="0"/>
              <a:t>Quindi non bisogna utilizzare questa caratteristica in maniera ingiustificata. </a:t>
            </a:r>
          </a:p>
          <a:p>
            <a:pPr marL="342900" indent="-342900">
              <a:buFont typeface="Arial" panose="020B0604020202020204" pitchFamily="34" charset="0"/>
              <a:buChar char="•"/>
            </a:pPr>
            <a:r>
              <a:rPr lang="it-IT" sz="2400" dirty="0"/>
              <a:t>Si migliora la verbosità del nostro codice a discapito della leggibilità, </a:t>
            </a:r>
          </a:p>
          <a:p>
            <a:pPr marL="342900" indent="-342900">
              <a:buFont typeface="Arial" panose="020B0604020202020204" pitchFamily="34" charset="0"/>
              <a:buChar char="•"/>
            </a:pPr>
            <a:r>
              <a:rPr lang="it-IT" sz="2400" dirty="0"/>
              <a:t>Bisognerebbe sempre favorire la manutenzione dei nostri programmi piuttosto che risparmiare qualche digitazione sulla tastiera (altri programmatori devono comprendere il nostro codice)</a:t>
            </a:r>
          </a:p>
        </p:txBody>
      </p:sp>
    </p:spTree>
    <p:extLst>
      <p:ext uri="{BB962C8B-B14F-4D97-AF65-F5344CB8AC3E}">
        <p14:creationId xmlns:p14="http://schemas.microsoft.com/office/powerpoint/2010/main" val="38314467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62</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908650"/>
            <a:ext cx="9144000" cy="6001643"/>
          </a:xfrm>
          <a:prstGeom prst="rect">
            <a:avLst/>
          </a:prstGeom>
          <a:noFill/>
        </p:spPr>
        <p:txBody>
          <a:bodyPr wrap="square">
            <a:spAutoFit/>
          </a:bodyPr>
          <a:lstStyle/>
          <a:p>
            <a:r>
              <a:rPr lang="it-IT" sz="2400" dirty="0"/>
              <a:t>A volte quindi migliora la verbosità del nostro codice a discapito della leggibilità, e nonostante la soggettività del significato che ognuno di noi può dare a questa parola, bisogna essere consapevoli che il codice che scriviamo dovrebbe essere facilmente leggibile anche da parte di altri sviluppatori. Bisognerebbe sempre favorire la manutenzione dei nostri programmi piuttosto che risparmiare qualche digitazione sulla tastiera.</a:t>
            </a:r>
          </a:p>
          <a:p>
            <a:r>
              <a:rPr lang="it-IT" sz="2400" dirty="0"/>
              <a:t>A tal proposito, l’utilizzo di questa caratteristica accresce in modo esponenziale l’importanza della scelta del nome di questa variabile. L’identificatore </a:t>
            </a:r>
            <a:r>
              <a:rPr lang="it-IT" sz="2400" i="1" dirty="0"/>
              <a:t>ogg2</a:t>
            </a:r>
            <a:r>
              <a:rPr lang="it-IT" sz="2400" dirty="0"/>
              <a:t> non sembra essere accettabile, perché mai ci darà informazioni sul suo tipo. Se proprio si decide di voler utilizzare il metodo </a:t>
            </a:r>
            <a:r>
              <a:rPr lang="it-IT" sz="2400" i="1" dirty="0" err="1"/>
              <a:t>getIstanza</a:t>
            </a:r>
            <a:r>
              <a:rPr lang="it-IT" sz="2400" i="1" dirty="0"/>
              <a:t> </a:t>
            </a:r>
            <a:r>
              <a:rPr lang="it-IT" sz="2400" dirty="0"/>
              <a:t>e la parola </a:t>
            </a:r>
            <a:r>
              <a:rPr lang="it-IT" sz="2400" i="1" dirty="0"/>
              <a:t>var</a:t>
            </a:r>
            <a:r>
              <a:rPr lang="it-IT" sz="2400" dirty="0"/>
              <a:t>, allora potrebbe essere accettabile cambiare il nome dell’identificatore, per esempio:</a:t>
            </a:r>
          </a:p>
          <a:p>
            <a:r>
              <a:rPr lang="it-IT" sz="2400" dirty="0">
                <a:solidFill>
                  <a:schemeClr val="accent5"/>
                </a:solidFill>
              </a:rPr>
              <a:t>var </a:t>
            </a:r>
            <a:r>
              <a:rPr lang="it-IT" sz="2400" dirty="0" err="1">
                <a:solidFill>
                  <a:schemeClr val="accent5"/>
                </a:solidFill>
              </a:rPr>
              <a:t>libroSuJava</a:t>
            </a:r>
            <a:r>
              <a:rPr lang="it-IT" sz="2400" dirty="0">
                <a:solidFill>
                  <a:schemeClr val="accent5"/>
                </a:solidFill>
              </a:rPr>
              <a:t> = </a:t>
            </a:r>
            <a:r>
              <a:rPr lang="it-IT" sz="2400" dirty="0" err="1">
                <a:solidFill>
                  <a:schemeClr val="accent5"/>
                </a:solidFill>
              </a:rPr>
              <a:t>getIstanza</a:t>
            </a:r>
            <a:r>
              <a:rPr lang="it-IT" sz="2400" dirty="0">
                <a:solidFill>
                  <a:schemeClr val="accent5"/>
                </a:solidFill>
              </a:rPr>
              <a:t>();</a:t>
            </a:r>
          </a:p>
          <a:p>
            <a:r>
              <a:rPr lang="it-IT" sz="2400" dirty="0"/>
              <a:t>a quel punto potremmo supporre ragionevolmente il tipo della variabile.</a:t>
            </a:r>
          </a:p>
        </p:txBody>
      </p:sp>
    </p:spTree>
    <p:extLst>
      <p:ext uri="{BB962C8B-B14F-4D97-AF65-F5344CB8AC3E}">
        <p14:creationId xmlns:p14="http://schemas.microsoft.com/office/powerpoint/2010/main" val="39722577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63</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1340710"/>
            <a:ext cx="9144000" cy="4154984"/>
          </a:xfrm>
          <a:prstGeom prst="rect">
            <a:avLst/>
          </a:prstGeom>
          <a:noFill/>
        </p:spPr>
        <p:txBody>
          <a:bodyPr wrap="square">
            <a:spAutoFit/>
          </a:bodyPr>
          <a:lstStyle/>
          <a:p>
            <a:r>
              <a:rPr lang="it-IT" sz="2400" dirty="0"/>
              <a:t>Ovviamente è possibile utilizzare var con tutti i tipi primitivi e complessi. Per esempio, il seguente snippet compila senza problemi:</a:t>
            </a:r>
          </a:p>
          <a:p>
            <a:r>
              <a:rPr lang="it-IT" sz="2400" dirty="0">
                <a:solidFill>
                  <a:schemeClr val="accent5"/>
                </a:solidFill>
              </a:rPr>
              <a:t>var </a:t>
            </a:r>
            <a:r>
              <a:rPr lang="it-IT" sz="2400" dirty="0" err="1">
                <a:solidFill>
                  <a:schemeClr val="accent5"/>
                </a:solidFill>
              </a:rPr>
              <a:t>bool</a:t>
            </a:r>
            <a:r>
              <a:rPr lang="it-IT" sz="2400" dirty="0">
                <a:solidFill>
                  <a:schemeClr val="accent5"/>
                </a:solidFill>
              </a:rPr>
              <a:t> = false; // dedotto il tipo boolean</a:t>
            </a:r>
          </a:p>
          <a:p>
            <a:r>
              <a:rPr lang="it-IT" sz="2400" dirty="0">
                <a:solidFill>
                  <a:schemeClr val="accent5"/>
                </a:solidFill>
              </a:rPr>
              <a:t>var string = "</a:t>
            </a:r>
            <a:r>
              <a:rPr lang="it-IT" sz="2400" dirty="0" err="1">
                <a:solidFill>
                  <a:schemeClr val="accent5"/>
                </a:solidFill>
              </a:rPr>
              <a:t>Foqus</a:t>
            </a:r>
            <a:r>
              <a:rPr lang="it-IT" sz="2400" dirty="0">
                <a:solidFill>
                  <a:schemeClr val="accent5"/>
                </a:solidFill>
              </a:rPr>
              <a:t>";// dedotto il tipo String</a:t>
            </a:r>
          </a:p>
          <a:p>
            <a:r>
              <a:rPr lang="it-IT" sz="2400" dirty="0">
                <a:solidFill>
                  <a:schemeClr val="accent5"/>
                </a:solidFill>
              </a:rPr>
              <a:t>var character= 'J'; // dedotto il tipo char</a:t>
            </a:r>
          </a:p>
          <a:p>
            <a:r>
              <a:rPr lang="it-IT" sz="2400" dirty="0">
                <a:solidFill>
                  <a:schemeClr val="accent5"/>
                </a:solidFill>
              </a:rPr>
              <a:t>var integer = 8; // dedotto il tipo int</a:t>
            </a:r>
          </a:p>
          <a:p>
            <a:r>
              <a:rPr lang="it-IT" sz="2400" dirty="0">
                <a:solidFill>
                  <a:schemeClr val="accent5"/>
                </a:solidFill>
              </a:rPr>
              <a:t>var </a:t>
            </a:r>
            <a:r>
              <a:rPr lang="it-IT" sz="2400" dirty="0" err="1">
                <a:solidFill>
                  <a:schemeClr val="accent5"/>
                </a:solidFill>
              </a:rPr>
              <a:t>byteInteger</a:t>
            </a:r>
            <a:r>
              <a:rPr lang="it-IT" sz="2400" dirty="0">
                <a:solidFill>
                  <a:schemeClr val="accent5"/>
                </a:solidFill>
              </a:rPr>
              <a:t> = (byte)8; // dedotto il tipo byte</a:t>
            </a:r>
          </a:p>
          <a:p>
            <a:r>
              <a:rPr lang="it-IT" sz="2400" dirty="0">
                <a:solidFill>
                  <a:schemeClr val="accent5"/>
                </a:solidFill>
              </a:rPr>
              <a:t>var </a:t>
            </a:r>
            <a:r>
              <a:rPr lang="it-IT" sz="2400" dirty="0" err="1">
                <a:solidFill>
                  <a:schemeClr val="accent5"/>
                </a:solidFill>
              </a:rPr>
              <a:t>shortInteger</a:t>
            </a:r>
            <a:r>
              <a:rPr lang="it-IT" sz="2400" dirty="0">
                <a:solidFill>
                  <a:schemeClr val="accent5"/>
                </a:solidFill>
              </a:rPr>
              <a:t> = (short)8; // dedotto il tipo short</a:t>
            </a:r>
          </a:p>
          <a:p>
            <a:r>
              <a:rPr lang="it-IT" sz="2400" dirty="0">
                <a:solidFill>
                  <a:schemeClr val="accent5"/>
                </a:solidFill>
              </a:rPr>
              <a:t>var </a:t>
            </a:r>
            <a:r>
              <a:rPr lang="it-IT" sz="2400" dirty="0" err="1">
                <a:solidFill>
                  <a:schemeClr val="accent5"/>
                </a:solidFill>
              </a:rPr>
              <a:t>longInteger</a:t>
            </a:r>
            <a:r>
              <a:rPr lang="it-IT" sz="2400" dirty="0">
                <a:solidFill>
                  <a:schemeClr val="accent5"/>
                </a:solidFill>
              </a:rPr>
              <a:t> = 8L; // dedotto il tipo long</a:t>
            </a:r>
          </a:p>
          <a:p>
            <a:r>
              <a:rPr lang="it-IT" sz="2400" dirty="0">
                <a:solidFill>
                  <a:schemeClr val="accent5"/>
                </a:solidFill>
              </a:rPr>
              <a:t>var </a:t>
            </a:r>
            <a:r>
              <a:rPr lang="it-IT" sz="2400" dirty="0" err="1">
                <a:solidFill>
                  <a:schemeClr val="accent5"/>
                </a:solidFill>
              </a:rPr>
              <a:t>floatingPoint</a:t>
            </a:r>
            <a:r>
              <a:rPr lang="it-IT" sz="2400" dirty="0">
                <a:solidFill>
                  <a:schemeClr val="accent5"/>
                </a:solidFill>
              </a:rPr>
              <a:t> = 3.14F; // dedotto il tipo float</a:t>
            </a:r>
          </a:p>
          <a:p>
            <a:r>
              <a:rPr lang="it-IT" sz="2400" dirty="0">
                <a:solidFill>
                  <a:schemeClr val="accent5"/>
                </a:solidFill>
              </a:rPr>
              <a:t>var </a:t>
            </a:r>
            <a:r>
              <a:rPr lang="it-IT" sz="2400" dirty="0" err="1">
                <a:solidFill>
                  <a:schemeClr val="accent5"/>
                </a:solidFill>
              </a:rPr>
              <a:t>doublePrecisionfloatingPoint</a:t>
            </a:r>
            <a:r>
              <a:rPr lang="it-IT" sz="2400" dirty="0">
                <a:solidFill>
                  <a:schemeClr val="accent5"/>
                </a:solidFill>
              </a:rPr>
              <a:t> = 3.14; // dedotto il tipo double</a:t>
            </a:r>
          </a:p>
        </p:txBody>
      </p:sp>
    </p:spTree>
    <p:extLst>
      <p:ext uri="{BB962C8B-B14F-4D97-AF65-F5344CB8AC3E}">
        <p14:creationId xmlns:p14="http://schemas.microsoft.com/office/powerpoint/2010/main" val="21428921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64</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776115"/>
            <a:ext cx="9144000" cy="6109365"/>
          </a:xfrm>
          <a:prstGeom prst="rect">
            <a:avLst/>
          </a:prstGeom>
          <a:noFill/>
        </p:spPr>
        <p:txBody>
          <a:bodyPr wrap="square">
            <a:spAutoFit/>
          </a:bodyPr>
          <a:lstStyle/>
          <a:p>
            <a:pPr marL="285750" indent="-285750">
              <a:buFont typeface="Arial" panose="020B0604020202020204" pitchFamily="34" charset="0"/>
              <a:buChar char="•"/>
            </a:pPr>
            <a:r>
              <a:rPr lang="it-IT" sz="2300" dirty="0">
                <a:effectLst/>
                <a:latin typeface="Times New Roman" panose="02020603050405020304" pitchFamily="18" charset="0"/>
                <a:ea typeface="Times New Roman" panose="02020603050405020304" pitchFamily="18" charset="0"/>
              </a:rPr>
              <a:t>Non è applicabile per variabili d’istanza, tipi di ritorno, parametri etc.</a:t>
            </a:r>
          </a:p>
          <a:p>
            <a:pPr marL="285750" indent="-285750">
              <a:buFont typeface="Arial" panose="020B0604020202020204" pitchFamily="34" charset="0"/>
              <a:buChar char="•"/>
            </a:pPr>
            <a:r>
              <a:rPr lang="it-IT" sz="2300" dirty="0">
                <a:effectLst/>
                <a:latin typeface="Times New Roman" panose="02020603050405020304" pitchFamily="18" charset="0"/>
                <a:ea typeface="Times New Roman" panose="02020603050405020304" pitchFamily="18" charset="0"/>
              </a:rPr>
              <a:t>Non è applicabile per variabili locali non inizializzate contestualmente alla propria dichiarazione, come nel seguente esempio:</a:t>
            </a:r>
          </a:p>
          <a:p>
            <a:r>
              <a:rPr lang="it-IT" sz="2300" dirty="0">
                <a:solidFill>
                  <a:schemeClr val="accent5"/>
                </a:solidFill>
                <a:effectLst/>
                <a:latin typeface="Times New Roman" panose="02020603050405020304" pitchFamily="18" charset="0"/>
                <a:ea typeface="Times New Roman" panose="02020603050405020304" pitchFamily="18" charset="0"/>
              </a:rPr>
              <a:t>var </a:t>
            </a:r>
            <a:r>
              <a:rPr lang="it-IT" sz="2300" dirty="0" err="1">
                <a:solidFill>
                  <a:schemeClr val="accent5"/>
                </a:solidFill>
                <a:effectLst/>
                <a:latin typeface="Times New Roman" panose="02020603050405020304" pitchFamily="18" charset="0"/>
                <a:ea typeface="Times New Roman" panose="02020603050405020304" pitchFamily="18" charset="0"/>
              </a:rPr>
              <a:t>notInitialized</a:t>
            </a:r>
            <a:r>
              <a:rPr lang="it-IT" sz="2300" dirty="0">
                <a:solidFill>
                  <a:schemeClr val="accent5"/>
                </a:solidFill>
                <a:effectLst/>
                <a:latin typeface="Times New Roman" panose="02020603050405020304" pitchFamily="18" charset="0"/>
                <a:ea typeface="Times New Roman" panose="02020603050405020304" pitchFamily="18" charset="0"/>
              </a:rPr>
              <a:t>;</a:t>
            </a:r>
          </a:p>
          <a:p>
            <a:r>
              <a:rPr lang="it-IT" sz="2300" dirty="0">
                <a:effectLst/>
                <a:latin typeface="Times New Roman" panose="02020603050405020304" pitchFamily="18" charset="0"/>
                <a:ea typeface="Times New Roman" panose="02020603050405020304" pitchFamily="18" charset="0"/>
              </a:rPr>
              <a:t>che produrrà l’output:</a:t>
            </a:r>
          </a:p>
          <a:p>
            <a:r>
              <a:rPr lang="it-IT" sz="2300" dirty="0">
                <a:solidFill>
                  <a:schemeClr val="accent3"/>
                </a:solidFill>
                <a:effectLst/>
                <a:latin typeface="Times New Roman" panose="02020603050405020304" pitchFamily="18" charset="0"/>
                <a:ea typeface="Times New Roman" panose="02020603050405020304" pitchFamily="18" charset="0"/>
              </a:rPr>
              <a:t>error: </a:t>
            </a:r>
            <a:r>
              <a:rPr lang="it-IT" sz="2300" dirty="0" err="1">
                <a:solidFill>
                  <a:schemeClr val="accent3"/>
                </a:solidFill>
                <a:effectLst/>
                <a:latin typeface="Times New Roman" panose="02020603050405020304" pitchFamily="18" charset="0"/>
                <a:ea typeface="Times New Roman" panose="02020603050405020304" pitchFamily="18" charset="0"/>
              </a:rPr>
              <a:t>cannot</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infer</a:t>
            </a:r>
            <a:r>
              <a:rPr lang="it-IT" sz="2300" dirty="0">
                <a:solidFill>
                  <a:schemeClr val="accent3"/>
                </a:solidFill>
                <a:effectLst/>
                <a:latin typeface="Times New Roman" panose="02020603050405020304" pitchFamily="18" charset="0"/>
                <a:ea typeface="Times New Roman" panose="02020603050405020304" pitchFamily="18" charset="0"/>
              </a:rPr>
              <a:t> type for </a:t>
            </a:r>
            <a:r>
              <a:rPr lang="it-IT" sz="2300" dirty="0" err="1">
                <a:solidFill>
                  <a:schemeClr val="accent3"/>
                </a:solidFill>
                <a:effectLst/>
                <a:latin typeface="Times New Roman" panose="02020603050405020304" pitchFamily="18" charset="0"/>
                <a:ea typeface="Times New Roman" panose="02020603050405020304" pitchFamily="18" charset="0"/>
              </a:rPr>
              <a:t>local</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variable</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notInitialized</a:t>
            </a:r>
            <a:endParaRPr lang="it-IT" sz="2300" dirty="0">
              <a:solidFill>
                <a:schemeClr val="accent3"/>
              </a:solidFill>
              <a:effectLst/>
              <a:latin typeface="Times New Roman" panose="02020603050405020304" pitchFamily="18" charset="0"/>
              <a:ea typeface="Times New Roman" panose="02020603050405020304" pitchFamily="18" charset="0"/>
            </a:endParaRPr>
          </a:p>
          <a:p>
            <a:r>
              <a:rPr lang="it-IT" sz="2300" dirty="0">
                <a:solidFill>
                  <a:schemeClr val="accent3"/>
                </a:solidFill>
                <a:effectLst/>
                <a:latin typeface="Times New Roman" panose="02020603050405020304" pitchFamily="18" charset="0"/>
                <a:ea typeface="Times New Roman" panose="02020603050405020304" pitchFamily="18" charset="0"/>
              </a:rPr>
              <a:t>        var </a:t>
            </a:r>
            <a:r>
              <a:rPr lang="it-IT" sz="2300" dirty="0" err="1">
                <a:solidFill>
                  <a:schemeClr val="accent3"/>
                </a:solidFill>
                <a:effectLst/>
                <a:latin typeface="Times New Roman" panose="02020603050405020304" pitchFamily="18" charset="0"/>
                <a:ea typeface="Times New Roman" panose="02020603050405020304" pitchFamily="18" charset="0"/>
              </a:rPr>
              <a:t>notInitialized</a:t>
            </a:r>
            <a:r>
              <a:rPr lang="it-IT" sz="2300" dirty="0">
                <a:solidFill>
                  <a:schemeClr val="accent3"/>
                </a:solidFill>
                <a:effectLst/>
                <a:latin typeface="Times New Roman" panose="02020603050405020304" pitchFamily="18" charset="0"/>
                <a:ea typeface="Times New Roman" panose="02020603050405020304" pitchFamily="18" charset="0"/>
              </a:rPr>
              <a:t>;</a:t>
            </a:r>
          </a:p>
          <a:p>
            <a:r>
              <a:rPr lang="it-IT" sz="2300" dirty="0">
                <a:solidFill>
                  <a:schemeClr val="accent3"/>
                </a:solidFill>
                <a:effectLst/>
                <a:latin typeface="Times New Roman" panose="02020603050405020304" pitchFamily="18" charset="0"/>
                <a:ea typeface="Times New Roman" panose="02020603050405020304" pitchFamily="18" charset="0"/>
              </a:rPr>
              <a:t>            ^</a:t>
            </a:r>
          </a:p>
          <a:p>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cannot</a:t>
            </a:r>
            <a:r>
              <a:rPr lang="it-IT" sz="2300" dirty="0">
                <a:solidFill>
                  <a:schemeClr val="accent3"/>
                </a:solidFill>
                <a:effectLst/>
                <a:latin typeface="Times New Roman" panose="02020603050405020304" pitchFamily="18" charset="0"/>
                <a:ea typeface="Times New Roman" panose="02020603050405020304" pitchFamily="18" charset="0"/>
              </a:rPr>
              <a:t> use 'var' on </a:t>
            </a:r>
            <a:r>
              <a:rPr lang="it-IT" sz="2300" dirty="0" err="1">
                <a:solidFill>
                  <a:schemeClr val="accent3"/>
                </a:solidFill>
                <a:effectLst/>
                <a:latin typeface="Times New Roman" panose="02020603050405020304" pitchFamily="18" charset="0"/>
                <a:ea typeface="Times New Roman" panose="02020603050405020304" pitchFamily="18" charset="0"/>
              </a:rPr>
              <a:t>variable</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without</a:t>
            </a:r>
            <a:r>
              <a:rPr lang="it-IT" sz="2300" dirty="0">
                <a:solidFill>
                  <a:schemeClr val="accent3"/>
                </a:solidFill>
                <a:effectLst/>
                <a:latin typeface="Times New Roman" panose="02020603050405020304" pitchFamily="18" charset="0"/>
                <a:ea typeface="Times New Roman" panose="02020603050405020304" pitchFamily="18" charset="0"/>
              </a:rPr>
              <a:t> initializer)</a:t>
            </a:r>
          </a:p>
          <a:p>
            <a:pPr marL="285750" indent="-285750">
              <a:buFont typeface="Arial" panose="020B0604020202020204" pitchFamily="34" charset="0"/>
              <a:buChar char="•"/>
            </a:pPr>
            <a:r>
              <a:rPr lang="it-IT" sz="2300" dirty="0">
                <a:effectLst/>
                <a:latin typeface="Times New Roman" panose="02020603050405020304" pitchFamily="18" charset="0"/>
                <a:ea typeface="Times New Roman" panose="02020603050405020304" pitchFamily="18" charset="0"/>
              </a:rPr>
              <a:t>La parola </a:t>
            </a:r>
            <a:r>
              <a:rPr lang="it-IT" sz="2300" i="1" dirty="0">
                <a:effectLst/>
                <a:latin typeface="Times New Roman" panose="02020603050405020304" pitchFamily="18" charset="0"/>
                <a:ea typeface="Times New Roman" panose="02020603050405020304" pitchFamily="18" charset="0"/>
              </a:rPr>
              <a:t>var</a:t>
            </a:r>
            <a:r>
              <a:rPr lang="it-IT" sz="2300" dirty="0">
                <a:effectLst/>
                <a:latin typeface="Times New Roman" panose="02020603050405020304" pitchFamily="18" charset="0"/>
                <a:ea typeface="Times New Roman" panose="02020603050405020304" pitchFamily="18" charset="0"/>
              </a:rPr>
              <a:t>, non è neanche utilizzabile se la variabile è inizializzata a </a:t>
            </a:r>
            <a:r>
              <a:rPr lang="it-IT" sz="2300" i="1" dirty="0">
                <a:effectLst/>
                <a:latin typeface="Times New Roman" panose="02020603050405020304" pitchFamily="18" charset="0"/>
                <a:ea typeface="Times New Roman" panose="02020603050405020304" pitchFamily="18" charset="0"/>
              </a:rPr>
              <a:t>null</a:t>
            </a:r>
            <a:r>
              <a:rPr lang="it-IT" sz="2300" dirty="0">
                <a:latin typeface="Times New Roman" panose="02020603050405020304" pitchFamily="18" charset="0"/>
                <a:ea typeface="Times New Roman" panose="02020603050405020304" pitchFamily="18" charset="0"/>
              </a:rPr>
              <a:t>:</a:t>
            </a:r>
            <a:endParaRPr lang="it-IT" sz="2300" dirty="0">
              <a:effectLst/>
              <a:latin typeface="Times New Roman" panose="02020603050405020304" pitchFamily="18" charset="0"/>
              <a:ea typeface="Times New Roman" panose="02020603050405020304" pitchFamily="18" charset="0"/>
            </a:endParaRPr>
          </a:p>
          <a:p>
            <a:r>
              <a:rPr lang="it-IT" sz="2300" dirty="0">
                <a:solidFill>
                  <a:schemeClr val="accent5"/>
                </a:solidFill>
                <a:effectLst/>
                <a:latin typeface="Times New Roman" panose="02020603050405020304" pitchFamily="18" charset="0"/>
                <a:ea typeface="Times New Roman" panose="02020603050405020304" pitchFamily="18" charset="0"/>
              </a:rPr>
              <a:t>var </a:t>
            </a:r>
            <a:r>
              <a:rPr lang="it-IT" sz="2300" dirty="0" err="1">
                <a:solidFill>
                  <a:schemeClr val="accent5"/>
                </a:solidFill>
                <a:effectLst/>
                <a:latin typeface="Times New Roman" panose="02020603050405020304" pitchFamily="18" charset="0"/>
                <a:ea typeface="Times New Roman" panose="02020603050405020304" pitchFamily="18" charset="0"/>
              </a:rPr>
              <a:t>nullInitialized</a:t>
            </a:r>
            <a:r>
              <a:rPr lang="it-IT" sz="2300" dirty="0">
                <a:solidFill>
                  <a:schemeClr val="accent5"/>
                </a:solidFill>
                <a:effectLst/>
                <a:latin typeface="Times New Roman" panose="02020603050405020304" pitchFamily="18" charset="0"/>
                <a:ea typeface="Times New Roman" panose="02020603050405020304" pitchFamily="18" charset="0"/>
              </a:rPr>
              <a:t> = null;</a:t>
            </a:r>
          </a:p>
          <a:p>
            <a:r>
              <a:rPr lang="it-IT" sz="2300" dirty="0">
                <a:effectLst/>
                <a:latin typeface="Times New Roman" panose="02020603050405020304" pitchFamily="18" charset="0"/>
                <a:ea typeface="Times New Roman" panose="02020603050405020304" pitchFamily="18" charset="0"/>
              </a:rPr>
              <a:t>stamperà:</a:t>
            </a:r>
          </a:p>
          <a:p>
            <a:r>
              <a:rPr lang="it-IT" sz="2300" dirty="0">
                <a:solidFill>
                  <a:schemeClr val="accent3"/>
                </a:solidFill>
                <a:effectLst/>
                <a:latin typeface="Times New Roman" panose="02020603050405020304" pitchFamily="18" charset="0"/>
                <a:ea typeface="Times New Roman" panose="02020603050405020304" pitchFamily="18" charset="0"/>
              </a:rPr>
              <a:t>error: </a:t>
            </a:r>
            <a:r>
              <a:rPr lang="it-IT" sz="2300" dirty="0" err="1">
                <a:solidFill>
                  <a:schemeClr val="accent3"/>
                </a:solidFill>
                <a:effectLst/>
                <a:latin typeface="Times New Roman" panose="02020603050405020304" pitchFamily="18" charset="0"/>
                <a:ea typeface="Times New Roman" panose="02020603050405020304" pitchFamily="18" charset="0"/>
              </a:rPr>
              <a:t>cannot</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infer</a:t>
            </a:r>
            <a:r>
              <a:rPr lang="it-IT" sz="2300" dirty="0">
                <a:solidFill>
                  <a:schemeClr val="accent3"/>
                </a:solidFill>
                <a:effectLst/>
                <a:latin typeface="Times New Roman" panose="02020603050405020304" pitchFamily="18" charset="0"/>
                <a:ea typeface="Times New Roman" panose="02020603050405020304" pitchFamily="18" charset="0"/>
              </a:rPr>
              <a:t> type for </a:t>
            </a:r>
            <a:r>
              <a:rPr lang="it-IT" sz="2300" dirty="0" err="1">
                <a:solidFill>
                  <a:schemeClr val="accent3"/>
                </a:solidFill>
                <a:effectLst/>
                <a:latin typeface="Times New Roman" panose="02020603050405020304" pitchFamily="18" charset="0"/>
                <a:ea typeface="Times New Roman" panose="02020603050405020304" pitchFamily="18" charset="0"/>
              </a:rPr>
              <a:t>local</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variable</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nullInitialized</a:t>
            </a:r>
            <a:endParaRPr lang="it-IT" sz="2300" dirty="0">
              <a:solidFill>
                <a:schemeClr val="accent3"/>
              </a:solidFill>
              <a:effectLst/>
              <a:latin typeface="Times New Roman" panose="02020603050405020304" pitchFamily="18" charset="0"/>
              <a:ea typeface="Times New Roman" panose="02020603050405020304" pitchFamily="18" charset="0"/>
            </a:endParaRPr>
          </a:p>
          <a:p>
            <a:r>
              <a:rPr lang="it-IT" sz="2300" dirty="0">
                <a:solidFill>
                  <a:schemeClr val="accent3"/>
                </a:solidFill>
                <a:effectLst/>
                <a:latin typeface="Times New Roman" panose="02020603050405020304" pitchFamily="18" charset="0"/>
                <a:ea typeface="Times New Roman" panose="02020603050405020304" pitchFamily="18" charset="0"/>
              </a:rPr>
              <a:t>        var </a:t>
            </a:r>
            <a:r>
              <a:rPr lang="it-IT" sz="2300" dirty="0" err="1">
                <a:solidFill>
                  <a:schemeClr val="accent3"/>
                </a:solidFill>
                <a:effectLst/>
                <a:latin typeface="Times New Roman" panose="02020603050405020304" pitchFamily="18" charset="0"/>
                <a:ea typeface="Times New Roman" panose="02020603050405020304" pitchFamily="18" charset="0"/>
              </a:rPr>
              <a:t>nullInitialized</a:t>
            </a:r>
            <a:r>
              <a:rPr lang="it-IT" sz="2300" dirty="0">
                <a:solidFill>
                  <a:schemeClr val="accent3"/>
                </a:solidFill>
                <a:effectLst/>
                <a:latin typeface="Times New Roman" panose="02020603050405020304" pitchFamily="18" charset="0"/>
                <a:ea typeface="Times New Roman" panose="02020603050405020304" pitchFamily="18" charset="0"/>
              </a:rPr>
              <a:t> = null;</a:t>
            </a:r>
          </a:p>
          <a:p>
            <a:r>
              <a:rPr lang="it-IT" sz="2300" dirty="0">
                <a:solidFill>
                  <a:schemeClr val="accent3"/>
                </a:solidFill>
                <a:effectLst/>
                <a:latin typeface="Times New Roman" panose="02020603050405020304" pitchFamily="18" charset="0"/>
                <a:ea typeface="Times New Roman" panose="02020603050405020304" pitchFamily="18" charset="0"/>
              </a:rPr>
              <a:t>            ^</a:t>
            </a:r>
          </a:p>
          <a:p>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variable</a:t>
            </a:r>
            <a:r>
              <a:rPr lang="it-IT" sz="2300" dirty="0">
                <a:solidFill>
                  <a:schemeClr val="accent3"/>
                </a:solidFill>
                <a:effectLst/>
                <a:latin typeface="Times New Roman" panose="02020603050405020304" pitchFamily="18" charset="0"/>
                <a:ea typeface="Times New Roman" panose="02020603050405020304" pitchFamily="18" charset="0"/>
              </a:rPr>
              <a:t> initializer is 'null')</a:t>
            </a:r>
          </a:p>
        </p:txBody>
      </p:sp>
    </p:spTree>
    <p:extLst>
      <p:ext uri="{BB962C8B-B14F-4D97-AF65-F5344CB8AC3E}">
        <p14:creationId xmlns:p14="http://schemas.microsoft.com/office/powerpoint/2010/main" val="31287454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30977" y="0"/>
            <a:ext cx="9144000" cy="908651"/>
          </a:xfrm>
        </p:spPr>
        <p:txBody>
          <a:bodyPr>
            <a:normAutofit fontScale="90000"/>
          </a:bodyPr>
          <a:lstStyle/>
          <a:p>
            <a:r>
              <a:rPr lang="it-IT" dirty="0"/>
              <a:t>Deduzione del tipo per le variabili locali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65</a:t>
            </a:fld>
            <a:endParaRPr lang="it-IT"/>
          </a:p>
        </p:txBody>
      </p:sp>
      <p:sp>
        <p:nvSpPr>
          <p:cNvPr id="10" name="CasellaDiTesto 9">
            <a:extLst>
              <a:ext uri="{FF2B5EF4-FFF2-40B4-BE49-F238E27FC236}">
                <a16:creationId xmlns:a16="http://schemas.microsoft.com/office/drawing/2014/main" id="{D7296856-555B-470B-B604-74995CE7589B}"/>
              </a:ext>
            </a:extLst>
          </p:cNvPr>
          <p:cNvSpPr txBox="1"/>
          <p:nvPr/>
        </p:nvSpPr>
        <p:spPr>
          <a:xfrm>
            <a:off x="30977" y="729362"/>
            <a:ext cx="9144000" cy="6109365"/>
          </a:xfrm>
          <a:prstGeom prst="rect">
            <a:avLst/>
          </a:prstGeom>
          <a:noFill/>
        </p:spPr>
        <p:txBody>
          <a:bodyPr wrap="square">
            <a:spAutoFit/>
          </a:bodyPr>
          <a:lstStyle/>
          <a:p>
            <a:r>
              <a:rPr lang="it-IT" sz="2300" dirty="0">
                <a:effectLst/>
                <a:latin typeface="Times New Roman" panose="02020603050405020304" pitchFamily="18" charset="0"/>
                <a:ea typeface="Times New Roman" panose="02020603050405020304" pitchFamily="18" charset="0"/>
              </a:rPr>
              <a:t>La deduzione non può essere utilizzata neanche in caso di dichiarazione di variabili multipla. Infatti:</a:t>
            </a:r>
          </a:p>
          <a:p>
            <a:r>
              <a:rPr lang="it-IT" sz="2300" dirty="0">
                <a:solidFill>
                  <a:schemeClr val="accent5"/>
                </a:solidFill>
                <a:effectLst/>
                <a:latin typeface="Times New Roman" panose="02020603050405020304" pitchFamily="18" charset="0"/>
                <a:ea typeface="Times New Roman" panose="02020603050405020304" pitchFamily="18" charset="0"/>
              </a:rPr>
              <a:t>var var1 = 1, var2 = 2; </a:t>
            </a:r>
          </a:p>
          <a:p>
            <a:r>
              <a:rPr lang="it-IT" sz="2300" dirty="0">
                <a:effectLst/>
                <a:latin typeface="Times New Roman" panose="02020603050405020304" pitchFamily="18" charset="0"/>
                <a:ea typeface="Times New Roman" panose="02020603050405020304" pitchFamily="18" charset="0"/>
              </a:rPr>
              <a:t>produrrà il seguente output:</a:t>
            </a:r>
          </a:p>
          <a:p>
            <a:r>
              <a:rPr lang="it-IT" sz="2300" dirty="0">
                <a:solidFill>
                  <a:schemeClr val="accent3"/>
                </a:solidFill>
                <a:effectLst/>
                <a:latin typeface="Times New Roman" panose="02020603050405020304" pitchFamily="18" charset="0"/>
                <a:ea typeface="Times New Roman" panose="02020603050405020304" pitchFamily="18" charset="0"/>
              </a:rPr>
              <a:t>error: 'var' is </a:t>
            </a:r>
            <a:r>
              <a:rPr lang="it-IT" sz="2300" dirty="0" err="1">
                <a:solidFill>
                  <a:schemeClr val="accent3"/>
                </a:solidFill>
                <a:effectLst/>
                <a:latin typeface="Times New Roman" panose="02020603050405020304" pitchFamily="18" charset="0"/>
                <a:ea typeface="Times New Roman" panose="02020603050405020304" pitchFamily="18" charset="0"/>
              </a:rPr>
              <a:t>not</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allowed</a:t>
            </a:r>
            <a:r>
              <a:rPr lang="it-IT" sz="2300" dirty="0">
                <a:solidFill>
                  <a:schemeClr val="accent3"/>
                </a:solidFill>
                <a:effectLst/>
                <a:latin typeface="Times New Roman" panose="02020603050405020304" pitchFamily="18" charset="0"/>
                <a:ea typeface="Times New Roman" panose="02020603050405020304" pitchFamily="18" charset="0"/>
              </a:rPr>
              <a:t> in a compound </a:t>
            </a:r>
            <a:r>
              <a:rPr lang="it-IT" sz="2300" dirty="0" err="1">
                <a:solidFill>
                  <a:schemeClr val="accent3"/>
                </a:solidFill>
                <a:effectLst/>
                <a:latin typeface="Times New Roman" panose="02020603050405020304" pitchFamily="18" charset="0"/>
                <a:ea typeface="Times New Roman" panose="02020603050405020304" pitchFamily="18" charset="0"/>
              </a:rPr>
              <a:t>declaration</a:t>
            </a:r>
            <a:endParaRPr lang="it-IT" sz="2300" dirty="0">
              <a:solidFill>
                <a:schemeClr val="accent3"/>
              </a:solidFill>
              <a:effectLst/>
              <a:latin typeface="Times New Roman" panose="02020603050405020304" pitchFamily="18" charset="0"/>
              <a:ea typeface="Times New Roman" panose="02020603050405020304" pitchFamily="18" charset="0"/>
            </a:endParaRPr>
          </a:p>
          <a:p>
            <a:r>
              <a:rPr lang="it-IT" sz="2300" dirty="0">
                <a:solidFill>
                  <a:schemeClr val="accent3"/>
                </a:solidFill>
                <a:effectLst/>
                <a:latin typeface="Times New Roman" panose="02020603050405020304" pitchFamily="18" charset="0"/>
                <a:ea typeface="Times New Roman" panose="02020603050405020304" pitchFamily="18" charset="0"/>
              </a:rPr>
              <a:t>        var var1 = 1, var2 = 2;</a:t>
            </a:r>
          </a:p>
          <a:p>
            <a:r>
              <a:rPr lang="it-IT" sz="2300" dirty="0">
                <a:solidFill>
                  <a:schemeClr val="accent3"/>
                </a:solidFill>
                <a:effectLst/>
                <a:latin typeface="Times New Roman" panose="02020603050405020304" pitchFamily="18" charset="0"/>
                <a:ea typeface="Times New Roman" panose="02020603050405020304" pitchFamily="18" charset="0"/>
              </a:rPr>
              <a:t>                      ^</a:t>
            </a:r>
          </a:p>
          <a:p>
            <a:r>
              <a:rPr lang="it-IT" sz="2300" dirty="0">
                <a:effectLst/>
                <a:latin typeface="Times New Roman" panose="02020603050405020304" pitchFamily="18" charset="0"/>
                <a:ea typeface="Times New Roman" panose="02020603050405020304" pitchFamily="18" charset="0"/>
              </a:rPr>
              <a:t>Infine, neanche uno scenario che coinvolga un array è valido. Per esempio:</a:t>
            </a:r>
          </a:p>
          <a:p>
            <a:r>
              <a:rPr lang="it-IT" sz="2300" dirty="0">
                <a:solidFill>
                  <a:schemeClr val="accent5"/>
                </a:solidFill>
                <a:effectLst/>
                <a:latin typeface="Times New Roman" panose="02020603050405020304" pitchFamily="18" charset="0"/>
                <a:ea typeface="Times New Roman" panose="02020603050405020304" pitchFamily="18" charset="0"/>
              </a:rPr>
              <a:t>var </a:t>
            </a:r>
            <a:r>
              <a:rPr lang="it-IT" sz="2300" dirty="0" err="1">
                <a:solidFill>
                  <a:schemeClr val="accent5"/>
                </a:solidFill>
                <a:effectLst/>
                <a:latin typeface="Times New Roman" panose="02020603050405020304" pitchFamily="18" charset="0"/>
                <a:ea typeface="Times New Roman" panose="02020603050405020304" pitchFamily="18" charset="0"/>
              </a:rPr>
              <a:t>varArray</a:t>
            </a:r>
            <a:r>
              <a:rPr lang="it-IT" sz="2300" dirty="0">
                <a:solidFill>
                  <a:schemeClr val="accent5"/>
                </a:solidFill>
                <a:effectLst/>
                <a:latin typeface="Times New Roman" panose="02020603050405020304" pitchFamily="18" charset="0"/>
                <a:ea typeface="Times New Roman" panose="02020603050405020304" pitchFamily="18" charset="0"/>
              </a:rPr>
              <a:t>[] = new int[3];</a:t>
            </a:r>
          </a:p>
          <a:p>
            <a:r>
              <a:rPr lang="it-IT" sz="2300" dirty="0">
                <a:effectLst/>
                <a:latin typeface="Times New Roman" panose="02020603050405020304" pitchFamily="18" charset="0"/>
                <a:ea typeface="Times New Roman" panose="02020603050405020304" pitchFamily="18" charset="0"/>
              </a:rPr>
              <a:t>stamperà:</a:t>
            </a:r>
          </a:p>
          <a:p>
            <a:r>
              <a:rPr lang="it-IT" sz="2300" dirty="0">
                <a:solidFill>
                  <a:schemeClr val="accent3"/>
                </a:solidFill>
                <a:effectLst/>
                <a:latin typeface="Times New Roman" panose="02020603050405020304" pitchFamily="18" charset="0"/>
                <a:ea typeface="Times New Roman" panose="02020603050405020304" pitchFamily="18" charset="0"/>
              </a:rPr>
              <a:t>error: 'var' is </a:t>
            </a:r>
            <a:r>
              <a:rPr lang="it-IT" sz="2300" dirty="0" err="1">
                <a:solidFill>
                  <a:schemeClr val="accent3"/>
                </a:solidFill>
                <a:effectLst/>
                <a:latin typeface="Times New Roman" panose="02020603050405020304" pitchFamily="18" charset="0"/>
                <a:ea typeface="Times New Roman" panose="02020603050405020304" pitchFamily="18" charset="0"/>
              </a:rPr>
              <a:t>not</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allowed</a:t>
            </a:r>
            <a:r>
              <a:rPr lang="it-IT" sz="2300" dirty="0">
                <a:solidFill>
                  <a:schemeClr val="accent3"/>
                </a:solidFill>
                <a:effectLst/>
                <a:latin typeface="Times New Roman" panose="02020603050405020304" pitchFamily="18" charset="0"/>
                <a:ea typeface="Times New Roman" panose="02020603050405020304" pitchFamily="18" charset="0"/>
              </a:rPr>
              <a:t> </a:t>
            </a:r>
            <a:r>
              <a:rPr lang="it-IT" sz="2300" dirty="0" err="1">
                <a:solidFill>
                  <a:schemeClr val="accent3"/>
                </a:solidFill>
                <a:effectLst/>
                <a:latin typeface="Times New Roman" panose="02020603050405020304" pitchFamily="18" charset="0"/>
                <a:ea typeface="Times New Roman" panose="02020603050405020304" pitchFamily="18" charset="0"/>
              </a:rPr>
              <a:t>as</a:t>
            </a:r>
            <a:r>
              <a:rPr lang="it-IT" sz="2300" dirty="0">
                <a:solidFill>
                  <a:schemeClr val="accent3"/>
                </a:solidFill>
                <a:effectLst/>
                <a:latin typeface="Times New Roman" panose="02020603050405020304" pitchFamily="18" charset="0"/>
                <a:ea typeface="Times New Roman" panose="02020603050405020304" pitchFamily="18" charset="0"/>
              </a:rPr>
              <a:t> an </a:t>
            </a:r>
            <a:r>
              <a:rPr lang="it-IT" sz="2300" dirty="0" err="1">
                <a:solidFill>
                  <a:schemeClr val="accent3"/>
                </a:solidFill>
                <a:effectLst/>
                <a:latin typeface="Times New Roman" panose="02020603050405020304" pitchFamily="18" charset="0"/>
                <a:ea typeface="Times New Roman" panose="02020603050405020304" pitchFamily="18" charset="0"/>
              </a:rPr>
              <a:t>element</a:t>
            </a:r>
            <a:r>
              <a:rPr lang="it-IT" sz="2300" dirty="0">
                <a:solidFill>
                  <a:schemeClr val="accent3"/>
                </a:solidFill>
                <a:effectLst/>
                <a:latin typeface="Times New Roman" panose="02020603050405020304" pitchFamily="18" charset="0"/>
                <a:ea typeface="Times New Roman" panose="02020603050405020304" pitchFamily="18" charset="0"/>
              </a:rPr>
              <a:t> type of an array</a:t>
            </a:r>
          </a:p>
          <a:p>
            <a:r>
              <a:rPr lang="it-IT" sz="2300" dirty="0">
                <a:solidFill>
                  <a:schemeClr val="accent3"/>
                </a:solidFill>
                <a:effectLst/>
                <a:latin typeface="Times New Roman" panose="02020603050405020304" pitchFamily="18" charset="0"/>
                <a:ea typeface="Times New Roman" panose="02020603050405020304" pitchFamily="18" charset="0"/>
              </a:rPr>
              <a:t>        var </a:t>
            </a:r>
            <a:r>
              <a:rPr lang="it-IT" sz="2300" dirty="0" err="1">
                <a:solidFill>
                  <a:schemeClr val="accent3"/>
                </a:solidFill>
                <a:effectLst/>
                <a:latin typeface="Times New Roman" panose="02020603050405020304" pitchFamily="18" charset="0"/>
                <a:ea typeface="Times New Roman" panose="02020603050405020304" pitchFamily="18" charset="0"/>
              </a:rPr>
              <a:t>varArray</a:t>
            </a:r>
            <a:r>
              <a:rPr lang="it-IT" sz="2300" dirty="0">
                <a:solidFill>
                  <a:schemeClr val="accent3"/>
                </a:solidFill>
                <a:effectLst/>
                <a:latin typeface="Times New Roman" panose="02020603050405020304" pitchFamily="18" charset="0"/>
                <a:ea typeface="Times New Roman" panose="02020603050405020304" pitchFamily="18" charset="0"/>
              </a:rPr>
              <a:t>[] = new int[3];</a:t>
            </a:r>
          </a:p>
          <a:p>
            <a:r>
              <a:rPr lang="it-IT" sz="2300" dirty="0">
                <a:solidFill>
                  <a:schemeClr val="accent3"/>
                </a:solidFill>
                <a:effectLst/>
                <a:latin typeface="Times New Roman" panose="02020603050405020304" pitchFamily="18" charset="0"/>
                <a:ea typeface="Times New Roman" panose="02020603050405020304" pitchFamily="18" charset="0"/>
              </a:rPr>
              <a:t>            ^</a:t>
            </a:r>
          </a:p>
          <a:p>
            <a:r>
              <a:rPr lang="it-IT" sz="2300" dirty="0">
                <a:effectLst/>
                <a:latin typeface="Times New Roman" panose="02020603050405020304" pitchFamily="18" charset="0"/>
                <a:ea typeface="Times New Roman" panose="02020603050405020304" pitchFamily="18" charset="0"/>
              </a:rPr>
              <a:t>infatti per quanto riguarda la deduzione del tipo per un array, il compilatore già si basa sulla parte sinistra della dichiarazione (in inglese </a:t>
            </a:r>
            <a:r>
              <a:rPr lang="it-IT" sz="2300" dirty="0" err="1">
                <a:effectLst/>
                <a:latin typeface="Times New Roman" panose="02020603050405020304" pitchFamily="18" charset="0"/>
                <a:ea typeface="Times New Roman" panose="02020603050405020304" pitchFamily="18" charset="0"/>
              </a:rPr>
              <a:t>left</a:t>
            </a:r>
            <a:r>
              <a:rPr lang="it-IT" sz="2300" dirty="0">
                <a:effectLst/>
                <a:latin typeface="Times New Roman" panose="02020603050405020304" pitchFamily="18" charset="0"/>
                <a:ea typeface="Times New Roman" panose="02020603050405020304" pitchFamily="18" charset="0"/>
              </a:rPr>
              <a:t> hand side: LHS), mentre la parola </a:t>
            </a:r>
            <a:r>
              <a:rPr lang="it-IT" sz="2300" i="1" dirty="0">
                <a:effectLst/>
                <a:latin typeface="Times New Roman" panose="02020603050405020304" pitchFamily="18" charset="0"/>
                <a:ea typeface="Times New Roman" panose="02020603050405020304" pitchFamily="18" charset="0"/>
              </a:rPr>
              <a:t>var</a:t>
            </a:r>
            <a:r>
              <a:rPr lang="it-IT" sz="2300" dirty="0">
                <a:effectLst/>
                <a:latin typeface="Times New Roman" panose="02020603050405020304" pitchFamily="18" charset="0"/>
                <a:ea typeface="Times New Roman" panose="02020603050405020304" pitchFamily="18" charset="0"/>
              </a:rPr>
              <a:t> viene utilizzata per sfruttare la parte destra (RHS) della dichiarazione. </a:t>
            </a:r>
          </a:p>
        </p:txBody>
      </p:sp>
    </p:spTree>
    <p:extLst>
      <p:ext uri="{BB962C8B-B14F-4D97-AF65-F5344CB8AC3E}">
        <p14:creationId xmlns:p14="http://schemas.microsoft.com/office/powerpoint/2010/main" val="35333079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72010"/>
            <a:ext cx="9144000" cy="1124680"/>
          </a:xfrm>
        </p:spPr>
        <p:txBody>
          <a:bodyPr>
            <a:normAutofit/>
          </a:bodyPr>
          <a:lstStyle/>
          <a:p>
            <a:pPr algn="ctr"/>
            <a:r>
              <a:rPr lang="it-IT" dirty="0"/>
              <a:t>Sommario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NJ-003</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66</a:t>
            </a:fld>
            <a:endParaRPr lang="it-IT"/>
          </a:p>
        </p:txBody>
      </p:sp>
      <p:sp>
        <p:nvSpPr>
          <p:cNvPr id="8" name="Segnaposto contenuto 2">
            <a:extLst>
              <a:ext uri="{FF2B5EF4-FFF2-40B4-BE49-F238E27FC236}">
                <a16:creationId xmlns:a16="http://schemas.microsoft.com/office/drawing/2014/main" id="{C0CC9B9D-479A-4F78-8DB1-FA2D02912239}"/>
              </a:ext>
            </a:extLst>
          </p:cNvPr>
          <p:cNvSpPr>
            <a:spLocks noGrp="1"/>
          </p:cNvSpPr>
          <p:nvPr>
            <p:ph idx="1"/>
          </p:nvPr>
        </p:nvSpPr>
        <p:spPr>
          <a:xfrm>
            <a:off x="0" y="1196690"/>
            <a:ext cx="9144000" cy="5008143"/>
          </a:xfrm>
        </p:spPr>
        <p:txBody>
          <a:bodyPr>
            <a:noAutofit/>
          </a:bodyPr>
          <a:lstStyle/>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Conoscere le regole e le convenzioni per dichiarare identificatori per il codice Java.</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Comprendere come viene gestita la memoria, i sistemi numerici posizionali e come vengono rappresentati in memoria i vari tipi di dati.</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Conoscere e saper utilizzare tutti i tipi di dati primitivi.</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gestire cast e promotion.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utilizzare i reference e capirne la filosofia.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Iniziare ad esplorare la documentazione della libreria standard di Java.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utilizzare la classe String.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commentare il proprio codice ed essere in grado di utilizzare lo strumento javadoc per produrre documentazione tecnica esterna.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definire, creare, ed inizializzare gli array. </a:t>
            </a:r>
          </a:p>
          <a:p>
            <a:pPr marL="180340" indent="180340">
              <a:tabLst>
                <a:tab pos="457200" algn="l"/>
              </a:tabLst>
            </a:pPr>
            <a:r>
              <a:rPr lang="it-IT" sz="2200" dirty="0">
                <a:effectLst/>
                <a:latin typeface="Calibri" panose="020F0502020204030204" pitchFamily="34" charset="0"/>
                <a:ea typeface="Times New Roman" panose="02020603050405020304" pitchFamily="18" charset="0"/>
                <a:cs typeface="Calibri" panose="020F0502020204030204" pitchFamily="34" charset="0"/>
              </a:rPr>
              <a:t>Saper definire la deduzione del tipo per le variabili locali, e saper utilizzare la parola speciale var. </a:t>
            </a:r>
          </a:p>
        </p:txBody>
      </p:sp>
    </p:spTree>
    <p:extLst>
      <p:ext uri="{BB962C8B-B14F-4D97-AF65-F5344CB8AC3E}">
        <p14:creationId xmlns:p14="http://schemas.microsoft.com/office/powerpoint/2010/main" val="3691854465"/>
      </p:ext>
    </p:extLst>
  </p:cSld>
  <p:clrMapOvr>
    <a:masterClrMapping/>
  </p:clrMapOvr>
</p:sld>
</file>

<file path=ppt/theme/theme1.xml><?xml version="1.0" encoding="utf-8"?>
<a:theme xmlns:a="http://schemas.openxmlformats.org/drawingml/2006/main" name="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Profondità">
  <a:themeElements>
    <a:clrScheme name="Profondità">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ondità">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ondità">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AcademyTheme</Template>
  <TotalTime>19278</TotalTime>
  <Words>26345</Words>
  <Application>Microsoft Office PowerPoint</Application>
  <PresentationFormat>Presentazione su schermo (4:3)</PresentationFormat>
  <Paragraphs>1468</Paragraphs>
  <Slides>66</Slides>
  <Notes>66</Notes>
  <HiddenSlides>0</HiddenSlides>
  <MMClips>0</MMClips>
  <ScaleCrop>false</ScaleCrop>
  <HeadingPairs>
    <vt:vector size="6" baseType="variant">
      <vt:variant>
        <vt:lpstr>Caratteri utilizzati</vt:lpstr>
      </vt:variant>
      <vt:variant>
        <vt:i4>5</vt:i4>
      </vt:variant>
      <vt:variant>
        <vt:lpstr>Tema</vt:lpstr>
      </vt:variant>
      <vt:variant>
        <vt:i4>4</vt:i4>
      </vt:variant>
      <vt:variant>
        <vt:lpstr>Titoli diapositive</vt:lpstr>
      </vt:variant>
      <vt:variant>
        <vt:i4>66</vt:i4>
      </vt:variant>
    </vt:vector>
  </HeadingPairs>
  <TitlesOfParts>
    <vt:vector size="75" baseType="lpstr">
      <vt:lpstr>Arial</vt:lpstr>
      <vt:lpstr>Calibri</vt:lpstr>
      <vt:lpstr>Corbel</vt:lpstr>
      <vt:lpstr>Courier New</vt:lpstr>
      <vt:lpstr>Times New Roman</vt:lpstr>
      <vt:lpstr>AcademyTheme</vt:lpstr>
      <vt:lpstr>Personalizza struttura</vt:lpstr>
      <vt:lpstr>1_AcademyTheme</vt:lpstr>
      <vt:lpstr>Profondità</vt:lpstr>
      <vt:lpstr>Claudio De Sio Cesari   Il nuovo Java Stile di codifica, tipi di dati ed array (NJ– 003) </vt:lpstr>
      <vt:lpstr>Stile di codifica, tipi di dati ed array</vt:lpstr>
      <vt:lpstr>Stile di codifica di Java</vt:lpstr>
      <vt:lpstr>Schema Libero e standard di formattazione</vt:lpstr>
      <vt:lpstr>Best practice per scrivere codice</vt:lpstr>
      <vt:lpstr>Commenti</vt:lpstr>
      <vt:lpstr>Quando utilizzare i commenti</vt:lpstr>
      <vt:lpstr>Identificatori</vt:lpstr>
      <vt:lpstr>Parole definite dal linguaggio</vt:lpstr>
      <vt:lpstr>Identificatori: standard e convenzioni</vt:lpstr>
      <vt:lpstr>Gestione della memoria</vt:lpstr>
      <vt:lpstr>Byte</vt:lpstr>
      <vt:lpstr>Memorizzazione dei numeri interi</vt:lpstr>
      <vt:lpstr>Sistemi numerici posizionali</vt:lpstr>
      <vt:lpstr>Metodo del complemento a due</vt:lpstr>
      <vt:lpstr>Metodo del complemento a due</vt:lpstr>
      <vt:lpstr>Caratteri e simboli: standard Unicode </vt:lpstr>
      <vt:lpstr>Numeri decimali e standard IEEE-754 </vt:lpstr>
      <vt:lpstr>Tipi di dati primitivi</vt:lpstr>
      <vt:lpstr>Tipi di dati interi</vt:lpstr>
      <vt:lpstr>Notazioni per numeri interi</vt:lpstr>
      <vt:lpstr>Promozione automatica nelle espressioni</vt:lpstr>
      <vt:lpstr>Promozione automatica</vt:lpstr>
      <vt:lpstr>Cast</vt:lpstr>
      <vt:lpstr>Cast</vt:lpstr>
      <vt:lpstr>Operazioni con interi</vt:lpstr>
      <vt:lpstr>Tipi di dati a virgola mobile (floating point)</vt:lpstr>
      <vt:lpstr>Floating Point: cast e promozione automatica</vt:lpstr>
      <vt:lpstr>Precisione dei numeri floating point (IEEE-754)</vt:lpstr>
      <vt:lpstr>Precisione dei numeri floating point (IEEE-754)</vt:lpstr>
      <vt:lpstr>Underscore in tipi di dati numerici</vt:lpstr>
      <vt:lpstr>Underscore in tipi di dati numerici</vt:lpstr>
      <vt:lpstr>Tipo di dato logico - booleano</vt:lpstr>
      <vt:lpstr>Tipo di dato primitivo letterale</vt:lpstr>
      <vt:lpstr>Tipo di dato primitivo letterale</vt:lpstr>
      <vt:lpstr>Caratteri sulla tastiera stampabili</vt:lpstr>
      <vt:lpstr>Caratteri sulla tastiera stampabili</vt:lpstr>
      <vt:lpstr>Formato Unicode (notazione esadecimale) </vt:lpstr>
      <vt:lpstr>Caratteri di escape speciali</vt:lpstr>
      <vt:lpstr>Tipi di dati complessi: reference</vt:lpstr>
      <vt:lpstr>Tipi di dati complessi: reference</vt:lpstr>
      <vt:lpstr>Tipi di dati complessi: reference</vt:lpstr>
      <vt:lpstr>Tipi di dati complessi: reference</vt:lpstr>
      <vt:lpstr>Passaggio di parametri per valore</vt:lpstr>
      <vt:lpstr>Passaggio di parametri per valore</vt:lpstr>
      <vt:lpstr>Passaggio di parametri per valore</vt:lpstr>
      <vt:lpstr>Inizializzazione delle variabili d’istanza </vt:lpstr>
      <vt:lpstr>Libreria standard (Java API)</vt:lpstr>
      <vt:lpstr>Il comando import</vt:lpstr>
      <vt:lpstr>La classe String</vt:lpstr>
      <vt:lpstr>La classe String</vt:lpstr>
      <vt:lpstr>La classe String</vt:lpstr>
      <vt:lpstr>Documentazione e javadoc</vt:lpstr>
      <vt:lpstr>Array in Java</vt:lpstr>
      <vt:lpstr>Array in Java: sintassi alternative</vt:lpstr>
      <vt:lpstr>Array in Java: caratteristiche</vt:lpstr>
      <vt:lpstr>Array in Java: multidimensionali</vt:lpstr>
      <vt:lpstr>Array in Java: multidimensionali</vt:lpstr>
      <vt:lpstr>Array in Java: String args[]</vt:lpstr>
      <vt:lpstr>Deduzione del tipo per le variabili locali</vt:lpstr>
      <vt:lpstr>Deduzione del tipo per le variabili locali</vt:lpstr>
      <vt:lpstr>Deduzione del tipo per le variabili locali</vt:lpstr>
      <vt:lpstr>Deduzione del tipo per le variabili locali</vt:lpstr>
      <vt:lpstr>Deduzione del tipo per le variabili locali</vt:lpstr>
      <vt:lpstr>Deduzione del tipo per le variabili locali</vt:lpstr>
      <vt:lpstr>Sommario</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cdsc</dc:creator>
  <cp:lastModifiedBy>Claudio De Sio Cesari</cp:lastModifiedBy>
  <cp:revision>312</cp:revision>
  <dcterms:created xsi:type="dcterms:W3CDTF">2012-03-20T22:57:36Z</dcterms:created>
  <dcterms:modified xsi:type="dcterms:W3CDTF">2021-03-12T21:18:50Z</dcterms:modified>
</cp:coreProperties>
</file>