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64" r:id="rId2"/>
    <p:sldMasterId id="2147483670" r:id="rId3"/>
    <p:sldMasterId id="2147483677" r:id="rId4"/>
  </p:sldMasterIdLst>
  <p:notesMasterIdLst>
    <p:notesMasterId r:id="rId48"/>
  </p:notesMasterIdLst>
  <p:sldIdLst>
    <p:sldId id="257" r:id="rId5"/>
    <p:sldId id="721" r:id="rId6"/>
    <p:sldId id="722" r:id="rId7"/>
    <p:sldId id="803" r:id="rId8"/>
    <p:sldId id="804" r:id="rId9"/>
    <p:sldId id="769" r:id="rId10"/>
    <p:sldId id="805" r:id="rId11"/>
    <p:sldId id="806" r:id="rId12"/>
    <p:sldId id="746" r:id="rId13"/>
    <p:sldId id="807" r:id="rId14"/>
    <p:sldId id="770" r:id="rId15"/>
    <p:sldId id="724" r:id="rId16"/>
    <p:sldId id="723" r:id="rId17"/>
    <p:sldId id="771" r:id="rId18"/>
    <p:sldId id="808" r:id="rId19"/>
    <p:sldId id="809" r:id="rId20"/>
    <p:sldId id="859" r:id="rId21"/>
    <p:sldId id="810" r:id="rId22"/>
    <p:sldId id="811" r:id="rId23"/>
    <p:sldId id="812" r:id="rId24"/>
    <p:sldId id="813" r:id="rId25"/>
    <p:sldId id="772" r:id="rId26"/>
    <p:sldId id="748" r:id="rId27"/>
    <p:sldId id="860" r:id="rId28"/>
    <p:sldId id="815" r:id="rId29"/>
    <p:sldId id="861" r:id="rId30"/>
    <p:sldId id="816" r:id="rId31"/>
    <p:sldId id="822" r:id="rId32"/>
    <p:sldId id="823" r:id="rId33"/>
    <p:sldId id="824" r:id="rId34"/>
    <p:sldId id="825" r:id="rId35"/>
    <p:sldId id="826" r:id="rId36"/>
    <p:sldId id="862" r:id="rId37"/>
    <p:sldId id="863" r:id="rId38"/>
    <p:sldId id="864" r:id="rId39"/>
    <p:sldId id="865" r:id="rId40"/>
    <p:sldId id="828" r:id="rId41"/>
    <p:sldId id="866" r:id="rId42"/>
    <p:sldId id="829" r:id="rId43"/>
    <p:sldId id="830" r:id="rId44"/>
    <p:sldId id="867" r:id="rId45"/>
    <p:sldId id="831" r:id="rId46"/>
    <p:sldId id="743" r:id="rId4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7EAEB438-8BB2-4472-9D6B-5E6DC54C0E6B}">
          <p14:sldIdLst>
            <p14:sldId id="257"/>
            <p14:sldId id="721"/>
            <p14:sldId id="722"/>
            <p14:sldId id="803"/>
            <p14:sldId id="804"/>
            <p14:sldId id="769"/>
            <p14:sldId id="805"/>
            <p14:sldId id="806"/>
            <p14:sldId id="746"/>
            <p14:sldId id="807"/>
            <p14:sldId id="770"/>
            <p14:sldId id="724"/>
            <p14:sldId id="723"/>
            <p14:sldId id="771"/>
            <p14:sldId id="808"/>
            <p14:sldId id="809"/>
            <p14:sldId id="859"/>
            <p14:sldId id="810"/>
            <p14:sldId id="811"/>
            <p14:sldId id="812"/>
            <p14:sldId id="813"/>
            <p14:sldId id="772"/>
            <p14:sldId id="748"/>
            <p14:sldId id="860"/>
            <p14:sldId id="815"/>
            <p14:sldId id="861"/>
            <p14:sldId id="816"/>
            <p14:sldId id="822"/>
            <p14:sldId id="823"/>
            <p14:sldId id="824"/>
            <p14:sldId id="825"/>
            <p14:sldId id="826"/>
            <p14:sldId id="862"/>
            <p14:sldId id="863"/>
            <p14:sldId id="864"/>
            <p14:sldId id="865"/>
            <p14:sldId id="828"/>
            <p14:sldId id="866"/>
            <p14:sldId id="829"/>
            <p14:sldId id="830"/>
            <p14:sldId id="867"/>
            <p14:sldId id="831"/>
            <p14:sldId id="7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o De Sio Cesari" initials="CDSC" lastIdx="1" clrIdx="0">
    <p:extLst>
      <p:ext uri="{19B8F6BF-5375-455C-9EA6-DF929625EA0E}">
        <p15:presenceInfo xmlns:p15="http://schemas.microsoft.com/office/powerpoint/2012/main" userId="a29b13f1a3f354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74737" autoAdjust="0"/>
  </p:normalViewPr>
  <p:slideViewPr>
    <p:cSldViewPr>
      <p:cViewPr varScale="1">
        <p:scale>
          <a:sx n="85" d="100"/>
          <a:sy n="85" d="100"/>
        </p:scale>
        <p:origin x="2190"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133C31-D34E-4EBE-ABC4-2DAA5A26C937}" type="datetimeFigureOut">
              <a:rPr lang="it-IT" smtClean="0"/>
              <a:t>15/03/2021</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D8BF2-49EE-4CE2-A2D7-61B744D1E4D9}" type="slidenum">
              <a:rPr lang="it-IT" smtClean="0"/>
              <a:t>‹N›</a:t>
            </a:fld>
            <a:endParaRPr lang="it-IT"/>
          </a:p>
        </p:txBody>
      </p:sp>
    </p:spTree>
    <p:extLst>
      <p:ext uri="{BB962C8B-B14F-4D97-AF65-F5344CB8AC3E}">
        <p14:creationId xmlns:p14="http://schemas.microsoft.com/office/powerpoint/2010/main" val="178935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545D8BF2-49EE-4CE2-A2D7-61B744D1E4D9}" type="slidenum">
              <a:rPr lang="it-IT" smtClean="0"/>
              <a:t>1</a:t>
            </a:fld>
            <a:endParaRPr lang="it-IT"/>
          </a:p>
        </p:txBody>
      </p:sp>
    </p:spTree>
    <p:extLst>
      <p:ext uri="{BB962C8B-B14F-4D97-AF65-F5344CB8AC3E}">
        <p14:creationId xmlns:p14="http://schemas.microsoft.com/office/powerpoint/2010/main" val="365646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 questo capitolo, inizia la seconda parte del libro, dedicata al supporto che offre Java alla programmazione ad oggetti (OOP). Questo capitolo è dedicato principalmente al primo dei tre paradigmi che caratterizzano un linguaggio orientato agli oggetti: l’incapsulamento. Contestualmente, introdurremo anche altri paradigmi e principi dell’OOP come il riuso e l’astrazione. </a:t>
            </a:r>
          </a:p>
          <a:p>
            <a:r>
              <a:rPr lang="it-IT" sz="1800" b="1" dirty="0">
                <a:effectLst/>
                <a:latin typeface="Times New Roman" panose="02020603050405020304" pitchFamily="18" charset="0"/>
                <a:ea typeface="Times New Roman" panose="02020603050405020304" pitchFamily="18" charset="0"/>
              </a:rPr>
              <a:t>[ICONA APPROFONDIMENTO 5.1]</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Nell’approfondimento 5.1, troverete anche un’interessante e breve esposizione delle ragioni storiche riguardo la nascita programmazione ad oggetti.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strumento ausiliare, useremo anche il linguaggio grafico UML, in particolare il diagramma delle classi. Esso, ci permetterà di visualizzare il nostro software da angolazioni diverse, in modo tale da acquisire maggiore consapevolezza degli argomenti. </a:t>
            </a:r>
          </a:p>
          <a:p>
            <a:r>
              <a:rPr lang="it-IT" sz="1800" dirty="0">
                <a:effectLst/>
                <a:latin typeface="Times New Roman" panose="02020603050405020304" pitchFamily="18" charset="0"/>
                <a:ea typeface="Times New Roman" panose="02020603050405020304" pitchFamily="18" charset="0"/>
              </a:rPr>
              <a:t>Verranno approfondite anche altre fondamentali nozioni riguardo la visibilità dei componenti della programmazione Java, come i modificatori d’accesso, ed infine entreremo nel dettaglio del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Ne approfitteremo per introdurre i </a:t>
            </a:r>
            <a:r>
              <a:rPr lang="it-IT" sz="1800" i="1" dirty="0">
                <a:effectLst/>
                <a:latin typeface="Times New Roman" panose="02020603050405020304" pitchFamily="18" charset="0"/>
                <a:ea typeface="Times New Roman" panose="02020603050405020304" pitchFamily="18" charset="0"/>
              </a:rPr>
              <a:t>design pattern</a:t>
            </a:r>
            <a:r>
              <a:rPr lang="it-IT" sz="1800" dirty="0">
                <a:effectLst/>
                <a:latin typeface="Times New Roman" panose="02020603050405020304" pitchFamily="18" charset="0"/>
                <a:ea typeface="Times New Roman" panose="02020603050405020304" pitchFamily="18" charset="0"/>
              </a:rPr>
              <a:t>.</a:t>
            </a:r>
          </a:p>
        </p:txBody>
      </p:sp>
      <p:sp>
        <p:nvSpPr>
          <p:cNvPr id="4" name="Segnaposto numero diapositiva 3"/>
          <p:cNvSpPr>
            <a:spLocks noGrp="1"/>
          </p:cNvSpPr>
          <p:nvPr>
            <p:ph type="sldNum" sz="quarter" idx="5"/>
          </p:nvPr>
        </p:nvSpPr>
        <p:spPr/>
        <p:txBody>
          <a:bodyPr/>
          <a:lstStyle/>
          <a:p>
            <a:fld id="{545D8BF2-49EE-4CE2-A2D7-61B744D1E4D9}" type="slidenum">
              <a:rPr lang="it-IT" smtClean="0"/>
              <a:t>2</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a:t>
            </a:r>
            <a:r>
              <a:rPr lang="it-IT" sz="1800" b="1" dirty="0">
                <a:effectLst/>
                <a:latin typeface="Times New Roman" panose="02020603050405020304" pitchFamily="18" charset="0"/>
                <a:ea typeface="Times New Roman" panose="02020603050405020304" pitchFamily="18" charset="0"/>
              </a:rPr>
              <a:t>programmazione orientata agli oggetti</a:t>
            </a:r>
            <a:r>
              <a:rPr lang="it-IT" sz="1800" dirty="0">
                <a:effectLst/>
                <a:latin typeface="Times New Roman" panose="02020603050405020304" pitchFamily="18" charset="0"/>
                <a:ea typeface="Times New Roman" panose="02020603050405020304" pitchFamily="18" charset="0"/>
              </a:rPr>
              <a:t> è una scienza, o meglio una filosofia adattabile alla programmazione. Essa si basa su concetti esistenti nel mondo reale, con i quali abbiamo a che fare ogni giorno. Abbiamo già visto nel secondo capitolo, che noi esseri umani utilizziamo da sempre i concetti di </a:t>
            </a:r>
            <a:r>
              <a:rPr lang="it-IT" sz="1800" b="1" dirty="0">
                <a:effectLst/>
                <a:latin typeface="Times New Roman" panose="02020603050405020304" pitchFamily="18" charset="0"/>
                <a:ea typeface="Times New Roman" panose="02020603050405020304" pitchFamily="18" charset="0"/>
              </a:rPr>
              <a:t>classe</a:t>
            </a:r>
            <a:r>
              <a:rPr lang="it-IT" sz="1800" dirty="0">
                <a:effectLst/>
                <a:latin typeface="Times New Roman" panose="02020603050405020304" pitchFamily="18" charset="0"/>
                <a:ea typeface="Times New Roman" panose="02020603050405020304" pitchFamily="18" charset="0"/>
              </a:rPr>
              <a:t> e di </a:t>
            </a:r>
            <a:r>
              <a:rPr lang="it-IT" sz="1800" b="1" dirty="0">
                <a:effectLst/>
                <a:latin typeface="Times New Roman" panose="02020603050405020304" pitchFamily="18" charset="0"/>
                <a:ea typeface="Times New Roman" panose="02020603050405020304" pitchFamily="18" charset="0"/>
              </a:rPr>
              <a:t>oggetto</a:t>
            </a:r>
            <a:r>
              <a:rPr lang="it-IT" sz="1800" dirty="0">
                <a:effectLst/>
                <a:latin typeface="Times New Roman" panose="02020603050405020304" pitchFamily="18" charset="0"/>
                <a:ea typeface="Times New Roman" panose="02020603050405020304" pitchFamily="18" charset="0"/>
              </a:rPr>
              <a:t>, e che l’</a:t>
            </a:r>
            <a:r>
              <a:rPr lang="it-IT" sz="1800" b="1" dirty="0">
                <a:effectLst/>
                <a:latin typeface="Times New Roman" panose="02020603050405020304" pitchFamily="18" charset="0"/>
                <a:ea typeface="Times New Roman" panose="02020603050405020304" pitchFamily="18" charset="0"/>
              </a:rPr>
              <a:t>astrazione</a:t>
            </a:r>
            <a:r>
              <a:rPr lang="it-IT" sz="1800" dirty="0">
                <a:effectLst/>
                <a:latin typeface="Times New Roman" panose="02020603050405020304" pitchFamily="18" charset="0"/>
                <a:ea typeface="Times New Roman" panose="02020603050405020304" pitchFamily="18" charset="0"/>
              </a:rPr>
              <a:t> degli oggetti reali in classi, ci fa superare la complessità della realtà. Con tali concetti infatti, possiamo osservare oggetti completamente differenti, riconoscendo in essi caratteristiche e funzionalità che li accomunano, e quindi associarli ad una stessa classe. Per esempio, sebbene completamente diversi, un sassofono ed un pianoforte appartengono entrambi alla classe degli strumenti musicali. </a:t>
            </a:r>
          </a:p>
          <a:p>
            <a:r>
              <a:rPr lang="it-IT" sz="1800" dirty="0">
                <a:effectLst/>
                <a:latin typeface="Times New Roman" panose="02020603050405020304" pitchFamily="18" charset="0"/>
                <a:ea typeface="Times New Roman" panose="02020603050405020304" pitchFamily="18" charset="0"/>
              </a:rPr>
              <a:t>Inoltre, tra poco vedremo come il paradigma dell’</a:t>
            </a:r>
            <a:r>
              <a:rPr lang="it-IT" sz="1800" b="1" dirty="0">
                <a:effectLst/>
                <a:latin typeface="Times New Roman" panose="02020603050405020304" pitchFamily="18" charset="0"/>
                <a:ea typeface="Times New Roman" panose="02020603050405020304" pitchFamily="18" charset="0"/>
              </a:rPr>
              <a:t>incapsulamento</a:t>
            </a:r>
            <a:r>
              <a:rPr lang="it-IT" sz="1800" dirty="0">
                <a:effectLst/>
                <a:latin typeface="Times New Roman" panose="02020603050405020304" pitchFamily="18" charset="0"/>
                <a:ea typeface="Times New Roman" panose="02020603050405020304" pitchFamily="18" charset="0"/>
              </a:rPr>
              <a:t>, ci permetterà di creare programmi composti da classi che nascondono i dettagli di implementazione, dietro ad interfacce pubbliche. Queste ultime, regoleranno la comunicazione tra gli oggetti che fanno parte del sistema. Vedremo come ciò sia ispirato dall’astrazione, e come esso favorisca il </a:t>
            </a:r>
            <a:r>
              <a:rPr lang="it-IT" sz="1800" b="1" dirty="0">
                <a:effectLst/>
                <a:latin typeface="Times New Roman" panose="02020603050405020304" pitchFamily="18" charset="0"/>
                <a:ea typeface="Times New Roman" panose="02020603050405020304" pitchFamily="18" charset="0"/>
              </a:rPr>
              <a:t>riuso</a:t>
            </a:r>
            <a:r>
              <a:rPr lang="it-IT" sz="1800" dirty="0">
                <a:effectLst/>
                <a:latin typeface="Times New Roman" panose="02020603050405020304" pitchFamily="18" charset="0"/>
                <a:ea typeface="Times New Roman" panose="02020603050405020304" pitchFamily="18" charset="0"/>
              </a:rPr>
              <a:t> del codice già scritto. Quest’ultimo, sarà promosso intrinsecamente anche dagli altri due paradigmi  che studieremo nei prossimi capitoli: l’</a:t>
            </a:r>
            <a:r>
              <a:rPr lang="it-IT" sz="1800" b="1" dirty="0">
                <a:effectLst/>
                <a:latin typeface="Times New Roman" panose="02020603050405020304" pitchFamily="18" charset="0"/>
                <a:ea typeface="Times New Roman" panose="02020603050405020304" pitchFamily="18" charset="0"/>
              </a:rPr>
              <a:t>ereditarietà</a:t>
            </a:r>
            <a:r>
              <a:rPr lang="it-IT" sz="1800" dirty="0">
                <a:effectLst/>
                <a:latin typeface="Times New Roman" panose="02020603050405020304" pitchFamily="18" charset="0"/>
                <a:ea typeface="Times New Roman" panose="02020603050405020304" pitchFamily="18" charset="0"/>
              </a:rPr>
              <a:t> ed il </a:t>
            </a:r>
            <a:r>
              <a:rPr lang="it-IT" sz="1800" b="1" dirty="0">
                <a:effectLst/>
                <a:latin typeface="Times New Roman" panose="02020603050405020304" pitchFamily="18" charset="0"/>
                <a:ea typeface="Times New Roman" panose="02020603050405020304" pitchFamily="18" charset="0"/>
              </a:rPr>
              <a:t>polimorfismo</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In generale, la programmazione ad oggetti ci permetterà di creare programmi più semplici da evolvere e manutenere, che riusano parti di codice ben definite, e che facilitano l’interazione tra il programmatore e il codice. I vantaggi non si limitano solo a queste caratteristiche, e scopriremo nuovi benefici durante lo studio di questo libro.</a:t>
            </a:r>
          </a:p>
        </p:txBody>
      </p:sp>
      <p:sp>
        <p:nvSpPr>
          <p:cNvPr id="4" name="Segnaposto numero diapositiva 3"/>
          <p:cNvSpPr>
            <a:spLocks noGrp="1"/>
          </p:cNvSpPr>
          <p:nvPr>
            <p:ph type="sldNum" sz="quarter" idx="5"/>
          </p:nvPr>
        </p:nvSpPr>
        <p:spPr/>
        <p:txBody>
          <a:bodyPr/>
          <a:lstStyle/>
          <a:p>
            <a:fld id="{545D8BF2-49EE-4CE2-A2D7-61B744D1E4D9}" type="slidenum">
              <a:rPr lang="it-IT" smtClean="0"/>
              <a:t>3</a:t>
            </a:fld>
            <a:endParaRPr lang="it-IT"/>
          </a:p>
        </p:txBody>
      </p:sp>
    </p:spTree>
    <p:extLst>
      <p:ext uri="{BB962C8B-B14F-4D97-AF65-F5344CB8AC3E}">
        <p14:creationId xmlns:p14="http://schemas.microsoft.com/office/powerpoint/2010/main" val="57234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Si noti che non esistono solo tre paradigmi nella programmazione orientata agli oggetti. Per esempio, si dovrebbero considerare paradigmi dell’OOP anche l’astrazione e il riuso. Questi ultimi due però, sono meno esaltati nei testi di programmazione Java, non perché meno potenti e utili, ma perché non sono specifici della programmazione orientata agli oggetti. Infatti, l’astrazione e il riuso sono concetti che appartengono anche alla programmazione funzionale. Quindi, prima di procedere con l’incapsulamento, aggiungeremo qualche informazione di dettaglio sui concetti di astrazione e riuso. Inoltre introdurremo i diagrammi delle classi del linguaggio UML.</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 differenza di altri linguaggi di programmazione orientati agli oggetti, Java definisce in modo estremamente chiaro i concetti appena menzionati. Anche programmatori che si ritengono esperti di altri linguaggi orientati agli oggetti come il C++, studiando Java potrebbero comprendere in modo più profondo alcune nozioni che si pensava di conoscere bene.</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a:t>
            </a:fld>
            <a:endParaRPr lang="it-IT"/>
          </a:p>
        </p:txBody>
      </p:sp>
    </p:spTree>
    <p:extLst>
      <p:ext uri="{BB962C8B-B14F-4D97-AF65-F5344CB8AC3E}">
        <p14:creationId xmlns:p14="http://schemas.microsoft.com/office/powerpoint/2010/main" val="4089227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t>
            </a:r>
            <a:r>
              <a:rPr lang="it-IT" sz="1800" b="1" dirty="0">
                <a:effectLst/>
                <a:latin typeface="Times New Roman" panose="02020603050405020304" pitchFamily="18" charset="0"/>
                <a:ea typeface="Times New Roman" panose="02020603050405020304" pitchFamily="18" charset="0"/>
              </a:rPr>
              <a:t>astrazione</a:t>
            </a:r>
            <a:r>
              <a:rPr lang="it-IT" sz="1800" dirty="0">
                <a:effectLst/>
                <a:latin typeface="Times New Roman" panose="02020603050405020304" pitchFamily="18" charset="0"/>
                <a:ea typeface="Times New Roman" panose="02020603050405020304" pitchFamily="18" charset="0"/>
              </a:rPr>
              <a:t> potrebbe definirsi come </a:t>
            </a:r>
            <a:r>
              <a:rPr lang="it-IT" sz="1800" i="1" dirty="0">
                <a:effectLst/>
                <a:latin typeface="Times New Roman" panose="02020603050405020304" pitchFamily="18" charset="0"/>
                <a:ea typeface="Times New Roman" panose="02020603050405020304" pitchFamily="18" charset="0"/>
              </a:rPr>
              <a:t>l’arte di sapersi concentrare solo sui dettagli veramente essenziali nella descrizione di un’entità</a:t>
            </a:r>
            <a:r>
              <a:rPr lang="it-IT" sz="1800" dirty="0">
                <a:effectLst/>
                <a:latin typeface="Times New Roman" panose="02020603050405020304" pitchFamily="18" charset="0"/>
                <a:ea typeface="Times New Roman" panose="02020603050405020304" pitchFamily="18" charset="0"/>
              </a:rPr>
              <a:t>. Come abbiamo già spiegato nel secondo capitolo, l’astrazione è un concetto chiarissimo a tutti noi, dal momento che lo utilizziamo in ogni istante della nostra vita. Anche in questo istante per esempio, mentre state leggendo questo libro, vi state concentrando sull’apprenderne correttamente i contenuti, senza badare ad altri dettagli del libro che avete tra le mani. Anche questa è una forma di astrazione.</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Per formalizzare un discorso altrimenti troppo “astratto”, possiamo definire tre livelli per implementare l’astrazione nel nostro codice:</a:t>
            </a:r>
          </a:p>
          <a:p>
            <a:pPr marL="180340" indent="180340"/>
            <a:r>
              <a:rPr lang="it-IT" sz="1800" dirty="0">
                <a:effectLst/>
                <a:latin typeface="Times New Roman" panose="02020603050405020304" pitchFamily="18" charset="0"/>
                <a:ea typeface="MS Mincho" panose="02020609040205080304" pitchFamily="49" charset="-128"/>
              </a:rPr>
              <a:t>astrazione funzionale</a:t>
            </a:r>
          </a:p>
          <a:p>
            <a:pPr marL="180340" indent="180340"/>
            <a:r>
              <a:rPr lang="it-IT" sz="1800" dirty="0">
                <a:effectLst/>
                <a:latin typeface="Times New Roman" panose="02020603050405020304" pitchFamily="18" charset="0"/>
                <a:ea typeface="MS Mincho" panose="02020609040205080304" pitchFamily="49" charset="-128"/>
              </a:rPr>
              <a:t>astrazione dei dati</a:t>
            </a:r>
          </a:p>
          <a:p>
            <a:pPr marL="180340" indent="180340"/>
            <a:r>
              <a:rPr lang="it-IT" sz="1800" dirty="0">
                <a:effectLst/>
                <a:latin typeface="Times New Roman" panose="02020603050405020304" pitchFamily="18" charset="0"/>
                <a:ea typeface="MS Mincho" panose="02020609040205080304" pitchFamily="49" charset="-128"/>
              </a:rPr>
              <a:t>astrazione del sistema</a:t>
            </a:r>
          </a:p>
          <a:p>
            <a:r>
              <a:rPr lang="it-IT" sz="1800" dirty="0">
                <a:effectLst/>
                <a:latin typeface="Times New Roman" panose="02020603050405020304" pitchFamily="18" charset="0"/>
                <a:ea typeface="Times New Roman" panose="02020603050405020304" pitchFamily="18" charset="0"/>
              </a:rPr>
              <a:t>Adoperiamo l’</a:t>
            </a:r>
            <a:r>
              <a:rPr lang="it-IT" sz="1800" b="1" dirty="0">
                <a:effectLst/>
                <a:latin typeface="Times New Roman" panose="02020603050405020304" pitchFamily="18" charset="0"/>
                <a:ea typeface="Times New Roman" panose="02020603050405020304" pitchFamily="18" charset="0"/>
              </a:rPr>
              <a:t>astrazione funzionale</a:t>
            </a:r>
            <a:r>
              <a:rPr lang="it-IT" sz="1800" dirty="0">
                <a:effectLst/>
                <a:latin typeface="Times New Roman" panose="02020603050405020304" pitchFamily="18" charset="0"/>
                <a:ea typeface="Times New Roman" panose="02020603050405020304" pitchFamily="18" charset="0"/>
              </a:rPr>
              <a:t> ogni volta che implementiamo un metodo. Infatti, tramite un metodo, riusciamo a portare all’interno di un’applicazione un concetto dinamico, sinonimo di azione, operazione. Prima di scrivere un metodo, dobbiamo avere ben presente in mente, i dati che devono essere passati in input, l’output che deve restituire, ed ovviamente il nome del metodo, che deve essere assolutamente significativo. Il nome, l’input e l’output del metodo costituiscono l’</a:t>
            </a:r>
            <a:r>
              <a:rPr lang="it-IT" sz="1800" b="1" dirty="0">
                <a:effectLst/>
                <a:latin typeface="Times New Roman" panose="02020603050405020304" pitchFamily="18" charset="0"/>
                <a:ea typeface="Times New Roman" panose="02020603050405020304" pitchFamily="18" charset="0"/>
              </a:rPr>
              <a:t>interfaccia del metodo</a:t>
            </a:r>
            <a:r>
              <a:rPr lang="it-IT" sz="1800" dirty="0">
                <a:effectLst/>
                <a:latin typeface="Times New Roman" panose="02020603050405020304" pitchFamily="18" charset="0"/>
                <a:ea typeface="Times New Roman" panose="02020603050405020304" pitchFamily="18" charset="0"/>
              </a:rPr>
              <a:t>, che deve essere definita, mediante l’astrazione della funzionalità che abbiamo pensato di implementare.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In realtà, l’interfaccia del metodo è costituita anche dai suoi modificatori e dalla dichiarazione delle eccezioni che potrebbe lanciare, come vedremo più avanti.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quando chiamiamo un metodo ne ignoriamo l’implementazione. Ci basta conoscere solo l’interfaccia per utilizzarlo. Una volta astratto l’interfaccia del metodo, è possibile pensare all’algoritmo che deve implementare. Anche l’algoritmo deve essere creato utilizzando l’astrazione, che ci permetterà di scegliere tutte le istruzioni che devono essere eseguite. </a:t>
            </a:r>
          </a:p>
          <a:p>
            <a:r>
              <a:rPr lang="it-IT" sz="1800" dirty="0">
                <a:effectLst/>
                <a:latin typeface="Times New Roman" panose="02020603050405020304" pitchFamily="18" charset="0"/>
                <a:ea typeface="Times New Roman" panose="02020603050405020304" pitchFamily="18" charset="0"/>
              </a:rPr>
              <a:t>Anche quando invochiamo un metodo usiamo l’astrazione. Infatti, per invocarlo ci occorre conoscere solo la sua interfaccia, ignorando completamente la sua implementazione.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Gli stessi concetti che abbiamo appena presentato, sono validi anche nella programmazione funzionale grazie alle funzioni.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Adoperiamo l’</a:t>
            </a:r>
            <a:r>
              <a:rPr lang="it-IT" sz="1800" b="1" dirty="0">
                <a:effectLst/>
                <a:latin typeface="Times New Roman" panose="02020603050405020304" pitchFamily="18" charset="0"/>
                <a:ea typeface="Times New Roman" panose="02020603050405020304" pitchFamily="18" charset="0"/>
              </a:rPr>
              <a:t>astrazione dei dati</a:t>
            </a:r>
            <a:r>
              <a:rPr lang="it-IT" sz="1800" dirty="0">
                <a:effectLst/>
                <a:latin typeface="Times New Roman" panose="02020603050405020304" pitchFamily="18" charset="0"/>
                <a:ea typeface="Times New Roman" panose="02020603050405020304" pitchFamily="18" charset="0"/>
              </a:rPr>
              <a:t>, ogni volta che definiamo una classe, raccogliendo in essa solo le caratteristiche e le funzionalità essenziali degli oggetti che essa deve definire, nel contesto in cui ci si trova. Da questo punto di vista, potremmo dire che l’astrazione dei dati </a:t>
            </a:r>
            <a:r>
              <a:rPr lang="it-IT" sz="1800" i="1" dirty="0">
                <a:effectLst/>
                <a:latin typeface="Times New Roman" panose="02020603050405020304" pitchFamily="18" charset="0"/>
                <a:ea typeface="Times New Roman" panose="02020603050405020304" pitchFamily="18" charset="0"/>
              </a:rPr>
              <a:t>contiene</a:t>
            </a:r>
            <a:r>
              <a:rPr lang="it-IT" sz="1800" dirty="0">
                <a:effectLst/>
                <a:latin typeface="Times New Roman" panose="02020603050405020304" pitchFamily="18" charset="0"/>
                <a:ea typeface="Times New Roman" panose="02020603050405020304" pitchFamily="18" charset="0"/>
              </a:rPr>
              <a:t> l’astrazione funzionale. In realtà, anche definire una variabile è una forma di astrazione dei dati.</a:t>
            </a:r>
          </a:p>
          <a:p>
            <a:r>
              <a:rPr lang="it-IT" sz="1800" dirty="0">
                <a:effectLst/>
                <a:latin typeface="Times New Roman" panose="02020603050405020304" pitchFamily="18" charset="0"/>
                <a:ea typeface="Times New Roman" panose="02020603050405020304" pitchFamily="18" charset="0"/>
              </a:rPr>
              <a:t>Adoperiamo l’</a:t>
            </a:r>
            <a:r>
              <a:rPr lang="it-IT" sz="1800" b="1" dirty="0">
                <a:effectLst/>
                <a:latin typeface="Times New Roman" panose="02020603050405020304" pitchFamily="18" charset="0"/>
                <a:ea typeface="Times New Roman" panose="02020603050405020304" pitchFamily="18" charset="0"/>
              </a:rPr>
              <a:t>astrazione del sistema</a:t>
            </a:r>
            <a:r>
              <a:rPr lang="it-IT" sz="1800" dirty="0">
                <a:effectLst/>
                <a:latin typeface="Times New Roman" panose="02020603050405020304" pitchFamily="18" charset="0"/>
                <a:ea typeface="Times New Roman" panose="02020603050405020304" pitchFamily="18" charset="0"/>
              </a:rPr>
              <a:t> ogni volta che definiamo un’applicazione nei termini delle classi essenziali che devono soddisfare gli scopi dell’applicazione stessa. Potremmo affermare che l’astrazione del sistema “contiene” l’astrazione dei dati, e per la proprietà transitiva, l’astrazione funzionale.</a:t>
            </a:r>
          </a:p>
          <a:p>
            <a:r>
              <a:rPr lang="it-IT" sz="1800" dirty="0">
                <a:effectLst/>
                <a:latin typeface="Times New Roman" panose="02020603050405020304" pitchFamily="18" charset="0"/>
                <a:ea typeface="Times New Roman" panose="02020603050405020304" pitchFamily="18" charset="0"/>
              </a:rPr>
              <a:t>Implementare l’astrazione in Java, a volte significa soprattutto saper </a:t>
            </a:r>
            <a:r>
              <a:rPr lang="it-IT" sz="1800" u="sng" dirty="0">
                <a:effectLst/>
                <a:latin typeface="Times New Roman" panose="02020603050405020304" pitchFamily="18" charset="0"/>
                <a:ea typeface="Times New Roman" panose="02020603050405020304" pitchFamily="18" charset="0"/>
              </a:rPr>
              <a:t>trovare un nome appropriato</a:t>
            </a:r>
            <a:r>
              <a:rPr lang="it-IT" sz="1800" dirty="0">
                <a:effectLst/>
                <a:latin typeface="Times New Roman" panose="02020603050405020304" pitchFamily="18" charset="0"/>
                <a:ea typeface="Times New Roman" panose="02020603050405020304" pitchFamily="18" charset="0"/>
              </a:rPr>
              <a:t> alle entità (metodi, variabili, classi etc.) che definiamo. Esempi di astrazione corretta sono: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Poeta</a:t>
            </a:r>
            <a:r>
              <a:rPr lang="it-IT" sz="1800" dirty="0">
                <a:effectLst/>
                <a:latin typeface="Times New Roman" panose="02020603050405020304" pitchFamily="18" charset="0"/>
                <a:ea typeface="Times New Roman" panose="02020603050405020304" pitchFamily="18" charset="0"/>
              </a:rPr>
              <a:t> che definisce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scriviPoesia</a:t>
            </a:r>
            <a:r>
              <a:rPr lang="it-IT" sz="1800" dirty="0">
                <a:effectLst/>
                <a:latin typeface="Times New Roman" panose="02020603050405020304" pitchFamily="18" charset="0"/>
                <a:ea typeface="Times New Roman" panose="02020603050405020304" pitchFamily="18" charset="0"/>
              </a:rPr>
              <a:t>, un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stampaRisultato</a:t>
            </a:r>
            <a:r>
              <a:rPr lang="it-IT" sz="1800" dirty="0">
                <a:effectLst/>
                <a:latin typeface="Times New Roman" panose="02020603050405020304" pitchFamily="18" charset="0"/>
                <a:ea typeface="Times New Roman" panose="02020603050405020304" pitchFamily="18" charset="0"/>
              </a:rPr>
              <a:t> che stampa un risultato, un package che si chiama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cinema.genere</a:t>
            </a:r>
            <a:r>
              <a:rPr lang="it-IT" sz="1800" dirty="0">
                <a:effectLst/>
                <a:latin typeface="Times New Roman" panose="02020603050405020304" pitchFamily="18" charset="0"/>
                <a:ea typeface="Times New Roman" panose="02020603050405020304" pitchFamily="18" charset="0"/>
              </a:rPr>
              <a:t> che definisce le classi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Drammatico</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Fantasy</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Thriller</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Commedia</a:t>
            </a:r>
            <a:r>
              <a:rPr lang="it-IT" sz="1800" dirty="0">
                <a:effectLst/>
                <a:latin typeface="Times New Roman" panose="02020603050405020304" pitchFamily="18" charset="0"/>
                <a:ea typeface="Times New Roman" panose="02020603050405020304" pitchFamily="18" charset="0"/>
              </a:rPr>
              <a:t>. Esempi di cattiva astrazione invece, potrebbero essere: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Poeta</a:t>
            </a:r>
            <a:r>
              <a:rPr lang="it-IT" sz="1800" dirty="0">
                <a:effectLst/>
                <a:latin typeface="Times New Roman" panose="02020603050405020304" pitchFamily="18" charset="0"/>
                <a:ea typeface="Times New Roman" panose="02020603050405020304" pitchFamily="18" charset="0"/>
              </a:rPr>
              <a:t> che oltre al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scriviPoesia</a:t>
            </a:r>
            <a:r>
              <a:rPr lang="it-IT" sz="1800" dirty="0">
                <a:effectLst/>
                <a:latin typeface="Times New Roman" panose="02020603050405020304" pitchFamily="18" charset="0"/>
                <a:ea typeface="Times New Roman" panose="02020603050405020304" pitchFamily="18" charset="0"/>
              </a:rPr>
              <a:t> definisce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stampaRisultato</a:t>
            </a:r>
            <a:r>
              <a:rPr lang="it-IT" sz="1800" dirty="0">
                <a:effectLst/>
                <a:latin typeface="Times New Roman" panose="02020603050405020304" pitchFamily="18" charset="0"/>
                <a:ea typeface="Times New Roman" panose="02020603050405020304" pitchFamily="18" charset="0"/>
              </a:rPr>
              <a:t> (i poeti non stampano risultati),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stampaRisultato</a:t>
            </a:r>
            <a:r>
              <a:rPr lang="it-IT" sz="1800" dirty="0">
                <a:effectLst/>
                <a:latin typeface="Times New Roman" panose="02020603050405020304" pitchFamily="18" charset="0"/>
                <a:ea typeface="Times New Roman" panose="02020603050405020304" pitchFamily="18" charset="0"/>
              </a:rPr>
              <a:t> che compie un complicato algoritmo prima di stampare il risultato (in quel caso sarebbe consigliabile creare due metodi separati, uno che esegue l’algoritmo, ed un altro per la stampa), e un package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cinema.genere</a:t>
            </a:r>
            <a:r>
              <a:rPr lang="it-IT" sz="1800" dirty="0">
                <a:effectLst/>
                <a:latin typeface="Times New Roman" panose="02020603050405020304" pitchFamily="18" charset="0"/>
                <a:ea typeface="Times New Roman" panose="02020603050405020304" pitchFamily="18" charset="0"/>
              </a:rPr>
              <a:t> che definisce anche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Sceneggiatura</a:t>
            </a:r>
            <a:r>
              <a:rPr lang="it-IT" sz="1800" dirty="0">
                <a:effectLst/>
                <a:latin typeface="Times New Roman" panose="02020603050405020304" pitchFamily="18" charset="0"/>
                <a:ea typeface="Times New Roman" panose="02020603050405020304" pitchFamily="18" charset="0"/>
              </a:rPr>
              <a:t> (che non è un genere e quindi non dovrebbe trovarsi in quel package).</a:t>
            </a:r>
          </a:p>
          <a:p>
            <a:pPr>
              <a:spcAft>
                <a:spcPts val="1200"/>
              </a:spcAft>
            </a:pPr>
            <a:r>
              <a:rPr lang="it-IT" sz="1800" b="1" dirty="0">
                <a:effectLst/>
                <a:latin typeface="Arial" panose="020B0604020202020204" pitchFamily="34" charset="0"/>
              </a:rPr>
              <a:t>5.1.2 Riuso</a:t>
            </a:r>
          </a:p>
          <a:p>
            <a:r>
              <a:rPr lang="it-IT" sz="1800" dirty="0">
                <a:effectLst/>
                <a:latin typeface="Times New Roman" panose="02020603050405020304" pitchFamily="18" charset="0"/>
                <a:ea typeface="Times New Roman" panose="02020603050405020304" pitchFamily="18" charset="0"/>
              </a:rPr>
              <a:t>Con il termine </a:t>
            </a:r>
            <a:r>
              <a:rPr lang="it-IT" sz="1800" b="1" dirty="0">
                <a:effectLst/>
                <a:latin typeface="Times New Roman" panose="02020603050405020304" pitchFamily="18" charset="0"/>
                <a:ea typeface="Times New Roman" panose="02020603050405020304" pitchFamily="18" charset="0"/>
              </a:rPr>
              <a:t>riuso</a:t>
            </a:r>
            <a:r>
              <a:rPr lang="it-IT" sz="1800" dirty="0">
                <a:effectLst/>
                <a:latin typeface="Times New Roman" panose="02020603050405020304" pitchFamily="18" charset="0"/>
                <a:ea typeface="Times New Roman" panose="02020603050405020304" pitchFamily="18" charset="0"/>
              </a:rPr>
              <a:t>, ci riferiamo al concetto di riuso che conosciamo nel mondo reale. Nel mondo della programmazione Java però, riutilizziamo elementi di programmazione come classi e metodi, un numero infinito di volte. Il </a:t>
            </a:r>
            <a:r>
              <a:rPr lang="it-IT" sz="1800" b="0" dirty="0">
                <a:effectLst/>
                <a:latin typeface="Times New Roman" panose="02020603050405020304" pitchFamily="18" charset="0"/>
                <a:ea typeface="Times New Roman" panose="02020603050405020304" pitchFamily="18" charset="0"/>
              </a:rPr>
              <a:t>riuso</a:t>
            </a:r>
            <a:r>
              <a:rPr lang="it-IT" sz="1800" dirty="0">
                <a:effectLst/>
                <a:latin typeface="Times New Roman" panose="02020603050405020304" pitchFamily="18" charset="0"/>
                <a:ea typeface="Times New Roman" panose="02020603050405020304" pitchFamily="18" charset="0"/>
              </a:rPr>
              <a:t> è supportato dell’astrazione e degli altri paradigmi della programmazione ad oggetti (incapsulamento, ereditarietà e polimorfismo). Questi infatti, se usati correttamente insieme ai principi fondamentali dell’OOP, favoriscono il riuso intrinsecamente.</a:t>
            </a:r>
          </a:p>
          <a:p>
            <a:r>
              <a:rPr lang="it-IT" sz="1800" dirty="0">
                <a:effectLst/>
                <a:latin typeface="Times New Roman" panose="02020603050405020304" pitchFamily="18" charset="0"/>
                <a:ea typeface="Times New Roman" panose="02020603050405020304" pitchFamily="18" charset="0"/>
              </a:rPr>
              <a:t>Anche per il riuso del codice, possiamo definire tre livelli</a:t>
            </a:r>
          </a:p>
          <a:p>
            <a:pPr marL="180340" indent="180340"/>
            <a:r>
              <a:rPr lang="it-IT" sz="1800" dirty="0">
                <a:effectLst/>
                <a:latin typeface="Times New Roman" panose="02020603050405020304" pitchFamily="18" charset="0"/>
                <a:ea typeface="MS Mincho" panose="02020609040205080304" pitchFamily="49" charset="-128"/>
              </a:rPr>
              <a:t>riuso funzionale</a:t>
            </a:r>
          </a:p>
          <a:p>
            <a:pPr marL="180340" indent="180340"/>
            <a:r>
              <a:rPr lang="it-IT" sz="1800" dirty="0">
                <a:effectLst/>
                <a:latin typeface="Times New Roman" panose="02020603050405020304" pitchFamily="18" charset="0"/>
                <a:ea typeface="MS Mincho" panose="02020609040205080304" pitchFamily="49" charset="-128"/>
              </a:rPr>
              <a:t>riuso dei dati</a:t>
            </a:r>
          </a:p>
          <a:p>
            <a:pPr marL="180340" indent="180340"/>
            <a:r>
              <a:rPr lang="it-IT" sz="1800" dirty="0">
                <a:effectLst/>
                <a:latin typeface="Times New Roman" panose="02020603050405020304" pitchFamily="18" charset="0"/>
                <a:ea typeface="MS Mincho" panose="02020609040205080304" pitchFamily="49" charset="-128"/>
              </a:rPr>
              <a:t>riuso concettuale</a:t>
            </a:r>
          </a:p>
          <a:p>
            <a:r>
              <a:rPr lang="it-IT" sz="1800" dirty="0">
                <a:effectLst/>
                <a:latin typeface="Times New Roman" panose="02020603050405020304" pitchFamily="18" charset="0"/>
                <a:ea typeface="Times New Roman" panose="02020603050405020304" pitchFamily="18" charset="0"/>
              </a:rPr>
              <a:t>Utilizziamo il </a:t>
            </a:r>
            <a:r>
              <a:rPr lang="it-IT" sz="1800" b="1" dirty="0">
                <a:effectLst/>
                <a:latin typeface="Times New Roman" panose="02020603050405020304" pitchFamily="18" charset="0"/>
                <a:ea typeface="Times New Roman" panose="02020603050405020304" pitchFamily="18" charset="0"/>
              </a:rPr>
              <a:t>riuso funzionale</a:t>
            </a:r>
            <a:r>
              <a:rPr lang="it-IT" sz="1800" dirty="0">
                <a:effectLst/>
                <a:latin typeface="Times New Roman" panose="02020603050405020304" pitchFamily="18" charset="0"/>
                <a:ea typeface="Times New Roman" panose="02020603050405020304" pitchFamily="18" charset="0"/>
              </a:rPr>
              <a:t>, ogni volta che riusciamo a creare un metodo ben astratto, che viene invocato in più parti dal nostro codice. Riutilizzare codice implica soprattutto non duplicare codice. Quando copiamo e incolliamo codice da un metodo ad un altro, probabilmente stiamo sbagliando qualcosa. Dovremmo riservarci il tempo necessario, per valutare la creazione di un metodo che sia chiamato da entrambi i metodi che contengono il codice in comune. Questa attività, è molto importante per varie ragioni, facciamo un esempio. Supponiamo di avere due metodi chiamati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metodo1</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metodo2</a:t>
            </a:r>
            <a:r>
              <a:rPr lang="it-IT" sz="1800" dirty="0">
                <a:effectLst/>
                <a:latin typeface="Times New Roman" panose="02020603050405020304" pitchFamily="18" charset="0"/>
                <a:ea typeface="Times New Roman" panose="02020603050405020304" pitchFamily="18" charset="0"/>
              </a:rPr>
              <a:t>, e che decidiamo di copiare e incollare alcune istruzioni del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metodo1</a:t>
            </a:r>
            <a:r>
              <a:rPr lang="it-IT" sz="1800" dirty="0">
                <a:effectLst/>
                <a:latin typeface="Times New Roman" panose="02020603050405020304" pitchFamily="18" charset="0"/>
                <a:ea typeface="Times New Roman" panose="02020603050405020304" pitchFamily="18" charset="0"/>
              </a:rPr>
              <a:t>, all’interno del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a:t>
            </a:r>
            <a:r>
              <a:rPr lang="it-IT" sz="1800" dirty="0">
                <a:effectLst/>
                <a:latin typeface="Times New Roman" panose="02020603050405020304" pitchFamily="18" charset="0"/>
                <a:ea typeface="Times New Roman" panose="02020603050405020304" pitchFamily="18" charset="0"/>
              </a:rPr>
              <a:t> 2. Supponiamo che dopo qualche tempo, si trovi un bug nel codice copiato nel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metodo2</a:t>
            </a:r>
            <a:r>
              <a:rPr lang="it-IT" sz="1800" dirty="0">
                <a:effectLst/>
                <a:latin typeface="Times New Roman" panose="02020603050405020304" pitchFamily="18" charset="0"/>
                <a:ea typeface="Times New Roman" panose="02020603050405020304" pitchFamily="18" charset="0"/>
              </a:rPr>
              <a:t>, e che lo si risolva. È probabile che non andremo a risolvere il bug anche nel codice in comune del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metodo2</a:t>
            </a:r>
            <a:r>
              <a:rPr lang="it-IT" sz="1800" dirty="0">
                <a:effectLst/>
                <a:latin typeface="Times New Roman" panose="02020603050405020304" pitchFamily="18" charset="0"/>
                <a:ea typeface="Times New Roman" panose="02020603050405020304" pitchFamily="18" charset="0"/>
              </a:rPr>
              <a:t>, perché il copia-incolla non lascia tracce. Se invece entrambi i metodi, avessero invocato un metodo chiamato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metodo3</a:t>
            </a:r>
            <a:r>
              <a:rPr lang="it-IT" sz="1800" dirty="0">
                <a:effectLst/>
                <a:latin typeface="Times New Roman" panose="02020603050405020304" pitchFamily="18" charset="0"/>
                <a:ea typeface="Times New Roman" panose="02020603050405020304" pitchFamily="18" charset="0"/>
              </a:rPr>
              <a:t> contenente il codice in comune, allora avremmo potuto risolvere con un’unica modifica nel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metodo3</a:t>
            </a:r>
            <a:r>
              <a:rPr lang="it-IT" sz="1800" dirty="0">
                <a:effectLst/>
                <a:latin typeface="Times New Roman" panose="02020603050405020304" pitchFamily="18" charset="0"/>
                <a:ea typeface="Times New Roman" panose="02020603050405020304" pitchFamily="18" charset="0"/>
              </a:rPr>
              <a:t> due bug.</a:t>
            </a:r>
          </a:p>
          <a:p>
            <a:r>
              <a:rPr lang="it-IT" sz="1800" dirty="0">
                <a:effectLst/>
                <a:latin typeface="Times New Roman" panose="02020603050405020304" pitchFamily="18" charset="0"/>
                <a:ea typeface="Times New Roman" panose="02020603050405020304" pitchFamily="18" charset="0"/>
              </a:rPr>
              <a:t>Un ottimo esempio di riuso funzionale, è costituito dai migliaia di metodi definiti nella libreria standard di Java. Per esempio, i programmatori Java di tutto il mondo, usano per i più svariati programmi gli stessi metodi, come per esempio quelli definiti dalla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Il riuso è un paradigma valido anche per la programmazione funzionale.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Utilizziamo il </a:t>
            </a:r>
            <a:r>
              <a:rPr lang="it-IT" sz="1800" b="1" dirty="0">
                <a:effectLst/>
                <a:latin typeface="Times New Roman" panose="02020603050405020304" pitchFamily="18" charset="0"/>
                <a:ea typeface="Times New Roman" panose="02020603050405020304" pitchFamily="18" charset="0"/>
              </a:rPr>
              <a:t>riuso dei dati</a:t>
            </a:r>
            <a:r>
              <a:rPr lang="it-IT" sz="1800" dirty="0">
                <a:effectLst/>
                <a:latin typeface="Times New Roman" panose="02020603050405020304" pitchFamily="18" charset="0"/>
                <a:ea typeface="Times New Roman" panose="02020603050405020304" pitchFamily="18" charset="0"/>
              </a:rPr>
              <a:t>, ogni volta che creiamo una classe con una interfaccia di metodi pubblici, che viene usata in più parti dal nostro codice. Ricade nel caso del riuso dei dati, anche il caso in cui viene creato un </a:t>
            </a:r>
            <a:r>
              <a:rPr lang="it-IT" sz="1800" b="1" dirty="0">
                <a:effectLst/>
                <a:latin typeface="Times New Roman" panose="02020603050405020304" pitchFamily="18" charset="0"/>
                <a:ea typeface="Times New Roman" panose="02020603050405020304" pitchFamily="18" charset="0"/>
              </a:rPr>
              <a:t>componente software</a:t>
            </a:r>
            <a:r>
              <a:rPr lang="it-IT" sz="1800" dirty="0">
                <a:effectLst/>
                <a:latin typeface="Times New Roman" panose="02020603050405020304" pitchFamily="18" charset="0"/>
                <a:ea typeface="Times New Roman" panose="02020603050405020304" pitchFamily="18" charset="0"/>
              </a:rPr>
              <a:t>, ovvero un insieme di classi con un’interfaccia ben definita, che mette a disposizione funzionalità eseguibili indipendentemente dal contesto.</a:t>
            </a:r>
          </a:p>
          <a:p>
            <a:r>
              <a:rPr lang="it-IT" sz="1800" dirty="0">
                <a:effectLst/>
                <a:latin typeface="Times New Roman" panose="02020603050405020304" pitchFamily="18" charset="0"/>
                <a:ea typeface="Times New Roman" panose="02020603050405020304" pitchFamily="18" charset="0"/>
              </a:rPr>
              <a:t>Utilizziamo invece il </a:t>
            </a:r>
            <a:r>
              <a:rPr lang="it-IT" sz="1800" b="1" dirty="0">
                <a:effectLst/>
                <a:latin typeface="Times New Roman" panose="02020603050405020304" pitchFamily="18" charset="0"/>
                <a:ea typeface="Times New Roman" panose="02020603050405020304" pitchFamily="18" charset="0"/>
              </a:rPr>
              <a:t>riuso concettuale</a:t>
            </a:r>
            <a:r>
              <a:rPr lang="it-IT" sz="1800" dirty="0">
                <a:effectLst/>
                <a:latin typeface="Times New Roman" panose="02020603050405020304" pitchFamily="18" charset="0"/>
                <a:ea typeface="Times New Roman" panose="02020603050405020304" pitchFamily="18" charset="0"/>
              </a:rPr>
              <a:t> quando riusciamo a riutilizzare una tecnica, un algoritmo, un approccio al problema, una soluzione progettuale o architetturale già nota. Un esempio di riuso concettuale, verrà presentato alla fine di questo capitolo, quando parleremo di </a:t>
            </a:r>
            <a:r>
              <a:rPr lang="it-IT" sz="1800" i="1" dirty="0">
                <a:effectLst/>
                <a:latin typeface="Times New Roman" panose="02020603050405020304" pitchFamily="18" charset="0"/>
                <a:ea typeface="Times New Roman" panose="02020603050405020304" pitchFamily="18" charset="0"/>
              </a:rPr>
              <a:t>design pattern</a:t>
            </a:r>
            <a:r>
              <a:rPr lang="it-IT" sz="1800" dirty="0">
                <a:effectLst/>
                <a:latin typeface="Times New Roman" panose="02020603050405020304" pitchFamily="18" charset="0"/>
                <a:ea typeface="Times New Roman" panose="02020603050405020304" pitchFamily="18" charset="0"/>
              </a:rPr>
              <a:t>.</a:t>
            </a:r>
          </a:p>
        </p:txBody>
      </p:sp>
      <p:sp>
        <p:nvSpPr>
          <p:cNvPr id="4" name="Segnaposto numero diapositiva 3"/>
          <p:cNvSpPr>
            <a:spLocks noGrp="1"/>
          </p:cNvSpPr>
          <p:nvPr>
            <p:ph type="sldNum" sz="quarter" idx="5"/>
          </p:nvPr>
        </p:nvSpPr>
        <p:spPr/>
        <p:txBody>
          <a:bodyPr/>
          <a:lstStyle/>
          <a:p>
            <a:fld id="{545D8BF2-49EE-4CE2-A2D7-61B744D1E4D9}" type="slidenum">
              <a:rPr lang="it-IT" smtClean="0"/>
              <a:t>5</a:t>
            </a:fld>
            <a:endParaRPr lang="it-IT"/>
          </a:p>
        </p:txBody>
      </p:sp>
    </p:spTree>
    <p:extLst>
      <p:ext uri="{BB962C8B-B14F-4D97-AF65-F5344CB8AC3E}">
        <p14:creationId xmlns:p14="http://schemas.microsoft.com/office/powerpoint/2010/main" val="1563886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Alla fine del capitolo precedente, abbiamo introdotto il linguaggio di notazione UML. Per avere una nuova prospettiva di visualizzazione del codice, introduciamo una nuova tipologia di diagramma: </a:t>
            </a:r>
            <a:r>
              <a:rPr lang="it-IT" sz="1800" b="1" dirty="0">
                <a:effectLst/>
                <a:latin typeface="Times New Roman" panose="02020603050405020304" pitchFamily="18" charset="0"/>
                <a:ea typeface="Times New Roman" panose="02020603050405020304" pitchFamily="18" charset="0"/>
              </a:rPr>
              <a:t>il diagramma delle classi</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class diagram</a:t>
            </a:r>
            <a:r>
              <a:rPr lang="it-IT" sz="1800" dirty="0">
                <a:effectLst/>
                <a:latin typeface="Times New Roman" panose="02020603050405020304" pitchFamily="18" charset="0"/>
                <a:ea typeface="Times New Roman" panose="02020603050405020304" pitchFamily="18" charset="0"/>
              </a:rPr>
              <a:t>). Come già asserito, utilizzeremo UML senza la pretesa di creare precise specifiche per programmare. Ci limiteremo semplicemente a creare degli </a:t>
            </a:r>
            <a:r>
              <a:rPr lang="it-IT" sz="1800" i="1" dirty="0">
                <a:effectLst/>
                <a:latin typeface="Times New Roman" panose="02020603050405020304" pitchFamily="18" charset="0"/>
                <a:ea typeface="Times New Roman" panose="02020603050405020304" pitchFamily="18" charset="0"/>
              </a:rPr>
              <a:t>schizzi</a:t>
            </a:r>
            <a:r>
              <a:rPr lang="it-IT" sz="1800" dirty="0">
                <a:effectLst/>
                <a:latin typeface="Times New Roman" panose="02020603050405020304" pitchFamily="18" charset="0"/>
                <a:ea typeface="Times New Roman" panose="02020603050405020304" pitchFamily="18" charset="0"/>
              </a:rPr>
              <a:t> (in inglese </a:t>
            </a:r>
            <a:r>
              <a:rPr lang="it-IT" sz="1800" i="1" dirty="0">
                <a:effectLst/>
                <a:latin typeface="Times New Roman" panose="02020603050405020304" pitchFamily="18" charset="0"/>
                <a:ea typeface="Times New Roman" panose="02020603050405020304" pitchFamily="18" charset="0"/>
              </a:rPr>
              <a:t>sketches</a:t>
            </a:r>
            <a:r>
              <a:rPr lang="it-IT" sz="1800" dirty="0">
                <a:effectLst/>
                <a:latin typeface="Times New Roman" panose="02020603050405020304" pitchFamily="18" charset="0"/>
                <a:ea typeface="Times New Roman" panose="02020603050405020304" pitchFamily="18" charset="0"/>
              </a:rPr>
              <a:t>), per ottenere informazioni che leggendo direttamente il codice non sarebbero altrettanto chiare.</a:t>
            </a:r>
          </a:p>
          <a:p>
            <a:r>
              <a:rPr lang="it-IT" sz="1800" dirty="0">
                <a:effectLst/>
                <a:latin typeface="Times New Roman" panose="02020603050405020304" pitchFamily="18" charset="0"/>
                <a:ea typeface="Times New Roman" panose="02020603050405020304" pitchFamily="18" charset="0"/>
              </a:rPr>
              <a:t>La notazione di classe in UML è molto intuitiva, un rettangolo diviso in tre sezioni: nella prima viene scritto il nome della classe, nella seconda la lista degli attributi, nella terza l’elenco dei metodi.</a:t>
            </a:r>
          </a:p>
          <a:p>
            <a:r>
              <a:rPr lang="it-IT" sz="1800" b="1" dirty="0">
                <a:solidFill>
                  <a:srgbClr val="0000FF"/>
                </a:solidFill>
                <a:effectLst/>
                <a:latin typeface="Arial" panose="020B0604020202020204" pitchFamily="34" charset="0"/>
                <a:ea typeface="MS Mincho" panose="02020609040205080304" pitchFamily="49" charset="-128"/>
                <a:cs typeface="Times New Roman" panose="02020603050405020304" pitchFamily="18" charset="0"/>
              </a:rPr>
              <a:t>Figura 5.1 – Esempio di Class Diagram.</a:t>
            </a:r>
            <a:endParaRPr lang="it-IT" sz="1800" dirty="0">
              <a:solidFill>
                <a:srgbClr val="00008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UML è un linguaggio di modellazione indipendente dal linguaggio di programmazione che vuole rappresentare. Questo significa che non dobbiamo aspettarci attributi e metodi descritti con la sintassi Java. Come è possibile vedere dalla figura 5.1 gli attributi vengono definiti con la seguente sintassi UML:</a:t>
            </a:r>
          </a:p>
          <a:p>
            <a:r>
              <a:rPr lang="it-IT" sz="1800" dirty="0" err="1">
                <a:solidFill>
                  <a:srgbClr val="000000"/>
                </a:solidFill>
                <a:effectLst/>
                <a:latin typeface="Courier New" panose="02070309020205020404" pitchFamily="49" charset="0"/>
                <a:ea typeface="Times New Roman" panose="02020603050405020304" pitchFamily="18" charset="0"/>
              </a:rPr>
              <a:t>simbolo_di_visibilità</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nomeAttributo</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tipoAttributo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Sempre osservando la figura 5.1, si può notare che il simbolo di visibilità della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unaVariabile</a:t>
            </a:r>
            <a:r>
              <a:rPr lang="it-IT" sz="1800" dirty="0">
                <a:effectLst/>
                <a:latin typeface="Times New Roman" panose="02020603050405020304" pitchFamily="18" charset="0"/>
                <a:ea typeface="Times New Roman" panose="02020603050405020304" pitchFamily="18" charset="0"/>
              </a:rPr>
              <a:t> che abbiamo definito nel diagramma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che equivale al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(che spiegheremo tra poco).</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Quindi la sintassi:</a:t>
            </a: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unaVariabile</a:t>
            </a:r>
            <a:r>
              <a:rPr lang="it-IT" sz="1800" dirty="0">
                <a:solidFill>
                  <a:srgbClr val="000000"/>
                </a:solidFill>
                <a:effectLst/>
                <a:latin typeface="Courier New" panose="02070309020205020404" pitchFamily="49" charset="0"/>
                <a:ea typeface="Times New Roman" panose="02020603050405020304" pitchFamily="18" charset="0"/>
              </a:rPr>
              <a:t> : int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UML, equivale alla sintassi:</a:t>
            </a:r>
          </a:p>
          <a:p>
            <a:r>
              <a:rPr lang="it-IT" sz="1800" dirty="0">
                <a:solidFill>
                  <a:srgbClr val="000000"/>
                </a:solidFill>
                <a:effectLst/>
                <a:latin typeface="Courier New" panose="02070309020205020404" pitchFamily="49" charset="0"/>
                <a:ea typeface="Times New Roman" panose="02020603050405020304" pitchFamily="18" charset="0"/>
              </a:rPr>
              <a:t>private int </a:t>
            </a:r>
            <a:r>
              <a:rPr lang="it-IT" sz="1800" dirty="0" err="1">
                <a:solidFill>
                  <a:srgbClr val="000000"/>
                </a:solidFill>
                <a:effectLst/>
                <a:latin typeface="Courier New" panose="02070309020205020404" pitchFamily="49" charset="0"/>
                <a:ea typeface="Times New Roman" panose="02020603050405020304" pitchFamily="18" charset="0"/>
              </a:rPr>
              <a:t>unaVariabile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Java.</a:t>
            </a:r>
          </a:p>
          <a:p>
            <a:r>
              <a:rPr lang="it-IT" sz="1800" dirty="0">
                <a:effectLst/>
                <a:latin typeface="Times New Roman" panose="02020603050405020304" pitchFamily="18" charset="0"/>
                <a:ea typeface="Times New Roman" panose="02020603050405020304" pitchFamily="18" charset="0"/>
              </a:rPr>
              <a:t>Per quanto riguarda i metodi, la sintassi UML è la seguente:</a:t>
            </a:r>
          </a:p>
          <a:p>
            <a:r>
              <a:rPr lang="it-IT" sz="1800" dirty="0" err="1">
                <a:solidFill>
                  <a:srgbClr val="000000"/>
                </a:solidFill>
                <a:effectLst/>
                <a:latin typeface="Courier New" panose="02070309020205020404" pitchFamily="49" charset="0"/>
                <a:ea typeface="Times New Roman" panose="02020603050405020304" pitchFamily="18" charset="0"/>
              </a:rPr>
              <a:t>simbolo_di_visibilità</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nomeMetodo</a:t>
            </a:r>
            <a:r>
              <a:rPr lang="it-IT" sz="1800" dirty="0">
                <a:solidFill>
                  <a:srgbClr val="000000"/>
                </a:solidFill>
                <a:effectLst/>
                <a:latin typeface="Courier New" panose="02070309020205020404" pitchFamily="49" charset="0"/>
                <a:ea typeface="Times New Roman" panose="02020603050405020304" pitchFamily="18" charset="0"/>
              </a:rPr>
              <a:t>(</a:t>
            </a:r>
            <a:r>
              <a:rPr lang="it-IT" sz="1800" dirty="0" err="1">
                <a:solidFill>
                  <a:srgbClr val="000000"/>
                </a:solidFill>
                <a:effectLst/>
                <a:latin typeface="Courier New" panose="02070309020205020404" pitchFamily="49" charset="0"/>
                <a:ea typeface="Times New Roman" panose="02020603050405020304" pitchFamily="18" charset="0"/>
              </a:rPr>
              <a:t>listaDiParametri</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tipoDiRitorno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dove con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listaDiParametri</a:t>
            </a:r>
            <a:r>
              <a:rPr lang="it-IT" sz="1800" dirty="0">
                <a:effectLst/>
                <a:latin typeface="Times New Roman" panose="02020603050405020304" pitchFamily="18" charset="0"/>
                <a:ea typeface="Times New Roman" panose="02020603050405020304" pitchFamily="18" charset="0"/>
              </a:rPr>
              <a:t> intendiamo una lista di parametri che usa come separatore il simbolo della virgola, e dove ogni parametro è rappresentato tramite la sintassi:</a:t>
            </a:r>
          </a:p>
          <a:p>
            <a:r>
              <a:rPr lang="it-IT" sz="1800" dirty="0" err="1">
                <a:solidFill>
                  <a:srgbClr val="000000"/>
                </a:solidFill>
                <a:effectLst/>
                <a:latin typeface="Courier New" panose="02070309020205020404" pitchFamily="49" charset="0"/>
                <a:ea typeface="Times New Roman" panose="02020603050405020304" pitchFamily="18" charset="0"/>
              </a:rPr>
              <a:t>nomeParametro</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tipoParametro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Facendo riferimento alla figura 5.1, è facile intuire che il simbolo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corrisponde al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Quindi la sintassi:</a:t>
            </a: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unMetodo</a:t>
            </a:r>
            <a:r>
              <a:rPr lang="it-IT" sz="1800" dirty="0">
                <a:solidFill>
                  <a:srgbClr val="000000"/>
                </a:solidFill>
                <a:effectLst/>
                <a:latin typeface="Courier New" panose="02070309020205020404" pitchFamily="49" charset="0"/>
                <a:ea typeface="Times New Roman" panose="02020603050405020304" pitchFamily="18" charset="0"/>
              </a:rPr>
              <a:t>(</a:t>
            </a:r>
            <a:r>
              <a:rPr lang="it-IT" sz="1800" dirty="0" err="1">
                <a:solidFill>
                  <a:srgbClr val="000000"/>
                </a:solidFill>
                <a:effectLst/>
                <a:latin typeface="Courier New" panose="02070309020205020404" pitchFamily="49" charset="0"/>
                <a:ea typeface="Times New Roman" panose="02020603050405020304" pitchFamily="18" charset="0"/>
              </a:rPr>
              <a:t>unParametro:int</a:t>
            </a:r>
            <a:r>
              <a:rPr lang="it-IT" sz="1800" dirty="0">
                <a:solidFill>
                  <a:srgbClr val="000000"/>
                </a:solidFill>
                <a:effectLst/>
                <a:latin typeface="Courier New" panose="02070309020205020404" pitchFamily="49" charset="0"/>
                <a:ea typeface="Times New Roman" panose="02020603050405020304" pitchFamily="18" charset="0"/>
              </a:rPr>
              <a:t>) : String</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UML, equivale alla sintassi:</a:t>
            </a:r>
          </a:p>
          <a:p>
            <a:r>
              <a:rPr lang="it-IT" sz="1800" dirty="0">
                <a:solidFill>
                  <a:srgbClr val="000000"/>
                </a:solidFill>
                <a:effectLst/>
                <a:latin typeface="Courier New" panose="02070309020205020404" pitchFamily="49" charset="0"/>
                <a:ea typeface="Times New Roman" panose="02020603050405020304" pitchFamily="18" charset="0"/>
              </a:rPr>
              <a:t>public String </a:t>
            </a:r>
            <a:r>
              <a:rPr lang="it-IT" sz="1800" dirty="0" err="1">
                <a:solidFill>
                  <a:srgbClr val="000000"/>
                </a:solidFill>
                <a:effectLst/>
                <a:latin typeface="Courier New" panose="02070309020205020404" pitchFamily="49" charset="0"/>
                <a:ea typeface="Times New Roman" panose="02020603050405020304" pitchFamily="18" charset="0"/>
              </a:rPr>
              <a:t>unMetodo</a:t>
            </a:r>
            <a:r>
              <a:rPr lang="it-IT" sz="1800" dirty="0">
                <a:solidFill>
                  <a:srgbClr val="000000"/>
                </a:solidFill>
                <a:effectLst/>
                <a:latin typeface="Courier New" panose="02070309020205020404" pitchFamily="49" charset="0"/>
                <a:ea typeface="Times New Roman" panose="02020603050405020304" pitchFamily="18" charset="0"/>
              </a:rPr>
              <a:t>(int </a:t>
            </a:r>
            <a:r>
              <a:rPr lang="it-IT" sz="1800" dirty="0" err="1">
                <a:solidFill>
                  <a:srgbClr val="000000"/>
                </a:solidFill>
                <a:effectLst/>
                <a:latin typeface="Courier New" panose="02070309020205020404" pitchFamily="49" charset="0"/>
                <a:ea typeface="Times New Roman" panose="02020603050405020304" pitchFamily="18" charset="0"/>
              </a:rPr>
              <a:t>unParametro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Java. Si noti che nel class diagram non viene specificata l’implementazione dei metodi. Il diagramma delle classi infatti, esalta la visualizzazione dell’</a:t>
            </a:r>
            <a:r>
              <a:rPr lang="it-IT" sz="1800" b="1" dirty="0">
                <a:effectLst/>
                <a:latin typeface="Times New Roman" panose="02020603050405020304" pitchFamily="18" charset="0"/>
                <a:ea typeface="Times New Roman" panose="02020603050405020304" pitchFamily="18" charset="0"/>
              </a:rPr>
              <a:t>interfaccia pubblica</a:t>
            </a:r>
            <a:r>
              <a:rPr lang="it-IT" sz="1800" dirty="0">
                <a:effectLst/>
                <a:latin typeface="Times New Roman" panose="02020603050405020304" pitchFamily="18" charset="0"/>
                <a:ea typeface="Times New Roman" panose="02020603050405020304" pitchFamily="18" charset="0"/>
              </a:rPr>
              <a:t> degli oggetti che vogliamo creare, nascondendo l’</a:t>
            </a:r>
            <a:r>
              <a:rPr lang="it-IT" sz="1800" b="1" dirty="0">
                <a:effectLst/>
                <a:latin typeface="Times New Roman" panose="02020603050405020304" pitchFamily="18" charset="0"/>
                <a:ea typeface="Times New Roman" panose="02020603050405020304" pitchFamily="18" charset="0"/>
              </a:rPr>
              <a:t>implementazione interna</a:t>
            </a:r>
            <a:r>
              <a:rPr lang="it-IT" sz="1800" dirty="0">
                <a:effectLst/>
                <a:latin typeface="Times New Roman" panose="02020603050405020304" pitchFamily="18" charset="0"/>
                <a:ea typeface="Times New Roman" panose="02020603050405020304" pitchFamily="18" charset="0"/>
              </a:rPr>
              <a:t>. Il perché convenga separare l’interfaccia pubblica dall’implementazione interna, è argomento del prossimo paragrafo.</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È possibile definire tanti altri elementi nel diagramma delle classi, usando a volte una sintassi abbastanza criptica. Con la sintassi base si riescono a coprire comunque quasi la totalità delle esigenze dello sviluppo. Introdurremo nuovi elementi di sintassi ogni volta che ci saranno utili. Ricordiamo che l’approfondimento 4.7 contiene un reference sulla sintassi base di UML.</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6</a:t>
            </a:fld>
            <a:endParaRPr lang="it-IT"/>
          </a:p>
        </p:txBody>
      </p:sp>
    </p:spTree>
    <p:extLst>
      <p:ext uri="{BB962C8B-B14F-4D97-AF65-F5344CB8AC3E}">
        <p14:creationId xmlns:p14="http://schemas.microsoft.com/office/powerpoint/2010/main" val="3613783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t>
            </a:r>
            <a:r>
              <a:rPr lang="it-IT" sz="1800" b="1" dirty="0">
                <a:effectLst/>
                <a:latin typeface="Times New Roman" panose="02020603050405020304" pitchFamily="18" charset="0"/>
                <a:ea typeface="Times New Roman" panose="02020603050405020304" pitchFamily="18" charset="0"/>
              </a:rPr>
              <a:t>incapsulamento</a:t>
            </a:r>
            <a:r>
              <a:rPr lang="it-IT" sz="1800" dirty="0">
                <a:effectLst/>
                <a:latin typeface="Times New Roman" panose="02020603050405020304" pitchFamily="18" charset="0"/>
                <a:ea typeface="Times New Roman" panose="02020603050405020304" pitchFamily="18" charset="0"/>
              </a:rPr>
              <a:t> è la chiave della programmazione orientata agli oggetti. Tramite esso, una classe riesce ad acquisire caratteristiche di robustezza, indipendenza e riusabilità. Inoltre la sua manutenzione risulterà più semplice al programmatore. </a:t>
            </a:r>
          </a:p>
          <a:p>
            <a:r>
              <a:rPr lang="it-IT" sz="1800" dirty="0">
                <a:effectLst/>
                <a:latin typeface="Times New Roman" panose="02020603050405020304" pitchFamily="18" charset="0"/>
                <a:ea typeface="Times New Roman" panose="02020603050405020304" pitchFamily="18" charset="0"/>
              </a:rPr>
              <a:t>Come tutti i concetti dell’OOP, anche l’incapsulamento è ispirato dal mondo reale. Tutti gli oggetti del mondo reale sono incapsulati. L’incapsulamento implica che ogni oggetto sia considerato costituito da due parti distinte: un’</a:t>
            </a:r>
            <a:r>
              <a:rPr lang="it-IT" sz="1800" i="1" dirty="0">
                <a:effectLst/>
                <a:latin typeface="Times New Roman" panose="02020603050405020304" pitchFamily="18" charset="0"/>
                <a:ea typeface="Times New Roman" panose="02020603050405020304" pitchFamily="18" charset="0"/>
              </a:rPr>
              <a:t>interfaccia pubblica</a:t>
            </a:r>
            <a:r>
              <a:rPr lang="it-IT" sz="1800" dirty="0">
                <a:effectLst/>
                <a:latin typeface="Times New Roman" panose="02020603050405020304" pitchFamily="18" charset="0"/>
                <a:ea typeface="Times New Roman" panose="02020603050405020304" pitchFamily="18" charset="0"/>
              </a:rPr>
              <a:t> che serve per l’interazione dell’oggetto con l’esterno, e una </a:t>
            </a:r>
            <a:r>
              <a:rPr lang="it-IT" sz="1800" i="1" dirty="0">
                <a:effectLst/>
                <a:latin typeface="Times New Roman" panose="02020603050405020304" pitchFamily="18" charset="0"/>
                <a:ea typeface="Times New Roman" panose="02020603050405020304" pitchFamily="18" charset="0"/>
              </a:rPr>
              <a:t>parte nascosta</a:t>
            </a:r>
            <a:r>
              <a:rPr lang="it-IT" sz="1800" dirty="0">
                <a:effectLst/>
                <a:latin typeface="Times New Roman" panose="02020603050405020304" pitchFamily="18" charset="0"/>
                <a:ea typeface="Times New Roman" panose="02020603050405020304" pitchFamily="18" charset="0"/>
              </a:rPr>
              <a:t> al resto del mondo. Un semplice esempio è costituito da un oggetto che probabilmente usiamo tantissimo: uno smartphone. La maggior parte degli utenti infatti, sa utilizzare uno smartphone, ma ne ignora il funzionamento interno. Chiunque può scegliere un contatto dalla rubrica, comporre un numero telefonico, chattare con gli amici e così via, ma pochi conoscono in dettaglio la sequenza dei processi scatenati da quei semplici tocchi sul touchscreen. Evidentemente, per utilizzare uno smartphone, non è necessario prendere una laurea in ingegneria delle telecomunicazioni: basta saper usare la sua interfaccia pubblica (costituita principalmente dal touchscreen), non la sua implementazione interna. Ma tutti gli oggetti del mondo reale sono incapsulati, persino noi esseri umani.</a:t>
            </a:r>
          </a:p>
        </p:txBody>
      </p:sp>
      <p:sp>
        <p:nvSpPr>
          <p:cNvPr id="4" name="Segnaposto numero diapositiva 3"/>
          <p:cNvSpPr>
            <a:spLocks noGrp="1"/>
          </p:cNvSpPr>
          <p:nvPr>
            <p:ph type="sldNum" sz="quarter" idx="5"/>
          </p:nvPr>
        </p:nvSpPr>
        <p:spPr/>
        <p:txBody>
          <a:bodyPr/>
          <a:lstStyle/>
          <a:p>
            <a:fld id="{545D8BF2-49EE-4CE2-A2D7-61B744D1E4D9}" type="slidenum">
              <a:rPr lang="it-IT" smtClean="0"/>
              <a:t>7</a:t>
            </a:fld>
            <a:endParaRPr lang="it-IT"/>
          </a:p>
        </p:txBody>
      </p:sp>
    </p:spTree>
    <p:extLst>
      <p:ext uri="{BB962C8B-B14F-4D97-AF65-F5344CB8AC3E}">
        <p14:creationId xmlns:p14="http://schemas.microsoft.com/office/powerpoint/2010/main" val="1779010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Una qualsiasi classe è essenzialmente costituita da </a:t>
            </a:r>
            <a:r>
              <a:rPr lang="it-IT" sz="1800" u="sng"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e </a:t>
            </a:r>
            <a:r>
              <a:rPr lang="it-IT" sz="1800" u="sng" dirty="0">
                <a:effectLst/>
                <a:latin typeface="Times New Roman" panose="02020603050405020304" pitchFamily="18" charset="0"/>
                <a:ea typeface="Times New Roman" panose="02020603050405020304" pitchFamily="18" charset="0"/>
              </a:rPr>
              <a:t>metodi</a:t>
            </a:r>
            <a:r>
              <a:rPr lang="it-IT" sz="1800" dirty="0">
                <a:effectLst/>
                <a:latin typeface="Times New Roman" panose="02020603050405020304" pitchFamily="18" charset="0"/>
                <a:ea typeface="Times New Roman" panose="02020603050405020304" pitchFamily="18" charset="0"/>
              </a:rPr>
              <a:t>. La filosofia dell’incapsulamento è semplice. Essa si basa sull’accesso controllato ai dati, mediante metodi che possono prevenirne l’usura e la non correttezza. A livello di implementazione, per incapsulare una classe bisogna:</a:t>
            </a:r>
          </a:p>
          <a:p>
            <a:pPr marL="180340" indent="180340"/>
            <a:r>
              <a:rPr lang="it-IT" sz="1800" dirty="0">
                <a:effectLst/>
                <a:latin typeface="Times New Roman" panose="02020603050405020304" pitchFamily="18" charset="0"/>
                <a:ea typeface="MS Mincho" panose="02020609040205080304" pitchFamily="49" charset="-128"/>
              </a:rPr>
              <a:t>dichiarare privati gli attributi, al fine di renderli inaccessibili fuori dalla classe stessa. A tale scopo introdurremo un nuovo modificatore: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private</a:t>
            </a:r>
            <a:r>
              <a:rPr lang="it-IT" sz="1800" dirty="0">
                <a:effectLst/>
                <a:latin typeface="Times New Roman" panose="02020603050405020304" pitchFamily="18" charset="0"/>
                <a:ea typeface="MS Mincho" panose="02020609040205080304" pitchFamily="49" charset="-128"/>
              </a:rPr>
              <a:t>. </a:t>
            </a:r>
          </a:p>
          <a:p>
            <a:pPr marL="180340" indent="180340"/>
            <a:r>
              <a:rPr lang="it-IT" sz="1800" dirty="0">
                <a:effectLst/>
                <a:latin typeface="Times New Roman" panose="02020603050405020304" pitchFamily="18" charset="0"/>
                <a:ea typeface="MS Mincho" panose="02020609040205080304" pitchFamily="49" charset="-128"/>
              </a:rPr>
              <a:t>creare dei metodi pubblici (dichiarati con il modificatore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public</a:t>
            </a:r>
            <a:r>
              <a:rPr lang="it-IT" sz="1800" dirty="0">
                <a:effectLst/>
                <a:latin typeface="Times New Roman" panose="02020603050405020304" pitchFamily="18" charset="0"/>
                <a:ea typeface="MS Mincho" panose="02020609040205080304" pitchFamily="49" charset="-128"/>
              </a:rPr>
              <a:t>), che permettono l’accesso agli attributi in maniera controllata. Tali metodi, potrebbero realizzare controlli prima di confermare l’accesso ai dati privati, evitando che essi assumano valori non validi.</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8</a:t>
            </a:fld>
            <a:endParaRPr lang="it-IT"/>
          </a:p>
        </p:txBody>
      </p:sp>
    </p:spTree>
    <p:extLst>
      <p:ext uri="{BB962C8B-B14F-4D97-AF65-F5344CB8AC3E}">
        <p14:creationId xmlns:p14="http://schemas.microsoft.com/office/powerpoint/2010/main" val="1504206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Passiamo ad un esempio di codice, per capire a cosa serve realmente l’incapsulamento. Supponiamo di voler scrivere un’applicazione che utilizza la seguente classe, la quale astrae in maniera semplice il concetto di data:</a:t>
            </a:r>
          </a:p>
          <a:p>
            <a:r>
              <a:rPr lang="it-IT" sz="1800" dirty="0">
                <a:solidFill>
                  <a:srgbClr val="000000"/>
                </a:solidFill>
                <a:effectLst/>
                <a:latin typeface="Courier New" panose="02070309020205020404" pitchFamily="49" charset="0"/>
                <a:ea typeface="Times New Roman" panose="02020603050405020304" pitchFamily="18" charset="0"/>
              </a:rPr>
              <a:t>public class Data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giorno;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mese;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anno;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può utilizzare la nostra applicazione tale astrazione? Ogni volta che serve un 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il codice da scrivere sarà simile al seguente:</a:t>
            </a:r>
          </a:p>
          <a:p>
            <a:r>
              <a:rPr lang="it-IT" sz="1800" b="1" dirty="0">
                <a:effectLst/>
                <a:latin typeface="Times New Roman" panose="02020603050405020304" pitchFamily="18" charset="0"/>
                <a:ea typeface="Times New Roman" panose="02020603050405020304" pitchFamily="18" charset="0"/>
              </a:rPr>
              <a:t>(Codice 5.1)</a:t>
            </a:r>
          </a:p>
          <a:p>
            <a:r>
              <a:rPr lang="it-IT" sz="1800" dirty="0">
                <a:solidFill>
                  <a:srgbClr val="000000"/>
                </a:solidFill>
                <a:effectLst/>
                <a:latin typeface="Courier New" panose="02070309020205020404" pitchFamily="49" charset="0"/>
                <a:ea typeface="Times New Roman" panose="02020603050405020304" pitchFamily="18" charset="0"/>
              </a:rPr>
              <a:t>Data </a:t>
            </a:r>
            <a:r>
              <a:rPr lang="it-IT" sz="1800" dirty="0" err="1">
                <a:solidFill>
                  <a:srgbClr val="000000"/>
                </a:solidFill>
                <a:effectLst/>
                <a:latin typeface="Courier New" panose="02070309020205020404" pitchFamily="49" charset="0"/>
                <a:ea typeface="Times New Roman" panose="02020603050405020304" pitchFamily="18" charset="0"/>
              </a:rPr>
              <a:t>unaData</a:t>
            </a:r>
            <a:r>
              <a:rPr lang="it-IT" sz="1800" dirty="0">
                <a:solidFill>
                  <a:srgbClr val="000000"/>
                </a:solidFill>
                <a:effectLst/>
                <a:latin typeface="Courier New" panose="02070309020205020404" pitchFamily="49" charset="0"/>
                <a:ea typeface="Times New Roman" panose="02020603050405020304" pitchFamily="18" charset="0"/>
              </a:rPr>
              <a:t> = new Data();</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unaData.giorno</a:t>
            </a:r>
            <a:r>
              <a:rPr lang="it-IT" sz="1800" dirty="0">
                <a:solidFill>
                  <a:srgbClr val="000000"/>
                </a:solidFill>
                <a:effectLst/>
                <a:latin typeface="Courier New" panose="02070309020205020404" pitchFamily="49" charset="0"/>
                <a:ea typeface="Times New Roman" panose="02020603050405020304" pitchFamily="18" charset="0"/>
              </a:rPr>
              <a:t> = 14;</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unaData.mese</a:t>
            </a:r>
            <a:r>
              <a:rPr lang="it-IT" sz="1800" dirty="0">
                <a:solidFill>
                  <a:srgbClr val="000000"/>
                </a:solidFill>
                <a:effectLst/>
                <a:latin typeface="Courier New" panose="02070309020205020404" pitchFamily="49" charset="0"/>
                <a:ea typeface="Times New Roman" panose="02020603050405020304" pitchFamily="18" charset="0"/>
              </a:rPr>
              <a:t> = 4;</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unaData.anno</a:t>
            </a:r>
            <a:r>
              <a:rPr lang="it-IT" sz="1800" dirty="0">
                <a:solidFill>
                  <a:srgbClr val="000000"/>
                </a:solidFill>
                <a:effectLst/>
                <a:latin typeface="Courier New" panose="02070309020205020404" pitchFamily="49" charset="0"/>
                <a:ea typeface="Times New Roman" panose="02020603050405020304" pitchFamily="18" charset="0"/>
              </a:rPr>
              <a:t> = 2004;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Qual è il problema? Supponiamo che la nostra applicazione permetta all’utente di inserire la sua data di nascita mediante un’interfaccia grafica. In tal caso, il codice potrebbe essere:</a:t>
            </a:r>
          </a:p>
          <a:p>
            <a:r>
              <a:rPr lang="it-IT" sz="1800" b="1" dirty="0">
                <a:effectLst/>
                <a:latin typeface="Times New Roman" panose="02020603050405020304" pitchFamily="18" charset="0"/>
                <a:ea typeface="Times New Roman" panose="02020603050405020304" pitchFamily="18" charset="0"/>
              </a:rPr>
              <a:t>(Codice 5.2)</a:t>
            </a:r>
          </a:p>
          <a:p>
            <a:r>
              <a:rPr lang="it-IT" sz="1800" dirty="0">
                <a:solidFill>
                  <a:srgbClr val="000000"/>
                </a:solidFill>
                <a:effectLst/>
                <a:latin typeface="Courier New" panose="02070309020205020404" pitchFamily="49" charset="0"/>
                <a:ea typeface="Times New Roman" panose="02020603050405020304" pitchFamily="18" charset="0"/>
              </a:rPr>
              <a:t>Data </a:t>
            </a:r>
            <a:r>
              <a:rPr lang="it-IT" sz="1800" dirty="0" err="1">
                <a:solidFill>
                  <a:srgbClr val="000000"/>
                </a:solidFill>
                <a:effectLst/>
                <a:latin typeface="Courier New" panose="02070309020205020404" pitchFamily="49" charset="0"/>
                <a:ea typeface="Times New Roman" panose="02020603050405020304" pitchFamily="18" charset="0"/>
              </a:rPr>
              <a:t>unaData</a:t>
            </a:r>
            <a:r>
              <a:rPr lang="it-IT" sz="1800" dirty="0">
                <a:solidFill>
                  <a:srgbClr val="000000"/>
                </a:solidFill>
                <a:effectLst/>
                <a:latin typeface="Courier New" panose="02070309020205020404" pitchFamily="49" charset="0"/>
                <a:ea typeface="Times New Roman" panose="02020603050405020304" pitchFamily="18" charset="0"/>
              </a:rPr>
              <a:t> = new Data();</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unaData.giorno</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interfaccia.dammiGiornoInserito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unaData.mese</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interfaccia.dammiMeseInserito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unaData.anno</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interfaccia.dammiAnnoInserito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dove i metodi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dammiGiornoInserito</a:t>
            </a:r>
            <a:r>
              <a:rPr lang="it-IT" sz="1800" dirty="0">
                <a:effectLst/>
                <a:latin typeface="Times New Roman" panose="02020603050405020304" pitchFamily="18" charset="0"/>
                <a:ea typeface="Times New Roman" panose="02020603050405020304" pitchFamily="18" charset="0"/>
              </a:rPr>
              <a:t>,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dammiMeseInserito</a:t>
            </a:r>
            <a:r>
              <a:rPr lang="it-IT" sz="1800" dirty="0">
                <a:effectLst/>
                <a:latin typeface="Times New Roman" panose="02020603050405020304" pitchFamily="18" charset="0"/>
                <a:ea typeface="Times New Roman" panose="02020603050405020304" pitchFamily="18" charset="0"/>
              </a:rPr>
              <a:t> 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dammiAnnoInserito</a:t>
            </a:r>
            <a:r>
              <a:rPr lang="it-IT" sz="1800" dirty="0">
                <a:effectLst/>
                <a:latin typeface="Times New Roman" panose="02020603050405020304" pitchFamily="18" charset="0"/>
                <a:ea typeface="Times New Roman" panose="02020603050405020304" pitchFamily="18" charset="0"/>
              </a:rPr>
              <a:t> dell’oggetto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interfaccia</a:t>
            </a:r>
            <a:r>
              <a:rPr lang="it-IT" sz="1800" dirty="0">
                <a:effectLst/>
                <a:latin typeface="Times New Roman" panose="02020603050405020304" pitchFamily="18" charset="0"/>
                <a:ea typeface="Times New Roman" panose="02020603050405020304" pitchFamily="18" charset="0"/>
              </a:rPr>
              <a:t>, restituiscono un intero inserito dall’utente sull’interfaccia grafica dell’applicazione. Supponiamo che l’utente abbia inserito rispettivamente i valori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32</a:t>
            </a:r>
            <a:r>
              <a:rPr lang="it-IT" sz="1800" dirty="0">
                <a:effectLst/>
                <a:latin typeface="Times New Roman" panose="02020603050405020304" pitchFamily="18" charset="0"/>
                <a:ea typeface="Times New Roman" panose="02020603050405020304" pitchFamily="18" charset="0"/>
              </a:rPr>
              <a:t> per il giorno,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13</a:t>
            </a:r>
            <a:r>
              <a:rPr lang="it-IT" sz="1800" dirty="0">
                <a:effectLst/>
                <a:latin typeface="Times New Roman" panose="02020603050405020304" pitchFamily="18" charset="0"/>
                <a:ea typeface="Times New Roman" panose="02020603050405020304" pitchFamily="18" charset="0"/>
              </a:rPr>
              <a:t> per il mese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1800</a:t>
            </a:r>
            <a:r>
              <a:rPr lang="it-IT" sz="1800" dirty="0">
                <a:effectLst/>
                <a:latin typeface="Times New Roman" panose="02020603050405020304" pitchFamily="18" charset="0"/>
                <a:ea typeface="Times New Roman" panose="02020603050405020304" pitchFamily="18" charset="0"/>
              </a:rPr>
              <a:t> per l’anno; ecco che i problemi del codice iniziano a risultare evidenti. Come possiamo evitare che l’utente inserisca dei dati errati? </a:t>
            </a:r>
          </a:p>
        </p:txBody>
      </p:sp>
      <p:sp>
        <p:nvSpPr>
          <p:cNvPr id="4" name="Segnaposto numero diapositiva 3"/>
          <p:cNvSpPr>
            <a:spLocks noGrp="1"/>
          </p:cNvSpPr>
          <p:nvPr>
            <p:ph type="sldNum" sz="quarter" idx="5"/>
          </p:nvPr>
        </p:nvSpPr>
        <p:spPr/>
        <p:txBody>
          <a:bodyPr/>
          <a:lstStyle/>
          <a:p>
            <a:fld id="{545D8BF2-49EE-4CE2-A2D7-61B744D1E4D9}" type="slidenum">
              <a:rPr lang="it-IT" smtClean="0"/>
              <a:t>9</a:t>
            </a:fld>
            <a:endParaRPr lang="it-IT"/>
          </a:p>
        </p:txBody>
      </p:sp>
    </p:spTree>
    <p:extLst>
      <p:ext uri="{BB962C8B-B14F-4D97-AF65-F5344CB8AC3E}">
        <p14:creationId xmlns:p14="http://schemas.microsoft.com/office/powerpoint/2010/main" val="2447741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548640" indent="-548640">
              <a:spcBef>
                <a:spcPts val="1200"/>
              </a:spcBef>
              <a:spcAft>
                <a:spcPts val="300"/>
              </a:spcAft>
            </a:pPr>
            <a:r>
              <a:rPr lang="it-IT" sz="1800" b="1" dirty="0">
                <a:effectLst/>
                <a:latin typeface="Times New Roman" panose="02020603050405020304" pitchFamily="18" charset="0"/>
              </a:rPr>
              <a:t>Soluzione (implementazione dell’incapsulamento)</a:t>
            </a:r>
          </a:p>
          <a:p>
            <a:r>
              <a:rPr lang="it-IT" sz="1800" dirty="0">
                <a:effectLst/>
                <a:latin typeface="Times New Roman" panose="02020603050405020304" pitchFamily="18" charset="0"/>
                <a:ea typeface="Times New Roman" panose="02020603050405020304" pitchFamily="18" charset="0"/>
              </a:rPr>
              <a:t>Elenchiamo alcune possibili soluzioni.</a:t>
            </a:r>
          </a:p>
          <a:p>
            <a:pPr marL="180340" indent="180340"/>
            <a:r>
              <a:rPr lang="it-IT" sz="1800" dirty="0">
                <a:effectLst/>
                <a:latin typeface="Times New Roman" panose="02020603050405020304" pitchFamily="18" charset="0"/>
                <a:ea typeface="MS Mincho" panose="02020609040205080304" pitchFamily="49" charset="-128"/>
              </a:rPr>
              <a:t>Si potrebbe limitare la possibilità degli inserimenti sull’interfaccia grafica all’utente. Il problema sarebbe risolto, ma solo nel caso che l’impostazione della data avvenga sempre e comunque tramite l’interfaccia grafica. Inoltre, il problema sarà risolto solo per quella particolare funzionalità e quindi non in maniera definitiva. Ma se volessimo riutilizzare in un’altra funzione la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Data</a:t>
            </a:r>
            <a:r>
              <a:rPr lang="it-IT" sz="1800" dirty="0">
                <a:effectLst/>
                <a:latin typeface="Times New Roman" panose="02020603050405020304" pitchFamily="18" charset="0"/>
                <a:ea typeface="MS Mincho" panose="02020609040205080304" pitchFamily="49" charset="-128"/>
              </a:rPr>
              <a:t> (il riuso dovrebbe essere un paradigma fondamentale della programmazione ad oggetti) senza riutilizzare la stessa interfaccia grafica, saremmo costretti a scrivere nuovamente del codice che gestisce il problema. </a:t>
            </a:r>
          </a:p>
          <a:p>
            <a:pPr marL="180340" indent="180340"/>
            <a:r>
              <a:rPr lang="it-IT" sz="1800" dirty="0">
                <a:effectLst/>
                <a:latin typeface="Times New Roman" panose="02020603050405020304" pitchFamily="18" charset="0"/>
                <a:ea typeface="MS Mincho" panose="02020609040205080304" pitchFamily="49" charset="-128"/>
              </a:rPr>
              <a:t>Potremmo delegare al codice dei metodi </a:t>
            </a:r>
            <a:r>
              <a:rPr lang="it-IT" sz="1800" dirty="0" err="1">
                <a:effectLst/>
                <a:latin typeface="Courier New" panose="02070309020205020404" pitchFamily="49" charset="0"/>
                <a:ea typeface="MS Mincho" panose="02020609040205080304" pitchFamily="49" charset="-128"/>
                <a:cs typeface="Courier New" panose="02070309020205020404" pitchFamily="49" charset="0"/>
              </a:rPr>
              <a:t>dammiGiornoInserito</a:t>
            </a:r>
            <a:r>
              <a:rPr lang="it-IT" sz="1800" dirty="0">
                <a:effectLst/>
                <a:latin typeface="Times New Roman" panose="02020603050405020304" pitchFamily="18" charset="0"/>
                <a:ea typeface="MS Mincho" panose="02020609040205080304" pitchFamily="49" charset="-128"/>
              </a:rPr>
              <a:t>, </a:t>
            </a:r>
            <a:r>
              <a:rPr lang="it-IT" sz="1800" dirty="0" err="1">
                <a:effectLst/>
                <a:latin typeface="Courier New" panose="02070309020205020404" pitchFamily="49" charset="0"/>
                <a:ea typeface="MS Mincho" panose="02020609040205080304" pitchFamily="49" charset="-128"/>
                <a:cs typeface="Courier New" panose="02070309020205020404" pitchFamily="49" charset="0"/>
              </a:rPr>
              <a:t>dammiMeseInserito</a:t>
            </a:r>
            <a:r>
              <a:rPr lang="it-IT" sz="1800" dirty="0">
                <a:effectLst/>
                <a:latin typeface="Times New Roman" panose="02020603050405020304" pitchFamily="18" charset="0"/>
                <a:ea typeface="MS Mincho" panose="02020609040205080304" pitchFamily="49" charset="-128"/>
              </a:rPr>
              <a:t> e </a:t>
            </a:r>
            <a:r>
              <a:rPr lang="it-IT" sz="1800" dirty="0" err="1">
                <a:effectLst/>
                <a:latin typeface="Courier New" panose="02070309020205020404" pitchFamily="49" charset="0"/>
                <a:ea typeface="MS Mincho" panose="02020609040205080304" pitchFamily="49" charset="-128"/>
                <a:cs typeface="Courier New" panose="02070309020205020404" pitchFamily="49" charset="0"/>
              </a:rPr>
              <a:t>dammiAnnoInserito</a:t>
            </a:r>
            <a:r>
              <a:rPr lang="it-IT" sz="1800" dirty="0">
                <a:effectLst/>
                <a:latin typeface="Times New Roman" panose="02020603050405020304" pitchFamily="18" charset="0"/>
                <a:ea typeface="MS Mincho" panose="02020609040205080304" pitchFamily="49" charset="-128"/>
              </a:rPr>
              <a:t> dell’oggetto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interfaccia</a:t>
            </a:r>
            <a:r>
              <a:rPr lang="it-IT" sz="1800" dirty="0">
                <a:effectLst/>
                <a:latin typeface="Times New Roman" panose="02020603050405020304" pitchFamily="18" charset="0"/>
                <a:ea typeface="MS Mincho" panose="02020609040205080304" pitchFamily="49" charset="-128"/>
              </a:rPr>
              <a:t> i controlli necessari per una corretta impostazione della data. Anche in questo caso però, si potrebbero ripresentare tutti i problemi esposti per il punto precedente.</a:t>
            </a:r>
          </a:p>
          <a:p>
            <a:r>
              <a:rPr lang="it-IT" sz="1800" dirty="0">
                <a:effectLst/>
                <a:latin typeface="Times New Roman" panose="02020603050405020304" pitchFamily="18" charset="0"/>
                <a:ea typeface="Times New Roman" panose="02020603050405020304" pitchFamily="18" charset="0"/>
              </a:rPr>
              <a:t>Utilizzare l’incapsulamento modificando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nel modo seguente:</a:t>
            </a:r>
          </a:p>
          <a:p>
            <a:r>
              <a:rPr lang="it-IT" sz="1800" dirty="0">
                <a:effectLst/>
                <a:latin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Implementare l’incapsulamento con codice Java, consiste il più delle volte nel dichiarare i dati privati, e fornire alla classe metodi pubblici di tipo </a:t>
            </a:r>
            <a:r>
              <a:rPr lang="it-IT" sz="1800" b="1" dirty="0">
                <a:effectLst/>
                <a:latin typeface="Times New Roman" panose="02020603050405020304" pitchFamily="18" charset="0"/>
                <a:ea typeface="Times New Roman" panose="02020603050405020304" pitchFamily="18" charset="0"/>
              </a:rPr>
              <a:t>set</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get</a:t>
            </a:r>
            <a:r>
              <a:rPr lang="it-IT" sz="1800" dirty="0">
                <a:effectLst/>
                <a:latin typeface="Times New Roman" panose="02020603050405020304" pitchFamily="18" charset="0"/>
                <a:ea typeface="Times New Roman" panose="02020603050405020304" pitchFamily="18" charset="0"/>
              </a:rPr>
              <a:t> per accedervi rispettivamente in scrittura e lettura.</a:t>
            </a:r>
          </a:p>
          <a:p>
            <a:r>
              <a:rPr lang="it-IT" sz="1800" b="1" dirty="0">
                <a:effectLst/>
                <a:latin typeface="Times New Roman" panose="02020603050405020304" pitchFamily="18" charset="0"/>
                <a:ea typeface="Times New Roman" panose="02020603050405020304" pitchFamily="18" charset="0"/>
              </a:rPr>
              <a:t>(ICONA BEST PRACTICE)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Questi metodi, seguono una convenzione che è utilizzata anche nella libreria standard. Se abbiamo una variabile d’istanza privata, dovremmo chiamare questi metodi con la sintassi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setNomeVariabile</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getNomeVariabile</a:t>
            </a:r>
            <a:r>
              <a:rPr lang="it-IT" sz="1800" b="1" dirty="0">
                <a:solidFill>
                  <a:srgbClr val="000000"/>
                </a:solidFill>
                <a:effectLst/>
                <a:latin typeface="Times New Roman" panose="02020603050405020304" pitchFamily="18" charset="0"/>
                <a:ea typeface="Times New Roman" panose="02020603050405020304" pitchFamily="18" charset="0"/>
              </a:rPr>
              <a:t>. Esiste un’unica eccezione a questa convenzione, quando abbiamo a che fare con una variabile di tipo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boolean</a:t>
            </a:r>
            <a:r>
              <a:rPr lang="it-IT" sz="1800" b="1" dirty="0">
                <a:solidFill>
                  <a:srgbClr val="000000"/>
                </a:solidFill>
                <a:effectLst/>
                <a:latin typeface="Times New Roman" panose="02020603050405020304" pitchFamily="18" charset="0"/>
                <a:ea typeface="Times New Roman" panose="02020603050405020304" pitchFamily="18" charset="0"/>
              </a:rPr>
              <a:t>. In questo caso, il metodo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getNomeVariabile</a:t>
            </a:r>
            <a:r>
              <a:rPr lang="it-IT" sz="1800" b="1" dirty="0">
                <a:solidFill>
                  <a:srgbClr val="000000"/>
                </a:solidFill>
                <a:effectLst/>
                <a:latin typeface="Times New Roman" panose="02020603050405020304" pitchFamily="18" charset="0"/>
                <a:ea typeface="Times New Roman" panose="02020603050405020304" pitchFamily="18" charset="0"/>
              </a:rPr>
              <a:t> va chiamato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isNomeVariabile</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10</a:t>
            </a:fld>
            <a:endParaRPr lang="it-IT"/>
          </a:p>
        </p:txBody>
      </p:sp>
    </p:spTree>
    <p:extLst>
      <p:ext uri="{BB962C8B-B14F-4D97-AF65-F5344CB8AC3E}">
        <p14:creationId xmlns:p14="http://schemas.microsoft.com/office/powerpoint/2010/main" val="2503513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Quindi, anche se all’inizio potrà sembrare noioso (la seconda versione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è nettamente più estesa della prima), implementare l’incapsulamento non richiede grossa inventiva da parte dello sviluppatore. Inoltre tutti gli IDE (anche EJE), offrono strumenti per la generazione automatica dei metodi set e get. Nella figura 5.2 sono rappresentate con UML la versione non incapsulata e la versione incapsulata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a:t>
            </a:r>
          </a:p>
          <a:p>
            <a:r>
              <a:rPr lang="it-IT" sz="1800" b="1" dirty="0">
                <a:solidFill>
                  <a:srgbClr val="0000FF"/>
                </a:solidFill>
                <a:effectLst/>
                <a:latin typeface="Arial" panose="020B0604020202020204" pitchFamily="34" charset="0"/>
                <a:ea typeface="MS Mincho" panose="02020609040205080304" pitchFamily="49" charset="-128"/>
                <a:cs typeface="Times New Roman" panose="02020603050405020304" pitchFamily="18" charset="0"/>
              </a:rPr>
              <a:t>Figura 5.2 - Class Diagram “Classe Data”.</a:t>
            </a:r>
            <a:endParaRPr lang="it-IT" sz="1800" dirty="0">
              <a:solidFill>
                <a:srgbClr val="000080"/>
              </a:solidFill>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il valore di documentazione del diagramma delle classi, che ci mostra una versione incapsulata di una classe senza specificare i dettagli. Questo, soprattutto in fase di progettazione della classe, può darci molti vantaggi. La visione grafica di una classe infatti, ci può aiutare a pensare alle classi più facilmente, senza farci distrarre dai dettagli implementativi.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Cerchiamo ora di chiarire il perché sia così importante utilizzare l’incapsulamento. </a:t>
            </a:r>
          </a:p>
          <a:p>
            <a:pPr marL="0" indent="0">
              <a:buNone/>
            </a:pPr>
            <a:endParaRPr lang="it-IT" sz="1800" dirty="0">
              <a:solidFill>
                <a:schemeClr val="accent5"/>
              </a:solidFill>
              <a:effectLst/>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11</a:t>
            </a:fld>
            <a:endParaRPr lang="it-IT"/>
          </a:p>
        </p:txBody>
      </p:sp>
    </p:spTree>
    <p:extLst>
      <p:ext uri="{BB962C8B-B14F-4D97-AF65-F5344CB8AC3E}">
        <p14:creationId xmlns:p14="http://schemas.microsoft.com/office/powerpoint/2010/main" val="4096054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548640" indent="-548640">
              <a:spcBef>
                <a:spcPts val="1200"/>
              </a:spcBef>
              <a:spcAft>
                <a:spcPts val="300"/>
              </a:spcAft>
            </a:pPr>
            <a:r>
              <a:rPr lang="it-IT" sz="1800" b="1" dirty="0">
                <a:effectLst/>
                <a:latin typeface="Times New Roman" panose="02020603050405020304" pitchFamily="18" charset="0"/>
              </a:rPr>
              <a:t>Accesso ai dati controllato</a:t>
            </a:r>
          </a:p>
          <a:p>
            <a:r>
              <a:rPr lang="it-IT" sz="1800" dirty="0">
                <a:effectLst/>
                <a:latin typeface="Times New Roman" panose="02020603050405020304" pitchFamily="18" charset="0"/>
                <a:ea typeface="Times New Roman" panose="02020603050405020304" pitchFamily="18" charset="0"/>
              </a:rPr>
              <a:t>Nel momento in cui abbiamo dichiarato i dati privati, per la definizione del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essi non saranno più accessibili mediante l’operatore dot, a meno che il codice che vuole accedere al dato privato, non si trovi nella classe che lo ha dichiarato. Questo implica che il codice 5.1 e il codice 5.2 produrrebbero errori in compilazione, in quanto tenterebbero di assegnare valori a variabili non visibili in quel contesto (classi diverse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I codici 5.1 e 5.2 devono essere rispettivamente sostituiti con i seguenti:</a:t>
            </a:r>
          </a:p>
          <a:p>
            <a:r>
              <a:rPr lang="it-IT" sz="1800" b="1" dirty="0">
                <a:effectLst/>
                <a:latin typeface="Times New Roman" panose="02020603050405020304" pitchFamily="18" charset="0"/>
                <a:ea typeface="Times New Roman" panose="02020603050405020304" pitchFamily="18" charset="0"/>
              </a:rPr>
              <a:t>(Codice 5.1 bis)</a:t>
            </a:r>
          </a:p>
          <a:p>
            <a:r>
              <a:rPr lang="it-IT" sz="1800" dirty="0">
                <a:solidFill>
                  <a:srgbClr val="000000"/>
                </a:solidFill>
                <a:effectLst/>
                <a:latin typeface="Courier New" panose="02070309020205020404" pitchFamily="49" charset="0"/>
                <a:ea typeface="Times New Roman" panose="02020603050405020304" pitchFamily="18" charset="0"/>
              </a:rPr>
              <a:t>Data </a:t>
            </a:r>
            <a:r>
              <a:rPr lang="it-IT" sz="1800" dirty="0" err="1">
                <a:solidFill>
                  <a:srgbClr val="000000"/>
                </a:solidFill>
                <a:effectLst/>
                <a:latin typeface="Courier New" panose="02070309020205020404" pitchFamily="49" charset="0"/>
                <a:ea typeface="Times New Roman" panose="02020603050405020304" pitchFamily="18" charset="0"/>
              </a:rPr>
              <a:t>unaData</a:t>
            </a:r>
            <a:r>
              <a:rPr lang="it-IT" sz="1800" dirty="0">
                <a:solidFill>
                  <a:srgbClr val="000000"/>
                </a:solidFill>
                <a:effectLst/>
                <a:latin typeface="Courier New" panose="02070309020205020404" pitchFamily="49" charset="0"/>
                <a:ea typeface="Times New Roman" panose="02020603050405020304" pitchFamily="18" charset="0"/>
              </a:rPr>
              <a:t> = new Data();</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unaData.setGiorno</a:t>
            </a:r>
            <a:r>
              <a:rPr lang="it-IT" sz="1800" dirty="0">
                <a:solidFill>
                  <a:srgbClr val="000000"/>
                </a:solidFill>
                <a:effectLst/>
                <a:latin typeface="Courier New" panose="02070309020205020404" pitchFamily="49" charset="0"/>
                <a:ea typeface="Times New Roman" panose="02020603050405020304" pitchFamily="18" charset="0"/>
              </a:rPr>
              <a:t>(14);</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unaData.setMese</a:t>
            </a:r>
            <a:r>
              <a:rPr lang="it-IT" sz="1800" dirty="0">
                <a:solidFill>
                  <a:srgbClr val="000000"/>
                </a:solidFill>
                <a:effectLst/>
                <a:latin typeface="Courier New" panose="02070309020205020404" pitchFamily="49" charset="0"/>
                <a:ea typeface="Times New Roman" panose="02020603050405020304" pitchFamily="18" charset="0"/>
              </a:rPr>
              <a:t>(4);</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unaData.setAnno</a:t>
            </a:r>
            <a:r>
              <a:rPr lang="it-IT" sz="1800" dirty="0">
                <a:solidFill>
                  <a:srgbClr val="000000"/>
                </a:solidFill>
                <a:effectLst/>
                <a:latin typeface="Courier New" panose="02070309020205020404" pitchFamily="49" charset="0"/>
                <a:ea typeface="Times New Roman" panose="02020603050405020304" pitchFamily="18" charset="0"/>
              </a:rPr>
              <a:t>(2004);</a:t>
            </a:r>
            <a:endParaRPr lang="it-IT" sz="1800" dirty="0">
              <a:effectLst/>
              <a:latin typeface="Courier New" panose="02070309020205020404" pitchFamily="49"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(Codice 5.2 bis)</a:t>
            </a:r>
          </a:p>
          <a:p>
            <a:r>
              <a:rPr lang="it-IT" sz="1800" dirty="0">
                <a:solidFill>
                  <a:srgbClr val="000000"/>
                </a:solidFill>
                <a:effectLst/>
                <a:latin typeface="Courier New" panose="02070309020205020404" pitchFamily="49" charset="0"/>
                <a:ea typeface="Times New Roman" panose="02020603050405020304" pitchFamily="18" charset="0"/>
              </a:rPr>
              <a:t>Data </a:t>
            </a:r>
            <a:r>
              <a:rPr lang="it-IT" sz="1800" dirty="0" err="1">
                <a:solidFill>
                  <a:srgbClr val="000000"/>
                </a:solidFill>
                <a:effectLst/>
                <a:latin typeface="Courier New" panose="02070309020205020404" pitchFamily="49" charset="0"/>
                <a:ea typeface="Times New Roman" panose="02020603050405020304" pitchFamily="18" charset="0"/>
              </a:rPr>
              <a:t>unaData</a:t>
            </a:r>
            <a:r>
              <a:rPr lang="it-IT" sz="1800" dirty="0">
                <a:solidFill>
                  <a:srgbClr val="000000"/>
                </a:solidFill>
                <a:effectLst/>
                <a:latin typeface="Courier New" panose="02070309020205020404" pitchFamily="49" charset="0"/>
                <a:ea typeface="Times New Roman" panose="02020603050405020304" pitchFamily="18" charset="0"/>
              </a:rPr>
              <a:t> = new Data();</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unaData.setGiorno</a:t>
            </a:r>
            <a:r>
              <a:rPr lang="it-IT" sz="1800" dirty="0">
                <a:solidFill>
                  <a:srgbClr val="000000"/>
                </a:solidFill>
                <a:effectLst/>
                <a:latin typeface="Courier New" panose="02070309020205020404" pitchFamily="49" charset="0"/>
                <a:ea typeface="Times New Roman" panose="02020603050405020304" pitchFamily="18" charset="0"/>
              </a:rPr>
              <a:t>(</a:t>
            </a:r>
            <a:r>
              <a:rPr lang="it-IT" sz="1800" dirty="0" err="1">
                <a:solidFill>
                  <a:srgbClr val="000000"/>
                </a:solidFill>
                <a:effectLst/>
                <a:latin typeface="Courier New" panose="02070309020205020404" pitchFamily="49" charset="0"/>
                <a:ea typeface="Times New Roman" panose="02020603050405020304" pitchFamily="18" charset="0"/>
              </a:rPr>
              <a:t>interfaccia.dammiGiornoInserito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unaData.setMese</a:t>
            </a:r>
            <a:r>
              <a:rPr lang="it-IT" sz="1800" dirty="0">
                <a:solidFill>
                  <a:srgbClr val="000000"/>
                </a:solidFill>
                <a:effectLst/>
                <a:latin typeface="Courier New" panose="02070309020205020404" pitchFamily="49" charset="0"/>
                <a:ea typeface="Times New Roman" panose="02020603050405020304" pitchFamily="18" charset="0"/>
              </a:rPr>
              <a:t>(</a:t>
            </a:r>
            <a:r>
              <a:rPr lang="it-IT" sz="1800" dirty="0" err="1">
                <a:solidFill>
                  <a:srgbClr val="000000"/>
                </a:solidFill>
                <a:effectLst/>
                <a:latin typeface="Courier New" panose="02070309020205020404" pitchFamily="49" charset="0"/>
                <a:ea typeface="Times New Roman" panose="02020603050405020304" pitchFamily="18" charset="0"/>
              </a:rPr>
              <a:t>interfaccia.dammiMeseInserito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unaData.setAnno</a:t>
            </a:r>
            <a:r>
              <a:rPr lang="it-IT" sz="1800" dirty="0">
                <a:solidFill>
                  <a:srgbClr val="000000"/>
                </a:solidFill>
                <a:effectLst/>
                <a:latin typeface="Courier New" panose="02070309020205020404" pitchFamily="49" charset="0"/>
                <a:ea typeface="Times New Roman" panose="02020603050405020304" pitchFamily="18" charset="0"/>
              </a:rPr>
              <a:t>(</a:t>
            </a:r>
            <a:r>
              <a:rPr lang="it-IT" sz="1800" dirty="0" err="1">
                <a:solidFill>
                  <a:srgbClr val="000000"/>
                </a:solidFill>
                <a:effectLst/>
                <a:latin typeface="Courier New" panose="02070309020205020404" pitchFamily="49" charset="0"/>
                <a:ea typeface="Times New Roman" panose="02020603050405020304" pitchFamily="18" charset="0"/>
              </a:rPr>
              <a:t>interfaccia.dammiAnnoInserito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Ovvero, implementando l’incapsulamento, per sfruttare i dati privati dell’oggetto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saremo costretti ad utilizzare l’interfaccia pubblica dell’oggetto costituita dai metodi pubblici </a:t>
            </a:r>
            <a:r>
              <a:rPr lang="it-IT" sz="1800" i="1" dirty="0">
                <a:effectLst/>
                <a:latin typeface="Times New Roman" panose="02020603050405020304" pitchFamily="18" charset="0"/>
                <a:ea typeface="Times New Roman" panose="02020603050405020304" pitchFamily="18" charset="0"/>
              </a:rPr>
              <a:t>set</a:t>
            </a:r>
            <a:r>
              <a:rPr lang="it-IT" sz="1800" dirty="0">
                <a:effectLst/>
                <a:latin typeface="Times New Roman" panose="02020603050405020304" pitchFamily="18" charset="0"/>
                <a:ea typeface="Times New Roman" panose="02020603050405020304" pitchFamily="18" charset="0"/>
              </a:rPr>
              <a:t> e </a:t>
            </a:r>
            <a:r>
              <a:rPr lang="it-IT" sz="1800" i="1" dirty="0">
                <a:effectLst/>
                <a:latin typeface="Times New Roman" panose="02020603050405020304" pitchFamily="18" charset="0"/>
                <a:ea typeface="Times New Roman" panose="02020603050405020304" pitchFamily="18" charset="0"/>
              </a:rPr>
              <a:t>get</a:t>
            </a:r>
            <a:r>
              <a:rPr lang="it-IT" sz="1800" dirty="0">
                <a:effectLst/>
                <a:latin typeface="Times New Roman" panose="02020603050405020304" pitchFamily="18" charset="0"/>
                <a:ea typeface="Times New Roman" panose="02020603050405020304" pitchFamily="18" charset="0"/>
              </a:rPr>
              <a:t>, così come quando vogliamo utilizzare uno smartphone siamo costretti ad utilizzare l’interfaccia pubblica costituita dal touchscreen. Infatti, i metodi set e get hanno implementazioni che si trovano internamente 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e quindi possono accedere ai dati (ma anche ad eventuali metodi) privati. Inoltre, si noti per esempio che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setGiorno</a:t>
            </a:r>
            <a:r>
              <a:rPr lang="it-IT" sz="1800" dirty="0">
                <a:effectLst/>
                <a:latin typeface="Times New Roman" panose="02020603050405020304" pitchFamily="18" charset="0"/>
                <a:ea typeface="Times New Roman" panose="02020603050405020304" pitchFamily="18" charset="0"/>
              </a:rPr>
              <a:t>, imposta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giorno</a:t>
            </a:r>
            <a:r>
              <a:rPr lang="it-IT" sz="1800" dirty="0">
                <a:effectLst/>
                <a:latin typeface="Times New Roman" panose="02020603050405020304" pitchFamily="18" charset="0"/>
                <a:ea typeface="Times New Roman" panose="02020603050405020304" pitchFamily="18" charset="0"/>
              </a:rPr>
              <a:t> con il parametro che gli viene passato, solo se risulta compresa tra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31</a:t>
            </a:r>
            <a:r>
              <a:rPr lang="it-IT" sz="1800" dirty="0">
                <a:effectLst/>
                <a:latin typeface="Times New Roman" panose="02020603050405020304" pitchFamily="18" charset="0"/>
                <a:ea typeface="Times New Roman" panose="02020603050405020304" pitchFamily="18" charset="0"/>
              </a:rPr>
              <a:t>, altrimenti stampa un messaggio di errore. Un controllo simile viene fatto anche nel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setMese</a:t>
            </a:r>
            <a:r>
              <a:rPr lang="it-IT" sz="1800" dirty="0">
                <a:effectLst/>
                <a:latin typeface="Times New Roman" panose="02020603050405020304" pitchFamily="18" charset="0"/>
                <a:ea typeface="Times New Roman" panose="02020603050405020304" pitchFamily="18" charset="0"/>
              </a:rPr>
              <a:t>. Quindi, a priori, ogni 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non può essere settato con dati non validi per 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giorno</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mese</a:t>
            </a:r>
            <a:r>
              <a:rPr lang="it-IT" sz="1800" dirty="0">
                <a:effectLst/>
                <a:latin typeface="Times New Roman" panose="02020603050405020304" pitchFamily="18" charset="0"/>
                <a:ea typeface="Times New Roman" panose="02020603050405020304" pitchFamily="18" charset="0"/>
              </a:rPr>
              <a:t>. Questo implica maggiori opportunità di riuso e robustezza del codice. Infatti, una classe che rappresenta una data funzionante, potrebbe essere facilmente utilizzata in programmi completamente diversi.</a:t>
            </a:r>
          </a:p>
          <a:p>
            <a:pPr marL="548640" indent="-548640">
              <a:spcBef>
                <a:spcPts val="1200"/>
              </a:spcBef>
              <a:spcAft>
                <a:spcPts val="300"/>
              </a:spcAft>
            </a:pPr>
            <a:r>
              <a:rPr lang="it-IT" sz="1800" b="1" dirty="0">
                <a:effectLst/>
                <a:latin typeface="Times New Roman" panose="02020603050405020304" pitchFamily="18" charset="0"/>
              </a:rPr>
              <a:t>5.2.1.4 Evoluzione del software</a:t>
            </a:r>
          </a:p>
          <a:p>
            <a:r>
              <a:rPr lang="it-IT" sz="1800" dirty="0">
                <a:effectLst/>
                <a:latin typeface="Times New Roman" panose="02020603050405020304" pitchFamily="18" charset="0"/>
                <a:ea typeface="Times New Roman" panose="02020603050405020304" pitchFamily="18" charset="0"/>
              </a:rPr>
              <a:t>Altro grande vantaggio: il codice è molto più facile da manutenere e si adatta ai cambiamenti. Per esempio, il lettore avrà probabilmente notato che il codice 5.3 risolve solo in parte i problemi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Infatti permetterebbe l’impostazione del giorno al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31</a:t>
            </a:r>
            <a:r>
              <a:rPr lang="it-IT" sz="1800" dirty="0">
                <a:effectLst/>
                <a:latin typeface="Times New Roman" panose="02020603050405020304" pitchFamily="18" charset="0"/>
                <a:ea typeface="Times New Roman" panose="02020603050405020304" pitchFamily="18" charset="0"/>
              </a:rPr>
              <a:t>, anche se la variabile mese per esempio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che equivale al mese di aprile che ha solo 30 giorni. E nemmeno risolve il problema che febbraio ha solo 28 giorni e negli anni bisestili 29. La buona notizia è che possiamo far evolvere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introducendo tutte le migliorie che vogliamo all’interno del codice 5.3, ma non dovremmo cambiare una riga per i codici 5.1 bis e 5.2 bis. Per esempio, se cambiamo l’implementazione interna del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setGiorno</a:t>
            </a:r>
            <a:r>
              <a:rPr lang="it-IT" sz="1800" dirty="0">
                <a:effectLst/>
                <a:latin typeface="Times New Roman" panose="02020603050405020304" pitchFamily="18" charset="0"/>
                <a:ea typeface="Times New Roman" panose="02020603050405020304" pitchFamily="18" charset="0"/>
              </a:rPr>
              <a:t> nel modo seguente:</a:t>
            </a:r>
          </a:p>
          <a:p>
            <a:r>
              <a:rPr lang="en-GB" sz="1800" dirty="0">
                <a:solidFill>
                  <a:srgbClr val="000000"/>
                </a:solidFill>
                <a:effectLst/>
                <a:latin typeface="Courier New" panose="02070309020205020404" pitchFamily="49" charset="0"/>
                <a:ea typeface="Times New Roman" panose="02020603050405020304" pitchFamily="18" charset="0"/>
              </a:rPr>
              <a:t>public void </a:t>
            </a:r>
            <a:r>
              <a:rPr lang="en-GB" sz="1800" dirty="0" err="1">
                <a:solidFill>
                  <a:srgbClr val="000000"/>
                </a:solidFill>
                <a:effectLst/>
                <a:latin typeface="Courier New" panose="02070309020205020404" pitchFamily="49" charset="0"/>
                <a:ea typeface="Times New Roman" panose="02020603050405020304" pitchFamily="18" charset="0"/>
              </a:rPr>
              <a:t>setGiorno</a:t>
            </a:r>
            <a:r>
              <a:rPr lang="en-GB" sz="1800" dirty="0">
                <a:solidFill>
                  <a:srgbClr val="000000"/>
                </a:solidFill>
                <a:effectLst/>
                <a:latin typeface="Courier New" panose="02070309020205020404" pitchFamily="49" charset="0"/>
                <a:ea typeface="Times New Roman" panose="02020603050405020304" pitchFamily="18" charset="0"/>
              </a:rPr>
              <a:t>(int g)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if (g &gt; 0 &amp;&amp; g &lt;= 31 &amp;&amp; mese != 4)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giorno = g;</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else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System.out.println("Giorno non valido");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bisognerà ricompilare solo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ma i codici 5.1.bis e 5.2.bis, che utilizzano l’interfaccia pubblica, rimarranno inalterati.</a:t>
            </a:r>
          </a:p>
          <a:p>
            <a:pPr marL="548640" indent="-548640">
              <a:spcBef>
                <a:spcPts val="1200"/>
              </a:spcBef>
              <a:spcAft>
                <a:spcPts val="300"/>
              </a:spcAft>
            </a:pPr>
            <a:r>
              <a:rPr lang="it-IT" sz="1800" b="1" dirty="0">
                <a:effectLst/>
                <a:latin typeface="Times New Roman" panose="02020603050405020304" pitchFamily="18" charset="0"/>
              </a:rPr>
              <a:t>Metodi accessor e mutator</a:t>
            </a:r>
          </a:p>
          <a:p>
            <a:r>
              <a:rPr lang="it-IT" sz="1800" dirty="0">
                <a:effectLst/>
                <a:latin typeface="Times New Roman" panose="02020603050405020304" pitchFamily="18" charset="0"/>
                <a:ea typeface="Times New Roman" panose="02020603050405020304" pitchFamily="18" charset="0"/>
              </a:rPr>
              <a:t>Al lettore dovrebbe ora risultare chiara l’utilità dei metodi </a:t>
            </a:r>
            <a:r>
              <a:rPr lang="it-IT" sz="1800" i="1" dirty="0">
                <a:effectLst/>
                <a:latin typeface="Times New Roman" panose="02020603050405020304" pitchFamily="18" charset="0"/>
                <a:ea typeface="Times New Roman" panose="02020603050405020304" pitchFamily="18" charset="0"/>
              </a:rPr>
              <a:t>set</a:t>
            </a:r>
            <a:r>
              <a:rPr lang="it-IT" sz="1800" dirty="0">
                <a:effectLst/>
                <a:latin typeface="Times New Roman" panose="02020603050405020304" pitchFamily="18" charset="0"/>
                <a:ea typeface="Times New Roman" panose="02020603050405020304" pitchFamily="18" charset="0"/>
              </a:rPr>
              <a:t>, che da ora in poi chiameremo anche </a:t>
            </a:r>
            <a:r>
              <a:rPr lang="it-IT" sz="1800" b="1" dirty="0">
                <a:effectLst/>
                <a:latin typeface="Times New Roman" panose="02020603050405020304" pitchFamily="18" charset="0"/>
                <a:ea typeface="Times New Roman" panose="02020603050405020304" pitchFamily="18" charset="0"/>
              </a:rPr>
              <a:t>mutator methods</a:t>
            </a:r>
            <a:r>
              <a:rPr lang="it-IT" sz="1800" dirty="0">
                <a:effectLst/>
                <a:latin typeface="Times New Roman" panose="02020603050405020304" pitchFamily="18" charset="0"/>
                <a:ea typeface="Times New Roman" panose="02020603050405020304" pitchFamily="18" charset="0"/>
              </a:rPr>
              <a:t>, ovvero metodi che mutano (il valore della variabile). Potrebbe però avere ancora qualche riserva sui metodi </a:t>
            </a:r>
            <a:r>
              <a:rPr lang="it-IT" sz="1800" i="1" dirty="0">
                <a:effectLst/>
                <a:latin typeface="Times New Roman" panose="02020603050405020304" pitchFamily="18" charset="0"/>
                <a:ea typeface="Times New Roman" panose="02020603050405020304" pitchFamily="18" charset="0"/>
              </a:rPr>
              <a:t>get</a:t>
            </a:r>
            <a:r>
              <a:rPr lang="it-IT" sz="1800" dirty="0">
                <a:effectLst/>
                <a:latin typeface="Times New Roman" panose="02020603050405020304" pitchFamily="18" charset="0"/>
                <a:ea typeface="Times New Roman" panose="02020603050405020304" pitchFamily="18" charset="0"/>
              </a:rPr>
              <a:t>, che da adesso chiameremo anche </a:t>
            </a:r>
            <a:r>
              <a:rPr lang="it-IT" sz="1800" b="1" dirty="0">
                <a:effectLst/>
                <a:latin typeface="Times New Roman" panose="02020603050405020304" pitchFamily="18" charset="0"/>
                <a:ea typeface="Times New Roman" panose="02020603050405020304" pitchFamily="18" charset="0"/>
              </a:rPr>
              <a:t>accessor methods</a:t>
            </a:r>
            <a:r>
              <a:rPr lang="it-IT" sz="1800" dirty="0">
                <a:effectLst/>
                <a:latin typeface="Times New Roman" panose="02020603050405020304" pitchFamily="18" charset="0"/>
                <a:ea typeface="Times New Roman" panose="02020603050405020304" pitchFamily="18" charset="0"/>
              </a:rPr>
              <a:t> ovvero metodi d’accesso.</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 volte ci si riferisce a questi metodi anche come metodi “setter” e “getter”.</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un paio di esempi dovremmo fugare eventuali dubbi. </a:t>
            </a:r>
          </a:p>
          <a:p>
            <a:r>
              <a:rPr lang="it-IT" sz="1800" dirty="0">
                <a:effectLst/>
                <a:latin typeface="Times New Roman" panose="02020603050405020304" pitchFamily="18" charset="0"/>
                <a:ea typeface="Times New Roman" panose="02020603050405020304" pitchFamily="18" charset="0"/>
              </a:rPr>
              <a:t>Supponiamo di volere aggiungere, al codice 5.2 bis, una verifica dell’effettivo successo dell’impostazione dei dati dell’oggetto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unaData</a:t>
            </a:r>
            <a:r>
              <a:rPr lang="it-IT" sz="1800" dirty="0">
                <a:effectLst/>
                <a:latin typeface="Times New Roman" panose="02020603050405020304" pitchFamily="18" charset="0"/>
                <a:ea typeface="Times New Roman" panose="02020603050405020304" pitchFamily="18" charset="0"/>
              </a:rPr>
              <a:t>, stampandone i dati a video. Dal momento in cui:</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r>
              <a:rPr lang="it-IT" sz="1800" dirty="0" err="1">
                <a:solidFill>
                  <a:srgbClr val="000000"/>
                </a:solidFill>
                <a:effectLst/>
                <a:latin typeface="Courier New" panose="02070309020205020404" pitchFamily="49" charset="0"/>
                <a:ea typeface="Times New Roman" panose="02020603050405020304" pitchFamily="18" charset="0"/>
              </a:rPr>
              <a:t>unaData.giorno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restituirà un errore in compilazione, e:</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r>
              <a:rPr lang="it-IT" sz="1800" dirty="0" err="1">
                <a:solidFill>
                  <a:srgbClr val="000000"/>
                </a:solidFill>
                <a:effectLst/>
                <a:latin typeface="Courier New" panose="02070309020205020404" pitchFamily="49" charset="0"/>
                <a:ea typeface="Times New Roman" panose="02020603050405020304" pitchFamily="18" charset="0"/>
              </a:rPr>
              <a:t>unaData.setGiorno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non ha senso perché il tipo di ritorno del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setGiorno</a:t>
            </a:r>
            <a:r>
              <a:rPr lang="it-IT" sz="1800" dirty="0">
                <a:effectLst/>
                <a:latin typeface="Times New Roman" panose="02020603050405020304" pitchFamily="18" charset="0"/>
                <a:ea typeface="Times New Roman" panose="02020603050405020304" pitchFamily="18" charset="0"/>
              </a:rPr>
              <a:t>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appare evidente che l’unica soluzione rimane:</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r>
              <a:rPr lang="it-IT" sz="1800" dirty="0" err="1">
                <a:solidFill>
                  <a:srgbClr val="000000"/>
                </a:solidFill>
                <a:effectLst/>
                <a:latin typeface="Courier New" panose="02070309020205020404" pitchFamily="49" charset="0"/>
                <a:ea typeface="Times New Roman" panose="02020603050405020304" pitchFamily="18" charset="0"/>
              </a:rPr>
              <a:t>unaData.getGiorno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Quindi, i metodi getter, sono usati per recuperare il valore della variabile privata. </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4994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introduce una parola chiave che per definizione coincide con </a:t>
            </a:r>
            <a:r>
              <a:rPr lang="it-IT" sz="1800" u="sng" dirty="0">
                <a:effectLst/>
                <a:latin typeface="Times New Roman" panose="02020603050405020304" pitchFamily="18" charset="0"/>
                <a:ea typeface="Times New Roman" panose="02020603050405020304" pitchFamily="18" charset="0"/>
              </a:rPr>
              <a:t>il reference all’oggetto corrente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(in italiano </a:t>
            </a:r>
            <a:r>
              <a:rPr lang="it-IT" sz="1800" i="1" dirty="0">
                <a:effectLst/>
                <a:latin typeface="Times New Roman" panose="02020603050405020304" pitchFamily="18" charset="0"/>
                <a:ea typeface="Times New Roman" panose="02020603050405020304" pitchFamily="18" charset="0"/>
              </a:rPr>
              <a:t>questo</a:t>
            </a:r>
            <a:r>
              <a:rPr lang="it-IT" sz="1800" dirty="0">
                <a:effectLst/>
                <a:latin typeface="Times New Roman" panose="02020603050405020304" pitchFamily="18" charset="0"/>
                <a:ea typeface="Times New Roman" panose="02020603050405020304" pitchFamily="18" charset="0"/>
              </a:rPr>
              <a:t>). Il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viene implicitamente aggiunto nel bytecode compilato per referenziare ogni variabile d’istanza non esplicitamente referenziata. Per esempio,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getGiorno</a:t>
            </a:r>
            <a:r>
              <a:rPr lang="it-IT" sz="1800" dirty="0">
                <a:effectLst/>
                <a:latin typeface="Times New Roman" panose="02020603050405020304" pitchFamily="18" charset="0"/>
                <a:ea typeface="Times New Roman" panose="02020603050405020304" pitchFamily="18" charset="0"/>
              </a:rPr>
              <a:t> che avrà a disposizione la JVM dopo la compilazione, sarà modificato come segue:</a:t>
            </a:r>
          </a:p>
          <a:p>
            <a:r>
              <a:rPr lang="it-IT" sz="1800" dirty="0">
                <a:solidFill>
                  <a:srgbClr val="000000"/>
                </a:solidFill>
                <a:effectLst/>
                <a:latin typeface="Courier New" panose="02070309020205020404" pitchFamily="49" charset="0"/>
                <a:ea typeface="Times New Roman" panose="02020603050405020304" pitchFamily="18" charset="0"/>
              </a:rPr>
              <a:t>    public int </a:t>
            </a:r>
            <a:r>
              <a:rPr lang="it-IT" sz="1800" dirty="0" err="1">
                <a:solidFill>
                  <a:srgbClr val="000000"/>
                </a:solidFill>
                <a:effectLst/>
                <a:latin typeface="Courier New" panose="02070309020205020404" pitchFamily="49" charset="0"/>
                <a:ea typeface="Times New Roman" panose="02020603050405020304" pitchFamily="18" charset="0"/>
              </a:rPr>
              <a:t>getGiorno</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return </a:t>
            </a:r>
            <a:r>
              <a:rPr lang="it-IT" sz="1800" dirty="0" err="1">
                <a:solidFill>
                  <a:srgbClr val="000000"/>
                </a:solidFill>
                <a:effectLst/>
                <a:latin typeface="Courier New" panose="02070309020205020404" pitchFamily="49" charset="0"/>
                <a:ea typeface="Times New Roman" panose="02020603050405020304" pitchFamily="18" charset="0"/>
              </a:rPr>
              <a:t>this.giorno</a:t>
            </a:r>
            <a:r>
              <a:rPr lang="it-IT" sz="1800" dirty="0">
                <a:solidFill>
                  <a:srgbClr val="000000"/>
                </a:solidFill>
                <a:effectLst/>
                <a:latin typeface="Courier New" panose="02070309020205020404" pitchFamily="49" charset="0"/>
                <a:ea typeface="Times New Roman" panose="02020603050405020304" pitchFamily="18" charset="0"/>
              </a:rPr>
              <a:t>; //il this lo aggiunge il compilatore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in questo caso, abbiamo notato un altro di quei comportamenti del linguaggio che una volta faceva sì che Java fosse un linguaggio </a:t>
            </a:r>
            <a:r>
              <a:rPr lang="it-IT" sz="1800" b="1" i="1" dirty="0">
                <a:solidFill>
                  <a:srgbClr val="000000"/>
                </a:solidFill>
                <a:effectLst/>
                <a:latin typeface="Times New Roman" panose="02020603050405020304" pitchFamily="18" charset="0"/>
                <a:ea typeface="Times New Roman" panose="02020603050405020304" pitchFamily="18" charset="0"/>
              </a:rPr>
              <a:t>semplice</a:t>
            </a:r>
            <a:r>
              <a:rPr lang="it-IT" sz="1800" b="1" dirty="0">
                <a:solidFill>
                  <a:srgbClr val="000000"/>
                </a:solidFill>
                <a:effectLst/>
                <a:latin typeface="Times New Roman" panose="02020603050405020304" pitchFamily="18" charset="0"/>
                <a:ea typeface="Times New Roman" panose="02020603050405020304" pitchFamily="18" charset="0"/>
              </a:rPr>
              <a:t> da imparare. Se sino a questo punto non ci siamo posti il problema dell’usare il reference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b="1" dirty="0">
                <a:solidFill>
                  <a:srgbClr val="000000"/>
                </a:solidFill>
                <a:effectLst/>
                <a:latin typeface="Times New Roman" panose="02020603050405020304" pitchFamily="18" charset="0"/>
                <a:ea typeface="Times New Roman" panose="02020603050405020304" pitchFamily="18" charset="0"/>
              </a:rPr>
              <a:t> con le variabili d’istanza, è perché anche questa volta </a:t>
            </a:r>
            <a:r>
              <a:rPr lang="it-IT" sz="1800" b="1" i="1" dirty="0">
                <a:solidFill>
                  <a:srgbClr val="000000"/>
                </a:solidFill>
                <a:effectLst/>
                <a:latin typeface="Times New Roman" panose="02020603050405020304" pitchFamily="18" charset="0"/>
                <a:ea typeface="Times New Roman" panose="02020603050405020304" pitchFamily="18" charset="0"/>
              </a:rPr>
              <a:t>Java ci ha dato una mano</a:t>
            </a:r>
            <a:r>
              <a:rPr lang="it-IT" sz="1800" b="1" dirty="0">
                <a:solidFill>
                  <a:srgbClr val="000000"/>
                </a:solidFill>
                <a:effectLst/>
                <a:latin typeface="Times New Roman" panose="02020603050405020304" pitchFamily="18" charset="0"/>
                <a:ea typeface="Times New Roman" panose="02020603050405020304" pitchFamily="18" charset="0"/>
              </a:rPr>
              <a:t>. Ripetiamo, oggi Java è un linguaggio complicato, ma almeno i suoi creatori hanno creato alcuni meccanismi che ne facilitano l’approccio</a:t>
            </a:r>
          </a:p>
          <a:p>
            <a:r>
              <a:rPr lang="it-IT" sz="1800" dirty="0">
                <a:effectLst/>
                <a:latin typeface="Times New Roman" panose="02020603050405020304" pitchFamily="18" charset="0"/>
                <a:ea typeface="Times New Roman" panose="02020603050405020304" pitchFamily="18" charset="0"/>
              </a:rPr>
              <a:t>Nel secondo capitolo, abbiamo distinto le variabili d’istanza dalle variabili locali. La diversità tra i due concetti è tale che il compilatore ci consente di dichiarare nella stessa classe, una variabile locale (o un parametro di un metodo) ed una variabile d’istanza con lo stesso identificatore. Infatti, la JVM alloca le variabili locali e le variabili d’istanza in differenti aree di memoria, dette rispettivamente </a:t>
            </a:r>
            <a:r>
              <a:rPr lang="it-IT" sz="1800" b="1" dirty="0">
                <a:effectLst/>
                <a:latin typeface="Times New Roman" panose="02020603050405020304" pitchFamily="18" charset="0"/>
                <a:ea typeface="Times New Roman" panose="02020603050405020304" pitchFamily="18" charset="0"/>
              </a:rPr>
              <a:t>Stack Memory </a:t>
            </a:r>
            <a:r>
              <a:rPr lang="it-IT" sz="1800" dirty="0">
                <a:effectLst/>
                <a:latin typeface="Times New Roman" panose="02020603050405020304" pitchFamily="18" charset="0"/>
                <a:ea typeface="Times New Roman" panose="02020603050405020304" pitchFamily="18" charset="0"/>
              </a:rPr>
              <a:t>e </a:t>
            </a:r>
            <a:r>
              <a:rPr lang="it-IT" sz="1800" b="1" dirty="0">
                <a:effectLst/>
                <a:latin typeface="Times New Roman" panose="02020603050405020304" pitchFamily="18" charset="0"/>
                <a:ea typeface="Times New Roman" panose="02020603050405020304" pitchFamily="18" charset="0"/>
              </a:rPr>
              <a:t>Heap Memory</a:t>
            </a:r>
            <a:r>
              <a:rPr lang="it-IT" sz="1800" dirty="0">
                <a:effectLst/>
                <a:latin typeface="Times New Roman" panose="02020603050405020304" pitchFamily="18" charset="0"/>
                <a:ea typeface="Times New Roman" panose="02020603050405020304" pitchFamily="18" charset="0"/>
              </a:rPr>
              <a:t>. Nella memoria Stack vengono memorizzati temporaneamente i dati definiti da un metodo in esecuzione, e una volta terminato il metodo tali dati saranno rimossi dalla memoria. Nella Heap Memory vengono invece memorizzati gli oggetti e i propri dati, e questi saranno deallocati dalla Garbage Collection automaticamente, quando questa si assicurerà che non siano più utilizzabili dal programma.</a:t>
            </a:r>
          </a:p>
          <a:p>
            <a:r>
              <a:rPr lang="it-IT" sz="1800" b="1" dirty="0">
                <a:effectLst/>
                <a:latin typeface="Times New Roman" panose="02020603050405020304" pitchFamily="18" charset="0"/>
                <a:ea typeface="Times New Roman" panose="02020603050405020304" pitchFamily="18" charset="0"/>
              </a:rPr>
              <a:t>(ICONA BEST PRACTICE)</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si inserisce in questo discorso nel seguente modo. Abbiamo più volte avuto a che fare con passaggi di parametri in metodi, al fine di inizializzare variabili d’istanza. Sino ad ora, per il parametro passato, siamo stati costretti ad inventare un identificatore differente da quello della variabile d’istanza da inizializzare. Invece possiamo usare il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per risolvere eventuali ambiguità. Per esempio, consideriamo la seguente classe:</a:t>
            </a:r>
          </a:p>
          <a:p>
            <a:r>
              <a:rPr lang="it-IT" sz="1800" dirty="0">
                <a:effectLst/>
                <a:latin typeface="Times New Roman" panose="02020603050405020304" pitchFamily="18" charset="0"/>
                <a:ea typeface="Times New Roman" panose="02020603050405020304" pitchFamily="18" charset="0"/>
              </a:rPr>
              <a:t>Tramite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specifichiamo che la variabile referenziata appartiene all’istanza. Di conseguenza la variabile non referenziata sarà il parametro del metodo, senza che vi sia ambiguità. Questo stile di programmazione è in generale considerato preferibile, anzi è da considerarsi uno </a:t>
            </a:r>
            <a:r>
              <a:rPr lang="it-IT" sz="1800" u="sng" dirty="0">
                <a:effectLst/>
                <a:latin typeface="Times New Roman" panose="02020603050405020304" pitchFamily="18" charset="0"/>
                <a:ea typeface="Times New Roman" panose="02020603050405020304" pitchFamily="18" charset="0"/>
              </a:rPr>
              <a:t>standard</a:t>
            </a:r>
            <a:r>
              <a:rPr lang="it-IT" sz="1800" dirty="0">
                <a:effectLst/>
                <a:latin typeface="Times New Roman" panose="02020603050405020304" pitchFamily="18" charset="0"/>
                <a:ea typeface="Times New Roman" panose="02020603050405020304" pitchFamily="18" charset="0"/>
              </a:rPr>
              <a:t>. In questo modo, infatti, non c’è possibilità di confondere i parametri con nomi simili. Nella figura 5.3 è rappresentata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Cliente</a:t>
            </a:r>
            <a:r>
              <a:rPr lang="it-IT" sz="1800" dirty="0">
                <a:effectLst/>
                <a:latin typeface="Times New Roman" panose="02020603050405020304" pitchFamily="18" charset="0"/>
                <a:ea typeface="Times New Roman" panose="02020603050405020304" pitchFamily="18" charset="0"/>
              </a:rPr>
              <a:t> in un diagramma delle classi UML.</a:t>
            </a:r>
          </a:p>
          <a:p>
            <a:r>
              <a:rPr lang="it-IT" sz="1800" b="1" dirty="0">
                <a:solidFill>
                  <a:srgbClr val="0000FF"/>
                </a:solidFill>
                <a:effectLst/>
                <a:latin typeface="Arial" panose="020B0604020202020204" pitchFamily="34" charset="0"/>
                <a:ea typeface="MS Mincho" panose="02020609040205080304" pitchFamily="49" charset="-128"/>
                <a:cs typeface="Times New Roman" panose="02020603050405020304" pitchFamily="18" charset="0"/>
              </a:rPr>
              <a:t>Figura 5.3 - Class Diagram “Classe Cliente”.</a:t>
            </a:r>
            <a:endParaRPr lang="it-IT" sz="1800" dirty="0">
              <a:solidFill>
                <a:srgbClr val="000080"/>
              </a:solidFill>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lettore noti che se scrivessimo:</a:t>
            </a:r>
          </a:p>
          <a:p>
            <a:r>
              <a:rPr lang="it-IT" sz="1800" dirty="0">
                <a:solidFill>
                  <a:srgbClr val="000000"/>
                </a:solidFill>
                <a:effectLst/>
                <a:latin typeface="Courier New" panose="02070309020205020404" pitchFamily="49" charset="0"/>
                <a:ea typeface="Times New Roman" panose="02020603050405020304" pitchFamily="18" charset="0"/>
              </a:rPr>
              <a:t>public class Cliente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private String nome, indirizzo, telefono;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    public void </a:t>
            </a:r>
            <a:r>
              <a:rPr lang="it-IT" sz="1800" dirty="0" err="1">
                <a:solidFill>
                  <a:srgbClr val="000000"/>
                </a:solidFill>
                <a:effectLst/>
                <a:latin typeface="Courier New" panose="02070309020205020404" pitchFamily="49" charset="0"/>
                <a:ea typeface="Times New Roman" panose="02020603050405020304" pitchFamily="18" charset="0"/>
              </a:rPr>
              <a:t>setTelefono</a:t>
            </a:r>
            <a:r>
              <a:rPr lang="it-IT" sz="1800" dirty="0">
                <a:solidFill>
                  <a:srgbClr val="000000"/>
                </a:solidFill>
                <a:effectLst/>
                <a:latin typeface="Courier New" panose="02070309020205020404" pitchFamily="49" charset="0"/>
                <a:ea typeface="Times New Roman" panose="02020603050405020304" pitchFamily="18" charset="0"/>
              </a:rPr>
              <a:t>(String telefono)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telefono = telefono;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    public void </a:t>
            </a:r>
            <a:r>
              <a:rPr lang="it-IT" sz="1800" dirty="0" err="1">
                <a:solidFill>
                  <a:srgbClr val="000000"/>
                </a:solidFill>
                <a:effectLst/>
                <a:latin typeface="Courier New" panose="02070309020205020404" pitchFamily="49" charset="0"/>
                <a:ea typeface="Times New Roman" panose="02020603050405020304" pitchFamily="18" charset="0"/>
              </a:rPr>
              <a:t>setIndirizzo</a:t>
            </a:r>
            <a:r>
              <a:rPr lang="it-IT" sz="1800" dirty="0">
                <a:solidFill>
                  <a:srgbClr val="000000"/>
                </a:solidFill>
                <a:effectLst/>
                <a:latin typeface="Courier New" panose="02070309020205020404" pitchFamily="49" charset="0"/>
                <a:ea typeface="Times New Roman" panose="02020603050405020304" pitchFamily="18" charset="0"/>
              </a:rPr>
              <a:t>(String indirizzo)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indirizzo = indirizzo;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    public void </a:t>
            </a:r>
            <a:r>
              <a:rPr lang="it-IT" sz="1800" dirty="0" err="1">
                <a:solidFill>
                  <a:srgbClr val="000000"/>
                </a:solidFill>
                <a:effectLst/>
                <a:latin typeface="Courier New" panose="02070309020205020404" pitchFamily="49" charset="0"/>
                <a:ea typeface="Times New Roman" panose="02020603050405020304" pitchFamily="18" charset="0"/>
              </a:rPr>
              <a:t>setNome</a:t>
            </a:r>
            <a:r>
              <a:rPr lang="it-IT" sz="1800" dirty="0">
                <a:solidFill>
                  <a:srgbClr val="000000"/>
                </a:solidFill>
                <a:effectLst/>
                <a:latin typeface="Courier New" panose="02070309020205020404" pitchFamily="49" charset="0"/>
                <a:ea typeface="Times New Roman" panose="02020603050405020304" pitchFamily="18" charset="0"/>
              </a:rPr>
              <a:t>(String nome)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nome = nome;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 metodi get omessi...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compilatore, non trovando riferimenti espliciti, considererebbe le variabili sempre locali e quindi non otterremmo il risultato desiderato.</a:t>
            </a:r>
          </a:p>
          <a:p>
            <a:pPr marL="914400"/>
            <a:endParaRPr lang="it-IT" sz="1800" b="1"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548640" indent="-548640">
              <a:spcBef>
                <a:spcPts val="1200"/>
              </a:spcBef>
              <a:spcAft>
                <a:spcPts val="300"/>
              </a:spcAft>
            </a:pPr>
            <a:r>
              <a:rPr lang="it-IT" sz="1800" b="1" dirty="0">
                <a:effectLst/>
                <a:latin typeface="Times New Roman" panose="02020603050405020304" pitchFamily="18" charset="0"/>
                <a:ea typeface="Times New Roman" panose="02020603050405020304" pitchFamily="18" charset="0"/>
              </a:rPr>
              <a:t>HO CAMBIATO NUMERO DI TELEFONO CON TELEFONO</a:t>
            </a:r>
          </a:p>
          <a:p>
            <a:pPr marL="548640" indent="-548640">
              <a:spcBef>
                <a:spcPts val="1200"/>
              </a:spcBef>
              <a:spcAft>
                <a:spcPts val="300"/>
              </a:spcAft>
            </a:pPr>
            <a:endParaRPr lang="it-IT" sz="1800" dirty="0">
              <a:effectLst/>
              <a:latin typeface="Times New Roman" panose="02020603050405020304" pitchFamily="18" charset="0"/>
              <a:ea typeface="Times New Roman" panose="02020603050405020304" pitchFamily="18" charset="0"/>
            </a:endParaRPr>
          </a:p>
          <a:p>
            <a:pPr marL="548640" indent="-548640">
              <a:spcBef>
                <a:spcPts val="1200"/>
              </a:spcBef>
              <a:spcAft>
                <a:spcPts val="300"/>
              </a:spcAft>
            </a:pPr>
            <a:r>
              <a:rPr lang="it-IT" sz="1800" dirty="0">
                <a:effectLst/>
                <a:latin typeface="Times New Roman" panose="02020603050405020304" pitchFamily="18" charset="0"/>
                <a:ea typeface="Times New Roman" panose="02020603050405020304" pitchFamily="18" charset="0"/>
              </a:rPr>
              <a:t>Nella figura 5.3 è rappresentata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Cliente</a:t>
            </a:r>
            <a:r>
              <a:rPr lang="it-IT" sz="1800" dirty="0">
                <a:effectLst/>
                <a:latin typeface="Times New Roman" panose="02020603050405020304" pitchFamily="18" charset="0"/>
                <a:ea typeface="Times New Roman" panose="02020603050405020304" pitchFamily="18" charset="0"/>
              </a:rPr>
              <a:t> in un diagramma delle classi UML.</a:t>
            </a:r>
          </a:p>
        </p:txBody>
      </p:sp>
    </p:spTree>
    <p:extLst>
      <p:ext uri="{BB962C8B-B14F-4D97-AF65-F5344CB8AC3E}">
        <p14:creationId xmlns:p14="http://schemas.microsoft.com/office/powerpoint/2010/main" val="1458477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Nel metodo costruttore abbiamo invocato i metodi setter sfruttando il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In questo caso però, se non avessimo anteposto il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ai metodi setter, avremmo comunque ottenuto lo stesso risultato, visto che il compilatore lo avrebbe inserito implicitamente.</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91404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effectLst/>
                <a:latin typeface="Times New Roman" panose="02020603050405020304" pitchFamily="18" charset="0"/>
                <a:ea typeface="Times New Roman" panose="02020603050405020304" pitchFamily="18" charset="0"/>
              </a:rPr>
              <a:t>HO CAMBIATO NUMERO DI TELEFONO CON TELEFONO</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a:effectLst/>
                <a:latin typeface="Times New Roman" panose="02020603050405020304" pitchFamily="18" charset="0"/>
                <a:ea typeface="Times New Roman" panose="02020603050405020304" pitchFamily="18" charset="0"/>
              </a:rPr>
              <a:t>Più </a:t>
            </a:r>
            <a:r>
              <a:rPr lang="it-IT" sz="1800" dirty="0">
                <a:effectLst/>
                <a:latin typeface="Times New Roman" panose="02020603050405020304" pitchFamily="18" charset="0"/>
                <a:ea typeface="Times New Roman" panose="02020603050405020304" pitchFamily="18" charset="0"/>
              </a:rPr>
              <a:t>interessante è l’uso che si fa solitamente del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con i costruttori. La sintassi cambia visto che per un costruttore l’operatore dot non è utilizzabile. Facciamo direttamente un esempio:</a:t>
            </a:r>
          </a:p>
          <a:p>
            <a:r>
              <a:rPr lang="it-IT" sz="1800" dirty="0">
                <a:effectLst/>
                <a:latin typeface="Times New Roman" panose="02020603050405020304" pitchFamily="18" charset="0"/>
                <a:ea typeface="Times New Roman" panose="02020603050405020304" pitchFamily="18" charset="0"/>
              </a:rPr>
              <a:t>Con l’istruzione in grassetto, abbiamo invocato dal primo costruttore il secondo costruttore. Infatti, abbiamo specificato tre parametri di tipo stringa dopo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this</a:t>
            </a:r>
            <a:r>
              <a:rPr lang="it-IT" sz="1800" dirty="0">
                <a:effectLst/>
                <a:latin typeface="Times New Roman" panose="02020603050405020304" pitchFamily="18" charset="0"/>
                <a:ea typeface="Times New Roman" panose="02020603050405020304" pitchFamily="18" charset="0"/>
              </a:rPr>
              <a:t>, che coincidono con i parametri del secondo costruttore. In questo modo, abbiamo riusato il codice del secondo costruttore, senza dover scrivere di nuovo le stesse istruzioni. Questo tipo di pratica è quindi raccomandato.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L’istruzione per invocare un costruttore, ha il vincolo di poter essere definita solo all’interno di un altro costruttore </a:t>
            </a:r>
            <a:r>
              <a:rPr lang="it-IT" sz="1800" b="1" u="sng" dirty="0">
                <a:solidFill>
                  <a:srgbClr val="000000"/>
                </a:solidFill>
                <a:effectLst/>
                <a:latin typeface="Times New Roman" panose="02020603050405020304" pitchFamily="18" charset="0"/>
                <a:ea typeface="Times New Roman" panose="02020603050405020304" pitchFamily="18" charset="0"/>
              </a:rPr>
              <a:t>come prima istruzione</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2777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effectLst/>
                <a:latin typeface="Times New Roman" panose="02020603050405020304" pitchFamily="18" charset="0"/>
                <a:ea typeface="Times New Roman" panose="02020603050405020304" pitchFamily="18" charset="0"/>
              </a:rPr>
              <a:t>HO CAMBIATO NUMERO DI TELEFONO CON TELEFONO</a:t>
            </a:r>
          </a:p>
          <a:p>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Nella figura 5.4 possiamo notare nella rappresentazione dell’ultima versione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Cliente</a:t>
            </a:r>
            <a:r>
              <a:rPr lang="it-IT" sz="1800" dirty="0">
                <a:effectLst/>
                <a:latin typeface="Times New Roman" panose="02020603050405020304" pitchFamily="18" charset="0"/>
                <a:ea typeface="Times New Roman" panose="02020603050405020304" pitchFamily="18" charset="0"/>
              </a:rPr>
              <a:t>, la sintassi dei costruttori nel diagramma delle classi. Viene utilizzata un cosiddetto </a:t>
            </a:r>
            <a:r>
              <a:rPr lang="it-IT" sz="1800" b="1" dirty="0">
                <a:effectLst/>
                <a:latin typeface="Times New Roman" panose="02020603050405020304" pitchFamily="18" charset="0"/>
                <a:ea typeface="Times New Roman" panose="02020603050405020304" pitchFamily="18" charset="0"/>
              </a:rPr>
              <a:t>stereotipo</a:t>
            </a:r>
            <a:r>
              <a:rPr lang="it-IT" sz="1800" dirty="0">
                <a:effectLst/>
                <a:latin typeface="Times New Roman" panose="02020603050405020304" pitchFamily="18" charset="0"/>
                <a:ea typeface="Times New Roman" panose="02020603050405020304" pitchFamily="18" charset="0"/>
              </a:rPr>
              <a:t> UML, ovvero una parola (di solito un sostantivo o un aggettivo) che caratterizza ciò che stiamo dichiarando. Nel nostro caso, con lo stereotipo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&lt;&lt;constructor&gt;&gt;</a:t>
            </a:r>
            <a:r>
              <a:rPr lang="it-IT" sz="1800" dirty="0">
                <a:effectLst/>
                <a:latin typeface="Times New Roman" panose="02020603050405020304" pitchFamily="18" charset="0"/>
                <a:ea typeface="Times New Roman" panose="02020603050405020304" pitchFamily="18" charset="0"/>
              </a:rPr>
              <a:t> viene reso più evidente il fatto che stiamo dichiarando appunto un costruttore, e non un metodo qualsiasi.</a:t>
            </a:r>
          </a:p>
        </p:txBody>
      </p:sp>
    </p:spTree>
    <p:extLst>
      <p:ext uri="{BB962C8B-B14F-4D97-AF65-F5344CB8AC3E}">
        <p14:creationId xmlns:p14="http://schemas.microsoft.com/office/powerpoint/2010/main" val="3742708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t>Ci sono rari casi in cui si potrebbe evitare, per esempio quando si sviluppano interfacce grafiche, ma ne parleremo più avanti. </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solidFill>
                  <a:srgbClr val="000000"/>
                </a:solidFill>
                <a:effectLst/>
                <a:latin typeface="Times New Roman" panose="02020603050405020304" pitchFamily="18" charset="0"/>
                <a:ea typeface="Times New Roman" panose="02020603050405020304" pitchFamily="18" charset="0"/>
              </a:rPr>
              <a:t>L’incapsulamento è sempre raccomandato in Java. Un linguaggio orientato agli oggetti “puro”, infatti, non permetterebbe neanche la dichiarazione di attributi pubblici. Java però, permettendo la dichiarazione di variabili d’istanza pubbliche, non costringe l’aspirante programmatore ad imparare prematuramente un concetto quale l’incapsulamento. In particolare, nei primi tempi, non se ne apprezzerebbe completamente l’utilizzo, dovendo approcciare a troppi concetti nuovi contemporaneamente.</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27154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generale, di solito l’incapsulamento si riduce semplicemente nel creare le nostre classi con attributi privati e relativi metodi set e get. Iniziamo quindi a prendere subito questa buona abitudine, le variabili delle nostre classi vanno sempre dichiarate private, fornendo a corredo i metodi setter e getter per renderle utilizzabili all’esterno della classe. </a:t>
            </a:r>
          </a:p>
          <a:p>
            <a:endParaRPr lang="it-IT"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Ma bisogna per forza dichiarare entrambi i metodi set e get per ogni variabile? Di solito sì, ma se per esempio vogliamo limitare l’accesso della variabile d’istanza al di fuori della classe, è possibile anche evitare di dichiarare il metodo set (se non vogliamo che possa essere impostata al di fuori della classe), il metodo get (nel caso vogliamo impedirne la lettura al di fuori della classe), o anche entrambi i metodi (in questo caso la variabile esisterà e sarà gestita solo all’interno della stessa classe dove è stata definita). Per esempio, ci sono casi in cui è necessario dichiarare classi le cui variabili d’istanza possono essere impostate una sola volta nel momento in cui si istanziano, e il cui valore non cambierà nel tempo. Le istanze di tali classi, sono dette </a:t>
            </a:r>
            <a:r>
              <a:rPr lang="it-IT" sz="1800" b="1" dirty="0">
                <a:effectLst/>
                <a:latin typeface="Times New Roman" panose="02020603050405020304" pitchFamily="18" charset="0"/>
                <a:ea typeface="Times New Roman" panose="02020603050405020304" pitchFamily="18" charset="0"/>
              </a:rPr>
              <a:t>oggetti immutabili</a:t>
            </a:r>
            <a:r>
              <a:rPr lang="it-IT" sz="1800" dirty="0">
                <a:effectLst/>
                <a:latin typeface="Times New Roman" panose="02020603050405020304" pitchFamily="18" charset="0"/>
                <a:ea typeface="Times New Roman" panose="02020603050405020304" pitchFamily="18" charset="0"/>
              </a:rPr>
              <a:t>, ovvero il loro stato non cambia nel tempo. Come vedremo più avanti, esse sono molto importanti nella programmazione. Per esempio, la seguente classe astrae il concetto di punto fisso:</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Il valore delle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non è modificabile una volta istanziato un oggetto.</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89187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Le classi hanno diversi ruoli all’interno di un’applicazione. Alcune definiscono metodi che gestiscono le funzionalità dell’applicazione, e vengono dette a volte </a:t>
            </a:r>
            <a:r>
              <a:rPr lang="it-IT" sz="1800" b="1" dirty="0">
                <a:effectLst/>
                <a:latin typeface="Times New Roman" panose="02020603050405020304" pitchFamily="18" charset="0"/>
                <a:ea typeface="Times New Roman" panose="02020603050405020304" pitchFamily="18" charset="0"/>
              </a:rPr>
              <a:t>classi di business</a:t>
            </a:r>
            <a:r>
              <a:rPr lang="it-IT" sz="1800" dirty="0">
                <a:effectLst/>
                <a:latin typeface="Times New Roman" panose="02020603050405020304" pitchFamily="18" charset="0"/>
                <a:ea typeface="Times New Roman" panose="02020603050405020304" pitchFamily="18" charset="0"/>
              </a:rPr>
              <a:t>. Altre definiscono metodi di utilità e forse nessun attributo, e vengono dette </a:t>
            </a:r>
            <a:r>
              <a:rPr lang="it-IT" sz="1800" b="1" dirty="0">
                <a:effectLst/>
                <a:latin typeface="Times New Roman" panose="02020603050405020304" pitchFamily="18" charset="0"/>
                <a:ea typeface="Times New Roman" panose="02020603050405020304" pitchFamily="18" charset="0"/>
              </a:rPr>
              <a:t>classi di utilità</a:t>
            </a:r>
            <a:r>
              <a:rPr lang="it-IT" sz="1800" dirty="0">
                <a:effectLst/>
                <a:latin typeface="Times New Roman" panose="02020603050405020304" pitchFamily="18" charset="0"/>
                <a:ea typeface="Times New Roman" panose="02020603050405020304" pitchFamily="18" charset="0"/>
              </a:rPr>
              <a:t>. Altre invece sono classi che rappresentano </a:t>
            </a:r>
            <a:r>
              <a:rPr lang="it-IT" sz="1800" b="1"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dell’applicazione, e gli unici metodi che dichiarano, sono i metodi setter e i getter relativi ai propri attributi. Per esempio, abbiamo già notato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è una classe che appartiene a quest’ultima tipologia. Java 14 ha introdotto un nuovo tipo Java: i </a:t>
            </a:r>
            <a:r>
              <a:rPr lang="it-IT" sz="1800" b="1" dirty="0">
                <a:effectLst/>
                <a:latin typeface="Times New Roman" panose="02020603050405020304" pitchFamily="18" charset="0"/>
                <a:ea typeface="Times New Roman" panose="02020603050405020304" pitchFamily="18" charset="0"/>
              </a:rPr>
              <a:t>record</a:t>
            </a:r>
            <a:r>
              <a:rPr lang="it-IT" sz="1800" dirty="0">
                <a:effectLst/>
                <a:latin typeface="Times New Roman" panose="02020603050405020304" pitchFamily="18" charset="0"/>
                <a:ea typeface="Times New Roman" panose="02020603050405020304" pitchFamily="18" charset="0"/>
              </a:rPr>
              <a:t>. Si tratta di una delle più importanti novità introdotte nella storia del linguaggio.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Nelle versioni di Java 14 e 15, i record sono usabili ancora solo come feature preview (cfr. approfondimento 4.4)</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 record è un nuovo tipo di classe che usufruisce di una sintassi minimale per essere dichiarata. Tale sintassi è progettata per essere utilizzata per le classi che rappresentano dati immutabili:</a:t>
            </a:r>
          </a:p>
          <a:p>
            <a:r>
              <a:rPr lang="it-IT" sz="1800" dirty="0">
                <a:solidFill>
                  <a:srgbClr val="000000"/>
                </a:solidFill>
                <a:effectLst/>
                <a:latin typeface="Courier New" panose="02070309020205020404" pitchFamily="49" charset="0"/>
                <a:ea typeface="Times New Roman" panose="02020603050405020304" pitchFamily="18" charset="0"/>
              </a:rPr>
              <a:t>[modificatori] record identificatore (header)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Dove con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header</a:t>
            </a:r>
            <a:r>
              <a:rPr lang="it-IT" sz="1800" dirty="0">
                <a:effectLst/>
                <a:latin typeface="Times New Roman" panose="02020603050405020304" pitchFamily="18" charset="0"/>
                <a:ea typeface="Times New Roman" panose="02020603050405020304" pitchFamily="18" charset="0"/>
              </a:rPr>
              <a:t>, si intende una lista di dichiarazioni di variabili separate da virgole, e che rappresenteranno gli attributi del record. Per esempio, 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PuntoFisso</a:t>
            </a:r>
            <a:r>
              <a:rPr lang="it-IT" sz="1800" dirty="0">
                <a:effectLst/>
                <a:latin typeface="Times New Roman" panose="02020603050405020304" pitchFamily="18" charset="0"/>
                <a:ea typeface="Times New Roman" panose="02020603050405020304" pitchFamily="18" charset="0"/>
              </a:rPr>
              <a:t> che abbiamo dichiarato nel precedente paragrafo, è una perfetta candidata per essere rappresentata come record:</a:t>
            </a:r>
          </a:p>
          <a:p>
            <a:r>
              <a:rPr lang="it-IT" sz="1800" dirty="0">
                <a:solidFill>
                  <a:srgbClr val="000000"/>
                </a:solidFill>
                <a:effectLst/>
                <a:latin typeface="Courier New" panose="02070309020205020404" pitchFamily="49" charset="0"/>
                <a:ea typeface="Times New Roman" panose="02020603050405020304" pitchFamily="18" charset="0"/>
              </a:rPr>
              <a:t>public record </a:t>
            </a:r>
            <a:r>
              <a:rPr lang="it-IT" sz="1800" dirty="0" err="1">
                <a:solidFill>
                  <a:srgbClr val="000000"/>
                </a:solidFill>
                <a:effectLst/>
                <a:latin typeface="Courier New" panose="02070309020205020404" pitchFamily="49" charset="0"/>
                <a:ea typeface="Times New Roman" panose="02020603050405020304" pitchFamily="18" charset="0"/>
              </a:rPr>
              <a:t>PuntoRecord</a:t>
            </a:r>
            <a:r>
              <a:rPr lang="it-IT" sz="1800" dirty="0">
                <a:solidFill>
                  <a:srgbClr val="000000"/>
                </a:solidFill>
                <a:effectLst/>
                <a:latin typeface="Courier New" panose="02070309020205020404" pitchFamily="49" charset="0"/>
                <a:ea typeface="Times New Roman" panose="02020603050405020304" pitchFamily="18" charset="0"/>
              </a:rPr>
              <a:t>(int x, int y)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pratica, il compilatore compilerà il record come una classe equivalente alla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PuntoFisso</a:t>
            </a:r>
            <a:r>
              <a:rPr lang="it-IT" sz="1800" dirty="0">
                <a:effectLst/>
                <a:latin typeface="Times New Roman" panose="02020603050405020304" pitchFamily="18" charset="0"/>
                <a:ea typeface="Times New Roman" panose="02020603050405020304" pitchFamily="18" charset="0"/>
              </a:rPr>
              <a:t>, con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dichiarate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i relativi metodi getter, e un costruttore per settare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Inoltre, il compilatore aggiungerà altri metodi che solitamente tutte le classi dichiarano: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equals</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hashcode</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toString</a:t>
            </a:r>
            <a:r>
              <a:rPr lang="it-IT" sz="1800" dirty="0">
                <a:effectLst/>
                <a:latin typeface="Times New Roman" panose="02020603050405020304" pitchFamily="18" charset="0"/>
                <a:ea typeface="Times New Roman" panose="02020603050405020304" pitchFamily="18" charset="0"/>
              </a:rPr>
              <a:t>, di cui parleremo nel prossimo capitolo. Infine, i record seguono regole speciali, che approfondiremo durante lo studio di questo libro.</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17913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già incontrato diversi </a:t>
            </a:r>
            <a:r>
              <a:rPr lang="it-IT" sz="1800" b="1" dirty="0">
                <a:effectLst/>
                <a:latin typeface="Times New Roman" panose="02020603050405020304" pitchFamily="18" charset="0"/>
                <a:ea typeface="Times New Roman" panose="02020603050405020304" pitchFamily="18" charset="0"/>
              </a:rPr>
              <a:t>modificatori</a:t>
            </a:r>
            <a:r>
              <a:rPr lang="it-IT" sz="1800" dirty="0">
                <a:effectLst/>
                <a:latin typeface="Times New Roman" panose="02020603050405020304" pitchFamily="18" charset="0"/>
                <a:ea typeface="Times New Roman" panose="02020603050405020304" pitchFamily="18" charset="0"/>
              </a:rPr>
              <a:t> e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Un modificatore è una parola chiave capace di cambiare il significato di un componente di un’applicazione Java. Come già asserito nel capitolo 1, un modificatore sta ad un componente di un’applicazione Java, come un aggettivo sta ad un sostantivo nel linguaggio umano. Ogni modificatore si applica a uno o più tipologie di componenti Java. Tra queste tipologie sono comprese classi (e in generale tutti i tipi Java), metodi, variabili d’istanza, variabili locali, attributi di metodi e costruttori, ma ne esistono anche altre di cui non abbiamo ancora introdotto.</a:t>
            </a:r>
          </a:p>
          <a:p>
            <a:r>
              <a:rPr lang="it-IT" sz="1800" dirty="0">
                <a:effectLst/>
                <a:latin typeface="Times New Roman" panose="02020603050405020304" pitchFamily="18" charset="0"/>
                <a:ea typeface="Times New Roman" panose="02020603050405020304" pitchFamily="18" charset="0"/>
              </a:rPr>
              <a:t>I modificatori protagonisti di questo capitolo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vengono meglio definiti come </a:t>
            </a:r>
            <a:r>
              <a:rPr lang="it-IT" sz="1800" b="1" dirty="0">
                <a:effectLst/>
                <a:latin typeface="Times New Roman" panose="02020603050405020304" pitchFamily="18" charset="0"/>
                <a:ea typeface="Times New Roman" panose="02020603050405020304" pitchFamily="18" charset="0"/>
              </a:rPr>
              <a:t>modificatori di accesso</a:t>
            </a:r>
            <a:r>
              <a:rPr lang="it-IT" sz="1800" dirty="0">
                <a:effectLst/>
                <a:latin typeface="Times New Roman" panose="02020603050405020304" pitchFamily="18" charset="0"/>
                <a:ea typeface="Times New Roman" panose="02020603050405020304" pitchFamily="18" charset="0"/>
              </a:rPr>
              <a:t> (o anche </a:t>
            </a:r>
            <a:r>
              <a:rPr lang="it-IT" sz="1800" b="1" dirty="0">
                <a:effectLst/>
                <a:latin typeface="Times New Roman" panose="02020603050405020304" pitchFamily="18" charset="0"/>
                <a:ea typeface="Times New Roman" panose="02020603050405020304" pitchFamily="18" charset="0"/>
              </a:rPr>
              <a:t>specificatori d’accesso</a:t>
            </a:r>
            <a:r>
              <a:rPr lang="it-IT" sz="1800" dirty="0">
                <a:effectLst/>
                <a:latin typeface="Times New Roman" panose="02020603050405020304" pitchFamily="18" charset="0"/>
                <a:ea typeface="Times New Roman" panose="02020603050405020304" pitchFamily="18" charset="0"/>
              </a:rPr>
              <a:t>) perché regolano essenzialmente la visibilità e l’accesso ad un componente Java. Esiste anche un terzo modificatore d’accesso chiamato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dirty="0">
                <a:effectLst/>
                <a:latin typeface="Times New Roman" panose="02020603050405020304" pitchFamily="18" charset="0"/>
                <a:ea typeface="Times New Roman" panose="02020603050405020304" pitchFamily="18" charset="0"/>
              </a:rPr>
              <a:t>, ed un’altra opzione è quella di </a:t>
            </a:r>
            <a:r>
              <a:rPr lang="it-IT" sz="1800" b="1" dirty="0">
                <a:effectLst/>
                <a:latin typeface="Times New Roman" panose="02020603050405020304" pitchFamily="18" charset="0"/>
                <a:ea typeface="Times New Roman" panose="02020603050405020304" pitchFamily="18" charset="0"/>
              </a:rPr>
              <a:t>non usare modificatori d’accesso</a:t>
            </a:r>
            <a:r>
              <a:rPr lang="it-IT" sz="1800" dirty="0">
                <a:effectLst/>
                <a:latin typeface="Times New Roman" panose="02020603050405020304" pitchFamily="18" charset="0"/>
                <a:ea typeface="Times New Roman" panose="02020603050405020304" pitchFamily="18" charset="0"/>
              </a:rPr>
              <a:t> (in questo caso si parla di </a:t>
            </a:r>
            <a:r>
              <a:rPr lang="it-IT" sz="1800" b="1" dirty="0">
                <a:effectLst/>
                <a:latin typeface="Times New Roman" panose="02020603050405020304" pitchFamily="18" charset="0"/>
                <a:ea typeface="Times New Roman" panose="02020603050405020304" pitchFamily="18" charset="0"/>
              </a:rPr>
              <a:t>visibilità di package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APPROFONDIMENTO 5.3]</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I  modificatori d’accesso sono strettamente legati al concetto di package. Un breve approfondimento su come sono fatti i package, come si possono gestire da riga di comando, e una veloce introduzione ai moduli, lo trovate nell’approfondimento 5.3 online.</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26331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Sappiamo già che il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può essere applicato sia ad un membro (attributo o metodo) di una classe, sia ad una classe stessa. Sappiamo anche che un membro dichiarato pubblico sarà accessibile, da una qualsiasi classe situata in qualsiasi package, e che per l’incapsulamento le variabili d’istanza non dovrebbero mai essere dichiarate pubbliche. Una classe dichiarata pubblica sarà anch’essa visibile da un qualsiasi package (a meno di dichiarazione di moduli).</a:t>
            </a:r>
          </a:p>
          <a:p>
            <a:r>
              <a:rPr lang="it-IT" sz="1800" dirty="0">
                <a:effectLst/>
                <a:latin typeface="Times New Roman" panose="02020603050405020304" pitchFamily="18" charset="0"/>
                <a:ea typeface="Times New Roman" panose="02020603050405020304" pitchFamily="18" charset="0"/>
              </a:rPr>
              <a:t>Per esempio consideriamo la seguente classe pubblica che dichiara una variabile pubblica e un metodo pubblico: </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it-IT" sz="1800" dirty="0" err="1">
                <a:solidFill>
                  <a:srgbClr val="000000"/>
                </a:solidFill>
                <a:effectLst/>
                <a:latin typeface="Courier New" panose="02070309020205020404" pitchFamily="49" charset="0"/>
                <a:ea typeface="Times New Roman" panose="02020603050405020304" pitchFamily="18" charset="0"/>
              </a:rPr>
              <a:t>com.cdsc.test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PublicInClasse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a:t>
            </a:r>
            <a:r>
              <a:rPr lang="it-IT" sz="1800" dirty="0" err="1">
                <a:solidFill>
                  <a:srgbClr val="000000"/>
                </a:solidFill>
                <a:effectLst/>
                <a:latin typeface="Courier New" panose="02070309020205020404" pitchFamily="49" charset="0"/>
                <a:ea typeface="Times New Roman" panose="02020603050405020304" pitchFamily="18" charset="0"/>
              </a:rPr>
              <a:t>variabilePublic</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    public void </a:t>
            </a:r>
            <a:r>
              <a:rPr lang="it-IT" sz="1800" dirty="0" err="1">
                <a:solidFill>
                  <a:srgbClr val="000000"/>
                </a:solidFill>
                <a:effectLst/>
                <a:latin typeface="Courier New" panose="02070309020205020404" pitchFamily="49" charset="0"/>
                <a:ea typeface="Times New Roman" panose="02020603050405020304" pitchFamily="18" charset="0"/>
              </a:rPr>
              <a:t>metodoPublic</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System.out.println("Invocato metodo public");</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classe è dichiarata pubblica e dichiara membri pubblici, quindi la seguente classe compilerà senza problemi:</a:t>
            </a:r>
          </a:p>
          <a:p>
            <a:r>
              <a:rPr lang="en-GB" sz="1800" dirty="0">
                <a:solidFill>
                  <a:srgbClr val="000000"/>
                </a:solidFill>
                <a:effectLst/>
                <a:latin typeface="Courier New" panose="02070309020205020404" pitchFamily="49" charset="0"/>
                <a:ea typeface="Times New Roman" panose="02020603050405020304" pitchFamily="18" charset="0"/>
              </a:rPr>
              <a:t>package </a:t>
            </a:r>
            <a:r>
              <a:rPr lang="en-GB" sz="1800" dirty="0" err="1">
                <a:solidFill>
                  <a:srgbClr val="000000"/>
                </a:solidFill>
                <a:effectLst/>
                <a:latin typeface="Courier New" panose="02070309020205020404" pitchFamily="49" charset="0"/>
                <a:ea typeface="Times New Roman" panose="02020603050405020304" pitchFamily="18" charset="0"/>
              </a:rPr>
              <a:t>com.cdsc</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a:t>
            </a:r>
            <a:r>
              <a:rPr lang="it-IT" sz="1800" dirty="0" err="1">
                <a:solidFill>
                  <a:srgbClr val="000000"/>
                </a:solidFill>
                <a:effectLst/>
                <a:latin typeface="Courier New" panose="02070309020205020404" pitchFamily="49" charset="0"/>
                <a:ea typeface="Times New Roman" panose="02020603050405020304" pitchFamily="18" charset="0"/>
              </a:rPr>
              <a:t>com.cdsc.test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PublicClasseFuoriPackage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void </a:t>
            </a:r>
            <a:r>
              <a:rPr lang="it-IT" sz="1800" dirty="0" err="1">
                <a:solidFill>
                  <a:srgbClr val="000000"/>
                </a:solidFill>
                <a:effectLst/>
                <a:latin typeface="Courier New" panose="02070309020205020404" pitchFamily="49" charset="0"/>
                <a:ea typeface="Times New Roman" panose="02020603050405020304" pitchFamily="18" charset="0"/>
              </a:rPr>
              <a:t>metodoCheUsaPublic</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en-US" sz="1800" dirty="0">
                <a:solidFill>
                  <a:srgbClr val="000000"/>
                </a:solidFill>
                <a:effectLst/>
                <a:latin typeface="Courier New" panose="02070309020205020404" pitchFamily="49" charset="0"/>
                <a:ea typeface="Times New Roman" panose="02020603050405020304" pitchFamily="18" charset="0"/>
              </a:rPr>
              <a:t>var</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publicInClasse</a:t>
            </a:r>
            <a:r>
              <a:rPr lang="it-IT" sz="1800" dirty="0">
                <a:solidFill>
                  <a:srgbClr val="000000"/>
                </a:solidFill>
                <a:effectLst/>
                <a:latin typeface="Courier New" panose="02070309020205020404" pitchFamily="49" charset="0"/>
                <a:ea typeface="Times New Roman" panose="02020603050405020304" pitchFamily="18" charset="0"/>
              </a:rPr>
              <a:t> = new </a:t>
            </a:r>
            <a:r>
              <a:rPr lang="it-IT" sz="1800" dirty="0" err="1">
                <a:solidFill>
                  <a:srgbClr val="000000"/>
                </a:solidFill>
                <a:effectLst/>
                <a:latin typeface="Courier New" panose="02070309020205020404" pitchFamily="49" charset="0"/>
                <a:ea typeface="Times New Roman" panose="02020603050405020304" pitchFamily="18" charset="0"/>
              </a:rPr>
              <a:t>PublicInClasse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publicInClasse.metodoPublic</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a:t>
            </a:r>
            <a:r>
              <a:rPr lang="it-IT" sz="1800" dirty="0" err="1">
                <a:solidFill>
                  <a:srgbClr val="000000"/>
                </a:solidFill>
                <a:effectLst/>
                <a:latin typeface="Courier New" panose="02070309020205020404" pitchFamily="49" charset="0"/>
                <a:ea typeface="Times New Roman" panose="02020603050405020304" pitchFamily="18" charset="0"/>
              </a:rPr>
              <a:t>publicInClasse.variabilePublic</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14140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Anche se le sottoclassi saranno l’argomento principale del prossimo capitolo dedicato all’ereditarietà, per poter affrontare il discorso sul modificatore d’accesso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dirty="0">
                <a:effectLst/>
                <a:latin typeface="Times New Roman" panose="02020603050405020304" pitchFamily="18" charset="0"/>
                <a:ea typeface="Times New Roman" panose="02020603050405020304" pitchFamily="18" charset="0"/>
              </a:rPr>
              <a:t>, è utile quantomeno avere un’idea di cosa sia una sottoclasse. Una </a:t>
            </a:r>
            <a:r>
              <a:rPr lang="it-IT" sz="1800" b="1" dirty="0">
                <a:effectLst/>
                <a:latin typeface="Times New Roman" panose="02020603050405020304" pitchFamily="18" charset="0"/>
                <a:ea typeface="Times New Roman" panose="02020603050405020304" pitchFamily="18" charset="0"/>
              </a:rPr>
              <a:t>sottoclasse</a:t>
            </a:r>
            <a:r>
              <a:rPr lang="it-IT" sz="1800" dirty="0">
                <a:effectLst/>
                <a:latin typeface="Times New Roman" panose="02020603050405020304" pitchFamily="18" charset="0"/>
                <a:ea typeface="Times New Roman" panose="02020603050405020304" pitchFamily="18" charset="0"/>
              </a:rPr>
              <a:t> è una classe che estende un’altra classe ereditandone le caratteristiche. Per esempio, supponiamo di avere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Dipendente</a:t>
            </a:r>
            <a:r>
              <a:rPr lang="it-IT" sz="1800" dirty="0">
                <a:effectLst/>
                <a:latin typeface="Times New Roman" panose="02020603050405020304" pitchFamily="18" charset="0"/>
                <a:ea typeface="Times New Roman" panose="02020603050405020304" pitchFamily="18" charset="0"/>
              </a:rPr>
              <a:t> e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Programmatore</a:t>
            </a:r>
            <a:r>
              <a:rPr lang="it-IT" sz="1800" dirty="0">
                <a:effectLst/>
                <a:latin typeface="Times New Roman" panose="02020603050405020304" pitchFamily="18" charset="0"/>
                <a:ea typeface="Times New Roman" panose="02020603050405020304" pitchFamily="18" charset="0"/>
              </a:rPr>
              <a:t> che condividono alcune caratteristiche. In particolare supponiamo che entrambe le classi dichiarino 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matricola</a:t>
            </a:r>
            <a:r>
              <a:rPr lang="it-IT" sz="1800" dirty="0">
                <a:effectLst/>
                <a:latin typeface="Times New Roman" panose="02020603050405020304" pitchFamily="18" charset="0"/>
                <a:ea typeface="Times New Roman" panose="02020603050405020304" pitchFamily="18" charset="0"/>
              </a:rPr>
              <a:t> 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annoDiAssunzione</a:t>
            </a:r>
            <a:r>
              <a:rPr lang="it-IT" sz="1800" dirty="0">
                <a:effectLst/>
                <a:latin typeface="Times New Roman" panose="02020603050405020304" pitchFamily="18" charset="0"/>
                <a:ea typeface="Times New Roman" panose="02020603050405020304" pitchFamily="18" charset="0"/>
              </a:rPr>
              <a:t>, ma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Programmatore</a:t>
            </a:r>
            <a:r>
              <a:rPr lang="it-IT" sz="1800" dirty="0">
                <a:effectLst/>
                <a:latin typeface="Times New Roman" panose="02020603050405020304" pitchFamily="18" charset="0"/>
                <a:ea typeface="Times New Roman" panose="02020603050405020304" pitchFamily="18" charset="0"/>
              </a:rPr>
              <a:t> dichiari anche un array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certificazioni</a:t>
            </a:r>
            <a:r>
              <a:rPr lang="it-IT" sz="1800" dirty="0">
                <a:effectLst/>
                <a:latin typeface="Times New Roman" panose="02020603050405020304" pitchFamily="18" charset="0"/>
                <a:ea typeface="Times New Roman" panose="02020603050405020304" pitchFamily="18" charset="0"/>
              </a:rPr>
              <a:t>. Queste classi possono essere messe in relazione di </a:t>
            </a:r>
            <a:r>
              <a:rPr lang="it-IT" sz="1800" b="1" dirty="0">
                <a:effectLst/>
                <a:latin typeface="Times New Roman" panose="02020603050405020304" pitchFamily="18" charset="0"/>
                <a:ea typeface="Times New Roman" panose="02020603050405020304" pitchFamily="18" charset="0"/>
              </a:rPr>
              <a:t>ereditarietà</a:t>
            </a:r>
            <a:r>
              <a:rPr lang="it-IT" sz="1800" dirty="0">
                <a:effectLst/>
                <a:latin typeface="Times New Roman" panose="02020603050405020304" pitchFamily="18" charset="0"/>
                <a:ea typeface="Times New Roman" panose="02020603050405020304" pitchFamily="18" charset="0"/>
              </a:rPr>
              <a:t> tra loro, scrivendo semplicemente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Programmatore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estende</a:t>
            </a:r>
            <a:r>
              <a:rPr lang="it-IT" sz="1800" dirty="0">
                <a:effectLst/>
                <a:latin typeface="Times New Roman" panose="02020603050405020304" pitchFamily="18" charset="0"/>
                <a:ea typeface="Times New Roman" panose="02020603050405020304" pitchFamily="18" charset="0"/>
              </a:rPr>
              <a:t>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Dipendente</a:t>
            </a:r>
            <a:r>
              <a:rPr lang="it-IT" sz="1800" dirty="0">
                <a:effectLst/>
                <a:latin typeface="Times New Roman" panose="02020603050405020304" pitchFamily="18" charset="0"/>
                <a:ea typeface="Times New Roman" panose="02020603050405020304" pitchFamily="18" charset="0"/>
              </a:rPr>
              <a:t>. Così facendo,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Programmatore</a:t>
            </a:r>
            <a:r>
              <a:rPr lang="it-IT" sz="1800" dirty="0">
                <a:effectLst/>
                <a:latin typeface="Times New Roman" panose="02020603050405020304" pitchFamily="18" charset="0"/>
                <a:ea typeface="Times New Roman" panose="02020603050405020304" pitchFamily="18" charset="0"/>
              </a:rPr>
              <a:t> non deve ridichiarare tutte le caratteristiche in comune con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Dipendente</a:t>
            </a:r>
            <a:r>
              <a:rPr lang="it-IT" sz="1800" dirty="0">
                <a:effectLst/>
                <a:latin typeface="Times New Roman" panose="02020603050405020304" pitchFamily="18" charset="0"/>
                <a:ea typeface="Times New Roman" panose="02020603050405020304" pitchFamily="18" charset="0"/>
              </a:rPr>
              <a:t> (perché saranno ereditate).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Dipendente</a:t>
            </a:r>
            <a:r>
              <a:rPr lang="it-IT" sz="1800" dirty="0">
                <a:effectLst/>
                <a:latin typeface="Times New Roman" panose="02020603050405020304" pitchFamily="18" charset="0"/>
                <a:ea typeface="Times New Roman" panose="02020603050405020304" pitchFamily="18" charset="0"/>
              </a:rPr>
              <a:t> potrebbe essere codificata così:</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23</a:t>
            </a:fld>
            <a:endParaRPr lang="it-IT"/>
          </a:p>
        </p:txBody>
      </p:sp>
    </p:spTree>
    <p:extLst>
      <p:ext uri="{BB962C8B-B14F-4D97-AF65-F5344CB8AC3E}">
        <p14:creationId xmlns:p14="http://schemas.microsoft.com/office/powerpoint/2010/main" val="2710773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Programmatore</a:t>
            </a:r>
            <a:r>
              <a:rPr lang="it-IT" sz="1800" dirty="0">
                <a:effectLst/>
                <a:latin typeface="Times New Roman" panose="02020603050405020304" pitchFamily="18" charset="0"/>
                <a:ea typeface="Times New Roman" panose="02020603050405020304" pitchFamily="18" charset="0"/>
              </a:rPr>
              <a:t> può quindi usare la parola chiave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extends</a:t>
            </a:r>
            <a:r>
              <a:rPr lang="it-IT" sz="1800" dirty="0">
                <a:effectLst/>
                <a:latin typeface="Times New Roman" panose="02020603050405020304" pitchFamily="18" charset="0"/>
                <a:ea typeface="Times New Roman" panose="02020603050405020304" pitchFamily="18" charset="0"/>
              </a:rPr>
              <a:t> per ereditare i metodi pubblici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Dipendente</a:t>
            </a:r>
            <a:r>
              <a:rPr lang="it-IT" sz="1800" dirty="0">
                <a:effectLst/>
                <a:latin typeface="Times New Roman" panose="02020603050405020304" pitchFamily="18" charset="0"/>
                <a:ea typeface="Times New Roman" panose="02020603050405020304" pitchFamily="18" charset="0"/>
              </a:rPr>
              <a:t>, ed usarli all’interno del costruttore:</a:t>
            </a:r>
          </a:p>
        </p:txBody>
      </p:sp>
    </p:spTree>
    <p:extLst>
      <p:ext uri="{BB962C8B-B14F-4D97-AF65-F5344CB8AC3E}">
        <p14:creationId xmlns:p14="http://schemas.microsoft.com/office/powerpoint/2010/main" val="2957660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modificatore d’accesso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dirty="0">
                <a:effectLst/>
                <a:latin typeface="Times New Roman" panose="02020603050405020304" pitchFamily="18" charset="0"/>
                <a:ea typeface="Times New Roman" panose="02020603050405020304" pitchFamily="18" charset="0"/>
              </a:rPr>
              <a:t> definisce per un membro il grado più accessibile dopo quello definito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Un membro protetto infatti, sarà accessibile all’interno dello stesso package, ma verrà anche ereditato in tutte le sottoclassi della classe in cui è definito, anche se non appartenenti allo stesso package.</a:t>
            </a:r>
          </a:p>
          <a:p>
            <a:r>
              <a:rPr lang="it-IT" sz="1800" dirty="0">
                <a:effectLst/>
                <a:latin typeface="Times New Roman" panose="02020603050405020304" pitchFamily="18" charset="0"/>
                <a:ea typeface="Times New Roman" panose="02020603050405020304" pitchFamily="18" charset="0"/>
              </a:rPr>
              <a:t>Per esempio consideriamo la seguente classe che dichiara una variabile e un metodo protetti:</a:t>
            </a:r>
          </a:p>
          <a:p>
            <a:endParaRPr lang="it-IT"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La seguente classe appartenente allo stesso package compilerà senza problemi:</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25</a:t>
            </a:fld>
            <a:endParaRPr lang="it-IT"/>
          </a:p>
        </p:txBody>
      </p:sp>
    </p:spTree>
    <p:extLst>
      <p:ext uri="{BB962C8B-B14F-4D97-AF65-F5344CB8AC3E}">
        <p14:creationId xmlns:p14="http://schemas.microsoft.com/office/powerpoint/2010/main" val="38096026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Invece, compilando la seguente classe appartenente ad un altro package:</a:t>
            </a:r>
          </a:p>
          <a:p>
            <a:endParaRPr lang="it-IT" sz="1800"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solidFill>
                  <a:srgbClr val="000000"/>
                </a:solidFill>
                <a:effectLst/>
                <a:latin typeface="Times New Roman" panose="02020603050405020304" pitchFamily="18" charset="0"/>
                <a:ea typeface="Times New Roman" panose="02020603050405020304" pitchFamily="18" charset="0"/>
              </a:rPr>
              <a:t>Diversamente dal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b="1" dirty="0">
                <a:solidFill>
                  <a:srgbClr val="000000"/>
                </a:solidFill>
                <a:effectLst/>
                <a:latin typeface="Times New Roman" panose="02020603050405020304" pitchFamily="18" charset="0"/>
                <a:ea typeface="Times New Roman" panose="02020603050405020304" pitchFamily="18" charset="0"/>
              </a:rPr>
              <a:t>, il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b="1" dirty="0">
                <a:solidFill>
                  <a:srgbClr val="000000"/>
                </a:solidFill>
                <a:effectLst/>
                <a:latin typeface="Times New Roman" panose="02020603050405020304" pitchFamily="18" charset="0"/>
                <a:ea typeface="Times New Roman" panose="02020603050405020304" pitchFamily="18" charset="0"/>
              </a:rPr>
              <a:t> non è applicabile alla dichiarazione di una classe. Approfondiremo il discorso su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b="1" dirty="0">
                <a:solidFill>
                  <a:srgbClr val="000000"/>
                </a:solidFill>
                <a:effectLst/>
                <a:latin typeface="Times New Roman" panose="02020603050405020304" pitchFamily="18" charset="0"/>
                <a:ea typeface="Times New Roman" panose="02020603050405020304" pitchFamily="18" charset="0"/>
              </a:rPr>
              <a:t> nel prossimo capitolo.</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26</a:t>
            </a:fld>
            <a:endParaRPr lang="it-IT"/>
          </a:p>
        </p:txBody>
      </p:sp>
    </p:spTree>
    <p:extLst>
      <p:ext uri="{BB962C8B-B14F-4D97-AF65-F5344CB8AC3E}">
        <p14:creationId xmlns:p14="http://schemas.microsoft.com/office/powerpoint/2010/main" val="3803827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Possiamo evitare di usare modificatori, sia relativamente ad un membro (attributo o metodo) di una classe, sia relativamente ad una classe stessa. </a:t>
            </a:r>
          </a:p>
          <a:p>
            <a:r>
              <a:rPr lang="it-IT" sz="1800" dirty="0">
                <a:effectLst/>
                <a:latin typeface="Times New Roman" panose="02020603050405020304" pitchFamily="18" charset="0"/>
                <a:ea typeface="Times New Roman" panose="02020603050405020304" pitchFamily="18" charset="0"/>
              </a:rPr>
              <a:t>Se non anteponiamo modificatori d’accesso ad un membro di una classe, esso sarà accessibile solo da classi appartenenti al package dove è definito. C’è un’unica differenza tra membri dichiarati senza modificatore d’accesso e membri dichiarati con il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protected</a:t>
            </a:r>
            <a:r>
              <a:rPr lang="it-IT" sz="1800" dirty="0">
                <a:effectLst/>
                <a:latin typeface="Times New Roman" panose="02020603050405020304" pitchFamily="18" charset="0"/>
                <a:ea typeface="Times New Roman" panose="02020603050405020304" pitchFamily="18" charset="0"/>
              </a:rPr>
              <a:t>: i membri protetti saranno ereditati come fossero pubblici anche nelle sottoclassi esterne al package di dichiarazione. </a:t>
            </a:r>
          </a:p>
          <a:p>
            <a:r>
              <a:rPr lang="it-IT" sz="1800" dirty="0">
                <a:effectLst/>
                <a:latin typeface="Times New Roman" panose="02020603050405020304" pitchFamily="18" charset="0"/>
                <a:ea typeface="Times New Roman" panose="02020603050405020304" pitchFamily="18" charset="0"/>
              </a:rPr>
              <a:t>Se invece dichiariamo una classe appartenente ad un package senza anteporre alla sua definizione il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la classe stessa sarà visibile solo dalle classi appartenenti allo stesso package. In questo caso si parla di </a:t>
            </a:r>
            <a:r>
              <a:rPr lang="it-IT" sz="1800" b="1" dirty="0">
                <a:effectLst/>
                <a:latin typeface="Times New Roman" panose="02020603050405020304" pitchFamily="18" charset="0"/>
                <a:ea typeface="Times New Roman" panose="02020603050405020304" pitchFamily="18" charset="0"/>
              </a:rPr>
              <a:t>visibilità di package</a:t>
            </a:r>
            <a:r>
              <a:rPr lang="it-IT" sz="180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visibilità di default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esempio consideriamo la seguente classe dichiarata senza modificatori:</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it-IT" sz="1800" dirty="0" err="1">
                <a:solidFill>
                  <a:srgbClr val="000000"/>
                </a:solidFill>
                <a:effectLst/>
                <a:latin typeface="Courier New" panose="02070309020205020404" pitchFamily="49" charset="0"/>
                <a:ea typeface="Times New Roman" panose="02020603050405020304" pitchFamily="18" charset="0"/>
              </a:rPr>
              <a:t>com.cdsc.test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class </a:t>
            </a:r>
            <a:r>
              <a:rPr lang="it-IT" sz="1800" dirty="0" err="1">
                <a:solidFill>
                  <a:srgbClr val="000000"/>
                </a:solidFill>
                <a:effectLst/>
                <a:latin typeface="Courier New" panose="02070309020205020404" pitchFamily="49" charset="0"/>
                <a:ea typeface="Times New Roman" panose="02020603050405020304" pitchFamily="18" charset="0"/>
              </a:rPr>
              <a:t>ClasseSenzaModificatore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Compilando la seguente classe che prova ad utilizzare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ClasseSenzaModificatore</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it-IT" sz="1800" dirty="0" err="1">
                <a:solidFill>
                  <a:srgbClr val="000000"/>
                </a:solidFill>
                <a:effectLst/>
                <a:latin typeface="Courier New" panose="02070309020205020404" pitchFamily="49" charset="0"/>
                <a:ea typeface="Times New Roman" panose="02020603050405020304" pitchFamily="18" charset="0"/>
              </a:rPr>
              <a:t>com.cdsc</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a:t>
            </a:r>
            <a:r>
              <a:rPr lang="it-IT" sz="1800" dirty="0" err="1">
                <a:solidFill>
                  <a:srgbClr val="000000"/>
                </a:solidFill>
                <a:effectLst/>
                <a:latin typeface="Courier New" panose="02070309020205020404" pitchFamily="49" charset="0"/>
                <a:ea typeface="Times New Roman" panose="02020603050405020304" pitchFamily="18" charset="0"/>
              </a:rPr>
              <a:t>com.cdsc.test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TestClasseSenzaModificatore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var c = new </a:t>
            </a:r>
            <a:r>
              <a:rPr lang="it-IT" sz="1800" dirty="0" err="1">
                <a:solidFill>
                  <a:srgbClr val="000000"/>
                </a:solidFill>
                <a:effectLst/>
                <a:latin typeface="Courier New" panose="02070309020205020404" pitchFamily="49" charset="0"/>
                <a:ea typeface="Times New Roman" panose="02020603050405020304" pitchFamily="18" charset="0"/>
              </a:rPr>
              <a:t>ClasseSenzaModificatore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otterremo il messaggio di errore (per i dettagli sul seguente comando vedi approfondimento 5.3):</a:t>
            </a:r>
          </a:p>
          <a:p>
            <a:pPr marL="457200"/>
            <a:r>
              <a:rPr lang="it-IT" sz="1800" dirty="0">
                <a:solidFill>
                  <a:srgbClr val="FFFFFF"/>
                </a:solidFill>
                <a:effectLst/>
                <a:latin typeface="Courier New" panose="02070309020205020404" pitchFamily="49" charset="0"/>
                <a:ea typeface="Calibri" panose="020F0502020204030204" pitchFamily="34" charset="0"/>
              </a:rPr>
              <a:t>javac -d . TestClasseSenzaModificatore.java</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TestClasseSenzaModificatore.java:6: error: </a:t>
            </a:r>
            <a:r>
              <a:rPr lang="it-IT" sz="1800" dirty="0" err="1">
                <a:solidFill>
                  <a:srgbClr val="FFFFFF"/>
                </a:solidFill>
                <a:effectLst/>
                <a:latin typeface="Courier New" panose="02070309020205020404" pitchFamily="49" charset="0"/>
                <a:ea typeface="Calibri" panose="020F0502020204030204" pitchFamily="34" charset="0"/>
              </a:rPr>
              <a:t>cannot</a:t>
            </a:r>
            <a:r>
              <a:rPr lang="it-IT" sz="1800" dirty="0">
                <a:solidFill>
                  <a:srgbClr val="FFFFFF"/>
                </a:solidFill>
                <a:effectLst/>
                <a:latin typeface="Courier New" panose="02070309020205020404" pitchFamily="49" charset="0"/>
                <a:ea typeface="Calibri" panose="020F0502020204030204" pitchFamily="34" charset="0"/>
              </a:rPr>
              <a:t> </a:t>
            </a:r>
            <a:r>
              <a:rPr lang="it-IT" sz="1800" dirty="0" err="1">
                <a:solidFill>
                  <a:srgbClr val="FFFFFF"/>
                </a:solidFill>
                <a:effectLst/>
                <a:latin typeface="Courier New" panose="02070309020205020404" pitchFamily="49" charset="0"/>
                <a:ea typeface="Calibri" panose="020F0502020204030204" pitchFamily="34" charset="0"/>
              </a:rPr>
              <a:t>find</a:t>
            </a:r>
            <a:r>
              <a:rPr lang="it-IT" sz="1800" dirty="0">
                <a:solidFill>
                  <a:srgbClr val="FFFFFF"/>
                </a:solidFill>
                <a:effectLst/>
                <a:latin typeface="Courier New" panose="02070309020205020404" pitchFamily="49" charset="0"/>
                <a:ea typeface="Calibri" panose="020F0502020204030204" pitchFamily="34" charset="0"/>
              </a:rPr>
              <a:t> symbol</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        var c = new </a:t>
            </a:r>
            <a:r>
              <a:rPr lang="it-IT" sz="1800" dirty="0" err="1">
                <a:solidFill>
                  <a:srgbClr val="FFFFFF"/>
                </a:solidFill>
                <a:effectLst/>
                <a:latin typeface="Courier New" panose="02070309020205020404" pitchFamily="49" charset="0"/>
                <a:ea typeface="Calibri" panose="020F0502020204030204" pitchFamily="34" charset="0"/>
              </a:rPr>
              <a:t>ClasseSenzaModificatore</a:t>
            </a:r>
            <a:r>
              <a:rPr lang="it-IT" sz="1800" dirty="0">
                <a:solidFill>
                  <a:srgbClr val="FFFFFF"/>
                </a:solidFill>
                <a:effectLst/>
                <a:latin typeface="Courier New" panose="02070309020205020404" pitchFamily="49" charset="0"/>
                <a:ea typeface="Calibri" panose="020F0502020204030204" pitchFamily="34" charset="0"/>
              </a:rPr>
              <a:t>();</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                    ^</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  symbol:   class </a:t>
            </a:r>
            <a:r>
              <a:rPr lang="it-IT" sz="1800" dirty="0" err="1">
                <a:solidFill>
                  <a:srgbClr val="FFFFFF"/>
                </a:solidFill>
                <a:effectLst/>
                <a:latin typeface="Courier New" panose="02070309020205020404" pitchFamily="49" charset="0"/>
                <a:ea typeface="Calibri" panose="020F0502020204030204" pitchFamily="34" charset="0"/>
              </a:rPr>
              <a:t>ClasseSenzaModificatore</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  location: class </a:t>
            </a:r>
            <a:r>
              <a:rPr lang="it-IT" sz="1800" dirty="0" err="1">
                <a:solidFill>
                  <a:srgbClr val="FFFFFF"/>
                </a:solidFill>
                <a:effectLst/>
                <a:latin typeface="Courier New" panose="02070309020205020404" pitchFamily="49" charset="0"/>
                <a:ea typeface="Calibri" panose="020F0502020204030204" pitchFamily="34" charset="0"/>
              </a:rPr>
              <a:t>TestClasseSenzaModificatore</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Calibri" panose="020F0502020204030204" pitchFamily="34" charset="0"/>
              </a:rPr>
              <a:t>1 error</a:t>
            </a:r>
            <a:endParaRPr lang="it-IT" sz="1800"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proprio perché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ClasseSenzaModificatore</a:t>
            </a:r>
            <a:r>
              <a:rPr lang="it-IT" sz="1800" dirty="0">
                <a:effectLst/>
                <a:latin typeface="Times New Roman" panose="02020603050405020304" pitchFamily="18" charset="0"/>
                <a:ea typeface="Times New Roman" panose="02020603050405020304" pitchFamily="18" charset="0"/>
              </a:rPr>
              <a:t> non è visibile al di fuori del proprio package.</a:t>
            </a:r>
          </a:p>
        </p:txBody>
      </p:sp>
      <p:sp>
        <p:nvSpPr>
          <p:cNvPr id="4" name="Segnaposto numero diapositiva 3"/>
          <p:cNvSpPr>
            <a:spLocks noGrp="1"/>
          </p:cNvSpPr>
          <p:nvPr>
            <p:ph type="sldNum" sz="quarter" idx="5"/>
          </p:nvPr>
        </p:nvSpPr>
        <p:spPr/>
        <p:txBody>
          <a:bodyPr/>
          <a:lstStyle/>
          <a:p>
            <a:fld id="{545D8BF2-49EE-4CE2-A2D7-61B744D1E4D9}" type="slidenum">
              <a:rPr lang="it-IT" smtClean="0"/>
              <a:t>27</a:t>
            </a:fld>
            <a:endParaRPr lang="it-IT"/>
          </a:p>
        </p:txBody>
      </p:sp>
    </p:spTree>
    <p:extLst>
      <p:ext uri="{BB962C8B-B14F-4D97-AF65-F5344CB8AC3E}">
        <p14:creationId xmlns:p14="http://schemas.microsoft.com/office/powerpoint/2010/main" val="24942566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28</a:t>
            </a:fld>
            <a:endParaRPr lang="it-IT"/>
          </a:p>
        </p:txBody>
      </p:sp>
    </p:spTree>
    <p:extLst>
      <p:ext uri="{BB962C8B-B14F-4D97-AF65-F5344CB8AC3E}">
        <p14:creationId xmlns:p14="http://schemas.microsoft.com/office/powerpoint/2010/main" val="1093132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modificatore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è molto importante ed utilizzatissimo. Con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la programmazione ad oggetti trova un punto di incontro con quella funzionale, ed il suo uso deve essere quindi limitato a situazioni di reale e concreta utilità. In altre parole non bisogna intendere questo modificatore come una scorciatoia per evitare di creare oggetti. Il programmatore che proviene da precedenti esperienze di programmazione funzionale, potrebbe infatti essere tentato di abusare di questo strumento. Invece non dobbiamo dimenticare che Java è nato come linguaggio orientato agli oggetti, e sarebbe inutile studiarlo senza saperne sfruttarne le potenzialità.</a:t>
            </a:r>
          </a:p>
          <a:p>
            <a:r>
              <a:rPr lang="it-IT" sz="1800" dirty="0">
                <a:effectLst/>
                <a:latin typeface="Times New Roman" panose="02020603050405020304" pitchFamily="18" charset="0"/>
                <a:ea typeface="Times New Roman" panose="02020603050405020304" pitchFamily="18" charset="0"/>
              </a:rPr>
              <a:t>Potremmo tradurre il termine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con </a:t>
            </a:r>
            <a:r>
              <a:rPr lang="it-IT" sz="1800" i="1" dirty="0">
                <a:effectLst/>
                <a:latin typeface="Times New Roman" panose="02020603050405020304" pitchFamily="18" charset="0"/>
                <a:ea typeface="Times New Roman" panose="02020603050405020304" pitchFamily="18" charset="0"/>
              </a:rPr>
              <a:t>condiviso da tutte le istanze della classe</a:t>
            </a:r>
            <a:r>
              <a:rPr lang="it-IT" sz="1800" dirty="0">
                <a:effectLst/>
                <a:latin typeface="Times New Roman" panose="02020603050405020304" pitchFamily="18" charset="0"/>
                <a:ea typeface="Times New Roman" panose="02020603050405020304" pitchFamily="18" charset="0"/>
              </a:rPr>
              <a:t>, oppure semplicemente con </a:t>
            </a:r>
            <a:r>
              <a:rPr lang="it-IT" sz="1800" i="1" dirty="0">
                <a:effectLst/>
                <a:latin typeface="Times New Roman" panose="02020603050405020304" pitchFamily="18" charset="0"/>
                <a:ea typeface="Times New Roman" panose="02020603050405020304" pitchFamily="18" charset="0"/>
              </a:rPr>
              <a:t>della classe</a:t>
            </a:r>
            <a:r>
              <a:rPr lang="it-IT" sz="1800" dirty="0">
                <a:effectLst/>
                <a:latin typeface="Times New Roman" panose="02020603050405020304" pitchFamily="18" charset="0"/>
                <a:ea typeface="Times New Roman" panose="02020603050405020304" pitchFamily="18" charset="0"/>
              </a:rPr>
              <a:t>. Quindi, le regole dell’incapsulamento quando parliamo di questo modificatore sono alterate. Tecnicamente è possibile incapsulare una variabile statica, ma quella variabile verrà comunque condivisa da tutti gli oggetti istanziati dalla stessa classe. In generale quindi, l’incapsulamento non si applica alle variabili statiche. </a:t>
            </a:r>
          </a:p>
          <a:p>
            <a:r>
              <a:rPr lang="it-IT" sz="1800" dirty="0">
                <a:effectLst/>
                <a:latin typeface="Times New Roman" panose="02020603050405020304" pitchFamily="18" charset="0"/>
                <a:ea typeface="Times New Roman" panose="02020603050405020304" pitchFamily="18" charset="0"/>
              </a:rPr>
              <a:t>Un membro statico ha la caratteristica di poter essere utilizzato mediante una sintassi del tipo:</a:t>
            </a:r>
          </a:p>
          <a:p>
            <a:r>
              <a:rPr lang="it-IT" sz="1800" dirty="0" err="1">
                <a:solidFill>
                  <a:srgbClr val="000000"/>
                </a:solidFill>
                <a:effectLst/>
                <a:latin typeface="Courier New" panose="02070309020205020404" pitchFamily="49" charset="0"/>
                <a:ea typeface="Times New Roman" panose="02020603050405020304" pitchFamily="18" charset="0"/>
              </a:rPr>
              <a:t>NomeClasse.nomeMembro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luogo di:</a:t>
            </a:r>
          </a:p>
          <a:p>
            <a:r>
              <a:rPr lang="it-IT" sz="1800" dirty="0" err="1">
                <a:solidFill>
                  <a:srgbClr val="000000"/>
                </a:solidFill>
                <a:effectLst/>
                <a:latin typeface="Courier New" panose="02070309020205020404" pitchFamily="49" charset="0"/>
                <a:ea typeface="Times New Roman" panose="02020603050405020304" pitchFamily="18" charset="0"/>
              </a:rPr>
              <a:t>nomeOggetto.nomeMembro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Possiamo usare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per marcare i metodi e gli attributi di una classe, e come vedremo tra poco, anche i cosiddetti </a:t>
            </a:r>
            <a:r>
              <a:rPr lang="it-IT" sz="1800" i="1" dirty="0">
                <a:effectLst/>
                <a:latin typeface="Times New Roman" panose="02020603050405020304" pitchFamily="18" charset="0"/>
                <a:ea typeface="Times New Roman" panose="02020603050405020304" pitchFamily="18" charset="0"/>
              </a:rPr>
              <a:t>inizializzatori</a:t>
            </a:r>
            <a:r>
              <a:rPr lang="it-IT" sz="1800" dirty="0">
                <a:effectLst/>
                <a:latin typeface="Times New Roman" panose="02020603050405020304" pitchFamily="18" charset="0"/>
                <a:ea typeface="Times New Roman" panose="02020603050405020304" pitchFamily="18" charset="0"/>
              </a:rPr>
              <a:t>. Non è possibile invece applicare questo modificatore a variabili locali, parametri di metodi, costruttori o classi. Anche senza istanziare la classe, l’utilizzo di un membro statico provocherà il caricamento in memoria della classe contenente il membro in questione, che quindi, condividerà il ciclo di vita con quello della classe.</a:t>
            </a:r>
          </a:p>
        </p:txBody>
      </p:sp>
      <p:sp>
        <p:nvSpPr>
          <p:cNvPr id="4" name="Segnaposto numero diapositiva 3"/>
          <p:cNvSpPr>
            <a:spLocks noGrp="1"/>
          </p:cNvSpPr>
          <p:nvPr>
            <p:ph type="sldNum" sz="quarter" idx="5"/>
          </p:nvPr>
        </p:nvSpPr>
        <p:spPr/>
        <p:txBody>
          <a:bodyPr/>
          <a:lstStyle/>
          <a:p>
            <a:fld id="{545D8BF2-49EE-4CE2-A2D7-61B744D1E4D9}" type="slidenum">
              <a:rPr lang="it-IT" smtClean="0"/>
              <a:t>29</a:t>
            </a:fld>
            <a:endParaRPr lang="it-IT"/>
          </a:p>
        </p:txBody>
      </p:sp>
    </p:spTree>
    <p:extLst>
      <p:ext uri="{BB962C8B-B14F-4D97-AF65-F5344CB8AC3E}">
        <p14:creationId xmlns:p14="http://schemas.microsoft.com/office/powerpoint/2010/main" val="26532185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metodo statico</a:t>
            </a:r>
            <a:r>
              <a:rPr lang="it-IT" sz="1800" dirty="0">
                <a:effectLst/>
                <a:latin typeface="Times New Roman" panose="02020603050405020304" pitchFamily="18" charset="0"/>
                <a:ea typeface="Times New Roman" panose="02020603050405020304" pitchFamily="18" charset="0"/>
              </a:rPr>
              <a:t> è un metodo che è condiviso da tutti gli oggetti istanziati dalla classe in cui è dichiarato. Possiamo dire che un metodo statico </a:t>
            </a:r>
            <a:r>
              <a:rPr lang="it-IT" sz="1800" i="1" dirty="0">
                <a:effectLst/>
                <a:latin typeface="Times New Roman" panose="02020603050405020304" pitchFamily="18" charset="0"/>
                <a:ea typeface="Times New Roman" panose="02020603050405020304" pitchFamily="18" charset="0"/>
              </a:rPr>
              <a:t>appartiene alla classe</a:t>
            </a:r>
            <a:r>
              <a:rPr lang="it-IT" sz="1800" dirty="0">
                <a:effectLst/>
                <a:latin typeface="Times New Roman" panose="02020603050405020304" pitchFamily="18" charset="0"/>
                <a:ea typeface="Times New Roman" panose="02020603050405020304" pitchFamily="18" charset="0"/>
              </a:rPr>
              <a:t> stessa, e non ad un’istanza particolare. Un esempio è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sqrt</a:t>
            </a:r>
            <a:r>
              <a:rPr lang="it-IT" sz="1800" dirty="0">
                <a:effectLst/>
                <a:latin typeface="Times New Roman" panose="02020603050405020304" pitchFamily="18" charset="0"/>
                <a:ea typeface="Times New Roman" panose="02020603050405020304" pitchFamily="18" charset="0"/>
              </a:rPr>
              <a:t> (che sta per “</a:t>
            </a:r>
            <a:r>
              <a:rPr lang="it-IT" sz="1800" dirty="0" err="1">
                <a:effectLst/>
                <a:latin typeface="Times New Roman" panose="02020603050405020304" pitchFamily="18" charset="0"/>
                <a:ea typeface="Times New Roman" panose="02020603050405020304" pitchFamily="18" charset="0"/>
              </a:rPr>
              <a:t>square</a:t>
            </a:r>
            <a:r>
              <a:rPr lang="it-IT" sz="1800" dirty="0">
                <a:effectLst/>
                <a:latin typeface="Times New Roman" panose="02020603050405020304" pitchFamily="18" charset="0"/>
                <a:ea typeface="Times New Roman" panose="02020603050405020304" pitchFamily="18" charset="0"/>
              </a:rPr>
              <a:t> root” ovvero “radice quadrata”)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java.lang</a:t>
            </a:r>
            <a:r>
              <a:rPr lang="it-IT" sz="1800" dirty="0">
                <a:effectLst/>
                <a:latin typeface="Times New Roman" panose="02020603050405020304" pitchFamily="18" charset="0"/>
                <a:ea typeface="Times New Roman" panose="02020603050405020304" pitchFamily="18" charset="0"/>
              </a:rPr>
              <a:t>), che può essere chiamato tramite la sintassi:</a:t>
            </a:r>
          </a:p>
          <a:p>
            <a:r>
              <a:rPr lang="it-IT" sz="1800" dirty="0" err="1">
                <a:solidFill>
                  <a:srgbClr val="000000"/>
                </a:solidFill>
                <a:effectLst/>
                <a:latin typeface="Courier New" panose="02070309020205020404" pitchFamily="49" charset="0"/>
                <a:ea typeface="Times New Roman" panose="02020603050405020304" pitchFamily="18" charset="0"/>
              </a:rPr>
              <a:t>Math.sqrt</a:t>
            </a:r>
            <a:r>
              <a:rPr lang="it-IT" sz="1800" dirty="0">
                <a:solidFill>
                  <a:srgbClr val="000000"/>
                </a:solidFill>
                <a:effectLst/>
                <a:latin typeface="Courier New" panose="02070309020205020404" pitchFamily="49" charset="0"/>
                <a:ea typeface="Times New Roman" panose="02020603050405020304" pitchFamily="18" charset="0"/>
              </a:rPr>
              <a:t>(numero)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è quindi il nome della classe e non il nome di un’istanza di quella classe (lo si poteva intuire dal fatto che il nome inizia con lettera maiuscola). La ragione per cui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dichiara tutti i suoi metodi statici è facilmente comprensibile. Infatti, supponiamo di aver istanziato due oggetti differenti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ogg2</a:t>
            </a:r>
            <a:r>
              <a:rPr lang="it-IT" sz="1800" dirty="0">
                <a:effectLst/>
                <a:latin typeface="Times New Roman" panose="02020603050405020304" pitchFamily="18" charset="0"/>
                <a:ea typeface="Times New Roman" panose="02020603050405020304" pitchFamily="18" charset="0"/>
              </a:rPr>
              <a:t>, le seguenti comandi:</a:t>
            </a:r>
          </a:p>
          <a:p>
            <a:r>
              <a:rPr lang="it-IT" sz="1800" dirty="0">
                <a:solidFill>
                  <a:srgbClr val="000000"/>
                </a:solidFill>
                <a:effectLst/>
                <a:latin typeface="Courier New" panose="02070309020205020404" pitchFamily="49" charset="0"/>
                <a:ea typeface="Times New Roman" panose="02020603050405020304" pitchFamily="18" charset="0"/>
              </a:rPr>
              <a:t>ogg1.sqrt(4);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a:t>
            </a:r>
          </a:p>
          <a:p>
            <a:r>
              <a:rPr lang="it-IT" sz="1800" dirty="0">
                <a:solidFill>
                  <a:srgbClr val="000000"/>
                </a:solidFill>
                <a:effectLst/>
                <a:latin typeface="Courier New" panose="02070309020205020404" pitchFamily="49" charset="0"/>
                <a:ea typeface="Times New Roman" panose="02020603050405020304" pitchFamily="18" charset="0"/>
              </a:rPr>
              <a:t>ogg2.sqrt(4);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produrrebbero esattamente lo stesso risultato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Questo perché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sqrt</a:t>
            </a:r>
            <a:r>
              <a:rPr lang="it-IT" sz="1800" dirty="0">
                <a:effectLst/>
                <a:latin typeface="Times New Roman" panose="02020603050405020304" pitchFamily="18" charset="0"/>
                <a:ea typeface="Times New Roman" panose="02020603050405020304" pitchFamily="18" charset="0"/>
              </a:rPr>
              <a:t>, calcola il risultato basandosi solo sull’input, e non sugli attributi valorizzati di un particolare oggetto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In particolare, quest’ultima, non dichiara attributi, ma solo costanti statiche. Inoltre, ha un unico costruttore dichiarato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800" dirty="0">
                <a:effectLst/>
                <a:latin typeface="Times New Roman" panose="02020603050405020304" pitchFamily="18" charset="0"/>
                <a:ea typeface="Times New Roman" panose="02020603050405020304" pitchFamily="18" charset="0"/>
              </a:rPr>
              <a:t>, che quindi non può essere utilizzato, con la conseguenza, che non è possibile istanziare oggetti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Un metodo dichiarato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può considerarsi una sorta di </a:t>
            </a:r>
            <a:r>
              <a:rPr lang="it-IT" sz="1800" i="1" dirty="0">
                <a:effectLst/>
                <a:latin typeface="Times New Roman" panose="02020603050405020304" pitchFamily="18" charset="0"/>
                <a:ea typeface="Times New Roman" panose="02020603050405020304" pitchFamily="18" charset="0"/>
              </a:rPr>
              <a:t>funzione</a:t>
            </a:r>
            <a:r>
              <a:rPr lang="it-IT" sz="1800" dirty="0">
                <a:effectLst/>
                <a:latin typeface="Times New Roman" panose="02020603050405020304" pitchFamily="18" charset="0"/>
                <a:ea typeface="Times New Roman" panose="02020603050405020304" pitchFamily="18" charset="0"/>
              </a:rPr>
              <a:t>, e non a caso la radice quadrata è definita come funzione matematica. Per tale ragione, questo tipo di approccio ai metodi dovrebbe essere limitato solo ai casi in cui l’esecuzione del metodo non dipenda dalle caratteristiche dell’oggetto su cui viene chiamato il metodo. </a:t>
            </a:r>
          </a:p>
        </p:txBody>
      </p:sp>
      <p:sp>
        <p:nvSpPr>
          <p:cNvPr id="4" name="Segnaposto numero diapositiva 3"/>
          <p:cNvSpPr>
            <a:spLocks noGrp="1"/>
          </p:cNvSpPr>
          <p:nvPr>
            <p:ph type="sldNum" sz="quarter" idx="5"/>
          </p:nvPr>
        </p:nvSpPr>
        <p:spPr/>
        <p:txBody>
          <a:bodyPr/>
          <a:lstStyle/>
          <a:p>
            <a:fld id="{545D8BF2-49EE-4CE2-A2D7-61B744D1E4D9}" type="slidenum">
              <a:rPr lang="it-IT" smtClean="0"/>
              <a:t>30</a:t>
            </a:fld>
            <a:endParaRPr lang="it-IT"/>
          </a:p>
        </p:txBody>
      </p:sp>
    </p:spTree>
    <p:extLst>
      <p:ext uri="{BB962C8B-B14F-4D97-AF65-F5344CB8AC3E}">
        <p14:creationId xmlns:p14="http://schemas.microsoft.com/office/powerpoint/2010/main" val="33688853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Per esempio, un metodo dichiarato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correttamente, potrebbe essere un  metodo che restituisce quante occorrenze ci sono all’interno della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del carattere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character</a:t>
            </a:r>
            <a:r>
              <a:rPr lang="it-IT" sz="1800" dirty="0">
                <a:effectLst/>
                <a:latin typeface="Times New Roman" panose="02020603050405020304" pitchFamily="18" charset="0"/>
                <a:ea typeface="Times New Roman" panose="02020603050405020304" pitchFamily="18" charset="0"/>
              </a:rPr>
              <a:t>, come il seguente:</a:t>
            </a:r>
          </a:p>
          <a:p>
            <a:r>
              <a:rPr lang="en-GB" sz="1800" dirty="0">
                <a:solidFill>
                  <a:srgbClr val="000000"/>
                </a:solidFill>
                <a:effectLst/>
                <a:latin typeface="Courier New" panose="02070309020205020404" pitchFamily="49" charset="0"/>
                <a:ea typeface="Times New Roman" panose="02020603050405020304" pitchFamily="18" charset="0"/>
              </a:rPr>
              <a:t>public class StringUtils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static int </a:t>
            </a:r>
            <a:r>
              <a:rPr lang="it-IT" sz="1800" dirty="0" err="1">
                <a:solidFill>
                  <a:srgbClr val="000000"/>
                </a:solidFill>
                <a:effectLst/>
                <a:latin typeface="Courier New" panose="02070309020205020404" pitchFamily="49" charset="0"/>
                <a:ea typeface="Times New Roman" panose="02020603050405020304" pitchFamily="18" charset="0"/>
              </a:rPr>
              <a:t>contaOccorrenze</a:t>
            </a:r>
            <a:r>
              <a:rPr lang="it-IT" sz="1800" dirty="0">
                <a:solidFill>
                  <a:srgbClr val="000000"/>
                </a:solidFill>
                <a:effectLst/>
                <a:latin typeface="Courier New" panose="02070309020205020404" pitchFamily="49" charset="0"/>
                <a:ea typeface="Times New Roman" panose="02020603050405020304" pitchFamily="18" charset="0"/>
              </a:rPr>
              <a:t>(String </a:t>
            </a:r>
            <a:r>
              <a:rPr lang="it-IT" sz="1800" dirty="0" err="1">
                <a:solidFill>
                  <a:srgbClr val="000000"/>
                </a:solidFill>
                <a:effectLst/>
                <a:latin typeface="Courier New" panose="02070309020205020404" pitchFamily="49" charset="0"/>
                <a:ea typeface="Times New Roman" panose="02020603050405020304" pitchFamily="18" charset="0"/>
              </a:rPr>
              <a:t>string</a:t>
            </a:r>
            <a:r>
              <a:rPr lang="it-IT" sz="1800" dirty="0">
                <a:solidFill>
                  <a:srgbClr val="000000"/>
                </a:solidFill>
                <a:effectLst/>
                <a:latin typeface="Courier New" panose="02070309020205020404" pitchFamily="49" charset="0"/>
                <a:ea typeface="Times New Roman" panose="02020603050405020304" pitchFamily="18" charset="0"/>
              </a:rPr>
              <a:t>, char character)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en-GB" sz="1800" dirty="0">
                <a:solidFill>
                  <a:srgbClr val="000000"/>
                </a:solidFill>
                <a:effectLst/>
                <a:latin typeface="Courier New" panose="02070309020205020404" pitchFamily="49" charset="0"/>
                <a:ea typeface="Times New Roman" panose="02020603050405020304" pitchFamily="18" charset="0"/>
              </a:rPr>
              <a:t>var</a:t>
            </a:r>
            <a:r>
              <a:rPr lang="it-IT" sz="1800" dirty="0">
                <a:solidFill>
                  <a:srgbClr val="000000"/>
                </a:solidFill>
                <a:effectLst/>
                <a:latin typeface="Courier New" panose="02070309020205020404" pitchFamily="49" charset="0"/>
                <a:ea typeface="Times New Roman" panose="02020603050405020304" pitchFamily="18" charset="0"/>
              </a:rPr>
              <a:t> count = 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for (</a:t>
            </a:r>
            <a:r>
              <a:rPr lang="en-GB" sz="1800" dirty="0">
                <a:solidFill>
                  <a:srgbClr val="000000"/>
                </a:solidFill>
                <a:effectLst/>
                <a:latin typeface="Courier New" panose="02070309020205020404" pitchFamily="49" charset="0"/>
                <a:ea typeface="Times New Roman" panose="02020603050405020304" pitchFamily="18" charset="0"/>
              </a:rPr>
              <a:t>var</a:t>
            </a:r>
            <a:r>
              <a:rPr lang="it-IT" sz="1800" dirty="0">
                <a:solidFill>
                  <a:srgbClr val="000000"/>
                </a:solidFill>
                <a:effectLst/>
                <a:latin typeface="Courier New" panose="02070309020205020404" pitchFamily="49" charset="0"/>
                <a:ea typeface="Times New Roman" panose="02020603050405020304" pitchFamily="18" charset="0"/>
              </a:rPr>
              <a:t> i = 0; i &lt; </a:t>
            </a:r>
            <a:r>
              <a:rPr lang="it-IT" sz="1800" dirty="0" err="1">
                <a:solidFill>
                  <a:srgbClr val="000000"/>
                </a:solidFill>
                <a:effectLst/>
                <a:latin typeface="Courier New" panose="02070309020205020404" pitchFamily="49" charset="0"/>
                <a:ea typeface="Times New Roman" panose="02020603050405020304" pitchFamily="18" charset="0"/>
              </a:rPr>
              <a:t>string.length</a:t>
            </a:r>
            <a:r>
              <a:rPr lang="it-IT" sz="1800" dirty="0">
                <a:solidFill>
                  <a:srgbClr val="000000"/>
                </a:solidFill>
                <a:effectLst/>
                <a:latin typeface="Courier New" panose="02070309020205020404" pitchFamily="49" charset="0"/>
                <a:ea typeface="Times New Roman" panose="02020603050405020304" pitchFamily="18" charset="0"/>
              </a:rPr>
              <a:t>(); i++)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if (</a:t>
            </a:r>
            <a:r>
              <a:rPr lang="it-IT" sz="1800" dirty="0" err="1">
                <a:solidFill>
                  <a:srgbClr val="000000"/>
                </a:solidFill>
                <a:effectLst/>
                <a:latin typeface="Courier New" panose="02070309020205020404" pitchFamily="49" charset="0"/>
                <a:ea typeface="Times New Roman" panose="02020603050405020304" pitchFamily="18" charset="0"/>
              </a:rPr>
              <a:t>string.charAt</a:t>
            </a:r>
            <a:r>
              <a:rPr lang="it-IT" sz="1800" dirty="0">
                <a:solidFill>
                  <a:srgbClr val="000000"/>
                </a:solidFill>
                <a:effectLst/>
                <a:latin typeface="Courier New" panose="02070309020205020404" pitchFamily="49" charset="0"/>
                <a:ea typeface="Times New Roman" panose="02020603050405020304" pitchFamily="18" charset="0"/>
              </a:rPr>
              <a:t>(i) == character)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count++;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return count;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//Potremmo aggiungere altri metodi che fanno operazioni sulle stringhe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dichiarare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è di sicuro una buona scelta. Usando JShell (cfr. approfondimento 4.1 online) possiamo per esempio eseguire questo comando (ovviamente dopo aver dichiarato anche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StringUtils</a:t>
            </a:r>
            <a:r>
              <a:rPr lang="it-IT" sz="1800" dirty="0">
                <a:effectLst/>
                <a:latin typeface="Times New Roman" panose="02020603050405020304" pitchFamily="18" charset="0"/>
                <a:ea typeface="Times New Roman" panose="02020603050405020304" pitchFamily="18" charset="0"/>
              </a:rPr>
              <a:t>):</a:t>
            </a:r>
          </a:p>
          <a:p>
            <a:pPr marL="457200"/>
            <a:r>
              <a:rPr lang="it-IT" sz="1800" dirty="0">
                <a:solidFill>
                  <a:srgbClr val="FFFFFF"/>
                </a:solidFill>
                <a:effectLst/>
                <a:latin typeface="Courier New" panose="02070309020205020404" pitchFamily="49" charset="0"/>
                <a:ea typeface="Times New Roman" panose="02020603050405020304" pitchFamily="18" charset="0"/>
              </a:rPr>
              <a:t>jshell&gt; </a:t>
            </a:r>
            <a:r>
              <a:rPr lang="it-IT" sz="1800" dirty="0" err="1">
                <a:solidFill>
                  <a:srgbClr val="FFFFFF"/>
                </a:solidFill>
                <a:effectLst/>
                <a:latin typeface="Courier New" panose="02070309020205020404" pitchFamily="49" charset="0"/>
                <a:ea typeface="Times New Roman" panose="02020603050405020304" pitchFamily="18" charset="0"/>
              </a:rPr>
              <a:t>StringUtils.contaOccorrenze</a:t>
            </a:r>
            <a:r>
              <a:rPr lang="it-IT" sz="1800" dirty="0">
                <a:solidFill>
                  <a:srgbClr val="FFFFFF"/>
                </a:solidFill>
                <a:effectLst/>
                <a:latin typeface="Courier New" panose="02070309020205020404" pitchFamily="49" charset="0"/>
                <a:ea typeface="Times New Roman" panose="02020603050405020304" pitchFamily="18" charset="0"/>
              </a:rPr>
              <a:t>("E il naufragar m\'è </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Times New Roman" panose="02020603050405020304" pitchFamily="18" charset="0"/>
              </a:rPr>
              <a:t>  dolce in questo </a:t>
            </a:r>
            <a:r>
              <a:rPr lang="it-IT" sz="1800" dirty="0" err="1">
                <a:solidFill>
                  <a:srgbClr val="FFFFFF"/>
                </a:solidFill>
                <a:effectLst/>
                <a:latin typeface="Courier New" panose="02070309020205020404" pitchFamily="49" charset="0"/>
                <a:ea typeface="Times New Roman" panose="02020603050405020304" pitchFamily="18" charset="0"/>
              </a:rPr>
              <a:t>mare",'a</a:t>
            </a:r>
            <a:r>
              <a:rPr lang="it-IT" sz="1800" dirty="0">
                <a:solidFill>
                  <a:srgbClr val="FFFFFF"/>
                </a:solidFill>
                <a:effectLst/>
                <a:latin typeface="Courier New" panose="02070309020205020404" pitchFamily="49" charset="0"/>
                <a:ea typeface="Times New Roman" panose="02020603050405020304" pitchFamily="18" charset="0"/>
              </a:rPr>
              <a:t>')</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r>
              <a:rPr lang="it-IT" sz="1800" dirty="0">
                <a:solidFill>
                  <a:srgbClr val="FFFFFF"/>
                </a:solidFill>
                <a:effectLst/>
                <a:latin typeface="Courier New" panose="02070309020205020404" pitchFamily="49" charset="0"/>
                <a:ea typeface="Times New Roman" panose="02020603050405020304" pitchFamily="18" charset="0"/>
              </a:rPr>
              <a:t>$3 ==&gt; 4</a:t>
            </a:r>
            <a:endParaRPr lang="it-IT" sz="1800"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invocare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contaOccorrenze</a:t>
            </a:r>
            <a:r>
              <a:rPr lang="it-IT" sz="1800" dirty="0">
                <a:effectLst/>
                <a:latin typeface="Times New Roman" panose="02020603050405020304" pitchFamily="18" charset="0"/>
                <a:ea typeface="Times New Roman" panose="02020603050405020304" pitchFamily="18" charset="0"/>
              </a:rPr>
              <a:t>, abbiamo utilizzato il nome della classe (è inutile istanziarla). Abbiamo passato una stringa come primo parametro e come secondo parametro un carattere, e come si può vedere dall’output, sono state trovare quattro occorrenze.</a:t>
            </a:r>
          </a:p>
        </p:txBody>
      </p:sp>
      <p:sp>
        <p:nvSpPr>
          <p:cNvPr id="4" name="Segnaposto numero diapositiva 3"/>
          <p:cNvSpPr>
            <a:spLocks noGrp="1"/>
          </p:cNvSpPr>
          <p:nvPr>
            <p:ph type="sldNum" sz="quarter" idx="5"/>
          </p:nvPr>
        </p:nvSpPr>
        <p:spPr/>
        <p:txBody>
          <a:bodyPr/>
          <a:lstStyle/>
          <a:p>
            <a:fld id="{545D8BF2-49EE-4CE2-A2D7-61B744D1E4D9}" type="slidenum">
              <a:rPr lang="it-IT" smtClean="0"/>
              <a:t>31</a:t>
            </a:fld>
            <a:endParaRPr lang="it-IT"/>
          </a:p>
        </p:txBody>
      </p:sp>
    </p:spTree>
    <p:extLst>
      <p:ext uri="{BB962C8B-B14F-4D97-AF65-F5344CB8AC3E}">
        <p14:creationId xmlns:p14="http://schemas.microsoft.com/office/powerpoint/2010/main" val="2119511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variabile statica</a:t>
            </a:r>
            <a:r>
              <a:rPr lang="it-IT" sz="1800" dirty="0">
                <a:effectLst/>
                <a:latin typeface="Times New Roman" panose="02020603050405020304" pitchFamily="18" charset="0"/>
                <a:ea typeface="Times New Roman" panose="02020603050405020304" pitchFamily="18" charset="0"/>
              </a:rPr>
              <a:t>, essendo condivisa da tutte le istanze della classe, assumerà lo stesso valore per ogni oggetto di una classe. Per esempio, consideriamo il seguente codice:</a:t>
            </a:r>
          </a:p>
        </p:txBody>
      </p:sp>
      <p:sp>
        <p:nvSpPr>
          <p:cNvPr id="4" name="Segnaposto numero diapositiva 3"/>
          <p:cNvSpPr>
            <a:spLocks noGrp="1"/>
          </p:cNvSpPr>
          <p:nvPr>
            <p:ph type="sldNum" sz="quarter" idx="5"/>
          </p:nvPr>
        </p:nvSpPr>
        <p:spPr/>
        <p:txBody>
          <a:bodyPr/>
          <a:lstStyle/>
          <a:p>
            <a:fld id="{545D8BF2-49EE-4CE2-A2D7-61B744D1E4D9}" type="slidenum">
              <a:rPr lang="it-IT" smtClean="0"/>
              <a:t>32</a:t>
            </a:fld>
            <a:endParaRPr lang="it-IT"/>
          </a:p>
        </p:txBody>
      </p:sp>
    </p:spTree>
    <p:extLst>
      <p:ext uri="{BB962C8B-B14F-4D97-AF65-F5344CB8AC3E}">
        <p14:creationId xmlns:p14="http://schemas.microsoft.com/office/powerpoint/2010/main" val="23310128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variabile statica</a:t>
            </a:r>
            <a:r>
              <a:rPr lang="it-IT" sz="1800" dirty="0">
                <a:effectLst/>
                <a:latin typeface="Times New Roman" panose="02020603050405020304" pitchFamily="18" charset="0"/>
                <a:ea typeface="Times New Roman" panose="02020603050405020304" pitchFamily="18" charset="0"/>
              </a:rPr>
              <a:t>, essendo condivisa da tutte le istanze della classe, assumerà lo stesso valore per ogni oggetto di una classe. Per esempio, consideriamo il seguente codice:</a:t>
            </a:r>
          </a:p>
        </p:txBody>
      </p:sp>
      <p:sp>
        <p:nvSpPr>
          <p:cNvPr id="4" name="Segnaposto numero diapositiva 3"/>
          <p:cNvSpPr>
            <a:spLocks noGrp="1"/>
          </p:cNvSpPr>
          <p:nvPr>
            <p:ph type="sldNum" sz="quarter" idx="5"/>
          </p:nvPr>
        </p:nvSpPr>
        <p:spPr/>
        <p:txBody>
          <a:bodyPr/>
          <a:lstStyle/>
          <a:p>
            <a:fld id="{545D8BF2-49EE-4CE2-A2D7-61B744D1E4D9}" type="slidenum">
              <a:rPr lang="it-IT" smtClean="0"/>
              <a:t>33</a:t>
            </a:fld>
            <a:endParaRPr lang="it-IT"/>
          </a:p>
        </p:txBody>
      </p:sp>
    </p:spTree>
    <p:extLst>
      <p:ext uri="{BB962C8B-B14F-4D97-AF65-F5344CB8AC3E}">
        <p14:creationId xmlns:p14="http://schemas.microsoft.com/office/powerpoint/2010/main" val="1679180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34</a:t>
            </a:fld>
            <a:endParaRPr lang="it-IT"/>
          </a:p>
        </p:txBody>
      </p:sp>
    </p:spTree>
    <p:extLst>
      <p:ext uri="{BB962C8B-B14F-4D97-AF65-F5344CB8AC3E}">
        <p14:creationId xmlns:p14="http://schemas.microsoft.com/office/powerpoint/2010/main" val="32035755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3600" b="1" dirty="0"/>
              <a:t>Infatti, un metodo statico non appartiene a nessuna istanza in particolare, e quindi non potrebbe “scegliere” una variabile d’istanza di una istanza particolare senza referenziarla esplicitamente. Per esempio la seguente classe:</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35</a:t>
            </a:fld>
            <a:endParaRPr lang="it-IT"/>
          </a:p>
        </p:txBody>
      </p:sp>
    </p:spTree>
    <p:extLst>
      <p:ext uri="{BB962C8B-B14F-4D97-AF65-F5344CB8AC3E}">
        <p14:creationId xmlns:p14="http://schemas.microsoft.com/office/powerpoint/2010/main" val="20397400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3600" b="1" dirty="0"/>
              <a:t>È una curiosità</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36</a:t>
            </a:fld>
            <a:endParaRPr lang="it-IT"/>
          </a:p>
        </p:txBody>
      </p:sp>
    </p:spTree>
    <p:extLst>
      <p:ext uri="{BB962C8B-B14F-4D97-AF65-F5344CB8AC3E}">
        <p14:creationId xmlns:p14="http://schemas.microsoft.com/office/powerpoint/2010/main" val="2285872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versione 5 di Java, insieme a numerose altre novità furono introdotti anche i cosiddetti </a:t>
            </a:r>
            <a:r>
              <a:rPr lang="it-IT" sz="1800" b="1" dirty="0">
                <a:effectLst/>
                <a:latin typeface="Times New Roman" panose="02020603050405020304" pitchFamily="18" charset="0"/>
                <a:ea typeface="Times New Roman" panose="02020603050405020304" pitchFamily="18" charset="0"/>
              </a:rPr>
              <a:t>import statici</a:t>
            </a:r>
            <a:r>
              <a:rPr lang="it-IT" sz="1800" dirty="0">
                <a:effectLst/>
                <a:latin typeface="Times New Roman" panose="02020603050405020304" pitchFamily="18" charset="0"/>
                <a:ea typeface="Times New Roman" panose="02020603050405020304" pitchFamily="18" charset="0"/>
              </a:rPr>
              <a:t>. Con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siamo soliti importare nei nostri file i tipi java (per esempio classi) da altri package. Ovvero è possibile importare all’interno dei nostri file i nomi dei tipi, in modo tale che si possano poi usare senza dover specificare l’intero </a:t>
            </a:r>
            <a:r>
              <a:rPr lang="it-IT" sz="1800" b="1" dirty="0">
                <a:effectLst/>
                <a:latin typeface="Times New Roman" panose="02020603050405020304" pitchFamily="18" charset="0"/>
                <a:ea typeface="Times New Roman" panose="02020603050405020304" pitchFamily="18" charset="0"/>
              </a:rPr>
              <a:t>fully qualified name</a:t>
            </a:r>
            <a:r>
              <a:rPr lang="it-IT" sz="1800" dirty="0">
                <a:effectLst/>
                <a:latin typeface="Times New Roman" panose="02020603050405020304" pitchFamily="18" charset="0"/>
                <a:ea typeface="Times New Roman" panose="02020603050405020304" pitchFamily="18" charset="0"/>
              </a:rPr>
              <a:t> (nome completo di package). Per esempio, volendo utilizzare 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DOMSource</a:t>
            </a:r>
            <a:r>
              <a:rPr lang="it-IT" sz="1800" dirty="0">
                <a:effectLst/>
                <a:latin typeface="Times New Roman" panose="02020603050405020304" pitchFamily="18" charset="0"/>
                <a:ea typeface="Times New Roman" panose="02020603050405020304" pitchFamily="18" charset="0"/>
              </a:rPr>
              <a:t> del package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javax.xml.transform.dom</a:t>
            </a:r>
            <a:r>
              <a:rPr lang="it-IT" sz="1800" dirty="0">
                <a:effectLst/>
                <a:latin typeface="Times New Roman" panose="02020603050405020304" pitchFamily="18" charset="0"/>
                <a:ea typeface="Times New Roman" panose="02020603050405020304" pitchFamily="18" charset="0"/>
              </a:rPr>
              <a:t>, abbiamo due possibilità:</a:t>
            </a:r>
          </a:p>
          <a:p>
            <a:pPr marL="180340" indent="180340"/>
            <a:r>
              <a:rPr lang="it-IT" sz="1800" dirty="0">
                <a:effectLst/>
                <a:latin typeface="Times New Roman" panose="02020603050405020304" pitchFamily="18" charset="0"/>
                <a:ea typeface="MS Mincho" panose="02020609040205080304" pitchFamily="49" charset="-128"/>
              </a:rPr>
              <a:t>Importiamo la classe con un’istruzione come la seguente:</a:t>
            </a:r>
          </a:p>
          <a:p>
            <a:pPr marL="449580"/>
            <a:r>
              <a:rPr lang="en-GB" sz="1800" dirty="0">
                <a:solidFill>
                  <a:srgbClr val="000000"/>
                </a:solidFill>
                <a:effectLst/>
                <a:latin typeface="Courier New" panose="02070309020205020404" pitchFamily="49" charset="0"/>
                <a:ea typeface="Times New Roman" panose="02020603050405020304" pitchFamily="18" charset="0"/>
              </a:rPr>
              <a:t>import </a:t>
            </a:r>
            <a:r>
              <a:rPr lang="en-GB"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449580"/>
            <a:r>
              <a:rPr lang="it-IT" sz="1800" dirty="0">
                <a:effectLst/>
                <a:latin typeface="Times New Roman" panose="02020603050405020304" pitchFamily="18" charset="0"/>
                <a:ea typeface="MS Mincho" panose="02020609040205080304" pitchFamily="49" charset="-128"/>
              </a:rPr>
              <a:t>per poi sfruttarla nel nostro file sorgente utilizzandone solo il nome. Per esempio:</a:t>
            </a:r>
          </a:p>
          <a:p>
            <a:pPr marL="449580"/>
            <a:r>
              <a:rPr lang="it-IT" sz="1800" dirty="0" err="1">
                <a:solidFill>
                  <a:srgbClr val="000000"/>
                </a:solidFill>
                <a:effectLst/>
                <a:latin typeface="Courier New" panose="02070309020205020404" pitchFamily="49" charset="0"/>
                <a:ea typeface="Times New Roman" panose="02020603050405020304" pitchFamily="18" charset="0"/>
              </a:rPr>
              <a:t>DOMSource</a:t>
            </a:r>
            <a:r>
              <a:rPr lang="it-IT" sz="1800" dirty="0">
                <a:solidFill>
                  <a:srgbClr val="000000"/>
                </a:solidFill>
                <a:effectLst/>
                <a:latin typeface="Courier New" panose="02070309020205020404" pitchFamily="49" charset="0"/>
                <a:ea typeface="Times New Roman" panose="02020603050405020304" pitchFamily="18" charset="0"/>
              </a:rPr>
              <a:t> source = new </a:t>
            </a:r>
            <a:r>
              <a:rPr lang="it-IT" sz="1800" dirty="0" err="1">
                <a:solidFill>
                  <a:srgbClr val="000000"/>
                </a:solidFill>
                <a:effectLst/>
                <a:latin typeface="Courier New" panose="02070309020205020404" pitchFamily="49" charset="0"/>
                <a:ea typeface="Times New Roman" panose="02020603050405020304" pitchFamily="18" charset="0"/>
              </a:rPr>
              <a:t>DOMSource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Oppure possiamo scrivere il nome completo di package ogni volta che la utilizziamo. Per esempio:</a:t>
            </a:r>
          </a:p>
          <a:p>
            <a:pPr marL="449580"/>
            <a:r>
              <a:rPr lang="it-IT"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it-IT" sz="1800" dirty="0">
                <a:solidFill>
                  <a:srgbClr val="000000"/>
                </a:solidFill>
                <a:effectLst/>
                <a:latin typeface="Courier New" panose="02070309020205020404" pitchFamily="49" charset="0"/>
                <a:ea typeface="Times New Roman" panose="02020603050405020304" pitchFamily="18" charset="0"/>
              </a:rPr>
              <a:t> source = </a:t>
            </a:r>
            <a:endParaRPr lang="it-IT" sz="1800" dirty="0">
              <a:effectLst/>
              <a:latin typeface="Courier New" panose="02070309020205020404" pitchFamily="49" charset="0"/>
              <a:ea typeface="Times New Roman" panose="02020603050405020304" pitchFamily="18" charset="0"/>
            </a:endParaRPr>
          </a:p>
          <a:p>
            <a:pPr marL="449580"/>
            <a:r>
              <a:rPr lang="it-IT" sz="1800" dirty="0">
                <a:solidFill>
                  <a:srgbClr val="000000"/>
                </a:solidFill>
                <a:effectLst/>
                <a:latin typeface="Courier New" panose="02070309020205020404" pitchFamily="49" charset="0"/>
                <a:ea typeface="Times New Roman" panose="02020603050405020304" pitchFamily="18" charset="0"/>
              </a:rPr>
              <a:t>    new </a:t>
            </a:r>
            <a:r>
              <a:rPr lang="it-IT"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Chiaramente la prima soluzione è preferibile. </a:t>
            </a:r>
          </a:p>
          <a:p>
            <a:r>
              <a:rPr lang="it-IT" sz="1800" dirty="0">
                <a:effectLst/>
                <a:latin typeface="Times New Roman" panose="02020603050405020304" pitchFamily="18" charset="0"/>
                <a:ea typeface="Times New Roman" panose="02020603050405020304" pitchFamily="18" charset="0"/>
              </a:rPr>
              <a:t>In alcuni casi, però, potremmo desiderare di importare nel file solo ciò che è dichiarato statico all’interno di una certa classe, e non la classe stessa. Per esempio, sapendo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contiene solo metodi e costanti statiche, potremmo voler importare, piuttosto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solo i suoi membri statici. Per fare questo, bisogna utilizzare il seguente comando di import statico:</a:t>
            </a: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abbiamo importato tutti i membri statici all’interno del file. Quindi sarà lecito scrivere, in luogo di:</a:t>
            </a:r>
          </a:p>
          <a:p>
            <a:r>
              <a:rPr lang="it-IT" sz="1800" dirty="0">
                <a:solidFill>
                  <a:srgbClr val="000000"/>
                </a:solidFill>
                <a:effectLst/>
                <a:latin typeface="Courier New" panose="02070309020205020404" pitchFamily="49" charset="0"/>
                <a:ea typeface="Times New Roman" panose="02020603050405020304" pitchFamily="18" charset="0"/>
              </a:rPr>
              <a:t>double d = </a:t>
            </a:r>
            <a:r>
              <a:rPr lang="it-IT" sz="1800" dirty="0" err="1">
                <a:solidFill>
                  <a:srgbClr val="000000"/>
                </a:solidFill>
                <a:effectLst/>
                <a:latin typeface="Courier New" panose="02070309020205020404" pitchFamily="49" charset="0"/>
                <a:ea typeface="Times New Roman" panose="02020603050405020304" pitchFamily="18" charset="0"/>
              </a:rPr>
              <a:t>Math.sqrt</a:t>
            </a:r>
            <a:r>
              <a:rPr lang="it-IT" sz="1800" dirty="0">
                <a:solidFill>
                  <a:srgbClr val="000000"/>
                </a:solidFill>
                <a:effectLst/>
                <a:latin typeface="Courier New" panose="02070309020205020404" pitchFamily="49" charset="0"/>
                <a:ea typeface="Times New Roman" panose="02020603050405020304" pitchFamily="18" charset="0"/>
              </a:rPr>
              <a: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direttamente:</a:t>
            </a:r>
          </a:p>
          <a:p>
            <a:r>
              <a:rPr lang="it-IT" sz="1800" dirty="0">
                <a:solidFill>
                  <a:srgbClr val="000000"/>
                </a:solidFill>
                <a:effectLst/>
                <a:latin typeface="Courier New" panose="02070309020205020404" pitchFamily="49" charset="0"/>
                <a:ea typeface="Times New Roman" panose="02020603050405020304" pitchFamily="18" charset="0"/>
              </a:rPr>
              <a:t>double d = </a:t>
            </a:r>
            <a:r>
              <a:rPr lang="it-IT" sz="1800" dirty="0" err="1">
                <a:solidFill>
                  <a:srgbClr val="000000"/>
                </a:solidFill>
                <a:effectLst/>
                <a:latin typeface="Courier New" panose="02070309020205020404" pitchFamily="49" charset="0"/>
                <a:ea typeface="Times New Roman" panose="02020603050405020304" pitchFamily="18" charset="0"/>
              </a:rPr>
              <a:t>sqrt</a:t>
            </a:r>
            <a:r>
              <a:rPr lang="it-IT" sz="1800" dirty="0">
                <a:solidFill>
                  <a:srgbClr val="000000"/>
                </a:solidFill>
                <a:effectLst/>
                <a:latin typeface="Courier New" panose="02070309020205020404" pitchFamily="49" charset="0"/>
                <a:ea typeface="Times New Roman" panose="02020603050405020304" pitchFamily="18" charset="0"/>
              </a:rPr>
              <a: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senza anteporre il nome della classe al metodo statico. È anche possibile (e preferibile) importare staticamente solo alcuni membri specifici, per esempio:</a:t>
            </a: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java.lang.Math.PI</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java.lang.Math.random</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java.sql.DriverManager.getConnection</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java.lang.System.out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come 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di nomi di metodi statici, non specifichi le parentesi con i relativi argomenti.</a:t>
            </a:r>
          </a:p>
          <a:p>
            <a:r>
              <a:rPr lang="it-IT" sz="1800" dirty="0">
                <a:effectLst/>
                <a:latin typeface="Times New Roman" panose="02020603050405020304" pitchFamily="18" charset="0"/>
                <a:ea typeface="Times New Roman" panose="02020603050405020304" pitchFamily="18" charset="0"/>
              </a:rPr>
              <a:t>L’utilizzo di import statici non è sempre vantaggioso, e per ora ne sconsigliamo l’utilizzo. Torneremo sull’argomento quando tratteremo le enumerazioni.</a:t>
            </a:r>
          </a:p>
        </p:txBody>
      </p:sp>
      <p:sp>
        <p:nvSpPr>
          <p:cNvPr id="4" name="Segnaposto numero diapositiva 3"/>
          <p:cNvSpPr>
            <a:spLocks noGrp="1"/>
          </p:cNvSpPr>
          <p:nvPr>
            <p:ph type="sldNum" sz="quarter" idx="5"/>
          </p:nvPr>
        </p:nvSpPr>
        <p:spPr/>
        <p:txBody>
          <a:bodyPr/>
          <a:lstStyle/>
          <a:p>
            <a:fld id="{545D8BF2-49EE-4CE2-A2D7-61B744D1E4D9}" type="slidenum">
              <a:rPr lang="it-IT" smtClean="0"/>
              <a:t>37</a:t>
            </a:fld>
            <a:endParaRPr lang="it-IT"/>
          </a:p>
        </p:txBody>
      </p:sp>
    </p:spTree>
    <p:extLst>
      <p:ext uri="{BB962C8B-B14F-4D97-AF65-F5344CB8AC3E}">
        <p14:creationId xmlns:p14="http://schemas.microsoft.com/office/powerpoint/2010/main" val="10496869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versione 5 di Java, insieme a numerose altre novità furono introdotti anche i cosiddetti </a:t>
            </a:r>
            <a:r>
              <a:rPr lang="it-IT" sz="1800" b="1" dirty="0">
                <a:effectLst/>
                <a:latin typeface="Times New Roman" panose="02020603050405020304" pitchFamily="18" charset="0"/>
                <a:ea typeface="Times New Roman" panose="02020603050405020304" pitchFamily="18" charset="0"/>
              </a:rPr>
              <a:t>import statici</a:t>
            </a:r>
            <a:r>
              <a:rPr lang="it-IT" sz="1800" dirty="0">
                <a:effectLst/>
                <a:latin typeface="Times New Roman" panose="02020603050405020304" pitchFamily="18" charset="0"/>
                <a:ea typeface="Times New Roman" panose="02020603050405020304" pitchFamily="18" charset="0"/>
              </a:rPr>
              <a:t>. Con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siamo soliti importare nei nostri file i tipi java (per esempio classi) da altri package. Ovvero è possibile importare all’interno dei nostri file i nomi dei tipi, in modo tale che si possano poi usare senza dover specificare l’intero </a:t>
            </a:r>
            <a:r>
              <a:rPr lang="it-IT" sz="1800" b="1" dirty="0">
                <a:effectLst/>
                <a:latin typeface="Times New Roman" panose="02020603050405020304" pitchFamily="18" charset="0"/>
                <a:ea typeface="Times New Roman" panose="02020603050405020304" pitchFamily="18" charset="0"/>
              </a:rPr>
              <a:t>fully qualified name</a:t>
            </a:r>
            <a:r>
              <a:rPr lang="it-IT" sz="1800" dirty="0">
                <a:effectLst/>
                <a:latin typeface="Times New Roman" panose="02020603050405020304" pitchFamily="18" charset="0"/>
                <a:ea typeface="Times New Roman" panose="02020603050405020304" pitchFamily="18" charset="0"/>
              </a:rPr>
              <a:t> (nome completo di package). Per esempio, volendo utilizzare 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DOMSource</a:t>
            </a:r>
            <a:r>
              <a:rPr lang="it-IT" sz="1800" dirty="0">
                <a:effectLst/>
                <a:latin typeface="Times New Roman" panose="02020603050405020304" pitchFamily="18" charset="0"/>
                <a:ea typeface="Times New Roman" panose="02020603050405020304" pitchFamily="18" charset="0"/>
              </a:rPr>
              <a:t> del package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javax.xml.transform.dom</a:t>
            </a:r>
            <a:r>
              <a:rPr lang="it-IT" sz="1800" dirty="0">
                <a:effectLst/>
                <a:latin typeface="Times New Roman" panose="02020603050405020304" pitchFamily="18" charset="0"/>
                <a:ea typeface="Times New Roman" panose="02020603050405020304" pitchFamily="18" charset="0"/>
              </a:rPr>
              <a:t>, abbiamo due possibilità:</a:t>
            </a:r>
          </a:p>
          <a:p>
            <a:pPr marL="180340" indent="180340"/>
            <a:r>
              <a:rPr lang="it-IT" sz="1800" dirty="0">
                <a:effectLst/>
                <a:latin typeface="Times New Roman" panose="02020603050405020304" pitchFamily="18" charset="0"/>
                <a:ea typeface="MS Mincho" panose="02020609040205080304" pitchFamily="49" charset="-128"/>
              </a:rPr>
              <a:t>Importiamo la classe con un’istruzione come la seguente:</a:t>
            </a:r>
          </a:p>
          <a:p>
            <a:pPr marL="449580"/>
            <a:r>
              <a:rPr lang="en-GB" sz="1800" dirty="0">
                <a:solidFill>
                  <a:srgbClr val="000000"/>
                </a:solidFill>
                <a:effectLst/>
                <a:latin typeface="Courier New" panose="02070309020205020404" pitchFamily="49" charset="0"/>
                <a:ea typeface="Times New Roman" panose="02020603050405020304" pitchFamily="18" charset="0"/>
              </a:rPr>
              <a:t>import </a:t>
            </a:r>
            <a:r>
              <a:rPr lang="en-GB"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449580"/>
            <a:r>
              <a:rPr lang="it-IT" sz="1800" dirty="0">
                <a:effectLst/>
                <a:latin typeface="Times New Roman" panose="02020603050405020304" pitchFamily="18" charset="0"/>
                <a:ea typeface="MS Mincho" panose="02020609040205080304" pitchFamily="49" charset="-128"/>
              </a:rPr>
              <a:t>per poi sfruttarla nel nostro file sorgente utilizzandone solo il nome. Per esempio:</a:t>
            </a:r>
          </a:p>
          <a:p>
            <a:pPr marL="449580"/>
            <a:r>
              <a:rPr lang="it-IT" sz="1800" dirty="0" err="1">
                <a:solidFill>
                  <a:srgbClr val="000000"/>
                </a:solidFill>
                <a:effectLst/>
                <a:latin typeface="Courier New" panose="02070309020205020404" pitchFamily="49" charset="0"/>
                <a:ea typeface="Times New Roman" panose="02020603050405020304" pitchFamily="18" charset="0"/>
              </a:rPr>
              <a:t>DOMSource</a:t>
            </a:r>
            <a:r>
              <a:rPr lang="it-IT" sz="1800" dirty="0">
                <a:solidFill>
                  <a:srgbClr val="000000"/>
                </a:solidFill>
                <a:effectLst/>
                <a:latin typeface="Courier New" panose="02070309020205020404" pitchFamily="49" charset="0"/>
                <a:ea typeface="Times New Roman" panose="02020603050405020304" pitchFamily="18" charset="0"/>
              </a:rPr>
              <a:t> source = new </a:t>
            </a:r>
            <a:r>
              <a:rPr lang="it-IT" sz="1800" dirty="0" err="1">
                <a:solidFill>
                  <a:srgbClr val="000000"/>
                </a:solidFill>
                <a:effectLst/>
                <a:latin typeface="Courier New" panose="02070309020205020404" pitchFamily="49" charset="0"/>
                <a:ea typeface="Times New Roman" panose="02020603050405020304" pitchFamily="18" charset="0"/>
              </a:rPr>
              <a:t>DOMSource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Oppure possiamo scrivere il nome completo di package ogni volta che la utilizziamo. Per esempio:</a:t>
            </a:r>
          </a:p>
          <a:p>
            <a:pPr marL="449580"/>
            <a:r>
              <a:rPr lang="it-IT"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it-IT" sz="1800" dirty="0">
                <a:solidFill>
                  <a:srgbClr val="000000"/>
                </a:solidFill>
                <a:effectLst/>
                <a:latin typeface="Courier New" panose="02070309020205020404" pitchFamily="49" charset="0"/>
                <a:ea typeface="Times New Roman" panose="02020603050405020304" pitchFamily="18" charset="0"/>
              </a:rPr>
              <a:t> source = </a:t>
            </a:r>
            <a:endParaRPr lang="it-IT" sz="1800" dirty="0">
              <a:effectLst/>
              <a:latin typeface="Courier New" panose="02070309020205020404" pitchFamily="49" charset="0"/>
              <a:ea typeface="Times New Roman" panose="02020603050405020304" pitchFamily="18" charset="0"/>
            </a:endParaRPr>
          </a:p>
          <a:p>
            <a:pPr marL="449580"/>
            <a:r>
              <a:rPr lang="it-IT" sz="1800" dirty="0">
                <a:solidFill>
                  <a:srgbClr val="000000"/>
                </a:solidFill>
                <a:effectLst/>
                <a:latin typeface="Courier New" panose="02070309020205020404" pitchFamily="49" charset="0"/>
                <a:ea typeface="Times New Roman" panose="02020603050405020304" pitchFamily="18" charset="0"/>
              </a:rPr>
              <a:t>    new </a:t>
            </a:r>
            <a:r>
              <a:rPr lang="it-IT" sz="1800" dirty="0" err="1">
                <a:solidFill>
                  <a:srgbClr val="000000"/>
                </a:solidFill>
                <a:effectLst/>
                <a:latin typeface="Courier New" panose="02070309020205020404" pitchFamily="49" charset="0"/>
                <a:ea typeface="Times New Roman" panose="02020603050405020304" pitchFamily="18" charset="0"/>
              </a:rPr>
              <a:t>javax.xml.transform.dom.DOMSource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Chiaramente la prima soluzione è preferibile. </a:t>
            </a:r>
          </a:p>
          <a:p>
            <a:r>
              <a:rPr lang="it-IT" sz="1800" dirty="0">
                <a:effectLst/>
                <a:latin typeface="Times New Roman" panose="02020603050405020304" pitchFamily="18" charset="0"/>
                <a:ea typeface="Times New Roman" panose="02020603050405020304" pitchFamily="18" charset="0"/>
              </a:rPr>
              <a:t>In alcuni casi, però, potremmo desiderare di importare nel file solo ciò che è dichiarato statico all’interno di una certa classe, e non la classe stessa. Per esempio, sapendo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contiene solo metodi e costanti statiche, potremmo voler importare, piuttosto che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Math</a:t>
            </a:r>
            <a:r>
              <a:rPr lang="it-IT" sz="1800" dirty="0">
                <a:effectLst/>
                <a:latin typeface="Times New Roman" panose="02020603050405020304" pitchFamily="18" charset="0"/>
                <a:ea typeface="Times New Roman" panose="02020603050405020304" pitchFamily="18" charset="0"/>
              </a:rPr>
              <a:t>, solo i suoi membri statici. Per fare questo, bisogna utilizzare il seguente comando di import statico:</a:t>
            </a: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abbiamo importato tutti i membri statici all’interno del file. Quindi sarà lecito scrivere, in luogo di:</a:t>
            </a:r>
          </a:p>
          <a:p>
            <a:r>
              <a:rPr lang="it-IT" sz="1800" dirty="0">
                <a:solidFill>
                  <a:srgbClr val="000000"/>
                </a:solidFill>
                <a:effectLst/>
                <a:latin typeface="Courier New" panose="02070309020205020404" pitchFamily="49" charset="0"/>
                <a:ea typeface="Times New Roman" panose="02020603050405020304" pitchFamily="18" charset="0"/>
              </a:rPr>
              <a:t>double d = </a:t>
            </a:r>
            <a:r>
              <a:rPr lang="it-IT" sz="1800" dirty="0" err="1">
                <a:solidFill>
                  <a:srgbClr val="000000"/>
                </a:solidFill>
                <a:effectLst/>
                <a:latin typeface="Courier New" panose="02070309020205020404" pitchFamily="49" charset="0"/>
                <a:ea typeface="Times New Roman" panose="02020603050405020304" pitchFamily="18" charset="0"/>
              </a:rPr>
              <a:t>Math.sqrt</a:t>
            </a:r>
            <a:r>
              <a:rPr lang="it-IT" sz="1800" dirty="0">
                <a:solidFill>
                  <a:srgbClr val="000000"/>
                </a:solidFill>
                <a:effectLst/>
                <a:latin typeface="Courier New" panose="02070309020205020404" pitchFamily="49" charset="0"/>
                <a:ea typeface="Times New Roman" panose="02020603050405020304" pitchFamily="18" charset="0"/>
              </a:rPr>
              <a: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direttamente:</a:t>
            </a:r>
          </a:p>
          <a:p>
            <a:r>
              <a:rPr lang="it-IT" sz="1800" dirty="0">
                <a:solidFill>
                  <a:srgbClr val="000000"/>
                </a:solidFill>
                <a:effectLst/>
                <a:latin typeface="Courier New" panose="02070309020205020404" pitchFamily="49" charset="0"/>
                <a:ea typeface="Times New Roman" panose="02020603050405020304" pitchFamily="18" charset="0"/>
              </a:rPr>
              <a:t>double d = </a:t>
            </a:r>
            <a:r>
              <a:rPr lang="it-IT" sz="1800" dirty="0" err="1">
                <a:solidFill>
                  <a:srgbClr val="000000"/>
                </a:solidFill>
                <a:effectLst/>
                <a:latin typeface="Courier New" panose="02070309020205020404" pitchFamily="49" charset="0"/>
                <a:ea typeface="Times New Roman" panose="02020603050405020304" pitchFamily="18" charset="0"/>
              </a:rPr>
              <a:t>sqrt</a:t>
            </a:r>
            <a:r>
              <a:rPr lang="it-IT" sz="1800" dirty="0">
                <a:solidFill>
                  <a:srgbClr val="000000"/>
                </a:solidFill>
                <a:effectLst/>
                <a:latin typeface="Courier New" panose="02070309020205020404" pitchFamily="49" charset="0"/>
                <a:ea typeface="Times New Roman" panose="02020603050405020304" pitchFamily="18" charset="0"/>
              </a:rPr>
              <a:t>(4);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senza anteporre il nome della classe al metodo statico. È anche possibile (e preferibile) importare staticamente solo alcuni membri specifici, per esempio:</a:t>
            </a: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java.lang.Math.PI</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java.lang.Math.random</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java.sql.DriverManager.getConnection</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import static </a:t>
            </a:r>
            <a:r>
              <a:rPr lang="it-IT" sz="1800" dirty="0" err="1">
                <a:solidFill>
                  <a:srgbClr val="000000"/>
                </a:solidFill>
                <a:effectLst/>
                <a:latin typeface="Courier New" panose="02070309020205020404" pitchFamily="49" charset="0"/>
                <a:ea typeface="Times New Roman" panose="02020603050405020304" pitchFamily="18" charset="0"/>
              </a:rPr>
              <a:t>java.lang.System.out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come 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di nomi di metodi statici, non specifichi le parentesi con i relativi argomenti.</a:t>
            </a:r>
          </a:p>
          <a:p>
            <a:r>
              <a:rPr lang="it-IT" sz="1800" dirty="0">
                <a:effectLst/>
                <a:latin typeface="Times New Roman" panose="02020603050405020304" pitchFamily="18" charset="0"/>
                <a:ea typeface="Times New Roman" panose="02020603050405020304" pitchFamily="18" charset="0"/>
              </a:rPr>
              <a:t>L’utilizzo di import statici non è sempre vantaggioso, e per ora ne sconsigliamo l’utilizzo. Torneremo sull’argomento quando tratteremo le enumerazioni.</a:t>
            </a:r>
          </a:p>
        </p:txBody>
      </p:sp>
      <p:sp>
        <p:nvSpPr>
          <p:cNvPr id="4" name="Segnaposto numero diapositiva 3"/>
          <p:cNvSpPr>
            <a:spLocks noGrp="1"/>
          </p:cNvSpPr>
          <p:nvPr>
            <p:ph type="sldNum" sz="quarter" idx="5"/>
          </p:nvPr>
        </p:nvSpPr>
        <p:spPr/>
        <p:txBody>
          <a:bodyPr/>
          <a:lstStyle/>
          <a:p>
            <a:fld id="{545D8BF2-49EE-4CE2-A2D7-61B744D1E4D9}" type="slidenum">
              <a:rPr lang="it-IT" smtClean="0"/>
              <a:t>38</a:t>
            </a:fld>
            <a:endParaRPr lang="it-IT"/>
          </a:p>
        </p:txBody>
      </p:sp>
    </p:spTree>
    <p:extLst>
      <p:ext uri="{BB962C8B-B14F-4D97-AF65-F5344CB8AC3E}">
        <p14:creationId xmlns:p14="http://schemas.microsoft.com/office/powerpoint/2010/main" val="2679859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come abbiamo assegnato un valore primitivo al reference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della classe wrapper </a:t>
            </a:r>
            <a:r>
              <a:rPr lang="it-IT" sz="1800" b="1"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È possibile farlo perché la caratteristiche nota come </a:t>
            </a:r>
            <a:r>
              <a:rPr lang="it-IT" sz="1800" b="1" i="1" dirty="0">
                <a:solidFill>
                  <a:srgbClr val="000000"/>
                </a:solidFill>
                <a:effectLst/>
                <a:latin typeface="Times New Roman" panose="02020603050405020304" pitchFamily="18" charset="0"/>
                <a:ea typeface="Times New Roman" panose="02020603050405020304" pitchFamily="18" charset="0"/>
              </a:rPr>
              <a:t>autoboxing-unboxing</a:t>
            </a:r>
            <a:r>
              <a:rPr lang="it-IT" sz="1800" b="1" dirty="0">
                <a:solidFill>
                  <a:srgbClr val="000000"/>
                </a:solidFill>
                <a:effectLst/>
                <a:latin typeface="Times New Roman" panose="02020603050405020304" pitchFamily="18" charset="0"/>
                <a:ea typeface="Times New Roman" panose="02020603050405020304" pitchFamily="18" charset="0"/>
              </a:rPr>
              <a:t>, permette di assegnare un valore di tipo </a:t>
            </a:r>
            <a:r>
              <a:rPr lang="it-IT" sz="1800" b="1" dirty="0" err="1">
                <a:solidFill>
                  <a:srgbClr val="000000"/>
                </a:solidFill>
                <a:effectLst/>
                <a:latin typeface="Times New Roman" panose="02020603050405020304" pitchFamily="18" charset="0"/>
                <a:ea typeface="Times New Roman" panose="02020603050405020304" pitchFamily="18" charset="0"/>
              </a:rPr>
              <a:t>primitvo</a:t>
            </a:r>
            <a:r>
              <a:rPr lang="it-IT" sz="1800" b="1" dirty="0">
                <a:solidFill>
                  <a:srgbClr val="000000"/>
                </a:solidFill>
                <a:effectLst/>
                <a:latin typeface="Times New Roman" panose="02020603050405020304" pitchFamily="18" charset="0"/>
                <a:ea typeface="Times New Roman" panose="02020603050405020304" pitchFamily="18" charset="0"/>
              </a:rPr>
              <a:t>, ad un reference del relativo tipo wrapper (in questo caso un </a:t>
            </a:r>
            <a:r>
              <a:rPr lang="it-IT" sz="1800" b="0" dirty="0">
                <a:solidFill>
                  <a:srgbClr val="000000"/>
                </a:solidFill>
                <a:effectLst/>
                <a:latin typeface="Courier New" panose="02070309020205020404" pitchFamily="49" charset="0"/>
                <a:ea typeface="Times New Roman" panose="02020603050405020304" pitchFamily="18" charset="0"/>
              </a:rPr>
              <a:t>int</a:t>
            </a:r>
            <a:r>
              <a:rPr lang="it-IT" sz="1800" b="1" dirty="0">
                <a:solidFill>
                  <a:srgbClr val="000000"/>
                </a:solidFill>
                <a:effectLst/>
                <a:latin typeface="Times New Roman" panose="02020603050405020304" pitchFamily="18" charset="0"/>
                <a:ea typeface="Times New Roman" panose="02020603050405020304" pitchFamily="18" charset="0"/>
              </a:rPr>
              <a:t> ad un </a:t>
            </a:r>
            <a:r>
              <a:rPr lang="it-IT" sz="1800" b="0"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e viceversa. Quindi il tipo della variabile di test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potrebbe anche essere dichiarato con il tipo primitivo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non cambierebbe nulla.</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39</a:t>
            </a:fld>
            <a:endParaRPr lang="it-IT"/>
          </a:p>
        </p:txBody>
      </p:sp>
    </p:spTree>
    <p:extLst>
      <p:ext uri="{BB962C8B-B14F-4D97-AF65-F5344CB8AC3E}">
        <p14:creationId xmlns:p14="http://schemas.microsoft.com/office/powerpoint/2010/main" val="31968241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b="1" dirty="0">
                <a:effectLst/>
                <a:latin typeface="Times New Roman" panose="02020603050405020304" pitchFamily="18" charset="0"/>
                <a:ea typeface="Times New Roman" panose="02020603050405020304" pitchFamily="18" charset="0"/>
              </a:rPr>
              <a:t>[ICONA APPROFONDIMENTO 5.5]</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Nell’approfondimento 5.5  trovate un’introduzione ai design pattern.</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40</a:t>
            </a:fld>
            <a:endParaRPr lang="it-IT"/>
          </a:p>
        </p:txBody>
      </p:sp>
    </p:spTree>
    <p:extLst>
      <p:ext uri="{BB962C8B-B14F-4D97-AF65-F5344CB8AC3E}">
        <p14:creationId xmlns:p14="http://schemas.microsoft.com/office/powerpoint/2010/main" val="15768616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b="1" dirty="0">
                <a:effectLst/>
                <a:latin typeface="Times New Roman" panose="02020603050405020304" pitchFamily="18" charset="0"/>
                <a:ea typeface="Times New Roman" panose="02020603050405020304" pitchFamily="18" charset="0"/>
              </a:rPr>
              <a:t>[ICONA APPROFONDIMENTO 5.5]</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Nell’approfondimento 5.5  trovate un’introduzione ai design pattern.</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41</a:t>
            </a:fld>
            <a:endParaRPr lang="it-IT"/>
          </a:p>
        </p:txBody>
      </p:sp>
    </p:spTree>
    <p:extLst>
      <p:ext uri="{BB962C8B-B14F-4D97-AF65-F5344CB8AC3E}">
        <p14:creationId xmlns:p14="http://schemas.microsoft.com/office/powerpoint/2010/main" val="3858080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Si noti come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getInstance</a:t>
            </a:r>
            <a:r>
              <a:rPr lang="it-IT" sz="1800" dirty="0">
                <a:effectLst/>
                <a:latin typeface="Times New Roman" panose="02020603050405020304" pitchFamily="18" charset="0"/>
                <a:ea typeface="Times New Roman" panose="02020603050405020304" pitchFamily="18" charset="0"/>
              </a:rPr>
              <a:t>, essendo interno alla classe, possa utilizzare il metodo costruttore (anche se privato) per istanziare la classe stessa. Per la logica che definisce sarà creato un oggetto solo la prima volta che sarà chiamato questo metodo ed assegnato all’attributo statico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instance</a:t>
            </a:r>
            <a:r>
              <a:rPr lang="it-IT" sz="1800" dirty="0">
                <a:effectLst/>
                <a:latin typeface="Times New Roman" panose="02020603050405020304" pitchFamily="18" charset="0"/>
                <a:ea typeface="Times New Roman" panose="02020603050405020304" pitchFamily="18" charset="0"/>
              </a:rPr>
              <a:t>. Dalla seconda chiamata in poi questo metodo restituirà sempre la stessa istanza.</a:t>
            </a:r>
          </a:p>
          <a:p>
            <a:r>
              <a:rPr lang="it-IT" sz="1800" dirty="0">
                <a:effectLst/>
                <a:latin typeface="Times New Roman" panose="02020603050405020304" pitchFamily="18" charset="0"/>
                <a:ea typeface="Times New Roman" panose="02020603050405020304" pitchFamily="18" charset="0"/>
              </a:rPr>
              <a:t>Quindi per ottenere l’unica istanza della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SingletonExample</a:t>
            </a:r>
            <a:r>
              <a:rPr lang="it-IT" sz="1800" dirty="0">
                <a:effectLst/>
                <a:latin typeface="Times New Roman" panose="02020603050405020304" pitchFamily="18" charset="0"/>
                <a:ea typeface="Times New Roman" panose="02020603050405020304" pitchFamily="18" charset="0"/>
              </a:rPr>
              <a:t>, le altre classi dovranno usare questa sintassi:</a:t>
            </a:r>
          </a:p>
          <a:p>
            <a:r>
              <a:rPr lang="it-IT" sz="1800" dirty="0" err="1">
                <a:solidFill>
                  <a:srgbClr val="000000"/>
                </a:solidFill>
                <a:effectLst/>
                <a:latin typeface="Courier New" panose="02070309020205020404" pitchFamily="49" charset="0"/>
                <a:ea typeface="Times New Roman" panose="02020603050405020304" pitchFamily="18" charset="0"/>
              </a:rPr>
              <a:t>SingletonExample</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unicaIstanza</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SingletonExample.getInstance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 saremo sicuri che tutte queste classi utilizzeranno sempre la stessa istanza di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SingletonExample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APPROFONDIMENTO 5.6]</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Nell’approfondimento 5.6  trovate un class diagram di questa implementazione.</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42</a:t>
            </a:fld>
            <a:endParaRPr lang="it-IT"/>
          </a:p>
        </p:txBody>
      </p:sp>
    </p:spTree>
    <p:extLst>
      <p:ext uri="{BB962C8B-B14F-4D97-AF65-F5344CB8AC3E}">
        <p14:creationId xmlns:p14="http://schemas.microsoft.com/office/powerpoint/2010/main" val="39941375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è a </a:t>
            </a:r>
            <a:r>
              <a:rPr lang="it-IT" sz="1800" b="1" dirty="0">
                <a:effectLst/>
                <a:latin typeface="Times New Roman" panose="02020603050405020304" pitchFamily="18" charset="0"/>
                <a:ea typeface="Times New Roman" panose="02020603050405020304" pitchFamily="18" charset="0"/>
              </a:rPr>
              <a:t>schema libero</a:t>
            </a:r>
            <a:r>
              <a:rPr lang="it-IT" sz="1800" dirty="0">
                <a:effectLst/>
                <a:latin typeface="Times New Roman" panose="02020603050405020304" pitchFamily="18" charset="0"/>
                <a:ea typeface="Times New Roman" panose="02020603050405020304" pitchFamily="18" charset="0"/>
              </a:rPr>
              <a:t> ma l’indentazione del codice è fondamentale per la leggibilità dei nostri programmi. Supporta tre tipologie di </a:t>
            </a:r>
            <a:r>
              <a:rPr lang="it-IT" sz="1800" b="1" dirty="0">
                <a:effectLst/>
                <a:latin typeface="Times New Roman" panose="02020603050405020304" pitchFamily="18" charset="0"/>
                <a:ea typeface="Times New Roman" panose="02020603050405020304" pitchFamily="18" charset="0"/>
              </a:rPr>
              <a:t>commenti</a:t>
            </a:r>
            <a:r>
              <a:rPr lang="it-IT" sz="1800" dirty="0">
                <a:effectLst/>
                <a:latin typeface="Times New Roman" panose="02020603050405020304" pitchFamily="18" charset="0"/>
                <a:ea typeface="Times New Roman" panose="02020603050405020304" pitchFamily="18" charset="0"/>
              </a:rPr>
              <a:t> (a singola </a:t>
            </a:r>
            <a:r>
              <a:rPr lang="it-IT" sz="1800" b="1" dirty="0">
                <a:effectLst/>
                <a:latin typeface="Times New Roman" panose="02020603050405020304" pitchFamily="18" charset="0"/>
                <a:ea typeface="Times New Roman" panose="02020603050405020304" pitchFamily="18" charset="0"/>
              </a:rPr>
              <a:t>linea</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multilinea</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È un linguaggio </a:t>
            </a:r>
            <a:r>
              <a:rPr lang="it-IT" sz="1800" b="1" dirty="0">
                <a:effectLst/>
                <a:latin typeface="Times New Roman" panose="02020603050405020304" pitchFamily="18" charset="0"/>
                <a:ea typeface="Times New Roman" panose="02020603050405020304" pitchFamily="18" charset="0"/>
              </a:rPr>
              <a:t>case sensitive</a:t>
            </a:r>
            <a:r>
              <a:rPr lang="it-IT" sz="1800" dirty="0">
                <a:effectLst/>
                <a:latin typeface="Times New Roman" panose="02020603050405020304" pitchFamily="18" charset="0"/>
                <a:ea typeface="Times New Roman" panose="02020603050405020304" pitchFamily="18" charset="0"/>
              </a:rPr>
              <a:t> e definisce </a:t>
            </a:r>
            <a:r>
              <a:rPr lang="it-IT" sz="1800" b="1" dirty="0">
                <a:effectLst/>
                <a:latin typeface="Times New Roman" panose="02020603050405020304" pitchFamily="18" charset="0"/>
                <a:ea typeface="Times New Roman" panose="02020603050405020304" pitchFamily="18" charset="0"/>
              </a:rPr>
              <a:t>parole chiave</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riservate</a:t>
            </a:r>
            <a:r>
              <a:rPr lang="it-IT" sz="1800" dirty="0">
                <a:effectLst/>
                <a:latin typeface="Times New Roman" panose="02020603050405020304" pitchFamily="18" charset="0"/>
                <a:ea typeface="Times New Roman" panose="02020603050405020304" pitchFamily="18" charset="0"/>
              </a:rPr>
              <a:t> che non possono essere usate come </a:t>
            </a:r>
            <a:r>
              <a:rPr lang="it-IT" sz="1800" b="1"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a utilizzo limitate</a:t>
            </a:r>
            <a:r>
              <a:rPr lang="it-IT" sz="1800" dirty="0">
                <a:effectLst/>
                <a:latin typeface="Times New Roman" panose="02020603050405020304" pitchFamily="18" charset="0"/>
                <a:ea typeface="Times New Roman" panose="02020603050405020304" pitchFamily="18" charset="0"/>
              </a:rPr>
              <a:t> e un </a:t>
            </a:r>
            <a:r>
              <a:rPr lang="it-IT" sz="1800" b="1" dirty="0">
                <a:effectLst/>
                <a:latin typeface="Times New Roman" panose="02020603050405020304" pitchFamily="18" charset="0"/>
                <a:ea typeface="Times New Roman" panose="02020603050405020304" pitchFamily="18" charset="0"/>
              </a:rPr>
              <a:t>nome di tipo riservato</a:t>
            </a:r>
            <a:r>
              <a:rPr lang="it-IT" sz="1800" dirty="0">
                <a:effectLst/>
                <a:latin typeface="Times New Roman" panose="02020603050405020304" pitchFamily="18" charset="0"/>
                <a:ea typeface="Times New Roman" panose="02020603050405020304" pitchFamily="18" charset="0"/>
              </a:rPr>
              <a:t> che in alcuni casi non possono essere usate come </a:t>
            </a:r>
            <a:r>
              <a:rPr lang="it-IT" sz="1800" b="0"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Questi possono essere composti solo da determinati </a:t>
            </a:r>
            <a:r>
              <a:rPr lang="it-IT" sz="1800" b="1" dirty="0">
                <a:effectLst/>
                <a:latin typeface="Times New Roman" panose="02020603050405020304" pitchFamily="18" charset="0"/>
                <a:ea typeface="Times New Roman" panose="02020603050405020304" pitchFamily="18" charset="0"/>
              </a:rPr>
              <a:t>caratteri e simboli</a:t>
            </a:r>
            <a:r>
              <a:rPr lang="it-IT" sz="1800" dirty="0">
                <a:effectLst/>
                <a:latin typeface="Times New Roman" panose="02020603050405020304" pitchFamily="18" charset="0"/>
                <a:ea typeface="Times New Roman" panose="02020603050405020304" pitchFamily="18" charset="0"/>
              </a:rPr>
              <a:t> e vanno dichiarati rispettando le </a:t>
            </a:r>
            <a:r>
              <a:rPr lang="it-IT" sz="1800" b="1" dirty="0">
                <a:effectLst/>
                <a:latin typeface="Times New Roman" panose="02020603050405020304" pitchFamily="18" charset="0"/>
                <a:ea typeface="Times New Roman" panose="02020603050405020304" pitchFamily="18" charset="0"/>
              </a:rPr>
              <a:t>convenzioni standard</a:t>
            </a:r>
            <a:r>
              <a:rPr lang="it-IT" sz="1800" dirty="0">
                <a:effectLst/>
                <a:latin typeface="Times New Roman" panose="02020603050405020304" pitchFamily="18" charset="0"/>
                <a:ea typeface="Times New Roman" panose="02020603050405020304" pitchFamily="18" charset="0"/>
              </a:rPr>
              <a:t> di Java.</a:t>
            </a:r>
          </a:p>
          <a:p>
            <a:r>
              <a:rPr lang="it-IT" sz="1800" dirty="0">
                <a:effectLst/>
                <a:latin typeface="Times New Roman" panose="02020603050405020304" pitchFamily="18" charset="0"/>
                <a:ea typeface="Times New Roman" panose="02020603050405020304" pitchFamily="18" charset="0"/>
              </a:rPr>
              <a:t>La memoria è una sequenza di unità di memoria dette </a:t>
            </a:r>
            <a:r>
              <a:rPr lang="it-IT" sz="1800" b="1" dirty="0">
                <a:effectLst/>
                <a:latin typeface="Times New Roman" panose="02020603050405020304" pitchFamily="18" charset="0"/>
                <a:ea typeface="Times New Roman" panose="02020603050405020304" pitchFamily="18" charset="0"/>
              </a:rPr>
              <a:t>byte</a:t>
            </a:r>
            <a:r>
              <a:rPr lang="it-IT" sz="1800" dirty="0">
                <a:effectLst/>
                <a:latin typeface="Times New Roman" panose="02020603050405020304" pitchFamily="18" charset="0"/>
                <a:ea typeface="Times New Roman" panose="02020603050405020304" pitchFamily="18" charset="0"/>
              </a:rPr>
              <a:t>. Ogni byte è composto da 8 </a:t>
            </a:r>
            <a:r>
              <a:rPr lang="it-IT" sz="1800" b="1" dirty="0">
                <a:effectLst/>
                <a:latin typeface="Times New Roman" panose="02020603050405020304" pitchFamily="18" charset="0"/>
                <a:ea typeface="Times New Roman" panose="02020603050405020304" pitchFamily="18" charset="0"/>
              </a:rPr>
              <a:t>bit</a:t>
            </a:r>
            <a:r>
              <a:rPr lang="it-IT" sz="1800" dirty="0">
                <a:effectLst/>
                <a:latin typeface="Times New Roman" panose="02020603050405020304" pitchFamily="18" charset="0"/>
                <a:ea typeface="Times New Roman" panose="02020603050405020304" pitchFamily="18" charset="0"/>
              </a:rPr>
              <a:t> ed ogni bit può immagazzinare un unico valore tra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 sistemi numerici </a:t>
            </a:r>
            <a:r>
              <a:rPr lang="it-IT" sz="1800" b="1" dirty="0">
                <a:effectLst/>
                <a:latin typeface="Times New Roman" panose="02020603050405020304" pitchFamily="18" charset="0"/>
                <a:ea typeface="Times New Roman" panose="02020603050405020304" pitchFamily="18" charset="0"/>
              </a:rPr>
              <a:t>decimale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binario</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ottale</a:t>
            </a:r>
            <a:r>
              <a:rPr lang="it-IT" sz="1800" dirty="0">
                <a:effectLst/>
                <a:latin typeface="Times New Roman" panose="02020603050405020304" pitchFamily="18" charset="0"/>
                <a:ea typeface="Times New Roman" panose="02020603050405020304" pitchFamily="18" charset="0"/>
              </a:rPr>
              <a:t> ed </a:t>
            </a:r>
            <a:r>
              <a:rPr lang="it-IT" sz="1800" b="1" dirty="0">
                <a:effectLst/>
                <a:latin typeface="Times New Roman" panose="02020603050405020304" pitchFamily="18" charset="0"/>
                <a:ea typeface="Times New Roman" panose="02020603050405020304" pitchFamily="18" charset="0"/>
              </a:rPr>
              <a:t>esadecimale</a:t>
            </a:r>
            <a:r>
              <a:rPr lang="it-IT" sz="1800" dirty="0">
                <a:effectLst/>
                <a:latin typeface="Times New Roman" panose="02020603050405020304" pitchFamily="18" charset="0"/>
                <a:ea typeface="Times New Roman" panose="02020603050405020304" pitchFamily="18" charset="0"/>
              </a:rPr>
              <a:t> sono sistemi posizionali e possono rappresentare qualsiasi dato intero. Java usa il metodo di rappresentazione noto come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per la rappresentazione dei numeri con segno. All’interno di un byte il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conterrà il valore del segno del numero, e ogni byte potrà rappresentare un numero compreso tra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I byte hanno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che il programma usa per salvare e recuperare successivamente i dati in maniera performante. Un numero maggiore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sarà immagazzinato in più byte adiacenti.</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interi</a:t>
            </a:r>
            <a:r>
              <a:rPr lang="it-IT" sz="1800" dirty="0">
                <a:effectLst/>
                <a:latin typeface="Times New Roman" panose="02020603050405020304" pitchFamily="18" charset="0"/>
                <a:ea typeface="Times New Roman" panose="02020603050405020304" pitchFamily="18" charset="0"/>
              </a:rPr>
              <a:t> sono quattro, e differiscono non per funzionalità ma solo per come vengono immagazzinati in memoria. Il più utilizzato è indubbiamente </a:t>
            </a:r>
            <a:r>
              <a:rPr lang="it-IT" sz="1800" b="1" dirty="0" err="1">
                <a:effectLst/>
                <a:latin typeface="Times New Roman" panose="02020603050405020304" pitchFamily="18" charset="0"/>
                <a:ea typeface="Times New Roman" panose="02020603050405020304" pitchFamily="18" charset="0"/>
              </a:rPr>
              <a:t>l’</a:t>
            </a:r>
            <a:r>
              <a:rPr lang="it-IT" sz="1800" b="1" dirty="0" err="1">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è a 32 bit. Meno utilizzati ci sono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(8 bit), lo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(16 bit) e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(a 64 bit).</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a virgola mobile</a:t>
            </a:r>
            <a:r>
              <a:rPr lang="it-IT" sz="1800" dirty="0">
                <a:effectLst/>
                <a:latin typeface="Times New Roman" panose="02020603050405020304" pitchFamily="18" charset="0"/>
                <a:ea typeface="Times New Roman" panose="02020603050405020304" pitchFamily="18" charset="0"/>
              </a:rPr>
              <a:t> sono due: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float</a:t>
            </a:r>
            <a:r>
              <a:rPr lang="it-IT" sz="1800" dirty="0">
                <a:effectLst/>
                <a:latin typeface="Times New Roman" panose="02020603050405020304" pitchFamily="18" charset="0"/>
                <a:ea typeface="Times New Roman" panose="02020603050405020304" pitchFamily="18" charset="0"/>
              </a:rPr>
              <a:t> (a 32 bit) e il più utilizzato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(64 bit), ed utilizzano lo standard IEEE-754 per la rappresentazione dei numeri reali e per eseguire operazioni matematiche.</a:t>
            </a:r>
          </a:p>
          <a:p>
            <a:r>
              <a:rPr lang="it-IT" sz="1800" dirty="0">
                <a:effectLst/>
                <a:latin typeface="Times New Roman" panose="02020603050405020304" pitchFamily="18" charset="0"/>
                <a:ea typeface="Times New Roman" panose="02020603050405020304" pitchFamily="18" charset="0"/>
              </a:rPr>
              <a:t>Per tutti questi dati esistono varie problematiche (come la </a:t>
            </a:r>
            <a:r>
              <a:rPr lang="it-IT" sz="1800" b="1" dirty="0">
                <a:effectLst/>
                <a:latin typeface="Times New Roman" panose="02020603050405020304" pitchFamily="18" charset="0"/>
                <a:ea typeface="Times New Roman" panose="02020603050405020304" pitchFamily="18" charset="0"/>
              </a:rPr>
              <a:t>promotion</a:t>
            </a:r>
            <a:r>
              <a:rPr lang="it-IT" sz="1800" b="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l’approssimazione</a:t>
            </a:r>
            <a:r>
              <a:rPr lang="it-IT" sz="1800" b="0" dirty="0">
                <a:effectLst/>
                <a:latin typeface="Times New Roman" panose="02020603050405020304" pitchFamily="18" charset="0"/>
                <a:ea typeface="Times New Roman" panose="02020603050405020304" pitchFamily="18" charset="0"/>
              </a:rPr>
              <a:t> dei numeri reali</a:t>
            </a:r>
            <a:r>
              <a:rPr lang="it-IT" sz="1800" dirty="0">
                <a:effectLst/>
                <a:latin typeface="Times New Roman" panose="02020603050405020304" pitchFamily="18" charset="0"/>
                <a:ea typeface="Times New Roman" panose="02020603050405020304" pitchFamily="18" charset="0"/>
              </a:rPr>
              <a:t>) per quanto riguardano le operazioni aritmetiche. Il </a:t>
            </a:r>
            <a:r>
              <a:rPr lang="it-IT" sz="1800" b="1" dirty="0">
                <a:effectLst/>
                <a:latin typeface="Times New Roman" panose="02020603050405020304" pitchFamily="18" charset="0"/>
                <a:ea typeface="Times New Roman" panose="02020603050405020304" pitchFamily="18" charset="0"/>
              </a:rPr>
              <a:t>cast</a:t>
            </a:r>
            <a:r>
              <a:rPr lang="it-IT" sz="1800" dirty="0">
                <a:effectLst/>
                <a:latin typeface="Times New Roman" panose="02020603050405020304" pitchFamily="18" charset="0"/>
                <a:ea typeface="Times New Roman" panose="02020603050405020304" pitchFamily="18" charset="0"/>
              </a:rPr>
              <a:t> permette di adattare un certo tipo di dato ad essere trattato come un altro tipo di dato.</a:t>
            </a:r>
          </a:p>
          <a:p>
            <a:r>
              <a:rPr lang="it-IT" sz="1800" dirty="0">
                <a:effectLst/>
                <a:latin typeface="Times New Roman" panose="02020603050405020304" pitchFamily="18" charset="0"/>
                <a:ea typeface="Times New Roman" panose="02020603050405020304" pitchFamily="18" charset="0"/>
              </a:rPr>
              <a:t>Il tipo di </a:t>
            </a:r>
            <a:r>
              <a:rPr lang="it-IT" sz="1800" b="1" dirty="0">
                <a:effectLst/>
                <a:latin typeface="Times New Roman" panose="02020603050405020304" pitchFamily="18" charset="0"/>
                <a:ea typeface="Times New Roman" panose="02020603050405020304" pitchFamily="18" charset="0"/>
              </a:rPr>
              <a:t>carattere logico-booleano</a:t>
            </a:r>
            <a:r>
              <a:rPr lang="it-IT" sz="1800" dirty="0">
                <a:effectLst/>
                <a:latin typeface="Times New Roman" panose="02020603050405020304" pitchFamily="18" charset="0"/>
                <a:ea typeface="Times New Roman" panose="02020603050405020304" pitchFamily="18" charset="0"/>
              </a:rPr>
              <a:t> è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boolean</a:t>
            </a:r>
            <a:r>
              <a:rPr lang="it-IT" sz="1800" dirty="0">
                <a:effectLst/>
                <a:latin typeface="Times New Roman" panose="02020603050405020304" pitchFamily="18" charset="0"/>
                <a:ea typeface="Times New Roman" panose="02020603050405020304" pitchFamily="18" charset="0"/>
              </a:rPr>
              <a:t>, che può assumere come valore solo due literals: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Vengono definiti </a:t>
            </a:r>
            <a:r>
              <a:rPr lang="it-IT" sz="1800" b="1" dirty="0">
                <a:effectLst/>
                <a:latin typeface="Times New Roman" panose="02020603050405020304" pitchFamily="18" charset="0"/>
                <a:ea typeface="Times New Roman" panose="02020603050405020304" pitchFamily="18" charset="0"/>
              </a:rPr>
              <a:t>literals</a:t>
            </a:r>
            <a:r>
              <a:rPr lang="it-IT" sz="1800" dirty="0">
                <a:effectLst/>
                <a:latin typeface="Times New Roman" panose="02020603050405020304" pitchFamily="18" charset="0"/>
                <a:ea typeface="Times New Roman" panose="02020603050405020304" pitchFamily="18" charset="0"/>
              </a:rPr>
              <a:t> i valori che vengono specificati nel codice sorgente invece che al runtime. Possono rappresentare variabili primitive o stringhe e possono apparire solo sul lato destro di un’assegnazione o come argomenti quando si invocano metodi. Non è possibile assegnare valori ai literals. In pratica sono i valori costanti che si assegnano alle variabili.</a:t>
            </a:r>
          </a:p>
          <a:p>
            <a:r>
              <a:rPr lang="it-IT" sz="1800" dirty="0">
                <a:effectLst/>
                <a:latin typeface="Times New Roman" panose="02020603050405020304" pitchFamily="18" charset="0"/>
                <a:ea typeface="Times New Roman" panose="02020603050405020304" pitchFamily="18" charset="0"/>
              </a:rPr>
              <a:t>L’unico tipo di dato primitivo letterale è il </a:t>
            </a:r>
            <a:r>
              <a:rPr lang="it-IT" sz="1800" b="1" dirty="0">
                <a:effectLst/>
                <a:latin typeface="Times New Roman" panose="02020603050405020304" pitchFamily="18" charset="0"/>
                <a:ea typeface="Times New Roman" panose="02020603050405020304" pitchFamily="18" charset="0"/>
              </a:rPr>
              <a:t>carattere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che può essere utilizzato per immagazzinare un singolo carattere incluso tra una coppia di apici singoli. È possibile utilizzare tre tipi di formati diversi, il formato ordinario (con un carattere stampabile), il formato Unicode (che fa uso del sistema esadecimale) e i caratteri di escape. Un carattere è comunque rappresentato da un numero intero ed utilizza lo standard di decodifica Unicode in qualsiasi caso. </a:t>
            </a:r>
          </a:p>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stringa</a:t>
            </a:r>
            <a:r>
              <a:rPr lang="it-IT" sz="1800" dirty="0">
                <a:effectLst/>
                <a:latin typeface="Times New Roman" panose="02020603050405020304" pitchFamily="18" charset="0"/>
                <a:ea typeface="Times New Roman" panose="02020603050405020304" pitchFamily="18" charset="0"/>
              </a:rPr>
              <a:t> invece può immagazzinare frasi intere e il suo valore va incluso tra due virgolette. Una stringa è un oggetto incluso nel package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java.lang</a:t>
            </a:r>
            <a:r>
              <a:rPr lang="it-IT" sz="1800" dirty="0">
                <a:effectLst/>
                <a:latin typeface="Times New Roman" panose="02020603050405020304" pitchFamily="18" charset="0"/>
                <a:ea typeface="Times New Roman" panose="02020603050405020304" pitchFamily="18" charset="0"/>
              </a:rPr>
              <a:t> che ha la caratteristica di essere immutabile e di poter essere istanziato mediante una sintassi breve che non fa uso del costruttore; ciò è molto utile visto che probabilmente è l’oggetto più usato in assoluto nei programmi Java.</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reference</a:t>
            </a:r>
            <a:r>
              <a:rPr lang="it-IT" sz="1800" dirty="0">
                <a:effectLst/>
                <a:latin typeface="Times New Roman" panose="02020603050405020304" pitchFamily="18" charset="0"/>
                <a:ea typeface="Times New Roman" panose="02020603050405020304" pitchFamily="18" charset="0"/>
              </a:rPr>
              <a:t> è il </a:t>
            </a:r>
            <a:r>
              <a:rPr lang="it-IT" sz="1800" i="1" dirty="0">
                <a:effectLst/>
                <a:latin typeface="Times New Roman" panose="02020603050405020304" pitchFamily="18" charset="0"/>
                <a:ea typeface="Times New Roman" panose="02020603050405020304" pitchFamily="18" charset="0"/>
              </a:rPr>
              <a:t>nome che diamo ad un oggetto</a:t>
            </a:r>
            <a:r>
              <a:rPr lang="it-IT" sz="1800" dirty="0">
                <a:effectLst/>
                <a:latin typeface="Times New Roman" panose="02020603050405020304" pitchFamily="18" charset="0"/>
                <a:ea typeface="Times New Roman" panose="02020603050405020304" pitchFamily="18" charset="0"/>
              </a:rPr>
              <a:t>, una particolare variabile che contiene come valore l’indirizzo a cui deve puntare, e che deve conoscere il tipo che andrà a puntare. </a:t>
            </a:r>
          </a:p>
          <a:p>
            <a:r>
              <a:rPr lang="it-IT" sz="1800" dirty="0">
                <a:effectLst/>
                <a:latin typeface="Times New Roman" panose="02020603050405020304" pitchFamily="18" charset="0"/>
                <a:ea typeface="Times New Roman" panose="02020603050405020304" pitchFamily="18" charset="0"/>
              </a:rPr>
              <a:t>Quando un oggetto viene istanziato tutte le sue variabili d’istanza vengono automaticamente inizializzate ai propri </a:t>
            </a:r>
            <a:r>
              <a:rPr lang="it-IT" sz="1800" b="1" dirty="0">
                <a:effectLst/>
                <a:latin typeface="Times New Roman" panose="02020603050405020304" pitchFamily="18" charset="0"/>
                <a:ea typeface="Times New Roman" panose="02020603050405020304" pitchFamily="18" charset="0"/>
              </a:rPr>
              <a:t>valori nulli</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passaggio di parametri</a:t>
            </a:r>
            <a:r>
              <a:rPr lang="it-IT" sz="1800" dirty="0">
                <a:effectLst/>
                <a:latin typeface="Times New Roman" panose="02020603050405020304" pitchFamily="18" charset="0"/>
                <a:ea typeface="Times New Roman" panose="02020603050405020304" pitchFamily="18" charset="0"/>
              </a:rPr>
              <a:t> ad un metodo avviene sempre </a:t>
            </a:r>
            <a:r>
              <a:rPr lang="it-IT" sz="1800" b="1" dirty="0">
                <a:effectLst/>
                <a:latin typeface="Times New Roman" panose="02020603050405020304" pitchFamily="18" charset="0"/>
                <a:ea typeface="Times New Roman" panose="02020603050405020304" pitchFamily="18" charset="0"/>
              </a:rPr>
              <a:t>per valore</a:t>
            </a:r>
            <a:r>
              <a:rPr lang="it-IT" sz="1800" dirty="0">
                <a:effectLst/>
                <a:latin typeface="Times New Roman" panose="02020603050405020304" pitchFamily="18" charset="0"/>
                <a:ea typeface="Times New Roman" panose="02020603050405020304" pitchFamily="18" charset="0"/>
              </a:rPr>
              <a:t>, nel senso che nel momento in cui si passa un valore primitivo ad un parametro di un metodo, verrà copiato nel parametro questo valore. Anche quando si passa un reference verrà passato il suo valore (l’indirizzo del reference) e copiato nel parametro del metodo.</a:t>
            </a:r>
          </a:p>
          <a:p>
            <a:r>
              <a:rPr lang="it-IT" sz="1800" dirty="0">
                <a:effectLst/>
                <a:latin typeface="Times New Roman" panose="02020603050405020304" pitchFamily="18" charset="0"/>
                <a:ea typeface="Times New Roman" panose="02020603050405020304" pitchFamily="18" charset="0"/>
              </a:rPr>
              <a:t>La consultazione della </a:t>
            </a:r>
            <a:r>
              <a:rPr lang="it-IT" sz="1800" b="1" dirty="0">
                <a:effectLst/>
                <a:latin typeface="Times New Roman" panose="02020603050405020304" pitchFamily="18" charset="0"/>
                <a:ea typeface="Times New Roman" panose="02020603050405020304" pitchFamily="18" charset="0"/>
              </a:rPr>
              <a:t>documentazione della libreria standard</a:t>
            </a:r>
            <a:r>
              <a:rPr lang="it-IT" sz="1800" dirty="0">
                <a:effectLst/>
                <a:latin typeface="Times New Roman" panose="02020603050405020304" pitchFamily="18" charset="0"/>
                <a:ea typeface="Times New Roman" panose="02020603050405020304" pitchFamily="18" charset="0"/>
              </a:rPr>
              <a:t> è fondamentale. Possiamo anche creare la documentazione del nostro software con lo stesso stile della documentazione Java, commentando il codice con i commenti di documentazione e utilizzando il comando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da riga di comando. Possiamo importare all’interno dei nostri programmi le classi della libreria standard utilizzando il comando </a:t>
            </a:r>
            <a:r>
              <a:rPr lang="it-IT" sz="1800" b="1" dirty="0">
                <a:effectLst/>
                <a:latin typeface="Times New Roman" panose="02020603050405020304" pitchFamily="18" charset="0"/>
                <a:ea typeface="Times New Roman" panose="02020603050405020304" pitchFamily="18" charset="0"/>
              </a:rPr>
              <a:t>import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array</a:t>
            </a:r>
            <a:r>
              <a:rPr lang="it-IT" sz="1800" dirty="0">
                <a:effectLst/>
                <a:latin typeface="Times New Roman" panose="02020603050405020304" pitchFamily="18" charset="0"/>
                <a:ea typeface="Times New Roman" panose="02020603050405020304" pitchFamily="18" charset="0"/>
              </a:rPr>
              <a:t> rappresenta un tipo di dato complesso (oggetto) che definisce una collezione di elementi di un certo tipo, indicizzati. Con un solo nome potremo accedere agli elementi della collezione mediante un indice. È possibile creare array di reference, array bidimensionali (non obbligatoriamente matrici) ed array multidimensionali. Il parametro array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 args[]</a:t>
            </a:r>
            <a:r>
              <a:rPr lang="it-IT" sz="1800" dirty="0">
                <a:effectLst/>
                <a:latin typeface="Times New Roman" panose="02020603050405020304" pitchFamily="18" charset="0"/>
                <a:ea typeface="Times New Roman" panose="02020603050405020304" pitchFamily="18" charset="0"/>
              </a:rPr>
              <a:t> del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lo si può utilizzare per passare in </a:t>
            </a:r>
            <a:r>
              <a:rPr lang="it-IT" sz="1800" b="1" dirty="0">
                <a:effectLst/>
                <a:latin typeface="Times New Roman" panose="02020603050405020304" pitchFamily="18" charset="0"/>
                <a:ea typeface="Times New Roman" panose="02020603050405020304" pitchFamily="18" charset="0"/>
              </a:rPr>
              <a:t>input al programma</a:t>
            </a:r>
            <a:r>
              <a:rPr lang="it-IT" sz="1800" dirty="0">
                <a:effectLst/>
                <a:latin typeface="Times New Roman" panose="02020603050405020304" pitchFamily="18" charset="0"/>
                <a:ea typeface="Times New Roman" panose="02020603050405020304" pitchFamily="18" charset="0"/>
              </a:rPr>
              <a:t> alcuni dati provenienti dall’esterno.</a:t>
            </a:r>
          </a:p>
          <a:p>
            <a:r>
              <a:rPr lang="it-IT" sz="1800" dirty="0">
                <a:effectLst/>
                <a:latin typeface="Times New Roman" panose="02020603050405020304" pitchFamily="18" charset="0"/>
                <a:ea typeface="Times New Roman" panose="02020603050405020304" pitchFamily="18" charset="0"/>
              </a:rPr>
              <a:t>La </a:t>
            </a:r>
            <a:r>
              <a:rPr lang="it-IT" sz="1800" b="1" dirty="0">
                <a:effectLst/>
                <a:latin typeface="Times New Roman" panose="02020603050405020304" pitchFamily="18" charset="0"/>
                <a:ea typeface="Times New Roman" panose="02020603050405020304" pitchFamily="18" charset="0"/>
              </a:rPr>
              <a:t>deduzione del tipo per le variabili locali</a:t>
            </a:r>
            <a:r>
              <a:rPr lang="it-IT" sz="1800" dirty="0">
                <a:effectLst/>
                <a:latin typeface="Times New Roman" panose="02020603050405020304" pitchFamily="18" charset="0"/>
                <a:ea typeface="Times New Roman" panose="02020603050405020304" pitchFamily="18" charset="0"/>
              </a:rPr>
              <a:t>, permette di utilizzare la parola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in luogo del tipo vero e proprio della variabile, che verrà dedotto dall’inizializzazione nella parte destra (</a:t>
            </a:r>
            <a:r>
              <a:rPr lang="it-IT" sz="1800" b="1" dirty="0">
                <a:effectLst/>
                <a:latin typeface="Times New Roman" panose="02020603050405020304" pitchFamily="18" charset="0"/>
                <a:ea typeface="Times New Roman" panose="02020603050405020304" pitchFamily="18" charset="0"/>
              </a:rPr>
              <a:t>RHS</a:t>
            </a:r>
            <a:r>
              <a:rPr lang="it-IT" sz="1800" dirty="0">
                <a:effectLst/>
                <a:latin typeface="Times New Roman" panose="02020603050405020304" pitchFamily="18" charset="0"/>
                <a:ea typeface="Times New Roman" panose="02020603050405020304" pitchFamily="18" charset="0"/>
              </a:rPr>
              <a:t>) della dichiarazione. Se usata bene, questa caratteristica permette di ridurre la verbosità dell’applicazione senza ridurne la leggibilità. La sua applicabilità è limitata alle variabili locali inizializzate correttamente, e a pochi altri casi che studieremo nei prossimi capitoli. Essendo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un nome di tipo riservato (e non una parola chiave), è possibile utilizzarla come identificatore per variabili, metodi, package e moduli, ma non per tipi (classi, interfacce, enumerazioni, record e annotazioni).</a:t>
            </a:r>
          </a:p>
          <a:p>
            <a:endParaRPr lang="it-IT" sz="18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209166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NJ-005</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12073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NJ-005</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45809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NJ-005</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67430" y="476590"/>
            <a:ext cx="8229600" cy="1252728"/>
          </a:xfrm>
        </p:spPr>
        <p:txBody>
          <a:bodyPr/>
          <a:lstStyle>
            <a:lvl1pPr algn="l">
              <a:defRPr sz="1800">
                <a:solidFill>
                  <a:srgbClr val="C00000"/>
                </a:solidFill>
              </a:defRPr>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NJ-005</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3"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NJ-005</a:t>
            </a:r>
            <a:endParaRPr lang="it-IT" dirty="0"/>
          </a:p>
        </p:txBody>
      </p:sp>
      <p:sp>
        <p:nvSpPr>
          <p:cNvPr id="4"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D7110DCC-F880-45A0-B38F-83BA2DDD42DF}" type="slidenum">
              <a:rPr lang="it-IT"/>
              <a:pPr>
                <a:defRPr/>
              </a:pPr>
              <a:t>‹N›</a:t>
            </a:fld>
            <a:endParaRPr lang="it-IT"/>
          </a:p>
        </p:txBody>
      </p:sp>
    </p:spTree>
    <p:extLst>
      <p:ext uri="{BB962C8B-B14F-4D97-AF65-F5344CB8AC3E}">
        <p14:creationId xmlns:p14="http://schemas.microsoft.com/office/powerpoint/2010/main" val="130319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4"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NJ-005</a:t>
            </a:r>
            <a:endParaRPr lang="it-IT" dirty="0"/>
          </a:p>
        </p:txBody>
      </p:sp>
      <p:sp>
        <p:nvSpPr>
          <p:cNvPr id="5"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EAFDC1E0-E1FA-475B-A781-6647668C09E3}" type="slidenum">
              <a:rPr lang="it-IT"/>
              <a:pPr>
                <a:defRPr/>
              </a:pPr>
              <a:t>‹N›</a:t>
            </a:fld>
            <a:endParaRPr lang="it-IT"/>
          </a:p>
        </p:txBody>
      </p:sp>
    </p:spTree>
    <p:extLst>
      <p:ext uri="{BB962C8B-B14F-4D97-AF65-F5344CB8AC3E}">
        <p14:creationId xmlns:p14="http://schemas.microsoft.com/office/powerpoint/2010/main" val="160463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NJ-005</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23931951-706E-4828-A5DF-A5F618EB3661}" type="slidenum">
              <a:rPr lang="it-IT"/>
              <a:pPr>
                <a:defRPr/>
              </a:pPr>
              <a:t>‹N›</a:t>
            </a:fld>
            <a:endParaRPr lang="it-IT"/>
          </a:p>
        </p:txBody>
      </p:sp>
    </p:spTree>
    <p:extLst>
      <p:ext uri="{BB962C8B-B14F-4D97-AF65-F5344CB8AC3E}">
        <p14:creationId xmlns:p14="http://schemas.microsoft.com/office/powerpoint/2010/main" val="194474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NJ-005</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E38AB037-F906-4F18-AB42-E6112392815B}" type="slidenum">
              <a:rPr lang="it-IT"/>
              <a:pPr>
                <a:defRPr/>
              </a:pPr>
              <a:t>‹N›</a:t>
            </a:fld>
            <a:endParaRPr lang="it-IT"/>
          </a:p>
        </p:txBody>
      </p:sp>
    </p:spTree>
    <p:extLst>
      <p:ext uri="{BB962C8B-B14F-4D97-AF65-F5344CB8AC3E}">
        <p14:creationId xmlns:p14="http://schemas.microsoft.com/office/powerpoint/2010/main" val="71203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p:cNvSpPr>
            <a:spLocks noGrp="1"/>
          </p:cNvSpPr>
          <p:nvPr>
            <p:ph type="dt" sz="half" idx="10"/>
          </p:nvPr>
        </p:nvSpPr>
        <p:spPr/>
        <p:txBody>
          <a:bodyPr/>
          <a:lstStyle>
            <a:lvl1pPr>
              <a:defRPr/>
            </a:lvl1pPr>
          </a:lstStyle>
          <a:p>
            <a:pPr>
              <a:defRPr/>
            </a:pPr>
            <a:r>
              <a:rPr lang="it-IT"/>
              <a:t>20/03/2012</a:t>
            </a:r>
          </a:p>
        </p:txBody>
      </p:sp>
      <p:sp>
        <p:nvSpPr>
          <p:cNvPr id="6" name="Segnaposto piè di pagina 4"/>
          <p:cNvSpPr>
            <a:spLocks noGrp="1"/>
          </p:cNvSpPr>
          <p:nvPr>
            <p:ph type="ftr" sz="quarter" idx="11"/>
          </p:nvPr>
        </p:nvSpPr>
        <p:spPr/>
        <p:txBody>
          <a:bodyPr/>
          <a:lstStyle>
            <a:lvl1pPr>
              <a:defRPr/>
            </a:lvl1pPr>
          </a:lstStyle>
          <a:p>
            <a:pPr>
              <a:defRPr/>
            </a:pPr>
            <a:r>
              <a:rPr lang="it-IT"/>
              <a:t>Claudio De Sio Cesari: NJ-005</a:t>
            </a:r>
            <a:endParaRPr lang="it-IT" dirty="0"/>
          </a:p>
        </p:txBody>
      </p:sp>
      <p:sp>
        <p:nvSpPr>
          <p:cNvPr id="7" name="Segnaposto numero diapositiva 5"/>
          <p:cNvSpPr>
            <a:spLocks noGrp="1"/>
          </p:cNvSpPr>
          <p:nvPr>
            <p:ph type="sldNum" sz="quarter" idx="12"/>
          </p:nvPr>
        </p:nvSpPr>
        <p:spPr/>
        <p:txBody>
          <a:bodyPr/>
          <a:lstStyle>
            <a:lvl1pPr>
              <a:defRPr/>
            </a:lvl1pPr>
          </a:lstStyle>
          <a:p>
            <a:pPr>
              <a:defRPr/>
            </a:pPr>
            <a:fld id="{1B333BF1-6409-4282-97C2-A463B03E8B60}" type="slidenum">
              <a:rPr lang="it-IT"/>
              <a:pPr>
                <a:defRPr/>
              </a:pPr>
              <a:t>‹N›</a:t>
            </a:fld>
            <a:endParaRPr lang="it-IT"/>
          </a:p>
        </p:txBody>
      </p:sp>
    </p:spTree>
    <p:extLst>
      <p:ext uri="{BB962C8B-B14F-4D97-AF65-F5344CB8AC3E}">
        <p14:creationId xmlns:p14="http://schemas.microsoft.com/office/powerpoint/2010/main" val="407706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NJ-005</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136658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NJ-005</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351982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NJ-005</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376022"/>
            <a:ext cx="8229600" cy="1252728"/>
          </a:xfrm>
        </p:spPr>
        <p:txBody>
          <a:bodyPr/>
          <a:lstStyle>
            <a:lvl1pPr algn="l">
              <a:defRPr sz="1800"/>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NJ-005</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NJ-005</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2298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NJ-005</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832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NJ-005</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20928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94878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it-IT"/>
              <a:t>Fare clic per modificare lo stile del titolo</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4" name="Content Placeholder 3"/>
          <p:cNvSpPr>
            <a:spLocks noGrp="1"/>
          </p:cNvSpPr>
          <p:nvPr>
            <p:ph sz="half" idx="2"/>
          </p:nvPr>
        </p:nvSpPr>
        <p:spPr>
          <a:xfrm>
            <a:off x="840000" y="2505075"/>
            <a:ext cx="3768912"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6" name="Content Placeholder 5"/>
          <p:cNvSpPr>
            <a:spLocks noGrp="1"/>
          </p:cNvSpPr>
          <p:nvPr>
            <p:ph sz="quarter" idx="4"/>
          </p:nvPr>
        </p:nvSpPr>
        <p:spPr>
          <a:xfrm>
            <a:off x="4739880" y="2505075"/>
            <a:ext cx="3776661"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NJ-005</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32944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NJ-005</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605346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20/03/2012</a:t>
            </a:r>
          </a:p>
        </p:txBody>
      </p:sp>
      <p:sp>
        <p:nvSpPr>
          <p:cNvPr id="3" name="Footer Placeholder 2"/>
          <p:cNvSpPr>
            <a:spLocks noGrp="1"/>
          </p:cNvSpPr>
          <p:nvPr>
            <p:ph type="ftr" sz="quarter" idx="11"/>
          </p:nvPr>
        </p:nvSpPr>
        <p:spPr/>
        <p:txBody>
          <a:bodyPr/>
          <a:lstStyle/>
          <a:p>
            <a:r>
              <a:rPr lang="it-IT"/>
              <a:t>Claudio De Sio Cesari: NJ-005</a:t>
            </a:r>
            <a:endParaRPr lang="it-IT" dirty="0"/>
          </a:p>
        </p:txBody>
      </p:sp>
      <p:sp>
        <p:nvSpPr>
          <p:cNvPr id="4" name="Slide Number Placeholder 3"/>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8511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99333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07234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04770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222046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it-IT"/>
              <a:t>Fare clic per modificare lo stile del titolo</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97361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NJ-005</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269067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NJ-005</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60497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NJ-005</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683349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NJ-005</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14924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it-IT"/>
              <a:t>Fare clic per modificare lo stile del titolo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NJ-005</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07958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it-IT"/>
              <a:t>Claudio De Sio Cesari: NJ-005</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lo stile del titolo</a:t>
            </a:r>
          </a:p>
        </p:txBody>
      </p:sp>
      <p:sp>
        <p:nvSpPr>
          <p:cNvPr id="2051"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smtClean="0">
                <a:solidFill>
                  <a:schemeClr val="tx1">
                    <a:tint val="75000"/>
                  </a:schemeClr>
                </a:solidFill>
                <a:ea typeface="ＭＳ Ｐゴシック" pitchFamily="-111" charset="-128"/>
                <a:cs typeface="+mn-cs"/>
              </a:defRPr>
            </a:lvl1pPr>
          </a:lstStyle>
          <a:p>
            <a:pPr>
              <a:defRPr/>
            </a:pPr>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ea typeface="ＭＳ Ｐゴシック" pitchFamily="-111" charset="-128"/>
                <a:cs typeface="+mn-cs"/>
              </a:defRPr>
            </a:lvl1pPr>
          </a:lstStyle>
          <a:p>
            <a:pPr>
              <a:defRPr/>
            </a:pPr>
            <a:r>
              <a:rPr lang="it-IT"/>
              <a:t>Claudio De Sio Cesari: NJ-005</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smtClean="0">
                <a:solidFill>
                  <a:schemeClr val="tx1">
                    <a:tint val="75000"/>
                  </a:schemeClr>
                </a:solidFill>
                <a:ea typeface="ＭＳ Ｐゴシック" pitchFamily="-111" charset="-128"/>
                <a:cs typeface="+mn-cs"/>
              </a:defRPr>
            </a:lvl1pPr>
          </a:lstStyle>
          <a:p>
            <a:pPr>
              <a:defRPr/>
            </a:pPr>
            <a:fld id="{BF9AA21D-CBBF-4F18-852F-35D67877B6D0}" type="slidenum">
              <a:rPr lang="it-IT"/>
              <a:pPr>
                <a:defRPr/>
              </a:pPr>
              <a:t>‹N›</a:t>
            </a:fld>
            <a:endParaRPr lang="it-IT"/>
          </a:p>
        </p:txBody>
      </p:sp>
      <p:pic>
        <p:nvPicPr>
          <p:cNvPr id="2055" name="Immagine 3" descr="PPT_template-04-04.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 y="0"/>
            <a:ext cx="91424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3"/>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pt-BR">
                <a:solidFill>
                  <a:prstClr val="black">
                    <a:tint val="75000"/>
                  </a:prstClr>
                </a:solidFill>
              </a:rPr>
              <a:t>Claudio De Sio Cesari: NJ-005</a:t>
            </a:r>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3"/>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pPr/>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33367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20/03/2012</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Claudio De Sio Cesari: NJ-005</a:t>
            </a:r>
            <a:endParaRPr lang="it-I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8135336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p:nvPr>
        </p:nvSpPr>
        <p:spPr>
          <a:xfrm>
            <a:off x="527360" y="1052670"/>
            <a:ext cx="8077200" cy="3976530"/>
          </a:xfrm>
        </p:spPr>
        <p:txBody>
          <a:bodyPr>
            <a:normAutofit fontScale="90000"/>
          </a:bodyPr>
          <a:lstStyle/>
          <a:p>
            <a:pPr algn="ctr"/>
            <a:r>
              <a:rPr lang="it-IT" sz="8000" b="1" dirty="0"/>
              <a:t>Claudio De Sio Cesari</a:t>
            </a:r>
            <a:br>
              <a:rPr lang="it-IT" b="1" dirty="0"/>
            </a:br>
            <a:br>
              <a:rPr lang="it-IT" sz="3200" dirty="0">
                <a:solidFill>
                  <a:srgbClr val="000000"/>
                </a:solidFill>
                <a:latin typeface="Calibri" panose="020F0502020204030204" pitchFamily="34" charset="0"/>
              </a:rPr>
            </a:br>
            <a:r>
              <a:rPr lang="it-IT" sz="7300" dirty="0">
                <a:solidFill>
                  <a:srgbClr val="000000"/>
                </a:solidFill>
                <a:latin typeface="Calibri" panose="020F0502020204030204" pitchFamily="34" charset="0"/>
              </a:rPr>
              <a:t> Il nuovo Java</a:t>
            </a:r>
            <a:br>
              <a:rPr lang="it-IT" sz="54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Incapsulamento e visibilità</a:t>
            </a:r>
            <a:br>
              <a:rPr lang="it-IT" sz="60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(NJ</a:t>
            </a:r>
            <a:r>
              <a:rPr lang="it-IT" sz="6000" b="1" dirty="0"/>
              <a:t>– 005)</a:t>
            </a:r>
            <a:r>
              <a:rPr lang="it-IT" sz="6000" dirty="0">
                <a:solidFill>
                  <a:srgbClr val="000000"/>
                </a:solidFill>
                <a:latin typeface="Calibri" panose="020F0502020204030204" pitchFamily="34" charset="0"/>
              </a:rPr>
              <a:t> </a:t>
            </a:r>
            <a:br>
              <a:rPr lang="it-IT" sz="6000" dirty="0">
                <a:solidFill>
                  <a:srgbClr val="000000"/>
                </a:solidFill>
                <a:latin typeface="Calibri" panose="020F0502020204030204" pitchFamily="34" charset="0"/>
              </a:rPr>
            </a:br>
            <a:br>
              <a:rPr lang="it-IT" sz="6000" dirty="0">
                <a:solidFill>
                  <a:srgbClr val="000000"/>
                </a:solidFill>
                <a:latin typeface="Calibri" panose="020F0502020204030204" pitchFamily="34" charset="0"/>
              </a:rPr>
            </a:br>
            <a:r>
              <a:rPr kumimoji="0" lang="it-IT" sz="3600" b="0" i="0" u="none" strike="noStrike" kern="1200" cap="none" spc="-225" normalizeH="0" baseline="0" noProof="0" dirty="0">
                <a:ln>
                  <a:noFill/>
                </a:ln>
                <a:solidFill>
                  <a:srgbClr val="000000"/>
                </a:solidFill>
                <a:effectLst>
                  <a:outerShdw blurRad="469900" dist="342900" dir="5400000" sy="-20000" rotWithShape="0">
                    <a:prstClr val="black">
                      <a:alpha val="66000"/>
                    </a:prstClr>
                  </a:outerShdw>
                </a:effectLst>
                <a:uLnTx/>
                <a:uFillTx/>
                <a:latin typeface="Calibri" panose="020F0502020204030204" pitchFamily="34" charset="0"/>
                <a:ea typeface="+mj-ea"/>
                <a:cs typeface="+mj-cs"/>
              </a:rPr>
              <a:t>https://www.nuovojava.it</a:t>
            </a:r>
            <a:endParaRPr lang="it-IT" sz="3600" dirty="0"/>
          </a:p>
        </p:txBody>
      </p:sp>
    </p:spTree>
    <p:extLst>
      <p:ext uri="{BB962C8B-B14F-4D97-AF65-F5344CB8AC3E}">
        <p14:creationId xmlns:p14="http://schemas.microsoft.com/office/powerpoint/2010/main" val="40882864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340710"/>
          </a:xfrm>
        </p:spPr>
        <p:txBody>
          <a:bodyPr/>
          <a:lstStyle/>
          <a:p>
            <a:pPr algn="ctr"/>
            <a:r>
              <a:rPr lang="it-IT" dirty="0"/>
              <a:t>Incapsulamento e visibilità</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484730"/>
            <a:ext cx="9144000" cy="5008143"/>
          </a:xfrm>
        </p:spPr>
        <p:txBody>
          <a:bodyPr>
            <a:noAutofit/>
          </a:bodyPr>
          <a:lstStyle/>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elencare i paradigmi ed i concetti fondamentali della programmazione ad oggetti (unità 5.1).</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creare un diagramma delle classi di base (unità 5.1).</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definire ed utilizzare il concetto di astrazione e di riuso (unità 5.1).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Comprendere l’utilizzo e l’utilità dell’incapsulamento (unità 5.2, 5.3).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Comprendere l’utilizzo e l’utilità del reference this (unità 5.2).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quando e come usare l’incapsulamento (unità 5.2).</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e saper utilizzare i modificatori d’accesso (unità 5.3).</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e saper utilizzare il modificatore static (unità 5.4).</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accennare al concetto di design pattern e comprendere l’implementazione del Singleton pattern (unità 5.4).</a:t>
            </a:r>
          </a:p>
          <a:p>
            <a:pPr marL="180340" indent="0">
              <a:buNone/>
              <a:tabLst>
                <a:tab pos="457200" algn="l"/>
              </a:tabLst>
            </a:pPr>
            <a:endParaRPr lang="it-IT"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a:t>
            </a:fld>
            <a:endParaRPr lang="it-IT"/>
          </a:p>
        </p:txBody>
      </p:sp>
    </p:spTree>
    <p:extLst>
      <p:ext uri="{BB962C8B-B14F-4D97-AF65-F5344CB8AC3E}">
        <p14:creationId xmlns:p14="http://schemas.microsoft.com/office/powerpoint/2010/main" val="8053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96690"/>
          </a:xfrm>
        </p:spPr>
        <p:txBody>
          <a:bodyPr>
            <a:normAutofit fontScale="90000"/>
          </a:bodyPr>
          <a:lstStyle/>
          <a:p>
            <a:pPr algn="ctr"/>
            <a:r>
              <a:rPr lang="it-IT" dirty="0"/>
              <a:t>Programmazione orientata agli oggetti (OOP)</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52160"/>
            <a:ext cx="9144000" cy="5949350"/>
          </a:xfrm>
        </p:spPr>
        <p:txBody>
          <a:bodyPr>
            <a:normAutofit/>
          </a:bodyPr>
          <a:lstStyle/>
          <a:p>
            <a:r>
              <a:rPr lang="it-IT" sz="2800" dirty="0"/>
              <a:t>La programmazione orientata agli oggetti è una scienza, o meglio una filosofia adattabile alla programmazione che si basa su concetti esistenti nel mondo reale, con i quali abbiamo a che fare ogni giorno</a:t>
            </a:r>
          </a:p>
          <a:p>
            <a:r>
              <a:rPr lang="it-IT" sz="2800" dirty="0"/>
              <a:t>Abbiamo già visto in precedenza, che noi esseri umani utilizziamo da sempre i concetti di </a:t>
            </a:r>
            <a:r>
              <a:rPr lang="it-IT" sz="2800" b="1" dirty="0"/>
              <a:t>classe</a:t>
            </a:r>
            <a:r>
              <a:rPr lang="it-IT" sz="2800" dirty="0"/>
              <a:t> e di </a:t>
            </a:r>
            <a:r>
              <a:rPr lang="it-IT" sz="2800" b="1" dirty="0"/>
              <a:t>oggetto</a:t>
            </a:r>
            <a:r>
              <a:rPr lang="it-IT" sz="2800" dirty="0"/>
              <a:t>, e che l’</a:t>
            </a:r>
            <a:r>
              <a:rPr lang="it-IT" sz="2800" b="1" dirty="0"/>
              <a:t>astrazione</a:t>
            </a:r>
            <a:r>
              <a:rPr lang="it-IT" sz="2800" dirty="0"/>
              <a:t> degli oggetti reali in classi, ci fa superare la complessità della realtà. Con tali concetti infatti, possiamo osservare oggetti completamente differenti, riconoscendo in essi caratteristiche e funzionalità che li accomunano, e quindi associarli ad una stessa classe. </a:t>
            </a:r>
          </a:p>
          <a:p>
            <a:r>
              <a:rPr lang="it-IT" sz="2800" dirty="0"/>
              <a:t>Per esempio, sebbene completamente diversi, un sassofono ed un pianoforte appartengono entrambi alla classe degli strumenti musicali. </a:t>
            </a: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a:t>
            </a:fld>
            <a:endParaRPr lang="it-IT"/>
          </a:p>
        </p:txBody>
      </p:sp>
    </p:spTree>
    <p:extLst>
      <p:ext uri="{BB962C8B-B14F-4D97-AF65-F5344CB8AC3E}">
        <p14:creationId xmlns:p14="http://schemas.microsoft.com/office/powerpoint/2010/main" val="284554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71499"/>
            <a:ext cx="9144000" cy="1368190"/>
          </a:xfrm>
        </p:spPr>
        <p:txBody>
          <a:bodyPr/>
          <a:lstStyle/>
          <a:p>
            <a:pPr algn="ctr"/>
            <a:r>
              <a:rPr lang="it-IT" dirty="0"/>
              <a:t>Paradigmi fondamentali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a:t>
            </a:fld>
            <a:endParaRPr lang="it-IT"/>
          </a:p>
        </p:txBody>
      </p:sp>
      <p:sp>
        <p:nvSpPr>
          <p:cNvPr id="13" name="CasellaDiTesto 12">
            <a:extLst>
              <a:ext uri="{FF2B5EF4-FFF2-40B4-BE49-F238E27FC236}">
                <a16:creationId xmlns:a16="http://schemas.microsoft.com/office/drawing/2014/main" id="{3249A0DF-299B-4BE4-9DB1-49FDD6742683}"/>
              </a:ext>
            </a:extLst>
          </p:cNvPr>
          <p:cNvSpPr txBox="1"/>
          <p:nvPr/>
        </p:nvSpPr>
        <p:spPr>
          <a:xfrm>
            <a:off x="107380" y="908650"/>
            <a:ext cx="9036620" cy="6740307"/>
          </a:xfrm>
          <a:prstGeom prst="rect">
            <a:avLst/>
          </a:prstGeom>
          <a:noFill/>
        </p:spPr>
        <p:txBody>
          <a:bodyPr wrap="square">
            <a:spAutoFit/>
          </a:bodyPr>
          <a:lstStyle/>
          <a:p>
            <a:pPr marL="342900" indent="-342900">
              <a:buFont typeface="Arial" panose="020B0604020202020204" pitchFamily="34" charset="0"/>
              <a:buChar char="•"/>
            </a:pPr>
            <a:r>
              <a:rPr lang="it-IT" sz="3200" dirty="0"/>
              <a:t>Un linguaggio si dice </a:t>
            </a:r>
            <a:r>
              <a:rPr lang="it-IT" sz="3200" b="1" dirty="0"/>
              <a:t>orientato agli oggetti</a:t>
            </a:r>
            <a:r>
              <a:rPr lang="it-IT" sz="3200" dirty="0"/>
              <a:t> (</a:t>
            </a:r>
            <a:r>
              <a:rPr lang="it-IT" sz="3200" b="1" dirty="0"/>
              <a:t>object oriented</a:t>
            </a:r>
            <a:r>
              <a:rPr lang="it-IT" sz="3200" dirty="0"/>
              <a:t>), se supporta i seguenti paradigmi:</a:t>
            </a:r>
          </a:p>
          <a:p>
            <a:pPr marL="800100" lvl="1" indent="-342900">
              <a:buFont typeface="Arial" panose="020B0604020202020204" pitchFamily="34" charset="0"/>
              <a:buChar char="•"/>
            </a:pPr>
            <a:r>
              <a:rPr lang="it-IT" sz="3200" b="1" dirty="0"/>
              <a:t>Incapsulamento</a:t>
            </a:r>
          </a:p>
          <a:p>
            <a:pPr marL="800100" lvl="1" indent="-342900">
              <a:buFont typeface="Arial" panose="020B0604020202020204" pitchFamily="34" charset="0"/>
              <a:buChar char="•"/>
            </a:pPr>
            <a:r>
              <a:rPr lang="it-IT" sz="3200" b="1" dirty="0"/>
              <a:t>Ereditarietà</a:t>
            </a:r>
          </a:p>
          <a:p>
            <a:pPr marL="800100" lvl="1" indent="-342900">
              <a:buFont typeface="Arial" panose="020B0604020202020204" pitchFamily="34" charset="0"/>
              <a:buChar char="•"/>
            </a:pPr>
            <a:r>
              <a:rPr lang="it-IT" sz="3200" b="1" dirty="0"/>
              <a:t>Polimorfismo</a:t>
            </a:r>
          </a:p>
          <a:p>
            <a:pPr marL="342900" indent="-342900">
              <a:buFont typeface="Arial" panose="020B0604020202020204" pitchFamily="34" charset="0"/>
              <a:buChar char="•"/>
            </a:pPr>
            <a:r>
              <a:rPr lang="it-IT" sz="3200" dirty="0"/>
              <a:t>Esistono altri paradigmi che caratterizzano la programmazione ad oggetti, ma cha sono presenti anche in altri stili di programmazione come quello funzionale:</a:t>
            </a:r>
          </a:p>
          <a:p>
            <a:pPr marL="800100" lvl="1" indent="-342900">
              <a:buFont typeface="Arial" panose="020B0604020202020204" pitchFamily="34" charset="0"/>
              <a:buChar char="•"/>
            </a:pPr>
            <a:r>
              <a:rPr lang="it-IT" sz="3200" b="1" dirty="0"/>
              <a:t>Astrazione</a:t>
            </a:r>
          </a:p>
          <a:p>
            <a:pPr marL="800100" lvl="1" indent="-342900">
              <a:buFont typeface="Arial" panose="020B0604020202020204" pitchFamily="34" charset="0"/>
              <a:buChar char="•"/>
            </a:pPr>
            <a:r>
              <a:rPr lang="it-IT" sz="3200" b="1" dirty="0"/>
              <a:t>Riuso</a:t>
            </a:r>
          </a:p>
          <a:p>
            <a:pPr marL="342900" indent="-342900">
              <a:buFont typeface="Arial" panose="020B0604020202020204" pitchFamily="34" charset="0"/>
              <a:buChar char="•"/>
            </a:pPr>
            <a:endParaRPr lang="it-IT" sz="2400" dirty="0"/>
          </a:p>
          <a:p>
            <a:endParaRPr lang="it-IT" sz="2400" dirty="0">
              <a:solidFill>
                <a:schemeClr val="accent5"/>
              </a:solidFill>
            </a:endParaRPr>
          </a:p>
        </p:txBody>
      </p:sp>
    </p:spTree>
    <p:extLst>
      <p:ext uri="{BB962C8B-B14F-4D97-AF65-F5344CB8AC3E}">
        <p14:creationId xmlns:p14="http://schemas.microsoft.com/office/powerpoint/2010/main" val="208518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96691"/>
          </a:xfrm>
        </p:spPr>
        <p:txBody>
          <a:bodyPr>
            <a:normAutofit/>
          </a:bodyPr>
          <a:lstStyle/>
          <a:p>
            <a:pPr algn="ctr"/>
            <a:r>
              <a:rPr lang="it-IT" dirty="0"/>
              <a:t>Astrazione e riuso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a:t>
            </a:fld>
            <a:endParaRPr lang="it-IT"/>
          </a:p>
        </p:txBody>
      </p:sp>
      <p:sp>
        <p:nvSpPr>
          <p:cNvPr id="14" name="CasellaDiTesto 13">
            <a:extLst>
              <a:ext uri="{FF2B5EF4-FFF2-40B4-BE49-F238E27FC236}">
                <a16:creationId xmlns:a16="http://schemas.microsoft.com/office/drawing/2014/main" id="{1B958D21-6250-428A-AFB8-DE246907BF26}"/>
              </a:ext>
            </a:extLst>
          </p:cNvPr>
          <p:cNvSpPr txBox="1"/>
          <p:nvPr/>
        </p:nvSpPr>
        <p:spPr>
          <a:xfrm>
            <a:off x="0" y="1268700"/>
            <a:ext cx="9144000" cy="4524315"/>
          </a:xfrm>
          <a:prstGeom prst="rect">
            <a:avLst/>
          </a:prstGeom>
          <a:noFill/>
        </p:spPr>
        <p:txBody>
          <a:bodyPr wrap="square">
            <a:spAutoFit/>
          </a:bodyPr>
          <a:lstStyle/>
          <a:p>
            <a:pPr marL="285750" indent="-285750">
              <a:buFont typeface="Arial" panose="020B0604020202020204" pitchFamily="34" charset="0"/>
              <a:buChar char="•"/>
            </a:pPr>
            <a:r>
              <a:rPr lang="it-IT" sz="3200" dirty="0">
                <a:effectLst/>
                <a:latin typeface="Times New Roman" panose="02020603050405020304" pitchFamily="18" charset="0"/>
                <a:ea typeface="Times New Roman" panose="02020603050405020304" pitchFamily="18" charset="0"/>
              </a:rPr>
              <a:t>Tre livelli per implementare l’astrazione nel nostro codice:</a:t>
            </a:r>
          </a:p>
          <a:p>
            <a:pPr marL="742950" lvl="1" indent="-285750">
              <a:buFont typeface="Arial" panose="020B0604020202020204" pitchFamily="34" charset="0"/>
              <a:buChar char="•"/>
            </a:pPr>
            <a:r>
              <a:rPr lang="it-IT" sz="3200" dirty="0">
                <a:effectLst/>
                <a:latin typeface="Times New Roman" panose="02020603050405020304" pitchFamily="18" charset="0"/>
                <a:ea typeface="MS Mincho" panose="02020609040205080304" pitchFamily="49" charset="-128"/>
              </a:rPr>
              <a:t>astrazione funzionale</a:t>
            </a:r>
          </a:p>
          <a:p>
            <a:pPr marL="742950" lvl="1" indent="-285750">
              <a:buFont typeface="Arial" panose="020B0604020202020204" pitchFamily="34" charset="0"/>
              <a:buChar char="•"/>
            </a:pPr>
            <a:r>
              <a:rPr lang="it-IT" sz="3200" dirty="0">
                <a:effectLst/>
                <a:latin typeface="Times New Roman" panose="02020603050405020304" pitchFamily="18" charset="0"/>
                <a:ea typeface="MS Mincho" panose="02020609040205080304" pitchFamily="49" charset="-128"/>
              </a:rPr>
              <a:t>astrazione dei dati</a:t>
            </a:r>
          </a:p>
          <a:p>
            <a:pPr marL="742950" lvl="1" indent="-285750">
              <a:buFont typeface="Arial" panose="020B0604020202020204" pitchFamily="34" charset="0"/>
              <a:buChar char="•"/>
            </a:pPr>
            <a:r>
              <a:rPr lang="it-IT" sz="3200" dirty="0">
                <a:effectLst/>
                <a:latin typeface="Times New Roman" panose="02020603050405020304" pitchFamily="18" charset="0"/>
                <a:ea typeface="MS Mincho" panose="02020609040205080304" pitchFamily="49" charset="-128"/>
              </a:rPr>
              <a:t>astrazione del sistema</a:t>
            </a:r>
          </a:p>
          <a:p>
            <a:pPr marL="285750" indent="-285750">
              <a:buFont typeface="Arial" panose="020B0604020202020204" pitchFamily="34" charset="0"/>
              <a:buChar char="•"/>
            </a:pPr>
            <a:r>
              <a:rPr lang="it-IT" sz="3200" dirty="0">
                <a:latin typeface="Times New Roman" panose="02020603050405020304" pitchFamily="18" charset="0"/>
                <a:ea typeface="MS Mincho" panose="02020609040205080304" pitchFamily="49" charset="-128"/>
              </a:rPr>
              <a:t>Riuso</a:t>
            </a:r>
          </a:p>
          <a:p>
            <a:pPr marL="742950" lvl="1" indent="-285750">
              <a:buFont typeface="Arial" panose="020B0604020202020204" pitchFamily="34" charset="0"/>
              <a:buChar char="•"/>
            </a:pPr>
            <a:r>
              <a:rPr lang="it-IT" sz="3200" dirty="0">
                <a:latin typeface="Times New Roman" panose="02020603050405020304" pitchFamily="18" charset="0"/>
                <a:ea typeface="MS Mincho" panose="02020609040205080304" pitchFamily="49" charset="-128"/>
              </a:rPr>
              <a:t>riuso funzionale</a:t>
            </a:r>
          </a:p>
          <a:p>
            <a:pPr marL="742950" lvl="1" indent="-285750">
              <a:buFont typeface="Arial" panose="020B0604020202020204" pitchFamily="34" charset="0"/>
              <a:buChar char="•"/>
            </a:pPr>
            <a:r>
              <a:rPr lang="it-IT" sz="3200" dirty="0">
                <a:latin typeface="Times New Roman" panose="02020603050405020304" pitchFamily="18" charset="0"/>
                <a:ea typeface="MS Mincho" panose="02020609040205080304" pitchFamily="49" charset="-128"/>
              </a:rPr>
              <a:t>riuso dei dati</a:t>
            </a:r>
          </a:p>
          <a:p>
            <a:pPr marL="742950" lvl="1" indent="-285750">
              <a:buFont typeface="Arial" panose="020B0604020202020204" pitchFamily="34" charset="0"/>
              <a:buChar char="•"/>
            </a:pPr>
            <a:r>
              <a:rPr lang="it-IT" sz="3200" dirty="0">
                <a:latin typeface="Times New Roman" panose="02020603050405020304" pitchFamily="18" charset="0"/>
                <a:ea typeface="MS Mincho" panose="02020609040205080304" pitchFamily="49" charset="-128"/>
              </a:rPr>
              <a:t>riuso concettuale</a:t>
            </a:r>
          </a:p>
        </p:txBody>
      </p:sp>
    </p:spTree>
    <p:extLst>
      <p:ext uri="{BB962C8B-B14F-4D97-AF65-F5344CB8AC3E}">
        <p14:creationId xmlns:p14="http://schemas.microsoft.com/office/powerpoint/2010/main" val="112738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019126"/>
          </a:xfrm>
        </p:spPr>
        <p:txBody>
          <a:bodyPr/>
          <a:lstStyle/>
          <a:p>
            <a:pPr algn="ctr"/>
            <a:r>
              <a:rPr lang="it-IT" dirty="0"/>
              <a:t>UML: Diagramma delle classi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3192313"/>
            <a:ext cx="9143999" cy="3333118"/>
          </a:xfrm>
        </p:spPr>
        <p:txBody>
          <a:bodyPr>
            <a:normAutofit/>
          </a:bodyPr>
          <a:lstStyle/>
          <a:p>
            <a:r>
              <a:rPr lang="it-IT" sz="3200" dirty="0">
                <a:effectLst/>
                <a:ea typeface="Times New Roman" panose="02020603050405020304" pitchFamily="18" charset="0"/>
              </a:rPr>
              <a:t>Sintassi </a:t>
            </a:r>
            <a:r>
              <a:rPr lang="it-IT" sz="3200" dirty="0">
                <a:ea typeface="Times New Roman" panose="02020603050405020304" pitchFamily="18" charset="0"/>
              </a:rPr>
              <a:t>variabili:</a:t>
            </a:r>
          </a:p>
          <a:p>
            <a:pPr marL="342900" lvl="1" indent="0">
              <a:buNone/>
            </a:pPr>
            <a:r>
              <a:rPr lang="it-IT" sz="2800" dirty="0">
                <a:solidFill>
                  <a:schemeClr val="accent5"/>
                </a:solidFill>
                <a:effectLst/>
                <a:ea typeface="Times New Roman" panose="02020603050405020304" pitchFamily="18" charset="0"/>
              </a:rPr>
              <a:t>visibilità </a:t>
            </a:r>
            <a:r>
              <a:rPr lang="it-IT" sz="2800" dirty="0" err="1">
                <a:solidFill>
                  <a:schemeClr val="accent5"/>
                </a:solidFill>
                <a:effectLst/>
                <a:ea typeface="Times New Roman" panose="02020603050405020304" pitchFamily="18" charset="0"/>
              </a:rPr>
              <a:t>nomeAttributo</a:t>
            </a:r>
            <a:r>
              <a:rPr lang="it-IT" sz="2800" dirty="0">
                <a:solidFill>
                  <a:schemeClr val="accent5"/>
                </a:solidFill>
                <a:effectLst/>
                <a:ea typeface="Times New Roman" panose="02020603050405020304" pitchFamily="18" charset="0"/>
              </a:rPr>
              <a:t> : </a:t>
            </a:r>
            <a:r>
              <a:rPr lang="it-IT" sz="2800" dirty="0" err="1">
                <a:solidFill>
                  <a:schemeClr val="accent5"/>
                </a:solidFill>
                <a:effectLst/>
                <a:ea typeface="Times New Roman" panose="02020603050405020304" pitchFamily="18" charset="0"/>
              </a:rPr>
              <a:t>tipoAttributo</a:t>
            </a:r>
            <a:endParaRPr lang="it-IT" sz="2800" dirty="0">
              <a:solidFill>
                <a:schemeClr val="accent5"/>
              </a:solidFill>
              <a:effectLst/>
              <a:ea typeface="Times New Roman" panose="02020603050405020304" pitchFamily="18" charset="0"/>
            </a:endParaRPr>
          </a:p>
          <a:p>
            <a:r>
              <a:rPr lang="it-IT" sz="3200" dirty="0">
                <a:effectLst/>
                <a:ea typeface="Times New Roman" panose="02020603050405020304" pitchFamily="18" charset="0"/>
              </a:rPr>
              <a:t>Sintassi metodi:</a:t>
            </a:r>
          </a:p>
          <a:p>
            <a:pPr marL="342900" lvl="1" indent="0">
              <a:buNone/>
            </a:pPr>
            <a:r>
              <a:rPr lang="it-IT" sz="2800" dirty="0">
                <a:solidFill>
                  <a:schemeClr val="accent5"/>
                </a:solidFill>
                <a:effectLst/>
                <a:ea typeface="Times New Roman" panose="02020603050405020304" pitchFamily="18" charset="0"/>
              </a:rPr>
              <a:t>visibilità </a:t>
            </a:r>
            <a:r>
              <a:rPr lang="it-IT" sz="2800" dirty="0" err="1">
                <a:solidFill>
                  <a:schemeClr val="accent5"/>
                </a:solidFill>
                <a:effectLst/>
                <a:ea typeface="Times New Roman" panose="02020603050405020304" pitchFamily="18" charset="0"/>
              </a:rPr>
              <a:t>nomeMetodo</a:t>
            </a:r>
            <a:r>
              <a:rPr lang="it-IT" sz="2800" dirty="0">
                <a:solidFill>
                  <a:schemeClr val="accent5"/>
                </a:solidFill>
                <a:effectLst/>
                <a:ea typeface="Times New Roman" panose="02020603050405020304" pitchFamily="18" charset="0"/>
              </a:rPr>
              <a:t>(</a:t>
            </a:r>
            <a:r>
              <a:rPr lang="it-IT" sz="2800" dirty="0" err="1">
                <a:solidFill>
                  <a:schemeClr val="accent5"/>
                </a:solidFill>
                <a:effectLst/>
                <a:ea typeface="Times New Roman" panose="02020603050405020304" pitchFamily="18" charset="0"/>
              </a:rPr>
              <a:t>listaParametri</a:t>
            </a:r>
            <a:r>
              <a:rPr lang="it-IT" sz="2800" dirty="0">
                <a:solidFill>
                  <a:schemeClr val="accent5"/>
                </a:solidFill>
                <a:effectLst/>
                <a:ea typeface="Times New Roman" panose="02020603050405020304" pitchFamily="18" charset="0"/>
              </a:rPr>
              <a:t>) : </a:t>
            </a:r>
            <a:r>
              <a:rPr lang="it-IT" sz="2800" dirty="0" err="1">
                <a:solidFill>
                  <a:schemeClr val="accent5"/>
                </a:solidFill>
                <a:effectLst/>
                <a:ea typeface="Times New Roman" panose="02020603050405020304" pitchFamily="18" charset="0"/>
              </a:rPr>
              <a:t>tipoDiRitorno</a:t>
            </a:r>
            <a:endParaRPr lang="it-IT" sz="2800" dirty="0">
              <a:solidFill>
                <a:schemeClr val="accent5"/>
              </a:solidFill>
              <a:effectLst/>
              <a:ea typeface="Times New Roman" panose="02020603050405020304" pitchFamily="18" charset="0"/>
            </a:endParaRPr>
          </a:p>
          <a:p>
            <a:r>
              <a:rPr lang="it-IT" sz="3200" dirty="0">
                <a:ea typeface="Times New Roman" panose="02020603050405020304" pitchFamily="18" charset="0"/>
              </a:rPr>
              <a:t>Sintassi parametri dei metodi:</a:t>
            </a:r>
          </a:p>
          <a:p>
            <a:pPr marL="342900" lvl="1" indent="0">
              <a:buNone/>
            </a:pPr>
            <a:r>
              <a:rPr lang="it-IT" sz="2800" dirty="0" err="1">
                <a:solidFill>
                  <a:schemeClr val="accent5"/>
                </a:solidFill>
                <a:ea typeface="Times New Roman" panose="02020603050405020304" pitchFamily="18" charset="0"/>
              </a:rPr>
              <a:t>nomeParametro</a:t>
            </a:r>
            <a:r>
              <a:rPr lang="it-IT" sz="2800" dirty="0">
                <a:solidFill>
                  <a:schemeClr val="accent5"/>
                </a:solidFill>
                <a:ea typeface="Times New Roman" panose="02020603050405020304" pitchFamily="18" charset="0"/>
              </a:rPr>
              <a:t> : </a:t>
            </a:r>
            <a:r>
              <a:rPr lang="it-IT" sz="2800" dirty="0" err="1">
                <a:solidFill>
                  <a:schemeClr val="accent5"/>
                </a:solidFill>
                <a:ea typeface="Times New Roman" panose="02020603050405020304" pitchFamily="18" charset="0"/>
              </a:rPr>
              <a:t>tipoParametro</a:t>
            </a:r>
            <a:endParaRPr lang="it-IT" sz="2800" dirty="0">
              <a:solidFill>
                <a:schemeClr val="accent5"/>
              </a:solidFill>
              <a:effectLst/>
              <a:ea typeface="Times New Roman" panose="02020603050405020304" pitchFamily="18" charset="0"/>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a:t>
            </a:fld>
            <a:endParaRPr lang="it-IT"/>
          </a:p>
        </p:txBody>
      </p:sp>
      <p:pic>
        <p:nvPicPr>
          <p:cNvPr id="8" name="Immagine 7">
            <a:extLst>
              <a:ext uri="{FF2B5EF4-FFF2-40B4-BE49-F238E27FC236}">
                <a16:creationId xmlns:a16="http://schemas.microsoft.com/office/drawing/2014/main" id="{985E0FDC-790A-496B-BDEA-AC3CA9792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10" y="1412720"/>
            <a:ext cx="5409000" cy="1386000"/>
          </a:xfrm>
          <a:prstGeom prst="rect">
            <a:avLst/>
          </a:prstGeom>
        </p:spPr>
      </p:pic>
    </p:spTree>
    <p:extLst>
      <p:ext uri="{BB962C8B-B14F-4D97-AF65-F5344CB8AC3E}">
        <p14:creationId xmlns:p14="http://schemas.microsoft.com/office/powerpoint/2010/main" val="2706583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019126"/>
          </a:xfrm>
        </p:spPr>
        <p:txBody>
          <a:bodyPr/>
          <a:lstStyle/>
          <a:p>
            <a:pPr algn="ctr"/>
            <a:r>
              <a:rPr lang="it-IT" dirty="0"/>
              <a:t>Incapsulamento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1484730"/>
            <a:ext cx="9143999" cy="5373270"/>
          </a:xfrm>
        </p:spPr>
        <p:txBody>
          <a:bodyPr>
            <a:normAutofit/>
          </a:bodyPr>
          <a:lstStyle/>
          <a:p>
            <a:r>
              <a:rPr lang="it-IT" sz="3200" dirty="0">
                <a:effectLst/>
                <a:ea typeface="Times New Roman" panose="02020603050405020304" pitchFamily="18" charset="0"/>
              </a:rPr>
              <a:t>È la chiave della programmazione ad oggetti</a:t>
            </a:r>
          </a:p>
          <a:p>
            <a:r>
              <a:rPr lang="it-IT" sz="3200" dirty="0">
                <a:ea typeface="Times New Roman" panose="02020603050405020304" pitchFamily="18" charset="0"/>
              </a:rPr>
              <a:t>Favorisce riuso, manutenibilità, robustezza, indipendenza</a:t>
            </a:r>
          </a:p>
          <a:p>
            <a:r>
              <a:rPr lang="it-IT" sz="3200" dirty="0">
                <a:effectLst/>
                <a:ea typeface="Times New Roman" panose="02020603050405020304" pitchFamily="18" charset="0"/>
              </a:rPr>
              <a:t>Implica che ogni oggetto sia considerato costituito da due parti distinte: </a:t>
            </a:r>
          </a:p>
          <a:p>
            <a:pPr lvl="1"/>
            <a:r>
              <a:rPr lang="it-IT" sz="2800" dirty="0">
                <a:effectLst/>
                <a:ea typeface="Times New Roman" panose="02020603050405020304" pitchFamily="18" charset="0"/>
              </a:rPr>
              <a:t>Un’</a:t>
            </a:r>
            <a:r>
              <a:rPr lang="it-IT" sz="2800" b="1" dirty="0">
                <a:effectLst/>
                <a:ea typeface="Times New Roman" panose="02020603050405020304" pitchFamily="18" charset="0"/>
              </a:rPr>
              <a:t>interfaccia pubblica</a:t>
            </a:r>
            <a:r>
              <a:rPr lang="it-IT" sz="2800" dirty="0">
                <a:effectLst/>
                <a:ea typeface="Times New Roman" panose="02020603050405020304" pitchFamily="18" charset="0"/>
              </a:rPr>
              <a:t> che serve per l’interazione dell’oggetto con l’esterno</a:t>
            </a:r>
          </a:p>
          <a:p>
            <a:pPr lvl="1"/>
            <a:r>
              <a:rPr lang="it-IT" sz="2800" dirty="0">
                <a:ea typeface="Times New Roman" panose="02020603050405020304" pitchFamily="18" charset="0"/>
              </a:rPr>
              <a:t>Un’</a:t>
            </a:r>
            <a:r>
              <a:rPr lang="it-IT" sz="2800" b="1" dirty="0">
                <a:ea typeface="Times New Roman" panose="02020603050405020304" pitchFamily="18" charset="0"/>
              </a:rPr>
              <a:t>implementazione interna</a:t>
            </a:r>
            <a:r>
              <a:rPr lang="it-IT" sz="2800" dirty="0">
                <a:ea typeface="Times New Roman" panose="02020603050405020304" pitchFamily="18" charset="0"/>
              </a:rPr>
              <a:t> </a:t>
            </a:r>
            <a:r>
              <a:rPr lang="it-IT" sz="2800" dirty="0">
                <a:effectLst/>
                <a:ea typeface="Times New Roman" panose="02020603050405020304" pitchFamily="18" charset="0"/>
              </a:rPr>
              <a:t>nascosta e non accessibile</a:t>
            </a:r>
          </a:p>
          <a:p>
            <a:r>
              <a:rPr lang="it-IT" sz="3200" dirty="0">
                <a:ea typeface="Times New Roman" panose="02020603050405020304" pitchFamily="18" charset="0"/>
              </a:rPr>
              <a:t>Esempi del mondo reale: tutti!</a:t>
            </a:r>
          </a:p>
          <a:p>
            <a:endParaRPr lang="it-IT" sz="3200" dirty="0">
              <a:effectLst/>
              <a:ea typeface="Times New Roman" panose="02020603050405020304" pitchFamily="18" charset="0"/>
            </a:endParaRP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7</a:t>
            </a:fld>
            <a:endParaRPr lang="it-IT"/>
          </a:p>
        </p:txBody>
      </p:sp>
    </p:spTree>
    <p:extLst>
      <p:ext uri="{BB962C8B-B14F-4D97-AF65-F5344CB8AC3E}">
        <p14:creationId xmlns:p14="http://schemas.microsoft.com/office/powerpoint/2010/main" val="3299877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24680"/>
          </a:xfrm>
        </p:spPr>
        <p:txBody>
          <a:bodyPr/>
          <a:lstStyle/>
          <a:p>
            <a:pPr algn="ctr"/>
            <a:r>
              <a:rPr lang="it-IT" dirty="0"/>
              <a:t>Incapsulamento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1268699"/>
            <a:ext cx="9143999" cy="5400751"/>
          </a:xfrm>
        </p:spPr>
        <p:txBody>
          <a:bodyPr>
            <a:normAutofit fontScale="92500" lnSpcReduction="10000"/>
          </a:bodyPr>
          <a:lstStyle/>
          <a:p>
            <a:r>
              <a:rPr lang="it-IT" sz="3200" dirty="0">
                <a:ea typeface="Times New Roman" panose="02020603050405020304" pitchFamily="18" charset="0"/>
              </a:rPr>
              <a:t>Una classe definisce gli oggetti come composti da </a:t>
            </a:r>
            <a:r>
              <a:rPr lang="it-IT" sz="3200" b="1" dirty="0">
                <a:ea typeface="Times New Roman" panose="02020603050405020304" pitchFamily="18" charset="0"/>
              </a:rPr>
              <a:t>dati</a:t>
            </a:r>
            <a:r>
              <a:rPr lang="it-IT" sz="3200" dirty="0">
                <a:ea typeface="Times New Roman" panose="02020603050405020304" pitchFamily="18" charset="0"/>
              </a:rPr>
              <a:t> (variabili) e </a:t>
            </a:r>
            <a:r>
              <a:rPr lang="it-IT" sz="3200" b="1" dirty="0">
                <a:ea typeface="Times New Roman" panose="02020603050405020304" pitchFamily="18" charset="0"/>
              </a:rPr>
              <a:t>funzionalità</a:t>
            </a:r>
            <a:r>
              <a:rPr lang="it-IT" sz="3200" dirty="0">
                <a:ea typeface="Times New Roman" panose="02020603050405020304" pitchFamily="18" charset="0"/>
              </a:rPr>
              <a:t> (metodi)</a:t>
            </a:r>
          </a:p>
          <a:p>
            <a:r>
              <a:rPr lang="it-IT" sz="3200" dirty="0">
                <a:effectLst/>
                <a:ea typeface="Times New Roman" panose="02020603050405020304" pitchFamily="18" charset="0"/>
              </a:rPr>
              <a:t>La filosofia dell’incapsulamento si basa sull’accesso controllato ai dati, mediante metodi che possono prevenirne l’usura e la non correttezza. A livello di implementazione, per incapsulare una classe bisogna:</a:t>
            </a:r>
          </a:p>
          <a:p>
            <a:pPr lvl="1"/>
            <a:r>
              <a:rPr lang="it-IT" sz="2800" dirty="0">
                <a:effectLst/>
                <a:ea typeface="Times New Roman" panose="02020603050405020304" pitchFamily="18" charset="0"/>
              </a:rPr>
              <a:t>Dichiarare privati gli attributi, al fine di renderli inaccessibili fuori dalla classe stessa. A tale scopo introdurremo un nuovo modificatore: </a:t>
            </a:r>
            <a:r>
              <a:rPr lang="it-IT" sz="2800" b="1" i="1" dirty="0">
                <a:effectLst/>
                <a:ea typeface="Times New Roman" panose="02020603050405020304" pitchFamily="18" charset="0"/>
              </a:rPr>
              <a:t>private</a:t>
            </a:r>
            <a:r>
              <a:rPr lang="it-IT" sz="2800" dirty="0">
                <a:effectLst/>
                <a:ea typeface="Times New Roman" panose="02020603050405020304" pitchFamily="18" charset="0"/>
              </a:rPr>
              <a:t> </a:t>
            </a:r>
          </a:p>
          <a:p>
            <a:pPr lvl="1"/>
            <a:r>
              <a:rPr lang="it-IT" sz="2800" dirty="0">
                <a:effectLst/>
                <a:ea typeface="Times New Roman" panose="02020603050405020304" pitchFamily="18" charset="0"/>
              </a:rPr>
              <a:t>Creare dei metodi pubblici (dichiarati con il modificatore </a:t>
            </a:r>
            <a:r>
              <a:rPr lang="it-IT" sz="2800" i="1" dirty="0">
                <a:effectLst/>
                <a:ea typeface="Times New Roman" panose="02020603050405020304" pitchFamily="18" charset="0"/>
              </a:rPr>
              <a:t>public</a:t>
            </a:r>
            <a:r>
              <a:rPr lang="it-IT" sz="2800" dirty="0">
                <a:effectLst/>
                <a:ea typeface="Times New Roman" panose="02020603050405020304" pitchFamily="18" charset="0"/>
              </a:rPr>
              <a:t>), che permettono l’accesso agli attributi in maniera controllata. Tali metodi, possono opzionalmente realizzare controlli prima di confermare l’accesso ai dati privati, evitando che essi assumano valori non validi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8</a:t>
            </a:fld>
            <a:endParaRPr lang="it-IT"/>
          </a:p>
        </p:txBody>
      </p:sp>
    </p:spTree>
    <p:extLst>
      <p:ext uri="{BB962C8B-B14F-4D97-AF65-F5344CB8AC3E}">
        <p14:creationId xmlns:p14="http://schemas.microsoft.com/office/powerpoint/2010/main" val="627867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124680"/>
          </a:xfrm>
        </p:spPr>
        <p:txBody>
          <a:bodyPr/>
          <a:lstStyle/>
          <a:p>
            <a:pPr algn="ctr"/>
            <a:r>
              <a:rPr lang="it-IT" dirty="0"/>
              <a:t>Incapsulamento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32326" y="1208674"/>
            <a:ext cx="8515350" cy="5649325"/>
          </a:xfrm>
        </p:spPr>
        <p:txBody>
          <a:bodyPr>
            <a:noAutofit/>
          </a:bodyPr>
          <a:lstStyle/>
          <a:p>
            <a:pPr marL="0" indent="0">
              <a:buNone/>
            </a:pPr>
            <a:r>
              <a:rPr lang="en-US" sz="2800" dirty="0">
                <a:solidFill>
                  <a:schemeClr val="accent5"/>
                </a:solidFill>
              </a:rPr>
              <a:t>public class Data {</a:t>
            </a:r>
          </a:p>
          <a:p>
            <a:pPr marL="0" indent="0">
              <a:buNone/>
            </a:pPr>
            <a:r>
              <a:rPr lang="en-US" sz="2800" dirty="0">
                <a:solidFill>
                  <a:schemeClr val="accent5"/>
                </a:solidFill>
              </a:rPr>
              <a:t>    public int </a:t>
            </a:r>
            <a:r>
              <a:rPr lang="en-US" sz="2800" dirty="0" err="1">
                <a:solidFill>
                  <a:schemeClr val="accent5"/>
                </a:solidFill>
              </a:rPr>
              <a:t>giorno</a:t>
            </a:r>
            <a:r>
              <a:rPr lang="en-US" sz="2800" dirty="0">
                <a:solidFill>
                  <a:schemeClr val="accent5"/>
                </a:solidFill>
              </a:rPr>
              <a:t>;</a:t>
            </a:r>
          </a:p>
          <a:p>
            <a:pPr marL="0" indent="0">
              <a:buNone/>
            </a:pPr>
            <a:r>
              <a:rPr lang="en-US" sz="2800" dirty="0">
                <a:solidFill>
                  <a:schemeClr val="accent5"/>
                </a:solidFill>
              </a:rPr>
              <a:t>    public int mese;</a:t>
            </a:r>
          </a:p>
          <a:p>
            <a:pPr marL="0" indent="0">
              <a:buNone/>
            </a:pPr>
            <a:r>
              <a:rPr lang="en-US" sz="2800" dirty="0">
                <a:solidFill>
                  <a:schemeClr val="accent5"/>
                </a:solidFill>
              </a:rPr>
              <a:t>    public int anno;</a:t>
            </a:r>
          </a:p>
          <a:p>
            <a:pPr marL="0" indent="0">
              <a:buNone/>
            </a:pPr>
            <a:r>
              <a:rPr lang="en-US" sz="2800" dirty="0">
                <a:solidFill>
                  <a:schemeClr val="accent5"/>
                </a:solidFill>
              </a:rPr>
              <a:t>}</a:t>
            </a:r>
          </a:p>
          <a:p>
            <a:pPr marL="0" indent="0">
              <a:buNone/>
            </a:pPr>
            <a:r>
              <a:rPr lang="it-IT" sz="2800" dirty="0">
                <a:solidFill>
                  <a:schemeClr val="accent5"/>
                </a:solidFill>
              </a:rPr>
              <a:t>Data </a:t>
            </a:r>
            <a:r>
              <a:rPr lang="it-IT" sz="2800" dirty="0" err="1">
                <a:solidFill>
                  <a:schemeClr val="accent5"/>
                </a:solidFill>
              </a:rPr>
              <a:t>unaData</a:t>
            </a:r>
            <a:r>
              <a:rPr lang="it-IT" sz="2800" dirty="0">
                <a:solidFill>
                  <a:schemeClr val="accent5"/>
                </a:solidFill>
              </a:rPr>
              <a:t> = new Data();</a:t>
            </a:r>
          </a:p>
          <a:p>
            <a:pPr marL="0" indent="0">
              <a:buNone/>
            </a:pPr>
            <a:r>
              <a:rPr lang="it-IT" sz="2800" dirty="0" err="1">
                <a:solidFill>
                  <a:schemeClr val="accent5"/>
                </a:solidFill>
              </a:rPr>
              <a:t>unaData.giorno</a:t>
            </a:r>
            <a:r>
              <a:rPr lang="it-IT" sz="2800" dirty="0">
                <a:solidFill>
                  <a:schemeClr val="accent5"/>
                </a:solidFill>
              </a:rPr>
              <a:t> = 14;</a:t>
            </a:r>
          </a:p>
          <a:p>
            <a:pPr marL="0" indent="0">
              <a:buNone/>
            </a:pPr>
            <a:r>
              <a:rPr lang="it-IT" sz="2800" dirty="0" err="1">
                <a:solidFill>
                  <a:schemeClr val="accent5"/>
                </a:solidFill>
              </a:rPr>
              <a:t>unaData.mese</a:t>
            </a:r>
            <a:r>
              <a:rPr lang="it-IT" sz="2800" dirty="0">
                <a:solidFill>
                  <a:schemeClr val="accent5"/>
                </a:solidFill>
              </a:rPr>
              <a:t> = 4;</a:t>
            </a:r>
          </a:p>
          <a:p>
            <a:pPr marL="0" indent="0">
              <a:buNone/>
            </a:pPr>
            <a:r>
              <a:rPr lang="it-IT" sz="2800" dirty="0" err="1">
                <a:solidFill>
                  <a:schemeClr val="accent5"/>
                </a:solidFill>
              </a:rPr>
              <a:t>unaData.anno</a:t>
            </a:r>
            <a:r>
              <a:rPr lang="it-IT" sz="2800" dirty="0">
                <a:solidFill>
                  <a:schemeClr val="accent5"/>
                </a:solidFill>
              </a:rPr>
              <a:t> = 2004;</a:t>
            </a:r>
          </a:p>
          <a:p>
            <a:pPr marL="0" indent="0">
              <a:buNone/>
            </a:pPr>
            <a:endParaRPr lang="en-US" sz="2800" dirty="0">
              <a:solidFill>
                <a:schemeClr val="accent5"/>
              </a:solidFill>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9</a:t>
            </a:fld>
            <a:endParaRPr lang="it-IT"/>
          </a:p>
        </p:txBody>
      </p:sp>
    </p:spTree>
    <p:extLst>
      <p:ext uri="{BB962C8B-B14F-4D97-AF65-F5344CB8AC3E}">
        <p14:creationId xmlns:p14="http://schemas.microsoft.com/office/powerpoint/2010/main" val="299307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499"/>
            <a:ext cx="7886700" cy="1080150"/>
          </a:xfrm>
        </p:spPr>
        <p:txBody>
          <a:bodyPr>
            <a:normAutofit fontScale="90000"/>
          </a:bodyPr>
          <a:lstStyle/>
          <a:p>
            <a:pPr algn="ctr"/>
            <a:r>
              <a:rPr lang="it-IT" dirty="0"/>
              <a:t>Incapsulamento: implementazione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593130"/>
            <a:ext cx="6588280" cy="6264870"/>
          </a:xfrm>
        </p:spPr>
        <p:txBody>
          <a:bodyPr>
            <a:noAutofit/>
          </a:bodyPr>
          <a:lstStyle/>
          <a:p>
            <a:pPr marL="342900" lvl="1" indent="0">
              <a:buNone/>
            </a:pPr>
            <a:r>
              <a:rPr lang="en-US" sz="2400" dirty="0">
                <a:solidFill>
                  <a:schemeClr val="accent5"/>
                </a:solidFill>
              </a:rPr>
              <a:t>public class Data {</a:t>
            </a:r>
          </a:p>
          <a:p>
            <a:pPr marL="342900" lvl="1" indent="0">
              <a:buNone/>
            </a:pPr>
            <a:r>
              <a:rPr lang="en-US" sz="2400" dirty="0">
                <a:solidFill>
                  <a:schemeClr val="accent5"/>
                </a:solidFill>
              </a:rPr>
              <a:t>    private int </a:t>
            </a:r>
            <a:r>
              <a:rPr lang="en-US" sz="2400" dirty="0" err="1">
                <a:solidFill>
                  <a:schemeClr val="accent5"/>
                </a:solidFill>
              </a:rPr>
              <a:t>giorno</a:t>
            </a:r>
            <a:r>
              <a:rPr lang="en-US" sz="2400" dirty="0">
                <a:solidFill>
                  <a:schemeClr val="accent5"/>
                </a:solidFill>
              </a:rPr>
              <a:t>;</a:t>
            </a:r>
          </a:p>
          <a:p>
            <a:pPr marL="342900" lvl="1" indent="0">
              <a:buNone/>
            </a:pPr>
            <a:r>
              <a:rPr lang="en-US" sz="2400" dirty="0">
                <a:solidFill>
                  <a:schemeClr val="accent5"/>
                </a:solidFill>
              </a:rPr>
              <a:t>    private int mese;</a:t>
            </a:r>
          </a:p>
          <a:p>
            <a:pPr marL="342900" lvl="1" indent="0">
              <a:buNone/>
            </a:pPr>
            <a:r>
              <a:rPr lang="en-US" sz="2400" dirty="0">
                <a:solidFill>
                  <a:schemeClr val="accent5"/>
                </a:solidFill>
              </a:rPr>
              <a:t>    private int anno;</a:t>
            </a:r>
          </a:p>
          <a:p>
            <a:pPr marL="342900" lvl="1" indent="0">
              <a:buNone/>
            </a:pPr>
            <a:endParaRPr lang="en-US" sz="2400" dirty="0">
              <a:solidFill>
                <a:schemeClr val="accent5"/>
              </a:solidFill>
            </a:endParaRPr>
          </a:p>
          <a:p>
            <a:pPr marL="342900" lvl="1" indent="0">
              <a:buNone/>
            </a:pPr>
            <a:r>
              <a:rPr lang="en-US" sz="2400" dirty="0">
                <a:solidFill>
                  <a:schemeClr val="accent5"/>
                </a:solidFill>
              </a:rPr>
              <a:t>    public void </a:t>
            </a:r>
            <a:r>
              <a:rPr lang="en-US" sz="2400" dirty="0" err="1">
                <a:solidFill>
                  <a:schemeClr val="accent5"/>
                </a:solidFill>
              </a:rPr>
              <a:t>setGiorno</a:t>
            </a:r>
            <a:r>
              <a:rPr lang="en-US" sz="2400" dirty="0">
                <a:solidFill>
                  <a:schemeClr val="accent5"/>
                </a:solidFill>
              </a:rPr>
              <a:t>(int g) {</a:t>
            </a:r>
          </a:p>
          <a:p>
            <a:pPr marL="342900" lvl="1" indent="0">
              <a:buNone/>
            </a:pPr>
            <a:r>
              <a:rPr lang="en-US" sz="2400" dirty="0">
                <a:solidFill>
                  <a:schemeClr val="accent5"/>
                </a:solidFill>
              </a:rPr>
              <a:t>        if (g &gt; 0 &amp;&amp; g &lt;= 31) {</a:t>
            </a:r>
          </a:p>
          <a:p>
            <a:pPr marL="342900" lvl="1" indent="0">
              <a:buNone/>
            </a:pPr>
            <a:r>
              <a:rPr lang="en-US" sz="2400" dirty="0">
                <a:solidFill>
                  <a:schemeClr val="accent5"/>
                </a:solidFill>
              </a:rPr>
              <a:t>            </a:t>
            </a:r>
            <a:r>
              <a:rPr lang="en-US" sz="2400" dirty="0" err="1">
                <a:solidFill>
                  <a:schemeClr val="accent5"/>
                </a:solidFill>
              </a:rPr>
              <a:t>giorno</a:t>
            </a:r>
            <a:r>
              <a:rPr lang="en-US" sz="2400" dirty="0">
                <a:solidFill>
                  <a:schemeClr val="accent5"/>
                </a:solidFill>
              </a:rPr>
              <a:t> = g;</a:t>
            </a:r>
          </a:p>
          <a:p>
            <a:pPr marL="342900" lvl="1" indent="0">
              <a:buNone/>
            </a:pPr>
            <a:r>
              <a:rPr lang="en-US" sz="2400" dirty="0">
                <a:solidFill>
                  <a:schemeClr val="accent5"/>
                </a:solidFill>
              </a:rPr>
              <a:t>        } else {</a:t>
            </a:r>
          </a:p>
          <a:p>
            <a:pPr marL="342900" lvl="1" indent="0">
              <a:buNone/>
            </a:pPr>
            <a:r>
              <a:rPr lang="en-US" sz="2400" dirty="0">
                <a:solidFill>
                  <a:schemeClr val="accent5"/>
                </a:solidFill>
              </a:rPr>
              <a:t>            System.out.println(</a:t>
            </a:r>
            <a:br>
              <a:rPr lang="en-US" sz="2400" dirty="0">
                <a:solidFill>
                  <a:schemeClr val="accent5"/>
                </a:solidFill>
              </a:rPr>
            </a:br>
            <a:r>
              <a:rPr lang="en-US" sz="2400" dirty="0">
                <a:solidFill>
                  <a:schemeClr val="accent5"/>
                </a:solidFill>
              </a:rPr>
              <a:t>                "</a:t>
            </a:r>
            <a:r>
              <a:rPr lang="en-US" sz="2400" dirty="0" err="1">
                <a:solidFill>
                  <a:schemeClr val="accent5"/>
                </a:solidFill>
              </a:rPr>
              <a:t>Giorno</a:t>
            </a:r>
            <a:r>
              <a:rPr lang="en-US" sz="2400" dirty="0">
                <a:solidFill>
                  <a:schemeClr val="accent5"/>
                </a:solidFill>
              </a:rPr>
              <a:t> non </a:t>
            </a:r>
            <a:r>
              <a:rPr lang="en-US" sz="2400" dirty="0" err="1">
                <a:solidFill>
                  <a:schemeClr val="accent5"/>
                </a:solidFill>
              </a:rPr>
              <a:t>valido</a:t>
            </a:r>
            <a:r>
              <a:rPr lang="en-US" sz="2400" dirty="0">
                <a:solidFill>
                  <a:schemeClr val="accent5"/>
                </a:solidFill>
              </a:rPr>
              <a:t>");</a:t>
            </a:r>
          </a:p>
          <a:p>
            <a:pPr marL="342900" lvl="1" indent="0">
              <a:buNone/>
            </a:pPr>
            <a:r>
              <a:rPr lang="en-US" sz="2400" dirty="0">
                <a:solidFill>
                  <a:schemeClr val="accent5"/>
                </a:solidFill>
              </a:rPr>
              <a:t>        }</a:t>
            </a:r>
          </a:p>
          <a:p>
            <a:pPr marL="342900" lvl="1" indent="0">
              <a:buNone/>
            </a:pPr>
            <a:r>
              <a:rPr lang="en-US" sz="2400" dirty="0">
                <a:solidFill>
                  <a:schemeClr val="accent5"/>
                </a:solidFill>
              </a:rPr>
              <a:t>    }</a:t>
            </a:r>
          </a:p>
          <a:p>
            <a:pPr marL="342900" lvl="1" indent="0">
              <a:buNone/>
            </a:pPr>
            <a:r>
              <a:rPr lang="en-US" sz="2400" dirty="0">
                <a:solidFill>
                  <a:schemeClr val="accent5"/>
                </a:solidFill>
              </a:rPr>
              <a:t>    public int </a:t>
            </a:r>
            <a:r>
              <a:rPr lang="en-US" sz="2400" dirty="0" err="1">
                <a:solidFill>
                  <a:schemeClr val="accent5"/>
                </a:solidFill>
              </a:rPr>
              <a:t>getGiorno</a:t>
            </a:r>
            <a:r>
              <a:rPr lang="en-US" sz="2400" dirty="0">
                <a:solidFill>
                  <a:schemeClr val="accent5"/>
                </a:solidFill>
              </a:rPr>
              <a:t>() {</a:t>
            </a:r>
          </a:p>
          <a:p>
            <a:pPr marL="342900" lvl="1" indent="0">
              <a:buNone/>
            </a:pPr>
            <a:r>
              <a:rPr lang="en-US" sz="2400" dirty="0">
                <a:solidFill>
                  <a:schemeClr val="accent5"/>
                </a:solidFill>
              </a:rPr>
              <a:t>        return </a:t>
            </a:r>
            <a:r>
              <a:rPr lang="en-US" sz="2400" dirty="0" err="1">
                <a:solidFill>
                  <a:schemeClr val="accent5"/>
                </a:solidFill>
              </a:rPr>
              <a:t>giorno</a:t>
            </a:r>
            <a:r>
              <a:rPr lang="en-US" sz="2400" dirty="0">
                <a:solidFill>
                  <a:schemeClr val="accent5"/>
                </a:solidFill>
              </a:rPr>
              <a:t>;</a:t>
            </a:r>
          </a:p>
          <a:p>
            <a:pPr marL="342900" lvl="1" indent="0">
              <a:buNone/>
            </a:pPr>
            <a:r>
              <a:rPr lang="en-US" sz="2400" dirty="0">
                <a:solidFill>
                  <a:schemeClr val="accent5"/>
                </a:solidFill>
              </a:rPr>
              <a:t>    }</a:t>
            </a:r>
          </a:p>
          <a:p>
            <a:pPr lvl="1"/>
            <a:endParaRPr lang="en-US" sz="24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10</a:t>
            </a:fld>
            <a:endParaRPr lang="it-IT"/>
          </a:p>
        </p:txBody>
      </p:sp>
      <p:sp>
        <p:nvSpPr>
          <p:cNvPr id="10" name="CasellaDiTesto 9">
            <a:extLst>
              <a:ext uri="{FF2B5EF4-FFF2-40B4-BE49-F238E27FC236}">
                <a16:creationId xmlns:a16="http://schemas.microsoft.com/office/drawing/2014/main" id="{5688F6A0-02DC-4B31-9E2B-D4FAE50CBD3E}"/>
              </a:ext>
            </a:extLst>
          </p:cNvPr>
          <p:cNvSpPr txBox="1"/>
          <p:nvPr/>
        </p:nvSpPr>
        <p:spPr>
          <a:xfrm>
            <a:off x="5436120" y="725015"/>
            <a:ext cx="3707880" cy="6232475"/>
          </a:xfrm>
          <a:prstGeom prst="rect">
            <a:avLst/>
          </a:prstGeom>
          <a:noFill/>
        </p:spPr>
        <p:txBody>
          <a:bodyPr wrap="square">
            <a:spAutoFit/>
          </a:bodyPr>
          <a:lstStyle/>
          <a:p>
            <a:r>
              <a:rPr lang="it-IT" sz="2100" dirty="0">
                <a:solidFill>
                  <a:schemeClr val="accent5"/>
                </a:solidFill>
              </a:rPr>
              <a:t>    public void </a:t>
            </a:r>
            <a:r>
              <a:rPr lang="it-IT" sz="2100" dirty="0" err="1">
                <a:solidFill>
                  <a:schemeClr val="accent5"/>
                </a:solidFill>
              </a:rPr>
              <a:t>setMese</a:t>
            </a:r>
            <a:r>
              <a:rPr lang="it-IT" sz="2100" dirty="0">
                <a:solidFill>
                  <a:schemeClr val="accent5"/>
                </a:solidFill>
              </a:rPr>
              <a:t>(int m) {</a:t>
            </a:r>
          </a:p>
          <a:p>
            <a:r>
              <a:rPr lang="it-IT" sz="2100" dirty="0">
                <a:solidFill>
                  <a:schemeClr val="accent5"/>
                </a:solidFill>
              </a:rPr>
              <a:t>        if (m &gt; 0 &amp;&amp; m &lt;= 12) {</a:t>
            </a:r>
          </a:p>
          <a:p>
            <a:r>
              <a:rPr lang="it-IT" sz="2100" dirty="0">
                <a:solidFill>
                  <a:schemeClr val="accent5"/>
                </a:solidFill>
              </a:rPr>
              <a:t>            mese = m;</a:t>
            </a:r>
          </a:p>
          <a:p>
            <a:r>
              <a:rPr lang="it-IT" sz="2100" dirty="0">
                <a:solidFill>
                  <a:schemeClr val="accent5"/>
                </a:solidFill>
              </a:rPr>
              <a:t>        }</a:t>
            </a:r>
          </a:p>
          <a:p>
            <a:r>
              <a:rPr lang="it-IT" sz="2100" dirty="0">
                <a:solidFill>
                  <a:schemeClr val="accent5"/>
                </a:solidFill>
              </a:rPr>
              <a:t>        else {</a:t>
            </a:r>
          </a:p>
          <a:p>
            <a:r>
              <a:rPr lang="it-IT" sz="2100" dirty="0">
                <a:solidFill>
                  <a:schemeClr val="accent5"/>
                </a:solidFill>
              </a:rPr>
              <a:t>            System.out.println(</a:t>
            </a:r>
          </a:p>
          <a:p>
            <a:r>
              <a:rPr lang="it-IT" sz="2100" dirty="0">
                <a:solidFill>
                  <a:schemeClr val="accent5"/>
                </a:solidFill>
              </a:rPr>
              <a:t>                "Mese non valido");</a:t>
            </a:r>
          </a:p>
          <a:p>
            <a:r>
              <a:rPr lang="it-IT" sz="2100" dirty="0">
                <a:solidFill>
                  <a:schemeClr val="accent5"/>
                </a:solidFill>
              </a:rPr>
              <a:t>        }</a:t>
            </a:r>
          </a:p>
          <a:p>
            <a:r>
              <a:rPr lang="it-IT" sz="2100" dirty="0">
                <a:solidFill>
                  <a:schemeClr val="accent5"/>
                </a:solidFill>
              </a:rPr>
              <a:t>    }</a:t>
            </a:r>
          </a:p>
          <a:p>
            <a:r>
              <a:rPr lang="it-IT" sz="2100" dirty="0">
                <a:solidFill>
                  <a:schemeClr val="accent5"/>
                </a:solidFill>
              </a:rPr>
              <a:t>    public int </a:t>
            </a:r>
            <a:r>
              <a:rPr lang="it-IT" sz="2100" dirty="0" err="1">
                <a:solidFill>
                  <a:schemeClr val="accent5"/>
                </a:solidFill>
              </a:rPr>
              <a:t>getMese</a:t>
            </a:r>
            <a:r>
              <a:rPr lang="it-IT" sz="2100" dirty="0">
                <a:solidFill>
                  <a:schemeClr val="accent5"/>
                </a:solidFill>
              </a:rPr>
              <a:t>() {</a:t>
            </a:r>
          </a:p>
          <a:p>
            <a:r>
              <a:rPr lang="it-IT" sz="2100" dirty="0">
                <a:solidFill>
                  <a:schemeClr val="accent5"/>
                </a:solidFill>
              </a:rPr>
              <a:t>        return mese;</a:t>
            </a:r>
          </a:p>
          <a:p>
            <a:r>
              <a:rPr lang="it-IT" sz="2100" dirty="0">
                <a:solidFill>
                  <a:schemeClr val="accent5"/>
                </a:solidFill>
              </a:rPr>
              <a:t>    }</a:t>
            </a:r>
          </a:p>
          <a:p>
            <a:r>
              <a:rPr lang="it-IT" sz="2100" dirty="0">
                <a:solidFill>
                  <a:schemeClr val="accent5"/>
                </a:solidFill>
              </a:rPr>
              <a:t>    public void </a:t>
            </a:r>
            <a:r>
              <a:rPr lang="it-IT" sz="2100" dirty="0" err="1">
                <a:solidFill>
                  <a:schemeClr val="accent5"/>
                </a:solidFill>
              </a:rPr>
              <a:t>setAnno</a:t>
            </a:r>
            <a:r>
              <a:rPr lang="it-IT" sz="2100" dirty="0">
                <a:solidFill>
                  <a:schemeClr val="accent5"/>
                </a:solidFill>
              </a:rPr>
              <a:t>(int a) {</a:t>
            </a:r>
          </a:p>
          <a:p>
            <a:r>
              <a:rPr lang="it-IT" sz="2100" dirty="0">
                <a:solidFill>
                  <a:schemeClr val="accent5"/>
                </a:solidFill>
              </a:rPr>
              <a:t>        anno = a;</a:t>
            </a:r>
          </a:p>
          <a:p>
            <a:r>
              <a:rPr lang="it-IT" sz="2100" dirty="0">
                <a:solidFill>
                  <a:schemeClr val="accent5"/>
                </a:solidFill>
              </a:rPr>
              <a:t>    }</a:t>
            </a:r>
          </a:p>
          <a:p>
            <a:r>
              <a:rPr lang="it-IT" sz="2100" dirty="0">
                <a:solidFill>
                  <a:schemeClr val="accent5"/>
                </a:solidFill>
              </a:rPr>
              <a:t>    public int </a:t>
            </a:r>
            <a:r>
              <a:rPr lang="it-IT" sz="2100" dirty="0" err="1">
                <a:solidFill>
                  <a:schemeClr val="accent5"/>
                </a:solidFill>
              </a:rPr>
              <a:t>getAnno</a:t>
            </a:r>
            <a:r>
              <a:rPr lang="it-IT" sz="2100" dirty="0">
                <a:solidFill>
                  <a:schemeClr val="accent5"/>
                </a:solidFill>
              </a:rPr>
              <a:t>() {</a:t>
            </a:r>
          </a:p>
          <a:p>
            <a:r>
              <a:rPr lang="it-IT" sz="2100" dirty="0">
                <a:solidFill>
                  <a:schemeClr val="accent5"/>
                </a:solidFill>
              </a:rPr>
              <a:t>        return anno;</a:t>
            </a:r>
          </a:p>
          <a:p>
            <a:r>
              <a:rPr lang="it-IT" sz="2100" dirty="0">
                <a:solidFill>
                  <a:schemeClr val="accent5"/>
                </a:solidFill>
              </a:rPr>
              <a:t>    }</a:t>
            </a:r>
          </a:p>
          <a:p>
            <a:r>
              <a:rPr lang="it-IT" sz="2100" dirty="0">
                <a:solidFill>
                  <a:schemeClr val="accent5"/>
                </a:solidFill>
              </a:rPr>
              <a:t>}</a:t>
            </a:r>
          </a:p>
        </p:txBody>
      </p:sp>
    </p:spTree>
    <p:extLst>
      <p:ext uri="{BB962C8B-B14F-4D97-AF65-F5344CB8AC3E}">
        <p14:creationId xmlns:p14="http://schemas.microsoft.com/office/powerpoint/2010/main" val="334768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24681"/>
          </a:xfrm>
        </p:spPr>
        <p:txBody>
          <a:bodyPr>
            <a:normAutofit fontScale="90000"/>
          </a:bodyPr>
          <a:lstStyle/>
          <a:p>
            <a:pPr algn="ctr"/>
            <a:r>
              <a:rPr lang="it-IT" dirty="0"/>
              <a:t>Incapsulamento: implementazione UML</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11</a:t>
            </a:fld>
            <a:endParaRPr lang="it-IT"/>
          </a:p>
        </p:txBody>
      </p:sp>
      <p:pic>
        <p:nvPicPr>
          <p:cNvPr id="7" name="Immagine 6">
            <a:extLst>
              <a:ext uri="{FF2B5EF4-FFF2-40B4-BE49-F238E27FC236}">
                <a16:creationId xmlns:a16="http://schemas.microsoft.com/office/drawing/2014/main" id="{11CB993F-9A6D-4CE5-A320-B2F059247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5040"/>
            <a:ext cx="9144000" cy="5246370"/>
          </a:xfrm>
          <a:prstGeom prst="rect">
            <a:avLst/>
          </a:prstGeom>
        </p:spPr>
      </p:pic>
    </p:spTree>
    <p:extLst>
      <p:ext uri="{BB962C8B-B14F-4D97-AF65-F5344CB8AC3E}">
        <p14:creationId xmlns:p14="http://schemas.microsoft.com/office/powerpoint/2010/main" val="137569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1004571"/>
          </a:xfrm>
        </p:spPr>
        <p:txBody>
          <a:bodyPr/>
          <a:lstStyle/>
          <a:p>
            <a:pPr algn="ctr"/>
            <a:r>
              <a:rPr lang="it-IT" dirty="0"/>
              <a:t>Incapsulamento: evoluzione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12</a:t>
            </a:fld>
            <a:endParaRPr lang="it-IT"/>
          </a:p>
        </p:txBody>
      </p:sp>
      <p:sp>
        <p:nvSpPr>
          <p:cNvPr id="10" name="CasellaDiTesto 9">
            <a:extLst>
              <a:ext uri="{FF2B5EF4-FFF2-40B4-BE49-F238E27FC236}">
                <a16:creationId xmlns:a16="http://schemas.microsoft.com/office/drawing/2014/main" id="{703C262F-FE2B-4B5F-85BA-00C9D4215BF0}"/>
              </a:ext>
            </a:extLst>
          </p:cNvPr>
          <p:cNvSpPr txBox="1"/>
          <p:nvPr/>
        </p:nvSpPr>
        <p:spPr>
          <a:xfrm>
            <a:off x="107380" y="3501010"/>
            <a:ext cx="9036620" cy="2554545"/>
          </a:xfrm>
          <a:prstGeom prst="rect">
            <a:avLst/>
          </a:prstGeom>
          <a:noFill/>
        </p:spPr>
        <p:txBody>
          <a:bodyPr wrap="square">
            <a:spAutoFit/>
          </a:bodyPr>
          <a:lstStyle/>
          <a:p>
            <a:pPr>
              <a:spcAft>
                <a:spcPts val="1200"/>
              </a:spcAft>
            </a:pPr>
            <a:r>
              <a:rPr lang="it-IT" sz="2400" dirty="0">
                <a:solidFill>
                  <a:schemeClr val="accent5"/>
                </a:solidFill>
                <a:effectLst/>
                <a:latin typeface="Corbel (Corpo)"/>
              </a:rPr>
              <a:t>Data </a:t>
            </a:r>
            <a:r>
              <a:rPr lang="it-IT" sz="2400" dirty="0" err="1">
                <a:solidFill>
                  <a:schemeClr val="accent5"/>
                </a:solidFill>
                <a:effectLst/>
                <a:latin typeface="Corbel (Corpo)"/>
              </a:rPr>
              <a:t>unaData</a:t>
            </a:r>
            <a:r>
              <a:rPr lang="it-IT" sz="2400" dirty="0">
                <a:solidFill>
                  <a:schemeClr val="accent5"/>
                </a:solidFill>
                <a:effectLst/>
                <a:latin typeface="Corbel (Corpo)"/>
              </a:rPr>
              <a:t> = new Data();</a:t>
            </a:r>
          </a:p>
          <a:p>
            <a:pPr>
              <a:spcAft>
                <a:spcPts val="1200"/>
              </a:spcAft>
            </a:pPr>
            <a:r>
              <a:rPr lang="it-IT" sz="2400" dirty="0" err="1">
                <a:solidFill>
                  <a:schemeClr val="accent5"/>
                </a:solidFill>
                <a:effectLst/>
                <a:latin typeface="Corbel (Corpo)"/>
              </a:rPr>
              <a:t>unaData.setGiorno</a:t>
            </a:r>
            <a:r>
              <a:rPr lang="it-IT" sz="2400" dirty="0">
                <a:solidFill>
                  <a:schemeClr val="accent5"/>
                </a:solidFill>
                <a:effectLst/>
                <a:latin typeface="Corbel (Corpo)"/>
              </a:rPr>
              <a:t>(14);</a:t>
            </a:r>
          </a:p>
          <a:p>
            <a:pPr>
              <a:spcAft>
                <a:spcPts val="1200"/>
              </a:spcAft>
            </a:pPr>
            <a:r>
              <a:rPr lang="it-IT" sz="2400" dirty="0" err="1">
                <a:solidFill>
                  <a:schemeClr val="accent5"/>
                </a:solidFill>
                <a:effectLst/>
                <a:latin typeface="Corbel (Corpo)"/>
              </a:rPr>
              <a:t>unaData.setMese</a:t>
            </a:r>
            <a:r>
              <a:rPr lang="it-IT" sz="2400" dirty="0">
                <a:solidFill>
                  <a:schemeClr val="accent5"/>
                </a:solidFill>
                <a:effectLst/>
                <a:latin typeface="Corbel (Corpo)"/>
              </a:rPr>
              <a:t>(4);</a:t>
            </a:r>
          </a:p>
          <a:p>
            <a:pPr>
              <a:spcAft>
                <a:spcPts val="1200"/>
              </a:spcAft>
            </a:pPr>
            <a:r>
              <a:rPr lang="it-IT" sz="2400" dirty="0" err="1">
                <a:solidFill>
                  <a:schemeClr val="accent5"/>
                </a:solidFill>
                <a:effectLst/>
                <a:latin typeface="Corbel (Corpo)"/>
              </a:rPr>
              <a:t>unaData.setAnno</a:t>
            </a:r>
            <a:r>
              <a:rPr lang="it-IT" sz="2400" dirty="0">
                <a:solidFill>
                  <a:schemeClr val="accent5"/>
                </a:solidFill>
                <a:effectLst/>
                <a:latin typeface="Corbel (Corpo)"/>
              </a:rPr>
              <a:t>(2004);</a:t>
            </a:r>
          </a:p>
          <a:p>
            <a:pPr>
              <a:spcAft>
                <a:spcPts val="1200"/>
              </a:spcAft>
            </a:pPr>
            <a:r>
              <a:rPr lang="it-IT" sz="2400" dirty="0">
                <a:solidFill>
                  <a:schemeClr val="accent5"/>
                </a:solidFill>
                <a:effectLst/>
                <a:latin typeface="Corbel (Corpo)"/>
              </a:rPr>
              <a:t>System.out.println(</a:t>
            </a:r>
            <a:r>
              <a:rPr lang="it-IT" sz="2400" dirty="0" err="1">
                <a:solidFill>
                  <a:schemeClr val="accent5"/>
                </a:solidFill>
                <a:effectLst/>
                <a:latin typeface="Corbel (Corpo)"/>
              </a:rPr>
              <a:t>unaData.getGiorno</a:t>
            </a:r>
            <a:r>
              <a:rPr lang="it-IT" sz="2400" dirty="0">
                <a:solidFill>
                  <a:schemeClr val="accent5"/>
                </a:solidFill>
                <a:effectLst/>
                <a:latin typeface="Corbel (Corpo)"/>
              </a:rPr>
              <a:t>());</a:t>
            </a:r>
          </a:p>
        </p:txBody>
      </p:sp>
      <p:sp>
        <p:nvSpPr>
          <p:cNvPr id="11" name="CasellaDiTesto 10">
            <a:extLst>
              <a:ext uri="{FF2B5EF4-FFF2-40B4-BE49-F238E27FC236}">
                <a16:creationId xmlns:a16="http://schemas.microsoft.com/office/drawing/2014/main" id="{9BB0514C-9B36-4F3B-935D-0A51F187FC73}"/>
              </a:ext>
            </a:extLst>
          </p:cNvPr>
          <p:cNvSpPr txBox="1"/>
          <p:nvPr/>
        </p:nvSpPr>
        <p:spPr>
          <a:xfrm>
            <a:off x="4198638" y="1004571"/>
            <a:ext cx="4837982" cy="3416320"/>
          </a:xfrm>
          <a:prstGeom prst="rect">
            <a:avLst/>
          </a:prstGeom>
          <a:noFill/>
        </p:spPr>
        <p:txBody>
          <a:bodyPr wrap="square">
            <a:spAutoFit/>
          </a:bodyPr>
          <a:lstStyle/>
          <a:p>
            <a:r>
              <a:rPr lang="it-IT" sz="2400" dirty="0">
                <a:solidFill>
                  <a:schemeClr val="accent5"/>
                </a:solidFill>
              </a:rPr>
              <a:t>public void </a:t>
            </a:r>
            <a:r>
              <a:rPr lang="it-IT" sz="2400" dirty="0" err="1">
                <a:solidFill>
                  <a:schemeClr val="accent5"/>
                </a:solidFill>
              </a:rPr>
              <a:t>setGiorno</a:t>
            </a:r>
            <a:r>
              <a:rPr lang="it-IT" sz="2400" dirty="0">
                <a:solidFill>
                  <a:schemeClr val="accent5"/>
                </a:solidFill>
              </a:rPr>
              <a:t>(int g) {</a:t>
            </a:r>
          </a:p>
          <a:p>
            <a:r>
              <a:rPr lang="it-IT" sz="2400" dirty="0">
                <a:solidFill>
                  <a:schemeClr val="accent5"/>
                </a:solidFill>
              </a:rPr>
              <a:t>    if (g &gt; 0 &amp;&amp; g &lt;= 31 &amp;&amp; mese != 4) {</a:t>
            </a:r>
          </a:p>
          <a:p>
            <a:r>
              <a:rPr lang="it-IT" sz="2400" dirty="0">
                <a:solidFill>
                  <a:schemeClr val="accent5"/>
                </a:solidFill>
              </a:rPr>
              <a:t>        giorno = g;</a:t>
            </a:r>
          </a:p>
          <a:p>
            <a:r>
              <a:rPr lang="it-IT" sz="2400" dirty="0">
                <a:solidFill>
                  <a:schemeClr val="accent5"/>
                </a:solidFill>
              </a:rPr>
              <a:t>    }</a:t>
            </a:r>
          </a:p>
          <a:p>
            <a:r>
              <a:rPr lang="it-IT" sz="2400" dirty="0">
                <a:solidFill>
                  <a:schemeClr val="accent5"/>
                </a:solidFill>
              </a:rPr>
              <a:t>    else {</a:t>
            </a:r>
          </a:p>
          <a:p>
            <a:r>
              <a:rPr lang="it-IT" sz="2400" dirty="0">
                <a:solidFill>
                  <a:schemeClr val="accent5"/>
                </a:solidFill>
              </a:rPr>
              <a:t>        System.out.println(</a:t>
            </a:r>
          </a:p>
          <a:p>
            <a:r>
              <a:rPr lang="it-IT" sz="2400" dirty="0">
                <a:solidFill>
                  <a:schemeClr val="accent5"/>
                </a:solidFill>
              </a:rPr>
              <a:t>              "Giorno non valido");</a:t>
            </a:r>
          </a:p>
          <a:p>
            <a:r>
              <a:rPr lang="it-IT" sz="2400"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3304286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1277101"/>
          </a:xfrm>
        </p:spPr>
        <p:txBody>
          <a:bodyPr/>
          <a:lstStyle/>
          <a:p>
            <a:pPr algn="ctr"/>
            <a:r>
              <a:rPr lang="it-IT" dirty="0"/>
              <a:t>Il reference </a:t>
            </a:r>
            <a:r>
              <a:rPr lang="it-IT" i="1" dirty="0"/>
              <a:t>this</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2115295"/>
            <a:ext cx="3635870" cy="4032560"/>
          </a:xfrm>
        </p:spPr>
        <p:txBody>
          <a:bodyPr>
            <a:normAutofit/>
          </a:bodyPr>
          <a:lstStyle/>
          <a:p>
            <a:r>
              <a:rPr lang="it-IT" dirty="0"/>
              <a:t>È il reference all’oggetto corrente</a:t>
            </a:r>
          </a:p>
          <a:p>
            <a:r>
              <a:rPr lang="it-IT" dirty="0"/>
              <a:t>Aggiunto dal compilatore automaticamente, quando si usano variabili d’istanza all’interno della classe dove sono definiti (vale anche per i metodi).</a:t>
            </a:r>
          </a:p>
          <a:p>
            <a:pPr marL="0" indent="0">
              <a:buNone/>
            </a:pPr>
            <a:endParaRPr lang="it-IT" dirty="0">
              <a:solidFill>
                <a:schemeClr val="accent5"/>
              </a:solidFill>
            </a:endParaRPr>
          </a:p>
          <a:p>
            <a:pPr marL="0" indent="0">
              <a:buNone/>
            </a:pPr>
            <a:endParaRPr lang="it-IT" dirty="0">
              <a:solidFill>
                <a:schemeClr val="accent5"/>
              </a:solidFill>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13</a:t>
            </a:fld>
            <a:endParaRPr lang="it-IT" dirty="0"/>
          </a:p>
        </p:txBody>
      </p:sp>
      <p:sp>
        <p:nvSpPr>
          <p:cNvPr id="11" name="CasellaDiTesto 10">
            <a:extLst>
              <a:ext uri="{FF2B5EF4-FFF2-40B4-BE49-F238E27FC236}">
                <a16:creationId xmlns:a16="http://schemas.microsoft.com/office/drawing/2014/main" id="{4508E2B8-5834-42AE-9A9D-87271D000C22}"/>
              </a:ext>
            </a:extLst>
          </p:cNvPr>
          <p:cNvSpPr txBox="1"/>
          <p:nvPr/>
        </p:nvSpPr>
        <p:spPr>
          <a:xfrm>
            <a:off x="3635870" y="908650"/>
            <a:ext cx="5508130" cy="5632311"/>
          </a:xfrm>
          <a:prstGeom prst="rect">
            <a:avLst/>
          </a:prstGeom>
          <a:noFill/>
        </p:spPr>
        <p:txBody>
          <a:bodyPr wrap="square">
            <a:spAutoFit/>
          </a:bodyPr>
          <a:lstStyle/>
          <a:p>
            <a:r>
              <a:rPr lang="it-IT" sz="2400" dirty="0">
                <a:solidFill>
                  <a:schemeClr val="accent5"/>
                </a:solidFill>
              </a:rPr>
              <a:t>public class Cliente {</a:t>
            </a:r>
          </a:p>
          <a:p>
            <a:r>
              <a:rPr lang="it-IT" sz="2400" dirty="0">
                <a:solidFill>
                  <a:schemeClr val="accent5"/>
                </a:solidFill>
              </a:rPr>
              <a:t> private String nome, indirizzo, telefono;</a:t>
            </a:r>
          </a:p>
          <a:p>
            <a:endParaRPr lang="it-IT" sz="2400" dirty="0">
              <a:solidFill>
                <a:schemeClr val="accent5"/>
              </a:solidFill>
            </a:endParaRPr>
          </a:p>
          <a:p>
            <a:r>
              <a:rPr lang="it-IT" sz="2400" dirty="0">
                <a:solidFill>
                  <a:schemeClr val="accent5"/>
                </a:solidFill>
              </a:rPr>
              <a:t>  public void </a:t>
            </a:r>
            <a:r>
              <a:rPr lang="it-IT" sz="2400" dirty="0" err="1">
                <a:solidFill>
                  <a:schemeClr val="accent5"/>
                </a:solidFill>
              </a:rPr>
              <a:t>setTelefono</a:t>
            </a:r>
            <a:r>
              <a:rPr lang="it-IT" sz="2400" dirty="0">
                <a:solidFill>
                  <a:schemeClr val="accent5"/>
                </a:solidFill>
              </a:rPr>
              <a:t>(String </a:t>
            </a:r>
          </a:p>
          <a:p>
            <a:r>
              <a:rPr lang="it-IT" sz="2400" dirty="0">
                <a:solidFill>
                  <a:schemeClr val="accent5"/>
                </a:solidFill>
              </a:rPr>
              <a:t>    telefono) {</a:t>
            </a:r>
          </a:p>
          <a:p>
            <a:r>
              <a:rPr lang="it-IT" sz="2400" dirty="0">
                <a:solidFill>
                  <a:schemeClr val="accent5"/>
                </a:solidFill>
              </a:rPr>
              <a:t>    </a:t>
            </a:r>
            <a:r>
              <a:rPr lang="it-IT" sz="2400" dirty="0" err="1">
                <a:solidFill>
                  <a:schemeClr val="accent5"/>
                </a:solidFill>
              </a:rPr>
              <a:t>this.telefono</a:t>
            </a:r>
            <a:r>
              <a:rPr lang="it-IT" sz="2400" dirty="0">
                <a:solidFill>
                  <a:schemeClr val="accent5"/>
                </a:solidFill>
              </a:rPr>
              <a:t> = telefono;</a:t>
            </a:r>
          </a:p>
          <a:p>
            <a:r>
              <a:rPr lang="it-IT" sz="2400" dirty="0">
                <a:solidFill>
                  <a:schemeClr val="accent5"/>
                </a:solidFill>
              </a:rPr>
              <a:t>  }</a:t>
            </a:r>
          </a:p>
          <a:p>
            <a:r>
              <a:rPr lang="it-IT" sz="2400" dirty="0">
                <a:solidFill>
                  <a:schemeClr val="accent5"/>
                </a:solidFill>
              </a:rPr>
              <a:t>  public void </a:t>
            </a:r>
            <a:r>
              <a:rPr lang="it-IT" sz="2400" dirty="0" err="1">
                <a:solidFill>
                  <a:schemeClr val="accent5"/>
                </a:solidFill>
              </a:rPr>
              <a:t>setIndirizzo</a:t>
            </a:r>
            <a:r>
              <a:rPr lang="it-IT" sz="2400" dirty="0">
                <a:solidFill>
                  <a:schemeClr val="accent5"/>
                </a:solidFill>
              </a:rPr>
              <a:t>(String indirizzo) {</a:t>
            </a:r>
          </a:p>
          <a:p>
            <a:r>
              <a:rPr lang="it-IT" sz="2400" dirty="0">
                <a:solidFill>
                  <a:schemeClr val="accent5"/>
                </a:solidFill>
              </a:rPr>
              <a:t>    </a:t>
            </a:r>
            <a:r>
              <a:rPr lang="it-IT" sz="2400" dirty="0" err="1">
                <a:solidFill>
                  <a:schemeClr val="accent5"/>
                </a:solidFill>
              </a:rPr>
              <a:t>this.indirizzo</a:t>
            </a:r>
            <a:r>
              <a:rPr lang="it-IT" sz="2400" dirty="0">
                <a:solidFill>
                  <a:schemeClr val="accent5"/>
                </a:solidFill>
              </a:rPr>
              <a:t> = indirizzo;</a:t>
            </a:r>
          </a:p>
          <a:p>
            <a:r>
              <a:rPr lang="it-IT" sz="2400" dirty="0">
                <a:solidFill>
                  <a:schemeClr val="accent5"/>
                </a:solidFill>
              </a:rPr>
              <a:t>  }</a:t>
            </a:r>
          </a:p>
          <a:p>
            <a:r>
              <a:rPr lang="it-IT" sz="2400" dirty="0">
                <a:solidFill>
                  <a:schemeClr val="accent5"/>
                </a:solidFill>
              </a:rPr>
              <a:t>  public void </a:t>
            </a:r>
            <a:r>
              <a:rPr lang="it-IT" sz="2400" dirty="0" err="1">
                <a:solidFill>
                  <a:schemeClr val="accent5"/>
                </a:solidFill>
              </a:rPr>
              <a:t>setNome</a:t>
            </a:r>
            <a:r>
              <a:rPr lang="it-IT" sz="2400" dirty="0">
                <a:solidFill>
                  <a:schemeClr val="accent5"/>
                </a:solidFill>
              </a:rPr>
              <a:t>(String nome) {</a:t>
            </a:r>
          </a:p>
          <a:p>
            <a:r>
              <a:rPr lang="it-IT" sz="2400" dirty="0">
                <a:solidFill>
                  <a:schemeClr val="accent5"/>
                </a:solidFill>
              </a:rPr>
              <a:t>    </a:t>
            </a:r>
            <a:r>
              <a:rPr lang="it-IT" sz="2400" dirty="0" err="1">
                <a:solidFill>
                  <a:schemeClr val="accent5"/>
                </a:solidFill>
              </a:rPr>
              <a:t>this.nome</a:t>
            </a:r>
            <a:r>
              <a:rPr lang="it-IT" sz="2400" dirty="0">
                <a:solidFill>
                  <a:schemeClr val="accent5"/>
                </a:solidFill>
              </a:rPr>
              <a:t> = nome;</a:t>
            </a:r>
          </a:p>
          <a:p>
            <a:r>
              <a:rPr lang="it-IT" sz="2400" dirty="0">
                <a:solidFill>
                  <a:schemeClr val="accent5"/>
                </a:solidFill>
              </a:rPr>
              <a:t>  }</a:t>
            </a:r>
          </a:p>
          <a:p>
            <a:r>
              <a:rPr lang="it-IT" sz="2400" dirty="0">
                <a:solidFill>
                  <a:schemeClr val="accent5"/>
                </a:solidFill>
              </a:rPr>
              <a:t>  // metodi get omessi...</a:t>
            </a:r>
          </a:p>
          <a:p>
            <a:r>
              <a:rPr lang="it-IT" sz="2400" dirty="0">
                <a:solidFill>
                  <a:schemeClr val="accent5"/>
                </a:solidFill>
              </a:rPr>
              <a:t>}</a:t>
            </a:r>
          </a:p>
        </p:txBody>
      </p:sp>
    </p:spTree>
    <p:extLst>
      <p:ext uri="{BB962C8B-B14F-4D97-AF65-F5344CB8AC3E}">
        <p14:creationId xmlns:p14="http://schemas.microsoft.com/office/powerpoint/2010/main" val="4274646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Il reference </a:t>
            </a:r>
            <a:r>
              <a:rPr lang="it-IT" i="1" dirty="0"/>
              <a:t>this</a:t>
            </a:r>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14</a:t>
            </a:fld>
            <a:endParaRPr lang="it-IT"/>
          </a:p>
        </p:txBody>
      </p:sp>
      <p:pic>
        <p:nvPicPr>
          <p:cNvPr id="6" name="Immagine 5">
            <a:extLst>
              <a:ext uri="{FF2B5EF4-FFF2-40B4-BE49-F238E27FC236}">
                <a16:creationId xmlns:a16="http://schemas.microsoft.com/office/drawing/2014/main" id="{F747F9EA-08F5-49DC-9C3A-699338040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79404"/>
            <a:ext cx="9144000" cy="2699191"/>
          </a:xfrm>
          <a:prstGeom prst="rect">
            <a:avLst/>
          </a:prstGeom>
        </p:spPr>
      </p:pic>
    </p:spTree>
    <p:extLst>
      <p:ext uri="{BB962C8B-B14F-4D97-AF65-F5344CB8AC3E}">
        <p14:creationId xmlns:p14="http://schemas.microsoft.com/office/powerpoint/2010/main" val="3562619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Uso di </a:t>
            </a:r>
            <a:r>
              <a:rPr lang="it-IT" i="1" dirty="0"/>
              <a:t>this</a:t>
            </a:r>
            <a:r>
              <a:rPr lang="it-IT" dirty="0"/>
              <a:t> con metodi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15</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0660"/>
            <a:ext cx="9144000" cy="5293757"/>
          </a:xfrm>
          <a:prstGeom prst="rect">
            <a:avLst/>
          </a:prstGeom>
          <a:noFill/>
        </p:spPr>
        <p:txBody>
          <a:bodyPr wrap="square">
            <a:spAutoFit/>
          </a:bodyPr>
          <a:lstStyle/>
          <a:p>
            <a:r>
              <a:rPr lang="it-IT" sz="2600" dirty="0">
                <a:solidFill>
                  <a:schemeClr val="accent5"/>
                </a:solidFill>
              </a:rPr>
              <a:t>public class Cliente {</a:t>
            </a:r>
          </a:p>
          <a:p>
            <a:r>
              <a:rPr lang="it-IT" sz="2600" dirty="0">
                <a:solidFill>
                  <a:schemeClr val="accent5"/>
                </a:solidFill>
              </a:rPr>
              <a:t>    private String nome,  indirizzo, telefono;</a:t>
            </a:r>
          </a:p>
          <a:p>
            <a:endParaRPr lang="it-IT" sz="2600" dirty="0">
              <a:solidFill>
                <a:schemeClr val="accent5"/>
              </a:solidFill>
            </a:endParaRPr>
          </a:p>
          <a:p>
            <a:r>
              <a:rPr lang="it-IT" sz="2600" dirty="0">
                <a:solidFill>
                  <a:schemeClr val="accent5"/>
                </a:solidFill>
              </a:rPr>
              <a:t>    public Cliente(String nome, String indirizzo, String telefono) {</a:t>
            </a:r>
          </a:p>
          <a:p>
            <a:r>
              <a:rPr lang="it-IT" sz="2600" dirty="0">
                <a:solidFill>
                  <a:schemeClr val="accent5"/>
                </a:solidFill>
              </a:rPr>
              <a:t>        </a:t>
            </a:r>
            <a:r>
              <a:rPr lang="it-IT" sz="2600" dirty="0" err="1">
                <a:solidFill>
                  <a:schemeClr val="accent5"/>
                </a:solidFill>
              </a:rPr>
              <a:t>this.setNome</a:t>
            </a:r>
            <a:r>
              <a:rPr lang="it-IT" sz="2600" dirty="0">
                <a:solidFill>
                  <a:schemeClr val="accent5"/>
                </a:solidFill>
              </a:rPr>
              <a:t>(nome);</a:t>
            </a:r>
          </a:p>
          <a:p>
            <a:r>
              <a:rPr lang="it-IT" sz="2600" dirty="0">
                <a:solidFill>
                  <a:schemeClr val="accent5"/>
                </a:solidFill>
              </a:rPr>
              <a:t>        </a:t>
            </a:r>
            <a:r>
              <a:rPr lang="it-IT" sz="2600" dirty="0" err="1">
                <a:solidFill>
                  <a:schemeClr val="accent5"/>
                </a:solidFill>
              </a:rPr>
              <a:t>this.setIndirizzo</a:t>
            </a:r>
            <a:r>
              <a:rPr lang="it-IT" sz="2600" dirty="0">
                <a:solidFill>
                  <a:schemeClr val="accent5"/>
                </a:solidFill>
              </a:rPr>
              <a:t>(indirizzo);</a:t>
            </a:r>
          </a:p>
          <a:p>
            <a:r>
              <a:rPr lang="it-IT" sz="2600" dirty="0">
                <a:solidFill>
                  <a:schemeClr val="accent5"/>
                </a:solidFill>
              </a:rPr>
              <a:t>        </a:t>
            </a:r>
            <a:r>
              <a:rPr lang="it-IT" sz="2600" dirty="0" err="1">
                <a:solidFill>
                  <a:schemeClr val="accent5"/>
                </a:solidFill>
              </a:rPr>
              <a:t>this.setTelefono</a:t>
            </a:r>
            <a:r>
              <a:rPr lang="it-IT" sz="2600" dirty="0">
                <a:solidFill>
                  <a:schemeClr val="accent5"/>
                </a:solidFill>
              </a:rPr>
              <a:t>( telefono);</a:t>
            </a:r>
          </a:p>
          <a:p>
            <a:r>
              <a:rPr lang="it-IT" sz="2600" dirty="0">
                <a:solidFill>
                  <a:schemeClr val="accent5"/>
                </a:solidFill>
              </a:rPr>
              <a:t>    }</a:t>
            </a:r>
          </a:p>
          <a:p>
            <a:endParaRPr lang="it-IT" sz="2600" dirty="0">
              <a:solidFill>
                <a:schemeClr val="accent5"/>
              </a:solidFill>
            </a:endParaRPr>
          </a:p>
          <a:p>
            <a:r>
              <a:rPr lang="it-IT" sz="2600" dirty="0">
                <a:solidFill>
                  <a:schemeClr val="accent5"/>
                </a:solidFill>
              </a:rPr>
              <a:t>    public void </a:t>
            </a:r>
            <a:r>
              <a:rPr lang="it-IT" sz="2600" dirty="0" err="1">
                <a:solidFill>
                  <a:schemeClr val="accent5"/>
                </a:solidFill>
              </a:rPr>
              <a:t>setTelefono</a:t>
            </a:r>
            <a:r>
              <a:rPr lang="it-IT" sz="2600" dirty="0">
                <a:solidFill>
                  <a:schemeClr val="accent5"/>
                </a:solidFill>
              </a:rPr>
              <a:t>(String telefono) {</a:t>
            </a:r>
          </a:p>
          <a:p>
            <a:r>
              <a:rPr lang="it-IT" sz="2600" dirty="0">
                <a:solidFill>
                  <a:schemeClr val="accent5"/>
                </a:solidFill>
              </a:rPr>
              <a:t>        </a:t>
            </a:r>
            <a:r>
              <a:rPr lang="it-IT" sz="2600" dirty="0" err="1">
                <a:solidFill>
                  <a:schemeClr val="accent5"/>
                </a:solidFill>
              </a:rPr>
              <a:t>this.telefono</a:t>
            </a:r>
            <a:r>
              <a:rPr lang="it-IT" sz="2600" dirty="0">
                <a:solidFill>
                  <a:schemeClr val="accent5"/>
                </a:solidFill>
              </a:rPr>
              <a:t> = telefono;</a:t>
            </a:r>
          </a:p>
          <a:p>
            <a:r>
              <a:rPr lang="it-IT" sz="2600" dirty="0">
                <a:solidFill>
                  <a:schemeClr val="accent5"/>
                </a:solidFill>
              </a:rPr>
              <a:t>    }</a:t>
            </a:r>
          </a:p>
          <a:p>
            <a:r>
              <a:rPr lang="it-IT" sz="2600" dirty="0">
                <a:solidFill>
                  <a:schemeClr val="accent5"/>
                </a:solidFill>
              </a:rPr>
              <a:t>// Altri metodi omessi</a:t>
            </a:r>
          </a:p>
        </p:txBody>
      </p:sp>
    </p:spTree>
    <p:extLst>
      <p:ext uri="{BB962C8B-B14F-4D97-AF65-F5344CB8AC3E}">
        <p14:creationId xmlns:p14="http://schemas.microsoft.com/office/powerpoint/2010/main" val="3561524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Uso di </a:t>
            </a:r>
            <a:r>
              <a:rPr lang="it-IT" i="1" dirty="0"/>
              <a:t>this</a:t>
            </a:r>
            <a:r>
              <a:rPr lang="it-IT" dirty="0"/>
              <a:t> con i costruttori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16</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1127713"/>
            <a:ext cx="9144000" cy="4893647"/>
          </a:xfrm>
          <a:prstGeom prst="rect">
            <a:avLst/>
          </a:prstGeom>
          <a:noFill/>
        </p:spPr>
        <p:txBody>
          <a:bodyPr wrap="square">
            <a:spAutoFit/>
          </a:bodyPr>
          <a:lstStyle/>
          <a:p>
            <a:r>
              <a:rPr lang="it-IT" sz="2600" dirty="0">
                <a:solidFill>
                  <a:schemeClr val="accent5"/>
                </a:solidFill>
              </a:rPr>
              <a:t>public class Cliente {</a:t>
            </a:r>
          </a:p>
          <a:p>
            <a:r>
              <a:rPr lang="it-IT" sz="2600" dirty="0">
                <a:solidFill>
                  <a:schemeClr val="accent5"/>
                </a:solidFill>
              </a:rPr>
              <a:t>    // ...</a:t>
            </a:r>
          </a:p>
          <a:p>
            <a:r>
              <a:rPr lang="it-IT" sz="2600" dirty="0">
                <a:solidFill>
                  <a:schemeClr val="accent5"/>
                </a:solidFill>
              </a:rPr>
              <a:t>    public Cliente (String nome, String indirizzo) {</a:t>
            </a:r>
          </a:p>
          <a:p>
            <a:r>
              <a:rPr lang="it-IT" sz="2600" dirty="0">
                <a:solidFill>
                  <a:schemeClr val="accent5"/>
                </a:solidFill>
              </a:rPr>
              <a:t>        this(nome, </a:t>
            </a:r>
            <a:r>
              <a:rPr lang="it-IT" sz="2600" dirty="0" err="1">
                <a:solidFill>
                  <a:schemeClr val="accent5"/>
                </a:solidFill>
              </a:rPr>
              <a:t>indirizzo,"sconosciuto</a:t>
            </a:r>
            <a:r>
              <a:rPr lang="it-IT" sz="2600" dirty="0">
                <a:solidFill>
                  <a:schemeClr val="accent5"/>
                </a:solidFill>
              </a:rPr>
              <a:t>");</a:t>
            </a:r>
          </a:p>
          <a:p>
            <a:r>
              <a:rPr lang="it-IT" sz="2600" dirty="0">
                <a:solidFill>
                  <a:schemeClr val="accent5"/>
                </a:solidFill>
              </a:rPr>
              <a:t>    }</a:t>
            </a:r>
          </a:p>
          <a:p>
            <a:r>
              <a:rPr lang="it-IT" sz="2600" dirty="0">
                <a:solidFill>
                  <a:schemeClr val="accent5"/>
                </a:solidFill>
              </a:rPr>
              <a:t>    public Cliente(String nome, String indirizzo, String  telefono) {</a:t>
            </a:r>
          </a:p>
          <a:p>
            <a:r>
              <a:rPr lang="it-IT" sz="2600" dirty="0">
                <a:solidFill>
                  <a:schemeClr val="accent5"/>
                </a:solidFill>
              </a:rPr>
              <a:t>        </a:t>
            </a:r>
            <a:r>
              <a:rPr lang="it-IT" sz="2600" dirty="0" err="1">
                <a:solidFill>
                  <a:schemeClr val="accent5"/>
                </a:solidFill>
              </a:rPr>
              <a:t>this.setNome</a:t>
            </a:r>
            <a:r>
              <a:rPr lang="it-IT" sz="2600" dirty="0">
                <a:solidFill>
                  <a:schemeClr val="accent5"/>
                </a:solidFill>
              </a:rPr>
              <a:t>(nome);</a:t>
            </a:r>
          </a:p>
          <a:p>
            <a:r>
              <a:rPr lang="it-IT" sz="2600" dirty="0">
                <a:solidFill>
                  <a:schemeClr val="accent5"/>
                </a:solidFill>
              </a:rPr>
              <a:t>        </a:t>
            </a:r>
            <a:r>
              <a:rPr lang="it-IT" sz="2600" dirty="0" err="1">
                <a:solidFill>
                  <a:schemeClr val="accent5"/>
                </a:solidFill>
              </a:rPr>
              <a:t>this.setIndirizzo</a:t>
            </a:r>
            <a:r>
              <a:rPr lang="it-IT" sz="2600" dirty="0">
                <a:solidFill>
                  <a:schemeClr val="accent5"/>
                </a:solidFill>
              </a:rPr>
              <a:t>(indirizzo);</a:t>
            </a:r>
          </a:p>
          <a:p>
            <a:r>
              <a:rPr lang="it-IT" sz="2600" dirty="0">
                <a:solidFill>
                  <a:schemeClr val="accent5"/>
                </a:solidFill>
              </a:rPr>
              <a:t>        </a:t>
            </a:r>
            <a:r>
              <a:rPr lang="it-IT" sz="2600" dirty="0" err="1">
                <a:solidFill>
                  <a:schemeClr val="accent5"/>
                </a:solidFill>
              </a:rPr>
              <a:t>this.setTelefono</a:t>
            </a:r>
            <a:r>
              <a:rPr lang="it-IT" sz="2600" dirty="0">
                <a:solidFill>
                  <a:schemeClr val="accent5"/>
                </a:solidFill>
              </a:rPr>
              <a:t>(telefono);</a:t>
            </a:r>
          </a:p>
          <a:p>
            <a:r>
              <a:rPr lang="it-IT" sz="2600" dirty="0">
                <a:solidFill>
                  <a:schemeClr val="accent5"/>
                </a:solidFill>
              </a:rPr>
              <a:t>    }</a:t>
            </a:r>
          </a:p>
          <a:p>
            <a:r>
              <a:rPr lang="it-IT" sz="2600" dirty="0">
                <a:solidFill>
                  <a:schemeClr val="accent5"/>
                </a:solidFill>
              </a:rPr>
              <a:t>    //...</a:t>
            </a:r>
          </a:p>
          <a:p>
            <a:r>
              <a:rPr lang="it-IT" sz="2600" dirty="0">
                <a:solidFill>
                  <a:schemeClr val="accent5"/>
                </a:solidFill>
              </a:rPr>
              <a:t>}</a:t>
            </a:r>
          </a:p>
        </p:txBody>
      </p:sp>
    </p:spTree>
    <p:extLst>
      <p:ext uri="{BB962C8B-B14F-4D97-AF65-F5344CB8AC3E}">
        <p14:creationId xmlns:p14="http://schemas.microsoft.com/office/powerpoint/2010/main" val="347660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Uso di this con i costruttori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17</a:t>
            </a:fld>
            <a:endParaRPr lang="it-IT"/>
          </a:p>
        </p:txBody>
      </p:sp>
      <p:pic>
        <p:nvPicPr>
          <p:cNvPr id="6" name="Immagine 5">
            <a:extLst>
              <a:ext uri="{FF2B5EF4-FFF2-40B4-BE49-F238E27FC236}">
                <a16:creationId xmlns:a16="http://schemas.microsoft.com/office/drawing/2014/main" id="{A0C5E11D-F18C-4A8F-9EDD-E3B7BAA9EC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0294"/>
            <a:ext cx="9144000" cy="3197412"/>
          </a:xfrm>
          <a:prstGeom prst="rect">
            <a:avLst/>
          </a:prstGeom>
        </p:spPr>
      </p:pic>
    </p:spTree>
    <p:extLst>
      <p:ext uri="{BB962C8B-B14F-4D97-AF65-F5344CB8AC3E}">
        <p14:creationId xmlns:p14="http://schemas.microsoft.com/office/powerpoint/2010/main" val="2679050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Quando utilizzare l’incapsulamento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18</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74411"/>
            <a:ext cx="9144000" cy="5262979"/>
          </a:xfrm>
          <a:prstGeom prst="rect">
            <a:avLst/>
          </a:prstGeom>
          <a:noFill/>
        </p:spPr>
        <p:txBody>
          <a:bodyPr wrap="square">
            <a:spAutoFit/>
          </a:bodyPr>
          <a:lstStyle/>
          <a:p>
            <a:pPr marL="342900" indent="-342900">
              <a:buFont typeface="Arial" panose="020B0604020202020204" pitchFamily="34" charset="0"/>
              <a:buChar char="•"/>
            </a:pPr>
            <a:r>
              <a:rPr lang="it-IT" sz="2800" dirty="0"/>
              <a:t>Applicare l’incapsulamento non è mai sbagliato. Una qualsiasi classe di una qualsiasi applicazione potrebbe e dovrebbe essere sviluppata utilizzando l’incapsulamento. </a:t>
            </a:r>
          </a:p>
          <a:p>
            <a:pPr marL="342900" indent="-342900">
              <a:buFont typeface="Arial" panose="020B0604020202020204" pitchFamily="34" charset="0"/>
              <a:buChar char="•"/>
            </a:pPr>
            <a:r>
              <a:rPr lang="it-IT" sz="2800" dirty="0"/>
              <a:t>In generale, abbiamo visto che l’incapsulamento è fondamentale per il riuso, e per la manutenzione del nostro codice. </a:t>
            </a:r>
          </a:p>
          <a:p>
            <a:pPr marL="342900" indent="-342900">
              <a:buFont typeface="Arial" panose="020B0604020202020204" pitchFamily="34" charset="0"/>
              <a:buChar char="•"/>
            </a:pPr>
            <a:r>
              <a:rPr lang="it-IT" sz="2800" dirty="0"/>
              <a:t>Il software di natura si evolve ed ha bisogno di essere continuamente modificato. </a:t>
            </a:r>
          </a:p>
          <a:p>
            <a:pPr marL="342900" indent="-342900">
              <a:buFont typeface="Arial" panose="020B0604020202020204" pitchFamily="34" charset="0"/>
              <a:buChar char="•"/>
            </a:pPr>
            <a:r>
              <a:rPr lang="it-IT" sz="2800" dirty="0"/>
              <a:t>Se i nostri oggetti sono incapsulati, le modifiche apportate alle implementazioni interne, non influiranno su nessun’altra riga di codice del nostro programma che usa l’interfaccia pubblica. </a:t>
            </a:r>
            <a:endParaRPr lang="it-IT" sz="2800" dirty="0">
              <a:solidFill>
                <a:schemeClr val="accent6"/>
              </a:solidFill>
            </a:endParaRPr>
          </a:p>
        </p:txBody>
      </p:sp>
    </p:spTree>
    <p:extLst>
      <p:ext uri="{BB962C8B-B14F-4D97-AF65-F5344CB8AC3E}">
        <p14:creationId xmlns:p14="http://schemas.microsoft.com/office/powerpoint/2010/main" val="181705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Come usare l’incapsulamento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19</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586515"/>
            <a:ext cx="9144000" cy="6093976"/>
          </a:xfrm>
          <a:prstGeom prst="rect">
            <a:avLst/>
          </a:prstGeom>
          <a:noFill/>
        </p:spPr>
        <p:txBody>
          <a:bodyPr wrap="square">
            <a:spAutoFit/>
          </a:bodyPr>
          <a:lstStyle/>
          <a:p>
            <a:pPr marL="342900" indent="-342900">
              <a:buFont typeface="Arial" panose="020B0604020202020204" pitchFamily="34" charset="0"/>
              <a:buChar char="•"/>
            </a:pPr>
            <a:r>
              <a:rPr lang="it-IT" sz="2600" dirty="0"/>
              <a:t>IDE</a:t>
            </a:r>
          </a:p>
          <a:p>
            <a:pPr marL="342900" indent="-342900">
              <a:buFont typeface="Arial" panose="020B0604020202020204" pitchFamily="34" charset="0"/>
              <a:buChar char="•"/>
            </a:pPr>
            <a:r>
              <a:rPr lang="it-IT" sz="2600" dirty="0"/>
              <a:t>Variazioni di incapsulamento e oggetti immutabili</a:t>
            </a:r>
          </a:p>
          <a:p>
            <a:r>
              <a:rPr lang="it-IT" sz="2600" dirty="0">
                <a:solidFill>
                  <a:schemeClr val="accent5"/>
                </a:solidFill>
              </a:rPr>
              <a:t>public class </a:t>
            </a:r>
            <a:r>
              <a:rPr lang="it-IT" sz="2600" dirty="0" err="1">
                <a:solidFill>
                  <a:schemeClr val="accent5"/>
                </a:solidFill>
              </a:rPr>
              <a:t>PuntoFisso</a:t>
            </a:r>
            <a:r>
              <a:rPr lang="it-IT" sz="2600" dirty="0">
                <a:solidFill>
                  <a:schemeClr val="accent5"/>
                </a:solidFill>
              </a:rPr>
              <a:t> {</a:t>
            </a:r>
          </a:p>
          <a:p>
            <a:r>
              <a:rPr lang="it-IT" sz="2600" dirty="0">
                <a:solidFill>
                  <a:schemeClr val="accent5"/>
                </a:solidFill>
              </a:rPr>
              <a:t>    private final int x, y;</a:t>
            </a:r>
          </a:p>
          <a:p>
            <a:r>
              <a:rPr lang="it-IT" sz="2600" dirty="0">
                <a:solidFill>
                  <a:schemeClr val="accent5"/>
                </a:solidFill>
              </a:rPr>
              <a:t>    public </a:t>
            </a:r>
            <a:r>
              <a:rPr lang="it-IT" sz="2600" dirty="0" err="1">
                <a:solidFill>
                  <a:schemeClr val="accent5"/>
                </a:solidFill>
              </a:rPr>
              <a:t>PuntoFisso</a:t>
            </a:r>
            <a:r>
              <a:rPr lang="it-IT" sz="2600" dirty="0">
                <a:solidFill>
                  <a:schemeClr val="accent5"/>
                </a:solidFill>
              </a:rPr>
              <a:t> (int x, int y) {</a:t>
            </a:r>
          </a:p>
          <a:p>
            <a:r>
              <a:rPr lang="it-IT" sz="2600" dirty="0">
                <a:solidFill>
                  <a:schemeClr val="accent5"/>
                </a:solidFill>
              </a:rPr>
              <a:t>        this.x = x;</a:t>
            </a:r>
          </a:p>
          <a:p>
            <a:r>
              <a:rPr lang="it-IT" sz="2600" dirty="0">
                <a:solidFill>
                  <a:schemeClr val="accent5"/>
                </a:solidFill>
              </a:rPr>
              <a:t>        this.y = y;</a:t>
            </a:r>
          </a:p>
          <a:p>
            <a:r>
              <a:rPr lang="it-IT" sz="2600" dirty="0">
                <a:solidFill>
                  <a:schemeClr val="accent5"/>
                </a:solidFill>
              </a:rPr>
              <a:t>    }</a:t>
            </a:r>
          </a:p>
          <a:p>
            <a:r>
              <a:rPr lang="it-IT" sz="2600" dirty="0">
                <a:solidFill>
                  <a:schemeClr val="accent5"/>
                </a:solidFill>
              </a:rPr>
              <a:t>    public int </a:t>
            </a:r>
            <a:r>
              <a:rPr lang="it-IT" sz="2600" dirty="0" err="1">
                <a:solidFill>
                  <a:schemeClr val="accent5"/>
                </a:solidFill>
              </a:rPr>
              <a:t>getX</a:t>
            </a:r>
            <a:r>
              <a:rPr lang="it-IT" sz="2600" dirty="0">
                <a:solidFill>
                  <a:schemeClr val="accent5"/>
                </a:solidFill>
              </a:rPr>
              <a:t>() {</a:t>
            </a:r>
          </a:p>
          <a:p>
            <a:r>
              <a:rPr lang="it-IT" sz="2600" dirty="0">
                <a:solidFill>
                  <a:schemeClr val="accent5"/>
                </a:solidFill>
              </a:rPr>
              <a:t>        return x;</a:t>
            </a:r>
          </a:p>
          <a:p>
            <a:r>
              <a:rPr lang="it-IT" sz="2600" dirty="0">
                <a:solidFill>
                  <a:schemeClr val="accent5"/>
                </a:solidFill>
              </a:rPr>
              <a:t>    }</a:t>
            </a:r>
          </a:p>
          <a:p>
            <a:r>
              <a:rPr lang="it-IT" sz="2600" dirty="0">
                <a:solidFill>
                  <a:schemeClr val="accent5"/>
                </a:solidFill>
              </a:rPr>
              <a:t>     public int </a:t>
            </a:r>
            <a:r>
              <a:rPr lang="it-IT" sz="2600" dirty="0" err="1">
                <a:solidFill>
                  <a:schemeClr val="accent5"/>
                </a:solidFill>
              </a:rPr>
              <a:t>getY</a:t>
            </a:r>
            <a:r>
              <a:rPr lang="it-IT" sz="2600" dirty="0">
                <a:solidFill>
                  <a:schemeClr val="accent5"/>
                </a:solidFill>
              </a:rPr>
              <a:t>() {</a:t>
            </a:r>
          </a:p>
          <a:p>
            <a:r>
              <a:rPr lang="it-IT" sz="2600" dirty="0">
                <a:solidFill>
                  <a:schemeClr val="accent5"/>
                </a:solidFill>
              </a:rPr>
              <a:t>        return y;</a:t>
            </a:r>
          </a:p>
          <a:p>
            <a:r>
              <a:rPr lang="it-IT" sz="2600" dirty="0">
                <a:solidFill>
                  <a:schemeClr val="accent5"/>
                </a:solidFill>
              </a:rPr>
              <a:t>    }</a:t>
            </a:r>
          </a:p>
          <a:p>
            <a:r>
              <a:rPr lang="it-IT" sz="2600" dirty="0">
                <a:solidFill>
                  <a:schemeClr val="accent5"/>
                </a:solidFill>
              </a:rPr>
              <a:t>}</a:t>
            </a:r>
          </a:p>
        </p:txBody>
      </p:sp>
    </p:spTree>
    <p:extLst>
      <p:ext uri="{BB962C8B-B14F-4D97-AF65-F5344CB8AC3E}">
        <p14:creationId xmlns:p14="http://schemas.microsoft.com/office/powerpoint/2010/main" val="1009884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Record (Java 14 in poi)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20</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1199723"/>
            <a:ext cx="9144000" cy="4893647"/>
          </a:xfrm>
          <a:prstGeom prst="rect">
            <a:avLst/>
          </a:prstGeom>
          <a:noFill/>
        </p:spPr>
        <p:txBody>
          <a:bodyPr wrap="square">
            <a:spAutoFit/>
          </a:bodyPr>
          <a:lstStyle/>
          <a:p>
            <a:pPr marL="342900" indent="-342900">
              <a:buFont typeface="Arial" panose="020B0604020202020204" pitchFamily="34" charset="0"/>
              <a:buChar char="•"/>
            </a:pPr>
            <a:r>
              <a:rPr lang="it-IT" sz="2400" dirty="0"/>
              <a:t>Classi di business, di utilità e dati</a:t>
            </a:r>
          </a:p>
          <a:p>
            <a:pPr marL="342900" indent="-342900">
              <a:buFont typeface="Arial" panose="020B0604020202020204" pitchFamily="34" charset="0"/>
              <a:buChar char="•"/>
            </a:pPr>
            <a:r>
              <a:rPr lang="it-IT" sz="2400" dirty="0"/>
              <a:t>Feature preview </a:t>
            </a:r>
          </a:p>
          <a:p>
            <a:pPr marL="342900" indent="-342900">
              <a:buFont typeface="Arial" panose="020B0604020202020204" pitchFamily="34" charset="0"/>
              <a:buChar char="•"/>
            </a:pPr>
            <a:r>
              <a:rPr lang="it-IT" sz="2400" dirty="0"/>
              <a:t>La sintassi è la seguente:</a:t>
            </a:r>
          </a:p>
          <a:p>
            <a:r>
              <a:rPr lang="it-IT" sz="2400" dirty="0">
                <a:solidFill>
                  <a:schemeClr val="accent5"/>
                </a:solidFill>
              </a:rPr>
              <a:t>[modificatori] record identificatore (header) { }</a:t>
            </a:r>
          </a:p>
          <a:p>
            <a:pPr marL="342900" indent="-342900">
              <a:buFont typeface="Arial" panose="020B0604020202020204" pitchFamily="34" charset="0"/>
              <a:buChar char="•"/>
            </a:pPr>
            <a:r>
              <a:rPr lang="it-IT" sz="2400" dirty="0"/>
              <a:t>Esempio:</a:t>
            </a:r>
          </a:p>
          <a:p>
            <a:r>
              <a:rPr lang="it-IT" sz="2400" dirty="0">
                <a:solidFill>
                  <a:schemeClr val="accent5"/>
                </a:solidFill>
              </a:rPr>
              <a:t>public record </a:t>
            </a:r>
            <a:r>
              <a:rPr lang="it-IT" sz="2400" dirty="0" err="1">
                <a:solidFill>
                  <a:schemeClr val="accent5"/>
                </a:solidFill>
              </a:rPr>
              <a:t>PuntoRecord</a:t>
            </a:r>
            <a:r>
              <a:rPr lang="it-IT" sz="2400" dirty="0">
                <a:solidFill>
                  <a:schemeClr val="accent5"/>
                </a:solidFill>
              </a:rPr>
              <a:t>(int x, int y) { }</a:t>
            </a:r>
          </a:p>
          <a:p>
            <a:pPr marL="342900" indent="-342900">
              <a:buFont typeface="Arial" panose="020B0604020202020204" pitchFamily="34" charset="0"/>
              <a:buChar char="•"/>
            </a:pPr>
            <a:r>
              <a:rPr lang="it-IT" sz="2400" dirty="0"/>
              <a:t>Il compilatore compilerà il record come una classe equivalente alla classe </a:t>
            </a:r>
            <a:r>
              <a:rPr lang="it-IT" sz="2400" i="1" dirty="0" err="1"/>
              <a:t>PuntoFisso</a:t>
            </a:r>
            <a:r>
              <a:rPr lang="it-IT" sz="2400" dirty="0"/>
              <a:t>, con variabili </a:t>
            </a:r>
            <a:r>
              <a:rPr lang="it-IT" sz="2400" i="1" dirty="0"/>
              <a:t>x</a:t>
            </a:r>
            <a:r>
              <a:rPr lang="it-IT" sz="2400" dirty="0"/>
              <a:t> e </a:t>
            </a:r>
            <a:r>
              <a:rPr lang="it-IT" sz="2400" i="1" dirty="0"/>
              <a:t>y</a:t>
            </a:r>
            <a:r>
              <a:rPr lang="it-IT" sz="2400" dirty="0"/>
              <a:t> dichiarate </a:t>
            </a:r>
            <a:r>
              <a:rPr lang="it-IT" sz="2400" i="1" dirty="0"/>
              <a:t>private</a:t>
            </a:r>
            <a:r>
              <a:rPr lang="it-IT" sz="2400" dirty="0"/>
              <a:t> e </a:t>
            </a:r>
            <a:r>
              <a:rPr lang="it-IT" sz="2400" i="1" dirty="0"/>
              <a:t>final</a:t>
            </a:r>
            <a:r>
              <a:rPr lang="it-IT" sz="2400" dirty="0"/>
              <a:t>, i relativi metodi getter, e un costruttore per settare </a:t>
            </a:r>
            <a:r>
              <a:rPr lang="it-IT" sz="2400" i="1" dirty="0"/>
              <a:t>x</a:t>
            </a:r>
            <a:r>
              <a:rPr lang="it-IT" sz="2400" dirty="0"/>
              <a:t> e </a:t>
            </a:r>
            <a:r>
              <a:rPr lang="it-IT" sz="2400" i="1" dirty="0"/>
              <a:t>y</a:t>
            </a:r>
            <a:r>
              <a:rPr lang="it-IT" sz="2400" dirty="0"/>
              <a:t>. </a:t>
            </a:r>
          </a:p>
          <a:p>
            <a:pPr marL="342900" indent="-342900">
              <a:buFont typeface="Arial" panose="020B0604020202020204" pitchFamily="34" charset="0"/>
              <a:buChar char="•"/>
            </a:pPr>
            <a:r>
              <a:rPr lang="it-IT" sz="2400" dirty="0"/>
              <a:t>Inoltre, il compilatore aggiungerà altri metodi che solitamente tutte le classi dichiarano: </a:t>
            </a:r>
            <a:r>
              <a:rPr lang="it-IT" sz="2400" i="1" dirty="0"/>
              <a:t>equals</a:t>
            </a:r>
            <a:r>
              <a:rPr lang="it-IT" sz="2400" dirty="0"/>
              <a:t>, </a:t>
            </a:r>
            <a:r>
              <a:rPr lang="it-IT" sz="2400" i="1" dirty="0"/>
              <a:t>hashcode</a:t>
            </a:r>
            <a:r>
              <a:rPr lang="it-IT" sz="2400" dirty="0"/>
              <a:t> e </a:t>
            </a:r>
            <a:r>
              <a:rPr lang="it-IT" sz="2400" i="1" dirty="0"/>
              <a:t>toString</a:t>
            </a:r>
            <a:r>
              <a:rPr lang="it-IT" sz="2400" dirty="0"/>
              <a:t>, di cui parleremo nel prossimo capitolo. Infine, i record seguono regole speciali, che approfondiremo durante lo studio di questo libro.</a:t>
            </a:r>
          </a:p>
        </p:txBody>
      </p:sp>
    </p:spTree>
    <p:extLst>
      <p:ext uri="{BB962C8B-B14F-4D97-AF65-F5344CB8AC3E}">
        <p14:creationId xmlns:p14="http://schemas.microsoft.com/office/powerpoint/2010/main" val="149435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Modificatori d’accesso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21</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3693"/>
            <a:ext cx="9144000" cy="2677656"/>
          </a:xfrm>
          <a:prstGeom prst="rect">
            <a:avLst/>
          </a:prstGeom>
          <a:noFill/>
        </p:spPr>
        <p:txBody>
          <a:bodyPr wrap="square">
            <a:spAutoFit/>
          </a:bodyPr>
          <a:lstStyle/>
          <a:p>
            <a:pPr marL="342900" indent="-342900">
              <a:buFont typeface="Arial" panose="020B0604020202020204" pitchFamily="34" charset="0"/>
              <a:buChar char="•"/>
            </a:pPr>
            <a:r>
              <a:rPr lang="it-IT" sz="2800" dirty="0"/>
              <a:t>Legati al concetto di package (approfondimento 5.3):</a:t>
            </a:r>
          </a:p>
          <a:p>
            <a:pPr marL="342900" indent="-342900">
              <a:buFont typeface="Arial" panose="020B0604020202020204" pitchFamily="34" charset="0"/>
              <a:buChar char="•"/>
            </a:pPr>
            <a:r>
              <a:rPr lang="it-IT" sz="2800" dirty="0"/>
              <a:t>Modificatori:</a:t>
            </a:r>
          </a:p>
          <a:p>
            <a:pPr marL="800100" lvl="1" indent="-342900">
              <a:buFont typeface="Arial" panose="020B0604020202020204" pitchFamily="34" charset="0"/>
              <a:buChar char="•"/>
            </a:pPr>
            <a:r>
              <a:rPr lang="it-IT" sz="2800" dirty="0"/>
              <a:t> </a:t>
            </a:r>
            <a:r>
              <a:rPr lang="it-IT" sz="2800" i="1" dirty="0"/>
              <a:t>public</a:t>
            </a:r>
          </a:p>
          <a:p>
            <a:pPr marL="800100" lvl="1" indent="-342900">
              <a:buFont typeface="Arial" panose="020B0604020202020204" pitchFamily="34" charset="0"/>
              <a:buChar char="•"/>
            </a:pPr>
            <a:r>
              <a:rPr lang="it-IT" sz="2800" i="1" dirty="0"/>
              <a:t>protected</a:t>
            </a:r>
          </a:p>
          <a:p>
            <a:pPr marL="800100" lvl="1" indent="-342900">
              <a:buFont typeface="Arial" panose="020B0604020202020204" pitchFamily="34" charset="0"/>
              <a:buChar char="•"/>
            </a:pPr>
            <a:r>
              <a:rPr lang="it-IT" sz="2800" i="1" dirty="0"/>
              <a:t>default</a:t>
            </a:r>
            <a:r>
              <a:rPr lang="it-IT" sz="2800" dirty="0"/>
              <a:t> (nessun modificatore)</a:t>
            </a:r>
          </a:p>
          <a:p>
            <a:pPr marL="800100" lvl="1" indent="-342900">
              <a:buFont typeface="Arial" panose="020B0604020202020204" pitchFamily="34" charset="0"/>
              <a:buChar char="•"/>
            </a:pPr>
            <a:r>
              <a:rPr lang="it-IT" sz="2800" i="1" dirty="0"/>
              <a:t>private</a:t>
            </a:r>
          </a:p>
        </p:txBody>
      </p:sp>
      <p:graphicFrame>
        <p:nvGraphicFramePr>
          <p:cNvPr id="3" name="Tabella 2">
            <a:extLst>
              <a:ext uri="{FF2B5EF4-FFF2-40B4-BE49-F238E27FC236}">
                <a16:creationId xmlns:a16="http://schemas.microsoft.com/office/drawing/2014/main" id="{8D3185FF-3DBC-49BF-B8C5-1686AE5D9C26}"/>
              </a:ext>
            </a:extLst>
          </p:cNvPr>
          <p:cNvGraphicFramePr>
            <a:graphicFrameLocks noGrp="1"/>
          </p:cNvGraphicFramePr>
          <p:nvPr>
            <p:extLst>
              <p:ext uri="{D42A27DB-BD31-4B8C-83A1-F6EECF244321}">
                <p14:modId xmlns:p14="http://schemas.microsoft.com/office/powerpoint/2010/main" val="4013086854"/>
              </p:ext>
            </p:extLst>
          </p:nvPr>
        </p:nvGraphicFramePr>
        <p:xfrm>
          <a:off x="0" y="3789050"/>
          <a:ext cx="9144000" cy="2500132"/>
        </p:xfrm>
        <a:graphic>
          <a:graphicData uri="http://schemas.openxmlformats.org/drawingml/2006/table">
            <a:tbl>
              <a:tblPr>
                <a:tableStyleId>{5C22544A-7EE6-4342-B048-85BDC9FD1C3A}</a:tableStyleId>
              </a:tblPr>
              <a:tblGrid>
                <a:gridCol w="2051650">
                  <a:extLst>
                    <a:ext uri="{9D8B030D-6E8A-4147-A177-3AD203B41FA5}">
                      <a16:colId xmlns:a16="http://schemas.microsoft.com/office/drawing/2014/main" val="3288767201"/>
                    </a:ext>
                  </a:extLst>
                </a:gridCol>
                <a:gridCol w="1800250">
                  <a:extLst>
                    <a:ext uri="{9D8B030D-6E8A-4147-A177-3AD203B41FA5}">
                      <a16:colId xmlns:a16="http://schemas.microsoft.com/office/drawing/2014/main" val="3485327920"/>
                    </a:ext>
                  </a:extLst>
                </a:gridCol>
                <a:gridCol w="2016280">
                  <a:extLst>
                    <a:ext uri="{9D8B030D-6E8A-4147-A177-3AD203B41FA5}">
                      <a16:colId xmlns:a16="http://schemas.microsoft.com/office/drawing/2014/main" val="3644525291"/>
                    </a:ext>
                  </a:extLst>
                </a:gridCol>
                <a:gridCol w="1800250">
                  <a:extLst>
                    <a:ext uri="{9D8B030D-6E8A-4147-A177-3AD203B41FA5}">
                      <a16:colId xmlns:a16="http://schemas.microsoft.com/office/drawing/2014/main" val="2510660569"/>
                    </a:ext>
                  </a:extLst>
                </a:gridCol>
                <a:gridCol w="1475570">
                  <a:extLst>
                    <a:ext uri="{9D8B030D-6E8A-4147-A177-3AD203B41FA5}">
                      <a16:colId xmlns:a16="http://schemas.microsoft.com/office/drawing/2014/main" val="4083265447"/>
                    </a:ext>
                  </a:extLst>
                </a:gridCol>
              </a:tblGrid>
              <a:tr h="589985">
                <a:tc>
                  <a:txBody>
                    <a:bodyPr/>
                    <a:lstStyle/>
                    <a:p>
                      <a:pPr algn="ctr"/>
                      <a:r>
                        <a:rPr lang="it-IT" sz="1800" b="1" dirty="0">
                          <a:effectLst/>
                        </a:rPr>
                        <a:t>MODIFICATORE</a:t>
                      </a:r>
                      <a:endParaRPr lang="it-IT" sz="1800" b="1"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b="1">
                          <a:effectLst/>
                        </a:rPr>
                        <a:t>STESSA CLASSE</a:t>
                      </a:r>
                      <a:endParaRPr lang="it-IT" sz="18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b="1" dirty="0">
                          <a:effectLst/>
                        </a:rPr>
                        <a:t>STESSO PACKAGE</a:t>
                      </a:r>
                      <a:endParaRPr lang="it-IT" sz="1800" b="1"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b="1">
                          <a:effectLst/>
                        </a:rPr>
                        <a:t>SOTTOCLASSE</a:t>
                      </a:r>
                      <a:endParaRPr lang="it-IT" sz="18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b="1" dirty="0">
                          <a:effectLst/>
                        </a:rPr>
                        <a:t>OVUNQUE</a:t>
                      </a:r>
                      <a:endParaRPr lang="it-IT" sz="1800" b="1"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800893188"/>
                  </a:ext>
                </a:extLst>
              </a:tr>
              <a:tr h="440054">
                <a:tc>
                  <a:txBody>
                    <a:bodyPr/>
                    <a:lstStyle/>
                    <a:p>
                      <a:r>
                        <a:rPr lang="it-IT" sz="1800">
                          <a:effectLst/>
                        </a:rPr>
                        <a:t>public</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651498945"/>
                  </a:ext>
                </a:extLst>
              </a:tr>
              <a:tr h="440054">
                <a:tc>
                  <a:txBody>
                    <a:bodyPr/>
                    <a:lstStyle/>
                    <a:p>
                      <a:r>
                        <a:rPr lang="it-IT" sz="1800">
                          <a:effectLst/>
                        </a:rPr>
                        <a:t>protected</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801575734"/>
                  </a:ext>
                </a:extLst>
              </a:tr>
              <a:tr h="589985">
                <a:tc>
                  <a:txBody>
                    <a:bodyPr/>
                    <a:lstStyle/>
                    <a:p>
                      <a:r>
                        <a:rPr lang="it-IT" sz="1800">
                          <a:effectLst/>
                        </a:rPr>
                        <a:t>nessun modificatore</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644537376"/>
                  </a:ext>
                </a:extLst>
              </a:tr>
              <a:tr h="440054">
                <a:tc>
                  <a:txBody>
                    <a:bodyPr/>
                    <a:lstStyle/>
                    <a:p>
                      <a:r>
                        <a:rPr lang="it-IT" sz="1800">
                          <a:effectLst/>
                        </a:rPr>
                        <a:t>private</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dirty="0">
                          <a:effectLst/>
                        </a:rPr>
                        <a:t>NO</a:t>
                      </a:r>
                      <a:endParaRPr lang="it-IT" sz="18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567709106"/>
                  </a:ext>
                </a:extLst>
              </a:tr>
            </a:tbl>
          </a:graphicData>
        </a:graphic>
      </p:graphicFrame>
    </p:spTree>
    <p:extLst>
      <p:ext uri="{BB962C8B-B14F-4D97-AF65-F5344CB8AC3E}">
        <p14:creationId xmlns:p14="http://schemas.microsoft.com/office/powerpoint/2010/main" val="3721449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55603"/>
            <a:ext cx="9144000" cy="681037"/>
          </a:xfrm>
        </p:spPr>
        <p:txBody>
          <a:bodyPr>
            <a:normAutofit fontScale="90000"/>
          </a:bodyPr>
          <a:lstStyle/>
          <a:p>
            <a:pPr algn="ctr"/>
            <a:r>
              <a:rPr lang="it-IT" sz="4400" dirty="0"/>
              <a:t>Modificatore </a:t>
            </a:r>
            <a:r>
              <a:rPr lang="it-IT" sz="4400" i="1" dirty="0"/>
              <a:t>public</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836640"/>
            <a:ext cx="9144000" cy="3168440"/>
          </a:xfrm>
        </p:spPr>
        <p:txBody>
          <a:bodyPr>
            <a:noAutofit/>
          </a:bodyPr>
          <a:lstStyle/>
          <a:p>
            <a:pPr marL="0" indent="0">
              <a:buNone/>
            </a:pPr>
            <a:r>
              <a:rPr lang="it-IT" sz="2200" dirty="0">
                <a:solidFill>
                  <a:schemeClr val="accent5"/>
                </a:solidFill>
              </a:rPr>
              <a:t>package </a:t>
            </a:r>
            <a:r>
              <a:rPr lang="it-IT" sz="2200" dirty="0" err="1">
                <a:solidFill>
                  <a:schemeClr val="accent5"/>
                </a:solidFill>
              </a:rPr>
              <a:t>com.cdsc.test</a:t>
            </a:r>
            <a:r>
              <a:rPr lang="it-IT" sz="2200" dirty="0">
                <a:solidFill>
                  <a:schemeClr val="accent5"/>
                </a:solidFill>
              </a:rPr>
              <a:t>;</a:t>
            </a:r>
          </a:p>
          <a:p>
            <a:pPr marL="0" indent="0">
              <a:buNone/>
            </a:pPr>
            <a:endParaRPr lang="it-IT" sz="2200" dirty="0">
              <a:solidFill>
                <a:schemeClr val="accent5"/>
              </a:solidFill>
            </a:endParaRPr>
          </a:p>
          <a:p>
            <a:pPr marL="0" indent="0">
              <a:buNone/>
            </a:pPr>
            <a:r>
              <a:rPr lang="it-IT" sz="2200" dirty="0">
                <a:solidFill>
                  <a:schemeClr val="accent5"/>
                </a:solidFill>
              </a:rPr>
              <a:t>public class </a:t>
            </a:r>
            <a:r>
              <a:rPr lang="it-IT" sz="2200" dirty="0" err="1">
                <a:solidFill>
                  <a:schemeClr val="accent5"/>
                </a:solidFill>
              </a:rPr>
              <a:t>PublicInClasse</a:t>
            </a:r>
            <a:r>
              <a:rPr lang="it-IT" sz="2200" dirty="0">
                <a:solidFill>
                  <a:schemeClr val="accent5"/>
                </a:solidFill>
              </a:rPr>
              <a:t> {</a:t>
            </a:r>
          </a:p>
          <a:p>
            <a:pPr marL="0" indent="0">
              <a:buNone/>
            </a:pPr>
            <a:r>
              <a:rPr lang="it-IT" sz="2200" dirty="0">
                <a:solidFill>
                  <a:schemeClr val="accent5"/>
                </a:solidFill>
              </a:rPr>
              <a:t>    public int </a:t>
            </a:r>
            <a:r>
              <a:rPr lang="it-IT" sz="2200" dirty="0" err="1">
                <a:solidFill>
                  <a:schemeClr val="accent5"/>
                </a:solidFill>
              </a:rPr>
              <a:t>variabilePublic</a:t>
            </a:r>
            <a:r>
              <a:rPr lang="it-IT" sz="2200" dirty="0">
                <a:solidFill>
                  <a:schemeClr val="accent5"/>
                </a:solidFill>
              </a:rPr>
              <a:t>;</a:t>
            </a:r>
          </a:p>
          <a:p>
            <a:pPr marL="0" indent="0">
              <a:buNone/>
            </a:pPr>
            <a:r>
              <a:rPr lang="it-IT" sz="2200" dirty="0">
                <a:solidFill>
                  <a:schemeClr val="accent5"/>
                </a:solidFill>
              </a:rPr>
              <a:t>    public void </a:t>
            </a:r>
            <a:r>
              <a:rPr lang="it-IT" sz="2200" dirty="0" err="1">
                <a:solidFill>
                  <a:schemeClr val="accent5"/>
                </a:solidFill>
              </a:rPr>
              <a:t>metodoPublic</a:t>
            </a:r>
            <a:r>
              <a:rPr lang="it-IT" sz="2200" dirty="0">
                <a:solidFill>
                  <a:schemeClr val="accent5"/>
                </a:solidFill>
              </a:rPr>
              <a:t>() {</a:t>
            </a:r>
          </a:p>
          <a:p>
            <a:pPr marL="0" indent="0">
              <a:buNone/>
            </a:pPr>
            <a:r>
              <a:rPr lang="it-IT" sz="2200" dirty="0">
                <a:solidFill>
                  <a:schemeClr val="accent5"/>
                </a:solidFill>
              </a:rPr>
              <a:t>        System.out.println("Invocato metodo public");</a:t>
            </a:r>
          </a:p>
          <a:p>
            <a:pPr marL="0" indent="0">
              <a:buNone/>
            </a:pPr>
            <a:r>
              <a:rPr lang="it-IT" sz="2200" dirty="0">
                <a:solidFill>
                  <a:schemeClr val="accent5"/>
                </a:solidFill>
              </a:rPr>
              <a:t>    }</a:t>
            </a:r>
          </a:p>
          <a:p>
            <a:pPr marL="0" indent="0">
              <a:buNone/>
            </a:pPr>
            <a:r>
              <a:rPr lang="it-IT" sz="2200" dirty="0">
                <a:solidFill>
                  <a:schemeClr val="accent5"/>
                </a:solidFill>
              </a:rPr>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22</a:t>
            </a:fld>
            <a:endParaRPr lang="it-IT"/>
          </a:p>
        </p:txBody>
      </p:sp>
      <p:sp>
        <p:nvSpPr>
          <p:cNvPr id="7" name="CasellaDiTesto 6">
            <a:extLst>
              <a:ext uri="{FF2B5EF4-FFF2-40B4-BE49-F238E27FC236}">
                <a16:creationId xmlns:a16="http://schemas.microsoft.com/office/drawing/2014/main" id="{BFAF6921-57A7-4BD9-BD4A-EE16D51E7443}"/>
              </a:ext>
            </a:extLst>
          </p:cNvPr>
          <p:cNvSpPr txBox="1"/>
          <p:nvPr/>
        </p:nvSpPr>
        <p:spPr>
          <a:xfrm>
            <a:off x="2627730" y="3356990"/>
            <a:ext cx="6516270" cy="3477875"/>
          </a:xfrm>
          <a:prstGeom prst="rect">
            <a:avLst/>
          </a:prstGeom>
          <a:noFill/>
        </p:spPr>
        <p:txBody>
          <a:bodyPr wrap="square">
            <a:spAutoFit/>
          </a:bodyPr>
          <a:lstStyle/>
          <a:p>
            <a:pPr marL="0" indent="0">
              <a:buNone/>
            </a:pPr>
            <a:r>
              <a:rPr lang="it-IT" sz="2200" dirty="0">
                <a:solidFill>
                  <a:schemeClr val="accent6"/>
                </a:solidFill>
              </a:rPr>
              <a:t>package </a:t>
            </a:r>
            <a:r>
              <a:rPr lang="it-IT" sz="2200" dirty="0" err="1">
                <a:solidFill>
                  <a:schemeClr val="accent6"/>
                </a:solidFill>
              </a:rPr>
              <a:t>com.cdsc</a:t>
            </a:r>
            <a:r>
              <a:rPr lang="it-IT" sz="2200" dirty="0">
                <a:solidFill>
                  <a:schemeClr val="accent6"/>
                </a:solidFill>
              </a:rPr>
              <a:t>;</a:t>
            </a:r>
          </a:p>
          <a:p>
            <a:pPr marL="0" indent="0">
              <a:buNone/>
            </a:pPr>
            <a:r>
              <a:rPr lang="it-IT" sz="2200" dirty="0">
                <a:solidFill>
                  <a:schemeClr val="accent6"/>
                </a:solidFill>
              </a:rPr>
              <a:t>import </a:t>
            </a:r>
            <a:r>
              <a:rPr lang="it-IT" sz="2200" dirty="0" err="1">
                <a:solidFill>
                  <a:schemeClr val="accent6"/>
                </a:solidFill>
              </a:rPr>
              <a:t>com.cdsc.test</a:t>
            </a:r>
            <a:r>
              <a:rPr lang="it-IT" sz="2200" dirty="0">
                <a:solidFill>
                  <a:schemeClr val="accent6"/>
                </a:solidFill>
              </a:rPr>
              <a:t>.*;</a:t>
            </a:r>
          </a:p>
          <a:p>
            <a:pPr marL="0" indent="0">
              <a:buNone/>
            </a:pPr>
            <a:endParaRPr lang="it-IT" sz="2200" dirty="0">
              <a:solidFill>
                <a:schemeClr val="accent6"/>
              </a:solidFill>
            </a:endParaRPr>
          </a:p>
          <a:p>
            <a:pPr marL="0" indent="0">
              <a:buNone/>
            </a:pPr>
            <a:r>
              <a:rPr lang="it-IT" sz="2200" dirty="0">
                <a:solidFill>
                  <a:schemeClr val="accent6"/>
                </a:solidFill>
              </a:rPr>
              <a:t>public class </a:t>
            </a:r>
            <a:r>
              <a:rPr lang="it-IT" sz="2200" dirty="0" err="1">
                <a:solidFill>
                  <a:schemeClr val="accent6"/>
                </a:solidFill>
              </a:rPr>
              <a:t>PublicClasseFuoriPackage</a:t>
            </a:r>
            <a:r>
              <a:rPr lang="it-IT" sz="2200" dirty="0">
                <a:solidFill>
                  <a:schemeClr val="accent6"/>
                </a:solidFill>
              </a:rPr>
              <a:t> {</a:t>
            </a:r>
          </a:p>
          <a:p>
            <a:pPr marL="0" indent="0">
              <a:buNone/>
            </a:pPr>
            <a:r>
              <a:rPr lang="it-IT" sz="2200" dirty="0">
                <a:solidFill>
                  <a:schemeClr val="accent6"/>
                </a:solidFill>
              </a:rPr>
              <a:t>    public void </a:t>
            </a:r>
            <a:r>
              <a:rPr lang="it-IT" sz="2200" dirty="0" err="1">
                <a:solidFill>
                  <a:schemeClr val="accent6"/>
                </a:solidFill>
              </a:rPr>
              <a:t>metodoCheUsaPublic</a:t>
            </a:r>
            <a:r>
              <a:rPr lang="it-IT" sz="2200" dirty="0">
                <a:solidFill>
                  <a:schemeClr val="accent6"/>
                </a:solidFill>
              </a:rPr>
              <a:t>() {</a:t>
            </a:r>
          </a:p>
          <a:p>
            <a:pPr marL="0" indent="0">
              <a:buNone/>
            </a:pPr>
            <a:r>
              <a:rPr lang="it-IT" sz="2200" dirty="0">
                <a:solidFill>
                  <a:schemeClr val="accent6"/>
                </a:solidFill>
              </a:rPr>
              <a:t>        var </a:t>
            </a:r>
            <a:r>
              <a:rPr lang="it-IT" sz="2200" dirty="0" err="1">
                <a:solidFill>
                  <a:schemeClr val="accent6"/>
                </a:solidFill>
              </a:rPr>
              <a:t>publicInClasse</a:t>
            </a:r>
            <a:r>
              <a:rPr lang="it-IT" sz="2200" dirty="0">
                <a:solidFill>
                  <a:schemeClr val="accent6"/>
                </a:solidFill>
              </a:rPr>
              <a:t> = new </a:t>
            </a:r>
            <a:r>
              <a:rPr lang="it-IT" sz="2200" dirty="0" err="1">
                <a:solidFill>
                  <a:schemeClr val="accent6"/>
                </a:solidFill>
              </a:rPr>
              <a:t>PublicInClasse</a:t>
            </a:r>
            <a:r>
              <a:rPr lang="it-IT" sz="2200" dirty="0">
                <a:solidFill>
                  <a:schemeClr val="accent6"/>
                </a:solidFill>
              </a:rPr>
              <a:t>();</a:t>
            </a:r>
          </a:p>
          <a:p>
            <a:pPr marL="0" indent="0">
              <a:buNone/>
            </a:pPr>
            <a:r>
              <a:rPr lang="it-IT" sz="2200" dirty="0">
                <a:solidFill>
                  <a:schemeClr val="accent6"/>
                </a:solidFill>
              </a:rPr>
              <a:t>        </a:t>
            </a:r>
            <a:r>
              <a:rPr lang="it-IT" sz="2200" dirty="0" err="1">
                <a:solidFill>
                  <a:schemeClr val="accent6"/>
                </a:solidFill>
              </a:rPr>
              <a:t>publicInClasse.metodoPublic</a:t>
            </a:r>
            <a:r>
              <a:rPr lang="it-IT" sz="2200" dirty="0">
                <a:solidFill>
                  <a:schemeClr val="accent6"/>
                </a:solidFill>
              </a:rPr>
              <a:t>();</a:t>
            </a:r>
          </a:p>
          <a:p>
            <a:pPr marL="0" indent="0">
              <a:buNone/>
            </a:pPr>
            <a:r>
              <a:rPr lang="it-IT" sz="2200" dirty="0">
                <a:solidFill>
                  <a:schemeClr val="accent6"/>
                </a:solidFill>
              </a:rPr>
              <a:t>        System.out.println(</a:t>
            </a:r>
            <a:r>
              <a:rPr lang="it-IT" sz="2200" dirty="0" err="1">
                <a:solidFill>
                  <a:schemeClr val="accent6"/>
                </a:solidFill>
              </a:rPr>
              <a:t>publicInClasse.variabilePublic</a:t>
            </a:r>
            <a:r>
              <a:rPr lang="it-IT" sz="2200" dirty="0">
                <a:solidFill>
                  <a:schemeClr val="accent6"/>
                </a:solidFill>
              </a:rPr>
              <a:t>);</a:t>
            </a:r>
          </a:p>
          <a:p>
            <a:pPr marL="0" indent="0">
              <a:buNone/>
            </a:pPr>
            <a:r>
              <a:rPr lang="it-IT" sz="2200" dirty="0">
                <a:solidFill>
                  <a:schemeClr val="accent6"/>
                </a:solidFill>
              </a:rPr>
              <a:t>    }</a:t>
            </a:r>
          </a:p>
          <a:p>
            <a:pPr marL="0" indent="0">
              <a:buNone/>
            </a:pPr>
            <a:r>
              <a:rPr lang="it-IT" sz="2200" dirty="0">
                <a:solidFill>
                  <a:schemeClr val="accent6"/>
                </a:solidFill>
              </a:rPr>
              <a:t>}</a:t>
            </a:r>
          </a:p>
        </p:txBody>
      </p:sp>
    </p:spTree>
    <p:extLst>
      <p:ext uri="{BB962C8B-B14F-4D97-AF65-F5344CB8AC3E}">
        <p14:creationId xmlns:p14="http://schemas.microsoft.com/office/powerpoint/2010/main" val="2118352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12483" y="2575"/>
            <a:ext cx="9144000" cy="1122105"/>
          </a:xfrm>
        </p:spPr>
        <p:txBody>
          <a:bodyPr/>
          <a:lstStyle/>
          <a:p>
            <a:pPr algn="ctr"/>
            <a:r>
              <a:rPr lang="it-IT" dirty="0"/>
              <a:t>Modificatore </a:t>
            </a:r>
            <a:r>
              <a:rPr lang="it-IT" i="1" dirty="0"/>
              <a:t>protected</a:t>
            </a:r>
            <a:r>
              <a:rPr lang="it-IT" dirty="0"/>
              <a:t>: ereditarietà</a:t>
            </a:r>
            <a:endParaRPr lang="it-IT" i="1" dirty="0"/>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052670"/>
            <a:ext cx="9144000" cy="5805330"/>
          </a:xfrm>
        </p:spPr>
        <p:txBody>
          <a:bodyPr>
            <a:normAutofit fontScale="55000" lnSpcReduction="20000"/>
          </a:bodyPr>
          <a:lstStyle/>
          <a:p>
            <a:pPr marL="0" indent="0">
              <a:buNone/>
            </a:pPr>
            <a:r>
              <a:rPr lang="it-IT" sz="4200" dirty="0">
                <a:solidFill>
                  <a:schemeClr val="accent5"/>
                </a:solidFill>
              </a:rPr>
              <a:t>public class Dipendente {</a:t>
            </a:r>
          </a:p>
          <a:p>
            <a:pPr marL="0" indent="0">
              <a:buNone/>
            </a:pPr>
            <a:r>
              <a:rPr lang="it-IT" sz="4200" dirty="0">
                <a:solidFill>
                  <a:schemeClr val="accent5"/>
                </a:solidFill>
              </a:rPr>
              <a:t>    private int matricola;</a:t>
            </a:r>
          </a:p>
          <a:p>
            <a:pPr marL="0" indent="0">
              <a:buNone/>
            </a:pPr>
            <a:r>
              <a:rPr lang="it-IT" sz="4200" dirty="0">
                <a:solidFill>
                  <a:schemeClr val="accent5"/>
                </a:solidFill>
              </a:rPr>
              <a:t>    private int </a:t>
            </a:r>
            <a:r>
              <a:rPr lang="it-IT" sz="4200" dirty="0" err="1">
                <a:solidFill>
                  <a:schemeClr val="accent5"/>
                </a:solidFill>
              </a:rPr>
              <a:t>annoDiAssunzione</a:t>
            </a:r>
            <a:r>
              <a:rPr lang="it-IT" sz="4200" dirty="0">
                <a:solidFill>
                  <a:schemeClr val="accent5"/>
                </a:solidFill>
              </a:rPr>
              <a:t>;</a:t>
            </a:r>
          </a:p>
          <a:p>
            <a:pPr marL="0" indent="0">
              <a:buNone/>
            </a:pPr>
            <a:r>
              <a:rPr lang="it-IT" sz="4200" dirty="0">
                <a:solidFill>
                  <a:schemeClr val="accent5"/>
                </a:solidFill>
              </a:rPr>
              <a:t>    public void </a:t>
            </a:r>
            <a:r>
              <a:rPr lang="it-IT" sz="4200" dirty="0" err="1">
                <a:solidFill>
                  <a:schemeClr val="accent5"/>
                </a:solidFill>
              </a:rPr>
              <a:t>setMatricola</a:t>
            </a:r>
            <a:r>
              <a:rPr lang="it-IT" sz="4200" dirty="0">
                <a:solidFill>
                  <a:schemeClr val="accent5"/>
                </a:solidFill>
              </a:rPr>
              <a:t>(int matricola) {</a:t>
            </a:r>
          </a:p>
          <a:p>
            <a:pPr marL="0" indent="0">
              <a:buNone/>
            </a:pPr>
            <a:r>
              <a:rPr lang="it-IT" sz="4200" dirty="0">
                <a:solidFill>
                  <a:schemeClr val="accent5"/>
                </a:solidFill>
              </a:rPr>
              <a:t>        </a:t>
            </a:r>
            <a:r>
              <a:rPr lang="it-IT" sz="4200" dirty="0" err="1">
                <a:solidFill>
                  <a:schemeClr val="accent5"/>
                </a:solidFill>
              </a:rPr>
              <a:t>this.matricola</a:t>
            </a:r>
            <a:r>
              <a:rPr lang="it-IT" sz="4200" dirty="0">
                <a:solidFill>
                  <a:schemeClr val="accent5"/>
                </a:solidFill>
              </a:rPr>
              <a:t> = matricola;</a:t>
            </a:r>
          </a:p>
          <a:p>
            <a:pPr marL="0" indent="0">
              <a:buNone/>
            </a:pPr>
            <a:r>
              <a:rPr lang="it-IT" sz="4200" dirty="0">
                <a:solidFill>
                  <a:schemeClr val="accent5"/>
                </a:solidFill>
              </a:rPr>
              <a:t>    }</a:t>
            </a:r>
          </a:p>
          <a:p>
            <a:pPr marL="0" indent="0">
              <a:buNone/>
            </a:pPr>
            <a:r>
              <a:rPr lang="it-IT" sz="4200" dirty="0">
                <a:solidFill>
                  <a:schemeClr val="accent5"/>
                </a:solidFill>
              </a:rPr>
              <a:t>    public int </a:t>
            </a:r>
            <a:r>
              <a:rPr lang="it-IT" sz="4200" dirty="0" err="1">
                <a:solidFill>
                  <a:schemeClr val="accent5"/>
                </a:solidFill>
              </a:rPr>
              <a:t>getMatricola</a:t>
            </a:r>
            <a:r>
              <a:rPr lang="it-IT" sz="4200" dirty="0">
                <a:solidFill>
                  <a:schemeClr val="accent5"/>
                </a:solidFill>
              </a:rPr>
              <a:t>() {</a:t>
            </a:r>
          </a:p>
          <a:p>
            <a:pPr marL="0" indent="0">
              <a:buNone/>
            </a:pPr>
            <a:r>
              <a:rPr lang="it-IT" sz="4200" dirty="0">
                <a:solidFill>
                  <a:schemeClr val="accent5"/>
                </a:solidFill>
              </a:rPr>
              <a:t>        return matricola;</a:t>
            </a:r>
          </a:p>
          <a:p>
            <a:pPr marL="0" indent="0">
              <a:buNone/>
            </a:pPr>
            <a:r>
              <a:rPr lang="it-IT" sz="4200" dirty="0">
                <a:solidFill>
                  <a:schemeClr val="accent5"/>
                </a:solidFill>
              </a:rPr>
              <a:t>    }</a:t>
            </a:r>
          </a:p>
          <a:p>
            <a:pPr marL="0" indent="0">
              <a:buNone/>
            </a:pPr>
            <a:r>
              <a:rPr lang="it-IT" sz="4200" dirty="0">
                <a:solidFill>
                  <a:schemeClr val="accent5"/>
                </a:solidFill>
              </a:rPr>
              <a:t>    public void </a:t>
            </a:r>
            <a:r>
              <a:rPr lang="it-IT" sz="4200" dirty="0" err="1">
                <a:solidFill>
                  <a:schemeClr val="accent5"/>
                </a:solidFill>
              </a:rPr>
              <a:t>setAnnoDiAssunzione</a:t>
            </a:r>
            <a:r>
              <a:rPr lang="it-IT" sz="4200" dirty="0">
                <a:solidFill>
                  <a:schemeClr val="accent5"/>
                </a:solidFill>
              </a:rPr>
              <a:t>(int </a:t>
            </a:r>
            <a:r>
              <a:rPr lang="it-IT" sz="4200" dirty="0" err="1">
                <a:solidFill>
                  <a:schemeClr val="accent5"/>
                </a:solidFill>
              </a:rPr>
              <a:t>annoDiAssunzione</a:t>
            </a:r>
            <a:r>
              <a:rPr lang="it-IT" sz="4200" dirty="0">
                <a:solidFill>
                  <a:schemeClr val="accent5"/>
                </a:solidFill>
              </a:rPr>
              <a:t>) {</a:t>
            </a:r>
          </a:p>
          <a:p>
            <a:pPr marL="0" indent="0">
              <a:buNone/>
            </a:pPr>
            <a:r>
              <a:rPr lang="it-IT" sz="4200" dirty="0">
                <a:solidFill>
                  <a:schemeClr val="accent5"/>
                </a:solidFill>
              </a:rPr>
              <a:t>        </a:t>
            </a:r>
            <a:r>
              <a:rPr lang="it-IT" sz="4200" dirty="0" err="1">
                <a:solidFill>
                  <a:schemeClr val="accent5"/>
                </a:solidFill>
              </a:rPr>
              <a:t>this.annoDiAssunzione</a:t>
            </a:r>
            <a:r>
              <a:rPr lang="it-IT" sz="4200" dirty="0">
                <a:solidFill>
                  <a:schemeClr val="accent5"/>
                </a:solidFill>
              </a:rPr>
              <a:t> = </a:t>
            </a:r>
            <a:r>
              <a:rPr lang="it-IT" sz="4200" dirty="0" err="1">
                <a:solidFill>
                  <a:schemeClr val="accent5"/>
                </a:solidFill>
              </a:rPr>
              <a:t>annoDiAssunzione</a:t>
            </a:r>
            <a:r>
              <a:rPr lang="it-IT" sz="4200" dirty="0">
                <a:solidFill>
                  <a:schemeClr val="accent5"/>
                </a:solidFill>
              </a:rPr>
              <a:t>;</a:t>
            </a:r>
          </a:p>
          <a:p>
            <a:pPr marL="0" indent="0">
              <a:buNone/>
            </a:pPr>
            <a:r>
              <a:rPr lang="it-IT" sz="4200" dirty="0">
                <a:solidFill>
                  <a:schemeClr val="accent5"/>
                </a:solidFill>
              </a:rPr>
              <a:t>    }</a:t>
            </a:r>
          </a:p>
          <a:p>
            <a:pPr marL="0" indent="0">
              <a:buNone/>
            </a:pPr>
            <a:r>
              <a:rPr lang="it-IT" sz="4200" dirty="0">
                <a:solidFill>
                  <a:schemeClr val="accent5"/>
                </a:solidFill>
              </a:rPr>
              <a:t>    public int </a:t>
            </a:r>
            <a:r>
              <a:rPr lang="it-IT" sz="4200" dirty="0" err="1">
                <a:solidFill>
                  <a:schemeClr val="accent5"/>
                </a:solidFill>
              </a:rPr>
              <a:t>getAnnoDiAssunzione</a:t>
            </a:r>
            <a:r>
              <a:rPr lang="it-IT" sz="4200" dirty="0">
                <a:solidFill>
                  <a:schemeClr val="accent5"/>
                </a:solidFill>
              </a:rPr>
              <a:t>() {</a:t>
            </a:r>
          </a:p>
          <a:p>
            <a:pPr marL="0" indent="0">
              <a:buNone/>
            </a:pPr>
            <a:r>
              <a:rPr lang="it-IT" sz="4200" dirty="0">
                <a:solidFill>
                  <a:schemeClr val="accent5"/>
                </a:solidFill>
              </a:rPr>
              <a:t>        return </a:t>
            </a:r>
            <a:r>
              <a:rPr lang="it-IT" sz="4200" dirty="0" err="1">
                <a:solidFill>
                  <a:schemeClr val="accent5"/>
                </a:solidFill>
              </a:rPr>
              <a:t>annoDiAssunzione</a:t>
            </a:r>
            <a:r>
              <a:rPr lang="it-IT" sz="4200" dirty="0">
                <a:solidFill>
                  <a:schemeClr val="accent5"/>
                </a:solidFill>
              </a:rPr>
              <a:t>;</a:t>
            </a:r>
          </a:p>
          <a:p>
            <a:pPr marL="0" indent="0">
              <a:buNone/>
            </a:pPr>
            <a:r>
              <a:rPr lang="it-IT" sz="4200" dirty="0">
                <a:solidFill>
                  <a:schemeClr val="accent5"/>
                </a:solidFill>
              </a:rPr>
              <a:t>    }</a:t>
            </a:r>
          </a:p>
          <a:p>
            <a:pPr marL="0" indent="0">
              <a:buNone/>
            </a:pPr>
            <a:r>
              <a:rPr lang="it-IT" sz="4200" dirty="0">
                <a:solidFill>
                  <a:schemeClr val="accent5"/>
                </a:solidFill>
              </a:rPr>
              <a:t>}</a:t>
            </a:r>
          </a:p>
          <a:p>
            <a:pPr marL="0" indent="0">
              <a:buNone/>
            </a:pPr>
            <a:endParaRPr lang="it-IT" sz="3200" dirty="0"/>
          </a:p>
          <a:p>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23</a:t>
            </a:fld>
            <a:endParaRPr lang="it-IT"/>
          </a:p>
        </p:txBody>
      </p:sp>
    </p:spTree>
    <p:extLst>
      <p:ext uri="{BB962C8B-B14F-4D97-AF65-F5344CB8AC3E}">
        <p14:creationId xmlns:p14="http://schemas.microsoft.com/office/powerpoint/2010/main" val="3649336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55603"/>
            <a:ext cx="9144000" cy="681037"/>
          </a:xfrm>
        </p:spPr>
        <p:txBody>
          <a:bodyPr>
            <a:normAutofit fontScale="90000"/>
          </a:bodyPr>
          <a:lstStyle/>
          <a:p>
            <a:pPr algn="ctr"/>
            <a:r>
              <a:rPr lang="it-IT" sz="4400" dirty="0"/>
              <a:t>Modificatore </a:t>
            </a:r>
            <a:r>
              <a:rPr lang="it-IT" sz="4400" i="1" dirty="0"/>
              <a:t>protected</a:t>
            </a:r>
            <a:r>
              <a:rPr lang="it-IT" dirty="0"/>
              <a:t>: ereditarietà</a:t>
            </a:r>
            <a:endParaRPr lang="it-IT" sz="4400" i="1" dirty="0"/>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052670"/>
            <a:ext cx="9144000" cy="5805330"/>
          </a:xfrm>
        </p:spPr>
        <p:txBody>
          <a:bodyPr>
            <a:noAutofit/>
          </a:bodyPr>
          <a:lstStyle/>
          <a:p>
            <a:pPr marL="0" indent="0">
              <a:buNone/>
            </a:pPr>
            <a:r>
              <a:rPr lang="it-IT" dirty="0">
                <a:solidFill>
                  <a:schemeClr val="accent5"/>
                </a:solidFill>
              </a:rPr>
              <a:t>public class Programmatore extends Dipendente {</a:t>
            </a:r>
          </a:p>
          <a:p>
            <a:pPr marL="0" indent="0">
              <a:buNone/>
            </a:pPr>
            <a:r>
              <a:rPr lang="it-IT" dirty="0">
                <a:solidFill>
                  <a:schemeClr val="accent5"/>
                </a:solidFill>
              </a:rPr>
              <a:t>    private String[] certificazioni;</a:t>
            </a:r>
          </a:p>
          <a:p>
            <a:pPr marL="0" indent="0">
              <a:buNone/>
            </a:pPr>
            <a:r>
              <a:rPr lang="it-IT" dirty="0">
                <a:solidFill>
                  <a:schemeClr val="accent5"/>
                </a:solidFill>
              </a:rPr>
              <a:t>    public Programmatore(int matricola, int </a:t>
            </a:r>
            <a:r>
              <a:rPr lang="it-IT" dirty="0" err="1">
                <a:solidFill>
                  <a:schemeClr val="accent5"/>
                </a:solidFill>
              </a:rPr>
              <a:t>annoDiAssunzione</a:t>
            </a:r>
            <a:r>
              <a:rPr lang="it-IT" dirty="0">
                <a:solidFill>
                  <a:schemeClr val="accent5"/>
                </a:solidFill>
              </a:rPr>
              <a:t>) {</a:t>
            </a:r>
          </a:p>
          <a:p>
            <a:pPr marL="0" indent="0">
              <a:buNone/>
            </a:pPr>
            <a:r>
              <a:rPr lang="it-IT" dirty="0">
                <a:solidFill>
                  <a:schemeClr val="accent5"/>
                </a:solidFill>
              </a:rPr>
              <a:t>        </a:t>
            </a:r>
            <a:r>
              <a:rPr lang="it-IT" dirty="0" err="1">
                <a:solidFill>
                  <a:schemeClr val="accent5"/>
                </a:solidFill>
              </a:rPr>
              <a:t>setMatricola</a:t>
            </a:r>
            <a:r>
              <a:rPr lang="it-IT" dirty="0">
                <a:solidFill>
                  <a:schemeClr val="accent5"/>
                </a:solidFill>
              </a:rPr>
              <a:t>(matricola);</a:t>
            </a:r>
          </a:p>
          <a:p>
            <a:pPr marL="0" indent="0">
              <a:buNone/>
            </a:pPr>
            <a:r>
              <a:rPr lang="it-IT" dirty="0">
                <a:solidFill>
                  <a:schemeClr val="accent5"/>
                </a:solidFill>
              </a:rPr>
              <a:t>        </a:t>
            </a:r>
            <a:r>
              <a:rPr lang="it-IT" dirty="0" err="1">
                <a:solidFill>
                  <a:schemeClr val="accent5"/>
                </a:solidFill>
              </a:rPr>
              <a:t>setAnnoDiAssunzione</a:t>
            </a:r>
            <a:r>
              <a:rPr lang="it-IT" dirty="0">
                <a:solidFill>
                  <a:schemeClr val="accent5"/>
                </a:solidFill>
              </a:rPr>
              <a:t>(</a:t>
            </a:r>
            <a:r>
              <a:rPr lang="it-IT" dirty="0" err="1">
                <a:solidFill>
                  <a:schemeClr val="accent5"/>
                </a:solidFill>
              </a:rPr>
              <a:t>annoDiAssunzione</a:t>
            </a:r>
            <a:r>
              <a:rPr lang="it-IT" dirty="0">
                <a:solidFill>
                  <a:schemeClr val="accent5"/>
                </a:solidFill>
              </a:rPr>
              <a:t>);</a:t>
            </a:r>
          </a:p>
          <a:p>
            <a:pPr marL="0" indent="0">
              <a:buNone/>
            </a:pPr>
            <a:r>
              <a:rPr lang="it-IT" dirty="0">
                <a:solidFill>
                  <a:schemeClr val="accent5"/>
                </a:solidFill>
              </a:rPr>
              <a:t>    }</a:t>
            </a:r>
          </a:p>
          <a:p>
            <a:pPr marL="0" indent="0">
              <a:buNone/>
            </a:pPr>
            <a:r>
              <a:rPr lang="it-IT" dirty="0">
                <a:solidFill>
                  <a:schemeClr val="accent5"/>
                </a:solidFill>
              </a:rPr>
              <a:t>    public void </a:t>
            </a:r>
            <a:r>
              <a:rPr lang="it-IT" dirty="0" err="1">
                <a:solidFill>
                  <a:schemeClr val="accent5"/>
                </a:solidFill>
              </a:rPr>
              <a:t>setCertificazioni</a:t>
            </a:r>
            <a:r>
              <a:rPr lang="it-IT" dirty="0">
                <a:solidFill>
                  <a:schemeClr val="accent5"/>
                </a:solidFill>
              </a:rPr>
              <a:t>(String[] certificazioni) {</a:t>
            </a:r>
          </a:p>
          <a:p>
            <a:pPr marL="0" indent="0">
              <a:buNone/>
            </a:pPr>
            <a:r>
              <a:rPr lang="it-IT" dirty="0">
                <a:solidFill>
                  <a:schemeClr val="accent5"/>
                </a:solidFill>
              </a:rPr>
              <a:t>        </a:t>
            </a:r>
            <a:r>
              <a:rPr lang="it-IT" dirty="0" err="1">
                <a:solidFill>
                  <a:schemeClr val="accent5"/>
                </a:solidFill>
              </a:rPr>
              <a:t>this.certificazioni</a:t>
            </a:r>
            <a:r>
              <a:rPr lang="it-IT" dirty="0">
                <a:solidFill>
                  <a:schemeClr val="accent5"/>
                </a:solidFill>
              </a:rPr>
              <a:t> = certificazioni;</a:t>
            </a:r>
          </a:p>
          <a:p>
            <a:pPr marL="0" indent="0">
              <a:buNone/>
            </a:pPr>
            <a:r>
              <a:rPr lang="it-IT" dirty="0">
                <a:solidFill>
                  <a:schemeClr val="accent5"/>
                </a:solidFill>
              </a:rPr>
              <a:t>    }</a:t>
            </a:r>
          </a:p>
          <a:p>
            <a:pPr marL="0" indent="0">
              <a:buNone/>
            </a:pPr>
            <a:r>
              <a:rPr lang="it-IT" dirty="0">
                <a:solidFill>
                  <a:schemeClr val="accent5"/>
                </a:solidFill>
              </a:rPr>
              <a:t>    public String[] </a:t>
            </a:r>
            <a:r>
              <a:rPr lang="it-IT" dirty="0" err="1">
                <a:solidFill>
                  <a:schemeClr val="accent5"/>
                </a:solidFill>
              </a:rPr>
              <a:t>getCertificazioni</a:t>
            </a:r>
            <a:r>
              <a:rPr lang="it-IT" dirty="0">
                <a:solidFill>
                  <a:schemeClr val="accent5"/>
                </a:solidFill>
              </a:rPr>
              <a:t>() {</a:t>
            </a:r>
          </a:p>
          <a:p>
            <a:pPr marL="0" indent="0">
              <a:buNone/>
            </a:pPr>
            <a:r>
              <a:rPr lang="it-IT" dirty="0">
                <a:solidFill>
                  <a:schemeClr val="accent5"/>
                </a:solidFill>
              </a:rPr>
              <a:t>        return certificazioni;</a:t>
            </a:r>
          </a:p>
          <a:p>
            <a:pPr marL="0" indent="0">
              <a:buNone/>
            </a:pPr>
            <a:r>
              <a:rPr lang="it-IT" dirty="0">
                <a:solidFill>
                  <a:schemeClr val="accent5"/>
                </a:solidFill>
              </a:rPr>
              <a:t>    }</a:t>
            </a:r>
          </a:p>
          <a:p>
            <a:pPr marL="0" indent="0">
              <a:buNone/>
            </a:pPr>
            <a:r>
              <a:rPr lang="it-IT" dirty="0">
                <a:solidFill>
                  <a:schemeClr val="accent5"/>
                </a:solidFill>
              </a:rPr>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24</a:t>
            </a:fld>
            <a:endParaRPr lang="it-IT"/>
          </a:p>
        </p:txBody>
      </p:sp>
    </p:spTree>
    <p:extLst>
      <p:ext uri="{BB962C8B-B14F-4D97-AF65-F5344CB8AC3E}">
        <p14:creationId xmlns:p14="http://schemas.microsoft.com/office/powerpoint/2010/main" val="2428567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681036"/>
          </a:xfrm>
        </p:spPr>
        <p:txBody>
          <a:bodyPr>
            <a:normAutofit fontScale="90000"/>
          </a:bodyPr>
          <a:lstStyle/>
          <a:p>
            <a:pPr algn="ctr"/>
            <a:r>
              <a:rPr lang="it-IT" dirty="0"/>
              <a:t>Modificatore </a:t>
            </a:r>
            <a:r>
              <a:rPr lang="it-IT" i="1" dirty="0"/>
              <a:t>protected</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692619"/>
            <a:ext cx="9144000" cy="3600501"/>
          </a:xfrm>
        </p:spPr>
        <p:txBody>
          <a:bodyPr>
            <a:normAutofit/>
          </a:bodyPr>
          <a:lstStyle/>
          <a:p>
            <a:pPr marL="0" indent="0">
              <a:buNone/>
            </a:pPr>
            <a:r>
              <a:rPr lang="it-IT" dirty="0">
                <a:solidFill>
                  <a:schemeClr val="accent5"/>
                </a:solidFill>
              </a:rPr>
              <a:t>package </a:t>
            </a:r>
            <a:r>
              <a:rPr lang="it-IT" dirty="0" err="1">
                <a:solidFill>
                  <a:schemeClr val="accent5"/>
                </a:solidFill>
              </a:rPr>
              <a:t>com.cdsc.test</a:t>
            </a:r>
            <a:r>
              <a:rPr lang="it-IT" dirty="0">
                <a:solidFill>
                  <a:schemeClr val="accent5"/>
                </a:solidFill>
              </a:rPr>
              <a:t>;</a:t>
            </a:r>
          </a:p>
          <a:p>
            <a:pPr marL="0" indent="0">
              <a:buNone/>
            </a:pPr>
            <a:endParaRPr lang="it-IT" dirty="0">
              <a:solidFill>
                <a:schemeClr val="accent5"/>
              </a:solidFill>
            </a:endParaRPr>
          </a:p>
          <a:p>
            <a:pPr marL="0" indent="0">
              <a:buNone/>
            </a:pPr>
            <a:r>
              <a:rPr lang="it-IT" dirty="0">
                <a:solidFill>
                  <a:schemeClr val="accent5"/>
                </a:solidFill>
              </a:rPr>
              <a:t>public class </a:t>
            </a:r>
            <a:r>
              <a:rPr lang="it-IT" dirty="0" err="1">
                <a:solidFill>
                  <a:schemeClr val="accent5"/>
                </a:solidFill>
              </a:rPr>
              <a:t>ProtectedInClasse</a:t>
            </a:r>
            <a:r>
              <a:rPr lang="it-IT" dirty="0">
                <a:solidFill>
                  <a:schemeClr val="accent5"/>
                </a:solidFill>
              </a:rPr>
              <a:t> {</a:t>
            </a:r>
          </a:p>
          <a:p>
            <a:pPr marL="0" indent="0">
              <a:buNone/>
            </a:pPr>
            <a:r>
              <a:rPr lang="it-IT" dirty="0">
                <a:solidFill>
                  <a:schemeClr val="accent5"/>
                </a:solidFill>
              </a:rPr>
              <a:t>    protected int </a:t>
            </a:r>
            <a:r>
              <a:rPr lang="it-IT" dirty="0" err="1">
                <a:solidFill>
                  <a:schemeClr val="accent5"/>
                </a:solidFill>
              </a:rPr>
              <a:t>variabileProtected</a:t>
            </a:r>
            <a:r>
              <a:rPr lang="it-IT" dirty="0">
                <a:solidFill>
                  <a:schemeClr val="accent5"/>
                </a:solidFill>
              </a:rPr>
              <a:t>;</a:t>
            </a:r>
          </a:p>
          <a:p>
            <a:pPr marL="0" indent="0">
              <a:buNone/>
            </a:pPr>
            <a:r>
              <a:rPr lang="it-IT" dirty="0">
                <a:solidFill>
                  <a:schemeClr val="accent5"/>
                </a:solidFill>
              </a:rPr>
              <a:t>    protected void </a:t>
            </a:r>
            <a:r>
              <a:rPr lang="it-IT" dirty="0" err="1">
                <a:solidFill>
                  <a:schemeClr val="accent5"/>
                </a:solidFill>
              </a:rPr>
              <a:t>metodoProtected</a:t>
            </a:r>
            <a:r>
              <a:rPr lang="it-IT" dirty="0">
                <a:solidFill>
                  <a:schemeClr val="accent5"/>
                </a:solidFill>
              </a:rPr>
              <a:t>() {</a:t>
            </a:r>
          </a:p>
          <a:p>
            <a:pPr marL="0" indent="0">
              <a:buNone/>
            </a:pPr>
            <a:r>
              <a:rPr lang="it-IT" dirty="0">
                <a:solidFill>
                  <a:schemeClr val="accent5"/>
                </a:solidFill>
              </a:rPr>
              <a:t>        System.out.println("Invocato metodo protected");</a:t>
            </a:r>
          </a:p>
          <a:p>
            <a:pPr marL="0" indent="0">
              <a:buNone/>
            </a:pPr>
            <a:r>
              <a:rPr lang="it-IT" dirty="0">
                <a:solidFill>
                  <a:schemeClr val="accent5"/>
                </a:solidFill>
              </a:rPr>
              <a:t>    }</a:t>
            </a:r>
          </a:p>
          <a:p>
            <a:pPr marL="0" indent="0">
              <a:buNone/>
            </a:pPr>
            <a:r>
              <a:rPr lang="it-IT" dirty="0">
                <a:solidFill>
                  <a:schemeClr val="accent5"/>
                </a:solidFill>
              </a:rPr>
              <a:t>}</a:t>
            </a:r>
            <a:endParaRPr lang="it-IT" dirty="0"/>
          </a:p>
          <a:p>
            <a:pPr marL="0" indent="0">
              <a:buNone/>
            </a:pPr>
            <a:endParaRPr lang="it-IT"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25</a:t>
            </a:fld>
            <a:endParaRPr lang="it-IT"/>
          </a:p>
        </p:txBody>
      </p:sp>
      <p:sp>
        <p:nvSpPr>
          <p:cNvPr id="9" name="CasellaDiTesto 8">
            <a:extLst>
              <a:ext uri="{FF2B5EF4-FFF2-40B4-BE49-F238E27FC236}">
                <a16:creationId xmlns:a16="http://schemas.microsoft.com/office/drawing/2014/main" id="{70C5531E-A0E3-4D22-8322-9703860BB012}"/>
              </a:ext>
            </a:extLst>
          </p:cNvPr>
          <p:cNvSpPr txBox="1"/>
          <p:nvPr/>
        </p:nvSpPr>
        <p:spPr>
          <a:xfrm>
            <a:off x="971500" y="3429000"/>
            <a:ext cx="8065120" cy="3416320"/>
          </a:xfrm>
          <a:prstGeom prst="rect">
            <a:avLst/>
          </a:prstGeom>
          <a:noFill/>
        </p:spPr>
        <p:txBody>
          <a:bodyPr wrap="square">
            <a:spAutoFit/>
          </a:bodyPr>
          <a:lstStyle/>
          <a:p>
            <a:r>
              <a:rPr lang="it-IT" sz="2400" dirty="0">
                <a:solidFill>
                  <a:schemeClr val="accent6"/>
                </a:solidFill>
              </a:rPr>
              <a:t>package </a:t>
            </a:r>
            <a:r>
              <a:rPr lang="it-IT" sz="2400" dirty="0" err="1">
                <a:solidFill>
                  <a:schemeClr val="accent6"/>
                </a:solidFill>
              </a:rPr>
              <a:t>com.cdsc.test</a:t>
            </a:r>
            <a:r>
              <a:rPr lang="it-IT" sz="2400" dirty="0">
                <a:solidFill>
                  <a:schemeClr val="accent6"/>
                </a:solidFill>
              </a:rPr>
              <a:t>;</a:t>
            </a:r>
          </a:p>
          <a:p>
            <a:endParaRPr lang="it-IT" sz="2400" dirty="0">
              <a:solidFill>
                <a:schemeClr val="accent6"/>
              </a:solidFill>
            </a:endParaRPr>
          </a:p>
          <a:p>
            <a:r>
              <a:rPr lang="it-IT" sz="2400" dirty="0">
                <a:solidFill>
                  <a:schemeClr val="accent6"/>
                </a:solidFill>
              </a:rPr>
              <a:t>public class </a:t>
            </a:r>
            <a:r>
              <a:rPr lang="it-IT" sz="2400" dirty="0" err="1">
                <a:solidFill>
                  <a:schemeClr val="accent6"/>
                </a:solidFill>
              </a:rPr>
              <a:t>ProtectedClasseInPackage</a:t>
            </a:r>
            <a:r>
              <a:rPr lang="it-IT" sz="2400" dirty="0">
                <a:solidFill>
                  <a:schemeClr val="accent6"/>
                </a:solidFill>
              </a:rPr>
              <a:t> {</a:t>
            </a:r>
          </a:p>
          <a:p>
            <a:r>
              <a:rPr lang="it-IT" sz="2400" dirty="0">
                <a:solidFill>
                  <a:schemeClr val="accent6"/>
                </a:solidFill>
              </a:rPr>
              <a:t>    public void </a:t>
            </a:r>
            <a:r>
              <a:rPr lang="it-IT" sz="2400" dirty="0" err="1">
                <a:solidFill>
                  <a:schemeClr val="accent6"/>
                </a:solidFill>
              </a:rPr>
              <a:t>metodoCheUsaProtected</a:t>
            </a:r>
            <a:r>
              <a:rPr lang="it-IT" sz="2400" dirty="0">
                <a:solidFill>
                  <a:schemeClr val="accent6"/>
                </a:solidFill>
              </a:rPr>
              <a:t>() {</a:t>
            </a:r>
          </a:p>
          <a:p>
            <a:r>
              <a:rPr lang="it-IT" sz="2400" dirty="0">
                <a:solidFill>
                  <a:schemeClr val="accent6"/>
                </a:solidFill>
              </a:rPr>
              <a:t>        var </a:t>
            </a:r>
            <a:r>
              <a:rPr lang="it-IT" sz="2400" dirty="0" err="1">
                <a:solidFill>
                  <a:schemeClr val="accent6"/>
                </a:solidFill>
              </a:rPr>
              <a:t>protectedInClasse</a:t>
            </a:r>
            <a:r>
              <a:rPr lang="it-IT" sz="2400" dirty="0">
                <a:solidFill>
                  <a:schemeClr val="accent6"/>
                </a:solidFill>
              </a:rPr>
              <a:t> = new </a:t>
            </a:r>
            <a:r>
              <a:rPr lang="it-IT" sz="2400" dirty="0" err="1">
                <a:solidFill>
                  <a:schemeClr val="accent6"/>
                </a:solidFill>
              </a:rPr>
              <a:t>ProtectedInClasse</a:t>
            </a:r>
            <a:r>
              <a:rPr lang="it-IT" sz="2400" dirty="0">
                <a:solidFill>
                  <a:schemeClr val="accent6"/>
                </a:solidFill>
              </a:rPr>
              <a:t>();</a:t>
            </a:r>
          </a:p>
          <a:p>
            <a:r>
              <a:rPr lang="it-IT" sz="2400" dirty="0">
                <a:solidFill>
                  <a:schemeClr val="accent6"/>
                </a:solidFill>
              </a:rPr>
              <a:t>        </a:t>
            </a:r>
            <a:r>
              <a:rPr lang="it-IT" sz="2400" dirty="0" err="1">
                <a:solidFill>
                  <a:schemeClr val="accent6"/>
                </a:solidFill>
              </a:rPr>
              <a:t>protectedInClasse.metodoProtected</a:t>
            </a:r>
            <a:r>
              <a:rPr lang="it-IT" sz="2400" dirty="0">
                <a:solidFill>
                  <a:schemeClr val="accent6"/>
                </a:solidFill>
              </a:rPr>
              <a:t>();</a:t>
            </a:r>
          </a:p>
          <a:p>
            <a:r>
              <a:rPr lang="it-IT" sz="2400" dirty="0">
                <a:solidFill>
                  <a:schemeClr val="accent6"/>
                </a:solidFill>
              </a:rPr>
              <a:t>        System.out.println(</a:t>
            </a:r>
            <a:r>
              <a:rPr lang="it-IT" sz="2400" dirty="0" err="1">
                <a:solidFill>
                  <a:schemeClr val="accent6"/>
                </a:solidFill>
              </a:rPr>
              <a:t>protectedInClasse.variabileProtected</a:t>
            </a:r>
            <a:r>
              <a:rPr lang="it-IT" sz="2400" dirty="0">
                <a:solidFill>
                  <a:schemeClr val="accent6"/>
                </a:solidFill>
              </a:rPr>
              <a:t>);</a:t>
            </a:r>
          </a:p>
          <a:p>
            <a:r>
              <a:rPr lang="it-IT" sz="2400" dirty="0">
                <a:solidFill>
                  <a:schemeClr val="accent6"/>
                </a:solidFill>
              </a:rPr>
              <a:t>    }</a:t>
            </a:r>
          </a:p>
          <a:p>
            <a:r>
              <a:rPr lang="it-IT" sz="2400" dirty="0">
                <a:solidFill>
                  <a:schemeClr val="accent6"/>
                </a:solidFill>
              </a:rPr>
              <a:t>}</a:t>
            </a:r>
          </a:p>
        </p:txBody>
      </p:sp>
    </p:spTree>
    <p:extLst>
      <p:ext uri="{BB962C8B-B14F-4D97-AF65-F5344CB8AC3E}">
        <p14:creationId xmlns:p14="http://schemas.microsoft.com/office/powerpoint/2010/main" val="2181874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681036"/>
          </a:xfrm>
        </p:spPr>
        <p:txBody>
          <a:bodyPr>
            <a:normAutofit fontScale="90000"/>
          </a:bodyPr>
          <a:lstStyle/>
          <a:p>
            <a:pPr algn="ctr"/>
            <a:r>
              <a:rPr lang="it-IT" dirty="0"/>
              <a:t>Modificatore </a:t>
            </a:r>
            <a:r>
              <a:rPr lang="it-IT" i="1" dirty="0"/>
              <a:t>protected</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692619"/>
            <a:ext cx="9144000" cy="3600501"/>
          </a:xfrm>
        </p:spPr>
        <p:txBody>
          <a:bodyPr>
            <a:normAutofit fontScale="92500" lnSpcReduction="20000"/>
          </a:bodyPr>
          <a:lstStyle/>
          <a:p>
            <a:pPr marL="0" indent="0">
              <a:buNone/>
            </a:pPr>
            <a:r>
              <a:rPr lang="it-IT" dirty="0">
                <a:solidFill>
                  <a:schemeClr val="accent5"/>
                </a:solidFill>
              </a:rPr>
              <a:t>package </a:t>
            </a:r>
            <a:r>
              <a:rPr lang="it-IT" dirty="0" err="1">
                <a:solidFill>
                  <a:schemeClr val="accent5"/>
                </a:solidFill>
              </a:rPr>
              <a:t>com.cdsc</a:t>
            </a:r>
            <a:r>
              <a:rPr lang="it-IT" dirty="0">
                <a:solidFill>
                  <a:schemeClr val="accent5"/>
                </a:solidFill>
              </a:rPr>
              <a:t>;</a:t>
            </a:r>
          </a:p>
          <a:p>
            <a:pPr marL="0" indent="0">
              <a:buNone/>
            </a:pPr>
            <a:r>
              <a:rPr lang="it-IT" dirty="0">
                <a:solidFill>
                  <a:schemeClr val="accent5"/>
                </a:solidFill>
              </a:rPr>
              <a:t>import </a:t>
            </a:r>
            <a:r>
              <a:rPr lang="it-IT" dirty="0" err="1">
                <a:solidFill>
                  <a:schemeClr val="accent5"/>
                </a:solidFill>
              </a:rPr>
              <a:t>com.cdsc.test</a:t>
            </a:r>
            <a:r>
              <a:rPr lang="it-IT" dirty="0">
                <a:solidFill>
                  <a:schemeClr val="accent5"/>
                </a:solidFill>
              </a:rPr>
              <a:t>.*;</a:t>
            </a:r>
          </a:p>
          <a:p>
            <a:pPr marL="0" indent="0">
              <a:buNone/>
            </a:pPr>
            <a:endParaRPr lang="it-IT" dirty="0">
              <a:solidFill>
                <a:schemeClr val="accent5"/>
              </a:solidFill>
            </a:endParaRPr>
          </a:p>
          <a:p>
            <a:pPr marL="0" indent="0">
              <a:buNone/>
            </a:pPr>
            <a:r>
              <a:rPr lang="it-IT" dirty="0">
                <a:solidFill>
                  <a:schemeClr val="accent5"/>
                </a:solidFill>
              </a:rPr>
              <a:t>public class </a:t>
            </a:r>
            <a:r>
              <a:rPr lang="it-IT" dirty="0" err="1">
                <a:solidFill>
                  <a:schemeClr val="accent5"/>
                </a:solidFill>
              </a:rPr>
              <a:t>ProtectedClasseFuoriPackage</a:t>
            </a:r>
            <a:r>
              <a:rPr lang="it-IT" dirty="0">
                <a:solidFill>
                  <a:schemeClr val="accent5"/>
                </a:solidFill>
              </a:rPr>
              <a:t> {</a:t>
            </a:r>
          </a:p>
          <a:p>
            <a:pPr marL="0" indent="0">
              <a:buNone/>
            </a:pPr>
            <a:r>
              <a:rPr lang="it-IT" dirty="0">
                <a:solidFill>
                  <a:schemeClr val="accent5"/>
                </a:solidFill>
              </a:rPr>
              <a:t>    public void </a:t>
            </a:r>
            <a:r>
              <a:rPr lang="it-IT" dirty="0" err="1">
                <a:solidFill>
                  <a:schemeClr val="accent5"/>
                </a:solidFill>
              </a:rPr>
              <a:t>metodoCheUsaProtected</a:t>
            </a:r>
            <a:r>
              <a:rPr lang="it-IT" dirty="0">
                <a:solidFill>
                  <a:schemeClr val="accent5"/>
                </a:solidFill>
              </a:rPr>
              <a:t>() {</a:t>
            </a:r>
          </a:p>
          <a:p>
            <a:pPr marL="0" indent="0">
              <a:buNone/>
            </a:pPr>
            <a:r>
              <a:rPr lang="it-IT" dirty="0">
                <a:solidFill>
                  <a:schemeClr val="accent5"/>
                </a:solidFill>
              </a:rPr>
              <a:t>        var </a:t>
            </a:r>
            <a:r>
              <a:rPr lang="it-IT" dirty="0" err="1">
                <a:solidFill>
                  <a:schemeClr val="accent5"/>
                </a:solidFill>
              </a:rPr>
              <a:t>protectedInClasse</a:t>
            </a:r>
            <a:r>
              <a:rPr lang="it-IT" dirty="0">
                <a:solidFill>
                  <a:schemeClr val="accent5"/>
                </a:solidFill>
              </a:rPr>
              <a:t> = new </a:t>
            </a:r>
            <a:r>
              <a:rPr lang="it-IT" dirty="0" err="1">
                <a:solidFill>
                  <a:schemeClr val="accent5"/>
                </a:solidFill>
              </a:rPr>
              <a:t>ProtectedInClasse</a:t>
            </a:r>
            <a:r>
              <a:rPr lang="it-IT" dirty="0">
                <a:solidFill>
                  <a:schemeClr val="accent5"/>
                </a:solidFill>
              </a:rPr>
              <a:t>();</a:t>
            </a:r>
          </a:p>
          <a:p>
            <a:pPr marL="0" indent="0">
              <a:buNone/>
            </a:pPr>
            <a:r>
              <a:rPr lang="it-IT" dirty="0">
                <a:solidFill>
                  <a:schemeClr val="accent5"/>
                </a:solidFill>
              </a:rPr>
              <a:t>        </a:t>
            </a:r>
            <a:r>
              <a:rPr lang="it-IT" dirty="0" err="1">
                <a:solidFill>
                  <a:schemeClr val="accent5"/>
                </a:solidFill>
              </a:rPr>
              <a:t>protectedInClasse.metodoProtected</a:t>
            </a:r>
            <a:r>
              <a:rPr lang="it-IT" dirty="0">
                <a:solidFill>
                  <a:schemeClr val="accent5"/>
                </a:solidFill>
              </a:rPr>
              <a:t>();</a:t>
            </a:r>
          </a:p>
          <a:p>
            <a:pPr marL="0" indent="0">
              <a:buNone/>
            </a:pPr>
            <a:r>
              <a:rPr lang="it-IT" dirty="0">
                <a:solidFill>
                  <a:schemeClr val="accent5"/>
                </a:solidFill>
              </a:rPr>
              <a:t>        System.out.println(</a:t>
            </a:r>
            <a:r>
              <a:rPr lang="it-IT" dirty="0" err="1">
                <a:solidFill>
                  <a:schemeClr val="accent5"/>
                </a:solidFill>
              </a:rPr>
              <a:t>protectedInClasse.variabileProtected</a:t>
            </a:r>
            <a:r>
              <a:rPr lang="it-IT" dirty="0">
                <a:solidFill>
                  <a:schemeClr val="accent5"/>
                </a:solidFill>
              </a:rPr>
              <a:t>);</a:t>
            </a:r>
          </a:p>
          <a:p>
            <a:pPr marL="0" indent="0">
              <a:buNone/>
            </a:pPr>
            <a:r>
              <a:rPr lang="it-IT" dirty="0">
                <a:solidFill>
                  <a:schemeClr val="accent5"/>
                </a:solidFill>
              </a:rPr>
              <a:t>    }</a:t>
            </a:r>
          </a:p>
          <a:p>
            <a:pPr marL="0" indent="0">
              <a:buNone/>
            </a:pPr>
            <a:r>
              <a:rPr lang="it-IT" dirty="0">
                <a:solidFill>
                  <a:schemeClr val="accent5"/>
                </a:solidFill>
              </a:rPr>
              <a:t>}</a:t>
            </a:r>
          </a:p>
          <a:p>
            <a:pPr marL="0" indent="0">
              <a:buNone/>
            </a:pPr>
            <a:endParaRPr lang="it-IT"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26</a:t>
            </a:fld>
            <a:endParaRPr lang="it-IT"/>
          </a:p>
        </p:txBody>
      </p:sp>
      <p:sp>
        <p:nvSpPr>
          <p:cNvPr id="9" name="CasellaDiTesto 8">
            <a:extLst>
              <a:ext uri="{FF2B5EF4-FFF2-40B4-BE49-F238E27FC236}">
                <a16:creationId xmlns:a16="http://schemas.microsoft.com/office/drawing/2014/main" id="{70C5531E-A0E3-4D22-8322-9703860BB012}"/>
              </a:ext>
            </a:extLst>
          </p:cNvPr>
          <p:cNvSpPr txBox="1"/>
          <p:nvPr/>
        </p:nvSpPr>
        <p:spPr>
          <a:xfrm>
            <a:off x="1259540" y="3645030"/>
            <a:ext cx="7777080" cy="3139321"/>
          </a:xfrm>
          <a:prstGeom prst="rect">
            <a:avLst/>
          </a:prstGeom>
          <a:noFill/>
        </p:spPr>
        <p:txBody>
          <a:bodyPr wrap="square">
            <a:spAutoFit/>
          </a:bodyPr>
          <a:lstStyle/>
          <a:p>
            <a:r>
              <a:rPr lang="it-IT" sz="2200" dirty="0">
                <a:solidFill>
                  <a:schemeClr val="accent3"/>
                </a:solidFill>
              </a:rPr>
              <a:t>ProtectedClasseFuoriPackage.java:8: error: </a:t>
            </a:r>
          </a:p>
          <a:p>
            <a:r>
              <a:rPr lang="it-IT" sz="2200" dirty="0">
                <a:solidFill>
                  <a:schemeClr val="accent3"/>
                </a:solidFill>
              </a:rPr>
              <a:t>  </a:t>
            </a:r>
            <a:r>
              <a:rPr lang="it-IT" sz="2200" dirty="0" err="1">
                <a:solidFill>
                  <a:schemeClr val="accent3"/>
                </a:solidFill>
              </a:rPr>
              <a:t>metodoProtected</a:t>
            </a:r>
            <a:r>
              <a:rPr lang="it-IT" sz="2200" dirty="0">
                <a:solidFill>
                  <a:schemeClr val="accent3"/>
                </a:solidFill>
              </a:rPr>
              <a:t>() </a:t>
            </a:r>
            <a:r>
              <a:rPr lang="it-IT" sz="2200" dirty="0" err="1">
                <a:solidFill>
                  <a:schemeClr val="accent3"/>
                </a:solidFill>
              </a:rPr>
              <a:t>has</a:t>
            </a:r>
            <a:r>
              <a:rPr lang="it-IT" sz="2200" dirty="0">
                <a:solidFill>
                  <a:schemeClr val="accent3"/>
                </a:solidFill>
              </a:rPr>
              <a:t> protected access in </a:t>
            </a:r>
            <a:r>
              <a:rPr lang="it-IT" sz="2200" dirty="0" err="1">
                <a:solidFill>
                  <a:schemeClr val="accent3"/>
                </a:solidFill>
              </a:rPr>
              <a:t>ProtectedInClasse</a:t>
            </a:r>
            <a:endParaRPr lang="it-IT" sz="2200" dirty="0">
              <a:solidFill>
                <a:schemeClr val="accent3"/>
              </a:solidFill>
            </a:endParaRPr>
          </a:p>
          <a:p>
            <a:r>
              <a:rPr lang="it-IT" sz="2200" dirty="0">
                <a:solidFill>
                  <a:schemeClr val="accent3"/>
                </a:solidFill>
              </a:rPr>
              <a:t>        </a:t>
            </a:r>
            <a:r>
              <a:rPr lang="it-IT" sz="2200" dirty="0" err="1">
                <a:solidFill>
                  <a:schemeClr val="accent3"/>
                </a:solidFill>
              </a:rPr>
              <a:t>protectedInClasse.metodoProtected</a:t>
            </a:r>
            <a:r>
              <a:rPr lang="it-IT" sz="2200" dirty="0">
                <a:solidFill>
                  <a:schemeClr val="accent3"/>
                </a:solidFill>
              </a:rPr>
              <a:t>();</a:t>
            </a:r>
          </a:p>
          <a:p>
            <a:r>
              <a:rPr lang="it-IT" sz="2200" dirty="0">
                <a:solidFill>
                  <a:schemeClr val="accent3"/>
                </a:solidFill>
              </a:rPr>
              <a:t>                         ^</a:t>
            </a:r>
          </a:p>
          <a:p>
            <a:r>
              <a:rPr lang="it-IT" sz="2200" dirty="0">
                <a:solidFill>
                  <a:schemeClr val="accent3"/>
                </a:solidFill>
              </a:rPr>
              <a:t>ProtectedClasseFuoriPackage.java:9: error: </a:t>
            </a:r>
          </a:p>
          <a:p>
            <a:r>
              <a:rPr lang="it-IT" sz="2200" dirty="0">
                <a:solidFill>
                  <a:schemeClr val="accent3"/>
                </a:solidFill>
              </a:rPr>
              <a:t>  </a:t>
            </a:r>
            <a:r>
              <a:rPr lang="it-IT" sz="2200" dirty="0" err="1">
                <a:solidFill>
                  <a:schemeClr val="accent3"/>
                </a:solidFill>
              </a:rPr>
              <a:t>variabileProtected</a:t>
            </a:r>
            <a:r>
              <a:rPr lang="it-IT" sz="2200" dirty="0">
                <a:solidFill>
                  <a:schemeClr val="accent3"/>
                </a:solidFill>
              </a:rPr>
              <a:t> </a:t>
            </a:r>
            <a:r>
              <a:rPr lang="it-IT" sz="2200" dirty="0" err="1">
                <a:solidFill>
                  <a:schemeClr val="accent3"/>
                </a:solidFill>
              </a:rPr>
              <a:t>has</a:t>
            </a:r>
            <a:r>
              <a:rPr lang="it-IT" sz="2200" dirty="0">
                <a:solidFill>
                  <a:schemeClr val="accent3"/>
                </a:solidFill>
              </a:rPr>
              <a:t> protected access in </a:t>
            </a:r>
            <a:r>
              <a:rPr lang="it-IT" sz="2200" dirty="0" err="1">
                <a:solidFill>
                  <a:schemeClr val="accent3"/>
                </a:solidFill>
              </a:rPr>
              <a:t>ProtectedInClasse</a:t>
            </a:r>
            <a:endParaRPr lang="it-IT" sz="2200" dirty="0">
              <a:solidFill>
                <a:schemeClr val="accent3"/>
              </a:solidFill>
            </a:endParaRPr>
          </a:p>
          <a:p>
            <a:r>
              <a:rPr lang="it-IT" sz="2200" dirty="0">
                <a:solidFill>
                  <a:schemeClr val="accent3"/>
                </a:solidFill>
              </a:rPr>
              <a:t>        System.out.println(</a:t>
            </a:r>
            <a:r>
              <a:rPr lang="it-IT" sz="2200" dirty="0" err="1">
                <a:solidFill>
                  <a:schemeClr val="accent3"/>
                </a:solidFill>
              </a:rPr>
              <a:t>protectedInClasse.variabileProtected</a:t>
            </a:r>
            <a:r>
              <a:rPr lang="it-IT" sz="2200" dirty="0">
                <a:solidFill>
                  <a:schemeClr val="accent3"/>
                </a:solidFill>
              </a:rPr>
              <a:t>);</a:t>
            </a:r>
          </a:p>
          <a:p>
            <a:r>
              <a:rPr lang="it-IT" sz="2200" dirty="0">
                <a:solidFill>
                  <a:schemeClr val="accent3"/>
                </a:solidFill>
              </a:rPr>
              <a:t>                                            ^</a:t>
            </a:r>
          </a:p>
          <a:p>
            <a:r>
              <a:rPr lang="it-IT" sz="2200" dirty="0">
                <a:solidFill>
                  <a:schemeClr val="accent3"/>
                </a:solidFill>
              </a:rPr>
              <a:t>2 </a:t>
            </a:r>
            <a:r>
              <a:rPr lang="it-IT" sz="2200" dirty="0" err="1">
                <a:solidFill>
                  <a:schemeClr val="accent3"/>
                </a:solidFill>
              </a:rPr>
              <a:t>errors</a:t>
            </a:r>
            <a:endParaRPr lang="it-IT" sz="2200" dirty="0">
              <a:solidFill>
                <a:schemeClr val="accent3"/>
              </a:solidFill>
            </a:endParaRPr>
          </a:p>
        </p:txBody>
      </p:sp>
    </p:spTree>
    <p:extLst>
      <p:ext uri="{BB962C8B-B14F-4D97-AF65-F5344CB8AC3E}">
        <p14:creationId xmlns:p14="http://schemas.microsoft.com/office/powerpoint/2010/main" val="551619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681036"/>
          </a:xfrm>
        </p:spPr>
        <p:txBody>
          <a:bodyPr>
            <a:normAutofit fontScale="90000"/>
          </a:bodyPr>
          <a:lstStyle/>
          <a:p>
            <a:pPr algn="ctr"/>
            <a:r>
              <a:rPr lang="it-IT" i="1" dirty="0"/>
              <a:t>Default scope: nessun modificatore</a:t>
            </a:r>
            <a:endParaRPr lang="it-IT" dirty="0"/>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692619"/>
            <a:ext cx="9144000" cy="1656231"/>
          </a:xfrm>
        </p:spPr>
        <p:txBody>
          <a:bodyPr>
            <a:normAutofit/>
          </a:bodyPr>
          <a:lstStyle/>
          <a:p>
            <a:r>
              <a:rPr lang="it-IT" sz="3200" dirty="0"/>
              <a:t>Si può usare anche con le classi e i suoi membri:</a:t>
            </a:r>
          </a:p>
          <a:p>
            <a:pPr marL="0" indent="0">
              <a:buNone/>
            </a:pPr>
            <a:r>
              <a:rPr lang="it-IT" sz="3200" dirty="0">
                <a:solidFill>
                  <a:schemeClr val="accent5"/>
                </a:solidFill>
              </a:rPr>
              <a:t>package </a:t>
            </a:r>
            <a:r>
              <a:rPr lang="it-IT" sz="3200" dirty="0" err="1">
                <a:solidFill>
                  <a:schemeClr val="accent5"/>
                </a:solidFill>
              </a:rPr>
              <a:t>com.cdsc.test</a:t>
            </a:r>
            <a:r>
              <a:rPr lang="it-IT" sz="3200" dirty="0">
                <a:solidFill>
                  <a:schemeClr val="accent5"/>
                </a:solidFill>
              </a:rPr>
              <a:t>;</a:t>
            </a:r>
          </a:p>
          <a:p>
            <a:pPr marL="0" indent="0">
              <a:buNone/>
            </a:pPr>
            <a:r>
              <a:rPr lang="it-IT" sz="3200" dirty="0">
                <a:solidFill>
                  <a:schemeClr val="accent5"/>
                </a:solidFill>
              </a:rPr>
              <a:t>class </a:t>
            </a:r>
            <a:r>
              <a:rPr lang="it-IT" sz="3200" dirty="0" err="1">
                <a:solidFill>
                  <a:schemeClr val="accent5"/>
                </a:solidFill>
              </a:rPr>
              <a:t>ClasseSenzaModificatore</a:t>
            </a:r>
            <a:r>
              <a:rPr lang="it-IT" sz="3200" dirty="0">
                <a:solidFill>
                  <a:schemeClr val="accent5"/>
                </a:solidFill>
              </a:rPr>
              <a:t> { . . . }</a:t>
            </a:r>
          </a:p>
          <a:p>
            <a:pPr marL="0" indent="0">
              <a:buNone/>
            </a:pPr>
            <a:endParaRPr lang="it-IT" sz="3200" dirty="0"/>
          </a:p>
          <a:p>
            <a:pPr marL="0" indent="0">
              <a:buNone/>
            </a:pPr>
            <a:endParaRPr lang="it-IT" sz="3200" dirty="0"/>
          </a:p>
          <a:p>
            <a:endParaRPr lang="it-IT" sz="3200" dirty="0"/>
          </a:p>
          <a:p>
            <a:pPr marL="0" indent="0">
              <a:buNone/>
            </a:pPr>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27</a:t>
            </a:fld>
            <a:endParaRPr lang="it-IT"/>
          </a:p>
        </p:txBody>
      </p:sp>
      <p:sp>
        <p:nvSpPr>
          <p:cNvPr id="7" name="CasellaDiTesto 6">
            <a:extLst>
              <a:ext uri="{FF2B5EF4-FFF2-40B4-BE49-F238E27FC236}">
                <a16:creationId xmlns:a16="http://schemas.microsoft.com/office/drawing/2014/main" id="{8440E0EE-0C3E-426D-AA18-A7F2E4EEFE82}"/>
              </a:ext>
            </a:extLst>
          </p:cNvPr>
          <p:cNvSpPr txBox="1"/>
          <p:nvPr/>
        </p:nvSpPr>
        <p:spPr>
          <a:xfrm>
            <a:off x="179390" y="2414842"/>
            <a:ext cx="8785220" cy="3046988"/>
          </a:xfrm>
          <a:prstGeom prst="rect">
            <a:avLst/>
          </a:prstGeom>
          <a:noFill/>
        </p:spPr>
        <p:txBody>
          <a:bodyPr wrap="square">
            <a:spAutoFit/>
          </a:bodyPr>
          <a:lstStyle/>
          <a:p>
            <a:pPr marL="0" indent="0">
              <a:buNone/>
            </a:pPr>
            <a:r>
              <a:rPr lang="it-IT" sz="2400" dirty="0">
                <a:solidFill>
                  <a:schemeClr val="accent6"/>
                </a:solidFill>
              </a:rPr>
              <a:t>package </a:t>
            </a:r>
            <a:r>
              <a:rPr lang="it-IT" sz="2400" dirty="0" err="1">
                <a:solidFill>
                  <a:schemeClr val="accent6"/>
                </a:solidFill>
              </a:rPr>
              <a:t>com.cdsc</a:t>
            </a:r>
            <a:r>
              <a:rPr lang="it-IT" sz="2400" dirty="0">
                <a:solidFill>
                  <a:schemeClr val="accent6"/>
                </a:solidFill>
              </a:rPr>
              <a:t>;</a:t>
            </a:r>
          </a:p>
          <a:p>
            <a:pPr marL="0" indent="0">
              <a:buNone/>
            </a:pPr>
            <a:r>
              <a:rPr lang="it-IT" sz="2400" dirty="0">
                <a:solidFill>
                  <a:schemeClr val="accent6"/>
                </a:solidFill>
              </a:rPr>
              <a:t>import </a:t>
            </a:r>
            <a:r>
              <a:rPr lang="it-IT" sz="2400" dirty="0" err="1">
                <a:solidFill>
                  <a:schemeClr val="accent6"/>
                </a:solidFill>
              </a:rPr>
              <a:t>com.cdsc.test</a:t>
            </a:r>
            <a:r>
              <a:rPr lang="it-IT" sz="2400" dirty="0">
                <a:solidFill>
                  <a:schemeClr val="accent6"/>
                </a:solidFill>
              </a:rPr>
              <a:t>.*;</a:t>
            </a:r>
          </a:p>
          <a:p>
            <a:pPr marL="0" indent="0">
              <a:buNone/>
            </a:pPr>
            <a:endParaRPr lang="it-IT" sz="2400" dirty="0">
              <a:solidFill>
                <a:schemeClr val="accent6"/>
              </a:solidFill>
            </a:endParaRPr>
          </a:p>
          <a:p>
            <a:pPr marL="0" indent="0">
              <a:buNone/>
            </a:pPr>
            <a:r>
              <a:rPr lang="it-IT" sz="2400" dirty="0">
                <a:solidFill>
                  <a:schemeClr val="accent6"/>
                </a:solidFill>
              </a:rPr>
              <a:t>public class </a:t>
            </a:r>
            <a:r>
              <a:rPr lang="it-IT" sz="2400" dirty="0" err="1">
                <a:solidFill>
                  <a:schemeClr val="accent6"/>
                </a:solidFill>
              </a:rPr>
              <a:t>TestClasseSenzaModificatore</a:t>
            </a:r>
            <a:r>
              <a:rPr lang="it-IT" sz="2400" dirty="0">
                <a:solidFill>
                  <a:schemeClr val="accent6"/>
                </a:solidFill>
              </a:rPr>
              <a:t> {</a:t>
            </a:r>
          </a:p>
          <a:p>
            <a:pPr marL="0" indent="0">
              <a:buNone/>
            </a:pPr>
            <a:r>
              <a:rPr lang="it-IT" sz="2400" dirty="0">
                <a:solidFill>
                  <a:schemeClr val="accent6"/>
                </a:solidFill>
              </a:rPr>
              <a:t>    public static void main(String args[]) {</a:t>
            </a:r>
          </a:p>
          <a:p>
            <a:pPr marL="0" indent="0">
              <a:buNone/>
            </a:pPr>
            <a:r>
              <a:rPr lang="it-IT" sz="2400" dirty="0">
                <a:solidFill>
                  <a:schemeClr val="accent6"/>
                </a:solidFill>
              </a:rPr>
              <a:t>        var c = new </a:t>
            </a:r>
            <a:r>
              <a:rPr lang="it-IT" sz="2400" dirty="0" err="1">
                <a:solidFill>
                  <a:schemeClr val="accent6"/>
                </a:solidFill>
              </a:rPr>
              <a:t>ClasseSenzaModificatore</a:t>
            </a:r>
            <a:r>
              <a:rPr lang="it-IT" sz="2400" dirty="0">
                <a:solidFill>
                  <a:schemeClr val="accent6"/>
                </a:solidFill>
              </a:rPr>
              <a:t>();</a:t>
            </a:r>
          </a:p>
          <a:p>
            <a:pPr marL="0" indent="0">
              <a:buNone/>
            </a:pPr>
            <a:r>
              <a:rPr lang="it-IT" sz="2400" dirty="0">
                <a:solidFill>
                  <a:schemeClr val="accent6"/>
                </a:solidFill>
              </a:rPr>
              <a:t>    }</a:t>
            </a:r>
          </a:p>
          <a:p>
            <a:pPr marL="0" indent="0">
              <a:buNone/>
            </a:pPr>
            <a:r>
              <a:rPr lang="it-IT" sz="2400" dirty="0">
                <a:solidFill>
                  <a:schemeClr val="accent6"/>
                </a:solidFill>
              </a:rPr>
              <a:t>}</a:t>
            </a:r>
          </a:p>
        </p:txBody>
      </p:sp>
      <p:sp>
        <p:nvSpPr>
          <p:cNvPr id="11" name="CasellaDiTesto 10">
            <a:extLst>
              <a:ext uri="{FF2B5EF4-FFF2-40B4-BE49-F238E27FC236}">
                <a16:creationId xmlns:a16="http://schemas.microsoft.com/office/drawing/2014/main" id="{2A99C283-9982-4E2F-83CD-79CADBDBE091}"/>
              </a:ext>
            </a:extLst>
          </p:cNvPr>
          <p:cNvSpPr txBox="1"/>
          <p:nvPr/>
        </p:nvSpPr>
        <p:spPr>
          <a:xfrm>
            <a:off x="2123660" y="4869200"/>
            <a:ext cx="6976533" cy="1938992"/>
          </a:xfrm>
          <a:prstGeom prst="rect">
            <a:avLst/>
          </a:prstGeom>
          <a:noFill/>
        </p:spPr>
        <p:txBody>
          <a:bodyPr wrap="square">
            <a:spAutoFit/>
          </a:bodyPr>
          <a:lstStyle/>
          <a:p>
            <a:r>
              <a:rPr lang="it-IT" sz="2000" dirty="0">
                <a:solidFill>
                  <a:schemeClr val="accent3"/>
                </a:solidFill>
              </a:rPr>
              <a:t>TestClasseSenzaModificatore.java:6: error: </a:t>
            </a:r>
            <a:r>
              <a:rPr lang="it-IT" sz="2000" dirty="0" err="1">
                <a:solidFill>
                  <a:schemeClr val="accent3"/>
                </a:solidFill>
              </a:rPr>
              <a:t>cannot</a:t>
            </a:r>
            <a:r>
              <a:rPr lang="it-IT" sz="2000" dirty="0">
                <a:solidFill>
                  <a:schemeClr val="accent3"/>
                </a:solidFill>
              </a:rPr>
              <a:t> </a:t>
            </a:r>
            <a:r>
              <a:rPr lang="it-IT" sz="2000" dirty="0" err="1">
                <a:solidFill>
                  <a:schemeClr val="accent3"/>
                </a:solidFill>
              </a:rPr>
              <a:t>find</a:t>
            </a:r>
            <a:r>
              <a:rPr lang="it-IT" sz="2000" dirty="0">
                <a:solidFill>
                  <a:schemeClr val="accent3"/>
                </a:solidFill>
              </a:rPr>
              <a:t> symbol</a:t>
            </a:r>
          </a:p>
          <a:p>
            <a:r>
              <a:rPr lang="it-IT" sz="2000" dirty="0">
                <a:solidFill>
                  <a:schemeClr val="accent3"/>
                </a:solidFill>
              </a:rPr>
              <a:t>        var c = new </a:t>
            </a:r>
            <a:r>
              <a:rPr lang="it-IT" sz="2000" dirty="0" err="1">
                <a:solidFill>
                  <a:schemeClr val="accent3"/>
                </a:solidFill>
              </a:rPr>
              <a:t>ClasseSenzaModificatore</a:t>
            </a:r>
            <a:r>
              <a:rPr lang="it-IT" sz="2000" dirty="0">
                <a:solidFill>
                  <a:schemeClr val="accent3"/>
                </a:solidFill>
              </a:rPr>
              <a:t>();</a:t>
            </a:r>
          </a:p>
          <a:p>
            <a:r>
              <a:rPr lang="it-IT" sz="2000" dirty="0">
                <a:solidFill>
                  <a:schemeClr val="accent3"/>
                </a:solidFill>
              </a:rPr>
              <a:t>                    ^</a:t>
            </a:r>
          </a:p>
          <a:p>
            <a:r>
              <a:rPr lang="it-IT" sz="2000" dirty="0">
                <a:solidFill>
                  <a:schemeClr val="accent3"/>
                </a:solidFill>
              </a:rPr>
              <a:t>  symbol:   class </a:t>
            </a:r>
            <a:r>
              <a:rPr lang="it-IT" sz="2000" dirty="0" err="1">
                <a:solidFill>
                  <a:schemeClr val="accent3"/>
                </a:solidFill>
              </a:rPr>
              <a:t>ClasseSenzaModificatore</a:t>
            </a:r>
            <a:endParaRPr lang="it-IT" sz="2000" dirty="0">
              <a:solidFill>
                <a:schemeClr val="accent3"/>
              </a:solidFill>
            </a:endParaRPr>
          </a:p>
          <a:p>
            <a:r>
              <a:rPr lang="it-IT" sz="2000" dirty="0">
                <a:solidFill>
                  <a:schemeClr val="accent3"/>
                </a:solidFill>
              </a:rPr>
              <a:t>  location: class </a:t>
            </a:r>
            <a:r>
              <a:rPr lang="it-IT" sz="2000" dirty="0" err="1">
                <a:solidFill>
                  <a:schemeClr val="accent3"/>
                </a:solidFill>
              </a:rPr>
              <a:t>TestClasseSenzaModificatore</a:t>
            </a:r>
            <a:endParaRPr lang="it-IT" sz="2000" dirty="0">
              <a:solidFill>
                <a:schemeClr val="accent3"/>
              </a:solidFill>
            </a:endParaRPr>
          </a:p>
          <a:p>
            <a:r>
              <a:rPr lang="it-IT" sz="2000" dirty="0">
                <a:solidFill>
                  <a:schemeClr val="accent3"/>
                </a:solidFill>
              </a:rPr>
              <a:t>1 error</a:t>
            </a:r>
          </a:p>
        </p:txBody>
      </p:sp>
    </p:spTree>
    <p:extLst>
      <p:ext uri="{BB962C8B-B14F-4D97-AF65-F5344CB8AC3E}">
        <p14:creationId xmlns:p14="http://schemas.microsoft.com/office/powerpoint/2010/main" val="1570308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Modificatore </a:t>
            </a:r>
            <a:r>
              <a:rPr lang="it-IT" i="1" dirty="0"/>
              <a:t>private</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596794"/>
          </a:xfrm>
        </p:spPr>
        <p:txBody>
          <a:bodyPr>
            <a:normAutofit/>
          </a:bodyPr>
          <a:lstStyle/>
          <a:p>
            <a:r>
              <a:rPr lang="it-IT" dirty="0">
                <a:solidFill>
                  <a:schemeClr val="tx1"/>
                </a:solidFill>
              </a:rPr>
              <a:t>Il modificatore </a:t>
            </a:r>
            <a:r>
              <a:rPr lang="it-IT" i="1" dirty="0">
                <a:solidFill>
                  <a:schemeClr val="tx1"/>
                </a:solidFill>
              </a:rPr>
              <a:t>private</a:t>
            </a:r>
            <a:r>
              <a:rPr lang="it-IT" dirty="0">
                <a:solidFill>
                  <a:schemeClr val="tx1"/>
                </a:solidFill>
              </a:rPr>
              <a:t> restringe la visibilità di un membro di una classe alla classe stessa. </a:t>
            </a:r>
          </a:p>
          <a:p>
            <a:r>
              <a:rPr lang="it-IT" dirty="0">
                <a:solidFill>
                  <a:schemeClr val="tx1"/>
                </a:solidFill>
              </a:rPr>
              <a:t>Si usano spesso anche i metodi privati, che sono invocati da altri metodi della stessa classe. </a:t>
            </a:r>
          </a:p>
          <a:p>
            <a:r>
              <a:rPr lang="it-IT" dirty="0">
                <a:solidFill>
                  <a:schemeClr val="tx1"/>
                </a:solidFill>
              </a:rPr>
              <a:t>Non è applicabile alla dichiarazione di una classe.</a:t>
            </a:r>
          </a:p>
          <a:p>
            <a:r>
              <a:rPr lang="it-IT" dirty="0">
                <a:solidFill>
                  <a:schemeClr val="tx1"/>
                </a:solidFill>
              </a:rPr>
              <a:t>Riassumendo quanto detto in questi paragrafi, possiamo far riferimento alla tabella seguente. che riporta i modificatori di accesso e la relativa visibilità (solo per i membri di una classe)</a:t>
            </a:r>
          </a:p>
          <a:p>
            <a:pPr marL="0" indent="0">
              <a:buNone/>
            </a:pPr>
            <a:endParaRPr lang="it-IT" dirty="0">
              <a:solidFill>
                <a:schemeClr val="tx1"/>
              </a:solidFill>
            </a:endParaRP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28</a:t>
            </a:fld>
            <a:endParaRPr lang="it-IT"/>
          </a:p>
        </p:txBody>
      </p:sp>
      <p:graphicFrame>
        <p:nvGraphicFramePr>
          <p:cNvPr id="6" name="Tabella 5">
            <a:extLst>
              <a:ext uri="{FF2B5EF4-FFF2-40B4-BE49-F238E27FC236}">
                <a16:creationId xmlns:a16="http://schemas.microsoft.com/office/drawing/2014/main" id="{AE938B9D-A1DA-4048-9C38-1E1E19C06A31}"/>
              </a:ext>
            </a:extLst>
          </p:cNvPr>
          <p:cNvGraphicFramePr>
            <a:graphicFrameLocks noGrp="1"/>
          </p:cNvGraphicFramePr>
          <p:nvPr>
            <p:extLst>
              <p:ext uri="{D42A27DB-BD31-4B8C-83A1-F6EECF244321}">
                <p14:modId xmlns:p14="http://schemas.microsoft.com/office/powerpoint/2010/main" val="2567704763"/>
              </p:ext>
            </p:extLst>
          </p:nvPr>
        </p:nvGraphicFramePr>
        <p:xfrm>
          <a:off x="0" y="4293120"/>
          <a:ext cx="9144000" cy="1872260"/>
        </p:xfrm>
        <a:graphic>
          <a:graphicData uri="http://schemas.openxmlformats.org/drawingml/2006/table">
            <a:tbl>
              <a:tblPr>
                <a:tableStyleId>{5C22544A-7EE6-4342-B048-85BDC9FD1C3A}</a:tableStyleId>
              </a:tblPr>
              <a:tblGrid>
                <a:gridCol w="2123660">
                  <a:extLst>
                    <a:ext uri="{9D8B030D-6E8A-4147-A177-3AD203B41FA5}">
                      <a16:colId xmlns:a16="http://schemas.microsoft.com/office/drawing/2014/main" val="1649334959"/>
                    </a:ext>
                  </a:extLst>
                </a:gridCol>
                <a:gridCol w="1597387">
                  <a:extLst>
                    <a:ext uri="{9D8B030D-6E8A-4147-A177-3AD203B41FA5}">
                      <a16:colId xmlns:a16="http://schemas.microsoft.com/office/drawing/2014/main" val="3414440760"/>
                    </a:ext>
                  </a:extLst>
                </a:gridCol>
                <a:gridCol w="1978678">
                  <a:extLst>
                    <a:ext uri="{9D8B030D-6E8A-4147-A177-3AD203B41FA5}">
                      <a16:colId xmlns:a16="http://schemas.microsoft.com/office/drawing/2014/main" val="243604254"/>
                    </a:ext>
                  </a:extLst>
                </a:gridCol>
                <a:gridCol w="1561901">
                  <a:extLst>
                    <a:ext uri="{9D8B030D-6E8A-4147-A177-3AD203B41FA5}">
                      <a16:colId xmlns:a16="http://schemas.microsoft.com/office/drawing/2014/main" val="537313282"/>
                    </a:ext>
                  </a:extLst>
                </a:gridCol>
                <a:gridCol w="1882374">
                  <a:extLst>
                    <a:ext uri="{9D8B030D-6E8A-4147-A177-3AD203B41FA5}">
                      <a16:colId xmlns:a16="http://schemas.microsoft.com/office/drawing/2014/main" val="936180279"/>
                    </a:ext>
                  </a:extLst>
                </a:gridCol>
              </a:tblGrid>
              <a:tr h="374452">
                <a:tc>
                  <a:txBody>
                    <a:bodyPr/>
                    <a:lstStyle/>
                    <a:p>
                      <a:r>
                        <a:rPr lang="it-IT" sz="1200" b="1">
                          <a:effectLst/>
                        </a:rPr>
                        <a:t>MODIFICATORE</a:t>
                      </a:r>
                      <a:endParaRPr lang="it-IT" sz="12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200" b="1">
                          <a:effectLst/>
                        </a:rPr>
                        <a:t>STESSA CLASSE</a:t>
                      </a:r>
                      <a:endParaRPr lang="it-IT" sz="12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200" b="1">
                          <a:effectLst/>
                        </a:rPr>
                        <a:t>STESSO PACKAGE</a:t>
                      </a:r>
                      <a:endParaRPr lang="it-IT" sz="12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200" b="1" dirty="0">
                          <a:effectLst/>
                        </a:rPr>
                        <a:t>SOTTOCLASSE</a:t>
                      </a:r>
                      <a:endParaRPr lang="it-IT" sz="1200" b="1"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200" b="1" dirty="0">
                          <a:effectLst/>
                        </a:rPr>
                        <a:t>OVUNQUE</a:t>
                      </a:r>
                      <a:endParaRPr lang="it-IT" sz="1200" b="1"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143588360"/>
                  </a:ext>
                </a:extLst>
              </a:tr>
              <a:tr h="374452">
                <a:tc>
                  <a:txBody>
                    <a:bodyPr/>
                    <a:lstStyle/>
                    <a:p>
                      <a:r>
                        <a:rPr lang="it-IT" sz="1800">
                          <a:effectLst/>
                        </a:rPr>
                        <a:t>public</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24657985"/>
                  </a:ext>
                </a:extLst>
              </a:tr>
              <a:tr h="374452">
                <a:tc>
                  <a:txBody>
                    <a:bodyPr/>
                    <a:lstStyle/>
                    <a:p>
                      <a:r>
                        <a:rPr lang="it-IT" sz="1800">
                          <a:effectLst/>
                        </a:rPr>
                        <a:t>protected</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876838034"/>
                  </a:ext>
                </a:extLst>
              </a:tr>
              <a:tr h="374452">
                <a:tc>
                  <a:txBody>
                    <a:bodyPr/>
                    <a:lstStyle/>
                    <a:p>
                      <a:r>
                        <a:rPr lang="it-IT" sz="1800">
                          <a:effectLst/>
                        </a:rPr>
                        <a:t>nessun modificatore</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826869869"/>
                  </a:ext>
                </a:extLst>
              </a:tr>
              <a:tr h="374452">
                <a:tc>
                  <a:txBody>
                    <a:bodyPr/>
                    <a:lstStyle/>
                    <a:p>
                      <a:r>
                        <a:rPr lang="it-IT" sz="1800">
                          <a:effectLst/>
                        </a:rPr>
                        <a:t>private</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SI</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a:effectLst/>
                        </a:rPr>
                        <a:t>NO</a:t>
                      </a:r>
                      <a:endParaRPr lang="it-IT" sz="18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1800" dirty="0">
                          <a:effectLst/>
                        </a:rPr>
                        <a:t>NO</a:t>
                      </a:r>
                      <a:endParaRPr lang="it-IT" sz="18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771290158"/>
                  </a:ext>
                </a:extLst>
              </a:tr>
            </a:tbl>
          </a:graphicData>
        </a:graphic>
      </p:graphicFrame>
    </p:spTree>
    <p:extLst>
      <p:ext uri="{BB962C8B-B14F-4D97-AF65-F5344CB8AC3E}">
        <p14:creationId xmlns:p14="http://schemas.microsoft.com/office/powerpoint/2010/main" val="3600510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Modificatore </a:t>
            </a:r>
            <a:r>
              <a:rPr lang="it-IT" i="1" dirty="0"/>
              <a:t>static</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29</a:t>
            </a:fld>
            <a:endParaRPr lang="it-IT"/>
          </a:p>
        </p:txBody>
      </p:sp>
      <p:sp>
        <p:nvSpPr>
          <p:cNvPr id="7" name="Segnaposto contenuto 6">
            <a:extLst>
              <a:ext uri="{FF2B5EF4-FFF2-40B4-BE49-F238E27FC236}">
                <a16:creationId xmlns:a16="http://schemas.microsoft.com/office/drawing/2014/main" id="{F4542910-7465-42EC-B2E5-B118AA0AE9DE}"/>
              </a:ext>
            </a:extLst>
          </p:cNvPr>
          <p:cNvSpPr>
            <a:spLocks noGrp="1"/>
          </p:cNvSpPr>
          <p:nvPr>
            <p:ph idx="1"/>
          </p:nvPr>
        </p:nvSpPr>
        <p:spPr>
          <a:xfrm>
            <a:off x="0" y="1345785"/>
            <a:ext cx="9144000" cy="5010566"/>
          </a:xfrm>
        </p:spPr>
        <p:txBody>
          <a:bodyPr>
            <a:normAutofit/>
          </a:bodyPr>
          <a:lstStyle/>
          <a:p>
            <a:r>
              <a:rPr lang="it-IT" dirty="0"/>
              <a:t>Potremmo tradurre il termine </a:t>
            </a:r>
            <a:r>
              <a:rPr lang="it-IT" i="1" dirty="0"/>
              <a:t>static</a:t>
            </a:r>
            <a:r>
              <a:rPr lang="it-IT" dirty="0"/>
              <a:t> con </a:t>
            </a:r>
            <a:r>
              <a:rPr lang="it-IT" i="1" dirty="0"/>
              <a:t>condiviso da tutte le istanze della classe</a:t>
            </a:r>
            <a:r>
              <a:rPr lang="it-IT" dirty="0"/>
              <a:t>, oppure semplicemente con </a:t>
            </a:r>
            <a:r>
              <a:rPr lang="it-IT" i="1" dirty="0"/>
              <a:t>della classe</a:t>
            </a:r>
            <a:r>
              <a:rPr lang="it-IT" dirty="0"/>
              <a:t>.</a:t>
            </a:r>
          </a:p>
          <a:p>
            <a:r>
              <a:rPr lang="it-IT" dirty="0"/>
              <a:t>Un membro statico ha la caratteristica di poter essere utilizzato mediante una sintassi del tipo:</a:t>
            </a:r>
          </a:p>
          <a:p>
            <a:pPr marL="0" indent="0">
              <a:buNone/>
            </a:pPr>
            <a:r>
              <a:rPr lang="it-IT" dirty="0" err="1">
                <a:solidFill>
                  <a:schemeClr val="accent5"/>
                </a:solidFill>
              </a:rPr>
              <a:t>NomeClasse.nomeMembro</a:t>
            </a:r>
            <a:endParaRPr lang="it-IT" dirty="0">
              <a:solidFill>
                <a:schemeClr val="accent5"/>
              </a:solidFill>
            </a:endParaRPr>
          </a:p>
          <a:p>
            <a:r>
              <a:rPr lang="it-IT" dirty="0"/>
              <a:t>in luogo di:</a:t>
            </a:r>
          </a:p>
          <a:p>
            <a:pPr marL="0" indent="0">
              <a:buNone/>
            </a:pPr>
            <a:r>
              <a:rPr lang="it-IT" dirty="0" err="1">
                <a:solidFill>
                  <a:schemeClr val="accent5"/>
                </a:solidFill>
              </a:rPr>
              <a:t>nomeOggetto.nomeMembro</a:t>
            </a:r>
            <a:endParaRPr lang="it-IT" dirty="0">
              <a:solidFill>
                <a:schemeClr val="accent5"/>
              </a:solidFill>
            </a:endParaRPr>
          </a:p>
          <a:p>
            <a:r>
              <a:rPr lang="it-IT" dirty="0"/>
              <a:t>Possiamo usare static per marcare i metodi e gli attributi di una classe, e come vedremo tra poco, anche i cosiddetti inizializzatori.</a:t>
            </a:r>
          </a:p>
          <a:p>
            <a:r>
              <a:rPr lang="it-IT" dirty="0"/>
              <a:t>Anche senza istanziare la classe, l’utilizzo di un membro statico provocherà il caricamento in memoria della classe contenente il membro in questione, che quindi, condividerà il ciclo di vita con quello della classe.</a:t>
            </a:r>
          </a:p>
        </p:txBody>
      </p:sp>
    </p:spTree>
    <p:extLst>
      <p:ext uri="{BB962C8B-B14F-4D97-AF65-F5344CB8AC3E}">
        <p14:creationId xmlns:p14="http://schemas.microsoft.com/office/powerpoint/2010/main" val="4274920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Metodi statici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30</a:t>
            </a:fld>
            <a:endParaRPr lang="it-IT" dirty="0"/>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1124680"/>
            <a:ext cx="9144000" cy="5733319"/>
          </a:xfrm>
        </p:spPr>
        <p:txBody>
          <a:bodyPr>
            <a:normAutofit fontScale="92500" lnSpcReduction="10000"/>
          </a:bodyPr>
          <a:lstStyle/>
          <a:p>
            <a:r>
              <a:rPr lang="it-IT" sz="2800" dirty="0"/>
              <a:t>Un metodo statico è un metodo che è </a:t>
            </a:r>
            <a:r>
              <a:rPr lang="it-IT" sz="2800" i="1" dirty="0"/>
              <a:t>condiviso da tutti gli oggetti istanziati dalla classe in cui è dichiarato</a:t>
            </a:r>
          </a:p>
          <a:p>
            <a:r>
              <a:rPr lang="it-IT" sz="2800" dirty="0"/>
              <a:t>Possiamo dire che </a:t>
            </a:r>
            <a:r>
              <a:rPr lang="it-IT" sz="2800" u="sng" dirty="0"/>
              <a:t>un metodo statico appartiene alla classe stessa, e non ad un’istanza particolare</a:t>
            </a:r>
            <a:r>
              <a:rPr lang="it-IT" sz="2800" dirty="0"/>
              <a:t>:</a:t>
            </a:r>
          </a:p>
          <a:p>
            <a:pPr marL="0" indent="0">
              <a:buNone/>
            </a:pPr>
            <a:r>
              <a:rPr lang="it-IT" sz="2800" dirty="0" err="1">
                <a:solidFill>
                  <a:schemeClr val="accent5"/>
                </a:solidFill>
              </a:rPr>
              <a:t>Math.sqrt</a:t>
            </a:r>
            <a:r>
              <a:rPr lang="it-IT" sz="2800" dirty="0">
                <a:solidFill>
                  <a:schemeClr val="accent5"/>
                </a:solidFill>
              </a:rPr>
              <a:t>(numero)</a:t>
            </a:r>
          </a:p>
          <a:p>
            <a:r>
              <a:rPr lang="it-IT" sz="2800" dirty="0"/>
              <a:t>Non avrebbe senso avere due oggetti matematica diversi:</a:t>
            </a:r>
          </a:p>
          <a:p>
            <a:pPr marL="0" indent="0">
              <a:buNone/>
            </a:pPr>
            <a:r>
              <a:rPr lang="it-IT" sz="2800" dirty="0">
                <a:solidFill>
                  <a:schemeClr val="accent5"/>
                </a:solidFill>
              </a:rPr>
              <a:t>ogg1.sqrt(4);</a:t>
            </a:r>
          </a:p>
          <a:p>
            <a:pPr marL="0" indent="0">
              <a:buNone/>
            </a:pPr>
            <a:r>
              <a:rPr lang="it-IT" sz="2800" dirty="0">
                <a:solidFill>
                  <a:schemeClr val="accent5"/>
                </a:solidFill>
              </a:rPr>
              <a:t>ogg2.sqrt(4);</a:t>
            </a:r>
          </a:p>
          <a:p>
            <a:r>
              <a:rPr lang="it-IT" sz="2800" dirty="0"/>
              <a:t>Un metodo dichiarato </a:t>
            </a:r>
            <a:r>
              <a:rPr lang="it-IT" sz="2800" i="1" dirty="0"/>
              <a:t>static</a:t>
            </a:r>
            <a:r>
              <a:rPr lang="it-IT" sz="2800" dirty="0"/>
              <a:t> e </a:t>
            </a:r>
            <a:r>
              <a:rPr lang="it-IT" sz="2800" i="1" dirty="0"/>
              <a:t>public</a:t>
            </a:r>
            <a:r>
              <a:rPr lang="it-IT" sz="2800" dirty="0"/>
              <a:t> può considerarsi una sorta di funzione, e non a caso la radice quadrata è definita come funzione matematica. </a:t>
            </a:r>
          </a:p>
          <a:p>
            <a:r>
              <a:rPr lang="it-IT" sz="2800" dirty="0"/>
              <a:t>Per tale ragione, questo tipo di approccio ai metodi dovrebbe essere limitato solo ai casi in cui l’esecuzione del metodo non dipenda dalle caratteristiche dell’oggetto su cui viene chiamato il metodo</a:t>
            </a:r>
          </a:p>
        </p:txBody>
      </p:sp>
    </p:spTree>
    <p:extLst>
      <p:ext uri="{BB962C8B-B14F-4D97-AF65-F5344CB8AC3E}">
        <p14:creationId xmlns:p14="http://schemas.microsoft.com/office/powerpoint/2010/main" val="1169616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Metodi statici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31</a:t>
            </a:fld>
            <a:endParaRPr lang="it-IT"/>
          </a:p>
        </p:txBody>
      </p:sp>
      <p:sp>
        <p:nvSpPr>
          <p:cNvPr id="11" name="CasellaDiTesto 10">
            <a:extLst>
              <a:ext uri="{FF2B5EF4-FFF2-40B4-BE49-F238E27FC236}">
                <a16:creationId xmlns:a16="http://schemas.microsoft.com/office/drawing/2014/main" id="{9F1A6DD9-94C4-464B-BAD5-350139A90A7B}"/>
              </a:ext>
            </a:extLst>
          </p:cNvPr>
          <p:cNvSpPr txBox="1"/>
          <p:nvPr/>
        </p:nvSpPr>
        <p:spPr>
          <a:xfrm>
            <a:off x="0" y="1124680"/>
            <a:ext cx="9144000" cy="4524315"/>
          </a:xfrm>
          <a:prstGeom prst="rect">
            <a:avLst/>
          </a:prstGeom>
          <a:noFill/>
        </p:spPr>
        <p:txBody>
          <a:bodyPr wrap="square">
            <a:spAutoFit/>
          </a:bodyPr>
          <a:lstStyle/>
          <a:p>
            <a:r>
              <a:rPr lang="it-IT" sz="2400" dirty="0">
                <a:solidFill>
                  <a:schemeClr val="accent5"/>
                </a:solidFill>
              </a:rPr>
              <a:t>public class StringUtils {</a:t>
            </a:r>
          </a:p>
          <a:p>
            <a:r>
              <a:rPr lang="it-IT" sz="2400" dirty="0">
                <a:solidFill>
                  <a:schemeClr val="accent5"/>
                </a:solidFill>
              </a:rPr>
              <a:t>    public static int </a:t>
            </a:r>
            <a:r>
              <a:rPr lang="it-IT" sz="2400" dirty="0" err="1">
                <a:solidFill>
                  <a:schemeClr val="accent5"/>
                </a:solidFill>
              </a:rPr>
              <a:t>contaOccorrenze</a:t>
            </a:r>
            <a:r>
              <a:rPr lang="it-IT" sz="2400" dirty="0">
                <a:solidFill>
                  <a:schemeClr val="accent5"/>
                </a:solidFill>
              </a:rPr>
              <a:t>(String </a:t>
            </a:r>
            <a:r>
              <a:rPr lang="it-IT" sz="2400" dirty="0" err="1">
                <a:solidFill>
                  <a:schemeClr val="accent5"/>
                </a:solidFill>
              </a:rPr>
              <a:t>string</a:t>
            </a:r>
            <a:r>
              <a:rPr lang="it-IT" sz="2400" dirty="0">
                <a:solidFill>
                  <a:schemeClr val="accent5"/>
                </a:solidFill>
              </a:rPr>
              <a:t>, char character) {</a:t>
            </a:r>
          </a:p>
          <a:p>
            <a:r>
              <a:rPr lang="it-IT" sz="2400" dirty="0">
                <a:solidFill>
                  <a:schemeClr val="accent5"/>
                </a:solidFill>
              </a:rPr>
              <a:t>        var count = 0;</a:t>
            </a:r>
          </a:p>
          <a:p>
            <a:r>
              <a:rPr lang="it-IT" sz="2400" dirty="0">
                <a:solidFill>
                  <a:schemeClr val="accent5"/>
                </a:solidFill>
              </a:rPr>
              <a:t>        for (var i = 0; i &lt; </a:t>
            </a:r>
            <a:r>
              <a:rPr lang="it-IT" sz="2400" dirty="0" err="1">
                <a:solidFill>
                  <a:schemeClr val="accent5"/>
                </a:solidFill>
              </a:rPr>
              <a:t>string.length</a:t>
            </a:r>
            <a:r>
              <a:rPr lang="it-IT" sz="2400" dirty="0">
                <a:solidFill>
                  <a:schemeClr val="accent5"/>
                </a:solidFill>
              </a:rPr>
              <a:t>(); i++) {</a:t>
            </a:r>
          </a:p>
          <a:p>
            <a:r>
              <a:rPr lang="it-IT" sz="2400" dirty="0">
                <a:solidFill>
                  <a:schemeClr val="accent5"/>
                </a:solidFill>
              </a:rPr>
              <a:t>            if (</a:t>
            </a:r>
            <a:r>
              <a:rPr lang="it-IT" sz="2400" dirty="0" err="1">
                <a:solidFill>
                  <a:schemeClr val="accent5"/>
                </a:solidFill>
              </a:rPr>
              <a:t>string.charAt</a:t>
            </a:r>
            <a:r>
              <a:rPr lang="it-IT" sz="2400" dirty="0">
                <a:solidFill>
                  <a:schemeClr val="accent5"/>
                </a:solidFill>
              </a:rPr>
              <a:t>(i) == character) {</a:t>
            </a:r>
          </a:p>
          <a:p>
            <a:r>
              <a:rPr lang="it-IT" sz="2400" dirty="0">
                <a:solidFill>
                  <a:schemeClr val="accent5"/>
                </a:solidFill>
              </a:rPr>
              <a:t>                count++;</a:t>
            </a:r>
          </a:p>
          <a:p>
            <a:r>
              <a:rPr lang="it-IT" sz="2400" dirty="0">
                <a:solidFill>
                  <a:schemeClr val="accent5"/>
                </a:solidFill>
              </a:rPr>
              <a:t>            }</a:t>
            </a:r>
          </a:p>
          <a:p>
            <a:r>
              <a:rPr lang="it-IT" sz="2400" dirty="0">
                <a:solidFill>
                  <a:schemeClr val="accent5"/>
                </a:solidFill>
              </a:rPr>
              <a:t>        }</a:t>
            </a:r>
          </a:p>
          <a:p>
            <a:r>
              <a:rPr lang="it-IT" sz="2400" dirty="0">
                <a:solidFill>
                  <a:schemeClr val="accent5"/>
                </a:solidFill>
              </a:rPr>
              <a:t>        return count;</a:t>
            </a:r>
          </a:p>
          <a:p>
            <a:r>
              <a:rPr lang="it-IT" sz="2400" dirty="0">
                <a:solidFill>
                  <a:schemeClr val="accent5"/>
                </a:solidFill>
              </a:rPr>
              <a:t>    }</a:t>
            </a:r>
          </a:p>
          <a:p>
            <a:r>
              <a:rPr lang="it-IT" sz="2400" dirty="0">
                <a:solidFill>
                  <a:schemeClr val="accent5"/>
                </a:solidFill>
              </a:rPr>
              <a:t>//Potremmo aggiungere altri metodi che fanno operazioni sulle stringhe</a:t>
            </a:r>
          </a:p>
          <a:p>
            <a:r>
              <a:rPr lang="it-IT" sz="2400" dirty="0">
                <a:solidFill>
                  <a:schemeClr val="accent5"/>
                </a:solidFill>
              </a:rPr>
              <a:t>}</a:t>
            </a:r>
          </a:p>
        </p:txBody>
      </p:sp>
      <p:sp>
        <p:nvSpPr>
          <p:cNvPr id="17" name="CasellaDiTesto 16">
            <a:extLst>
              <a:ext uri="{FF2B5EF4-FFF2-40B4-BE49-F238E27FC236}">
                <a16:creationId xmlns:a16="http://schemas.microsoft.com/office/drawing/2014/main" id="{1F7C662C-FB1A-4055-AB1B-D30A1880DE89}"/>
              </a:ext>
            </a:extLst>
          </p:cNvPr>
          <p:cNvSpPr txBox="1"/>
          <p:nvPr/>
        </p:nvSpPr>
        <p:spPr>
          <a:xfrm>
            <a:off x="0" y="5733320"/>
            <a:ext cx="9144000" cy="769441"/>
          </a:xfrm>
          <a:prstGeom prst="rect">
            <a:avLst/>
          </a:prstGeom>
          <a:noFill/>
        </p:spPr>
        <p:txBody>
          <a:bodyPr wrap="square">
            <a:spAutoFit/>
          </a:bodyPr>
          <a:lstStyle/>
          <a:p>
            <a:r>
              <a:rPr lang="it-IT" sz="2200" dirty="0" err="1">
                <a:solidFill>
                  <a:schemeClr val="accent6"/>
                </a:solidFill>
              </a:rPr>
              <a:t>StringUtils.contaOccorrenze</a:t>
            </a:r>
            <a:r>
              <a:rPr lang="it-IT" sz="2200" dirty="0">
                <a:solidFill>
                  <a:schemeClr val="accent6"/>
                </a:solidFill>
              </a:rPr>
              <a:t>("E il naufragar m\'è  dolce in questo mare", 'a’);</a:t>
            </a:r>
          </a:p>
          <a:p>
            <a:r>
              <a:rPr lang="it-IT" sz="2200" dirty="0"/>
              <a:t>Restituisce come risultato 4</a:t>
            </a:r>
          </a:p>
        </p:txBody>
      </p:sp>
    </p:spTree>
    <p:extLst>
      <p:ext uri="{BB962C8B-B14F-4D97-AF65-F5344CB8AC3E}">
        <p14:creationId xmlns:p14="http://schemas.microsoft.com/office/powerpoint/2010/main" val="1122326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908650"/>
          </a:xfrm>
        </p:spPr>
        <p:txBody>
          <a:bodyPr>
            <a:normAutofit/>
          </a:bodyPr>
          <a:lstStyle/>
          <a:p>
            <a:pPr algn="ctr"/>
            <a:r>
              <a:rPr lang="it-IT" dirty="0"/>
              <a:t>Variabili statiche (di classe)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32</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5652150" cy="5472760"/>
          </a:xfrm>
        </p:spPr>
        <p:txBody>
          <a:bodyPr>
            <a:noAutofit/>
          </a:bodyPr>
          <a:lstStyle/>
          <a:p>
            <a:pPr marL="0" indent="0">
              <a:buNone/>
            </a:pPr>
            <a:r>
              <a:rPr lang="it-IT" sz="2000" dirty="0">
                <a:solidFill>
                  <a:schemeClr val="accent5"/>
                </a:solidFill>
              </a:rPr>
              <a:t>public class </a:t>
            </a:r>
            <a:r>
              <a:rPr lang="it-IT" sz="2000" dirty="0" err="1">
                <a:solidFill>
                  <a:schemeClr val="accent5"/>
                </a:solidFill>
              </a:rPr>
              <a:t>ClasseDiEsempio</a:t>
            </a:r>
            <a:r>
              <a:rPr lang="it-IT" sz="2000" dirty="0">
                <a:solidFill>
                  <a:schemeClr val="accent5"/>
                </a:solidFill>
              </a:rPr>
              <a:t> {</a:t>
            </a:r>
          </a:p>
          <a:p>
            <a:pPr marL="0" indent="0">
              <a:buNone/>
            </a:pPr>
            <a:r>
              <a:rPr lang="it-IT" sz="2000" dirty="0">
                <a:solidFill>
                  <a:schemeClr val="accent5"/>
                </a:solidFill>
              </a:rPr>
              <a:t>    public static int a = 0;</a:t>
            </a:r>
          </a:p>
          <a:p>
            <a:pPr marL="0" indent="0">
              <a:buNone/>
            </a:pPr>
            <a:r>
              <a:rPr lang="it-IT" sz="2000" dirty="0">
                <a:solidFill>
                  <a:schemeClr val="accent5"/>
                </a:solidFill>
              </a:rPr>
              <a:t>}</a:t>
            </a:r>
          </a:p>
          <a:p>
            <a:pPr marL="0" indent="0">
              <a:buNone/>
            </a:pPr>
            <a:r>
              <a:rPr lang="it-IT" sz="2000" dirty="0">
                <a:solidFill>
                  <a:schemeClr val="accent5"/>
                </a:solidFill>
              </a:rPr>
              <a:t>public class </a:t>
            </a:r>
            <a:r>
              <a:rPr lang="it-IT" sz="2000" dirty="0" err="1">
                <a:solidFill>
                  <a:schemeClr val="accent5"/>
                </a:solidFill>
              </a:rPr>
              <a:t>ClasseDiEsempioPrincipale</a:t>
            </a:r>
            <a:r>
              <a:rPr lang="it-IT" sz="2000" dirty="0">
                <a:solidFill>
                  <a:schemeClr val="accent5"/>
                </a:solidFill>
              </a:rPr>
              <a:t> {</a:t>
            </a:r>
          </a:p>
          <a:p>
            <a:pPr marL="0" indent="0">
              <a:buNone/>
            </a:pPr>
            <a:r>
              <a:rPr lang="it-IT" sz="2000" dirty="0">
                <a:solidFill>
                  <a:schemeClr val="accent5"/>
                </a:solidFill>
              </a:rPr>
              <a:t>    public static void main (String args[]) {</a:t>
            </a:r>
          </a:p>
          <a:p>
            <a:pPr marL="0" indent="0">
              <a:buNone/>
            </a:pPr>
            <a:r>
              <a:rPr lang="it-IT" sz="2000" dirty="0">
                <a:solidFill>
                  <a:schemeClr val="accent5"/>
                </a:solidFill>
              </a:rPr>
              <a:t>        System.out.println("a = " + </a:t>
            </a:r>
            <a:r>
              <a:rPr lang="it-IT" sz="2000" dirty="0" err="1">
                <a:solidFill>
                  <a:schemeClr val="accent5"/>
                </a:solidFill>
              </a:rPr>
              <a:t>ClasseDiEsempio.a</a:t>
            </a:r>
            <a:r>
              <a:rPr lang="it-IT" sz="2000" dirty="0">
                <a:solidFill>
                  <a:schemeClr val="accent5"/>
                </a:solidFill>
              </a:rPr>
              <a:t>);</a:t>
            </a:r>
          </a:p>
          <a:p>
            <a:pPr marL="0" indent="0">
              <a:buNone/>
            </a:pPr>
            <a:r>
              <a:rPr lang="it-IT" sz="2000" dirty="0">
                <a:solidFill>
                  <a:schemeClr val="accent5"/>
                </a:solidFill>
              </a:rPr>
              <a:t>        var ogg1 = new </a:t>
            </a:r>
            <a:r>
              <a:rPr lang="it-IT" sz="2000" dirty="0" err="1">
                <a:solidFill>
                  <a:schemeClr val="accent5"/>
                </a:solidFill>
              </a:rPr>
              <a:t>ClasseDiEsempio</a:t>
            </a:r>
            <a:r>
              <a:rPr lang="it-IT" sz="2000" dirty="0">
                <a:solidFill>
                  <a:schemeClr val="accent5"/>
                </a:solidFill>
              </a:rPr>
              <a:t>();</a:t>
            </a:r>
          </a:p>
          <a:p>
            <a:pPr marL="0" indent="0">
              <a:buNone/>
            </a:pPr>
            <a:r>
              <a:rPr lang="it-IT" sz="2000" dirty="0">
                <a:solidFill>
                  <a:schemeClr val="accent5"/>
                </a:solidFill>
              </a:rPr>
              <a:t>        var ogg2 = new </a:t>
            </a:r>
            <a:r>
              <a:rPr lang="it-IT" sz="2000" dirty="0" err="1">
                <a:solidFill>
                  <a:schemeClr val="accent5"/>
                </a:solidFill>
              </a:rPr>
              <a:t>ClasseDiEsempio</a:t>
            </a:r>
            <a:r>
              <a:rPr lang="it-IT" sz="2000" dirty="0">
                <a:solidFill>
                  <a:schemeClr val="accent5"/>
                </a:solidFill>
              </a:rPr>
              <a:t>();</a:t>
            </a:r>
          </a:p>
          <a:p>
            <a:pPr marL="0" indent="0">
              <a:buNone/>
            </a:pPr>
            <a:r>
              <a:rPr lang="it-IT" sz="2000" dirty="0">
                <a:solidFill>
                  <a:schemeClr val="accent5"/>
                </a:solidFill>
              </a:rPr>
              <a:t>        ogg1.a = 10;</a:t>
            </a:r>
          </a:p>
          <a:p>
            <a:pPr marL="0" indent="0">
              <a:buNone/>
            </a:pPr>
            <a:r>
              <a:rPr lang="it-IT" sz="2000" dirty="0">
                <a:solidFill>
                  <a:schemeClr val="accent5"/>
                </a:solidFill>
              </a:rPr>
              <a:t>        System.out.println("ogg1.a = " + ogg1.a);</a:t>
            </a:r>
          </a:p>
          <a:p>
            <a:pPr marL="0" indent="0">
              <a:buNone/>
            </a:pPr>
            <a:r>
              <a:rPr lang="it-IT" sz="2000" dirty="0">
                <a:solidFill>
                  <a:schemeClr val="accent5"/>
                </a:solidFill>
              </a:rPr>
              <a:t>        System.out.println("ogg2.a = " + ogg2.a);</a:t>
            </a:r>
          </a:p>
          <a:p>
            <a:pPr marL="0" indent="0">
              <a:buNone/>
            </a:pPr>
            <a:r>
              <a:rPr lang="it-IT" sz="2000" dirty="0">
                <a:solidFill>
                  <a:schemeClr val="accent5"/>
                </a:solidFill>
              </a:rPr>
              <a:t>        ogg2.a = 20;</a:t>
            </a:r>
          </a:p>
          <a:p>
            <a:pPr marL="0" indent="0">
              <a:buNone/>
            </a:pPr>
            <a:r>
              <a:rPr lang="it-IT" sz="2000" dirty="0">
                <a:solidFill>
                  <a:schemeClr val="accent5"/>
                </a:solidFill>
              </a:rPr>
              <a:t>        System.out.println("ogg1.a = " + ogg1.a);</a:t>
            </a:r>
          </a:p>
          <a:p>
            <a:pPr marL="0" indent="0">
              <a:buNone/>
            </a:pPr>
            <a:r>
              <a:rPr lang="it-IT" sz="2000" dirty="0">
                <a:solidFill>
                  <a:schemeClr val="accent5"/>
                </a:solidFill>
              </a:rPr>
              <a:t>        System.out.println("ogg2.a = " + ogg2.a);</a:t>
            </a:r>
          </a:p>
          <a:p>
            <a:pPr marL="0" indent="0">
              <a:buNone/>
            </a:pPr>
            <a:r>
              <a:rPr lang="it-IT" sz="2000" dirty="0">
                <a:solidFill>
                  <a:schemeClr val="accent5"/>
                </a:solidFill>
              </a:rPr>
              <a:t>    }</a:t>
            </a:r>
          </a:p>
          <a:p>
            <a:pPr marL="0" indent="0">
              <a:buNone/>
            </a:pPr>
            <a:r>
              <a:rPr lang="it-IT" sz="2000" dirty="0">
                <a:solidFill>
                  <a:schemeClr val="accent5"/>
                </a:solidFill>
              </a:rPr>
              <a:t>}</a:t>
            </a:r>
          </a:p>
        </p:txBody>
      </p:sp>
      <p:sp>
        <p:nvSpPr>
          <p:cNvPr id="9" name="CasellaDiTesto 8">
            <a:extLst>
              <a:ext uri="{FF2B5EF4-FFF2-40B4-BE49-F238E27FC236}">
                <a16:creationId xmlns:a16="http://schemas.microsoft.com/office/drawing/2014/main" id="{4F86691F-C10A-4DBE-985C-394DD996DF12}"/>
              </a:ext>
            </a:extLst>
          </p:cNvPr>
          <p:cNvSpPr txBox="1"/>
          <p:nvPr/>
        </p:nvSpPr>
        <p:spPr>
          <a:xfrm>
            <a:off x="6472513" y="2636890"/>
            <a:ext cx="2087329" cy="2677656"/>
          </a:xfrm>
          <a:prstGeom prst="rect">
            <a:avLst/>
          </a:prstGeom>
          <a:noFill/>
        </p:spPr>
        <p:txBody>
          <a:bodyPr wrap="square">
            <a:spAutoFit/>
          </a:bodyPr>
          <a:lstStyle/>
          <a:p>
            <a:r>
              <a:rPr lang="it-IT" sz="2800" dirty="0"/>
              <a:t>Output:</a:t>
            </a:r>
          </a:p>
          <a:p>
            <a:r>
              <a:rPr lang="it-IT" sz="2800" dirty="0">
                <a:solidFill>
                  <a:schemeClr val="accent3"/>
                </a:solidFill>
              </a:rPr>
              <a:t>a = 0</a:t>
            </a:r>
          </a:p>
          <a:p>
            <a:r>
              <a:rPr lang="it-IT" sz="2800" dirty="0">
                <a:solidFill>
                  <a:schemeClr val="accent3"/>
                </a:solidFill>
              </a:rPr>
              <a:t>ogg1.a = 10</a:t>
            </a:r>
          </a:p>
          <a:p>
            <a:r>
              <a:rPr lang="it-IT" sz="2800" dirty="0">
                <a:solidFill>
                  <a:schemeClr val="accent3"/>
                </a:solidFill>
              </a:rPr>
              <a:t>ogg2.a = 10</a:t>
            </a:r>
          </a:p>
          <a:p>
            <a:r>
              <a:rPr lang="it-IT" sz="2800" dirty="0">
                <a:solidFill>
                  <a:schemeClr val="accent3"/>
                </a:solidFill>
              </a:rPr>
              <a:t>ogg1.a = 20</a:t>
            </a:r>
          </a:p>
          <a:p>
            <a:r>
              <a:rPr lang="it-IT" sz="2800" dirty="0">
                <a:solidFill>
                  <a:schemeClr val="accent3"/>
                </a:solidFill>
              </a:rPr>
              <a:t>ogg2.a = 20</a:t>
            </a:r>
          </a:p>
        </p:txBody>
      </p:sp>
    </p:spTree>
    <p:extLst>
      <p:ext uri="{BB962C8B-B14F-4D97-AF65-F5344CB8AC3E}">
        <p14:creationId xmlns:p14="http://schemas.microsoft.com/office/powerpoint/2010/main" val="3307348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908650"/>
          </a:xfrm>
        </p:spPr>
        <p:txBody>
          <a:bodyPr>
            <a:normAutofit/>
          </a:bodyPr>
          <a:lstStyle/>
          <a:p>
            <a:pPr algn="ctr"/>
            <a:r>
              <a:rPr lang="it-IT" dirty="0"/>
              <a:t>Variabili statiche (di classe)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33</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764630"/>
            <a:ext cx="5652150" cy="5544770"/>
          </a:xfrm>
        </p:spPr>
        <p:txBody>
          <a:bodyPr>
            <a:noAutofit/>
          </a:bodyPr>
          <a:lstStyle/>
          <a:p>
            <a:pPr marL="0" indent="0">
              <a:buNone/>
            </a:pPr>
            <a:r>
              <a:rPr lang="it-IT" sz="2200" dirty="0">
                <a:solidFill>
                  <a:schemeClr val="accent5"/>
                </a:solidFill>
              </a:rPr>
              <a:t>public class Counter {</a:t>
            </a:r>
          </a:p>
          <a:p>
            <a:pPr marL="0" indent="0">
              <a:buNone/>
            </a:pPr>
            <a:r>
              <a:rPr lang="it-IT" sz="2200" dirty="0">
                <a:solidFill>
                  <a:schemeClr val="accent5"/>
                </a:solidFill>
              </a:rPr>
              <a:t>    // inizializzazione superflua</a:t>
            </a:r>
          </a:p>
          <a:p>
            <a:pPr marL="0" indent="0">
              <a:buNone/>
            </a:pPr>
            <a:r>
              <a:rPr lang="it-IT" sz="2200" dirty="0">
                <a:solidFill>
                  <a:schemeClr val="accent5"/>
                </a:solidFill>
              </a:rPr>
              <a:t>    private static int counter = 0; </a:t>
            </a:r>
          </a:p>
          <a:p>
            <a:pPr marL="0" indent="0">
              <a:buNone/>
            </a:pPr>
            <a:r>
              <a:rPr lang="it-IT" sz="2200" dirty="0">
                <a:solidFill>
                  <a:schemeClr val="accent5"/>
                </a:solidFill>
              </a:rPr>
              <a:t>    private int </a:t>
            </a:r>
            <a:r>
              <a:rPr lang="it-IT" sz="2200" dirty="0" err="1">
                <a:solidFill>
                  <a:schemeClr val="accent5"/>
                </a:solidFill>
              </a:rPr>
              <a:t>number</a:t>
            </a:r>
            <a:r>
              <a:rPr lang="it-IT" sz="2200" dirty="0">
                <a:solidFill>
                  <a:schemeClr val="accent5"/>
                </a:solidFill>
              </a:rPr>
              <a:t>;</a:t>
            </a:r>
          </a:p>
          <a:p>
            <a:pPr marL="0" indent="0">
              <a:buNone/>
            </a:pPr>
            <a:r>
              <a:rPr lang="it-IT" sz="2200" dirty="0">
                <a:solidFill>
                  <a:schemeClr val="accent5"/>
                </a:solidFill>
              </a:rPr>
              <a:t>    public Counter() {</a:t>
            </a:r>
          </a:p>
          <a:p>
            <a:pPr marL="0" indent="0">
              <a:buNone/>
            </a:pPr>
            <a:r>
              <a:rPr lang="it-IT" sz="2200" dirty="0">
                <a:solidFill>
                  <a:schemeClr val="accent5"/>
                </a:solidFill>
              </a:rPr>
              <a:t>        counter++;</a:t>
            </a:r>
          </a:p>
          <a:p>
            <a:pPr marL="0" indent="0">
              <a:buNone/>
            </a:pPr>
            <a:r>
              <a:rPr lang="it-IT" sz="2200" dirty="0">
                <a:solidFill>
                  <a:schemeClr val="accent5"/>
                </a:solidFill>
              </a:rPr>
              <a:t>        </a:t>
            </a:r>
            <a:r>
              <a:rPr lang="it-IT" sz="2200" dirty="0" err="1">
                <a:solidFill>
                  <a:schemeClr val="accent5"/>
                </a:solidFill>
              </a:rPr>
              <a:t>setNumber</a:t>
            </a:r>
            <a:r>
              <a:rPr lang="it-IT" sz="2200" dirty="0">
                <a:solidFill>
                  <a:schemeClr val="accent5"/>
                </a:solidFill>
              </a:rPr>
              <a:t>(counter);</a:t>
            </a:r>
          </a:p>
          <a:p>
            <a:pPr marL="0" indent="0">
              <a:buNone/>
            </a:pPr>
            <a:r>
              <a:rPr lang="it-IT" sz="2200" dirty="0">
                <a:solidFill>
                  <a:schemeClr val="accent5"/>
                </a:solidFill>
              </a:rPr>
              <a:t>    }</a:t>
            </a:r>
          </a:p>
          <a:p>
            <a:pPr marL="0" indent="0">
              <a:buNone/>
            </a:pPr>
            <a:r>
              <a:rPr lang="it-IT" sz="2200" dirty="0">
                <a:solidFill>
                  <a:schemeClr val="accent5"/>
                </a:solidFill>
              </a:rPr>
              <a:t>    public void </a:t>
            </a:r>
            <a:r>
              <a:rPr lang="it-IT" sz="2200" dirty="0" err="1">
                <a:solidFill>
                  <a:schemeClr val="accent5"/>
                </a:solidFill>
              </a:rPr>
              <a:t>setNumber</a:t>
            </a:r>
            <a:r>
              <a:rPr lang="it-IT" sz="2200" dirty="0">
                <a:solidFill>
                  <a:schemeClr val="accent5"/>
                </a:solidFill>
              </a:rPr>
              <a:t>(int </a:t>
            </a:r>
            <a:r>
              <a:rPr lang="it-IT" sz="2200" dirty="0" err="1">
                <a:solidFill>
                  <a:schemeClr val="accent5"/>
                </a:solidFill>
              </a:rPr>
              <a:t>number</a:t>
            </a:r>
            <a:r>
              <a:rPr lang="it-IT" sz="2200" dirty="0">
                <a:solidFill>
                  <a:schemeClr val="accent5"/>
                </a:solidFill>
              </a:rPr>
              <a:t>) {</a:t>
            </a:r>
          </a:p>
          <a:p>
            <a:pPr marL="0" indent="0">
              <a:buNone/>
            </a:pPr>
            <a:r>
              <a:rPr lang="it-IT" sz="2200" dirty="0">
                <a:solidFill>
                  <a:schemeClr val="accent5"/>
                </a:solidFill>
              </a:rPr>
              <a:t>        </a:t>
            </a:r>
            <a:r>
              <a:rPr lang="it-IT" sz="2200" dirty="0" err="1">
                <a:solidFill>
                  <a:schemeClr val="accent5"/>
                </a:solidFill>
              </a:rPr>
              <a:t>this.number</a:t>
            </a:r>
            <a:r>
              <a:rPr lang="it-IT" sz="2200" dirty="0">
                <a:solidFill>
                  <a:schemeClr val="accent5"/>
                </a:solidFill>
              </a:rPr>
              <a:t> = </a:t>
            </a:r>
            <a:r>
              <a:rPr lang="it-IT" sz="2200" dirty="0" err="1">
                <a:solidFill>
                  <a:schemeClr val="accent5"/>
                </a:solidFill>
              </a:rPr>
              <a:t>number</a:t>
            </a:r>
            <a:r>
              <a:rPr lang="it-IT" sz="2200" dirty="0">
                <a:solidFill>
                  <a:schemeClr val="accent5"/>
                </a:solidFill>
              </a:rPr>
              <a:t>;</a:t>
            </a:r>
          </a:p>
          <a:p>
            <a:pPr marL="0" indent="0">
              <a:buNone/>
            </a:pPr>
            <a:r>
              <a:rPr lang="it-IT" sz="2200" dirty="0">
                <a:solidFill>
                  <a:schemeClr val="accent5"/>
                </a:solidFill>
              </a:rPr>
              <a:t>    }</a:t>
            </a:r>
          </a:p>
          <a:p>
            <a:pPr marL="0" indent="0">
              <a:buNone/>
            </a:pPr>
            <a:r>
              <a:rPr lang="it-IT" sz="2200" dirty="0">
                <a:solidFill>
                  <a:schemeClr val="accent5"/>
                </a:solidFill>
              </a:rPr>
              <a:t>    public int </a:t>
            </a:r>
            <a:r>
              <a:rPr lang="it-IT" sz="2200" dirty="0" err="1">
                <a:solidFill>
                  <a:schemeClr val="accent5"/>
                </a:solidFill>
              </a:rPr>
              <a:t>getNumber</a:t>
            </a:r>
            <a:r>
              <a:rPr lang="it-IT" sz="2200" dirty="0">
                <a:solidFill>
                  <a:schemeClr val="accent5"/>
                </a:solidFill>
              </a:rPr>
              <a:t>() {</a:t>
            </a:r>
          </a:p>
          <a:p>
            <a:pPr marL="0" indent="0">
              <a:buNone/>
            </a:pPr>
            <a:r>
              <a:rPr lang="it-IT" sz="2200" dirty="0">
                <a:solidFill>
                  <a:schemeClr val="accent5"/>
                </a:solidFill>
              </a:rPr>
              <a:t>        return </a:t>
            </a:r>
            <a:r>
              <a:rPr lang="it-IT" sz="2200" dirty="0" err="1">
                <a:solidFill>
                  <a:schemeClr val="accent5"/>
                </a:solidFill>
              </a:rPr>
              <a:t>number</a:t>
            </a:r>
            <a:r>
              <a:rPr lang="it-IT" sz="2200" dirty="0">
                <a:solidFill>
                  <a:schemeClr val="accent5"/>
                </a:solidFill>
              </a:rPr>
              <a:t>;</a:t>
            </a:r>
          </a:p>
          <a:p>
            <a:pPr marL="0" indent="0">
              <a:buNone/>
            </a:pPr>
            <a:r>
              <a:rPr lang="it-IT" sz="2200" dirty="0">
                <a:solidFill>
                  <a:schemeClr val="accent5"/>
                </a:solidFill>
              </a:rPr>
              <a:t>    }</a:t>
            </a:r>
          </a:p>
          <a:p>
            <a:pPr marL="0" indent="0">
              <a:buNone/>
            </a:pPr>
            <a:r>
              <a:rPr lang="it-IT" sz="2200" dirty="0">
                <a:solidFill>
                  <a:schemeClr val="accent5"/>
                </a:solidFill>
              </a:rPr>
              <a:t>}</a:t>
            </a:r>
          </a:p>
        </p:txBody>
      </p:sp>
      <p:sp>
        <p:nvSpPr>
          <p:cNvPr id="9" name="CasellaDiTesto 8">
            <a:extLst>
              <a:ext uri="{FF2B5EF4-FFF2-40B4-BE49-F238E27FC236}">
                <a16:creationId xmlns:a16="http://schemas.microsoft.com/office/drawing/2014/main" id="{4F86691F-C10A-4DBE-985C-394DD996DF12}"/>
              </a:ext>
            </a:extLst>
          </p:cNvPr>
          <p:cNvSpPr txBox="1"/>
          <p:nvPr/>
        </p:nvSpPr>
        <p:spPr>
          <a:xfrm>
            <a:off x="4572000" y="1947668"/>
            <a:ext cx="4572000" cy="3785652"/>
          </a:xfrm>
          <a:prstGeom prst="rect">
            <a:avLst/>
          </a:prstGeom>
          <a:noFill/>
        </p:spPr>
        <p:txBody>
          <a:bodyPr wrap="square">
            <a:spAutoFit/>
          </a:bodyPr>
          <a:lstStyle/>
          <a:p>
            <a:r>
              <a:rPr lang="it-IT" sz="2000" dirty="0">
                <a:solidFill>
                  <a:schemeClr val="accent5"/>
                </a:solidFill>
                <a:effectLst/>
                <a:latin typeface="Courier New" panose="02070309020205020404" pitchFamily="49" charset="0"/>
                <a:ea typeface="Times New Roman" panose="02020603050405020304" pitchFamily="18" charset="0"/>
              </a:rPr>
              <a:t>Counter c1 = new Counter();</a:t>
            </a:r>
          </a:p>
          <a:p>
            <a:r>
              <a:rPr lang="it-IT" sz="2000" dirty="0">
                <a:effectLst/>
                <a:latin typeface="Times New Roman" panose="02020603050405020304" pitchFamily="18" charset="0"/>
                <a:ea typeface="Times New Roman" panose="02020603050405020304" pitchFamily="18" charset="0"/>
              </a:rPr>
              <a:t>La variabile statica </a:t>
            </a:r>
            <a:r>
              <a:rPr lang="it-IT" sz="2000" i="1" dirty="0">
                <a:effectLst/>
                <a:latin typeface="Courier New" panose="02070309020205020404" pitchFamily="49" charset="0"/>
                <a:ea typeface="Times New Roman" panose="02020603050405020304" pitchFamily="18" charset="0"/>
                <a:cs typeface="Courier New" panose="02070309020205020404" pitchFamily="49" charset="0"/>
              </a:rPr>
              <a:t>counter</a:t>
            </a:r>
            <a:r>
              <a:rPr lang="it-IT" sz="2000" dirty="0">
                <a:effectLst/>
                <a:latin typeface="Times New Roman" panose="02020603050405020304" pitchFamily="18" charset="0"/>
                <a:ea typeface="Times New Roman" panose="02020603050405020304" pitchFamily="18" charset="0"/>
              </a:rPr>
              <a:t> varrà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2000" dirty="0">
                <a:effectLst/>
                <a:latin typeface="Times New Roman" panose="02020603050405020304" pitchFamily="18" charset="0"/>
                <a:ea typeface="Times New Roman" panose="02020603050405020304" pitchFamily="18" charset="0"/>
              </a:rPr>
              <a:t> e la variabile </a:t>
            </a:r>
            <a:r>
              <a:rPr lang="it-IT" sz="2000" i="1" dirty="0">
                <a:effectLst/>
                <a:latin typeface="Courier New" panose="02070309020205020404" pitchFamily="49" charset="0"/>
                <a:ea typeface="Times New Roman" panose="02020603050405020304" pitchFamily="18" charset="0"/>
                <a:cs typeface="Courier New" panose="02070309020205020404" pitchFamily="49" charset="0"/>
              </a:rPr>
              <a:t>c1.number</a:t>
            </a:r>
            <a:r>
              <a:rPr lang="it-IT" sz="2000" dirty="0">
                <a:effectLst/>
                <a:latin typeface="Times New Roman" panose="02020603050405020304" pitchFamily="18" charset="0"/>
                <a:ea typeface="Times New Roman" panose="02020603050405020304" pitchFamily="18" charset="0"/>
              </a:rPr>
              <a:t> varrà sempre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2000" dirty="0">
                <a:effectLst/>
                <a:latin typeface="Times New Roman" panose="02020603050405020304" pitchFamily="18" charset="0"/>
                <a:ea typeface="Times New Roman" panose="02020603050405020304" pitchFamily="18" charset="0"/>
              </a:rPr>
              <a:t>. </a:t>
            </a:r>
            <a:br>
              <a:rPr lang="it-IT" sz="2000" dirty="0">
                <a:effectLst/>
                <a:latin typeface="Times New Roman" panose="02020603050405020304" pitchFamily="18" charset="0"/>
                <a:ea typeface="Times New Roman" panose="02020603050405020304" pitchFamily="18" charset="0"/>
              </a:rPr>
            </a:br>
            <a:r>
              <a:rPr lang="it-IT" sz="2000" dirty="0">
                <a:effectLst/>
                <a:latin typeface="Times New Roman" panose="02020603050405020304" pitchFamily="18" charset="0"/>
                <a:ea typeface="Times New Roman" panose="02020603050405020304" pitchFamily="18" charset="0"/>
              </a:rPr>
              <a:t>Se poi istanziamo un altro oggetto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Counter</a:t>
            </a:r>
            <a:r>
              <a:rPr lang="it-IT" sz="2000" dirty="0">
                <a:effectLst/>
                <a:latin typeface="Times New Roman" panose="02020603050405020304" pitchFamily="18" charset="0"/>
                <a:ea typeface="Times New Roman" panose="02020603050405020304" pitchFamily="18" charset="0"/>
              </a:rPr>
              <a:t>:</a:t>
            </a:r>
          </a:p>
          <a:p>
            <a:r>
              <a:rPr lang="it-IT" sz="2000" dirty="0">
                <a:solidFill>
                  <a:schemeClr val="accent5"/>
                </a:solidFill>
                <a:effectLst/>
                <a:latin typeface="Courier New" panose="02070309020205020404" pitchFamily="49" charset="0"/>
                <a:ea typeface="Times New Roman" panose="02020603050405020304" pitchFamily="18" charset="0"/>
              </a:rPr>
              <a:t>Counter c2 = new Counter();</a:t>
            </a:r>
          </a:p>
          <a:p>
            <a:r>
              <a:rPr lang="it-IT" sz="2000" dirty="0">
                <a:effectLst/>
                <a:latin typeface="Times New Roman" panose="02020603050405020304" pitchFamily="18" charset="0"/>
                <a:ea typeface="Times New Roman" panose="02020603050405020304" pitchFamily="18" charset="0"/>
              </a:rPr>
              <a:t>allora la variabile statica </a:t>
            </a:r>
            <a:r>
              <a:rPr lang="it-IT" sz="2000" i="1" dirty="0">
                <a:effectLst/>
                <a:latin typeface="Courier New" panose="02070309020205020404" pitchFamily="49" charset="0"/>
                <a:ea typeface="Times New Roman" panose="02020603050405020304" pitchFamily="18" charset="0"/>
                <a:cs typeface="Courier New" panose="02070309020205020404" pitchFamily="49" charset="0"/>
              </a:rPr>
              <a:t>counter</a:t>
            </a:r>
            <a:r>
              <a:rPr lang="it-IT" sz="2000" dirty="0">
                <a:effectLst/>
                <a:latin typeface="Times New Roman" panose="02020603050405020304" pitchFamily="18" charset="0"/>
                <a:ea typeface="Times New Roman" panose="02020603050405020304" pitchFamily="18" charset="0"/>
              </a:rPr>
              <a:t> varrà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2000" dirty="0">
                <a:effectLst/>
                <a:latin typeface="Times New Roman" panose="02020603050405020304" pitchFamily="18" charset="0"/>
                <a:ea typeface="Times New Roman" panose="02020603050405020304" pitchFamily="18" charset="0"/>
              </a:rPr>
              <a:t>. Infatti, essendo condivisa da tutte le istanze della classe, non viene azzerata nuovamente per ogni istanza. Invece la variabile </a:t>
            </a:r>
            <a:r>
              <a:rPr lang="it-IT" sz="2000" i="1" dirty="0">
                <a:effectLst/>
                <a:latin typeface="Courier New" panose="02070309020205020404" pitchFamily="49" charset="0"/>
                <a:ea typeface="Times New Roman" panose="02020603050405020304" pitchFamily="18" charset="0"/>
                <a:cs typeface="Courier New" panose="02070309020205020404" pitchFamily="49" charset="0"/>
              </a:rPr>
              <a:t>c1.number</a:t>
            </a:r>
            <a:r>
              <a:rPr lang="it-IT" sz="2000" dirty="0">
                <a:effectLst/>
                <a:latin typeface="Times New Roman" panose="02020603050405020304" pitchFamily="18" charset="0"/>
                <a:ea typeface="Times New Roman" panose="02020603050405020304" pitchFamily="18" charset="0"/>
              </a:rPr>
              <a:t> varrà sempre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2000" dirty="0">
                <a:effectLst/>
                <a:latin typeface="Times New Roman" panose="02020603050405020304" pitchFamily="18" charset="0"/>
                <a:ea typeface="Times New Roman" panose="02020603050405020304" pitchFamily="18" charset="0"/>
              </a:rPr>
              <a:t>, mentre la variabile </a:t>
            </a:r>
            <a:r>
              <a:rPr lang="it-IT" sz="2000" i="1" dirty="0">
                <a:effectLst/>
                <a:latin typeface="Courier New" panose="02070309020205020404" pitchFamily="49" charset="0"/>
                <a:ea typeface="Times New Roman" panose="02020603050405020304" pitchFamily="18" charset="0"/>
                <a:cs typeface="Courier New" panose="02070309020205020404" pitchFamily="49" charset="0"/>
              </a:rPr>
              <a:t>c2.number</a:t>
            </a:r>
            <a:r>
              <a:rPr lang="it-IT" sz="2000" dirty="0">
                <a:effectLst/>
                <a:latin typeface="Times New Roman" panose="02020603050405020304" pitchFamily="18" charset="0"/>
                <a:ea typeface="Times New Roman" panose="02020603050405020304" pitchFamily="18" charset="0"/>
              </a:rPr>
              <a:t> varrà </a:t>
            </a:r>
            <a:r>
              <a:rPr lang="it-IT" sz="20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20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139329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908650"/>
          </a:xfrm>
        </p:spPr>
        <p:txBody>
          <a:bodyPr>
            <a:normAutofit/>
          </a:bodyPr>
          <a:lstStyle/>
          <a:p>
            <a:pPr algn="ctr"/>
            <a:r>
              <a:rPr lang="it-IT" dirty="0"/>
              <a:t>Variabili statiche (di classe)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34</a:t>
            </a:fld>
            <a:endParaRPr lang="it-IT"/>
          </a:p>
        </p:txBody>
      </p:sp>
      <p:sp>
        <p:nvSpPr>
          <p:cNvPr id="6" name="Segnaposto contenuto 5">
            <a:extLst>
              <a:ext uri="{FF2B5EF4-FFF2-40B4-BE49-F238E27FC236}">
                <a16:creationId xmlns:a16="http://schemas.microsoft.com/office/drawing/2014/main" id="{B8C96E46-6818-4FF8-BF35-9802798DA8D2}"/>
              </a:ext>
            </a:extLst>
          </p:cNvPr>
          <p:cNvSpPr>
            <a:spLocks noGrp="1"/>
          </p:cNvSpPr>
          <p:nvPr>
            <p:ph idx="1"/>
          </p:nvPr>
        </p:nvSpPr>
        <p:spPr>
          <a:xfrm>
            <a:off x="0" y="1257117"/>
            <a:ext cx="9144000" cy="5196303"/>
          </a:xfrm>
        </p:spPr>
        <p:txBody>
          <a:bodyPr>
            <a:normAutofit lnSpcReduction="10000"/>
          </a:bodyPr>
          <a:lstStyle/>
          <a:p>
            <a:r>
              <a:rPr lang="it-IT" sz="2600" dirty="0"/>
              <a:t>Il modificatore </a:t>
            </a:r>
            <a:r>
              <a:rPr lang="it-IT" sz="2600" i="1" dirty="0"/>
              <a:t>static</a:t>
            </a:r>
            <a:r>
              <a:rPr lang="it-IT" sz="2600" dirty="0"/>
              <a:t> quindi, prescinde dal concetto di oggetto, e lega strettamente le variabili al concetto di classe, che a sua volta si innalza a qualcosa più di un semplice mezzo per definire oggetti. Per tale motivo, a volte ci si riferisce alle variabili d’istanza statiche come </a:t>
            </a:r>
            <a:r>
              <a:rPr lang="it-IT" sz="2600" b="1" dirty="0"/>
              <a:t>variabili di classe</a:t>
            </a:r>
            <a:r>
              <a:rPr lang="it-IT" sz="2600" dirty="0"/>
              <a:t>.</a:t>
            </a:r>
          </a:p>
          <a:p>
            <a:r>
              <a:rPr lang="it-IT" sz="2600" dirty="0"/>
              <a:t>Una variabile dichiarata </a:t>
            </a:r>
            <a:r>
              <a:rPr lang="it-IT" sz="2600" i="1" dirty="0"/>
              <a:t>static</a:t>
            </a:r>
            <a:r>
              <a:rPr lang="it-IT" sz="2600" dirty="0"/>
              <a:t> e </a:t>
            </a:r>
            <a:r>
              <a:rPr lang="it-IT" sz="2600" i="1" dirty="0"/>
              <a:t>public</a:t>
            </a:r>
            <a:r>
              <a:rPr lang="it-IT" sz="2600" dirty="0"/>
              <a:t> può considerarsi una sorta di </a:t>
            </a:r>
            <a:r>
              <a:rPr lang="it-IT" sz="2600" b="1" dirty="0"/>
              <a:t>variabile globale</a:t>
            </a:r>
            <a:r>
              <a:rPr lang="it-IT" sz="2600" dirty="0"/>
              <a:t>. Le variabili globali rappresentano una scorciatoia per i programmatori, ma sono difficili da gestire e per questo sono a ragione considerate esempio di cattiva progettazione. Questo tipo di approccio alle variabili quindi va evitato. </a:t>
            </a:r>
          </a:p>
          <a:p>
            <a:r>
              <a:rPr lang="it-IT" sz="2600" dirty="0"/>
              <a:t>Spesso però, utile utilizzare </a:t>
            </a:r>
            <a:r>
              <a:rPr lang="it-IT" sz="2600" b="1" dirty="0"/>
              <a:t>costanti globali</a:t>
            </a:r>
            <a:r>
              <a:rPr lang="it-IT" sz="2600" dirty="0"/>
              <a:t>, definite con </a:t>
            </a:r>
            <a:r>
              <a:rPr lang="it-IT" sz="2600" i="1" dirty="0"/>
              <a:t>public</a:t>
            </a:r>
            <a:r>
              <a:rPr lang="it-IT" sz="2600" dirty="0"/>
              <a:t>, </a:t>
            </a:r>
            <a:r>
              <a:rPr lang="it-IT" sz="2600" i="1" dirty="0"/>
              <a:t>static</a:t>
            </a:r>
            <a:r>
              <a:rPr lang="it-IT" sz="2600" dirty="0"/>
              <a:t> e </a:t>
            </a:r>
            <a:r>
              <a:rPr lang="it-IT" sz="2600" i="1" dirty="0"/>
              <a:t>final</a:t>
            </a:r>
            <a:r>
              <a:rPr lang="it-IT" sz="2600" dirty="0"/>
              <a:t>. Per esempio la classe </a:t>
            </a:r>
            <a:r>
              <a:rPr lang="it-IT" sz="2600" i="1" dirty="0"/>
              <a:t>Math</a:t>
            </a:r>
            <a:r>
              <a:rPr lang="it-IT" sz="2600" dirty="0"/>
              <a:t> definisce due costanti statiche pubbliche: </a:t>
            </a:r>
            <a:r>
              <a:rPr lang="it-IT" sz="2600" i="1" dirty="0"/>
              <a:t>PI</a:t>
            </a:r>
            <a:r>
              <a:rPr lang="it-IT" sz="2600" dirty="0"/>
              <a:t> ed </a:t>
            </a:r>
            <a:r>
              <a:rPr lang="it-IT" sz="2600" i="1" dirty="0"/>
              <a:t>E</a:t>
            </a:r>
            <a:endParaRPr lang="it-IT" sz="2600" dirty="0"/>
          </a:p>
        </p:txBody>
      </p:sp>
    </p:spTree>
    <p:extLst>
      <p:ext uri="{BB962C8B-B14F-4D97-AF65-F5344CB8AC3E}">
        <p14:creationId xmlns:p14="http://schemas.microsoft.com/office/powerpoint/2010/main" val="30981968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908650"/>
          </a:xfrm>
        </p:spPr>
        <p:txBody>
          <a:bodyPr>
            <a:normAutofit/>
          </a:bodyPr>
          <a:lstStyle/>
          <a:p>
            <a:pPr algn="ctr"/>
            <a:r>
              <a:rPr lang="it-IT" dirty="0"/>
              <a:t>Variabili statiche (di classe)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35</a:t>
            </a:fld>
            <a:endParaRPr lang="it-IT"/>
          </a:p>
        </p:txBody>
      </p:sp>
      <p:sp>
        <p:nvSpPr>
          <p:cNvPr id="6" name="Segnaposto contenuto 5">
            <a:extLst>
              <a:ext uri="{FF2B5EF4-FFF2-40B4-BE49-F238E27FC236}">
                <a16:creationId xmlns:a16="http://schemas.microsoft.com/office/drawing/2014/main" id="{B8C96E46-6818-4FF8-BF35-9802798DA8D2}"/>
              </a:ext>
            </a:extLst>
          </p:cNvPr>
          <p:cNvSpPr>
            <a:spLocks noGrp="1"/>
          </p:cNvSpPr>
          <p:nvPr>
            <p:ph idx="1"/>
          </p:nvPr>
        </p:nvSpPr>
        <p:spPr>
          <a:xfrm>
            <a:off x="0" y="764630"/>
            <a:ext cx="9144000" cy="6093369"/>
          </a:xfrm>
        </p:spPr>
        <p:txBody>
          <a:bodyPr>
            <a:normAutofit fontScale="92500" lnSpcReduction="10000"/>
          </a:bodyPr>
          <a:lstStyle/>
          <a:p>
            <a:pPr marL="0" indent="0">
              <a:buNone/>
            </a:pPr>
            <a:r>
              <a:rPr lang="it-IT" dirty="0"/>
              <a:t>Un metodo statico non può utilizzare variabili d’istanza senza utilizzare reference ad oggetti, ma solo variabili statiche (ed ovviamente variabili locali): </a:t>
            </a:r>
            <a:r>
              <a:rPr lang="it-IT" dirty="0">
                <a:solidFill>
                  <a:schemeClr val="accent5"/>
                </a:solidFill>
              </a:rPr>
              <a:t>public class </a:t>
            </a:r>
            <a:r>
              <a:rPr lang="it-IT" dirty="0" err="1">
                <a:solidFill>
                  <a:schemeClr val="accent5"/>
                </a:solidFill>
              </a:rPr>
              <a:t>StaticMethod</a:t>
            </a:r>
            <a:r>
              <a:rPr lang="it-IT" dirty="0">
                <a:solidFill>
                  <a:schemeClr val="accent5"/>
                </a:solidFill>
              </a:rPr>
              <a:t> {</a:t>
            </a:r>
          </a:p>
          <a:p>
            <a:pPr marL="0" indent="0">
              <a:buNone/>
            </a:pPr>
            <a:r>
              <a:rPr lang="it-IT" dirty="0">
                <a:solidFill>
                  <a:schemeClr val="accent5"/>
                </a:solidFill>
              </a:rPr>
              <a:t>    private int </a:t>
            </a:r>
            <a:r>
              <a:rPr lang="it-IT" dirty="0" err="1">
                <a:solidFill>
                  <a:schemeClr val="accent5"/>
                </a:solidFill>
              </a:rPr>
              <a:t>variabileDiIstanza</a:t>
            </a:r>
            <a:r>
              <a:rPr lang="it-IT" dirty="0">
                <a:solidFill>
                  <a:schemeClr val="accent5"/>
                </a:solidFill>
              </a:rPr>
              <a:t>;</a:t>
            </a:r>
          </a:p>
          <a:p>
            <a:pPr marL="0" indent="0">
              <a:buNone/>
            </a:pPr>
            <a:r>
              <a:rPr lang="it-IT" dirty="0">
                <a:solidFill>
                  <a:schemeClr val="accent5"/>
                </a:solidFill>
              </a:rPr>
              <a:t>    private static int </a:t>
            </a:r>
            <a:r>
              <a:rPr lang="it-IT" dirty="0" err="1">
                <a:solidFill>
                  <a:schemeClr val="accent5"/>
                </a:solidFill>
              </a:rPr>
              <a:t>variabileDiClasse</a:t>
            </a:r>
            <a:r>
              <a:rPr lang="it-IT" dirty="0">
                <a:solidFill>
                  <a:schemeClr val="accent5"/>
                </a:solidFill>
              </a:rPr>
              <a:t>;</a:t>
            </a:r>
          </a:p>
          <a:p>
            <a:pPr marL="0" indent="0">
              <a:buNone/>
            </a:pPr>
            <a:r>
              <a:rPr lang="it-IT" dirty="0">
                <a:solidFill>
                  <a:schemeClr val="accent5"/>
                </a:solidFill>
              </a:rPr>
              <a:t>    public static void main(String args[]) {</a:t>
            </a:r>
          </a:p>
          <a:p>
            <a:pPr marL="0" indent="0">
              <a:buNone/>
            </a:pPr>
            <a:r>
              <a:rPr lang="it-IT" dirty="0">
                <a:solidFill>
                  <a:schemeClr val="accent5"/>
                </a:solidFill>
              </a:rPr>
              <a:t>        System.out.println(</a:t>
            </a:r>
            <a:r>
              <a:rPr lang="it-IT" dirty="0" err="1">
                <a:solidFill>
                  <a:schemeClr val="accent5"/>
                </a:solidFill>
              </a:rPr>
              <a:t>variabileDiIstanza</a:t>
            </a:r>
            <a:r>
              <a:rPr lang="it-IT" dirty="0">
                <a:solidFill>
                  <a:schemeClr val="accent5"/>
                </a:solidFill>
              </a:rPr>
              <a:t>);</a:t>
            </a:r>
          </a:p>
          <a:p>
            <a:pPr marL="0" indent="0">
              <a:buNone/>
            </a:pPr>
            <a:r>
              <a:rPr lang="it-IT" dirty="0">
                <a:solidFill>
                  <a:schemeClr val="accent5"/>
                </a:solidFill>
              </a:rPr>
              <a:t>        System.out.println(</a:t>
            </a:r>
            <a:r>
              <a:rPr lang="it-IT" dirty="0" err="1">
                <a:solidFill>
                  <a:schemeClr val="accent5"/>
                </a:solidFill>
              </a:rPr>
              <a:t>variabileDiClasse</a:t>
            </a:r>
            <a:r>
              <a:rPr lang="it-IT" dirty="0">
                <a:solidFill>
                  <a:schemeClr val="accent5"/>
                </a:solidFill>
              </a:rPr>
              <a:t>);</a:t>
            </a:r>
          </a:p>
          <a:p>
            <a:pPr marL="0" indent="0">
              <a:buNone/>
            </a:pPr>
            <a:r>
              <a:rPr lang="it-IT" dirty="0">
                <a:solidFill>
                  <a:schemeClr val="accent5"/>
                </a:solidFill>
              </a:rPr>
              <a:t>        </a:t>
            </a:r>
            <a:r>
              <a:rPr lang="it-IT" dirty="0" err="1">
                <a:solidFill>
                  <a:schemeClr val="accent5"/>
                </a:solidFill>
              </a:rPr>
              <a:t>StaticMethod</a:t>
            </a:r>
            <a:r>
              <a:rPr lang="it-IT" dirty="0">
                <a:solidFill>
                  <a:schemeClr val="accent5"/>
                </a:solidFill>
              </a:rPr>
              <a:t> </a:t>
            </a:r>
            <a:r>
              <a:rPr lang="it-IT" dirty="0" err="1">
                <a:solidFill>
                  <a:schemeClr val="accent5"/>
                </a:solidFill>
              </a:rPr>
              <a:t>staticMethod</a:t>
            </a:r>
            <a:r>
              <a:rPr lang="it-IT" dirty="0">
                <a:solidFill>
                  <a:schemeClr val="accent5"/>
                </a:solidFill>
              </a:rPr>
              <a:t> = new </a:t>
            </a:r>
            <a:r>
              <a:rPr lang="it-IT" dirty="0" err="1">
                <a:solidFill>
                  <a:schemeClr val="accent5"/>
                </a:solidFill>
              </a:rPr>
              <a:t>StaticMethod</a:t>
            </a:r>
            <a:r>
              <a:rPr lang="it-IT" dirty="0">
                <a:solidFill>
                  <a:schemeClr val="accent5"/>
                </a:solidFill>
              </a:rPr>
              <a:t>();</a:t>
            </a:r>
          </a:p>
          <a:p>
            <a:pPr marL="0" indent="0">
              <a:buNone/>
            </a:pPr>
            <a:r>
              <a:rPr lang="it-IT" dirty="0">
                <a:solidFill>
                  <a:schemeClr val="accent5"/>
                </a:solidFill>
              </a:rPr>
              <a:t>        System.out.println(</a:t>
            </a:r>
            <a:r>
              <a:rPr lang="it-IT" dirty="0" err="1">
                <a:solidFill>
                  <a:schemeClr val="accent5"/>
                </a:solidFill>
              </a:rPr>
              <a:t>staticMethod.variabileDiIstanza</a:t>
            </a:r>
            <a:r>
              <a:rPr lang="it-IT" dirty="0">
                <a:solidFill>
                  <a:schemeClr val="accent5"/>
                </a:solidFill>
              </a:rPr>
              <a:t>);    }</a:t>
            </a:r>
          </a:p>
          <a:p>
            <a:pPr marL="0" indent="0">
              <a:buNone/>
            </a:pPr>
            <a:r>
              <a:rPr lang="it-IT" dirty="0">
                <a:solidFill>
                  <a:schemeClr val="accent5"/>
                </a:solidFill>
              </a:rPr>
              <a:t>}</a:t>
            </a:r>
          </a:p>
          <a:p>
            <a:pPr marL="0" indent="0">
              <a:buNone/>
            </a:pPr>
            <a:r>
              <a:rPr lang="it-IT" dirty="0"/>
              <a:t>produrrà il seguente errore in compilazione:</a:t>
            </a:r>
          </a:p>
          <a:p>
            <a:pPr marL="0" indent="0">
              <a:buNone/>
            </a:pPr>
            <a:r>
              <a:rPr lang="it-IT" dirty="0">
                <a:solidFill>
                  <a:schemeClr val="accent3"/>
                </a:solidFill>
              </a:rPr>
              <a:t>non-static </a:t>
            </a:r>
            <a:r>
              <a:rPr lang="it-IT" dirty="0" err="1">
                <a:solidFill>
                  <a:schemeClr val="accent3"/>
                </a:solidFill>
              </a:rPr>
              <a:t>variable</a:t>
            </a:r>
            <a:r>
              <a:rPr lang="it-IT" dirty="0">
                <a:solidFill>
                  <a:schemeClr val="accent3"/>
                </a:solidFill>
              </a:rPr>
              <a:t> </a:t>
            </a:r>
            <a:r>
              <a:rPr lang="it-IT" dirty="0" err="1">
                <a:solidFill>
                  <a:schemeClr val="accent3"/>
                </a:solidFill>
              </a:rPr>
              <a:t>variabileDiIstanza</a:t>
            </a:r>
            <a:r>
              <a:rPr lang="it-IT" dirty="0">
                <a:solidFill>
                  <a:schemeClr val="accent3"/>
                </a:solidFill>
              </a:rPr>
              <a:t> </a:t>
            </a:r>
            <a:r>
              <a:rPr lang="it-IT" dirty="0" err="1">
                <a:solidFill>
                  <a:schemeClr val="accent3"/>
                </a:solidFill>
              </a:rPr>
              <a:t>cannot</a:t>
            </a:r>
            <a:r>
              <a:rPr lang="it-IT" dirty="0">
                <a:solidFill>
                  <a:schemeClr val="accent3"/>
                </a:solidFill>
              </a:rPr>
              <a:t> be </a:t>
            </a:r>
            <a:r>
              <a:rPr lang="it-IT" dirty="0" err="1">
                <a:solidFill>
                  <a:schemeClr val="accent3"/>
                </a:solidFill>
              </a:rPr>
              <a:t>referenced</a:t>
            </a:r>
            <a:r>
              <a:rPr lang="it-IT" dirty="0">
                <a:solidFill>
                  <a:schemeClr val="accent3"/>
                </a:solidFill>
              </a:rPr>
              <a:t> from a static </a:t>
            </a:r>
            <a:r>
              <a:rPr lang="it-IT" dirty="0" err="1">
                <a:solidFill>
                  <a:schemeClr val="accent3"/>
                </a:solidFill>
              </a:rPr>
              <a:t>context</a:t>
            </a:r>
            <a:endParaRPr lang="it-IT" dirty="0">
              <a:solidFill>
                <a:schemeClr val="accent3"/>
              </a:solidFill>
            </a:endParaRPr>
          </a:p>
          <a:p>
            <a:pPr marL="0" indent="0">
              <a:buNone/>
            </a:pPr>
            <a:r>
              <a:rPr lang="it-IT" dirty="0">
                <a:solidFill>
                  <a:schemeClr val="accent3"/>
                </a:solidFill>
              </a:rPr>
              <a:t>        System.out.println(</a:t>
            </a:r>
            <a:r>
              <a:rPr lang="it-IT" dirty="0" err="1">
                <a:solidFill>
                  <a:schemeClr val="accent3"/>
                </a:solidFill>
              </a:rPr>
              <a:t>variabileDiIstanza</a:t>
            </a:r>
            <a:r>
              <a:rPr lang="it-IT" dirty="0">
                <a:solidFill>
                  <a:schemeClr val="accent3"/>
                </a:solidFill>
              </a:rPr>
              <a:t>);</a:t>
            </a:r>
          </a:p>
          <a:p>
            <a:pPr marL="0" indent="0">
              <a:buNone/>
            </a:pPr>
            <a:r>
              <a:rPr lang="it-IT" dirty="0">
                <a:solidFill>
                  <a:schemeClr val="accent3"/>
                </a:solidFill>
              </a:rPr>
              <a:t>                           ^</a:t>
            </a:r>
          </a:p>
          <a:p>
            <a:pPr marL="0" indent="0">
              <a:buNone/>
            </a:pPr>
            <a:r>
              <a:rPr lang="it-IT" dirty="0">
                <a:solidFill>
                  <a:schemeClr val="accent3"/>
                </a:solidFill>
              </a:rPr>
              <a:t>1 error</a:t>
            </a:r>
          </a:p>
        </p:txBody>
      </p:sp>
    </p:spTree>
    <p:extLst>
      <p:ext uri="{BB962C8B-B14F-4D97-AF65-F5344CB8AC3E}">
        <p14:creationId xmlns:p14="http://schemas.microsoft.com/office/powerpoint/2010/main" val="244806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908650"/>
          </a:xfrm>
        </p:spPr>
        <p:txBody>
          <a:bodyPr>
            <a:normAutofit/>
          </a:bodyPr>
          <a:lstStyle/>
          <a:p>
            <a:pPr algn="ctr"/>
            <a:r>
              <a:rPr lang="it-IT" dirty="0"/>
              <a:t>Variabili statiche (di classe)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36</a:t>
            </a:fld>
            <a:endParaRPr lang="it-IT"/>
          </a:p>
        </p:txBody>
      </p:sp>
      <p:sp>
        <p:nvSpPr>
          <p:cNvPr id="6" name="Segnaposto contenuto 5">
            <a:extLst>
              <a:ext uri="{FF2B5EF4-FFF2-40B4-BE49-F238E27FC236}">
                <a16:creationId xmlns:a16="http://schemas.microsoft.com/office/drawing/2014/main" id="{B8C96E46-6818-4FF8-BF35-9802798DA8D2}"/>
              </a:ext>
            </a:extLst>
          </p:cNvPr>
          <p:cNvSpPr>
            <a:spLocks noGrp="1"/>
          </p:cNvSpPr>
          <p:nvPr>
            <p:ph idx="1"/>
          </p:nvPr>
        </p:nvSpPr>
        <p:spPr>
          <a:xfrm>
            <a:off x="0" y="1124680"/>
            <a:ext cx="9144000" cy="5733319"/>
          </a:xfrm>
        </p:spPr>
        <p:txBody>
          <a:bodyPr>
            <a:normAutofit/>
          </a:bodyPr>
          <a:lstStyle/>
          <a:p>
            <a:r>
              <a:rPr lang="it-IT" dirty="0"/>
              <a:t>Abbiamo già inconsapevolmente usato una variabile statica, più e più volte: la variabile </a:t>
            </a:r>
            <a:r>
              <a:rPr lang="it-IT" i="1" dirty="0"/>
              <a:t>System.out</a:t>
            </a:r>
            <a:r>
              <a:rPr lang="it-IT" dirty="0"/>
              <a:t>. </a:t>
            </a:r>
          </a:p>
          <a:p>
            <a:r>
              <a:rPr lang="it-IT" dirty="0"/>
              <a:t>Infatti </a:t>
            </a:r>
            <a:r>
              <a:rPr lang="it-IT" i="1" dirty="0"/>
              <a:t>out</a:t>
            </a:r>
            <a:r>
              <a:rPr lang="it-IT" dirty="0"/>
              <a:t> è una variabile statica della classe </a:t>
            </a:r>
            <a:r>
              <a:rPr lang="it-IT" i="1" dirty="0"/>
              <a:t>System</a:t>
            </a:r>
            <a:r>
              <a:rPr lang="it-IT" dirty="0"/>
              <a:t> (appartenente al package </a:t>
            </a:r>
            <a:r>
              <a:rPr lang="it-IT" i="1" dirty="0"/>
              <a:t>java.lang</a:t>
            </a:r>
            <a:r>
              <a:rPr lang="it-IT" dirty="0"/>
              <a:t>). Si tratta di una variabile di tipo </a:t>
            </a:r>
            <a:r>
              <a:rPr lang="it-IT" i="1" dirty="0"/>
              <a:t>PrintStream</a:t>
            </a:r>
            <a:r>
              <a:rPr lang="it-IT" dirty="0"/>
              <a:t> (package </a:t>
            </a:r>
            <a:r>
              <a:rPr lang="it-IT" i="1" dirty="0"/>
              <a:t>java.io</a:t>
            </a:r>
            <a:r>
              <a:rPr lang="it-IT" dirty="0"/>
              <a:t>) che è un tipo di classe che permette di stampare (</a:t>
            </a:r>
            <a:r>
              <a:rPr lang="it-IT" dirty="0" err="1"/>
              <a:t>print</a:t>
            </a:r>
            <a:r>
              <a:rPr lang="it-IT" dirty="0"/>
              <a:t>) un flusso (stream) di dati su una certa destinazione (</a:t>
            </a:r>
            <a:r>
              <a:rPr lang="it-IT" i="1" dirty="0"/>
              <a:t>System.out</a:t>
            </a:r>
            <a:r>
              <a:rPr lang="it-IT" dirty="0"/>
              <a:t>), ed è questa classe che dichiara il metodo </a:t>
            </a:r>
            <a:r>
              <a:rPr lang="it-IT" i="1" dirty="0"/>
              <a:t>println</a:t>
            </a:r>
            <a:r>
              <a:rPr lang="it-IT" dirty="0"/>
              <a:t> che abbiamo utilizzato sinora (cfr. documentazione ufficiale).</a:t>
            </a:r>
          </a:p>
          <a:p>
            <a:r>
              <a:rPr lang="it-IT" dirty="0"/>
              <a:t>In particolare l’oggetto </a:t>
            </a:r>
            <a:r>
              <a:rPr lang="it-IT" i="1" dirty="0"/>
              <a:t>System.out</a:t>
            </a:r>
            <a:r>
              <a:rPr lang="it-IT" dirty="0"/>
              <a:t>, rappresenta l’output standard del sistema, ovvero, nel caso di Windows, rappresenta la prompt dei comandi. Ecco perché una chiamata a </a:t>
            </a:r>
            <a:r>
              <a:rPr lang="it-IT" i="1" dirty="0"/>
              <a:t>System.out.println</a:t>
            </a:r>
            <a:r>
              <a:rPr lang="it-IT" dirty="0"/>
              <a:t> stampa il risultato sulla prompt dei comandi.</a:t>
            </a:r>
          </a:p>
          <a:p>
            <a:r>
              <a:rPr lang="it-IT" dirty="0"/>
              <a:t>Esistono anche le variabili </a:t>
            </a:r>
            <a:r>
              <a:rPr lang="it-IT" i="1" dirty="0"/>
              <a:t>System.in</a:t>
            </a:r>
            <a:r>
              <a:rPr lang="it-IT" dirty="0"/>
              <a:t> e </a:t>
            </a:r>
            <a:r>
              <a:rPr lang="it-IT" i="1" dirty="0"/>
              <a:t>System.err</a:t>
            </a:r>
            <a:r>
              <a:rPr lang="it-IT" dirty="0"/>
              <a:t>, ed i metodi statici </a:t>
            </a:r>
            <a:r>
              <a:rPr lang="it-IT" i="1" dirty="0" err="1"/>
              <a:t>System.setOut</a:t>
            </a:r>
            <a:r>
              <a:rPr lang="it-IT" dirty="0"/>
              <a:t>, </a:t>
            </a:r>
            <a:r>
              <a:rPr lang="it-IT" i="1" dirty="0" err="1"/>
              <a:t>System.setIn</a:t>
            </a:r>
            <a:r>
              <a:rPr lang="it-IT" dirty="0"/>
              <a:t> e </a:t>
            </a:r>
            <a:r>
              <a:rPr lang="it-IT" i="1" dirty="0" err="1"/>
              <a:t>System.setErr</a:t>
            </a:r>
            <a:endParaRPr lang="it-IT" i="1" dirty="0"/>
          </a:p>
        </p:txBody>
      </p:sp>
    </p:spTree>
    <p:extLst>
      <p:ext uri="{BB962C8B-B14F-4D97-AF65-F5344CB8AC3E}">
        <p14:creationId xmlns:p14="http://schemas.microsoft.com/office/powerpoint/2010/main" val="1402573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import</a:t>
            </a:r>
            <a:r>
              <a:rPr lang="it-IT" dirty="0"/>
              <a:t> statici</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pPr marL="171450" indent="-171450">
              <a:buFont typeface="Arial" panose="020B0604020202020204" pitchFamily="34" charset="0"/>
              <a:buChar char="•"/>
            </a:pPr>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pPr marL="171450" indent="-171450">
              <a:buFont typeface="Arial" panose="020B0604020202020204" pitchFamily="34" charset="0"/>
              <a:buChar char="•"/>
            </a:pPr>
            <a:fld id="{EA83E0A8-4958-4553-8C1A-CC59A6ABE123}" type="slidenum">
              <a:rPr lang="it-IT" smtClean="0"/>
              <a:pPr marL="171450" indent="-171450">
                <a:buFont typeface="Arial" panose="020B0604020202020204" pitchFamily="34" charset="0"/>
                <a:buChar char="•"/>
              </a:pPr>
              <a:t>37</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1" y="1196690"/>
            <a:ext cx="9144001" cy="5472760"/>
          </a:xfrm>
        </p:spPr>
        <p:txBody>
          <a:bodyPr>
            <a:noAutofit/>
          </a:bodyPr>
          <a:lstStyle/>
          <a:p>
            <a:r>
              <a:rPr lang="it-IT" dirty="0">
                <a:solidFill>
                  <a:schemeClr val="tx1"/>
                </a:solidFill>
              </a:rPr>
              <a:t>È possibile importare all’interno dei nostri file i nomi dei tipi, in modo tale che si possano poi usare senza dover specificare l’intero </a:t>
            </a:r>
            <a:r>
              <a:rPr lang="it-IT" i="1" dirty="0">
                <a:solidFill>
                  <a:schemeClr val="tx1"/>
                </a:solidFill>
              </a:rPr>
              <a:t>fully qualified name</a:t>
            </a:r>
            <a:r>
              <a:rPr lang="it-IT" dirty="0">
                <a:solidFill>
                  <a:schemeClr val="tx1"/>
                </a:solidFill>
              </a:rPr>
              <a:t> (nome completo di package). Per esempio, volendo utilizzare la classe </a:t>
            </a:r>
            <a:r>
              <a:rPr lang="it-IT" i="1" dirty="0" err="1">
                <a:solidFill>
                  <a:schemeClr val="tx1"/>
                </a:solidFill>
              </a:rPr>
              <a:t>DOMSource</a:t>
            </a:r>
            <a:r>
              <a:rPr lang="it-IT" dirty="0">
                <a:solidFill>
                  <a:schemeClr val="tx1"/>
                </a:solidFill>
              </a:rPr>
              <a:t> del package </a:t>
            </a:r>
            <a:r>
              <a:rPr lang="it-IT" i="1" dirty="0" err="1">
                <a:solidFill>
                  <a:schemeClr val="tx1"/>
                </a:solidFill>
              </a:rPr>
              <a:t>javax.xml.transform.dom</a:t>
            </a:r>
            <a:r>
              <a:rPr lang="it-IT" dirty="0">
                <a:solidFill>
                  <a:schemeClr val="tx1"/>
                </a:solidFill>
              </a:rPr>
              <a:t>, abbiamo due possibilità:</a:t>
            </a:r>
          </a:p>
          <a:p>
            <a:pPr lvl="1"/>
            <a:r>
              <a:rPr lang="it-IT" sz="2400" dirty="0">
                <a:solidFill>
                  <a:schemeClr val="tx1"/>
                </a:solidFill>
              </a:rPr>
              <a:t>Importiamo la classe con un’istruzione come la seguente:</a:t>
            </a:r>
          </a:p>
          <a:p>
            <a:pPr marL="0" indent="0">
              <a:buNone/>
            </a:pPr>
            <a:r>
              <a:rPr lang="it-IT" dirty="0">
                <a:solidFill>
                  <a:schemeClr val="accent5"/>
                </a:solidFill>
              </a:rPr>
              <a:t>import </a:t>
            </a:r>
            <a:r>
              <a:rPr lang="it-IT" dirty="0" err="1">
                <a:solidFill>
                  <a:schemeClr val="accent5"/>
                </a:solidFill>
              </a:rPr>
              <a:t>javax.xml.transform.dom.DOMSource</a:t>
            </a:r>
            <a:r>
              <a:rPr lang="it-IT" dirty="0">
                <a:solidFill>
                  <a:schemeClr val="accent5"/>
                </a:solidFill>
              </a:rPr>
              <a:t>;</a:t>
            </a:r>
          </a:p>
          <a:p>
            <a:pPr marL="0" indent="0">
              <a:buNone/>
            </a:pPr>
            <a:r>
              <a:rPr lang="it-IT" dirty="0">
                <a:solidFill>
                  <a:schemeClr val="tx1"/>
                </a:solidFill>
              </a:rPr>
              <a:t>per poi sfruttarla nel nostro file sorgente utilizzandone solo il nome:</a:t>
            </a:r>
          </a:p>
          <a:p>
            <a:pPr marL="0" indent="0">
              <a:buNone/>
            </a:pPr>
            <a:r>
              <a:rPr lang="it-IT" dirty="0" err="1">
                <a:solidFill>
                  <a:schemeClr val="accent5"/>
                </a:solidFill>
              </a:rPr>
              <a:t>DOMSource</a:t>
            </a:r>
            <a:r>
              <a:rPr lang="it-IT" dirty="0">
                <a:solidFill>
                  <a:schemeClr val="accent5"/>
                </a:solidFill>
              </a:rPr>
              <a:t> source = new </a:t>
            </a:r>
            <a:r>
              <a:rPr lang="it-IT" dirty="0" err="1">
                <a:solidFill>
                  <a:schemeClr val="accent5"/>
                </a:solidFill>
              </a:rPr>
              <a:t>DOMSource</a:t>
            </a:r>
            <a:r>
              <a:rPr lang="it-IT" dirty="0">
                <a:solidFill>
                  <a:schemeClr val="accent5"/>
                </a:solidFill>
              </a:rPr>
              <a:t>();</a:t>
            </a:r>
          </a:p>
          <a:p>
            <a:pPr lvl="1"/>
            <a:r>
              <a:rPr lang="it-IT" sz="2400" dirty="0">
                <a:solidFill>
                  <a:schemeClr val="tx1"/>
                </a:solidFill>
              </a:rPr>
              <a:t>Oppure possiamo scrivere il nome completo di package ogni volta che la utilizziamo. Per esempio:</a:t>
            </a:r>
          </a:p>
          <a:p>
            <a:pPr marL="0" indent="0">
              <a:buNone/>
            </a:pPr>
            <a:r>
              <a:rPr lang="it-IT" dirty="0" err="1">
                <a:solidFill>
                  <a:schemeClr val="accent5"/>
                </a:solidFill>
              </a:rPr>
              <a:t>javax.xml.transform.dom.DOMSource</a:t>
            </a:r>
            <a:r>
              <a:rPr lang="it-IT" dirty="0">
                <a:solidFill>
                  <a:schemeClr val="accent5"/>
                </a:solidFill>
              </a:rPr>
              <a:t> source = </a:t>
            </a:r>
          </a:p>
          <a:p>
            <a:pPr marL="0" indent="0">
              <a:buNone/>
            </a:pPr>
            <a:r>
              <a:rPr lang="it-IT" dirty="0">
                <a:solidFill>
                  <a:schemeClr val="accent5"/>
                </a:solidFill>
              </a:rPr>
              <a:t>    new </a:t>
            </a:r>
            <a:r>
              <a:rPr lang="it-IT" dirty="0" err="1">
                <a:solidFill>
                  <a:schemeClr val="accent5"/>
                </a:solidFill>
              </a:rPr>
              <a:t>javax.xml.transform.dom.DOMSource</a:t>
            </a:r>
            <a:r>
              <a:rPr lang="it-IT" dirty="0">
                <a:solidFill>
                  <a:schemeClr val="accent5"/>
                </a:solidFill>
              </a:rPr>
              <a:t>();</a:t>
            </a:r>
          </a:p>
        </p:txBody>
      </p:sp>
    </p:spTree>
    <p:extLst>
      <p:ext uri="{BB962C8B-B14F-4D97-AF65-F5344CB8AC3E}">
        <p14:creationId xmlns:p14="http://schemas.microsoft.com/office/powerpoint/2010/main" val="2225323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import</a:t>
            </a:r>
            <a:r>
              <a:rPr lang="it-IT" dirty="0"/>
              <a:t> statici</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pPr marL="171450" indent="-171450">
              <a:buFont typeface="Arial" panose="020B0604020202020204" pitchFamily="34" charset="0"/>
              <a:buChar char="•"/>
            </a:pPr>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pPr marL="171450" indent="-171450">
              <a:buFont typeface="Arial" panose="020B0604020202020204" pitchFamily="34" charset="0"/>
              <a:buChar char="•"/>
            </a:pPr>
            <a:fld id="{EA83E0A8-4958-4553-8C1A-CC59A6ABE123}" type="slidenum">
              <a:rPr lang="it-IT" smtClean="0"/>
              <a:pPr marL="171450" indent="-171450">
                <a:buFont typeface="Arial" panose="020B0604020202020204" pitchFamily="34" charset="0"/>
                <a:buChar char="•"/>
              </a:pPr>
              <a:t>38</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1" y="836640"/>
            <a:ext cx="9144001" cy="5832810"/>
          </a:xfrm>
        </p:spPr>
        <p:txBody>
          <a:bodyPr>
            <a:noAutofit/>
          </a:bodyPr>
          <a:lstStyle/>
          <a:p>
            <a:pPr marL="0" indent="0">
              <a:buNone/>
            </a:pPr>
            <a:r>
              <a:rPr lang="it-IT" dirty="0">
                <a:solidFill>
                  <a:schemeClr val="tx1"/>
                </a:solidFill>
              </a:rPr>
              <a:t>Possiamo importare anche solo ciò che è dichiarato statico all’interno di una certa classe, e non la classe stessa. Per esempio:</a:t>
            </a:r>
          </a:p>
          <a:p>
            <a:pPr marL="0" indent="0">
              <a:buNone/>
            </a:pPr>
            <a:r>
              <a:rPr lang="it-IT" dirty="0">
                <a:solidFill>
                  <a:schemeClr val="accent5"/>
                </a:solidFill>
              </a:rPr>
              <a:t>import static </a:t>
            </a:r>
            <a:r>
              <a:rPr lang="it-IT" dirty="0" err="1">
                <a:solidFill>
                  <a:schemeClr val="accent5"/>
                </a:solidFill>
              </a:rPr>
              <a:t>java.lang.Math</a:t>
            </a:r>
            <a:r>
              <a:rPr lang="it-IT" dirty="0">
                <a:solidFill>
                  <a:schemeClr val="accent5"/>
                </a:solidFill>
              </a:rPr>
              <a:t>.*;</a:t>
            </a:r>
          </a:p>
          <a:p>
            <a:pPr marL="0" indent="0">
              <a:buNone/>
            </a:pPr>
            <a:r>
              <a:rPr lang="it-IT" dirty="0">
                <a:solidFill>
                  <a:schemeClr val="tx1"/>
                </a:solidFill>
              </a:rPr>
              <a:t>Quindi sarà lecito scrivere, in luogo di:</a:t>
            </a:r>
          </a:p>
          <a:p>
            <a:pPr marL="0" indent="0">
              <a:buNone/>
            </a:pPr>
            <a:r>
              <a:rPr lang="it-IT" dirty="0">
                <a:solidFill>
                  <a:schemeClr val="accent5"/>
                </a:solidFill>
              </a:rPr>
              <a:t>double d = </a:t>
            </a:r>
            <a:r>
              <a:rPr lang="it-IT" dirty="0" err="1">
                <a:solidFill>
                  <a:schemeClr val="accent5"/>
                </a:solidFill>
              </a:rPr>
              <a:t>Math.sqrt</a:t>
            </a:r>
            <a:r>
              <a:rPr lang="it-IT" dirty="0">
                <a:solidFill>
                  <a:schemeClr val="accent5"/>
                </a:solidFill>
              </a:rPr>
              <a:t>(4); </a:t>
            </a:r>
            <a:r>
              <a:rPr lang="it-IT" dirty="0">
                <a:solidFill>
                  <a:schemeClr val="tx1"/>
                </a:solidFill>
              </a:rPr>
              <a:t>direttamente: </a:t>
            </a:r>
            <a:r>
              <a:rPr lang="it-IT" dirty="0">
                <a:solidFill>
                  <a:schemeClr val="accent5"/>
                </a:solidFill>
              </a:rPr>
              <a:t>double d = </a:t>
            </a:r>
            <a:r>
              <a:rPr lang="it-IT" dirty="0" err="1">
                <a:solidFill>
                  <a:schemeClr val="accent5"/>
                </a:solidFill>
              </a:rPr>
              <a:t>sqrt</a:t>
            </a:r>
            <a:r>
              <a:rPr lang="it-IT" dirty="0">
                <a:solidFill>
                  <a:schemeClr val="accent5"/>
                </a:solidFill>
              </a:rPr>
              <a:t>(4);</a:t>
            </a:r>
          </a:p>
          <a:p>
            <a:pPr marL="0" indent="0">
              <a:buNone/>
            </a:pPr>
            <a:r>
              <a:rPr lang="it-IT" dirty="0">
                <a:solidFill>
                  <a:schemeClr val="tx1"/>
                </a:solidFill>
              </a:rPr>
              <a:t>È preferibile importare staticamente solo alcuni membri specifici:</a:t>
            </a:r>
          </a:p>
          <a:p>
            <a:pPr marL="0" indent="0">
              <a:buNone/>
            </a:pPr>
            <a:r>
              <a:rPr lang="it-IT" dirty="0">
                <a:solidFill>
                  <a:schemeClr val="accent5"/>
                </a:solidFill>
              </a:rPr>
              <a:t>import static </a:t>
            </a:r>
            <a:r>
              <a:rPr lang="it-IT" dirty="0" err="1">
                <a:solidFill>
                  <a:schemeClr val="accent5"/>
                </a:solidFill>
              </a:rPr>
              <a:t>java.lang.Math.PI</a:t>
            </a:r>
            <a:r>
              <a:rPr lang="it-IT" dirty="0">
                <a:solidFill>
                  <a:schemeClr val="accent5"/>
                </a:solidFill>
              </a:rPr>
              <a:t>;</a:t>
            </a:r>
          </a:p>
          <a:p>
            <a:pPr marL="0" indent="0">
              <a:buNone/>
            </a:pPr>
            <a:r>
              <a:rPr lang="it-IT" dirty="0">
                <a:solidFill>
                  <a:schemeClr val="accent5"/>
                </a:solidFill>
              </a:rPr>
              <a:t>import static </a:t>
            </a:r>
            <a:r>
              <a:rPr lang="it-IT" dirty="0" err="1">
                <a:solidFill>
                  <a:schemeClr val="accent5"/>
                </a:solidFill>
              </a:rPr>
              <a:t>java.lang.Math.random</a:t>
            </a:r>
            <a:r>
              <a:rPr lang="it-IT" dirty="0">
                <a:solidFill>
                  <a:schemeClr val="accent5"/>
                </a:solidFill>
              </a:rPr>
              <a:t>;</a:t>
            </a:r>
          </a:p>
          <a:p>
            <a:pPr marL="0" indent="0">
              <a:buNone/>
            </a:pPr>
            <a:r>
              <a:rPr lang="it-IT" dirty="0">
                <a:solidFill>
                  <a:schemeClr val="accent5"/>
                </a:solidFill>
              </a:rPr>
              <a:t>import static </a:t>
            </a:r>
            <a:r>
              <a:rPr lang="it-IT" dirty="0" err="1">
                <a:solidFill>
                  <a:schemeClr val="accent5"/>
                </a:solidFill>
              </a:rPr>
              <a:t>java.sql.DriverManager.getConnection</a:t>
            </a:r>
            <a:r>
              <a:rPr lang="it-IT" dirty="0">
                <a:solidFill>
                  <a:schemeClr val="accent5"/>
                </a:solidFill>
              </a:rPr>
              <a:t>;</a:t>
            </a:r>
          </a:p>
          <a:p>
            <a:pPr marL="0" indent="0">
              <a:buNone/>
            </a:pPr>
            <a:r>
              <a:rPr lang="it-IT" dirty="0">
                <a:solidFill>
                  <a:schemeClr val="accent5"/>
                </a:solidFill>
              </a:rPr>
              <a:t>import static </a:t>
            </a:r>
            <a:r>
              <a:rPr lang="it-IT" dirty="0" err="1">
                <a:solidFill>
                  <a:schemeClr val="accent5"/>
                </a:solidFill>
              </a:rPr>
              <a:t>java.lang.System.out</a:t>
            </a:r>
            <a:r>
              <a:rPr lang="it-IT" dirty="0">
                <a:solidFill>
                  <a:schemeClr val="accent5"/>
                </a:solidFill>
              </a:rPr>
              <a:t>;</a:t>
            </a:r>
          </a:p>
          <a:p>
            <a:r>
              <a:rPr lang="it-IT" dirty="0">
                <a:solidFill>
                  <a:schemeClr val="tx1"/>
                </a:solidFill>
              </a:rPr>
              <a:t>Si noti come l’import di nomi di metodi statici, non specifichi le parentesi con i relativi argomenti.</a:t>
            </a:r>
          </a:p>
          <a:p>
            <a:r>
              <a:rPr lang="it-IT" dirty="0">
                <a:solidFill>
                  <a:schemeClr val="tx1"/>
                </a:solidFill>
              </a:rPr>
              <a:t>L’utilizzo di import statici non è sempre vantaggioso, e si usano soprattutto con le enumerazioni.</a:t>
            </a:r>
          </a:p>
          <a:p>
            <a:pPr marL="0" indent="0">
              <a:buNone/>
            </a:pPr>
            <a:endParaRPr lang="it-IT" dirty="0">
              <a:solidFill>
                <a:schemeClr val="accent5"/>
              </a:solidFill>
            </a:endParaRPr>
          </a:p>
        </p:txBody>
      </p:sp>
    </p:spTree>
    <p:extLst>
      <p:ext uri="{BB962C8B-B14F-4D97-AF65-F5344CB8AC3E}">
        <p14:creationId xmlns:p14="http://schemas.microsoft.com/office/powerpoint/2010/main" val="1718568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dirty="0"/>
              <a:t>Quando usare </a:t>
            </a:r>
            <a:r>
              <a:rPr lang="it-IT" i="1" dirty="0"/>
              <a:t>static</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39</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1340710"/>
            <a:ext cx="9144000" cy="5517290"/>
          </a:xfrm>
        </p:spPr>
        <p:txBody>
          <a:bodyPr>
            <a:noAutofit/>
          </a:bodyPr>
          <a:lstStyle/>
          <a:p>
            <a:r>
              <a:rPr lang="it-IT" sz="3200" dirty="0">
                <a:solidFill>
                  <a:schemeClr val="tx1"/>
                </a:solidFill>
              </a:rPr>
              <a:t>Si dovrebbe usare solo pin alcune situazioni particolari:</a:t>
            </a:r>
          </a:p>
          <a:p>
            <a:pPr lvl="1"/>
            <a:r>
              <a:rPr lang="it-IT" sz="3200" dirty="0">
                <a:solidFill>
                  <a:schemeClr val="tx1"/>
                </a:solidFill>
              </a:rPr>
              <a:t>Metodi d’utilità statici che non dipendono dallo stato dell’oggetto (ovvero che non utilizzano variabili d’istanza). Spesso creiamo classi d’utilità contenti solo metodi statici (</a:t>
            </a:r>
            <a:r>
              <a:rPr lang="it-IT" sz="3200" i="1" dirty="0">
                <a:solidFill>
                  <a:schemeClr val="tx1"/>
                </a:solidFill>
              </a:rPr>
              <a:t>StringUtils</a:t>
            </a:r>
            <a:r>
              <a:rPr lang="it-IT" sz="3200" dirty="0">
                <a:solidFill>
                  <a:schemeClr val="tx1"/>
                </a:solidFill>
              </a:rPr>
              <a:t>)</a:t>
            </a:r>
          </a:p>
          <a:p>
            <a:pPr lvl="1"/>
            <a:r>
              <a:rPr lang="it-IT" sz="3200" dirty="0">
                <a:solidFill>
                  <a:schemeClr val="tx1"/>
                </a:solidFill>
              </a:rPr>
              <a:t>Costanti globali</a:t>
            </a:r>
          </a:p>
          <a:p>
            <a:pPr lvl="1"/>
            <a:r>
              <a:rPr lang="it-IT" sz="3200" dirty="0">
                <a:solidFill>
                  <a:schemeClr val="tx1"/>
                </a:solidFill>
              </a:rPr>
              <a:t>Per fare dei test</a:t>
            </a:r>
          </a:p>
          <a:p>
            <a:r>
              <a:rPr lang="it-IT" sz="3200" dirty="0">
                <a:solidFill>
                  <a:schemeClr val="tx1"/>
                </a:solidFill>
              </a:rPr>
              <a:t>Alcuni Design Pattern: Singleton</a:t>
            </a:r>
          </a:p>
        </p:txBody>
      </p:sp>
    </p:spTree>
    <p:extLst>
      <p:ext uri="{BB962C8B-B14F-4D97-AF65-F5344CB8AC3E}">
        <p14:creationId xmlns:p14="http://schemas.microsoft.com/office/powerpoint/2010/main" val="1237318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Design pattern</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40</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9143998" cy="6021360"/>
          </a:xfrm>
        </p:spPr>
        <p:txBody>
          <a:bodyPr>
            <a:noAutofit/>
          </a:bodyPr>
          <a:lstStyle/>
          <a:p>
            <a:r>
              <a:rPr lang="it-IT" sz="2800" dirty="0">
                <a:solidFill>
                  <a:schemeClr val="tx1"/>
                </a:solidFill>
              </a:rPr>
              <a:t>I design pattern sono soluzioni progettuali standard applicabili a contesti diversi</a:t>
            </a:r>
          </a:p>
          <a:p>
            <a:r>
              <a:rPr lang="it-IT" sz="2800" dirty="0">
                <a:solidFill>
                  <a:schemeClr val="tx1"/>
                </a:solidFill>
              </a:rPr>
              <a:t>Rappresentano un esempio di riuso di alto livello, non di un metodo o di una classe, ma di una soluzione progettuale (riuso concettuale)</a:t>
            </a:r>
          </a:p>
          <a:p>
            <a:r>
              <a:rPr lang="it-IT" sz="2800" dirty="0">
                <a:solidFill>
                  <a:schemeClr val="tx1"/>
                </a:solidFill>
              </a:rPr>
              <a:t>Se durante la fase di progettazione di un’applicazione si presenta un problema progettuale, è possibile che esista già una soluzione pronta per essere utilizzata: un </a:t>
            </a:r>
            <a:r>
              <a:rPr lang="it-IT" sz="2800" b="1" dirty="0">
                <a:solidFill>
                  <a:schemeClr val="tx1"/>
                </a:solidFill>
              </a:rPr>
              <a:t>design pattern</a:t>
            </a:r>
          </a:p>
          <a:p>
            <a:r>
              <a:rPr lang="it-IT" sz="2800" dirty="0">
                <a:solidFill>
                  <a:schemeClr val="tx1"/>
                </a:solidFill>
              </a:rPr>
              <a:t>Tale soluzione è considerata uno standard, è stata trovata e formalizzata in passato da progettisti esperti, e può essere applicabile nel nostro contesto</a:t>
            </a:r>
          </a:p>
          <a:p>
            <a:r>
              <a:rPr lang="it-IT" sz="2800" dirty="0">
                <a:solidFill>
                  <a:schemeClr val="tx1"/>
                </a:solidFill>
              </a:rPr>
              <a:t>Comprendere un pattern e saperlo applicare, in un contesto non è semplice.</a:t>
            </a:r>
          </a:p>
        </p:txBody>
      </p:sp>
    </p:spTree>
    <p:extLst>
      <p:ext uri="{BB962C8B-B14F-4D97-AF65-F5344CB8AC3E}">
        <p14:creationId xmlns:p14="http://schemas.microsoft.com/office/powerpoint/2010/main" val="1906667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Design pattern: Singleton</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41</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936130"/>
            <a:ext cx="9143998" cy="6021360"/>
          </a:xfrm>
        </p:spPr>
        <p:txBody>
          <a:bodyPr>
            <a:noAutofit/>
          </a:bodyPr>
          <a:lstStyle/>
          <a:p>
            <a:r>
              <a:rPr lang="it-IT" sz="2600" dirty="0">
                <a:solidFill>
                  <a:schemeClr val="tx1"/>
                </a:solidFill>
              </a:rPr>
              <a:t>Se abbiamo la necessità che una classe debba essere istanziata una sola volta, e che quindi tutti gli utilizzatori di questa classe utilizzino sempre la stessa istanza, la soluzione consiste nell’utilizzo del pattern </a:t>
            </a:r>
            <a:r>
              <a:rPr lang="it-IT" sz="2600" b="1" dirty="0">
                <a:solidFill>
                  <a:schemeClr val="tx1"/>
                </a:solidFill>
              </a:rPr>
              <a:t>Singleton</a:t>
            </a:r>
            <a:r>
              <a:rPr lang="it-IT" sz="2600" dirty="0">
                <a:solidFill>
                  <a:schemeClr val="tx1"/>
                </a:solidFill>
              </a:rPr>
              <a:t>. </a:t>
            </a:r>
          </a:p>
          <a:p>
            <a:r>
              <a:rPr lang="it-IT" sz="2600" dirty="0">
                <a:solidFill>
                  <a:schemeClr val="tx1"/>
                </a:solidFill>
              </a:rPr>
              <a:t>L’implementazione classica del pattern Singleton, consiste nel creare una classe che dichiara:</a:t>
            </a:r>
          </a:p>
          <a:p>
            <a:pPr lvl="1"/>
            <a:r>
              <a:rPr lang="it-IT" sz="2600" dirty="0">
                <a:solidFill>
                  <a:schemeClr val="tx1"/>
                </a:solidFill>
              </a:rPr>
              <a:t>un costruttore privato. In questo modo il costruttore che è necessario chiamare per istanziare un oggetto da questa classe è utilizzabile solo all’interno della classe stessa;</a:t>
            </a:r>
          </a:p>
          <a:p>
            <a:pPr lvl="1"/>
            <a:r>
              <a:rPr lang="it-IT" sz="2600" dirty="0">
                <a:solidFill>
                  <a:schemeClr val="tx1"/>
                </a:solidFill>
              </a:rPr>
              <a:t>una variabile privata e statica dello stesso tipo della classe (di solito chiamata instance ovvero “istanza”);</a:t>
            </a:r>
          </a:p>
          <a:p>
            <a:pPr lvl="1"/>
            <a:r>
              <a:rPr lang="it-IT" sz="2600" dirty="0">
                <a:solidFill>
                  <a:schemeClr val="tx1"/>
                </a:solidFill>
              </a:rPr>
              <a:t>un metodo statico pubblico (solitamente chiamato </a:t>
            </a:r>
            <a:r>
              <a:rPr lang="it-IT" sz="2600" dirty="0" err="1">
                <a:solidFill>
                  <a:schemeClr val="tx1"/>
                </a:solidFill>
              </a:rPr>
              <a:t>getInstance</a:t>
            </a:r>
            <a:r>
              <a:rPr lang="it-IT" sz="2600" dirty="0">
                <a:solidFill>
                  <a:schemeClr val="tx1"/>
                </a:solidFill>
              </a:rPr>
              <a:t>) che definisce una semplice logica per restituire sempre la stessa istanza (unica) della classe stessa.</a:t>
            </a:r>
          </a:p>
        </p:txBody>
      </p:sp>
    </p:spTree>
    <p:extLst>
      <p:ext uri="{BB962C8B-B14F-4D97-AF65-F5344CB8AC3E}">
        <p14:creationId xmlns:p14="http://schemas.microsoft.com/office/powerpoint/2010/main" val="2653749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7496"/>
            <a:ext cx="7886700" cy="988156"/>
          </a:xfrm>
        </p:spPr>
        <p:txBody>
          <a:bodyPr>
            <a:normAutofit/>
          </a:bodyPr>
          <a:lstStyle/>
          <a:p>
            <a:pPr algn="ctr"/>
            <a:r>
              <a:rPr lang="it-IT" i="1" dirty="0"/>
              <a:t>Design pattern: Singleton</a:t>
            </a:r>
            <a:endParaRPr lang="it-IT"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42</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980660"/>
            <a:ext cx="9144000" cy="5400750"/>
          </a:xfrm>
        </p:spPr>
        <p:txBody>
          <a:bodyPr>
            <a:noAutofit/>
          </a:bodyPr>
          <a:lstStyle/>
          <a:p>
            <a:pPr marL="0" indent="0">
              <a:buNone/>
            </a:pPr>
            <a:r>
              <a:rPr lang="it-IT" dirty="0">
                <a:solidFill>
                  <a:schemeClr val="accent5"/>
                </a:solidFill>
              </a:rPr>
              <a:t>public class </a:t>
            </a:r>
            <a:r>
              <a:rPr lang="it-IT" dirty="0" err="1">
                <a:solidFill>
                  <a:schemeClr val="accent5"/>
                </a:solidFill>
              </a:rPr>
              <a:t>SingletonExample</a:t>
            </a:r>
            <a:r>
              <a:rPr lang="it-IT" dirty="0">
                <a:solidFill>
                  <a:schemeClr val="accent5"/>
                </a:solidFill>
              </a:rPr>
              <a:t> {</a:t>
            </a:r>
          </a:p>
          <a:p>
            <a:pPr marL="0" indent="0">
              <a:buNone/>
            </a:pPr>
            <a:r>
              <a:rPr lang="it-IT" dirty="0">
                <a:solidFill>
                  <a:schemeClr val="accent5"/>
                </a:solidFill>
              </a:rPr>
              <a:t>    private static </a:t>
            </a:r>
            <a:r>
              <a:rPr lang="it-IT" dirty="0" err="1">
                <a:solidFill>
                  <a:schemeClr val="accent5"/>
                </a:solidFill>
              </a:rPr>
              <a:t>SingletonExample</a:t>
            </a:r>
            <a:r>
              <a:rPr lang="it-IT" dirty="0">
                <a:solidFill>
                  <a:schemeClr val="accent5"/>
                </a:solidFill>
              </a:rPr>
              <a:t> instance;</a:t>
            </a:r>
          </a:p>
          <a:p>
            <a:pPr marL="0" indent="0">
              <a:buNone/>
            </a:pPr>
            <a:r>
              <a:rPr lang="it-IT" dirty="0">
                <a:solidFill>
                  <a:schemeClr val="accent5"/>
                </a:solidFill>
              </a:rPr>
              <a:t>    private </a:t>
            </a:r>
            <a:r>
              <a:rPr lang="it-IT" dirty="0" err="1">
                <a:solidFill>
                  <a:schemeClr val="accent5"/>
                </a:solidFill>
              </a:rPr>
              <a:t>SingletonExample</a:t>
            </a:r>
            <a:r>
              <a:rPr lang="it-IT" dirty="0">
                <a:solidFill>
                  <a:schemeClr val="accent5"/>
                </a:solidFill>
              </a:rPr>
              <a:t>() {</a:t>
            </a:r>
          </a:p>
          <a:p>
            <a:pPr marL="0" indent="0">
              <a:buNone/>
            </a:pPr>
            <a:r>
              <a:rPr lang="it-IT" dirty="0">
                <a:solidFill>
                  <a:schemeClr val="accent5"/>
                </a:solidFill>
              </a:rPr>
              <a:t>    }</a:t>
            </a:r>
          </a:p>
          <a:p>
            <a:pPr marL="0" indent="0">
              <a:buNone/>
            </a:pPr>
            <a:r>
              <a:rPr lang="it-IT" dirty="0">
                <a:solidFill>
                  <a:schemeClr val="accent5"/>
                </a:solidFill>
              </a:rPr>
              <a:t>    public static </a:t>
            </a:r>
            <a:r>
              <a:rPr lang="it-IT" dirty="0" err="1">
                <a:solidFill>
                  <a:schemeClr val="accent5"/>
                </a:solidFill>
              </a:rPr>
              <a:t>SingletonExample</a:t>
            </a:r>
            <a:r>
              <a:rPr lang="it-IT" dirty="0">
                <a:solidFill>
                  <a:schemeClr val="accent5"/>
                </a:solidFill>
              </a:rPr>
              <a:t> </a:t>
            </a:r>
            <a:r>
              <a:rPr lang="it-IT" dirty="0" err="1">
                <a:solidFill>
                  <a:schemeClr val="accent5"/>
                </a:solidFill>
              </a:rPr>
              <a:t>getInstance</a:t>
            </a:r>
            <a:r>
              <a:rPr lang="it-IT" dirty="0">
                <a:solidFill>
                  <a:schemeClr val="accent5"/>
                </a:solidFill>
              </a:rPr>
              <a:t>() {</a:t>
            </a:r>
          </a:p>
          <a:p>
            <a:pPr marL="0" indent="0">
              <a:buNone/>
            </a:pPr>
            <a:r>
              <a:rPr lang="it-IT" dirty="0">
                <a:solidFill>
                  <a:schemeClr val="accent5"/>
                </a:solidFill>
              </a:rPr>
              <a:t>        if (instance == null) {</a:t>
            </a:r>
          </a:p>
          <a:p>
            <a:pPr marL="0" indent="0">
              <a:buNone/>
            </a:pPr>
            <a:r>
              <a:rPr lang="it-IT" dirty="0">
                <a:solidFill>
                  <a:schemeClr val="accent5"/>
                </a:solidFill>
              </a:rPr>
              <a:t>            instance = new </a:t>
            </a:r>
            <a:r>
              <a:rPr lang="it-IT" dirty="0" err="1">
                <a:solidFill>
                  <a:schemeClr val="accent5"/>
                </a:solidFill>
              </a:rPr>
              <a:t>SingletonExample</a:t>
            </a:r>
            <a:r>
              <a:rPr lang="it-IT" dirty="0">
                <a:solidFill>
                  <a:schemeClr val="accent5"/>
                </a:solidFill>
              </a:rPr>
              <a:t>();</a:t>
            </a:r>
          </a:p>
          <a:p>
            <a:pPr marL="0" indent="0">
              <a:buNone/>
            </a:pPr>
            <a:r>
              <a:rPr lang="it-IT" dirty="0">
                <a:solidFill>
                  <a:schemeClr val="accent5"/>
                </a:solidFill>
              </a:rPr>
              <a:t>        }</a:t>
            </a:r>
          </a:p>
          <a:p>
            <a:pPr marL="0" indent="0">
              <a:buNone/>
            </a:pPr>
            <a:r>
              <a:rPr lang="it-IT" dirty="0">
                <a:solidFill>
                  <a:schemeClr val="accent5"/>
                </a:solidFill>
              </a:rPr>
              <a:t>        return instance;</a:t>
            </a:r>
          </a:p>
          <a:p>
            <a:pPr marL="0" indent="0">
              <a:buNone/>
            </a:pPr>
            <a:r>
              <a:rPr lang="it-IT" dirty="0">
                <a:solidFill>
                  <a:schemeClr val="accent5"/>
                </a:solidFill>
              </a:rPr>
              <a:t>    }</a:t>
            </a:r>
          </a:p>
          <a:p>
            <a:pPr marL="0" indent="0">
              <a:buNone/>
            </a:pPr>
            <a:r>
              <a:rPr lang="it-IT" dirty="0">
                <a:solidFill>
                  <a:schemeClr val="accent5"/>
                </a:solidFill>
              </a:rPr>
              <a:t>}</a:t>
            </a:r>
          </a:p>
        </p:txBody>
      </p:sp>
      <p:sp>
        <p:nvSpPr>
          <p:cNvPr id="8" name="CasellaDiTesto 7">
            <a:extLst>
              <a:ext uri="{FF2B5EF4-FFF2-40B4-BE49-F238E27FC236}">
                <a16:creationId xmlns:a16="http://schemas.microsoft.com/office/drawing/2014/main" id="{B0492455-BF22-412D-A208-DD9A4E992EBE}"/>
              </a:ext>
            </a:extLst>
          </p:cNvPr>
          <p:cNvSpPr txBox="1"/>
          <p:nvPr/>
        </p:nvSpPr>
        <p:spPr>
          <a:xfrm>
            <a:off x="0" y="5831619"/>
            <a:ext cx="9036620" cy="369332"/>
          </a:xfrm>
          <a:prstGeom prst="rect">
            <a:avLst/>
          </a:prstGeom>
          <a:noFill/>
        </p:spPr>
        <p:txBody>
          <a:bodyPr wrap="square">
            <a:spAutoFit/>
          </a:bodyPr>
          <a:lstStyle/>
          <a:p>
            <a:r>
              <a:rPr lang="it-IT" sz="1800" dirty="0" err="1">
                <a:solidFill>
                  <a:schemeClr val="accent6"/>
                </a:solidFill>
                <a:effectLst/>
                <a:latin typeface="Courier New" panose="02070309020205020404" pitchFamily="49" charset="0"/>
                <a:ea typeface="Times New Roman" panose="02020603050405020304" pitchFamily="18" charset="0"/>
              </a:rPr>
              <a:t>SingletonExample</a:t>
            </a:r>
            <a:r>
              <a:rPr lang="it-IT" sz="1800" dirty="0">
                <a:solidFill>
                  <a:schemeClr val="accent6"/>
                </a:solidFill>
                <a:effectLst/>
                <a:latin typeface="Courier New" panose="02070309020205020404" pitchFamily="49" charset="0"/>
                <a:ea typeface="Times New Roman" panose="02020603050405020304" pitchFamily="18" charset="0"/>
              </a:rPr>
              <a:t> </a:t>
            </a:r>
            <a:r>
              <a:rPr lang="it-IT" sz="1800" dirty="0" err="1">
                <a:solidFill>
                  <a:schemeClr val="accent6"/>
                </a:solidFill>
                <a:effectLst/>
                <a:latin typeface="Courier New" panose="02070309020205020404" pitchFamily="49" charset="0"/>
                <a:ea typeface="Times New Roman" panose="02020603050405020304" pitchFamily="18" charset="0"/>
              </a:rPr>
              <a:t>unicaIstanza</a:t>
            </a:r>
            <a:r>
              <a:rPr lang="it-IT" sz="1800" dirty="0">
                <a:solidFill>
                  <a:schemeClr val="accent6"/>
                </a:solidFill>
                <a:effectLst/>
                <a:latin typeface="Courier New" panose="02070309020205020404" pitchFamily="49" charset="0"/>
                <a:ea typeface="Times New Roman" panose="02020603050405020304" pitchFamily="18" charset="0"/>
              </a:rPr>
              <a:t> = </a:t>
            </a:r>
            <a:r>
              <a:rPr lang="it-IT" sz="1800" dirty="0" err="1">
                <a:solidFill>
                  <a:schemeClr val="accent6"/>
                </a:solidFill>
                <a:effectLst/>
                <a:latin typeface="Courier New" panose="02070309020205020404" pitchFamily="49" charset="0"/>
                <a:ea typeface="Times New Roman" panose="02020603050405020304" pitchFamily="18" charset="0"/>
              </a:rPr>
              <a:t>SingletonExample.getInstance</a:t>
            </a:r>
            <a:r>
              <a:rPr lang="it-IT" sz="1800" dirty="0">
                <a:solidFill>
                  <a:schemeClr val="accent6"/>
                </a:solidFill>
                <a:effectLst/>
                <a:latin typeface="Courier New" panose="02070309020205020404" pitchFamily="49" charset="0"/>
                <a:ea typeface="Times New Roman" panose="02020603050405020304" pitchFamily="18" charset="0"/>
              </a:rPr>
              <a:t>();</a:t>
            </a:r>
          </a:p>
        </p:txBody>
      </p:sp>
    </p:spTree>
    <p:extLst>
      <p:ext uri="{BB962C8B-B14F-4D97-AF65-F5344CB8AC3E}">
        <p14:creationId xmlns:p14="http://schemas.microsoft.com/office/powerpoint/2010/main" val="2329303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72010"/>
            <a:ext cx="9144000" cy="1124680"/>
          </a:xfrm>
        </p:spPr>
        <p:txBody>
          <a:bodyPr>
            <a:normAutofit/>
          </a:bodyPr>
          <a:lstStyle/>
          <a:p>
            <a:pPr algn="ctr"/>
            <a:r>
              <a:rPr lang="it-IT" dirty="0"/>
              <a:t>Sommario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NJ-005</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43</a:t>
            </a:fld>
            <a:endParaRPr lang="it-IT"/>
          </a:p>
        </p:txBody>
      </p:sp>
      <p:sp>
        <p:nvSpPr>
          <p:cNvPr id="8" name="Segnaposto contenuto 2">
            <a:extLst>
              <a:ext uri="{FF2B5EF4-FFF2-40B4-BE49-F238E27FC236}">
                <a16:creationId xmlns:a16="http://schemas.microsoft.com/office/drawing/2014/main" id="{C0CC9B9D-479A-4F78-8DB1-FA2D02912239}"/>
              </a:ext>
            </a:extLst>
          </p:cNvPr>
          <p:cNvSpPr>
            <a:spLocks noGrp="1"/>
          </p:cNvSpPr>
          <p:nvPr>
            <p:ph idx="1"/>
          </p:nvPr>
        </p:nvSpPr>
        <p:spPr>
          <a:xfrm>
            <a:off x="0" y="1229247"/>
            <a:ext cx="9144000" cy="5008143"/>
          </a:xfrm>
        </p:spPr>
        <p:txBody>
          <a:bodyPr>
            <a:noAutofit/>
          </a:bodyPr>
          <a:lstStyle/>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elencare i paradigmi ed i concetti fondamentali della programmazione ad oggetti (unità 5.1).</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creare un diagramma delle classi di base (unità 5.1).</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definire ed utilizzare il concetto di astrazione e di riuso (unità 5.1).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Comprendere l’utilizzo e l’utilità dell’incapsulamento (unità 5.2, 5.3).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Comprendere l’utilizzo e l’utilità del reference this (unità 5.2). </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quando e come usare l’incapsulamento (unità 5.2).</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e saper utilizzare i modificatori d’accesso (unità 5.3).</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Capire e saper utilizzare il modificatore static (unità 5.4).</a:t>
            </a:r>
          </a:p>
          <a:p>
            <a:pPr marL="180340" indent="180340">
              <a:tabLst>
                <a:tab pos="457200" algn="l"/>
              </a:tabLst>
            </a:pPr>
            <a:r>
              <a:rPr lang="it-IT" dirty="0">
                <a:effectLst/>
                <a:latin typeface="+mj-lt"/>
                <a:ea typeface="Times New Roman" panose="02020603050405020304" pitchFamily="18" charset="0"/>
                <a:cs typeface="Calibri" panose="020F0502020204030204" pitchFamily="34" charset="0"/>
              </a:rPr>
              <a:t>Saper accennare al concetto di design pattern e comprendere l’implementazione del Singleton pattern (unità 5.4).</a:t>
            </a:r>
          </a:p>
        </p:txBody>
      </p:sp>
    </p:spTree>
    <p:extLst>
      <p:ext uri="{BB962C8B-B14F-4D97-AF65-F5344CB8AC3E}">
        <p14:creationId xmlns:p14="http://schemas.microsoft.com/office/powerpoint/2010/main" val="3691854465"/>
      </p:ext>
    </p:extLst>
  </p:cSld>
  <p:clrMapOvr>
    <a:masterClrMapping/>
  </p:clrMapOvr>
</p:sld>
</file>

<file path=ppt/theme/theme1.xml><?xml version="1.0" encoding="utf-8"?>
<a:theme xmlns:a="http://schemas.openxmlformats.org/drawingml/2006/main" name="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Profondità">
  <a:themeElements>
    <a:clrScheme name="Profondità">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ondità">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ondità">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AcademyTheme</Template>
  <TotalTime>23169</TotalTime>
  <Words>13582</Words>
  <Application>Microsoft Office PowerPoint</Application>
  <PresentationFormat>Presentazione su schermo (4:3)</PresentationFormat>
  <Paragraphs>982</Paragraphs>
  <Slides>43</Slides>
  <Notes>43</Notes>
  <HiddenSlides>0</HiddenSlides>
  <MMClips>0</MMClips>
  <ScaleCrop>false</ScaleCrop>
  <HeadingPairs>
    <vt:vector size="6" baseType="variant">
      <vt:variant>
        <vt:lpstr>Caratteri utilizzati</vt:lpstr>
      </vt:variant>
      <vt:variant>
        <vt:i4>6</vt:i4>
      </vt:variant>
      <vt:variant>
        <vt:lpstr>Tema</vt:lpstr>
      </vt:variant>
      <vt:variant>
        <vt:i4>4</vt:i4>
      </vt:variant>
      <vt:variant>
        <vt:lpstr>Titoli diapositive</vt:lpstr>
      </vt:variant>
      <vt:variant>
        <vt:i4>43</vt:i4>
      </vt:variant>
    </vt:vector>
  </HeadingPairs>
  <TitlesOfParts>
    <vt:vector size="53" baseType="lpstr">
      <vt:lpstr>Arial</vt:lpstr>
      <vt:lpstr>Calibri</vt:lpstr>
      <vt:lpstr>Corbel</vt:lpstr>
      <vt:lpstr>Corbel (Corpo)</vt:lpstr>
      <vt:lpstr>Courier New</vt:lpstr>
      <vt:lpstr>Times New Roman</vt:lpstr>
      <vt:lpstr>AcademyTheme</vt:lpstr>
      <vt:lpstr>Personalizza struttura</vt:lpstr>
      <vt:lpstr>1_AcademyTheme</vt:lpstr>
      <vt:lpstr>Profondità</vt:lpstr>
      <vt:lpstr>Claudio De Sio Cesari   Il nuovo Java Incapsulamento e visibilità (NJ– 005)   https://www.nuovojava.it</vt:lpstr>
      <vt:lpstr>Incapsulamento e visibilità</vt:lpstr>
      <vt:lpstr>Programmazione orientata agli oggetti (OOP)</vt:lpstr>
      <vt:lpstr>Paradigmi fondamentali</vt:lpstr>
      <vt:lpstr>Astrazione e riuso</vt:lpstr>
      <vt:lpstr>UML: Diagramma delle classi</vt:lpstr>
      <vt:lpstr>Incapsulamento</vt:lpstr>
      <vt:lpstr>Incapsulamento</vt:lpstr>
      <vt:lpstr>Incapsulamento</vt:lpstr>
      <vt:lpstr>Incapsulamento: implementazione</vt:lpstr>
      <vt:lpstr>Incapsulamento: implementazione UML</vt:lpstr>
      <vt:lpstr>Incapsulamento: evoluzione</vt:lpstr>
      <vt:lpstr>Il reference this</vt:lpstr>
      <vt:lpstr>Il reference this</vt:lpstr>
      <vt:lpstr>Uso di this con metodi </vt:lpstr>
      <vt:lpstr>Uso di this con i costruttori</vt:lpstr>
      <vt:lpstr>Uso di this con i costruttori</vt:lpstr>
      <vt:lpstr>Quando utilizzare l’incapsulamento</vt:lpstr>
      <vt:lpstr>Come usare l’incapsulamento</vt:lpstr>
      <vt:lpstr>Record (Java 14 in poi)</vt:lpstr>
      <vt:lpstr>Modificatori d’accesso</vt:lpstr>
      <vt:lpstr>Modificatore public</vt:lpstr>
      <vt:lpstr>Modificatore protected: ereditarietà</vt:lpstr>
      <vt:lpstr>Modificatore protected: ereditarietà</vt:lpstr>
      <vt:lpstr>Modificatore protected</vt:lpstr>
      <vt:lpstr>Modificatore protected</vt:lpstr>
      <vt:lpstr>Default scope: nessun modificatore</vt:lpstr>
      <vt:lpstr>Modificatore private</vt:lpstr>
      <vt:lpstr>Modificatore static</vt:lpstr>
      <vt:lpstr>Metodi statici</vt:lpstr>
      <vt:lpstr>Metodi statici</vt:lpstr>
      <vt:lpstr>Variabili statiche (di classe)</vt:lpstr>
      <vt:lpstr>Variabili statiche (di classe)</vt:lpstr>
      <vt:lpstr>Variabili statiche (di classe)</vt:lpstr>
      <vt:lpstr>Variabili statiche (di classe)</vt:lpstr>
      <vt:lpstr>Variabili statiche (di classe)</vt:lpstr>
      <vt:lpstr>import statici</vt:lpstr>
      <vt:lpstr>import statici</vt:lpstr>
      <vt:lpstr>Quando usare static</vt:lpstr>
      <vt:lpstr>Design pattern</vt:lpstr>
      <vt:lpstr>Design pattern: Singleton</vt:lpstr>
      <vt:lpstr>Design pattern: Singleton</vt:lpstr>
      <vt:lpstr>Sommario</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cdsc</dc:creator>
  <cp:lastModifiedBy>Claudio De Sio Cesari</cp:lastModifiedBy>
  <cp:revision>416</cp:revision>
  <dcterms:created xsi:type="dcterms:W3CDTF">2012-03-20T22:57:36Z</dcterms:created>
  <dcterms:modified xsi:type="dcterms:W3CDTF">2021-03-16T12:44:38Z</dcterms:modified>
</cp:coreProperties>
</file>