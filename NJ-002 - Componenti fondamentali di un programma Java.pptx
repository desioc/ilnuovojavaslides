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60" r:id="rId1"/>
    <p:sldMasterId id="2147483664" r:id="rId2"/>
    <p:sldMasterId id="2147483670" r:id="rId3"/>
    <p:sldMasterId id="2147483677" r:id="rId4"/>
  </p:sldMasterIdLst>
  <p:notesMasterIdLst>
    <p:notesMasterId r:id="rId43"/>
  </p:notesMasterIdLst>
  <p:sldIdLst>
    <p:sldId id="257" r:id="rId5"/>
    <p:sldId id="721" r:id="rId6"/>
    <p:sldId id="722" r:id="rId7"/>
    <p:sldId id="746" r:id="rId8"/>
    <p:sldId id="745" r:id="rId9"/>
    <p:sldId id="724" r:id="rId10"/>
    <p:sldId id="723" r:id="rId11"/>
    <p:sldId id="747" r:id="rId12"/>
    <p:sldId id="748" r:id="rId13"/>
    <p:sldId id="725" r:id="rId14"/>
    <p:sldId id="733" r:id="rId15"/>
    <p:sldId id="749" r:id="rId16"/>
    <p:sldId id="726" r:id="rId17"/>
    <p:sldId id="750" r:id="rId18"/>
    <p:sldId id="751" r:id="rId19"/>
    <p:sldId id="752" r:id="rId20"/>
    <p:sldId id="753" r:id="rId21"/>
    <p:sldId id="754" r:id="rId22"/>
    <p:sldId id="755" r:id="rId23"/>
    <p:sldId id="756" r:id="rId24"/>
    <p:sldId id="757" r:id="rId25"/>
    <p:sldId id="727" r:id="rId26"/>
    <p:sldId id="732" r:id="rId27"/>
    <p:sldId id="734" r:id="rId28"/>
    <p:sldId id="759" r:id="rId29"/>
    <p:sldId id="760" r:id="rId30"/>
    <p:sldId id="761" r:id="rId31"/>
    <p:sldId id="762" r:id="rId32"/>
    <p:sldId id="728" r:id="rId33"/>
    <p:sldId id="729" r:id="rId34"/>
    <p:sldId id="763" r:id="rId35"/>
    <p:sldId id="764" r:id="rId36"/>
    <p:sldId id="765" r:id="rId37"/>
    <p:sldId id="766" r:id="rId38"/>
    <p:sldId id="767" r:id="rId39"/>
    <p:sldId id="768" r:id="rId40"/>
    <p:sldId id="730" r:id="rId41"/>
    <p:sldId id="743" r:id="rId42"/>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senza titolo" id="{7EAEB438-8BB2-4472-9D6B-5E6DC54C0E6B}">
          <p14:sldIdLst>
            <p14:sldId id="257"/>
            <p14:sldId id="721"/>
            <p14:sldId id="722"/>
            <p14:sldId id="746"/>
            <p14:sldId id="745"/>
            <p14:sldId id="724"/>
            <p14:sldId id="723"/>
            <p14:sldId id="747"/>
            <p14:sldId id="748"/>
            <p14:sldId id="725"/>
            <p14:sldId id="733"/>
            <p14:sldId id="749"/>
            <p14:sldId id="726"/>
            <p14:sldId id="750"/>
            <p14:sldId id="751"/>
            <p14:sldId id="752"/>
            <p14:sldId id="753"/>
            <p14:sldId id="754"/>
            <p14:sldId id="755"/>
            <p14:sldId id="756"/>
            <p14:sldId id="757"/>
            <p14:sldId id="727"/>
            <p14:sldId id="732"/>
            <p14:sldId id="734"/>
            <p14:sldId id="759"/>
            <p14:sldId id="760"/>
            <p14:sldId id="761"/>
            <p14:sldId id="762"/>
            <p14:sldId id="728"/>
            <p14:sldId id="729"/>
            <p14:sldId id="763"/>
            <p14:sldId id="764"/>
            <p14:sldId id="765"/>
            <p14:sldId id="766"/>
            <p14:sldId id="767"/>
            <p14:sldId id="768"/>
            <p14:sldId id="730"/>
            <p14:sldId id="74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laudio De Sio Cesari" initials="CDSC" lastIdx="1" clrIdx="0">
    <p:extLst>
      <p:ext uri="{19B8F6BF-5375-455C-9EA6-DF929625EA0E}">
        <p15:presenceInfo xmlns:p15="http://schemas.microsoft.com/office/powerpoint/2012/main" userId="a29b13f1a3f3547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9" autoAdjust="0"/>
    <p:restoredTop sz="78622" autoAdjust="0"/>
  </p:normalViewPr>
  <p:slideViewPr>
    <p:cSldViewPr>
      <p:cViewPr varScale="1">
        <p:scale>
          <a:sx n="90" d="100"/>
          <a:sy n="90" d="100"/>
        </p:scale>
        <p:origin x="1968"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10" cy="7201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audio De Sio Cesari" userId="a29b13f1a3f35475" providerId="LiveId" clId="{B8A0E6DB-47E1-49E8-BB84-493E754B0657}"/>
    <pc:docChg chg="undo redo custSel addSld delSld modSld sldOrd modSection">
      <pc:chgData name="Claudio De Sio Cesari" userId="a29b13f1a3f35475" providerId="LiveId" clId="{B8A0E6DB-47E1-49E8-BB84-493E754B0657}" dt="2021-03-03T08:36:39.531" v="7441" actId="20577"/>
      <pc:docMkLst>
        <pc:docMk/>
      </pc:docMkLst>
      <pc:sldChg chg="addSp delSp modSp mod">
        <pc:chgData name="Claudio De Sio Cesari" userId="a29b13f1a3f35475" providerId="LiveId" clId="{B8A0E6DB-47E1-49E8-BB84-493E754B0657}" dt="2021-03-03T08:36:39.531" v="7441" actId="20577"/>
        <pc:sldMkLst>
          <pc:docMk/>
          <pc:sldMk cId="4088286481" sldId="257"/>
        </pc:sldMkLst>
        <pc:spChg chg="mod">
          <ac:chgData name="Claudio De Sio Cesari" userId="a29b13f1a3f35475" providerId="LiveId" clId="{B8A0E6DB-47E1-49E8-BB84-493E754B0657}" dt="2021-03-03T08:36:39.531" v="7441" actId="20577"/>
          <ac:spMkLst>
            <pc:docMk/>
            <pc:sldMk cId="4088286481" sldId="257"/>
            <ac:spMk id="2" creationId="{00000000-0000-0000-0000-000000000000}"/>
          </ac:spMkLst>
        </pc:spChg>
        <pc:spChg chg="add del">
          <ac:chgData name="Claudio De Sio Cesari" userId="a29b13f1a3f35475" providerId="LiveId" clId="{B8A0E6DB-47E1-49E8-BB84-493E754B0657}" dt="2021-03-01T11:05:44.131" v="3486" actId="22"/>
          <ac:spMkLst>
            <pc:docMk/>
            <pc:sldMk cId="4088286481" sldId="257"/>
            <ac:spMk id="6" creationId="{A443CBF6-5CFA-46EE-B871-C78FD1F1ED25}"/>
          </ac:spMkLst>
        </pc:spChg>
      </pc:sldChg>
      <pc:sldChg chg="modSp mod">
        <pc:chgData name="Claudio De Sio Cesari" userId="a29b13f1a3f35475" providerId="LiveId" clId="{B8A0E6DB-47E1-49E8-BB84-493E754B0657}" dt="2021-03-01T12:41:51.852" v="6664" actId="20577"/>
        <pc:sldMkLst>
          <pc:docMk/>
          <pc:sldMk cId="2065225370" sldId="262"/>
        </pc:sldMkLst>
        <pc:spChg chg="mod">
          <ac:chgData name="Claudio De Sio Cesari" userId="a29b13f1a3f35475" providerId="LiveId" clId="{B8A0E6DB-47E1-49E8-BB84-493E754B0657}" dt="2021-03-01T12:33:33.876" v="6076" actId="20577"/>
          <ac:spMkLst>
            <pc:docMk/>
            <pc:sldMk cId="2065225370" sldId="262"/>
            <ac:spMk id="2" creationId="{00000000-0000-0000-0000-000000000000}"/>
          </ac:spMkLst>
        </pc:spChg>
        <pc:spChg chg="mod">
          <ac:chgData name="Claudio De Sio Cesari" userId="a29b13f1a3f35475" providerId="LiveId" clId="{B8A0E6DB-47E1-49E8-BB84-493E754B0657}" dt="2021-03-01T12:41:51.852" v="6664" actId="20577"/>
          <ac:spMkLst>
            <pc:docMk/>
            <pc:sldMk cId="2065225370" sldId="262"/>
            <ac:spMk id="3" creationId="{00000000-0000-0000-0000-000000000000}"/>
          </ac:spMkLst>
        </pc:spChg>
      </pc:sldChg>
      <pc:sldChg chg="addSp delSp modSp mod">
        <pc:chgData name="Claudio De Sio Cesari" userId="a29b13f1a3f35475" providerId="LiveId" clId="{B8A0E6DB-47E1-49E8-BB84-493E754B0657}" dt="2021-03-01T12:39:08.331" v="6542" actId="20577"/>
        <pc:sldMkLst>
          <pc:docMk/>
          <pc:sldMk cId="1533082551" sldId="718"/>
        </pc:sldMkLst>
        <pc:spChg chg="mod">
          <ac:chgData name="Claudio De Sio Cesari" userId="a29b13f1a3f35475" providerId="LiveId" clId="{B8A0E6DB-47E1-49E8-BB84-493E754B0657}" dt="2021-03-01T12:16:49.003" v="4758" actId="20577"/>
          <ac:spMkLst>
            <pc:docMk/>
            <pc:sldMk cId="1533082551" sldId="718"/>
            <ac:spMk id="2" creationId="{00000000-0000-0000-0000-000000000000}"/>
          </ac:spMkLst>
        </pc:spChg>
        <pc:spChg chg="del mod">
          <ac:chgData name="Claudio De Sio Cesari" userId="a29b13f1a3f35475" providerId="LiveId" clId="{B8A0E6DB-47E1-49E8-BB84-493E754B0657}" dt="2021-03-01T12:20:10.606" v="5041" actId="478"/>
          <ac:spMkLst>
            <pc:docMk/>
            <pc:sldMk cId="1533082551" sldId="718"/>
            <ac:spMk id="3" creationId="{00000000-0000-0000-0000-000000000000}"/>
          </ac:spMkLst>
        </pc:spChg>
        <pc:spChg chg="add del mod">
          <ac:chgData name="Claudio De Sio Cesari" userId="a29b13f1a3f35475" providerId="LiveId" clId="{B8A0E6DB-47E1-49E8-BB84-493E754B0657}" dt="2021-03-01T12:20:19.841" v="5046" actId="478"/>
          <ac:spMkLst>
            <pc:docMk/>
            <pc:sldMk cId="1533082551" sldId="718"/>
            <ac:spMk id="5" creationId="{8D55919B-7C59-4B88-AA67-68AEF4AC52BE}"/>
          </ac:spMkLst>
        </pc:spChg>
        <pc:spChg chg="add del mod">
          <ac:chgData name="Claudio De Sio Cesari" userId="a29b13f1a3f35475" providerId="LiveId" clId="{B8A0E6DB-47E1-49E8-BB84-493E754B0657}" dt="2021-03-01T12:20:13.724" v="5043"/>
          <ac:spMkLst>
            <pc:docMk/>
            <pc:sldMk cId="1533082551" sldId="718"/>
            <ac:spMk id="9" creationId="{FFF21F12-81E7-47C3-9EF5-04CA59F17B9B}"/>
          </ac:spMkLst>
        </pc:spChg>
        <pc:spChg chg="add del mod">
          <ac:chgData name="Claudio De Sio Cesari" userId="a29b13f1a3f35475" providerId="LiveId" clId="{B8A0E6DB-47E1-49E8-BB84-493E754B0657}" dt="2021-03-01T12:20:17.244" v="5045"/>
          <ac:spMkLst>
            <pc:docMk/>
            <pc:sldMk cId="1533082551" sldId="718"/>
            <ac:spMk id="10" creationId="{FBBE4631-CED7-4F13-9689-85BF726A2289}"/>
          </ac:spMkLst>
        </pc:spChg>
        <pc:spChg chg="add mod">
          <ac:chgData name="Claudio De Sio Cesari" userId="a29b13f1a3f35475" providerId="LiveId" clId="{B8A0E6DB-47E1-49E8-BB84-493E754B0657}" dt="2021-03-01T12:39:08.331" v="6542" actId="20577"/>
          <ac:spMkLst>
            <pc:docMk/>
            <pc:sldMk cId="1533082551" sldId="718"/>
            <ac:spMk id="11" creationId="{37DE5840-5767-4468-8D7A-9CC0D4527031}"/>
          </ac:spMkLst>
        </pc:spChg>
      </pc:sldChg>
      <pc:sldChg chg="modSp mod">
        <pc:chgData name="Claudio De Sio Cesari" userId="a29b13f1a3f35475" providerId="LiveId" clId="{B8A0E6DB-47E1-49E8-BB84-493E754B0657}" dt="2021-03-02T09:10:44.366" v="6765" actId="20577"/>
        <pc:sldMkLst>
          <pc:docMk/>
          <pc:sldMk cId="1384448537" sldId="719"/>
        </pc:sldMkLst>
        <pc:spChg chg="mod">
          <ac:chgData name="Claudio De Sio Cesari" userId="a29b13f1a3f35475" providerId="LiveId" clId="{B8A0E6DB-47E1-49E8-BB84-493E754B0657}" dt="2021-03-01T12:28:13.312" v="5790" actId="14100"/>
          <ac:spMkLst>
            <pc:docMk/>
            <pc:sldMk cId="1384448537" sldId="719"/>
            <ac:spMk id="2" creationId="{00000000-0000-0000-0000-000000000000}"/>
          </ac:spMkLst>
        </pc:spChg>
        <pc:spChg chg="mod">
          <ac:chgData name="Claudio De Sio Cesari" userId="a29b13f1a3f35475" providerId="LiveId" clId="{B8A0E6DB-47E1-49E8-BB84-493E754B0657}" dt="2021-03-02T09:10:44.366" v="6765" actId="20577"/>
          <ac:spMkLst>
            <pc:docMk/>
            <pc:sldMk cId="1384448537" sldId="719"/>
            <ac:spMk id="3" creationId="{00000000-0000-0000-0000-000000000000}"/>
          </ac:spMkLst>
        </pc:spChg>
      </pc:sldChg>
      <pc:sldChg chg="addSp delSp modSp mod modNotesTx">
        <pc:chgData name="Claudio De Sio Cesari" userId="a29b13f1a3f35475" providerId="LiveId" clId="{B8A0E6DB-47E1-49E8-BB84-493E754B0657}" dt="2021-03-01T09:41:10.894" v="705" actId="255"/>
        <pc:sldMkLst>
          <pc:docMk/>
          <pc:sldMk cId="3914847327" sldId="720"/>
        </pc:sldMkLst>
        <pc:spChg chg="mod">
          <ac:chgData name="Claudio De Sio Cesari" userId="a29b13f1a3f35475" providerId="LiveId" clId="{B8A0E6DB-47E1-49E8-BB84-493E754B0657}" dt="2021-03-01T09:37:10.128" v="486"/>
          <ac:spMkLst>
            <pc:docMk/>
            <pc:sldMk cId="3914847327" sldId="720"/>
            <ac:spMk id="2" creationId="{4F976724-0419-453A-AB45-889B3773DB64}"/>
          </ac:spMkLst>
        </pc:spChg>
        <pc:spChg chg="mod">
          <ac:chgData name="Claudio De Sio Cesari" userId="a29b13f1a3f35475" providerId="LiveId" clId="{B8A0E6DB-47E1-49E8-BB84-493E754B0657}" dt="2021-03-01T09:41:10.894" v="705" actId="255"/>
          <ac:spMkLst>
            <pc:docMk/>
            <pc:sldMk cId="3914847327" sldId="720"/>
            <ac:spMk id="3" creationId="{2F9035A2-CFEB-4003-B637-44AE887E334F}"/>
          </ac:spMkLst>
        </pc:spChg>
        <pc:picChg chg="add del">
          <ac:chgData name="Claudio De Sio Cesari" userId="a29b13f1a3f35475" providerId="LiveId" clId="{B8A0E6DB-47E1-49E8-BB84-493E754B0657}" dt="2021-03-01T09:19:41.658" v="277" actId="22"/>
          <ac:picMkLst>
            <pc:docMk/>
            <pc:sldMk cId="3914847327" sldId="720"/>
            <ac:picMk id="7" creationId="{A200615B-DB2A-4C12-B5DB-A680689F03AA}"/>
          </ac:picMkLst>
        </pc:picChg>
      </pc:sldChg>
      <pc:sldChg chg="modSp mod modNotesTx">
        <pc:chgData name="Claudio De Sio Cesari" userId="a29b13f1a3f35475" providerId="LiveId" clId="{B8A0E6DB-47E1-49E8-BB84-493E754B0657}" dt="2021-03-01T09:45:10.967" v="926" actId="20577"/>
        <pc:sldMkLst>
          <pc:docMk/>
          <pc:sldMk cId="805334480" sldId="721"/>
        </pc:sldMkLst>
        <pc:spChg chg="mod">
          <ac:chgData name="Claudio De Sio Cesari" userId="a29b13f1a3f35475" providerId="LiveId" clId="{B8A0E6DB-47E1-49E8-BB84-493E754B0657}" dt="2021-03-01T09:37:18.177" v="494" actId="20577"/>
          <ac:spMkLst>
            <pc:docMk/>
            <pc:sldMk cId="805334480" sldId="721"/>
            <ac:spMk id="2" creationId="{4F976724-0419-453A-AB45-889B3773DB64}"/>
          </ac:spMkLst>
        </pc:spChg>
        <pc:spChg chg="mod">
          <ac:chgData name="Claudio De Sio Cesari" userId="a29b13f1a3f35475" providerId="LiveId" clId="{B8A0E6DB-47E1-49E8-BB84-493E754B0657}" dt="2021-03-01T09:45:10.967" v="926" actId="20577"/>
          <ac:spMkLst>
            <pc:docMk/>
            <pc:sldMk cId="805334480" sldId="721"/>
            <ac:spMk id="3" creationId="{2F9035A2-CFEB-4003-B637-44AE887E334F}"/>
          </ac:spMkLst>
        </pc:spChg>
      </pc:sldChg>
      <pc:sldChg chg="modSp mod modNotesTx">
        <pc:chgData name="Claudio De Sio Cesari" userId="a29b13f1a3f35475" providerId="LiveId" clId="{B8A0E6DB-47E1-49E8-BB84-493E754B0657}" dt="2021-03-01T09:48:33.639" v="1148"/>
        <pc:sldMkLst>
          <pc:docMk/>
          <pc:sldMk cId="2845546892" sldId="722"/>
        </pc:sldMkLst>
        <pc:spChg chg="mod">
          <ac:chgData name="Claudio De Sio Cesari" userId="a29b13f1a3f35475" providerId="LiveId" clId="{B8A0E6DB-47E1-49E8-BB84-493E754B0657}" dt="2021-03-01T09:46:21.418" v="1000" actId="20577"/>
          <ac:spMkLst>
            <pc:docMk/>
            <pc:sldMk cId="2845546892" sldId="722"/>
            <ac:spMk id="2" creationId="{4F976724-0419-453A-AB45-889B3773DB64}"/>
          </ac:spMkLst>
        </pc:spChg>
        <pc:spChg chg="mod">
          <ac:chgData name="Claudio De Sio Cesari" userId="a29b13f1a3f35475" providerId="LiveId" clId="{B8A0E6DB-47E1-49E8-BB84-493E754B0657}" dt="2021-03-01T09:48:19.589" v="1147" actId="255"/>
          <ac:spMkLst>
            <pc:docMk/>
            <pc:sldMk cId="2845546892" sldId="722"/>
            <ac:spMk id="3" creationId="{2F9035A2-CFEB-4003-B637-44AE887E334F}"/>
          </ac:spMkLst>
        </pc:spChg>
      </pc:sldChg>
      <pc:sldChg chg="modSp mod modNotesTx">
        <pc:chgData name="Claudio De Sio Cesari" userId="a29b13f1a3f35475" providerId="LiveId" clId="{B8A0E6DB-47E1-49E8-BB84-493E754B0657}" dt="2021-03-01T09:54:32.274" v="1397" actId="20577"/>
        <pc:sldMkLst>
          <pc:docMk/>
          <pc:sldMk cId="4274646010" sldId="723"/>
        </pc:sldMkLst>
        <pc:spChg chg="mod">
          <ac:chgData name="Claudio De Sio Cesari" userId="a29b13f1a3f35475" providerId="LiveId" clId="{B8A0E6DB-47E1-49E8-BB84-493E754B0657}" dt="2021-03-01T09:51:34.561" v="1290" actId="20577"/>
          <ac:spMkLst>
            <pc:docMk/>
            <pc:sldMk cId="4274646010" sldId="723"/>
            <ac:spMk id="2" creationId="{4F976724-0419-453A-AB45-889B3773DB64}"/>
          </ac:spMkLst>
        </pc:spChg>
        <pc:spChg chg="mod">
          <ac:chgData name="Claudio De Sio Cesari" userId="a29b13f1a3f35475" providerId="LiveId" clId="{B8A0E6DB-47E1-49E8-BB84-493E754B0657}" dt="2021-03-01T09:54:32.274" v="1397" actId="20577"/>
          <ac:spMkLst>
            <pc:docMk/>
            <pc:sldMk cId="4274646010" sldId="723"/>
            <ac:spMk id="3" creationId="{2F9035A2-CFEB-4003-B637-44AE887E334F}"/>
          </ac:spMkLst>
        </pc:spChg>
      </pc:sldChg>
      <pc:sldChg chg="modSp mod modNotesTx">
        <pc:chgData name="Claudio De Sio Cesari" userId="a29b13f1a3f35475" providerId="LiveId" clId="{B8A0E6DB-47E1-49E8-BB84-493E754B0657}" dt="2021-03-01T09:51:01.149" v="1262" actId="20577"/>
        <pc:sldMkLst>
          <pc:docMk/>
          <pc:sldMk cId="3304286371" sldId="724"/>
        </pc:sldMkLst>
        <pc:spChg chg="mod">
          <ac:chgData name="Claudio De Sio Cesari" userId="a29b13f1a3f35475" providerId="LiveId" clId="{B8A0E6DB-47E1-49E8-BB84-493E754B0657}" dt="2021-03-01T09:49:17.216" v="1156" actId="20577"/>
          <ac:spMkLst>
            <pc:docMk/>
            <pc:sldMk cId="3304286371" sldId="724"/>
            <ac:spMk id="2" creationId="{4F976724-0419-453A-AB45-889B3773DB64}"/>
          </ac:spMkLst>
        </pc:spChg>
        <pc:spChg chg="mod">
          <ac:chgData name="Claudio De Sio Cesari" userId="a29b13f1a3f35475" providerId="LiveId" clId="{B8A0E6DB-47E1-49E8-BB84-493E754B0657}" dt="2021-03-01T09:51:01.149" v="1262" actId="20577"/>
          <ac:spMkLst>
            <pc:docMk/>
            <pc:sldMk cId="3304286371" sldId="724"/>
            <ac:spMk id="3" creationId="{2F9035A2-CFEB-4003-B637-44AE887E334F}"/>
          </ac:spMkLst>
        </pc:spChg>
      </pc:sldChg>
      <pc:sldChg chg="modSp mod modNotesTx">
        <pc:chgData name="Claudio De Sio Cesari" userId="a29b13f1a3f35475" providerId="LiveId" clId="{B8A0E6DB-47E1-49E8-BB84-493E754B0657}" dt="2021-03-01T10:07:32.455" v="1744" actId="27636"/>
        <pc:sldMkLst>
          <pc:docMk/>
          <pc:sldMk cId="2404731878" sldId="725"/>
        </pc:sldMkLst>
        <pc:spChg chg="mod">
          <ac:chgData name="Claudio De Sio Cesari" userId="a29b13f1a3f35475" providerId="LiveId" clId="{B8A0E6DB-47E1-49E8-BB84-493E754B0657}" dt="2021-03-01T09:54:52.221" v="1418" actId="20577"/>
          <ac:spMkLst>
            <pc:docMk/>
            <pc:sldMk cId="2404731878" sldId="725"/>
            <ac:spMk id="2" creationId="{4F976724-0419-453A-AB45-889B3773DB64}"/>
          </ac:spMkLst>
        </pc:spChg>
        <pc:spChg chg="mod">
          <ac:chgData name="Claudio De Sio Cesari" userId="a29b13f1a3f35475" providerId="LiveId" clId="{B8A0E6DB-47E1-49E8-BB84-493E754B0657}" dt="2021-03-01T10:07:32.455" v="1744" actId="27636"/>
          <ac:spMkLst>
            <pc:docMk/>
            <pc:sldMk cId="2404731878" sldId="725"/>
            <ac:spMk id="3" creationId="{2F9035A2-CFEB-4003-B637-44AE887E334F}"/>
          </ac:spMkLst>
        </pc:spChg>
      </pc:sldChg>
      <pc:sldChg chg="addSp delSp modSp mod modNotesTx">
        <pc:chgData name="Claudio De Sio Cesari" userId="a29b13f1a3f35475" providerId="LiveId" clId="{B8A0E6DB-47E1-49E8-BB84-493E754B0657}" dt="2021-03-01T10:16:50.044" v="2123" actId="20577"/>
        <pc:sldMkLst>
          <pc:docMk/>
          <pc:sldMk cId="761887705" sldId="726"/>
        </pc:sldMkLst>
        <pc:spChg chg="mod">
          <ac:chgData name="Claudio De Sio Cesari" userId="a29b13f1a3f35475" providerId="LiveId" clId="{B8A0E6DB-47E1-49E8-BB84-493E754B0657}" dt="2021-03-01T10:05:02.291" v="1731" actId="20577"/>
          <ac:spMkLst>
            <pc:docMk/>
            <pc:sldMk cId="761887705" sldId="726"/>
            <ac:spMk id="2" creationId="{4F976724-0419-453A-AB45-889B3773DB64}"/>
          </ac:spMkLst>
        </pc:spChg>
        <pc:spChg chg="del">
          <ac:chgData name="Claudio De Sio Cesari" userId="a29b13f1a3f35475" providerId="LiveId" clId="{B8A0E6DB-47E1-49E8-BB84-493E754B0657}" dt="2021-03-01T10:06:43.648" v="1734" actId="478"/>
          <ac:spMkLst>
            <pc:docMk/>
            <pc:sldMk cId="761887705" sldId="726"/>
            <ac:spMk id="3" creationId="{2F9035A2-CFEB-4003-B637-44AE887E334F}"/>
          </ac:spMkLst>
        </pc:spChg>
        <pc:spChg chg="add del mod">
          <ac:chgData name="Claudio De Sio Cesari" userId="a29b13f1a3f35475" providerId="LiveId" clId="{B8A0E6DB-47E1-49E8-BB84-493E754B0657}" dt="2021-03-01T10:16:50.044" v="2123" actId="20577"/>
          <ac:spMkLst>
            <pc:docMk/>
            <pc:sldMk cId="761887705" sldId="726"/>
            <ac:spMk id="10" creationId="{A3EF61EC-9655-49FA-9810-2704A9418A1C}"/>
          </ac:spMkLst>
        </pc:spChg>
        <pc:picChg chg="del mod">
          <ac:chgData name="Claudio De Sio Cesari" userId="a29b13f1a3f35475" providerId="LiveId" clId="{B8A0E6DB-47E1-49E8-BB84-493E754B0657}" dt="2021-03-01T10:03:46.601" v="1614" actId="478"/>
          <ac:picMkLst>
            <pc:docMk/>
            <pc:sldMk cId="761887705" sldId="726"/>
            <ac:picMk id="7" creationId="{BE303F7C-8A1F-4E2B-85BE-EF2CFE9EE073}"/>
          </ac:picMkLst>
        </pc:picChg>
        <pc:picChg chg="add del mod">
          <ac:chgData name="Claudio De Sio Cesari" userId="a29b13f1a3f35475" providerId="LiveId" clId="{B8A0E6DB-47E1-49E8-BB84-493E754B0657}" dt="2021-03-01T10:07:11.536" v="1742" actId="478"/>
          <ac:picMkLst>
            <pc:docMk/>
            <pc:sldMk cId="761887705" sldId="726"/>
            <ac:picMk id="8" creationId="{89A25D71-B827-4A8C-9077-5F399DB86051}"/>
          </ac:picMkLst>
        </pc:picChg>
      </pc:sldChg>
      <pc:sldChg chg="addSp delSp modSp mod modNotesTx">
        <pc:chgData name="Claudio De Sio Cesari" userId="a29b13f1a3f35475" providerId="LiveId" clId="{B8A0E6DB-47E1-49E8-BB84-493E754B0657}" dt="2021-03-01T10:19:24.086" v="2290" actId="255"/>
        <pc:sldMkLst>
          <pc:docMk/>
          <pc:sldMk cId="2594785291" sldId="727"/>
        </pc:sldMkLst>
        <pc:spChg chg="mod">
          <ac:chgData name="Claudio De Sio Cesari" userId="a29b13f1a3f35475" providerId="LiveId" clId="{B8A0E6DB-47E1-49E8-BB84-493E754B0657}" dt="2021-03-01T10:15:30.032" v="2092" actId="20577"/>
          <ac:spMkLst>
            <pc:docMk/>
            <pc:sldMk cId="2594785291" sldId="727"/>
            <ac:spMk id="2" creationId="{4F976724-0419-453A-AB45-889B3773DB64}"/>
          </ac:spMkLst>
        </pc:spChg>
        <pc:spChg chg="mod">
          <ac:chgData name="Claudio De Sio Cesari" userId="a29b13f1a3f35475" providerId="LiveId" clId="{B8A0E6DB-47E1-49E8-BB84-493E754B0657}" dt="2021-03-01T10:19:24.086" v="2290" actId="255"/>
          <ac:spMkLst>
            <pc:docMk/>
            <pc:sldMk cId="2594785291" sldId="727"/>
            <ac:spMk id="3" creationId="{2F9035A2-CFEB-4003-B637-44AE887E334F}"/>
          </ac:spMkLst>
        </pc:spChg>
        <pc:picChg chg="add del mod">
          <ac:chgData name="Claudio De Sio Cesari" userId="a29b13f1a3f35475" providerId="LiveId" clId="{B8A0E6DB-47E1-49E8-BB84-493E754B0657}" dt="2021-03-01T10:18:39.497" v="2219" actId="478"/>
          <ac:picMkLst>
            <pc:docMk/>
            <pc:sldMk cId="2594785291" sldId="727"/>
            <ac:picMk id="7" creationId="{10F19139-ED68-4790-9FAC-86822BF12C96}"/>
          </ac:picMkLst>
        </pc:picChg>
      </pc:sldChg>
      <pc:sldChg chg="modSp mod">
        <pc:chgData name="Claudio De Sio Cesari" userId="a29b13f1a3f35475" providerId="LiveId" clId="{B8A0E6DB-47E1-49E8-BB84-493E754B0657}" dt="2021-03-01T10:22:00.304" v="2360" actId="20577"/>
        <pc:sldMkLst>
          <pc:docMk/>
          <pc:sldMk cId="2654019919" sldId="728"/>
        </pc:sldMkLst>
        <pc:spChg chg="mod">
          <ac:chgData name="Claudio De Sio Cesari" userId="a29b13f1a3f35475" providerId="LiveId" clId="{B8A0E6DB-47E1-49E8-BB84-493E754B0657}" dt="2021-03-01T10:20:27.481" v="2309" actId="20577"/>
          <ac:spMkLst>
            <pc:docMk/>
            <pc:sldMk cId="2654019919" sldId="728"/>
            <ac:spMk id="2" creationId="{4F976724-0419-453A-AB45-889B3773DB64}"/>
          </ac:spMkLst>
        </pc:spChg>
        <pc:spChg chg="mod">
          <ac:chgData name="Claudio De Sio Cesari" userId="a29b13f1a3f35475" providerId="LiveId" clId="{B8A0E6DB-47E1-49E8-BB84-493E754B0657}" dt="2021-03-01T10:22:00.304" v="2360" actId="20577"/>
          <ac:spMkLst>
            <pc:docMk/>
            <pc:sldMk cId="2654019919" sldId="728"/>
            <ac:spMk id="3" creationId="{2F9035A2-CFEB-4003-B637-44AE887E334F}"/>
          </ac:spMkLst>
        </pc:spChg>
      </pc:sldChg>
      <pc:sldChg chg="modSp mod modNotesTx">
        <pc:chgData name="Claudio De Sio Cesari" userId="a29b13f1a3f35475" providerId="LiveId" clId="{B8A0E6DB-47E1-49E8-BB84-493E754B0657}" dt="2021-03-01T10:27:12.791" v="2637" actId="6549"/>
        <pc:sldMkLst>
          <pc:docMk/>
          <pc:sldMk cId="934814956" sldId="729"/>
        </pc:sldMkLst>
        <pc:spChg chg="mod">
          <ac:chgData name="Claudio De Sio Cesari" userId="a29b13f1a3f35475" providerId="LiveId" clId="{B8A0E6DB-47E1-49E8-BB84-493E754B0657}" dt="2021-03-01T10:22:26.347" v="2383" actId="20577"/>
          <ac:spMkLst>
            <pc:docMk/>
            <pc:sldMk cId="934814956" sldId="729"/>
            <ac:spMk id="2" creationId="{4F976724-0419-453A-AB45-889B3773DB64}"/>
          </ac:spMkLst>
        </pc:spChg>
        <pc:spChg chg="mod">
          <ac:chgData name="Claudio De Sio Cesari" userId="a29b13f1a3f35475" providerId="LiveId" clId="{B8A0E6DB-47E1-49E8-BB84-493E754B0657}" dt="2021-03-01T10:24:33.383" v="2575" actId="27636"/>
          <ac:spMkLst>
            <pc:docMk/>
            <pc:sldMk cId="934814956" sldId="729"/>
            <ac:spMk id="3" creationId="{2F9035A2-CFEB-4003-B637-44AE887E334F}"/>
          </ac:spMkLst>
        </pc:spChg>
      </pc:sldChg>
      <pc:sldChg chg="modSp mod modNotesTx">
        <pc:chgData name="Claudio De Sio Cesari" userId="a29b13f1a3f35475" providerId="LiveId" clId="{B8A0E6DB-47E1-49E8-BB84-493E754B0657}" dt="2021-03-01T10:30:59.494" v="2865" actId="20577"/>
        <pc:sldMkLst>
          <pc:docMk/>
          <pc:sldMk cId="3806857239" sldId="730"/>
        </pc:sldMkLst>
        <pc:spChg chg="mod">
          <ac:chgData name="Claudio De Sio Cesari" userId="a29b13f1a3f35475" providerId="LiveId" clId="{B8A0E6DB-47E1-49E8-BB84-493E754B0657}" dt="2021-03-01T10:28:18.376" v="2695" actId="20577"/>
          <ac:spMkLst>
            <pc:docMk/>
            <pc:sldMk cId="3806857239" sldId="730"/>
            <ac:spMk id="2" creationId="{4F976724-0419-453A-AB45-889B3773DB64}"/>
          </ac:spMkLst>
        </pc:spChg>
        <pc:spChg chg="mod">
          <ac:chgData name="Claudio De Sio Cesari" userId="a29b13f1a3f35475" providerId="LiveId" clId="{B8A0E6DB-47E1-49E8-BB84-493E754B0657}" dt="2021-03-01T10:30:59.494" v="2865" actId="20577"/>
          <ac:spMkLst>
            <pc:docMk/>
            <pc:sldMk cId="3806857239" sldId="730"/>
            <ac:spMk id="3" creationId="{2F9035A2-CFEB-4003-B637-44AE887E334F}"/>
          </ac:spMkLst>
        </pc:spChg>
      </pc:sldChg>
      <pc:sldChg chg="delSp modSp mod modNotesTx">
        <pc:chgData name="Claudio De Sio Cesari" userId="a29b13f1a3f35475" providerId="LiveId" clId="{B8A0E6DB-47E1-49E8-BB84-493E754B0657}" dt="2021-03-01T10:40:08.667" v="2904" actId="6549"/>
        <pc:sldMkLst>
          <pc:docMk/>
          <pc:sldMk cId="825804106" sldId="731"/>
        </pc:sldMkLst>
        <pc:spChg chg="mod">
          <ac:chgData name="Claudio De Sio Cesari" userId="a29b13f1a3f35475" providerId="LiveId" clId="{B8A0E6DB-47E1-49E8-BB84-493E754B0657}" dt="2021-03-01T10:38:34.801" v="2886" actId="20577"/>
          <ac:spMkLst>
            <pc:docMk/>
            <pc:sldMk cId="825804106" sldId="731"/>
            <ac:spMk id="2" creationId="{4F976724-0419-453A-AB45-889B3773DB64}"/>
          </ac:spMkLst>
        </pc:spChg>
        <pc:spChg chg="mod">
          <ac:chgData name="Claudio De Sio Cesari" userId="a29b13f1a3f35475" providerId="LiveId" clId="{B8A0E6DB-47E1-49E8-BB84-493E754B0657}" dt="2021-03-01T10:40:03.276" v="2903" actId="114"/>
          <ac:spMkLst>
            <pc:docMk/>
            <pc:sldMk cId="825804106" sldId="731"/>
            <ac:spMk id="3" creationId="{2F9035A2-CFEB-4003-B637-44AE887E334F}"/>
          </ac:spMkLst>
        </pc:spChg>
        <pc:picChg chg="del">
          <ac:chgData name="Claudio De Sio Cesari" userId="a29b13f1a3f35475" providerId="LiveId" clId="{B8A0E6DB-47E1-49E8-BB84-493E754B0657}" dt="2021-03-01T10:38:37.318" v="2887" actId="478"/>
          <ac:picMkLst>
            <pc:docMk/>
            <pc:sldMk cId="825804106" sldId="731"/>
            <ac:picMk id="9" creationId="{03815038-66C6-47C4-9EC5-8366E19E710A}"/>
          </ac:picMkLst>
        </pc:picChg>
      </pc:sldChg>
      <pc:sldChg chg="addSp delSp modSp add mod">
        <pc:chgData name="Claudio De Sio Cesari" userId="a29b13f1a3f35475" providerId="LiveId" clId="{B8A0E6DB-47E1-49E8-BB84-493E754B0657}" dt="2021-03-01T10:14:57.473" v="2067" actId="20577"/>
        <pc:sldMkLst>
          <pc:docMk/>
          <pc:sldMk cId="1125790553" sldId="732"/>
        </pc:sldMkLst>
        <pc:spChg chg="mod">
          <ac:chgData name="Claudio De Sio Cesari" userId="a29b13f1a3f35475" providerId="LiveId" clId="{B8A0E6DB-47E1-49E8-BB84-493E754B0657}" dt="2021-03-01T10:14:57.473" v="2067" actId="20577"/>
          <ac:spMkLst>
            <pc:docMk/>
            <pc:sldMk cId="1125790553" sldId="732"/>
            <ac:spMk id="2" creationId="{4F976724-0419-453A-AB45-889B3773DB64}"/>
          </ac:spMkLst>
        </pc:spChg>
        <pc:spChg chg="del">
          <ac:chgData name="Claudio De Sio Cesari" userId="a29b13f1a3f35475" providerId="LiveId" clId="{B8A0E6DB-47E1-49E8-BB84-493E754B0657}" dt="2021-03-01T10:14:11.005" v="2023" actId="478"/>
          <ac:spMkLst>
            <pc:docMk/>
            <pc:sldMk cId="1125790553" sldId="732"/>
            <ac:spMk id="10" creationId="{A3EF61EC-9655-49FA-9810-2704A9418A1C}"/>
          </ac:spMkLst>
        </pc:spChg>
        <pc:picChg chg="add del mod">
          <ac:chgData name="Claudio De Sio Cesari" userId="a29b13f1a3f35475" providerId="LiveId" clId="{B8A0E6DB-47E1-49E8-BB84-493E754B0657}" dt="2021-03-01T10:14:31.675" v="2056" actId="1036"/>
          <ac:picMkLst>
            <pc:docMk/>
            <pc:sldMk cId="1125790553" sldId="732"/>
            <ac:picMk id="8" creationId="{89A25D71-B827-4A8C-9077-5F399DB86051}"/>
          </ac:picMkLst>
        </pc:picChg>
      </pc:sldChg>
      <pc:sldChg chg="add del">
        <pc:chgData name="Claudio De Sio Cesari" userId="a29b13f1a3f35475" providerId="LiveId" clId="{B8A0E6DB-47E1-49E8-BB84-493E754B0657}" dt="2021-03-01T10:06:57.097" v="1737" actId="2890"/>
        <pc:sldMkLst>
          <pc:docMk/>
          <pc:sldMk cId="2154583084" sldId="732"/>
        </pc:sldMkLst>
      </pc:sldChg>
      <pc:sldChg chg="modSp new mod">
        <pc:chgData name="Claudio De Sio Cesari" userId="a29b13f1a3f35475" providerId="LiveId" clId="{B8A0E6DB-47E1-49E8-BB84-493E754B0657}" dt="2021-03-01T10:08:47.442" v="1823" actId="20577"/>
        <pc:sldMkLst>
          <pc:docMk/>
          <pc:sldMk cId="1256682743" sldId="733"/>
        </pc:sldMkLst>
        <pc:spChg chg="mod">
          <ac:chgData name="Claudio De Sio Cesari" userId="a29b13f1a3f35475" providerId="LiveId" clId="{B8A0E6DB-47E1-49E8-BB84-493E754B0657}" dt="2021-03-01T10:08:02.356" v="1776" actId="20577"/>
          <ac:spMkLst>
            <pc:docMk/>
            <pc:sldMk cId="1256682743" sldId="733"/>
            <ac:spMk id="2" creationId="{D62D6D6B-4C15-49B1-B550-586B9664DB81}"/>
          </ac:spMkLst>
        </pc:spChg>
        <pc:spChg chg="mod">
          <ac:chgData name="Claudio De Sio Cesari" userId="a29b13f1a3f35475" providerId="LiveId" clId="{B8A0E6DB-47E1-49E8-BB84-493E754B0657}" dt="2021-03-01T10:08:47.442" v="1823" actId="20577"/>
          <ac:spMkLst>
            <pc:docMk/>
            <pc:sldMk cId="1256682743" sldId="733"/>
            <ac:spMk id="3" creationId="{1B0AF8AC-F454-45E3-9B39-7A4B04435911}"/>
          </ac:spMkLst>
        </pc:spChg>
      </pc:sldChg>
      <pc:sldChg chg="addSp delSp modSp add mod">
        <pc:chgData name="Claudio De Sio Cesari" userId="a29b13f1a3f35475" providerId="LiveId" clId="{B8A0E6DB-47E1-49E8-BB84-493E754B0657}" dt="2021-03-01T10:18:36.118" v="2218" actId="1038"/>
        <pc:sldMkLst>
          <pc:docMk/>
          <pc:sldMk cId="3586185679" sldId="734"/>
        </pc:sldMkLst>
        <pc:spChg chg="del">
          <ac:chgData name="Claudio De Sio Cesari" userId="a29b13f1a3f35475" providerId="LiveId" clId="{B8A0E6DB-47E1-49E8-BB84-493E754B0657}" dt="2021-03-01T10:18:25.869" v="2195" actId="478"/>
          <ac:spMkLst>
            <pc:docMk/>
            <pc:sldMk cId="3586185679" sldId="734"/>
            <ac:spMk id="3" creationId="{2F9035A2-CFEB-4003-B637-44AE887E334F}"/>
          </ac:spMkLst>
        </pc:spChg>
        <pc:spChg chg="add del mod">
          <ac:chgData name="Claudio De Sio Cesari" userId="a29b13f1a3f35475" providerId="LiveId" clId="{B8A0E6DB-47E1-49E8-BB84-493E754B0657}" dt="2021-03-01T10:18:29.562" v="2196" actId="478"/>
          <ac:spMkLst>
            <pc:docMk/>
            <pc:sldMk cId="3586185679" sldId="734"/>
            <ac:spMk id="8" creationId="{4F5048F9-4010-44C7-ACB5-A4A2F303426C}"/>
          </ac:spMkLst>
        </pc:spChg>
        <pc:picChg chg="mod">
          <ac:chgData name="Claudio De Sio Cesari" userId="a29b13f1a3f35475" providerId="LiveId" clId="{B8A0E6DB-47E1-49E8-BB84-493E754B0657}" dt="2021-03-01T10:18:36.118" v="2218" actId="1038"/>
          <ac:picMkLst>
            <pc:docMk/>
            <pc:sldMk cId="3586185679" sldId="734"/>
            <ac:picMk id="7" creationId="{10F19139-ED68-4790-9FAC-86822BF12C96}"/>
          </ac:picMkLst>
        </pc:picChg>
      </pc:sldChg>
      <pc:sldChg chg="addSp delSp modSp add mod modNotesTx">
        <pc:chgData name="Claudio De Sio Cesari" userId="a29b13f1a3f35475" providerId="LiveId" clId="{B8A0E6DB-47E1-49E8-BB84-493E754B0657}" dt="2021-03-01T10:28:03.424" v="2670" actId="20577"/>
        <pc:sldMkLst>
          <pc:docMk/>
          <pc:sldMk cId="2688482045" sldId="735"/>
        </pc:sldMkLst>
        <pc:spChg chg="mod">
          <ac:chgData name="Claudio De Sio Cesari" userId="a29b13f1a3f35475" providerId="LiveId" clId="{B8A0E6DB-47E1-49E8-BB84-493E754B0657}" dt="2021-03-01T10:28:03.424" v="2670" actId="20577"/>
          <ac:spMkLst>
            <pc:docMk/>
            <pc:sldMk cId="2688482045" sldId="735"/>
            <ac:spMk id="2" creationId="{4F976724-0419-453A-AB45-889B3773DB64}"/>
          </ac:spMkLst>
        </pc:spChg>
        <pc:spChg chg="del">
          <ac:chgData name="Claudio De Sio Cesari" userId="a29b13f1a3f35475" providerId="LiveId" clId="{B8A0E6DB-47E1-49E8-BB84-493E754B0657}" dt="2021-03-01T10:25:18.018" v="2615" actId="478"/>
          <ac:spMkLst>
            <pc:docMk/>
            <pc:sldMk cId="2688482045" sldId="735"/>
            <ac:spMk id="3" creationId="{2F9035A2-CFEB-4003-B637-44AE887E334F}"/>
          </ac:spMkLst>
        </pc:spChg>
        <pc:spChg chg="add del mod">
          <ac:chgData name="Claudio De Sio Cesari" userId="a29b13f1a3f35475" providerId="LiveId" clId="{B8A0E6DB-47E1-49E8-BB84-493E754B0657}" dt="2021-03-01T10:26:20.831" v="2618"/>
          <ac:spMkLst>
            <pc:docMk/>
            <pc:sldMk cId="2688482045" sldId="735"/>
            <ac:spMk id="7" creationId="{C229D439-D5B2-4949-9683-F38657DC74E5}"/>
          </ac:spMkLst>
        </pc:spChg>
        <pc:picChg chg="add mod">
          <ac:chgData name="Claudio De Sio Cesari" userId="a29b13f1a3f35475" providerId="LiveId" clId="{B8A0E6DB-47E1-49E8-BB84-493E754B0657}" dt="2021-03-01T10:26:29.998" v="2636" actId="1035"/>
          <ac:picMkLst>
            <pc:docMk/>
            <pc:sldMk cId="2688482045" sldId="735"/>
            <ac:picMk id="9" creationId="{937F20FC-405B-4D9F-8F83-903B6455A2D4}"/>
          </ac:picMkLst>
        </pc:picChg>
      </pc:sldChg>
      <pc:sldChg chg="new del">
        <pc:chgData name="Claudio De Sio Cesari" userId="a29b13f1a3f35475" providerId="LiveId" clId="{B8A0E6DB-47E1-49E8-BB84-493E754B0657}" dt="2021-03-01T10:24:54.747" v="2577" actId="680"/>
        <pc:sldMkLst>
          <pc:docMk/>
          <pc:sldMk cId="3276902953" sldId="735"/>
        </pc:sldMkLst>
      </pc:sldChg>
      <pc:sldChg chg="modSp add mod modNotesTx">
        <pc:chgData name="Claudio De Sio Cesari" userId="a29b13f1a3f35475" providerId="LiveId" clId="{B8A0E6DB-47E1-49E8-BB84-493E754B0657}" dt="2021-03-01T10:47:00.361" v="3244"/>
        <pc:sldMkLst>
          <pc:docMk/>
          <pc:sldMk cId="2074314709" sldId="736"/>
        </pc:sldMkLst>
        <pc:spChg chg="mod">
          <ac:chgData name="Claudio De Sio Cesari" userId="a29b13f1a3f35475" providerId="LiveId" clId="{B8A0E6DB-47E1-49E8-BB84-493E754B0657}" dt="2021-03-01T10:40:35.995" v="2926" actId="20577"/>
          <ac:spMkLst>
            <pc:docMk/>
            <pc:sldMk cId="2074314709" sldId="736"/>
            <ac:spMk id="2" creationId="{4F976724-0419-453A-AB45-889B3773DB64}"/>
          </ac:spMkLst>
        </pc:spChg>
        <pc:spChg chg="mod">
          <ac:chgData name="Claudio De Sio Cesari" userId="a29b13f1a3f35475" providerId="LiveId" clId="{B8A0E6DB-47E1-49E8-BB84-493E754B0657}" dt="2021-03-01T10:47:00.361" v="3244"/>
          <ac:spMkLst>
            <pc:docMk/>
            <pc:sldMk cId="2074314709" sldId="736"/>
            <ac:spMk id="3" creationId="{2F9035A2-CFEB-4003-B637-44AE887E334F}"/>
          </ac:spMkLst>
        </pc:spChg>
      </pc:sldChg>
      <pc:sldChg chg="addSp delSp modSp add mod ord">
        <pc:chgData name="Claudio De Sio Cesari" userId="a29b13f1a3f35475" providerId="LiveId" clId="{B8A0E6DB-47E1-49E8-BB84-493E754B0657}" dt="2021-03-01T11:05:03.121" v="3484"/>
        <pc:sldMkLst>
          <pc:docMk/>
          <pc:sldMk cId="2289536399" sldId="737"/>
        </pc:sldMkLst>
        <pc:spChg chg="mod">
          <ac:chgData name="Claudio De Sio Cesari" userId="a29b13f1a3f35475" providerId="LiveId" clId="{B8A0E6DB-47E1-49E8-BB84-493E754B0657}" dt="2021-03-01T10:49:46.437" v="3325" actId="313"/>
          <ac:spMkLst>
            <pc:docMk/>
            <pc:sldMk cId="2289536399" sldId="737"/>
            <ac:spMk id="2" creationId="{4F976724-0419-453A-AB45-889B3773DB64}"/>
          </ac:spMkLst>
        </pc:spChg>
        <pc:spChg chg="del">
          <ac:chgData name="Claudio De Sio Cesari" userId="a29b13f1a3f35475" providerId="LiveId" clId="{B8A0E6DB-47E1-49E8-BB84-493E754B0657}" dt="2021-03-01T10:47:33.462" v="3246" actId="478"/>
          <ac:spMkLst>
            <pc:docMk/>
            <pc:sldMk cId="2289536399" sldId="737"/>
            <ac:spMk id="3" creationId="{2F9035A2-CFEB-4003-B637-44AE887E334F}"/>
          </ac:spMkLst>
        </pc:spChg>
        <pc:spChg chg="add del mod">
          <ac:chgData name="Claudio De Sio Cesari" userId="a29b13f1a3f35475" providerId="LiveId" clId="{B8A0E6DB-47E1-49E8-BB84-493E754B0657}" dt="2021-03-01T10:47:45.107" v="3250" actId="478"/>
          <ac:spMkLst>
            <pc:docMk/>
            <pc:sldMk cId="2289536399" sldId="737"/>
            <ac:spMk id="7" creationId="{87DD5920-6C10-4FC1-95B8-163161008D63}"/>
          </ac:spMkLst>
        </pc:spChg>
        <pc:spChg chg="add del">
          <ac:chgData name="Claudio De Sio Cesari" userId="a29b13f1a3f35475" providerId="LiveId" clId="{B8A0E6DB-47E1-49E8-BB84-493E754B0657}" dt="2021-03-01T10:47:36.077" v="3248" actId="22"/>
          <ac:spMkLst>
            <pc:docMk/>
            <pc:sldMk cId="2289536399" sldId="737"/>
            <ac:spMk id="9" creationId="{8A0220F6-AB7E-40C7-913F-F8377B738D30}"/>
          </ac:spMkLst>
        </pc:spChg>
        <pc:spChg chg="add mod">
          <ac:chgData name="Claudio De Sio Cesari" userId="a29b13f1a3f35475" providerId="LiveId" clId="{B8A0E6DB-47E1-49E8-BB84-493E754B0657}" dt="2021-03-01T10:49:18.462" v="3279" actId="1035"/>
          <ac:spMkLst>
            <pc:docMk/>
            <pc:sldMk cId="2289536399" sldId="737"/>
            <ac:spMk id="11" creationId="{1E5DF330-2586-4263-B701-9A5A8BC4B692}"/>
          </ac:spMkLst>
        </pc:spChg>
      </pc:sldChg>
      <pc:sldChg chg="modSp add mod modNotesTx">
        <pc:chgData name="Claudio De Sio Cesari" userId="a29b13f1a3f35475" providerId="LiveId" clId="{B8A0E6DB-47E1-49E8-BB84-493E754B0657}" dt="2021-03-01T11:05:49.439" v="3487"/>
        <pc:sldMkLst>
          <pc:docMk/>
          <pc:sldMk cId="3612738412" sldId="738"/>
        </pc:sldMkLst>
        <pc:spChg chg="mod">
          <ac:chgData name="Claudio De Sio Cesari" userId="a29b13f1a3f35475" providerId="LiveId" clId="{B8A0E6DB-47E1-49E8-BB84-493E754B0657}" dt="2021-03-01T10:50:09.096" v="3359" actId="20577"/>
          <ac:spMkLst>
            <pc:docMk/>
            <pc:sldMk cId="3612738412" sldId="738"/>
            <ac:spMk id="2" creationId="{4F976724-0419-453A-AB45-889B3773DB64}"/>
          </ac:spMkLst>
        </pc:spChg>
        <pc:spChg chg="mod">
          <ac:chgData name="Claudio De Sio Cesari" userId="a29b13f1a3f35475" providerId="LiveId" clId="{B8A0E6DB-47E1-49E8-BB84-493E754B0657}" dt="2021-03-01T10:50:12.610" v="3360" actId="6549"/>
          <ac:spMkLst>
            <pc:docMk/>
            <pc:sldMk cId="3612738412" sldId="738"/>
            <ac:spMk id="11" creationId="{1E5DF330-2586-4263-B701-9A5A8BC4B692}"/>
          </ac:spMkLst>
        </pc:spChg>
      </pc:sldChg>
      <pc:sldChg chg="addSp delSp modSp add mod">
        <pc:chgData name="Claudio De Sio Cesari" userId="a29b13f1a3f35475" providerId="LiveId" clId="{B8A0E6DB-47E1-49E8-BB84-493E754B0657}" dt="2021-03-01T10:55:02.368" v="3482" actId="1036"/>
        <pc:sldMkLst>
          <pc:docMk/>
          <pc:sldMk cId="248380436" sldId="739"/>
        </pc:sldMkLst>
        <pc:spChg chg="mod">
          <ac:chgData name="Claudio De Sio Cesari" userId="a29b13f1a3f35475" providerId="LiveId" clId="{B8A0E6DB-47E1-49E8-BB84-493E754B0657}" dt="2021-03-01T10:54:51.997" v="3475" actId="20577"/>
          <ac:spMkLst>
            <pc:docMk/>
            <pc:sldMk cId="248380436" sldId="739"/>
            <ac:spMk id="2" creationId="{4F976724-0419-453A-AB45-889B3773DB64}"/>
          </ac:spMkLst>
        </pc:spChg>
        <pc:spChg chg="add mod">
          <ac:chgData name="Claudio De Sio Cesari" userId="a29b13f1a3f35475" providerId="LiveId" clId="{B8A0E6DB-47E1-49E8-BB84-493E754B0657}" dt="2021-03-01T10:55:02.368" v="3482" actId="1036"/>
          <ac:spMkLst>
            <pc:docMk/>
            <pc:sldMk cId="248380436" sldId="739"/>
            <ac:spMk id="6" creationId="{D1DEE100-375A-493B-BD96-22BB30C59CC5}"/>
          </ac:spMkLst>
        </pc:spChg>
        <pc:spChg chg="del mod">
          <ac:chgData name="Claudio De Sio Cesari" userId="a29b13f1a3f35475" providerId="LiveId" clId="{B8A0E6DB-47E1-49E8-BB84-493E754B0657}" dt="2021-03-01T10:51:55.600" v="3408" actId="478"/>
          <ac:spMkLst>
            <pc:docMk/>
            <pc:sldMk cId="248380436" sldId="739"/>
            <ac:spMk id="11" creationId="{1E5DF330-2586-4263-B701-9A5A8BC4B692}"/>
          </ac:spMkLst>
        </pc:spChg>
      </pc:sldChg>
      <pc:sldChg chg="new del">
        <pc:chgData name="Claudio De Sio Cesari" userId="a29b13f1a3f35475" providerId="LiveId" clId="{B8A0E6DB-47E1-49E8-BB84-493E754B0657}" dt="2021-03-01T10:50:54.800" v="3362" actId="680"/>
        <pc:sldMkLst>
          <pc:docMk/>
          <pc:sldMk cId="544716757" sldId="739"/>
        </pc:sldMkLst>
      </pc:sldChg>
      <pc:sldChg chg="addSp delSp modSp add mod">
        <pc:chgData name="Claudio De Sio Cesari" userId="a29b13f1a3f35475" providerId="LiveId" clId="{B8A0E6DB-47E1-49E8-BB84-493E754B0657}" dt="2021-03-01T10:54:32.835" v="3461" actId="20577"/>
        <pc:sldMkLst>
          <pc:docMk/>
          <pc:sldMk cId="176215133" sldId="740"/>
        </pc:sldMkLst>
        <pc:spChg chg="mod">
          <ac:chgData name="Claudio De Sio Cesari" userId="a29b13f1a3f35475" providerId="LiveId" clId="{B8A0E6DB-47E1-49E8-BB84-493E754B0657}" dt="2021-03-01T10:54:32.835" v="3461" actId="20577"/>
          <ac:spMkLst>
            <pc:docMk/>
            <pc:sldMk cId="176215133" sldId="740"/>
            <ac:spMk id="2" creationId="{4F976724-0419-453A-AB45-889B3773DB64}"/>
          </ac:spMkLst>
        </pc:spChg>
        <pc:spChg chg="del">
          <ac:chgData name="Claudio De Sio Cesari" userId="a29b13f1a3f35475" providerId="LiveId" clId="{B8A0E6DB-47E1-49E8-BB84-493E754B0657}" dt="2021-03-01T10:54:13.586" v="3447" actId="478"/>
          <ac:spMkLst>
            <pc:docMk/>
            <pc:sldMk cId="176215133" sldId="740"/>
            <ac:spMk id="11" creationId="{1E5DF330-2586-4263-B701-9A5A8BC4B692}"/>
          </ac:spMkLst>
        </pc:spChg>
        <pc:picChg chg="add mod">
          <ac:chgData name="Claudio De Sio Cesari" userId="a29b13f1a3f35475" providerId="LiveId" clId="{B8A0E6DB-47E1-49E8-BB84-493E754B0657}" dt="2021-03-01T10:54:23.524" v="3454" actId="1036"/>
          <ac:picMkLst>
            <pc:docMk/>
            <pc:sldMk cId="176215133" sldId="740"/>
            <ac:picMk id="6" creationId="{41D994C6-51BB-4925-ABEF-0AF185FC803F}"/>
          </ac:picMkLst>
        </pc:picChg>
      </pc:sldChg>
      <pc:sldChg chg="modSp add mod ord">
        <pc:chgData name="Claudio De Sio Cesari" userId="a29b13f1a3f35475" providerId="LiveId" clId="{B8A0E6DB-47E1-49E8-BB84-493E754B0657}" dt="2021-03-01T11:13:14.268" v="3890" actId="20577"/>
        <pc:sldMkLst>
          <pc:docMk/>
          <pc:sldMk cId="3949219168" sldId="741"/>
        </pc:sldMkLst>
        <pc:spChg chg="mod">
          <ac:chgData name="Claudio De Sio Cesari" userId="a29b13f1a3f35475" providerId="LiveId" clId="{B8A0E6DB-47E1-49E8-BB84-493E754B0657}" dt="2021-03-01T11:12:30.304" v="3778" actId="20577"/>
          <ac:spMkLst>
            <pc:docMk/>
            <pc:sldMk cId="3949219168" sldId="741"/>
            <ac:spMk id="2" creationId="{4F976724-0419-453A-AB45-889B3773DB64}"/>
          </ac:spMkLst>
        </pc:spChg>
        <pc:spChg chg="mod">
          <ac:chgData name="Claudio De Sio Cesari" userId="a29b13f1a3f35475" providerId="LiveId" clId="{B8A0E6DB-47E1-49E8-BB84-493E754B0657}" dt="2021-03-01T11:13:14.268" v="3890" actId="20577"/>
          <ac:spMkLst>
            <pc:docMk/>
            <pc:sldMk cId="3949219168" sldId="741"/>
            <ac:spMk id="6" creationId="{D1DEE100-375A-493B-BD96-22BB30C59CC5}"/>
          </ac:spMkLst>
        </pc:spChg>
      </pc:sldChg>
      <pc:sldChg chg="modSp add mod ord">
        <pc:chgData name="Claudio De Sio Cesari" userId="a29b13f1a3f35475" providerId="LiveId" clId="{B8A0E6DB-47E1-49E8-BB84-493E754B0657}" dt="2021-03-01T11:18:32.095" v="4077" actId="20577"/>
        <pc:sldMkLst>
          <pc:docMk/>
          <pc:sldMk cId="344549154" sldId="742"/>
        </pc:sldMkLst>
        <pc:spChg chg="mod">
          <ac:chgData name="Claudio De Sio Cesari" userId="a29b13f1a3f35475" providerId="LiveId" clId="{B8A0E6DB-47E1-49E8-BB84-493E754B0657}" dt="2021-03-01T11:15:48.570" v="3969" actId="14100"/>
          <ac:spMkLst>
            <pc:docMk/>
            <pc:sldMk cId="344549154" sldId="742"/>
            <ac:spMk id="2" creationId="{4F976724-0419-453A-AB45-889B3773DB64}"/>
          </ac:spMkLst>
        </pc:spChg>
        <pc:spChg chg="mod">
          <ac:chgData name="Claudio De Sio Cesari" userId="a29b13f1a3f35475" providerId="LiveId" clId="{B8A0E6DB-47E1-49E8-BB84-493E754B0657}" dt="2021-03-01T11:18:32.095" v="4077" actId="20577"/>
          <ac:spMkLst>
            <pc:docMk/>
            <pc:sldMk cId="344549154" sldId="742"/>
            <ac:spMk id="11" creationId="{1E5DF330-2586-4263-B701-9A5A8BC4B692}"/>
          </ac:spMkLst>
        </pc:spChg>
      </pc:sldChg>
      <pc:sldChg chg="addSp delSp modSp add mod ord modNotesTx">
        <pc:chgData name="Claudio De Sio Cesari" userId="a29b13f1a3f35475" providerId="LiveId" clId="{B8A0E6DB-47E1-49E8-BB84-493E754B0657}" dt="2021-03-02T12:14:09.345" v="6996" actId="20577"/>
        <pc:sldMkLst>
          <pc:docMk/>
          <pc:sldMk cId="3691854465" sldId="743"/>
        </pc:sldMkLst>
        <pc:spChg chg="mod">
          <ac:chgData name="Claudio De Sio Cesari" userId="a29b13f1a3f35475" providerId="LiveId" clId="{B8A0E6DB-47E1-49E8-BB84-493E754B0657}" dt="2021-03-01T12:02:46.633" v="4102" actId="20577"/>
          <ac:spMkLst>
            <pc:docMk/>
            <pc:sldMk cId="3691854465" sldId="743"/>
            <ac:spMk id="2" creationId="{4F976724-0419-453A-AB45-889B3773DB64}"/>
          </ac:spMkLst>
        </pc:spChg>
        <pc:spChg chg="add mod">
          <ac:chgData name="Claudio De Sio Cesari" userId="a29b13f1a3f35475" providerId="LiveId" clId="{B8A0E6DB-47E1-49E8-BB84-493E754B0657}" dt="2021-03-02T12:14:09.345" v="6996" actId="20577"/>
          <ac:spMkLst>
            <pc:docMk/>
            <pc:sldMk cId="3691854465" sldId="743"/>
            <ac:spMk id="6" creationId="{682E1B67-E0B7-40B5-B5D5-4DF0FF84416C}"/>
          </ac:spMkLst>
        </pc:spChg>
        <pc:spChg chg="del">
          <ac:chgData name="Claudio De Sio Cesari" userId="a29b13f1a3f35475" providerId="LiveId" clId="{B8A0E6DB-47E1-49E8-BB84-493E754B0657}" dt="2021-03-01T11:20:17.014" v="4098" actId="478"/>
          <ac:spMkLst>
            <pc:docMk/>
            <pc:sldMk cId="3691854465" sldId="743"/>
            <ac:spMk id="11" creationId="{1E5DF330-2586-4263-B701-9A5A8BC4B692}"/>
          </ac:spMkLst>
        </pc:spChg>
      </pc:sldChg>
      <pc:sldChg chg="modSp add mod modNotesTx">
        <pc:chgData name="Claudio De Sio Cesari" userId="a29b13f1a3f35475" providerId="LiveId" clId="{B8A0E6DB-47E1-49E8-BB84-493E754B0657}" dt="2021-03-02T08:27:37.127" v="6761" actId="20577"/>
        <pc:sldMkLst>
          <pc:docMk/>
          <pc:sldMk cId="1582774526" sldId="744"/>
        </pc:sldMkLst>
        <pc:spChg chg="mod">
          <ac:chgData name="Claudio De Sio Cesari" userId="a29b13f1a3f35475" providerId="LiveId" clId="{B8A0E6DB-47E1-49E8-BB84-493E754B0657}" dt="2021-03-02T08:27:37.127" v="6761" actId="20577"/>
          <ac:spMkLst>
            <pc:docMk/>
            <pc:sldMk cId="1582774526" sldId="744"/>
            <ac:spMk id="2" creationId="{4F976724-0419-453A-AB45-889B3773DB64}"/>
          </ac:spMkLst>
        </pc:spChg>
        <pc:spChg chg="mod">
          <ac:chgData name="Claudio De Sio Cesari" userId="a29b13f1a3f35475" providerId="LiveId" clId="{B8A0E6DB-47E1-49E8-BB84-493E754B0657}" dt="2021-03-01T12:09:25.651" v="4449" actId="20577"/>
          <ac:spMkLst>
            <pc:docMk/>
            <pc:sldMk cId="1582774526" sldId="744"/>
            <ac:spMk id="6" creationId="{D1DEE100-375A-493B-BD96-22BB30C59CC5}"/>
          </ac:spMkLst>
        </pc:spChg>
      </pc:sldChg>
      <pc:sldChg chg="addSp delSp modSp add mod modNotesTx">
        <pc:chgData name="Claudio De Sio Cesari" userId="a29b13f1a3f35475" providerId="LiveId" clId="{B8A0E6DB-47E1-49E8-BB84-493E754B0657}" dt="2021-03-02T16:35:41.377" v="7437" actId="6549"/>
        <pc:sldMkLst>
          <pc:docMk/>
          <pc:sldMk cId="2064702627" sldId="745"/>
        </pc:sldMkLst>
        <pc:spChg chg="mod">
          <ac:chgData name="Claudio De Sio Cesari" userId="a29b13f1a3f35475" providerId="LiveId" clId="{B8A0E6DB-47E1-49E8-BB84-493E754B0657}" dt="2021-03-02T12:14:21.995" v="7005" actId="20577"/>
          <ac:spMkLst>
            <pc:docMk/>
            <pc:sldMk cId="2064702627" sldId="745"/>
            <ac:spMk id="2" creationId="{4F976724-0419-453A-AB45-889B3773DB64}"/>
          </ac:spMkLst>
        </pc:spChg>
        <pc:spChg chg="del">
          <ac:chgData name="Claudio De Sio Cesari" userId="a29b13f1a3f35475" providerId="LiveId" clId="{B8A0E6DB-47E1-49E8-BB84-493E754B0657}" dt="2021-03-02T12:14:31.545" v="7006" actId="478"/>
          <ac:spMkLst>
            <pc:docMk/>
            <pc:sldMk cId="2064702627" sldId="745"/>
            <ac:spMk id="6" creationId="{682E1B67-E0B7-40B5-B5D5-4DF0FF84416C}"/>
          </ac:spMkLst>
        </pc:spChg>
        <pc:spChg chg="add del mod">
          <ac:chgData name="Claudio De Sio Cesari" userId="a29b13f1a3f35475" providerId="LiveId" clId="{B8A0E6DB-47E1-49E8-BB84-493E754B0657}" dt="2021-03-02T12:14:48.398" v="7007"/>
          <ac:spMkLst>
            <pc:docMk/>
            <pc:sldMk cId="2064702627" sldId="745"/>
            <ac:spMk id="7" creationId="{31268EFD-A013-4C5B-AAA5-21DD39632359}"/>
          </ac:spMkLst>
        </pc:spChg>
        <pc:spChg chg="add mod">
          <ac:chgData name="Claudio De Sio Cesari" userId="a29b13f1a3f35475" providerId="LiveId" clId="{B8A0E6DB-47E1-49E8-BB84-493E754B0657}" dt="2021-03-02T16:35:21.606" v="7436" actId="20577"/>
          <ac:spMkLst>
            <pc:docMk/>
            <pc:sldMk cId="2064702627" sldId="745"/>
            <ac:spMk id="11" creationId="{9B76E6E8-AAD6-45A5-8342-72C4E7B4EF60}"/>
          </ac:spMkLst>
        </pc:spChg>
        <pc:picChg chg="add del mod">
          <ac:chgData name="Claudio De Sio Cesari" userId="a29b13f1a3f35475" providerId="LiveId" clId="{B8A0E6DB-47E1-49E8-BB84-493E754B0657}" dt="2021-03-02T12:15:20.514" v="7017" actId="478"/>
          <ac:picMkLst>
            <pc:docMk/>
            <pc:sldMk cId="2064702627" sldId="745"/>
            <ac:picMk id="9" creationId="{918602BF-51C5-4312-A679-CFD0E9902586}"/>
          </ac:picMkLst>
        </pc:picChg>
      </pc:sldChg>
      <pc:sldChg chg="modSp add mod">
        <pc:chgData name="Claudio De Sio Cesari" userId="a29b13f1a3f35475" providerId="LiveId" clId="{B8A0E6DB-47E1-49E8-BB84-493E754B0657}" dt="2021-03-02T12:15:17.705" v="7016" actId="6549"/>
        <pc:sldMkLst>
          <pc:docMk/>
          <pc:sldMk cId="2822491963" sldId="746"/>
        </pc:sldMkLst>
        <pc:spChg chg="mod">
          <ac:chgData name="Claudio De Sio Cesari" userId="a29b13f1a3f35475" providerId="LiveId" clId="{B8A0E6DB-47E1-49E8-BB84-493E754B0657}" dt="2021-03-02T12:15:17.705" v="7016" actId="6549"/>
          <ac:spMkLst>
            <pc:docMk/>
            <pc:sldMk cId="2822491963" sldId="746"/>
            <ac:spMk id="2" creationId="{4F976724-0419-453A-AB45-889B3773DB6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133C31-D34E-4EBE-ABC4-2DAA5A26C937}" type="datetimeFigureOut">
              <a:rPr lang="it-IT" smtClean="0"/>
              <a:t>09/03/2021</a:t>
            </a:fld>
            <a:endParaRPr lang="it-IT"/>
          </a:p>
        </p:txBody>
      </p:sp>
      <p:sp>
        <p:nvSpPr>
          <p:cNvPr id="4" name="Segnaposto immagin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5D8BF2-49EE-4CE2-A2D7-61B744D1E4D9}" type="slidenum">
              <a:rPr lang="it-IT" smtClean="0"/>
              <a:t>‹N›</a:t>
            </a:fld>
            <a:endParaRPr lang="it-IT"/>
          </a:p>
        </p:txBody>
      </p:sp>
    </p:spTree>
    <p:extLst>
      <p:ext uri="{BB962C8B-B14F-4D97-AF65-F5344CB8AC3E}">
        <p14:creationId xmlns:p14="http://schemas.microsoft.com/office/powerpoint/2010/main" val="1789352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fld id="{545D8BF2-49EE-4CE2-A2D7-61B744D1E4D9}" type="slidenum">
              <a:rPr lang="it-IT" smtClean="0"/>
              <a:t>1</a:t>
            </a:fld>
            <a:endParaRPr lang="it-IT"/>
          </a:p>
        </p:txBody>
      </p:sp>
    </p:spTree>
    <p:extLst>
      <p:ext uri="{BB962C8B-B14F-4D97-AF65-F5344CB8AC3E}">
        <p14:creationId xmlns:p14="http://schemas.microsoft.com/office/powerpoint/2010/main" val="36564639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In questo capitolo familiarizzeremo con i concetti fondamentali che sono alla base di un programma Java, sia in maniera teorica che pratica. Nel primo capitolo abbiamo scritto dei programmi, ma abbiamo utilizzato alcuni concetti fondamentali, accennando solo alla loro definizione. Ora è il momento di iniziare a comprendere tutto il codice che scriviamo al fine di padroneggiarlo e non avere mai dubbi.</a:t>
            </a:r>
          </a:p>
          <a:p>
            <a:r>
              <a:rPr lang="it-IT" sz="1800" dirty="0">
                <a:effectLst/>
                <a:latin typeface="Times New Roman" panose="02020603050405020304" pitchFamily="18" charset="0"/>
                <a:ea typeface="Times New Roman" panose="02020603050405020304" pitchFamily="18" charset="0"/>
              </a:rPr>
              <a:t>Ecco una lista di concetti che sono alla base della conoscenza del linguaggio, e che studieremo in questo capitolo:</a:t>
            </a:r>
          </a:p>
          <a:p>
            <a:pPr marL="180340" indent="180340"/>
            <a:r>
              <a:rPr lang="it-IT" sz="1800" dirty="0">
                <a:effectLst/>
                <a:latin typeface="Times New Roman" panose="02020603050405020304" pitchFamily="18" charset="0"/>
                <a:ea typeface="MS Mincho" panose="02020609040205080304" pitchFamily="49" charset="-128"/>
              </a:rPr>
              <a:t>Classe</a:t>
            </a:r>
          </a:p>
          <a:p>
            <a:pPr marL="180340" indent="180340"/>
            <a:r>
              <a:rPr lang="it-IT" sz="1800" dirty="0">
                <a:effectLst/>
                <a:latin typeface="Times New Roman" panose="02020603050405020304" pitchFamily="18" charset="0"/>
                <a:ea typeface="MS Mincho" panose="02020609040205080304" pitchFamily="49" charset="-128"/>
              </a:rPr>
              <a:t>Oggetto</a:t>
            </a:r>
          </a:p>
          <a:p>
            <a:pPr marL="180340" indent="180340"/>
            <a:r>
              <a:rPr lang="it-IT" sz="1800" dirty="0">
                <a:effectLst/>
                <a:latin typeface="Times New Roman" panose="02020603050405020304" pitchFamily="18" charset="0"/>
                <a:ea typeface="MS Mincho" panose="02020609040205080304" pitchFamily="49" charset="-128"/>
              </a:rPr>
              <a:t>Variabile</a:t>
            </a:r>
          </a:p>
          <a:p>
            <a:pPr marL="180340" indent="180340"/>
            <a:r>
              <a:rPr lang="it-IT" sz="1800" dirty="0">
                <a:effectLst/>
                <a:latin typeface="Times New Roman" panose="02020603050405020304" pitchFamily="18" charset="0"/>
                <a:ea typeface="MS Mincho" panose="02020609040205080304" pitchFamily="49" charset="-128"/>
              </a:rPr>
              <a:t>Metodo</a:t>
            </a:r>
          </a:p>
          <a:p>
            <a:pPr marL="180340" indent="180340"/>
            <a:r>
              <a:rPr lang="it-IT" sz="1800" dirty="0">
                <a:effectLst/>
                <a:latin typeface="Times New Roman" panose="02020603050405020304" pitchFamily="18" charset="0"/>
                <a:ea typeface="MS Mincho" panose="02020609040205080304" pitchFamily="49" charset="-128"/>
              </a:rPr>
              <a:t>Costruttore</a:t>
            </a:r>
          </a:p>
          <a:p>
            <a:pPr marL="180340" indent="180340"/>
            <a:r>
              <a:rPr lang="it-IT" sz="1800" dirty="0">
                <a:effectLst/>
                <a:latin typeface="Times New Roman" panose="02020603050405020304" pitchFamily="18" charset="0"/>
                <a:ea typeface="MS Mincho" panose="02020609040205080304" pitchFamily="49" charset="-128"/>
              </a:rPr>
              <a:t>Package</a:t>
            </a:r>
          </a:p>
          <a:p>
            <a:r>
              <a:rPr lang="it-IT" sz="1800" dirty="0">
                <a:effectLst/>
                <a:latin typeface="Times New Roman" panose="02020603050405020304" pitchFamily="18" charset="0"/>
                <a:ea typeface="Times New Roman" panose="02020603050405020304" pitchFamily="18" charset="0"/>
              </a:rPr>
              <a:t>Esistono altri componenti importanti per programmare in Java, come per esempio le interfacce, le annotazioni, le classi innestate, le enumerazioni, i package, i record e i moduli. Per scelta didattica si è scelto di evitare di introdurre nozioni che attualmente non sono necessarie per iniziare a programmare. Questi altri concetti verranno presentati durante la lettura di questo libro nel momento in cui il lettore dovrebbe essere pronto per apprezzarne l’utilizzo. </a:t>
            </a:r>
          </a:p>
          <a:p>
            <a:r>
              <a:rPr lang="it-IT" sz="1800" b="1" dirty="0">
                <a:effectLst/>
                <a:latin typeface="Times New Roman" panose="02020603050405020304" pitchFamily="18" charset="0"/>
                <a:ea typeface="Times New Roman" panose="02020603050405020304" pitchFamily="18" charset="0"/>
              </a:rPr>
              <a:t>[ICONA APPROFONDIMENTO 2.1]</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Tuttavia, una panoramica con qualche esempio di questi altri componenti la trovate nell’approfondimento 2.1 on line. Potete leggerla dopo aver terminato lo studio di questo capitolo.</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Anche in questo capitolo non daremo nulla per scontato, quindi anche il lettore che non ha mai programmato dovrebbe essere messo nella condizione di poter iniziare. I concetti verranno introdotti gradualmente, e solo verso la fine del capitolo, alcuni concetti saranno coperti completamente. </a:t>
            </a:r>
          </a:p>
          <a:p>
            <a:r>
              <a:rPr lang="it-IT" sz="1800" dirty="0">
                <a:effectLst/>
                <a:latin typeface="Times New Roman" panose="02020603050405020304" pitchFamily="18" charset="0"/>
                <a:ea typeface="Times New Roman" panose="02020603050405020304" pitchFamily="18" charset="0"/>
              </a:rPr>
              <a:t>Questo capitolo è strutturato in tre parti distinte. La prima si occupa di definire alcuni concetti di base della programmazione. La seconda è dedicata alla spiegazione dei componenti fondamentali di dei programmi Java. La terza invece introduce il concetto di package.</a:t>
            </a:r>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2</a:t>
            </a:fld>
            <a:endParaRPr lang="it-IT"/>
          </a:p>
        </p:txBody>
      </p:sp>
    </p:spTree>
    <p:extLst>
      <p:ext uri="{BB962C8B-B14F-4D97-AF65-F5344CB8AC3E}">
        <p14:creationId xmlns:p14="http://schemas.microsoft.com/office/powerpoint/2010/main" val="1124015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Nel capitolo 1 abbiamo approcciato al codice Java creando alcuni semplici programmi. In realtà tali programmi, avevano lo scopo di farci prendere confidenza più con l’ambiente di sviluppo che con il codice, perché quest’ultimo è stato spiegato solo parzialmente. Inoltre, si trattava di programmi che non avevano le caratteristiche di una vera applicazione Java: erano tutti costituiti da un’unica classe con un metodo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Non abbiamo fatto altro che compilare quest’unica classe, e lanciarla. Al runtime le istruzioni contenute nel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venivano eseguite sequenzialmente e il programma terminava.</a:t>
            </a:r>
          </a:p>
          <a:p>
            <a:r>
              <a:rPr lang="it-IT" sz="1800" dirty="0">
                <a:effectLst/>
                <a:latin typeface="Times New Roman" panose="02020603050405020304" pitchFamily="18" charset="0"/>
                <a:ea typeface="Times New Roman" panose="02020603050405020304" pitchFamily="18" charset="0"/>
              </a:rPr>
              <a:t>Nonostante il fatto che per fare degli esempi ci serviremo spesso di un un’unica classe che contiene solo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i veri programmi Java, hanno una struttura e soprattutto un modo di operare al runtime molto più complessi.</a:t>
            </a:r>
          </a:p>
          <a:p>
            <a:r>
              <a:rPr lang="it-IT" sz="1800" dirty="0">
                <a:effectLst/>
                <a:latin typeface="Times New Roman" panose="02020603050405020304" pitchFamily="18" charset="0"/>
                <a:ea typeface="Times New Roman" panose="02020603050405020304" pitchFamily="18" charset="0"/>
              </a:rPr>
              <a:t>Scrivere un programma in Java infatti, significa creare diversi file, ognuno dei quali contiene di solito un’unica classe. Potrebbero essere meno di dieci, ma anche decine, centinaia o anche migliaia se il progetto è vasto. Le classi saranno interconnesse tra loro, ed ognuna avrà particolari caratteristiche (rappresentate dalle variabili) e precise funzionalità (rappresentate dai metodi). Le variabili conterranno dei dati, i metodi conterranno le istruzioni da eseguire. Tra queste classi ne esisterà una sola che conterrà il metodo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Questa è una classe speciale dedicata a funzionare da punto di partenza dell’applicazione. Essa infatti viene detta </a:t>
            </a:r>
            <a:r>
              <a:rPr lang="it-IT" sz="1800" b="1" dirty="0">
                <a:effectLst/>
                <a:latin typeface="Times New Roman" panose="02020603050405020304" pitchFamily="18" charset="0"/>
                <a:ea typeface="Times New Roman" panose="02020603050405020304" pitchFamily="18" charset="0"/>
              </a:rPr>
              <a:t>classe principale</a:t>
            </a:r>
            <a:r>
              <a:rPr lang="it-IT" sz="1800" dirty="0">
                <a:effectLst/>
                <a:latin typeface="Times New Roman" panose="02020603050405020304" pitchFamily="18" charset="0"/>
                <a:ea typeface="Times New Roman" panose="02020603050405020304" pitchFamily="18" charset="0"/>
              </a:rPr>
              <a:t> (in inglese </a:t>
            </a:r>
            <a:r>
              <a:rPr lang="it-IT" sz="1800" b="1" dirty="0">
                <a:effectLst/>
                <a:latin typeface="Times New Roman" panose="02020603050405020304" pitchFamily="18" charset="0"/>
                <a:ea typeface="Times New Roman" panose="02020603050405020304" pitchFamily="18" charset="0"/>
              </a:rPr>
              <a:t>main class</a:t>
            </a:r>
            <a:r>
              <a:rPr lang="it-IT" sz="1800" dirty="0">
                <a:effectLst/>
                <a:latin typeface="Times New Roman" panose="02020603050405020304" pitchFamily="18" charset="0"/>
                <a:ea typeface="Times New Roman" panose="02020603050405020304" pitchFamily="18" charset="0"/>
              </a:rPr>
              <a:t>), ma noi italiani ci riferiamo ad essa solitamente come “</a:t>
            </a:r>
            <a:r>
              <a:rPr lang="it-IT" sz="1800" b="1" dirty="0">
                <a:effectLst/>
                <a:latin typeface="Times New Roman" panose="02020603050405020304" pitchFamily="18" charset="0"/>
                <a:ea typeface="Times New Roman" panose="02020603050405020304" pitchFamily="18" charset="0"/>
              </a:rPr>
              <a:t>classe del main</a:t>
            </a:r>
            <a:r>
              <a:rPr lang="it-IT" sz="1800" dirty="0">
                <a:effectLst/>
                <a:latin typeface="Times New Roman" panose="02020603050405020304" pitchFamily="18" charset="0"/>
                <a:ea typeface="Times New Roman" panose="02020603050405020304" pitchFamily="18" charset="0"/>
              </a:rPr>
              <a:t>”. Una volta compilate tutte le classi che fanno parte del nostro programma, ne potremo quindi lanciare una sola, e questa deve contenere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In una vera applicazione Java, al runtime,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solitamente non eseguirà istruzioni operative direttamente. Piuttosto, “creerà oggetti” a partire dalle altre classi che abbiamo compilato. Vedremo che le classi infatti, rappresentano dei modelli astratti dai quali creare particolari oggetti concreti, ognuno dei quali ha una propria identità. Tali oggetti, collaboreranno tra loro ed eseguiranno le istruzioni che occorre eseguire. </a:t>
            </a:r>
          </a:p>
          <a:p>
            <a:r>
              <a:rPr lang="it-IT" sz="1800" dirty="0">
                <a:effectLst/>
                <a:latin typeface="Times New Roman" panose="02020603050405020304" pitchFamily="18" charset="0"/>
                <a:ea typeface="Times New Roman" panose="02020603050405020304" pitchFamily="18" charset="0"/>
              </a:rPr>
              <a:t>Il quadro generale quindi, è più complesso rispetto a quanto visto finora, ma anche più interessante. </a:t>
            </a:r>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3</a:t>
            </a:fld>
            <a:endParaRPr lang="it-IT"/>
          </a:p>
        </p:txBody>
      </p:sp>
    </p:spTree>
    <p:extLst>
      <p:ext uri="{BB962C8B-B14F-4D97-AF65-F5344CB8AC3E}">
        <p14:creationId xmlns:p14="http://schemas.microsoft.com/office/powerpoint/2010/main" val="572347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4</a:t>
            </a:fld>
            <a:endParaRPr lang="it-IT"/>
          </a:p>
        </p:txBody>
      </p:sp>
    </p:spTree>
    <p:extLst>
      <p:ext uri="{BB962C8B-B14F-4D97-AF65-F5344CB8AC3E}">
        <p14:creationId xmlns:p14="http://schemas.microsoft.com/office/powerpoint/2010/main" val="2447741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Saper programmare ci permetterà di risolvere gli esercizi che troverete nella prima parte di questo libro, ma di certo non basterà per creare un vero programma partendo da zero. Per tramutare un’idea in un programma bisogna anche risolvere dei problemi concettuali, matematici, architetturali, funzionali e a volte filosofici. Potremmo anche essere così bravi a risolvere tutti questi problemi con la sola programmazione, ma è molto probabile che alla fine la qualità del codice e la tempistica non risultino soddisfacenti.</a:t>
            </a:r>
          </a:p>
        </p:txBody>
      </p:sp>
      <p:sp>
        <p:nvSpPr>
          <p:cNvPr id="4" name="Segnaposto numero diapositiva 3"/>
          <p:cNvSpPr>
            <a:spLocks noGrp="1"/>
          </p:cNvSpPr>
          <p:nvPr>
            <p:ph type="sldNum" sz="quarter" idx="5"/>
          </p:nvPr>
        </p:nvSpPr>
        <p:spPr/>
        <p:txBody>
          <a:bodyPr/>
          <a:lstStyle/>
          <a:p>
            <a:fld id="{545D8BF2-49EE-4CE2-A2D7-61B744D1E4D9}" type="slidenum">
              <a:rPr lang="it-IT" smtClean="0"/>
              <a:t>5</a:t>
            </a:fld>
            <a:endParaRPr lang="it-IT"/>
          </a:p>
        </p:txBody>
      </p:sp>
    </p:spTree>
    <p:extLst>
      <p:ext uri="{BB962C8B-B14F-4D97-AF65-F5344CB8AC3E}">
        <p14:creationId xmlns:p14="http://schemas.microsoft.com/office/powerpoint/2010/main" val="1041067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 </a:t>
            </a:r>
            <a:r>
              <a:rPr lang="it-IT" sz="1800" b="1" dirty="0">
                <a:effectLst/>
                <a:latin typeface="Times New Roman" panose="02020603050405020304" pitchFamily="18" charset="0"/>
                <a:ea typeface="Times New Roman" panose="02020603050405020304" pitchFamily="18" charset="0"/>
              </a:rPr>
              <a:t>processi</a:t>
            </a:r>
            <a:r>
              <a:rPr lang="it-IT" sz="1800" dirty="0">
                <a:effectLst/>
                <a:latin typeface="Times New Roman" panose="02020603050405020304" pitchFamily="18" charset="0"/>
                <a:ea typeface="Times New Roman" panose="02020603050405020304" pitchFamily="18" charset="0"/>
              </a:rPr>
              <a:t> (a volte chiamati erroneamente </a:t>
            </a:r>
            <a:r>
              <a:rPr lang="it-IT" sz="1800" b="1" dirty="0">
                <a:effectLst/>
                <a:latin typeface="Times New Roman" panose="02020603050405020304" pitchFamily="18" charset="0"/>
                <a:ea typeface="Times New Roman" panose="02020603050405020304" pitchFamily="18" charset="0"/>
              </a:rPr>
              <a:t>metodologie</a:t>
            </a:r>
            <a:r>
              <a:rPr lang="it-IT" sz="1800" dirty="0">
                <a:effectLst/>
                <a:latin typeface="Times New Roman" panose="02020603050405020304" pitchFamily="18" charset="0"/>
                <a:ea typeface="Times New Roman" panose="02020603050405020304" pitchFamily="18" charset="0"/>
              </a:rPr>
              <a:t>), di cui parleremo a partire dal quinto capitolo, definiscono sempre delle fasi preliminari e propedeutiche alla programmazione. Se volessimo rappresentare un processo minimale, come esempio potremmo pensare che sia composto quantomeno dalle seguenti attività:</a:t>
            </a:r>
          </a:p>
          <a:p>
            <a:pPr marL="180340" indent="180340"/>
            <a:r>
              <a:rPr lang="it-IT" sz="1800" dirty="0">
                <a:effectLst/>
                <a:latin typeface="Times New Roman" panose="02020603050405020304" pitchFamily="18" charset="0"/>
                <a:ea typeface="MS Mincho" panose="02020609040205080304" pitchFamily="49" charset="-128"/>
              </a:rPr>
              <a:t>capire tutte le funzionalità che l’applicazione deve implementare (ovvero capire </a:t>
            </a:r>
            <a:r>
              <a:rPr lang="it-IT" sz="1800" i="1" dirty="0">
                <a:effectLst/>
                <a:latin typeface="Times New Roman" panose="02020603050405020304" pitchFamily="18" charset="0"/>
                <a:ea typeface="MS Mincho" panose="02020609040205080304" pitchFamily="49" charset="-128"/>
              </a:rPr>
              <a:t>cosa</a:t>
            </a:r>
            <a:r>
              <a:rPr lang="it-IT" sz="1800" dirty="0">
                <a:effectLst/>
                <a:latin typeface="Times New Roman" panose="02020603050405020304" pitchFamily="18" charset="0"/>
                <a:ea typeface="MS Mincho" panose="02020609040205080304" pitchFamily="49" charset="-128"/>
              </a:rPr>
              <a:t> deve fare il nostro programma);</a:t>
            </a:r>
            <a:endParaRPr lang="it-IT" sz="1800" dirty="0">
              <a:effectLst/>
              <a:latin typeface="Times New Roman" panose="02020603050405020304" pitchFamily="18" charset="0"/>
              <a:ea typeface="Times New Roman" panose="02020603050405020304" pitchFamily="18" charset="0"/>
            </a:endParaRPr>
          </a:p>
          <a:p>
            <a:pPr marL="180340" indent="180340"/>
            <a:r>
              <a:rPr lang="it-IT" sz="1800" dirty="0">
                <a:effectLst/>
                <a:latin typeface="Times New Roman" panose="02020603050405020304" pitchFamily="18" charset="0"/>
                <a:ea typeface="MS Mincho" panose="02020609040205080304" pitchFamily="49" charset="-128"/>
              </a:rPr>
              <a:t>trovare delle strategie per creare il programma nel modo migliore possibile (capire </a:t>
            </a:r>
            <a:r>
              <a:rPr lang="it-IT" sz="1800" i="1" dirty="0">
                <a:effectLst/>
                <a:latin typeface="Times New Roman" panose="02020603050405020304" pitchFamily="18" charset="0"/>
                <a:ea typeface="MS Mincho" panose="02020609040205080304" pitchFamily="49" charset="-128"/>
              </a:rPr>
              <a:t>come</a:t>
            </a:r>
            <a:r>
              <a:rPr lang="it-IT" sz="1800" dirty="0">
                <a:effectLst/>
                <a:latin typeface="Times New Roman" panose="02020603050405020304" pitchFamily="18" charset="0"/>
                <a:ea typeface="MS Mincho" panose="02020609040205080304" pitchFamily="49" charset="-128"/>
              </a:rPr>
              <a:t> implementare il nostro programma);</a:t>
            </a:r>
            <a:endParaRPr lang="it-IT" sz="1800" dirty="0">
              <a:effectLst/>
              <a:latin typeface="Times New Roman" panose="02020603050405020304" pitchFamily="18" charset="0"/>
              <a:ea typeface="Times New Roman" panose="02020603050405020304" pitchFamily="18" charset="0"/>
            </a:endParaRPr>
          </a:p>
          <a:p>
            <a:pPr marL="180340" indent="180340"/>
            <a:r>
              <a:rPr lang="it-IT" sz="1800" dirty="0">
                <a:effectLst/>
                <a:latin typeface="Times New Roman" panose="02020603050405020304" pitchFamily="18" charset="0"/>
                <a:ea typeface="MS Mincho" panose="02020609040205080304" pitchFamily="49" charset="-128"/>
              </a:rPr>
              <a:t>implementare con il codice le soluzioni ipotizzate (ovvero programmare);</a:t>
            </a:r>
            <a:endParaRPr lang="it-IT" sz="1800" dirty="0">
              <a:effectLst/>
              <a:latin typeface="Times New Roman" panose="02020603050405020304" pitchFamily="18" charset="0"/>
              <a:ea typeface="Times New Roman" panose="02020603050405020304" pitchFamily="18" charset="0"/>
            </a:endParaRPr>
          </a:p>
          <a:p>
            <a:pPr marL="180340" indent="180340"/>
            <a:r>
              <a:rPr lang="it-IT" sz="1800" dirty="0">
                <a:effectLst/>
                <a:latin typeface="Times New Roman" panose="02020603050405020304" pitchFamily="18" charset="0"/>
                <a:ea typeface="MS Mincho" panose="02020609040205080304" pitchFamily="49" charset="-128"/>
              </a:rPr>
              <a:t>testare il corretto funzionamento del nostro programma e risolvere eventuali problemi.</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Questi ci sembrano i passi indispensabili che devono essere eseguiti per sviluppare qualsiasi tipo di software. Per ognuno di questi passi esistono tantissime tecniche che permettono di arrivare ad una soluzione; vedremo più avanti alcune di esse. Per ora però, dobbiamo renderci conto che la programmazione è solo un pezzo del puzzle. Riuscite ad immaginare di poter scrivere un programma senza conoscere cosa deve fare (quindi saltando il passo 1 e di conseguenza il passo 2)? Beh, in realtà succede tantissime volte, e i risultati sono sempre disastrosi.</a:t>
            </a:r>
          </a:p>
          <a:p>
            <a:r>
              <a:rPr lang="it-IT" sz="1800" dirty="0">
                <a:effectLst/>
                <a:latin typeface="Times New Roman" panose="02020603050405020304" pitchFamily="18" charset="0"/>
                <a:ea typeface="Times New Roman" panose="02020603050405020304" pitchFamily="18" charset="0"/>
              </a:rPr>
              <a:t>Quindi supponendo di trovarci nella situazione di aver eseguito correttamente il passo 1 e che ci siano chiare tutte le funzionalità da implementare, come facciamo a capire qual è il modo migliore per implementarle?</a:t>
            </a:r>
          </a:p>
          <a:p>
            <a:r>
              <a:rPr lang="it-IT" sz="1800" dirty="0">
                <a:effectLst/>
                <a:latin typeface="Times New Roman" panose="02020603050405020304" pitchFamily="18" charset="0"/>
                <a:ea typeface="Times New Roman" panose="02020603050405020304" pitchFamily="18" charset="0"/>
              </a:rPr>
              <a:t>Ogni linguaggio di programmazione offre determinati strumenti per programmare. In base a tali strumenti è possibile utilizzare un certo </a:t>
            </a:r>
            <a:r>
              <a:rPr lang="it-IT" sz="1800" b="1" dirty="0">
                <a:effectLst/>
                <a:latin typeface="Times New Roman" panose="02020603050405020304" pitchFamily="18" charset="0"/>
                <a:ea typeface="Times New Roman" panose="02020603050405020304" pitchFamily="18" charset="0"/>
              </a:rPr>
              <a:t>paradigma di programmazione</a:t>
            </a:r>
            <a:r>
              <a:rPr lang="it-IT" sz="1800" dirty="0">
                <a:effectLst/>
                <a:latin typeface="Times New Roman" panose="02020603050405020304" pitchFamily="18" charset="0"/>
                <a:ea typeface="Times New Roman" panose="02020603050405020304" pitchFamily="18" charset="0"/>
              </a:rPr>
              <a:t> (o </a:t>
            </a:r>
            <a:r>
              <a:rPr lang="it-IT" sz="1800" b="1" dirty="0">
                <a:effectLst/>
                <a:latin typeface="Times New Roman" panose="02020603050405020304" pitchFamily="18" charset="0"/>
                <a:ea typeface="Times New Roman" panose="02020603050405020304" pitchFamily="18" charset="0"/>
              </a:rPr>
              <a:t>stile di programmazione</a:t>
            </a:r>
            <a:r>
              <a:rPr lang="it-IT" sz="1800" dirty="0">
                <a:effectLst/>
                <a:latin typeface="Times New Roman" panose="02020603050405020304" pitchFamily="18" charset="0"/>
                <a:ea typeface="Times New Roman" panose="02020603050405020304" pitchFamily="18" charset="0"/>
              </a:rPr>
              <a:t>), ovvero utilizzare dei processi che portano a creare programmi strutturati con determinate caratteristiche. In altre parole un paradigma di programmazione consente di creare un programma eseguendo delle attività ben definite, che faranno in modo che il nostro software possa godere dei vantaggi che offre il paradigma stesso. Ma quali sono i paradigmi esistenti? Ne esistono diversi, per ora ci concentreremo sul paradigma ad oggetti.</a:t>
            </a:r>
          </a:p>
        </p:txBody>
      </p:sp>
    </p:spTree>
    <p:extLst>
      <p:ext uri="{BB962C8B-B14F-4D97-AF65-F5344CB8AC3E}">
        <p14:creationId xmlns:p14="http://schemas.microsoft.com/office/powerpoint/2010/main" val="1854994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Java è stato progettato principalmente per supportare la </a:t>
            </a:r>
            <a:r>
              <a:rPr lang="it-IT" sz="1800" b="1" dirty="0">
                <a:effectLst/>
                <a:latin typeface="Times New Roman" panose="02020603050405020304" pitchFamily="18" charset="0"/>
                <a:ea typeface="Times New Roman" panose="02020603050405020304" pitchFamily="18" charset="0"/>
              </a:rPr>
              <a:t>programmazione ad oggetti</a:t>
            </a:r>
            <a:r>
              <a:rPr lang="it-IT" sz="1800" dirty="0">
                <a:effectLst/>
                <a:latin typeface="Times New Roman" panose="02020603050405020304" pitchFamily="18" charset="0"/>
                <a:ea typeface="Times New Roman" panose="02020603050405020304" pitchFamily="18" charset="0"/>
              </a:rPr>
              <a:t> (in inglese </a:t>
            </a:r>
            <a:r>
              <a:rPr lang="it-IT" sz="1800" b="1" dirty="0">
                <a:effectLst/>
                <a:latin typeface="Times New Roman" panose="02020603050405020304" pitchFamily="18" charset="0"/>
                <a:ea typeface="Times New Roman" panose="02020603050405020304" pitchFamily="18" charset="0"/>
              </a:rPr>
              <a:t>object oriented programming</a:t>
            </a:r>
            <a:r>
              <a:rPr lang="it-IT" sz="1800" dirty="0">
                <a:effectLst/>
                <a:latin typeface="Times New Roman" panose="02020603050405020304" pitchFamily="18" charset="0"/>
                <a:ea typeface="Times New Roman" panose="02020603050405020304" pitchFamily="18" charset="0"/>
              </a:rPr>
              <a:t>, da cui l’acronimo </a:t>
            </a:r>
            <a:r>
              <a:rPr lang="it-IT" sz="1800" b="1" dirty="0">
                <a:effectLst/>
                <a:latin typeface="Times New Roman" panose="02020603050405020304" pitchFamily="18" charset="0"/>
                <a:ea typeface="Times New Roman" panose="02020603050405020304" pitchFamily="18" charset="0"/>
              </a:rPr>
              <a:t>OOP</a:t>
            </a:r>
            <a:r>
              <a:rPr lang="it-IT" sz="1800" dirty="0">
                <a:effectLst/>
                <a:latin typeface="Times New Roman" panose="02020603050405020304" pitchFamily="18" charset="0"/>
                <a:ea typeface="Times New Roman" panose="02020603050405020304" pitchFamily="18" charset="0"/>
              </a:rPr>
              <a:t>). Si dice anche che Java è un </a:t>
            </a:r>
            <a:r>
              <a:rPr lang="it-IT" sz="1800" b="1" dirty="0">
                <a:effectLst/>
                <a:latin typeface="Times New Roman" panose="02020603050405020304" pitchFamily="18" charset="0"/>
                <a:ea typeface="Times New Roman" panose="02020603050405020304" pitchFamily="18" charset="0"/>
              </a:rPr>
              <a:t>linguaggio orientato agli oggetti</a:t>
            </a:r>
            <a:r>
              <a:rPr lang="it-IT" sz="1800" dirty="0">
                <a:effectLst/>
                <a:latin typeface="Times New Roman" panose="02020603050405020304" pitchFamily="18" charset="0"/>
                <a:ea typeface="Times New Roman" panose="02020603050405020304" pitchFamily="18" charset="0"/>
              </a:rPr>
              <a:t> (in inglese </a:t>
            </a:r>
            <a:r>
              <a:rPr lang="it-IT" sz="1800" b="1" dirty="0">
                <a:effectLst/>
                <a:latin typeface="Times New Roman" panose="02020603050405020304" pitchFamily="18" charset="0"/>
                <a:ea typeface="Times New Roman" panose="02020603050405020304" pitchFamily="18" charset="0"/>
              </a:rPr>
              <a:t>object oriented</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La programmazione ad oggetti è uno stile di programmazione che si basa su concetti ispirati dal mondo che ci circonda. Ogni definizione che fa parte della teoria dell'Object Orientation infatti, ha un corrispettivo concetto anche nel mondo reale. Tale teoria è nata proprio per soddisfare l'esigenza umana di interagire con il software in maniera più naturale. Per capire quindi le definizioni dell’OOP, bisognerà solo associare un concetto già familiare ad un nuovo termine, non sarà particolarmente complesso. </a:t>
            </a:r>
          </a:p>
          <a:p>
            <a:r>
              <a:rPr lang="it-IT" sz="1800" dirty="0">
                <a:effectLst/>
                <a:latin typeface="Times New Roman" panose="02020603050405020304" pitchFamily="18" charset="0"/>
                <a:ea typeface="Times New Roman" panose="02020603050405020304" pitchFamily="18" charset="0"/>
              </a:rPr>
              <a:t>Sono molti i termini che vengono definiti dalla OOP, ed i più famosi sono probabilmente l’incapsulamento, l’ereditarietà, ed il polimorfismo, che sono paradigmi che caratterizzano l’OOP. In generale infatti, un linguaggio di programmazione, si può definire orientato agli oggetti se supporta questi concetti. Probabilmente però, il paradigma più importante di tutti è l’astrazione, che viene utilizzato anche in altri stili di programmazione.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Gli altri li vedremo più in là</a:t>
            </a:r>
          </a:p>
        </p:txBody>
      </p:sp>
    </p:spTree>
    <p:extLst>
      <p:ext uri="{BB962C8B-B14F-4D97-AF65-F5344CB8AC3E}">
        <p14:creationId xmlns:p14="http://schemas.microsoft.com/office/powerpoint/2010/main" val="3000602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Il concetto di </a:t>
            </a:r>
            <a:r>
              <a:rPr lang="it-IT" sz="1800" b="1" dirty="0">
                <a:effectLst/>
                <a:latin typeface="Times New Roman" panose="02020603050405020304" pitchFamily="18" charset="0"/>
                <a:ea typeface="Times New Roman" panose="02020603050405020304" pitchFamily="18" charset="0"/>
              </a:rPr>
              <a:t>astrazione</a:t>
            </a:r>
            <a:r>
              <a:rPr lang="it-IT" sz="1800" dirty="0">
                <a:effectLst/>
                <a:latin typeface="Times New Roman" panose="02020603050405020304" pitchFamily="18" charset="0"/>
                <a:ea typeface="Times New Roman" panose="02020603050405020304" pitchFamily="18" charset="0"/>
              </a:rPr>
              <a:t> nel mondo reale, potrebbe definirsi come “l’arte di sapersi concentrare solo sui dettagli veramente importanti di un’entità in un certo contesto”. È un concetto chiarissimo a tutti noi, dal momento che lo utilizziamo in ogni istante della nostra vita. Facciamo qualche esempio. Supponiamo di stare dialogando con una persona che abbiamo appena incontrato su un treno. Mentre dialoghiamo, non pensiamo a tutti i dettagli del nostro interlocutore, ma solo alle caratteristiche ed alle funzionalità che ci servono. Ci concentriamo sulla sua voce, sul significato delle sue parole, forse su qualche dettaglio fisico, ma di certo non pensiamo a tutte le sue caratteristiche e le sue funzionalità. Probabilmente ignoriamo del tutto, la marca delle scarpe che indossa, dove abita, che lavoro fa, se è un bravo musicista. Forse possiamo addirittura ignorare il suo nome, se non ci interessa! Questo significa fare astrazione! </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Ma in generale, noi ci astraiamo sempre, quando guidiamo una macchina, quando facciamo una telefonata, quando leggiamo un libro, quando ascoltiamo musica… la vita è fatta di continue astrazioni! </a:t>
            </a:r>
          </a:p>
          <a:p>
            <a:r>
              <a:rPr lang="it-IT" sz="1800" dirty="0">
                <a:effectLst/>
                <a:latin typeface="Times New Roman" panose="02020603050405020304" pitchFamily="18" charset="0"/>
                <a:ea typeface="Times New Roman" panose="02020603050405020304" pitchFamily="18" charset="0"/>
              </a:rPr>
              <a:t>“l’essere umano supera la complessità della realtà che lo circonda, grazie alla sua capacità di astrarsi”. </a:t>
            </a:r>
          </a:p>
          <a:p>
            <a:r>
              <a:rPr lang="it-IT" sz="1800" dirty="0">
                <a:effectLst/>
                <a:latin typeface="Times New Roman" panose="02020603050405020304" pitchFamily="18" charset="0"/>
                <a:ea typeface="Times New Roman" panose="02020603050405020304" pitchFamily="18" charset="0"/>
              </a:rPr>
              <a:t>Più una persona è brava ad astrarsi, e più probabilità avrà per riuscire a raggiungere gli obiettivi che si è prefisso. Pensate cosa significherebbe non saper usare l’astrazione, e pensare a tutti i dettagli che ci circondano, non riusciremmo praticamente a fare nulla. </a:t>
            </a:r>
          </a:p>
          <a:p>
            <a:r>
              <a:rPr lang="it-IT" sz="1800" dirty="0">
                <a:effectLst/>
                <a:latin typeface="Times New Roman" panose="02020603050405020304" pitchFamily="18" charset="0"/>
                <a:ea typeface="Times New Roman" panose="02020603050405020304" pitchFamily="18" charset="0"/>
              </a:rPr>
              <a:t>Ovviamente, anche quando programmiamo usiamo l’astrazione. Ma l’astrazione, intesa come tecnica di programmazione, ci aiuta ad individuare quali componenti utilizzare o creare, per risolvere alcuni problemi. Implementare l’astrazione in Java, a volte significa semplicemente saper </a:t>
            </a:r>
            <a:r>
              <a:rPr lang="it-IT" sz="1800" u="sng" dirty="0">
                <a:effectLst/>
                <a:latin typeface="Times New Roman" panose="02020603050405020304" pitchFamily="18" charset="0"/>
                <a:ea typeface="Times New Roman" panose="02020603050405020304" pitchFamily="18" charset="0"/>
              </a:rPr>
              <a:t>trovare un nome appropriato</a:t>
            </a:r>
            <a:r>
              <a:rPr lang="it-IT" sz="1800" dirty="0">
                <a:effectLst/>
                <a:latin typeface="Times New Roman" panose="02020603050405020304" pitchFamily="18" charset="0"/>
                <a:ea typeface="Times New Roman" panose="02020603050405020304" pitchFamily="18" charset="0"/>
              </a:rPr>
              <a:t> alle entità (metodi, variabili, classi, etc.) che definiamo. Un nome adatto, come vedremo indirizzerà la nostra implementazione. </a:t>
            </a:r>
          </a:p>
          <a:p>
            <a:r>
              <a:rPr lang="it-IT" sz="1800" dirty="0">
                <a:effectLst/>
                <a:latin typeface="Times New Roman" panose="02020603050405020304" pitchFamily="18" charset="0"/>
                <a:ea typeface="Times New Roman" panose="02020603050405020304" pitchFamily="18" charset="0"/>
              </a:rPr>
              <a:t>Prima di formalizzare le definizioni dei vari componenti della programmazione Java, e che significa astrarli, spostiamoci dal livello teorico al livello pratico, formalizzando anche alcune definizioni che sono alla base della sintassi Java. In questo modo avremo un vocabolario univoco per poter affrontare tutti gli argomenti che presenteremo in questo e nei prossimi capitoli.</a:t>
            </a:r>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9</a:t>
            </a:fld>
            <a:endParaRPr lang="it-IT"/>
          </a:p>
        </p:txBody>
      </p:sp>
    </p:spTree>
    <p:extLst>
      <p:ext uri="{BB962C8B-B14F-4D97-AF65-F5344CB8AC3E}">
        <p14:creationId xmlns:p14="http://schemas.microsoft.com/office/powerpoint/2010/main" val="2710773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a:tabLst>
                <a:tab pos="3853815" algn="l"/>
              </a:tabLst>
            </a:pPr>
            <a:r>
              <a:rPr lang="it-IT" sz="1800" dirty="0">
                <a:effectLst/>
                <a:latin typeface="Times New Roman" panose="02020603050405020304" pitchFamily="18" charset="0"/>
                <a:ea typeface="Times New Roman" panose="02020603050405020304" pitchFamily="18" charset="0"/>
              </a:rPr>
              <a:t>La sintassi base del codice Java è essenzialmente costituita da:</a:t>
            </a:r>
          </a:p>
          <a:p>
            <a:pPr marL="180340" indent="180340"/>
            <a:r>
              <a:rPr lang="it-IT" sz="1800" b="1" dirty="0">
                <a:effectLst/>
                <a:latin typeface="Times New Roman" panose="02020603050405020304" pitchFamily="18" charset="0"/>
                <a:ea typeface="MS Mincho" panose="02020609040205080304" pitchFamily="49" charset="-128"/>
              </a:rPr>
              <a:t>parole definite dal linguaggio</a:t>
            </a:r>
            <a:r>
              <a:rPr lang="it-IT" sz="1800" dirty="0">
                <a:effectLst/>
                <a:latin typeface="Times New Roman" panose="02020603050405020304" pitchFamily="18" charset="0"/>
                <a:ea typeface="MS Mincho" panose="02020609040205080304" pitchFamily="49" charset="-128"/>
              </a:rPr>
              <a:t>: si tratta di parole che hanno un significato speciale per Java, che hanno la caratteristica di essere costituite solo da lettere minuscole. Nei programmi che abbiamo scritto e nella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SintassiBase</a:t>
            </a:r>
            <a:r>
              <a:rPr lang="it-IT" sz="1800" dirty="0">
                <a:effectLst/>
                <a:latin typeface="Times New Roman" panose="02020603050405020304" pitchFamily="18" charset="0"/>
                <a:ea typeface="MS Mincho" panose="02020609040205080304" pitchFamily="49" charset="-128"/>
              </a:rPr>
              <a:t>, ne abbiamo già incontrate diverse, per esempio: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class</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void</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MS Mincho" panose="02020609040205080304" pitchFamily="49" charset="-128"/>
              </a:rPr>
              <a:t>. La maggior parte delle parole definite dal linguaggio, vengono dette </a:t>
            </a:r>
            <a:r>
              <a:rPr lang="it-IT" sz="1800" b="1" dirty="0">
                <a:effectLst/>
                <a:latin typeface="Times New Roman" panose="02020603050405020304" pitchFamily="18" charset="0"/>
                <a:ea typeface="MS Mincho" panose="02020609040205080304" pitchFamily="49" charset="-128"/>
              </a:rPr>
              <a:t>parole chiave</a:t>
            </a:r>
            <a:r>
              <a:rPr lang="it-IT" sz="1800" dirty="0">
                <a:effectLst/>
                <a:latin typeface="Times New Roman" panose="02020603050405020304" pitchFamily="18" charset="0"/>
                <a:ea typeface="MS Mincho" panose="02020609040205080304" pitchFamily="49" charset="-128"/>
              </a:rPr>
              <a:t> del linguaggio;</a:t>
            </a:r>
          </a:p>
          <a:p>
            <a:pPr marL="180340" indent="180340"/>
            <a:r>
              <a:rPr lang="it-IT" sz="1800" b="1" dirty="0">
                <a:effectLst/>
                <a:latin typeface="Times New Roman" panose="02020603050405020304" pitchFamily="18" charset="0"/>
                <a:ea typeface="MS Mincho" panose="02020609040205080304" pitchFamily="49" charset="-128"/>
              </a:rPr>
              <a:t>identificatori</a:t>
            </a:r>
            <a:r>
              <a:rPr lang="it-IT" sz="1800" dirty="0">
                <a:effectLst/>
                <a:latin typeface="Times New Roman" panose="02020603050405020304" pitchFamily="18" charset="0"/>
                <a:ea typeface="MS Mincho" panose="02020609040205080304" pitchFamily="49" charset="-128"/>
              </a:rPr>
              <a:t>: sono i nomi che dobbiamo scegliere per gli elementi di programmazione che definiamo nei nostri programmi. È fondamentale che i nomi siano significativi, ed esistono anche regole e convenzioni importanti. Come esempi di identificatori, nella classe chiamata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SintassiBase</a:t>
            </a:r>
            <a:r>
              <a:rPr lang="it-IT" sz="1800" dirty="0">
                <a:effectLst/>
                <a:latin typeface="Times New Roman" panose="02020603050405020304" pitchFamily="18" charset="0"/>
                <a:ea typeface="MS Mincho" panose="02020609040205080304" pitchFamily="49" charset="-128"/>
              </a:rPr>
              <a:t> troviamo il metodo chiamato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MS Mincho" panose="02020609040205080304" pitchFamily="49" charset="-128"/>
              </a:rPr>
              <a:t>, che a sua volta contiene la dichiarazione delle variabili chiamate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variabile1 </a:t>
            </a:r>
            <a:r>
              <a:rPr lang="it-IT" sz="1800" dirty="0">
                <a:effectLst/>
                <a:latin typeface="Times New Roman" panose="02020603050405020304" pitchFamily="18" charset="0"/>
                <a:ea typeface="MS Mincho" panose="02020609040205080304" pitchFamily="49" charset="-128"/>
              </a:rPr>
              <a:t>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variabile2</a:t>
            </a:r>
            <a:r>
              <a:rPr lang="it-IT" sz="1800" dirty="0">
                <a:effectLst/>
                <a:latin typeface="Times New Roman" panose="02020603050405020304" pitchFamily="18" charset="0"/>
                <a:ea typeface="MS Mincho" panose="02020609040205080304" pitchFamily="49" charset="-128"/>
              </a:rPr>
              <a:t>..</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I concetti di variabile, metodo, classe ed oggetto saranno spiegati in dettaglio nei prossimi paragrafi. </a:t>
            </a:r>
            <a:endParaRPr lang="it-IT" sz="1800" b="1" dirty="0">
              <a:effectLst/>
              <a:latin typeface="Times New Roman" panose="02020603050405020304" pitchFamily="18" charset="0"/>
              <a:ea typeface="Times New Roman" panose="02020603050405020304" pitchFamily="18" charset="0"/>
            </a:endParaRPr>
          </a:p>
          <a:p>
            <a:pPr marL="180340" indent="180340"/>
            <a:r>
              <a:rPr lang="it-IT" sz="1800" b="1" dirty="0">
                <a:effectLst/>
                <a:latin typeface="Times New Roman" panose="02020603050405020304" pitchFamily="18" charset="0"/>
                <a:ea typeface="MS Mincho" panose="02020609040205080304" pitchFamily="49" charset="-128"/>
              </a:rPr>
              <a:t>simboli definiti dal linguaggio (operatori)</a:t>
            </a:r>
            <a:r>
              <a:rPr lang="it-IT" sz="1800" dirty="0">
                <a:effectLst/>
                <a:latin typeface="Times New Roman" panose="02020603050405020304" pitchFamily="18" charset="0"/>
                <a:ea typeface="MS Mincho" panose="02020609040205080304" pitchFamily="49" charset="-128"/>
              </a:rPr>
              <a:t>: quasi tutti i simboli che si possono utilizzare in Java sono considerati </a:t>
            </a:r>
            <a:r>
              <a:rPr lang="it-IT" sz="1800" b="1" dirty="0">
                <a:effectLst/>
                <a:latin typeface="Times New Roman" panose="02020603050405020304" pitchFamily="18" charset="0"/>
                <a:ea typeface="MS Mincho" panose="02020609040205080304" pitchFamily="49" charset="-128"/>
              </a:rPr>
              <a:t>operatori</a:t>
            </a:r>
            <a:r>
              <a:rPr lang="it-IT" sz="1800" dirty="0">
                <a:effectLst/>
                <a:latin typeface="Times New Roman" panose="02020603050405020304" pitchFamily="18" charset="0"/>
                <a:ea typeface="MS Mincho" panose="02020609040205080304" pitchFamily="49" charset="-128"/>
              </a:rPr>
              <a:t>, ovvero servono per fare operazioni. Ci risulta naturale identificare come operatori alcuni simboli che usiamo anche nella aritmetica tradizionale come quello dell’addizione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MS Mincho" panose="02020609040205080304" pitchFamily="49" charset="-128"/>
              </a:rPr>
              <a:t>”. Ma per Java esistono tanti altri operatori come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MS Mincho" panose="02020609040205080304" pitchFamily="49" charset="-128"/>
              </a:rPr>
              <a:t>” 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MS Mincho" panose="02020609040205080304" pitchFamily="49" charset="-128"/>
              </a:rPr>
              <a:t>”;</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Alcuni operatori Java sono addirittura letterali. Per esempio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new</a:t>
            </a:r>
            <a:r>
              <a:rPr lang="it-IT" sz="1800" b="1" dirty="0">
                <a:solidFill>
                  <a:srgbClr val="000000"/>
                </a:solidFill>
                <a:effectLst/>
                <a:latin typeface="Times New Roman" panose="02020603050405020304" pitchFamily="18" charset="0"/>
                <a:ea typeface="Times New Roman" panose="02020603050405020304" pitchFamily="18" charset="0"/>
              </a:rPr>
              <a:t>, oltre ad essere una delle parole chiave definite dal linguaggio, è anche un operatore.</a:t>
            </a:r>
            <a:endParaRPr lang="it-IT" sz="1800" b="1" dirty="0">
              <a:effectLst/>
              <a:latin typeface="Times New Roman" panose="02020603050405020304" pitchFamily="18" charset="0"/>
              <a:ea typeface="Times New Roman" panose="02020603050405020304" pitchFamily="18" charset="0"/>
            </a:endParaRPr>
          </a:p>
          <a:p>
            <a:pPr marL="180340" indent="180340"/>
            <a:r>
              <a:rPr lang="it-IT" sz="1800" b="1" dirty="0">
                <a:effectLst/>
                <a:latin typeface="Times New Roman" panose="02020603050405020304" pitchFamily="18" charset="0"/>
                <a:ea typeface="MS Mincho" panose="02020609040205080304" pitchFamily="49" charset="-128"/>
              </a:rPr>
              <a:t>dati (valori o literals)</a:t>
            </a:r>
            <a:r>
              <a:rPr lang="it-IT" sz="1800" dirty="0">
                <a:effectLst/>
                <a:latin typeface="Times New Roman" panose="02020603050405020304" pitchFamily="18" charset="0"/>
                <a:ea typeface="MS Mincho" panose="02020609040205080304" pitchFamily="49" charset="-128"/>
              </a:rPr>
              <a:t>: il programmatore usa i dati come informazioni. Queste essenzialmente corrispondono ai </a:t>
            </a:r>
            <a:r>
              <a:rPr lang="it-IT" sz="1800" b="1" dirty="0">
                <a:effectLst/>
                <a:latin typeface="Times New Roman" panose="02020603050405020304" pitchFamily="18" charset="0"/>
                <a:ea typeface="MS Mincho" panose="02020609040205080304" pitchFamily="49" charset="-128"/>
              </a:rPr>
              <a:t>valori</a:t>
            </a:r>
            <a:r>
              <a:rPr lang="it-IT" sz="1800" dirty="0">
                <a:effectLst/>
                <a:latin typeface="Times New Roman" panose="02020603050405020304" pitchFamily="18" charset="0"/>
                <a:ea typeface="MS Mincho" panose="02020609040205080304" pitchFamily="49" charset="-128"/>
              </a:rPr>
              <a:t> costanti. In Java tali valori vengono detti </a:t>
            </a:r>
            <a:r>
              <a:rPr lang="it-IT" sz="1800" b="1" dirty="0">
                <a:effectLst/>
                <a:latin typeface="Times New Roman" panose="02020603050405020304" pitchFamily="18" charset="0"/>
                <a:ea typeface="MS Mincho" panose="02020609040205080304" pitchFamily="49" charset="-128"/>
              </a:rPr>
              <a:t>literals</a:t>
            </a:r>
            <a:r>
              <a:rPr lang="it-IT" sz="1800" dirty="0">
                <a:effectLst/>
                <a:latin typeface="Times New Roman" panose="02020603050405020304" pitchFamily="18" charset="0"/>
                <a:ea typeface="MS Mincho" panose="02020609040205080304" pitchFamily="49" charset="-128"/>
              </a:rPr>
              <a:t>, ed hanno la caratteristica di essere specificati nel codice sorgente invece che al runtime, e possono apparire solo sul lato destro di un’assegnazione o come argomenti quando si invocano metodi. Nella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SintassiBase</a:t>
            </a:r>
            <a:r>
              <a:rPr lang="it-IT" sz="1800" dirty="0">
                <a:effectLst/>
                <a:latin typeface="Times New Roman" panose="02020603050405020304" pitchFamily="18" charset="0"/>
                <a:ea typeface="MS Mincho" panose="02020609040205080304" pitchFamily="49" charset="-128"/>
              </a:rPr>
              <a:t>, è facile individuare come dati (o literals), i valori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10</a:t>
            </a:r>
            <a:r>
              <a:rPr lang="it-IT" sz="1800" dirty="0">
                <a:effectLst/>
                <a:latin typeface="Times New Roman" panose="02020603050405020304" pitchFamily="18" charset="0"/>
                <a:ea typeface="MS Mincho" panose="02020609040205080304" pitchFamily="49" charset="-128"/>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20</a:t>
            </a:r>
            <a:r>
              <a:rPr lang="it-IT" sz="1800" dirty="0">
                <a:effectLst/>
                <a:latin typeface="Times New Roman" panose="02020603050405020304" pitchFamily="18" charset="0"/>
                <a:ea typeface="MS Mincho" panose="02020609040205080304" pitchFamily="49" charset="-128"/>
              </a:rPr>
              <a:t> assegnati alle variabili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variabile1</a:t>
            </a:r>
            <a:r>
              <a:rPr lang="it-IT" sz="1800" dirty="0">
                <a:effectLst/>
                <a:latin typeface="Times New Roman" panose="02020603050405020304" pitchFamily="18" charset="0"/>
                <a:ea typeface="MS Mincho" panose="02020609040205080304" pitchFamily="49" charset="-128"/>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variabile2</a:t>
            </a:r>
            <a:r>
              <a:rPr lang="it-IT" sz="1800" dirty="0">
                <a:effectLst/>
                <a:latin typeface="Times New Roman" panose="02020603050405020304" pitchFamily="18" charset="0"/>
                <a:ea typeface="MS Mincho" panose="02020609040205080304" pitchFamily="49" charset="-128"/>
              </a:rPr>
              <a:t>.</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È bene precisare che c’è differenza tra i concetti di tra </a:t>
            </a:r>
            <a:r>
              <a:rPr lang="it-IT" sz="1800" b="1" i="1" dirty="0">
                <a:solidFill>
                  <a:srgbClr val="000000"/>
                </a:solidFill>
                <a:effectLst/>
                <a:latin typeface="Times New Roman" panose="02020603050405020304" pitchFamily="18" charset="0"/>
                <a:ea typeface="Times New Roman" panose="02020603050405020304" pitchFamily="18" charset="0"/>
              </a:rPr>
              <a:t>dato</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i="1" dirty="0">
                <a:solidFill>
                  <a:srgbClr val="000000"/>
                </a:solidFill>
                <a:effectLst/>
                <a:latin typeface="Times New Roman" panose="02020603050405020304" pitchFamily="18" charset="0"/>
                <a:ea typeface="Times New Roman" panose="02020603050405020304" pitchFamily="18" charset="0"/>
              </a:rPr>
              <a:t>informazione</a:t>
            </a:r>
            <a:r>
              <a:rPr lang="it-IT" sz="1800" b="1" dirty="0">
                <a:solidFill>
                  <a:srgbClr val="000000"/>
                </a:solidFill>
                <a:effectLst/>
                <a:latin typeface="Times New Roman" panose="02020603050405020304" pitchFamily="18" charset="0"/>
                <a:ea typeface="Times New Roman" panose="02020603050405020304" pitchFamily="18" charset="0"/>
              </a:rPr>
              <a:t>. Un dato potrebbe essere un numero, un carattere o una stringa di caratteri. Un dato da solo non ha significato, ma quando è caricato di una semantica diventa informazione. Per esempio, il numero 37 è un dato che potrebbe riferirsi alle più svariate accezioni. Solo nel momento cui lo relazioniamo ad un particolare concetto, per esempio l’età di Francesco, diventa un’informazione. Ciononostante, nel testo utilizzeremo alternativamente le parole dato e informazione. Questo perché nella maggior parte dei casi, assegnando un valore ad una variabile con un apposito nome, gli si attribuirà da subito uno specifico significato.</a:t>
            </a:r>
            <a:endParaRPr lang="it-IT" sz="1800" b="1" dirty="0">
              <a:effectLst/>
              <a:latin typeface="Times New Roman" panose="02020603050405020304" pitchFamily="18" charset="0"/>
              <a:ea typeface="Times New Roman" panose="02020603050405020304" pitchFamily="18" charset="0"/>
            </a:endParaRPr>
          </a:p>
          <a:p>
            <a:pPr marL="180340" indent="180340"/>
            <a:r>
              <a:rPr lang="it-IT" sz="1800" b="1" dirty="0">
                <a:effectLst/>
                <a:latin typeface="Times New Roman" panose="02020603050405020304" pitchFamily="18" charset="0"/>
                <a:ea typeface="MS Mincho" panose="02020609040205080304" pitchFamily="49" charset="-128"/>
              </a:rPr>
              <a:t>whitespace (spazi bianchi)</a:t>
            </a:r>
            <a:r>
              <a:rPr lang="it-IT" sz="1800" dirty="0">
                <a:effectLst/>
                <a:latin typeface="Times New Roman" panose="02020603050405020304" pitchFamily="18" charset="0"/>
                <a:ea typeface="MS Mincho" panose="02020609040205080304" pitchFamily="49" charset="-128"/>
              </a:rPr>
              <a:t>: con il termine whitespace intendiamo tutti i caratteri non visibili sullo schermo. Ne esistono diversi, e vengono prodotti dalla pressione di alcuni tasti della nostra tastiera. Oltre ovviamente alla barra spaziatrice (spesso chiamata semplicemente “</a:t>
            </a:r>
            <a:r>
              <a:rPr lang="it-IT" sz="1800" dirty="0">
                <a:effectLst/>
                <a:latin typeface="Arial" panose="020B0604020202020204" pitchFamily="34" charset="0"/>
                <a:ea typeface="Times New Roman" panose="02020603050405020304" pitchFamily="18" charset="0"/>
                <a:cs typeface="Arial" panose="020B0604020202020204" pitchFamily="34" charset="0"/>
              </a:rPr>
              <a:t>SPAZIO</a:t>
            </a:r>
            <a:r>
              <a:rPr lang="it-IT" sz="1800" dirty="0">
                <a:effectLst/>
                <a:latin typeface="Times New Roman" panose="02020603050405020304" pitchFamily="18" charset="0"/>
                <a:ea typeface="MS Mincho" panose="02020609040205080304" pitchFamily="49" charset="-128"/>
              </a:rPr>
              <a:t>”), sono da considerare whitespace anche il tasto di tabulazione (“</a:t>
            </a:r>
            <a:r>
              <a:rPr lang="it-IT" sz="1800" dirty="0">
                <a:effectLst/>
                <a:latin typeface="Arial" panose="020B0604020202020204" pitchFamily="34" charset="0"/>
                <a:ea typeface="Times New Roman" panose="02020603050405020304" pitchFamily="18" charset="0"/>
                <a:cs typeface="Arial" panose="020B0604020202020204" pitchFamily="34" charset="0"/>
              </a:rPr>
              <a:t>TAB</a:t>
            </a:r>
            <a:r>
              <a:rPr lang="it-IT" sz="1800" dirty="0">
                <a:effectLst/>
                <a:latin typeface="Times New Roman" panose="02020603050405020304" pitchFamily="18" charset="0"/>
                <a:ea typeface="MS Mincho" panose="02020609040205080304" pitchFamily="49" charset="-128"/>
              </a:rPr>
              <a:t>”), o il tasto “INVIO” che ci fa andare da capo. Un unico whitespace è necessario per separare una parola definita dal linguaggio, da un’altra parola definita dal linguaggio o da un identificatore. Tutti gli altri whitespace inseriti sono utili solo allo sviluppatore per supportare la formattazione del codice allo scopo di renderlo leggibile, ma vengono completamente ignorati dal compilatore Java. In teoria infatti, potremmo scrivere un programma su di un’unica e lunghissima linea, oppure scrivere ogni singolo parola o simbolo su di una nuova riga (vedi soluzione esercizio 1.m). Il codice è comprensibile per il compilatore Java, ma incomprensibile per noi!</a:t>
            </a:r>
          </a:p>
          <a:p>
            <a:pPr marL="180340" indent="180340"/>
            <a:r>
              <a:rPr lang="it-IT" sz="1800" b="1" dirty="0">
                <a:effectLst/>
                <a:latin typeface="Times New Roman" panose="02020603050405020304" pitchFamily="18" charset="0"/>
                <a:ea typeface="MS Mincho" panose="02020609040205080304" pitchFamily="49" charset="-128"/>
              </a:rPr>
              <a:t>Commenti</a:t>
            </a:r>
            <a:r>
              <a:rPr lang="it-IT" sz="1800" dirty="0">
                <a:effectLst/>
                <a:latin typeface="Times New Roman" panose="02020603050405020304" pitchFamily="18" charset="0"/>
                <a:ea typeface="MS Mincho" panose="02020609040205080304" pitchFamily="49" charset="-128"/>
              </a:rPr>
              <a:t>: possiamo introdurre dei commenti all’interno del codice Java per spiegare il codice che scriviamo. Per tale ragione, solitamente i commenti vengono solitamente anteposti al codice a cui si riferiscono. I commenti, come i whitespace superflui, sono completamente ignorati dal compilatore Java. Introdurremo l’argomento nel prossimo capitolo visto che non si tratta di un vero e proprio elemento di programmazione. Intanto, potete trovare nel codice relativo alla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SintassiBase</a:t>
            </a:r>
            <a:r>
              <a:rPr lang="it-IT" sz="1800" dirty="0">
                <a:effectLst/>
                <a:latin typeface="Times New Roman" panose="02020603050405020304" pitchFamily="18" charset="0"/>
                <a:ea typeface="MS Mincho" panose="02020609040205080304" pitchFamily="49" charset="-128"/>
              </a:rPr>
              <a:t>, vari “commenti ad una riga”. Se volete scrivere un commento su di un'unica riga, basterà anteporre al commento due simboli di slash “//”.</a:t>
            </a:r>
          </a:p>
          <a:p>
            <a:pPr marL="180340" indent="180340"/>
            <a:r>
              <a:rPr lang="it-IT" sz="1800" dirty="0">
                <a:effectLst/>
                <a:latin typeface="Times New Roman" panose="02020603050405020304" pitchFamily="18" charset="0"/>
                <a:ea typeface="MS Mincho" panose="02020609040205080304" pitchFamily="49" charset="-128"/>
              </a:rPr>
              <a:t>Questi elementi della sintassi base, ordinati secondo le regole del linguaggio, possono formare </a:t>
            </a:r>
            <a:r>
              <a:rPr lang="it-IT" sz="1800" b="1" dirty="0">
                <a:effectLst/>
                <a:latin typeface="Times New Roman" panose="02020603050405020304" pitchFamily="18" charset="0"/>
                <a:ea typeface="MS Mincho" panose="02020609040205080304" pitchFamily="49" charset="-128"/>
              </a:rPr>
              <a:t>istruzioni</a:t>
            </a:r>
            <a:r>
              <a:rPr lang="it-IT" sz="1800" dirty="0">
                <a:effectLst/>
                <a:latin typeface="Times New Roman" panose="02020603050405020304" pitchFamily="18" charset="0"/>
                <a:ea typeface="MS Mincho" panose="02020609040205080304" pitchFamily="49" charset="-128"/>
              </a:rPr>
              <a:t> valide per il compilatore Java. </a:t>
            </a:r>
          </a:p>
        </p:txBody>
      </p:sp>
    </p:spTree>
    <p:extLst>
      <p:ext uri="{BB962C8B-B14F-4D97-AF65-F5344CB8AC3E}">
        <p14:creationId xmlns:p14="http://schemas.microsoft.com/office/powerpoint/2010/main" val="796897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800" b="1" dirty="0">
                <a:solidFill>
                  <a:srgbClr val="000000"/>
                </a:solidFill>
                <a:effectLst/>
                <a:latin typeface="Times New Roman" panose="02020603050405020304" pitchFamily="18" charset="0"/>
                <a:ea typeface="Times New Roman" panose="02020603050405020304" pitchFamily="18" charset="0"/>
              </a:rPr>
              <a:t>È bene precisare che c’è differenza tra i concetti di tra </a:t>
            </a:r>
            <a:r>
              <a:rPr lang="it-IT" sz="1800" b="1" i="1" dirty="0">
                <a:solidFill>
                  <a:srgbClr val="000000"/>
                </a:solidFill>
                <a:effectLst/>
                <a:latin typeface="Times New Roman" panose="02020603050405020304" pitchFamily="18" charset="0"/>
                <a:ea typeface="Times New Roman" panose="02020603050405020304" pitchFamily="18" charset="0"/>
              </a:rPr>
              <a:t>dato</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i="1" dirty="0">
                <a:solidFill>
                  <a:srgbClr val="000000"/>
                </a:solidFill>
                <a:effectLst/>
                <a:latin typeface="Times New Roman" panose="02020603050405020304" pitchFamily="18" charset="0"/>
                <a:ea typeface="Times New Roman" panose="02020603050405020304" pitchFamily="18" charset="0"/>
              </a:rPr>
              <a:t>informazione</a:t>
            </a:r>
            <a:r>
              <a:rPr lang="it-IT" sz="1800" b="1" dirty="0">
                <a:solidFill>
                  <a:srgbClr val="000000"/>
                </a:solidFill>
                <a:effectLst/>
                <a:latin typeface="Times New Roman" panose="02020603050405020304" pitchFamily="18" charset="0"/>
                <a:ea typeface="Times New Roman" panose="02020603050405020304" pitchFamily="18" charset="0"/>
              </a:rPr>
              <a:t>. Un dato potrebbe essere un numero, un carattere o una stringa di caratteri. Un dato da solo non ha significato, ma quando è caricato di una semantica diventa informazione. Per esempio, il numero 37 è un dato che potrebbe riferirsi alle più svariate accezioni. Solo nel momento cui lo relazioniamo ad un particolare concetto, per esempio l’età di Francesco, diventa un’informazione. Ciononostante, nel testo utilizzeremo alternativamente le parole dato e informazione. Questo perché nella maggior parte dei casi, assegnando un valore ad una variabile con un apposito nome, gli si attribuirà da subito uno specifico significato.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800" b="1" dirty="0">
              <a:solidFill>
                <a:srgbClr val="000000"/>
              </a:solidFill>
              <a:effectLst/>
              <a:latin typeface="Times New Roman" panose="02020603050405020304" pitchFamily="18" charset="0"/>
              <a:ea typeface="Times New Roman" panose="02020603050405020304" pitchFamily="18" charset="0"/>
            </a:endParaRPr>
          </a:p>
          <a:p>
            <a:pPr>
              <a:tabLst>
                <a:tab pos="3853815" algn="l"/>
              </a:tabLst>
            </a:pPr>
            <a:r>
              <a:rPr lang="it-IT" sz="1800" dirty="0">
                <a:effectLst/>
                <a:latin typeface="Times New Roman" panose="02020603050405020304" pitchFamily="18" charset="0"/>
                <a:ea typeface="Times New Roman" panose="02020603050405020304" pitchFamily="18" charset="0"/>
              </a:rPr>
              <a:t>La sintassi base del codice Java è essenzialmente costituita da:</a:t>
            </a:r>
          </a:p>
          <a:p>
            <a:pPr marL="180340" indent="180340"/>
            <a:r>
              <a:rPr lang="it-IT" sz="1800" b="1" dirty="0">
                <a:effectLst/>
                <a:latin typeface="Times New Roman" panose="02020603050405020304" pitchFamily="18" charset="0"/>
                <a:ea typeface="MS Mincho" panose="02020609040205080304" pitchFamily="49" charset="-128"/>
              </a:rPr>
              <a:t>parole definite dal linguaggio</a:t>
            </a:r>
            <a:r>
              <a:rPr lang="it-IT" sz="1800" dirty="0">
                <a:effectLst/>
                <a:latin typeface="Times New Roman" panose="02020603050405020304" pitchFamily="18" charset="0"/>
                <a:ea typeface="MS Mincho" panose="02020609040205080304" pitchFamily="49" charset="-128"/>
              </a:rPr>
              <a:t>: si tratta di parole che hanno un significato speciale per Java, che hanno la caratteristica di essere costituite solo da lettere minuscole. Nei programmi che abbiamo scritto e nella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SintassiBase</a:t>
            </a:r>
            <a:r>
              <a:rPr lang="it-IT" sz="1800" dirty="0">
                <a:effectLst/>
                <a:latin typeface="Times New Roman" panose="02020603050405020304" pitchFamily="18" charset="0"/>
                <a:ea typeface="MS Mincho" panose="02020609040205080304" pitchFamily="49" charset="-128"/>
              </a:rPr>
              <a:t>, ne abbiamo già incontrate diverse, per esempio: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class</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void</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MS Mincho" panose="02020609040205080304" pitchFamily="49" charset="-128"/>
              </a:rPr>
              <a:t>. La maggior parte delle parole definite dal linguaggio, vengono dette </a:t>
            </a:r>
            <a:r>
              <a:rPr lang="it-IT" sz="1800" b="1" dirty="0">
                <a:effectLst/>
                <a:latin typeface="Times New Roman" panose="02020603050405020304" pitchFamily="18" charset="0"/>
                <a:ea typeface="MS Mincho" panose="02020609040205080304" pitchFamily="49" charset="-128"/>
              </a:rPr>
              <a:t>parole chiave</a:t>
            </a:r>
            <a:r>
              <a:rPr lang="it-IT" sz="1800" dirty="0">
                <a:effectLst/>
                <a:latin typeface="Times New Roman" panose="02020603050405020304" pitchFamily="18" charset="0"/>
                <a:ea typeface="MS Mincho" panose="02020609040205080304" pitchFamily="49" charset="-128"/>
              </a:rPr>
              <a:t> del linguaggio;</a:t>
            </a:r>
          </a:p>
          <a:p>
            <a:pPr marL="180340" indent="180340"/>
            <a:r>
              <a:rPr lang="it-IT" sz="1800" b="1" dirty="0">
                <a:effectLst/>
                <a:latin typeface="Times New Roman" panose="02020603050405020304" pitchFamily="18" charset="0"/>
                <a:ea typeface="MS Mincho" panose="02020609040205080304" pitchFamily="49" charset="-128"/>
              </a:rPr>
              <a:t>identificatori</a:t>
            </a:r>
            <a:r>
              <a:rPr lang="it-IT" sz="1800" dirty="0">
                <a:effectLst/>
                <a:latin typeface="Times New Roman" panose="02020603050405020304" pitchFamily="18" charset="0"/>
                <a:ea typeface="MS Mincho" panose="02020609040205080304" pitchFamily="49" charset="-128"/>
              </a:rPr>
              <a:t>: sono i nomi che dobbiamo scegliere per gli elementi di programmazione che definiamo nei nostri programmi. È fondamentale che i nomi siano significativi, ed esistono anche regole e convenzioni importanti. Come esempi di identificatori, nella classe chiamata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SintassiBase</a:t>
            </a:r>
            <a:r>
              <a:rPr lang="it-IT" sz="1800" dirty="0">
                <a:effectLst/>
                <a:latin typeface="Times New Roman" panose="02020603050405020304" pitchFamily="18" charset="0"/>
                <a:ea typeface="MS Mincho" panose="02020609040205080304" pitchFamily="49" charset="-128"/>
              </a:rPr>
              <a:t> troviamo il metodo chiamato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MS Mincho" panose="02020609040205080304" pitchFamily="49" charset="-128"/>
              </a:rPr>
              <a:t>, che a sua volta contiene la dichiarazione delle variabili chiamate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variabile1 </a:t>
            </a:r>
            <a:r>
              <a:rPr lang="it-IT" sz="1800" dirty="0">
                <a:effectLst/>
                <a:latin typeface="Times New Roman" panose="02020603050405020304" pitchFamily="18" charset="0"/>
                <a:ea typeface="MS Mincho" panose="02020609040205080304" pitchFamily="49" charset="-128"/>
              </a:rPr>
              <a:t>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variabile2</a:t>
            </a:r>
            <a:r>
              <a:rPr lang="it-IT" sz="1800" dirty="0">
                <a:effectLst/>
                <a:latin typeface="Times New Roman" panose="02020603050405020304" pitchFamily="18" charset="0"/>
                <a:ea typeface="MS Mincho" panose="02020609040205080304" pitchFamily="49" charset="-128"/>
              </a:rPr>
              <a:t>..</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I concetti di variabile, metodo, classe ed oggetto saranno spiegati in dettaglio nei prossimi paragrafi. </a:t>
            </a:r>
            <a:endParaRPr lang="it-IT" sz="1800" b="1" dirty="0">
              <a:effectLst/>
              <a:latin typeface="Times New Roman" panose="02020603050405020304" pitchFamily="18" charset="0"/>
              <a:ea typeface="Times New Roman" panose="02020603050405020304" pitchFamily="18" charset="0"/>
            </a:endParaRPr>
          </a:p>
          <a:p>
            <a:pPr marL="180340" indent="180340"/>
            <a:r>
              <a:rPr lang="it-IT" sz="1800" b="1" dirty="0">
                <a:effectLst/>
                <a:latin typeface="Times New Roman" panose="02020603050405020304" pitchFamily="18" charset="0"/>
                <a:ea typeface="MS Mincho" panose="02020609040205080304" pitchFamily="49" charset="-128"/>
              </a:rPr>
              <a:t>simboli definiti dal linguaggio (operatori)</a:t>
            </a:r>
            <a:r>
              <a:rPr lang="it-IT" sz="1800" dirty="0">
                <a:effectLst/>
                <a:latin typeface="Times New Roman" panose="02020603050405020304" pitchFamily="18" charset="0"/>
                <a:ea typeface="MS Mincho" panose="02020609040205080304" pitchFamily="49" charset="-128"/>
              </a:rPr>
              <a:t>: quasi tutti i simboli che si possono utilizzare in Java sono considerati </a:t>
            </a:r>
            <a:r>
              <a:rPr lang="it-IT" sz="1800" b="1" dirty="0">
                <a:effectLst/>
                <a:latin typeface="Times New Roman" panose="02020603050405020304" pitchFamily="18" charset="0"/>
                <a:ea typeface="MS Mincho" panose="02020609040205080304" pitchFamily="49" charset="-128"/>
              </a:rPr>
              <a:t>operatori</a:t>
            </a:r>
            <a:r>
              <a:rPr lang="it-IT" sz="1800" dirty="0">
                <a:effectLst/>
                <a:latin typeface="Times New Roman" panose="02020603050405020304" pitchFamily="18" charset="0"/>
                <a:ea typeface="MS Mincho" panose="02020609040205080304" pitchFamily="49" charset="-128"/>
              </a:rPr>
              <a:t>, ovvero servono per fare operazioni. Ci risulta naturale identificare come operatori alcuni simboli che usiamo anche nella aritmetica tradizionale come quello dell’addizione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MS Mincho" panose="02020609040205080304" pitchFamily="49" charset="-128"/>
              </a:rPr>
              <a:t>”. Ma per Java esistono tanti altri operatori come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MS Mincho" panose="02020609040205080304" pitchFamily="49" charset="-128"/>
              </a:rPr>
              <a:t>” 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MS Mincho" panose="02020609040205080304" pitchFamily="49" charset="-128"/>
              </a:rPr>
              <a:t>”;</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Alcuni operatori Java sono addirittura letterali. Per esempio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new</a:t>
            </a:r>
            <a:r>
              <a:rPr lang="it-IT" sz="1800" b="1" dirty="0">
                <a:solidFill>
                  <a:srgbClr val="000000"/>
                </a:solidFill>
                <a:effectLst/>
                <a:latin typeface="Times New Roman" panose="02020603050405020304" pitchFamily="18" charset="0"/>
                <a:ea typeface="Times New Roman" panose="02020603050405020304" pitchFamily="18" charset="0"/>
              </a:rPr>
              <a:t>, oltre ad essere una delle parole chiave definite dal linguaggio, è anche un operatore.</a:t>
            </a:r>
            <a:endParaRPr lang="it-IT" sz="1800" b="1" dirty="0">
              <a:effectLst/>
              <a:latin typeface="Times New Roman" panose="02020603050405020304" pitchFamily="18" charset="0"/>
              <a:ea typeface="Times New Roman" panose="02020603050405020304" pitchFamily="18" charset="0"/>
            </a:endParaRPr>
          </a:p>
          <a:p>
            <a:pPr marL="180340" indent="180340"/>
            <a:r>
              <a:rPr lang="it-IT" sz="1800" b="1" dirty="0">
                <a:effectLst/>
                <a:latin typeface="Times New Roman" panose="02020603050405020304" pitchFamily="18" charset="0"/>
                <a:ea typeface="MS Mincho" panose="02020609040205080304" pitchFamily="49" charset="-128"/>
              </a:rPr>
              <a:t>dati (valori o literals)</a:t>
            </a:r>
            <a:r>
              <a:rPr lang="it-IT" sz="1800" dirty="0">
                <a:effectLst/>
                <a:latin typeface="Times New Roman" panose="02020603050405020304" pitchFamily="18" charset="0"/>
                <a:ea typeface="MS Mincho" panose="02020609040205080304" pitchFamily="49" charset="-128"/>
              </a:rPr>
              <a:t>: il programmatore usa i dati come informazioni. Queste essenzialmente corrispondono ai </a:t>
            </a:r>
            <a:r>
              <a:rPr lang="it-IT" sz="1800" b="1" dirty="0">
                <a:effectLst/>
                <a:latin typeface="Times New Roman" panose="02020603050405020304" pitchFamily="18" charset="0"/>
                <a:ea typeface="MS Mincho" panose="02020609040205080304" pitchFamily="49" charset="-128"/>
              </a:rPr>
              <a:t>valori</a:t>
            </a:r>
            <a:r>
              <a:rPr lang="it-IT" sz="1800" dirty="0">
                <a:effectLst/>
                <a:latin typeface="Times New Roman" panose="02020603050405020304" pitchFamily="18" charset="0"/>
                <a:ea typeface="MS Mincho" panose="02020609040205080304" pitchFamily="49" charset="-128"/>
              </a:rPr>
              <a:t> costanti. In Java tali valori vengono detti </a:t>
            </a:r>
            <a:r>
              <a:rPr lang="it-IT" sz="1800" b="1" dirty="0">
                <a:effectLst/>
                <a:latin typeface="Times New Roman" panose="02020603050405020304" pitchFamily="18" charset="0"/>
                <a:ea typeface="MS Mincho" panose="02020609040205080304" pitchFamily="49" charset="-128"/>
              </a:rPr>
              <a:t>literals</a:t>
            </a:r>
            <a:r>
              <a:rPr lang="it-IT" sz="1800" dirty="0">
                <a:effectLst/>
                <a:latin typeface="Times New Roman" panose="02020603050405020304" pitchFamily="18" charset="0"/>
                <a:ea typeface="MS Mincho" panose="02020609040205080304" pitchFamily="49" charset="-128"/>
              </a:rPr>
              <a:t>, ed hanno la caratteristica di essere specificati nel codice sorgente invece che al runtime, e possono apparire solo sul lato destro di un’assegnazione o come argomenti quando si invocano metodi. Nella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SintassiBase</a:t>
            </a:r>
            <a:r>
              <a:rPr lang="it-IT" sz="1800" dirty="0">
                <a:effectLst/>
                <a:latin typeface="Times New Roman" panose="02020603050405020304" pitchFamily="18" charset="0"/>
                <a:ea typeface="MS Mincho" panose="02020609040205080304" pitchFamily="49" charset="-128"/>
              </a:rPr>
              <a:t>, è facile individuare come dati (o literals), i valori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10</a:t>
            </a:r>
            <a:r>
              <a:rPr lang="it-IT" sz="1800" dirty="0">
                <a:effectLst/>
                <a:latin typeface="Times New Roman" panose="02020603050405020304" pitchFamily="18" charset="0"/>
                <a:ea typeface="MS Mincho" panose="02020609040205080304" pitchFamily="49" charset="-128"/>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20</a:t>
            </a:r>
            <a:r>
              <a:rPr lang="it-IT" sz="1800" dirty="0">
                <a:effectLst/>
                <a:latin typeface="Times New Roman" panose="02020603050405020304" pitchFamily="18" charset="0"/>
                <a:ea typeface="MS Mincho" panose="02020609040205080304" pitchFamily="49" charset="-128"/>
              </a:rPr>
              <a:t> assegnati alle variabili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variabile1</a:t>
            </a:r>
            <a:r>
              <a:rPr lang="it-IT" sz="1800" dirty="0">
                <a:effectLst/>
                <a:latin typeface="Times New Roman" panose="02020603050405020304" pitchFamily="18" charset="0"/>
                <a:ea typeface="MS Mincho" panose="02020609040205080304" pitchFamily="49" charset="-128"/>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variabile2</a:t>
            </a:r>
            <a:r>
              <a:rPr lang="it-IT" sz="1800" dirty="0">
                <a:effectLst/>
                <a:latin typeface="Times New Roman" panose="02020603050405020304" pitchFamily="18" charset="0"/>
                <a:ea typeface="MS Mincho" panose="02020609040205080304" pitchFamily="49" charset="-128"/>
              </a:rPr>
              <a:t>.</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È bene precisare che c’è differenza tra i concetti di tra </a:t>
            </a:r>
            <a:r>
              <a:rPr lang="it-IT" sz="1800" b="1" i="1" dirty="0">
                <a:solidFill>
                  <a:srgbClr val="000000"/>
                </a:solidFill>
                <a:effectLst/>
                <a:latin typeface="Times New Roman" panose="02020603050405020304" pitchFamily="18" charset="0"/>
                <a:ea typeface="Times New Roman" panose="02020603050405020304" pitchFamily="18" charset="0"/>
              </a:rPr>
              <a:t>dato</a:t>
            </a:r>
            <a:r>
              <a:rPr lang="it-IT" sz="1800" b="1" dirty="0">
                <a:solidFill>
                  <a:srgbClr val="000000"/>
                </a:solidFill>
                <a:effectLst/>
                <a:latin typeface="Times New Roman" panose="02020603050405020304" pitchFamily="18" charset="0"/>
                <a:ea typeface="Times New Roman" panose="02020603050405020304" pitchFamily="18" charset="0"/>
              </a:rPr>
              <a:t> e </a:t>
            </a:r>
            <a:r>
              <a:rPr lang="it-IT" sz="1800" b="1" i="1" dirty="0">
                <a:solidFill>
                  <a:srgbClr val="000000"/>
                </a:solidFill>
                <a:effectLst/>
                <a:latin typeface="Times New Roman" panose="02020603050405020304" pitchFamily="18" charset="0"/>
                <a:ea typeface="Times New Roman" panose="02020603050405020304" pitchFamily="18" charset="0"/>
              </a:rPr>
              <a:t>informazione</a:t>
            </a:r>
            <a:r>
              <a:rPr lang="it-IT" sz="1800" b="1" dirty="0">
                <a:solidFill>
                  <a:srgbClr val="000000"/>
                </a:solidFill>
                <a:effectLst/>
                <a:latin typeface="Times New Roman" panose="02020603050405020304" pitchFamily="18" charset="0"/>
                <a:ea typeface="Times New Roman" panose="02020603050405020304" pitchFamily="18" charset="0"/>
              </a:rPr>
              <a:t>. Un dato potrebbe essere un numero, un carattere o una stringa di caratteri. Un dato da solo non ha significato, ma quando è caricato di una semantica diventa informazione. Per esempio, il numero 37 è un dato che potrebbe riferirsi alle più svariate accezioni. Solo nel momento cui lo relazioniamo ad un particolare concetto, per esempio l’età di Francesco, diventa un’informazione. Ciononostante, nel testo utilizzeremo alternativamente le parole dato e informazione. Questo perché nella maggior parte dei casi, assegnando un valore ad una variabile con un apposito nome, gli si attribuirà da subito uno specifico significato.</a:t>
            </a:r>
            <a:endParaRPr lang="it-IT" sz="1800" b="1" dirty="0">
              <a:effectLst/>
              <a:latin typeface="Times New Roman" panose="02020603050405020304" pitchFamily="18" charset="0"/>
              <a:ea typeface="Times New Roman" panose="02020603050405020304" pitchFamily="18" charset="0"/>
            </a:endParaRPr>
          </a:p>
          <a:p>
            <a:pPr marL="180340" indent="180340"/>
            <a:r>
              <a:rPr lang="it-IT" sz="1800" b="1" dirty="0">
                <a:effectLst/>
                <a:latin typeface="Times New Roman" panose="02020603050405020304" pitchFamily="18" charset="0"/>
                <a:ea typeface="MS Mincho" panose="02020609040205080304" pitchFamily="49" charset="-128"/>
              </a:rPr>
              <a:t>whitespace (spazi bianchi)</a:t>
            </a:r>
            <a:r>
              <a:rPr lang="it-IT" sz="1800" dirty="0">
                <a:effectLst/>
                <a:latin typeface="Times New Roman" panose="02020603050405020304" pitchFamily="18" charset="0"/>
                <a:ea typeface="MS Mincho" panose="02020609040205080304" pitchFamily="49" charset="-128"/>
              </a:rPr>
              <a:t>: con il termine whitespace intendiamo tutti i caratteri non visibili sullo schermo. Ne esistono diversi, e vengono prodotti dalla pressione di alcuni tasti della nostra tastiera. Oltre ovviamente alla barra spaziatrice (spesso chiamata semplicemente “</a:t>
            </a:r>
            <a:r>
              <a:rPr lang="it-IT" sz="1800" dirty="0">
                <a:effectLst/>
                <a:latin typeface="Arial" panose="020B0604020202020204" pitchFamily="34" charset="0"/>
                <a:ea typeface="Times New Roman" panose="02020603050405020304" pitchFamily="18" charset="0"/>
                <a:cs typeface="Arial" panose="020B0604020202020204" pitchFamily="34" charset="0"/>
              </a:rPr>
              <a:t>SPAZIO</a:t>
            </a:r>
            <a:r>
              <a:rPr lang="it-IT" sz="1800" dirty="0">
                <a:effectLst/>
                <a:latin typeface="Times New Roman" panose="02020603050405020304" pitchFamily="18" charset="0"/>
                <a:ea typeface="MS Mincho" panose="02020609040205080304" pitchFamily="49" charset="-128"/>
              </a:rPr>
              <a:t>”), sono da considerare whitespace anche il tasto di tabulazione (“</a:t>
            </a:r>
            <a:r>
              <a:rPr lang="it-IT" sz="1800" dirty="0">
                <a:effectLst/>
                <a:latin typeface="Arial" panose="020B0604020202020204" pitchFamily="34" charset="0"/>
                <a:ea typeface="Times New Roman" panose="02020603050405020304" pitchFamily="18" charset="0"/>
                <a:cs typeface="Arial" panose="020B0604020202020204" pitchFamily="34" charset="0"/>
              </a:rPr>
              <a:t>TAB</a:t>
            </a:r>
            <a:r>
              <a:rPr lang="it-IT" sz="1800" dirty="0">
                <a:effectLst/>
                <a:latin typeface="Times New Roman" panose="02020603050405020304" pitchFamily="18" charset="0"/>
                <a:ea typeface="MS Mincho" panose="02020609040205080304" pitchFamily="49" charset="-128"/>
              </a:rPr>
              <a:t>”), o il tasto “INVIO” che ci fa andare da capo. Un unico whitespace è necessario per separare una parola definita dal linguaggio, da un’altra parola definita dal linguaggio o da un identificatore. Tutti gli altri whitespace inseriti sono utili solo allo sviluppatore per supportare la formattazione del codice allo scopo di renderlo leggibile, ma vengono completamente ignorati dal compilatore Java. In teoria infatti, potremmo scrivere un programma su di un’unica e lunghissima linea, oppure scrivere ogni singolo parola o simbolo su di una nuova riga (vedi soluzione esercizio 1.m). Il codice è comprensibile per il compilatore Java, ma incomprensibile per noi!</a:t>
            </a:r>
          </a:p>
          <a:p>
            <a:pPr marL="180340" indent="180340"/>
            <a:r>
              <a:rPr lang="it-IT" sz="1800" b="1" dirty="0">
                <a:effectLst/>
                <a:latin typeface="Times New Roman" panose="02020603050405020304" pitchFamily="18" charset="0"/>
                <a:ea typeface="MS Mincho" panose="02020609040205080304" pitchFamily="49" charset="-128"/>
              </a:rPr>
              <a:t>Commenti</a:t>
            </a:r>
            <a:r>
              <a:rPr lang="it-IT" sz="1800" dirty="0">
                <a:effectLst/>
                <a:latin typeface="Times New Roman" panose="02020603050405020304" pitchFamily="18" charset="0"/>
                <a:ea typeface="MS Mincho" panose="02020609040205080304" pitchFamily="49" charset="-128"/>
              </a:rPr>
              <a:t>: possiamo introdurre dei commenti all’interno del codice Java per spiegare il codice che scriviamo. Per tale ragione, solitamente i commenti vengono solitamente anteposti al codice a cui si riferiscono. I commenti, come i whitespace superflui, sono completamente ignorati dal compilatore Java. Introdurremo l’argomento nel prossimo capitolo visto che non si tratta di un vero e proprio elemento di programmazione. Intanto, potete trovare nel codice relativo alla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SintassiBase</a:t>
            </a:r>
            <a:r>
              <a:rPr lang="it-IT" sz="1800" dirty="0">
                <a:effectLst/>
                <a:latin typeface="Times New Roman" panose="02020603050405020304" pitchFamily="18" charset="0"/>
                <a:ea typeface="MS Mincho" panose="02020609040205080304" pitchFamily="49" charset="-128"/>
              </a:rPr>
              <a:t>, vari “commenti ad una riga”. Se volete scrivere un commento su di un'unica riga, basterà anteporre al commento due simboli di slash “//”.</a:t>
            </a:r>
          </a:p>
          <a:p>
            <a:pPr marL="180340" indent="180340"/>
            <a:r>
              <a:rPr lang="it-IT" sz="1800" dirty="0">
                <a:effectLst/>
                <a:latin typeface="Times New Roman" panose="02020603050405020304" pitchFamily="18" charset="0"/>
                <a:ea typeface="MS Mincho" panose="02020609040205080304" pitchFamily="49" charset="-128"/>
              </a:rPr>
              <a:t>Questi elementi della sintassi base, ordinati secondo le regole del linguaggio, possono formare </a:t>
            </a:r>
            <a:r>
              <a:rPr lang="it-IT" sz="1800" b="1" dirty="0">
                <a:effectLst/>
                <a:latin typeface="Times New Roman" panose="02020603050405020304" pitchFamily="18" charset="0"/>
                <a:ea typeface="MS Mincho" panose="02020609040205080304" pitchFamily="49" charset="-128"/>
              </a:rPr>
              <a:t>istruzioni</a:t>
            </a:r>
            <a:r>
              <a:rPr lang="it-IT" sz="1800" dirty="0">
                <a:effectLst/>
                <a:latin typeface="Times New Roman" panose="02020603050405020304" pitchFamily="18" charset="0"/>
                <a:ea typeface="MS Mincho" panose="02020609040205080304" pitchFamily="49" charset="-128"/>
              </a:rPr>
              <a:t> valide per il compilatore Java.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it-IT" sz="1800" b="1" dirty="0">
              <a:effectLst/>
              <a:latin typeface="Times New Roman" panose="02020603050405020304" pitchFamily="18" charset="0"/>
              <a:ea typeface="Times New Roman" panose="02020603050405020304" pitchFamily="18" charset="0"/>
            </a:endParaRPr>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11</a:t>
            </a:fld>
            <a:endParaRPr lang="it-IT"/>
          </a:p>
        </p:txBody>
      </p:sp>
    </p:spTree>
    <p:extLst>
      <p:ext uri="{BB962C8B-B14F-4D97-AF65-F5344CB8AC3E}">
        <p14:creationId xmlns:p14="http://schemas.microsoft.com/office/powerpoint/2010/main" val="35820245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In particolare, una </a:t>
            </a:r>
            <a:r>
              <a:rPr lang="it-IT" sz="1800" b="1" dirty="0">
                <a:effectLst/>
                <a:latin typeface="Times New Roman" panose="02020603050405020304" pitchFamily="18" charset="0"/>
                <a:ea typeface="Times New Roman" panose="02020603050405020304" pitchFamily="18" charset="0"/>
              </a:rPr>
              <a:t>riga di codice</a:t>
            </a:r>
            <a:r>
              <a:rPr lang="it-IT" sz="1800" dirty="0">
                <a:effectLst/>
                <a:latin typeface="Times New Roman" panose="02020603050405020304" pitchFamily="18" charset="0"/>
                <a:ea typeface="Times New Roman" panose="02020603050405020304" pitchFamily="18" charset="0"/>
              </a:rPr>
              <a:t> può contenere una o più istruzioni. Distinguiamo due tipi di istruzioni: </a:t>
            </a:r>
          </a:p>
          <a:p>
            <a:pPr indent="180340"/>
            <a:r>
              <a:rPr lang="it-IT" sz="1800" dirty="0">
                <a:effectLst/>
                <a:latin typeface="Times New Roman" panose="02020603050405020304" pitchFamily="18" charset="0"/>
                <a:ea typeface="MS Mincho" panose="02020609040205080304" pitchFamily="49" charset="-128"/>
              </a:rPr>
              <a:t>L’</a:t>
            </a:r>
            <a:r>
              <a:rPr lang="it-IT" sz="1800" b="1" dirty="0">
                <a:effectLst/>
                <a:latin typeface="Times New Roman" panose="02020603050405020304" pitchFamily="18" charset="0"/>
                <a:ea typeface="MS Mincho" panose="02020609040205080304" pitchFamily="49" charset="-128"/>
              </a:rPr>
              <a:t>istruzione generica</a:t>
            </a:r>
            <a:r>
              <a:rPr lang="it-IT" sz="1800" dirty="0">
                <a:effectLst/>
                <a:latin typeface="Times New Roman" panose="02020603050405020304" pitchFamily="18" charset="0"/>
                <a:ea typeface="MS Mincho" panose="02020609040205080304" pitchFamily="49" charset="-128"/>
              </a:rPr>
              <a:t> (in inglese viene detta </a:t>
            </a:r>
            <a:r>
              <a:rPr lang="it-IT" sz="1800" b="1" dirty="0">
                <a:effectLst/>
                <a:latin typeface="Times New Roman" panose="02020603050405020304" pitchFamily="18" charset="0"/>
                <a:ea typeface="MS Mincho" panose="02020609040205080304" pitchFamily="49" charset="-128"/>
              </a:rPr>
              <a:t>statement</a:t>
            </a:r>
            <a:r>
              <a:rPr lang="it-IT" sz="1800" dirty="0">
                <a:effectLst/>
                <a:latin typeface="Times New Roman" panose="02020603050405020304" pitchFamily="18" charset="0"/>
                <a:ea typeface="MS Mincho" panose="02020609040205080304" pitchFamily="49" charset="-128"/>
              </a:rPr>
              <a:t>). Un esempio di statement è la chiamata ad un metodo come </a:t>
            </a:r>
            <a:r>
              <a:rPr lang="it-IT" sz="1800" dirty="0">
                <a:effectLst/>
                <a:latin typeface="Courier New" panose="02070309020205020404" pitchFamily="49" charset="0"/>
                <a:ea typeface="Times New Roman" panose="02020603050405020304" pitchFamily="18" charset="0"/>
              </a:rPr>
              <a:t>System.out.println</a:t>
            </a:r>
            <a:r>
              <a:rPr lang="it-IT" sz="1800" dirty="0">
                <a:effectLst/>
                <a:latin typeface="Times New Roman" panose="02020603050405020304" pitchFamily="18" charset="0"/>
                <a:ea typeface="MS Mincho" panose="02020609040205080304" pitchFamily="49" charset="-128"/>
              </a:rPr>
              <a:t>. Un altro esempio di statement è per esempio una </a:t>
            </a:r>
            <a:r>
              <a:rPr lang="it-IT" sz="1800" b="1" dirty="0">
                <a:effectLst/>
                <a:latin typeface="Times New Roman" panose="02020603050405020304" pitchFamily="18" charset="0"/>
                <a:ea typeface="MS Mincho" panose="02020609040205080304" pitchFamily="49" charset="-128"/>
              </a:rPr>
              <a:t>dichiarazione</a:t>
            </a:r>
            <a:r>
              <a:rPr lang="it-IT" sz="1800" dirty="0">
                <a:effectLst/>
                <a:latin typeface="Times New Roman" panose="02020603050405020304" pitchFamily="18" charset="0"/>
                <a:ea typeface="MS Mincho" panose="02020609040205080304" pitchFamily="49" charset="-128"/>
              </a:rPr>
              <a:t>, ovvero un’istruzione che dichiara un elemento di programmazione (una variabile, un metodo etc.). Nella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SintassiBase</a:t>
            </a:r>
            <a:r>
              <a:rPr lang="it-IT" sz="1800" dirty="0">
                <a:effectLst/>
                <a:latin typeface="Times New Roman" panose="02020603050405020304" pitchFamily="18" charset="0"/>
                <a:ea typeface="MS Mincho" panose="02020609040205080304" pitchFamily="49" charset="-128"/>
              </a:rPr>
              <a:t>, le dichiarazioni delle variabili sono statement. Le dichiarazioni possono terminare o con un punto e virgola (per esempio quando si dichiara una variabile), o con un blocco di codice costituite da parentesi graffe (per esempio quando si dichiara una classe o un metodo).</a:t>
            </a:r>
          </a:p>
          <a:p>
            <a:pPr indent="180340"/>
            <a:r>
              <a:rPr lang="it-IT" sz="1800" dirty="0">
                <a:effectLst/>
                <a:latin typeface="Times New Roman" panose="02020603050405020304" pitchFamily="18" charset="0"/>
                <a:ea typeface="MS Mincho" panose="02020609040205080304" pitchFamily="49" charset="-128"/>
              </a:rPr>
              <a:t>L’istruzione di </a:t>
            </a:r>
            <a:r>
              <a:rPr lang="it-IT" sz="1800" b="1" dirty="0">
                <a:effectLst/>
                <a:latin typeface="Times New Roman" panose="02020603050405020304" pitchFamily="18" charset="0"/>
                <a:ea typeface="MS Mincho" panose="02020609040205080304" pitchFamily="49" charset="-128"/>
              </a:rPr>
              <a:t>espressione</a:t>
            </a:r>
            <a:r>
              <a:rPr lang="it-IT" sz="1800" dirty="0">
                <a:effectLst/>
                <a:latin typeface="Times New Roman" panose="02020603050405020304" pitchFamily="18" charset="0"/>
                <a:ea typeface="MS Mincho" panose="02020609040205080304" pitchFamily="49" charset="-128"/>
              </a:rPr>
              <a:t>, ovvero le istruzioni che dopo essere state eseguite restituiscono un valore. Un esempio potrebbe essere quello di una chiamata ad un metodo che restituisce un valore, oppure un’espressione aritmetica. Nella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SintassiBase</a:t>
            </a:r>
            <a:r>
              <a:rPr lang="it-IT" sz="1800" dirty="0">
                <a:effectLst/>
                <a:latin typeface="Times New Roman" panose="02020603050405020304" pitchFamily="18" charset="0"/>
                <a:ea typeface="MS Mincho" panose="02020609040205080304" pitchFamily="49" charset="-128"/>
              </a:rPr>
              <a:t>, è un’espressione l’addizione che viene eseguita all’interno delle parentesi tonde del metodo </a:t>
            </a:r>
            <a:r>
              <a:rPr lang="it-IT" sz="1800" dirty="0">
                <a:effectLst/>
                <a:latin typeface="Courier New" panose="02070309020205020404" pitchFamily="49" charset="0"/>
                <a:ea typeface="Times New Roman" panose="02020603050405020304" pitchFamily="18" charset="0"/>
              </a:rPr>
              <a:t>System.out.println</a:t>
            </a:r>
            <a:r>
              <a:rPr lang="it-IT" sz="1800" dirty="0">
                <a:effectLst/>
                <a:latin typeface="Times New Roman" panose="02020603050405020304" pitchFamily="18" charset="0"/>
                <a:ea typeface="MS Mincho" panose="02020609040205080304" pitchFamily="49" charset="-128"/>
              </a:rPr>
              <a:t>.</a:t>
            </a:r>
          </a:p>
          <a:p>
            <a:pPr marL="180340" indent="180340"/>
            <a:r>
              <a:rPr lang="it-IT" sz="1800" b="1" dirty="0">
                <a:effectLst/>
                <a:latin typeface="Times New Roman" panose="02020603050405020304" pitchFamily="18" charset="0"/>
                <a:ea typeface="MS Mincho" panose="02020609040205080304" pitchFamily="49" charset="-128"/>
              </a:rPr>
              <a:t>(ICONA IMPORTANTE)</a:t>
            </a:r>
            <a:endParaRPr lang="it-IT" sz="1800" dirty="0">
              <a:effectLst/>
              <a:latin typeface="Times New Roman" panose="02020603050405020304" pitchFamily="18" charset="0"/>
              <a:ea typeface="MS Mincho" panose="02020609040205080304" pitchFamily="49" charset="-128"/>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Una delle regole generiche di Java, è che ogni istruzione termina esplicitamente con un operatore di terminazione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it-IT" sz="1800" b="1" dirty="0">
                <a:solidFill>
                  <a:srgbClr val="000000"/>
                </a:solidFill>
                <a:effectLst/>
                <a:latin typeface="Times New Roman" panose="02020603050405020304" pitchFamily="18" charset="0"/>
                <a:ea typeface="Times New Roman" panose="02020603050405020304" pitchFamily="18" charset="0"/>
              </a:rPr>
              <a:t>”, oppure se si tratta di un’istruzione che definisce un blocco di parentesi graffe (come la dichiarazione di un metodo o di una classe), termina con una parentesi graffa chiusa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r>
              <a:rPr lang="it-IT" sz="1800" b="1" dirty="0">
                <a:solidFill>
                  <a:srgbClr val="000000"/>
                </a:solidFill>
                <a:effectLst/>
                <a:latin typeface="Times New Roman" panose="02020603050405020304" pitchFamily="18" charset="0"/>
                <a:ea typeface="Times New Roman" panose="02020603050405020304" pitchFamily="18" charset="0"/>
              </a:rPr>
              <a:t>”.</a:t>
            </a:r>
            <a:endParaRPr lang="it-IT" sz="1800" b="1" dirty="0">
              <a:effectLst/>
              <a:latin typeface="Times New Roman" panose="02020603050405020304" pitchFamily="18" charset="0"/>
              <a:ea typeface="Times New Roman" panose="02020603050405020304" pitchFamily="18" charset="0"/>
            </a:endParaRP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 terminatori delle istruzioni (blocco di codice e punto e virgola), possono essere utilizzati anche isolatamente, realizzando istruzioni vuote. Per esempio è lecito (anche se inutile) scrivere all’interno di un metodo codice come il seguente:</a:t>
            </a: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pPr marL="180340" indent="180340"/>
            <a:r>
              <a:rPr lang="it-IT" sz="1800" dirty="0">
                <a:effectLst/>
                <a:latin typeface="Times New Roman" panose="02020603050405020304" pitchFamily="18" charset="0"/>
                <a:ea typeface="MS Mincho" panose="02020609040205080304" pitchFamily="49" charset="-128"/>
              </a:rPr>
              <a:t>Dopo aver dato queste definizioni, possiamo iniziare a definire i componenti fondamentali della programmazione Java.</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In questo capitolo (ed anche nei successivi) utilizzeremo spesso quelli che vengono chiamati </a:t>
            </a:r>
            <a:r>
              <a:rPr lang="it-IT" sz="1800" b="1" i="1" dirty="0">
                <a:solidFill>
                  <a:srgbClr val="000000"/>
                </a:solidFill>
                <a:effectLst/>
                <a:latin typeface="Times New Roman" panose="02020603050405020304" pitchFamily="18" charset="0"/>
                <a:ea typeface="Times New Roman" panose="02020603050405020304" pitchFamily="18" charset="0"/>
              </a:rPr>
              <a:t>snippet</a:t>
            </a:r>
            <a:r>
              <a:rPr lang="it-IT" sz="1800" b="1" dirty="0">
                <a:solidFill>
                  <a:srgbClr val="000000"/>
                </a:solidFill>
                <a:effectLst/>
                <a:latin typeface="Times New Roman" panose="02020603050405020304" pitchFamily="18" charset="0"/>
                <a:ea typeface="Times New Roman" panose="02020603050405020304" pitchFamily="18" charset="0"/>
              </a:rPr>
              <a:t>, ovvero frammenti di codice non contestualizzati all’interno di classi e/o metodi. Per ora, se il lettore vuole provare ad eseguire gli snippet, deve sempre creare una classe con un metodo </a:t>
            </a:r>
            <a:r>
              <a:rPr lang="it-IT" sz="1800" b="1" dirty="0">
                <a:solidFill>
                  <a:srgbClr val="000000"/>
                </a:solidFill>
                <a:effectLst/>
                <a:latin typeface="Courier New" panose="02070309020205020404" pitchFamily="49" charset="0"/>
                <a:ea typeface="MS Mincho" panose="02020609040205080304" pitchFamily="49" charset="-128"/>
                <a:cs typeface="Courier New" panose="02070309020205020404" pitchFamily="49" charset="0"/>
              </a:rPr>
              <a:t>main</a:t>
            </a:r>
            <a:r>
              <a:rPr lang="it-IT" sz="1800" b="1" dirty="0">
                <a:solidFill>
                  <a:srgbClr val="000000"/>
                </a:solidFill>
                <a:effectLst/>
                <a:latin typeface="Times New Roman" panose="02020603050405020304" pitchFamily="18" charset="0"/>
                <a:ea typeface="Times New Roman" panose="02020603050405020304" pitchFamily="18" charset="0"/>
              </a:rPr>
              <a:t> al suo interno. Nel capitolo 5 scopriremo che Java offre anche la possibilità di eseguire gli snippet tramite lo strumento JShell. In qualsiasi caso è possibile scaricare tutto il codice di questo libro on line (sia per gli esempi che trovare in queste pagine, sia per gli esercizi che trovate on line).</a:t>
            </a:r>
            <a:endParaRPr lang="it-IT" sz="1800" b="1" dirty="0">
              <a:effectLst/>
              <a:latin typeface="Times New Roman" panose="02020603050405020304" pitchFamily="18" charset="0"/>
              <a:ea typeface="Times New Roman" panose="02020603050405020304" pitchFamily="18" charset="0"/>
            </a:endParaRPr>
          </a:p>
          <a:p>
            <a:endParaRPr lang="it-IT" dirty="0"/>
          </a:p>
        </p:txBody>
      </p:sp>
      <p:sp>
        <p:nvSpPr>
          <p:cNvPr id="4" name="Segnaposto numero diapositiva 3"/>
          <p:cNvSpPr>
            <a:spLocks noGrp="1"/>
          </p:cNvSpPr>
          <p:nvPr>
            <p:ph type="sldNum" sz="quarter" idx="5"/>
          </p:nvPr>
        </p:nvSpPr>
        <p:spPr/>
        <p:txBody>
          <a:bodyPr/>
          <a:lstStyle/>
          <a:p>
            <a:fld id="{545D8BF2-49EE-4CE2-A2D7-61B744D1E4D9}" type="slidenum">
              <a:rPr lang="it-IT" smtClean="0"/>
              <a:t>12</a:t>
            </a:fld>
            <a:endParaRPr lang="it-IT"/>
          </a:p>
        </p:txBody>
      </p:sp>
    </p:spTree>
    <p:extLst>
      <p:ext uri="{BB962C8B-B14F-4D97-AF65-F5344CB8AC3E}">
        <p14:creationId xmlns:p14="http://schemas.microsoft.com/office/powerpoint/2010/main" val="2048272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Nella programmazione, le </a:t>
            </a:r>
            <a:r>
              <a:rPr lang="it-IT" sz="1800" b="1" dirty="0">
                <a:effectLst/>
                <a:latin typeface="Times New Roman" panose="02020603050405020304" pitchFamily="18" charset="0"/>
                <a:ea typeface="Times New Roman" panose="02020603050405020304" pitchFamily="18" charset="0"/>
              </a:rPr>
              <a:t>variabili</a:t>
            </a:r>
            <a:r>
              <a:rPr lang="it-IT" sz="1800" dirty="0">
                <a:effectLst/>
                <a:latin typeface="Times New Roman" panose="02020603050405020304" pitchFamily="18" charset="0"/>
                <a:ea typeface="Times New Roman" panose="02020603050405020304" pitchFamily="18" charset="0"/>
              </a:rPr>
              <a:t> ci permettono di memorizzare dati. Con esse riusciamo a gestire i dati del programma, utilizzandoli in varie maniere, per esempio definendoli, modificandoli e stampandoli. Possiamo pensare ad una variabile come una sorta di contenitore in cui risiede un’informazione. Tale informazione, è il valore di un determinato tipo, per esempio un numero intero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int numero = 1;</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Con l’istruzione precedente, abbiamo </a:t>
            </a:r>
            <a:r>
              <a:rPr lang="it-IT" sz="1800" i="1" dirty="0">
                <a:effectLst/>
                <a:latin typeface="Times New Roman" panose="02020603050405020304" pitchFamily="18" charset="0"/>
                <a:ea typeface="Times New Roman" panose="02020603050405020304" pitchFamily="18" charset="0"/>
              </a:rPr>
              <a:t>dichiarato</a:t>
            </a:r>
            <a:r>
              <a:rPr lang="it-IT" sz="1800" dirty="0">
                <a:effectLst/>
                <a:latin typeface="Times New Roman" panose="02020603050405020304" pitchFamily="18" charset="0"/>
                <a:ea typeface="Times New Roman" panose="02020603050405020304" pitchFamily="18" charset="0"/>
              </a:rPr>
              <a:t> (ovvero definito, creato) una variabile il cui nome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dirty="0">
                <a:effectLst/>
                <a:latin typeface="Times New Roman" panose="02020603050405020304" pitchFamily="18" charset="0"/>
                <a:ea typeface="Times New Roman" panose="02020603050405020304" pitchFamily="18" charset="0"/>
              </a:rPr>
              <a:t>, il tipo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ed abbiamo </a:t>
            </a:r>
            <a:r>
              <a:rPr lang="it-IT" sz="1800" i="1" dirty="0">
                <a:effectLst/>
                <a:latin typeface="Times New Roman" panose="02020603050405020304" pitchFamily="18" charset="0"/>
                <a:ea typeface="Times New Roman" panose="02020603050405020304" pitchFamily="18" charset="0"/>
              </a:rPr>
              <a:t>assegnato</a:t>
            </a:r>
            <a:r>
              <a:rPr lang="it-IT" sz="1800" dirty="0">
                <a:effectLst/>
                <a:latin typeface="Times New Roman" panose="02020603050405020304" pitchFamily="18" charset="0"/>
                <a:ea typeface="Times New Roman" panose="02020603050405020304" pitchFamily="18" charset="0"/>
              </a:rPr>
              <a:t> ad essa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L’assegnazione di un valore ad una variabile, è un’operazione che si può ripetere più volte durante l’esecuzione del programma. La prima assegnazione viene di solito chiamata </a:t>
            </a:r>
            <a:r>
              <a:rPr lang="it-IT" sz="1800" b="1" dirty="0">
                <a:effectLst/>
                <a:latin typeface="Times New Roman" panose="02020603050405020304" pitchFamily="18" charset="0"/>
                <a:ea typeface="Times New Roman" panose="02020603050405020304" pitchFamily="18" charset="0"/>
              </a:rPr>
              <a:t>inizializzazione</a:t>
            </a:r>
            <a:r>
              <a:rPr lang="it-IT" sz="1800" dirty="0">
                <a:effectLst/>
                <a:latin typeface="Times New Roman" panose="02020603050405020304" pitchFamily="18" charset="0"/>
                <a:ea typeface="Times New Roman" panose="02020603050405020304" pitchFamily="18" charset="0"/>
              </a:rPr>
              <a:t> della variabile. Dopo aver inizializzato una variabile quindi, potremo anche cambiare il suo valore. Per esempio, considerando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dirty="0">
                <a:effectLst/>
                <a:latin typeface="Times New Roman" panose="02020603050405020304" pitchFamily="18" charset="0"/>
                <a:ea typeface="Times New Roman" panose="02020603050405020304" pitchFamily="18" charset="0"/>
              </a:rPr>
              <a:t> che abbiamo già inizializzato, con le seguenti istruzioni ne possiamo cambiare il valore:</a:t>
            </a:r>
          </a:p>
          <a:p>
            <a:r>
              <a:rPr lang="it-IT" sz="1800" dirty="0">
                <a:solidFill>
                  <a:srgbClr val="000000"/>
                </a:solidFill>
                <a:effectLst/>
                <a:latin typeface="Courier New" panose="02070309020205020404" pitchFamily="49" charset="0"/>
                <a:ea typeface="Times New Roman" panose="02020603050405020304" pitchFamily="18" charset="0"/>
              </a:rPr>
              <a:t>numero = 3;</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numero = 29;</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anche possibile assegnare ad una variabile il valore di un’altra variabile. Per esempio, potremmo scrivere il seguente frammento di codice:</a:t>
            </a:r>
          </a:p>
          <a:p>
            <a:r>
              <a:rPr lang="it-IT" sz="1800" dirty="0">
                <a:solidFill>
                  <a:srgbClr val="000000"/>
                </a:solidFill>
                <a:effectLst/>
                <a:latin typeface="Courier New" panose="02070309020205020404" pitchFamily="49" charset="0"/>
                <a:ea typeface="Times New Roman" panose="02020603050405020304" pitchFamily="18" charset="0"/>
              </a:rPr>
              <a:t>int a = 10;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int b = 20;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 = b;</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alla fine di questo frammento di codice,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800" dirty="0">
                <a:effectLst/>
                <a:latin typeface="Times New Roman" panose="02020603050405020304" pitchFamily="18" charset="0"/>
                <a:ea typeface="Times New Roman" panose="02020603050405020304" pitchFamily="18" charset="0"/>
              </a:rPr>
              <a:t> conterrà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20</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Tecnicamente, una </a:t>
            </a:r>
            <a:r>
              <a:rPr lang="it-IT" sz="1800" b="0" dirty="0">
                <a:effectLst/>
                <a:latin typeface="Times New Roman" panose="02020603050405020304" pitchFamily="18" charset="0"/>
                <a:ea typeface="Times New Roman" panose="02020603050405020304" pitchFamily="18" charset="0"/>
              </a:rPr>
              <a:t>variabile</a:t>
            </a:r>
            <a:r>
              <a:rPr lang="it-IT" sz="1800" dirty="0">
                <a:effectLst/>
                <a:latin typeface="Times New Roman" panose="02020603050405020304" pitchFamily="18" charset="0"/>
                <a:ea typeface="Times New Roman" panose="02020603050405020304" pitchFamily="18" charset="0"/>
              </a:rPr>
              <a:t> è una porzione di memoria in cui è immagazzinato un valore di un certo tipo. Il tipo di dato che viene definito per una variabile, è un vincolo per il valore assegnabile alla variabile stessa. Per esempio, alla variabile intera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dirty="0">
                <a:effectLst/>
                <a:latin typeface="Times New Roman" panose="02020603050405020304" pitchFamily="18" charset="0"/>
                <a:ea typeface="Times New Roman" panose="02020603050405020304" pitchFamily="18" charset="0"/>
              </a:rPr>
              <a:t>, non potremmo assegnare numeri con la virgola, caratteri o qualsiasi altra informazione che non sia un numero intero.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Anche se sino ad ora abbiamo incontrato come tipo di dato solo il tipo intero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b="1" dirty="0">
                <a:solidFill>
                  <a:srgbClr val="000000"/>
                </a:solidFill>
                <a:effectLst/>
                <a:latin typeface="Times New Roman" panose="02020603050405020304" pitchFamily="18" charset="0"/>
                <a:ea typeface="Times New Roman" panose="02020603050405020304" pitchFamily="18" charset="0"/>
              </a:rPr>
              <a:t>, esistono 8 tipi definiti da Java (si chiamano “tipi primitivi” e ne parleremo nel prossimo capitolo), e potenzialmente infiniti “tipi complessi”.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Impariamo subito a distinguere due fasi distinte: la </a:t>
            </a:r>
            <a:r>
              <a:rPr lang="it-IT" sz="1800" b="1" dirty="0">
                <a:effectLst/>
                <a:latin typeface="Times New Roman" panose="02020603050405020304" pitchFamily="18" charset="0"/>
                <a:ea typeface="Times New Roman" panose="02020603050405020304" pitchFamily="18" charset="0"/>
              </a:rPr>
              <a:t>dichiarazione</a:t>
            </a:r>
            <a:r>
              <a:rPr lang="it-IT" sz="1800" dirty="0">
                <a:effectLst/>
                <a:latin typeface="Times New Roman" panose="02020603050405020304" pitchFamily="18" charset="0"/>
                <a:ea typeface="Times New Roman" panose="02020603050405020304" pitchFamily="18" charset="0"/>
              </a:rPr>
              <a:t> e l’</a:t>
            </a:r>
            <a:r>
              <a:rPr lang="it-IT" sz="1800" b="1" dirty="0">
                <a:effectLst/>
                <a:latin typeface="Times New Roman" panose="02020603050405020304" pitchFamily="18" charset="0"/>
                <a:ea typeface="Times New Roman" panose="02020603050405020304" pitchFamily="18" charset="0"/>
              </a:rPr>
              <a:t>assegnazione</a:t>
            </a:r>
            <a:r>
              <a:rPr lang="it-IT" sz="1800" dirty="0">
                <a:effectLst/>
                <a:latin typeface="Times New Roman" panose="02020603050405020304" pitchFamily="18" charset="0"/>
                <a:ea typeface="Times New Roman" panose="02020603050405020304" pitchFamily="18" charset="0"/>
              </a:rPr>
              <a:t> della variabile</a:t>
            </a:r>
          </a:p>
        </p:txBody>
      </p:sp>
    </p:spTree>
    <p:extLst>
      <p:ext uri="{BB962C8B-B14F-4D97-AF65-F5344CB8AC3E}">
        <p14:creationId xmlns:p14="http://schemas.microsoft.com/office/powerpoint/2010/main" val="3326710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Nella programmazione, le </a:t>
            </a:r>
            <a:r>
              <a:rPr lang="it-IT" sz="1800" b="1" dirty="0">
                <a:effectLst/>
                <a:latin typeface="Times New Roman" panose="02020603050405020304" pitchFamily="18" charset="0"/>
                <a:ea typeface="Times New Roman" panose="02020603050405020304" pitchFamily="18" charset="0"/>
              </a:rPr>
              <a:t>variabili</a:t>
            </a:r>
            <a:r>
              <a:rPr lang="it-IT" sz="1800" dirty="0">
                <a:effectLst/>
                <a:latin typeface="Times New Roman" panose="02020603050405020304" pitchFamily="18" charset="0"/>
                <a:ea typeface="Times New Roman" panose="02020603050405020304" pitchFamily="18" charset="0"/>
              </a:rPr>
              <a:t> ci permettono di memorizzare dati. Con esse riusciamo a gestire i dati del programma, utilizzandoli in varie maniere, per esempio definendoli, modificandoli e stampandoli. Possiamo pensare ad una variabile come una sorta di contenitore in cui risiede un’informazione. Tale informazione, è il valore di un determinato tipo, per esempio un numero intero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int numero = 1;</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Con l’istruzione precedente, abbiamo </a:t>
            </a:r>
            <a:r>
              <a:rPr lang="it-IT" sz="1800" i="1" dirty="0">
                <a:effectLst/>
                <a:latin typeface="Times New Roman" panose="02020603050405020304" pitchFamily="18" charset="0"/>
                <a:ea typeface="Times New Roman" panose="02020603050405020304" pitchFamily="18" charset="0"/>
              </a:rPr>
              <a:t>dichiarato</a:t>
            </a:r>
            <a:r>
              <a:rPr lang="it-IT" sz="1800" dirty="0">
                <a:effectLst/>
                <a:latin typeface="Times New Roman" panose="02020603050405020304" pitchFamily="18" charset="0"/>
                <a:ea typeface="Times New Roman" panose="02020603050405020304" pitchFamily="18" charset="0"/>
              </a:rPr>
              <a:t> (ovvero definito, creato) una variabile il cui nome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dirty="0">
                <a:effectLst/>
                <a:latin typeface="Times New Roman" panose="02020603050405020304" pitchFamily="18" charset="0"/>
                <a:ea typeface="Times New Roman" panose="02020603050405020304" pitchFamily="18" charset="0"/>
              </a:rPr>
              <a:t>, il tipo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ed abbiamo </a:t>
            </a:r>
            <a:r>
              <a:rPr lang="it-IT" sz="1800" i="1" dirty="0">
                <a:effectLst/>
                <a:latin typeface="Times New Roman" panose="02020603050405020304" pitchFamily="18" charset="0"/>
                <a:ea typeface="Times New Roman" panose="02020603050405020304" pitchFamily="18" charset="0"/>
              </a:rPr>
              <a:t>assegnato</a:t>
            </a:r>
            <a:r>
              <a:rPr lang="it-IT" sz="1800" dirty="0">
                <a:effectLst/>
                <a:latin typeface="Times New Roman" panose="02020603050405020304" pitchFamily="18" charset="0"/>
                <a:ea typeface="Times New Roman" panose="02020603050405020304" pitchFamily="18" charset="0"/>
              </a:rPr>
              <a:t> ad essa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L’assegnazione di un valore ad una variabile, è un’operazione che si può ripetere più volte durante l’esecuzione del programma. La prima assegnazione viene di solito chiamata </a:t>
            </a:r>
            <a:r>
              <a:rPr lang="it-IT" sz="1800" b="1" dirty="0">
                <a:effectLst/>
                <a:latin typeface="Times New Roman" panose="02020603050405020304" pitchFamily="18" charset="0"/>
                <a:ea typeface="Times New Roman" panose="02020603050405020304" pitchFamily="18" charset="0"/>
              </a:rPr>
              <a:t>inizializzazione</a:t>
            </a:r>
            <a:r>
              <a:rPr lang="it-IT" sz="1800" dirty="0">
                <a:effectLst/>
                <a:latin typeface="Times New Roman" panose="02020603050405020304" pitchFamily="18" charset="0"/>
                <a:ea typeface="Times New Roman" panose="02020603050405020304" pitchFamily="18" charset="0"/>
              </a:rPr>
              <a:t> della variabile. Dopo aver inizializzato una variabile quindi, potremo anche cambiare il suo valore. Per esempio, considerando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dirty="0">
                <a:effectLst/>
                <a:latin typeface="Times New Roman" panose="02020603050405020304" pitchFamily="18" charset="0"/>
                <a:ea typeface="Times New Roman" panose="02020603050405020304" pitchFamily="18" charset="0"/>
              </a:rPr>
              <a:t> che abbiamo già inizializzato, con le seguenti istruzioni ne possiamo cambiare il valore:</a:t>
            </a:r>
          </a:p>
          <a:p>
            <a:r>
              <a:rPr lang="it-IT" sz="1800" dirty="0">
                <a:solidFill>
                  <a:srgbClr val="000000"/>
                </a:solidFill>
                <a:effectLst/>
                <a:latin typeface="Courier New" panose="02070309020205020404" pitchFamily="49" charset="0"/>
                <a:ea typeface="Times New Roman" panose="02020603050405020304" pitchFamily="18" charset="0"/>
              </a:rPr>
              <a:t>numero = 3;</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numero = 29;</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anche possibile assegnare ad una variabile il valore di un’altra variabile. Per esempio, potremmo scrivere il seguente frammento di codice:</a:t>
            </a:r>
          </a:p>
          <a:p>
            <a:r>
              <a:rPr lang="it-IT" sz="1800" dirty="0">
                <a:solidFill>
                  <a:srgbClr val="000000"/>
                </a:solidFill>
                <a:effectLst/>
                <a:latin typeface="Courier New" panose="02070309020205020404" pitchFamily="49" charset="0"/>
                <a:ea typeface="Times New Roman" panose="02020603050405020304" pitchFamily="18" charset="0"/>
              </a:rPr>
              <a:t>int a = 10;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int b = 20;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 = b;</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alla fine di questo frammento di codice,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800" dirty="0">
                <a:effectLst/>
                <a:latin typeface="Times New Roman" panose="02020603050405020304" pitchFamily="18" charset="0"/>
                <a:ea typeface="Times New Roman" panose="02020603050405020304" pitchFamily="18" charset="0"/>
              </a:rPr>
              <a:t> conterrà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20</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Tecnicamente, una </a:t>
            </a:r>
            <a:r>
              <a:rPr lang="it-IT" sz="1800" b="0" dirty="0">
                <a:effectLst/>
                <a:latin typeface="Times New Roman" panose="02020603050405020304" pitchFamily="18" charset="0"/>
                <a:ea typeface="Times New Roman" panose="02020603050405020304" pitchFamily="18" charset="0"/>
              </a:rPr>
              <a:t>variabile</a:t>
            </a:r>
            <a:r>
              <a:rPr lang="it-IT" sz="1800" dirty="0">
                <a:effectLst/>
                <a:latin typeface="Times New Roman" panose="02020603050405020304" pitchFamily="18" charset="0"/>
                <a:ea typeface="Times New Roman" panose="02020603050405020304" pitchFamily="18" charset="0"/>
              </a:rPr>
              <a:t> è una porzione di memoria in cui è immagazzinato un valore di un certo tipo. Il tipo di dato che viene definito per una variabile, è un vincolo per il valore assegnabile alla variabile stessa. Per esempio, alla variabile intera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dirty="0">
                <a:effectLst/>
                <a:latin typeface="Times New Roman" panose="02020603050405020304" pitchFamily="18" charset="0"/>
                <a:ea typeface="Times New Roman" panose="02020603050405020304" pitchFamily="18" charset="0"/>
              </a:rPr>
              <a:t>, non potremmo assegnare numeri con la virgola, caratteri o qualsiasi altra informazione che non sia un numero intero.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Anche se sino ad ora abbiamo incontrato come tipo di dato solo il tipo intero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b="1" dirty="0">
                <a:solidFill>
                  <a:srgbClr val="000000"/>
                </a:solidFill>
                <a:effectLst/>
                <a:latin typeface="Times New Roman" panose="02020603050405020304" pitchFamily="18" charset="0"/>
                <a:ea typeface="Times New Roman" panose="02020603050405020304" pitchFamily="18" charset="0"/>
              </a:rPr>
              <a:t>, esistono 8 tipi definiti da Java (si chiamano “tipi primitivi” e ne parleremo nel prossimo capitolo), e potenzialmente infiniti “tipi complessi”.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Impariamo subito a distinguere due fasi distinte: la </a:t>
            </a:r>
            <a:r>
              <a:rPr lang="it-IT" sz="1800" b="1" dirty="0">
                <a:effectLst/>
                <a:latin typeface="Times New Roman" panose="02020603050405020304" pitchFamily="18" charset="0"/>
                <a:ea typeface="Times New Roman" panose="02020603050405020304" pitchFamily="18" charset="0"/>
              </a:rPr>
              <a:t>dichiarazione</a:t>
            </a:r>
            <a:r>
              <a:rPr lang="it-IT" sz="1800" dirty="0">
                <a:effectLst/>
                <a:latin typeface="Times New Roman" panose="02020603050405020304" pitchFamily="18" charset="0"/>
                <a:ea typeface="Times New Roman" panose="02020603050405020304" pitchFamily="18" charset="0"/>
              </a:rPr>
              <a:t> e l’</a:t>
            </a:r>
            <a:r>
              <a:rPr lang="it-IT" sz="1800" b="1" dirty="0">
                <a:effectLst/>
                <a:latin typeface="Times New Roman" panose="02020603050405020304" pitchFamily="18" charset="0"/>
                <a:ea typeface="Times New Roman" panose="02020603050405020304" pitchFamily="18" charset="0"/>
              </a:rPr>
              <a:t>assegnazione</a:t>
            </a:r>
            <a:r>
              <a:rPr lang="it-IT" sz="1800" dirty="0">
                <a:effectLst/>
                <a:latin typeface="Times New Roman" panose="02020603050405020304" pitchFamily="18" charset="0"/>
                <a:ea typeface="Times New Roman" panose="02020603050405020304" pitchFamily="18" charset="0"/>
              </a:rPr>
              <a:t> della variabile</a:t>
            </a:r>
          </a:p>
        </p:txBody>
      </p:sp>
    </p:spTree>
    <p:extLst>
      <p:ext uri="{BB962C8B-B14F-4D97-AF65-F5344CB8AC3E}">
        <p14:creationId xmlns:p14="http://schemas.microsoft.com/office/powerpoint/2010/main" val="7970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Nella programmazione, le </a:t>
            </a:r>
            <a:r>
              <a:rPr lang="it-IT" sz="1800" b="1" dirty="0">
                <a:effectLst/>
                <a:latin typeface="Times New Roman" panose="02020603050405020304" pitchFamily="18" charset="0"/>
                <a:ea typeface="Times New Roman" panose="02020603050405020304" pitchFamily="18" charset="0"/>
              </a:rPr>
              <a:t>variabili</a:t>
            </a:r>
            <a:r>
              <a:rPr lang="it-IT" sz="1800" dirty="0">
                <a:effectLst/>
                <a:latin typeface="Times New Roman" panose="02020603050405020304" pitchFamily="18" charset="0"/>
                <a:ea typeface="Times New Roman" panose="02020603050405020304" pitchFamily="18" charset="0"/>
              </a:rPr>
              <a:t> ci permettono di memorizzare dati. Con esse riusciamo a gestire i dati del programma, utilizzandoli in varie maniere, per esempio definendoli, modificandoli e stampandoli. Possiamo pensare ad una variabile come una sorta di contenitore in cui risiede un’informazione. Tale informazione, è il valore di un determinato tipo, per esempio un numero intero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int numero = 1;</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Con l’istruzione precedente, abbiamo </a:t>
            </a:r>
            <a:r>
              <a:rPr lang="it-IT" sz="1800" i="1" dirty="0">
                <a:effectLst/>
                <a:latin typeface="Times New Roman" panose="02020603050405020304" pitchFamily="18" charset="0"/>
                <a:ea typeface="Times New Roman" panose="02020603050405020304" pitchFamily="18" charset="0"/>
              </a:rPr>
              <a:t>dichiarato</a:t>
            </a:r>
            <a:r>
              <a:rPr lang="it-IT" sz="1800" dirty="0">
                <a:effectLst/>
                <a:latin typeface="Times New Roman" panose="02020603050405020304" pitchFamily="18" charset="0"/>
                <a:ea typeface="Times New Roman" panose="02020603050405020304" pitchFamily="18" charset="0"/>
              </a:rPr>
              <a:t> (ovvero definito, creato) una variabile il cui nome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dirty="0">
                <a:effectLst/>
                <a:latin typeface="Times New Roman" panose="02020603050405020304" pitchFamily="18" charset="0"/>
                <a:ea typeface="Times New Roman" panose="02020603050405020304" pitchFamily="18" charset="0"/>
              </a:rPr>
              <a:t>, il tipo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ed abbiamo </a:t>
            </a:r>
            <a:r>
              <a:rPr lang="it-IT" sz="1800" i="1" dirty="0">
                <a:effectLst/>
                <a:latin typeface="Times New Roman" panose="02020603050405020304" pitchFamily="18" charset="0"/>
                <a:ea typeface="Times New Roman" panose="02020603050405020304" pitchFamily="18" charset="0"/>
              </a:rPr>
              <a:t>assegnato</a:t>
            </a:r>
            <a:r>
              <a:rPr lang="it-IT" sz="1800" dirty="0">
                <a:effectLst/>
                <a:latin typeface="Times New Roman" panose="02020603050405020304" pitchFamily="18" charset="0"/>
                <a:ea typeface="Times New Roman" panose="02020603050405020304" pitchFamily="18" charset="0"/>
              </a:rPr>
              <a:t> ad essa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L’assegnazione di un valore ad una variabile, è un’operazione che si può ripetere più volte durante l’esecuzione del programma. La prima assegnazione viene di solito chiamata </a:t>
            </a:r>
            <a:r>
              <a:rPr lang="it-IT" sz="1800" b="1" dirty="0">
                <a:effectLst/>
                <a:latin typeface="Times New Roman" panose="02020603050405020304" pitchFamily="18" charset="0"/>
                <a:ea typeface="Times New Roman" panose="02020603050405020304" pitchFamily="18" charset="0"/>
              </a:rPr>
              <a:t>inizializzazione</a:t>
            </a:r>
            <a:r>
              <a:rPr lang="it-IT" sz="1800" dirty="0">
                <a:effectLst/>
                <a:latin typeface="Times New Roman" panose="02020603050405020304" pitchFamily="18" charset="0"/>
                <a:ea typeface="Times New Roman" panose="02020603050405020304" pitchFamily="18" charset="0"/>
              </a:rPr>
              <a:t> della variabile. Dopo aver inizializzato una variabile quindi, potremo anche cambiare il suo valore. Per esempio, considerando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dirty="0">
                <a:effectLst/>
                <a:latin typeface="Times New Roman" panose="02020603050405020304" pitchFamily="18" charset="0"/>
                <a:ea typeface="Times New Roman" panose="02020603050405020304" pitchFamily="18" charset="0"/>
              </a:rPr>
              <a:t> che abbiamo già inizializzato, con le seguenti istruzioni ne possiamo cambiare il valore:</a:t>
            </a:r>
          </a:p>
          <a:p>
            <a:r>
              <a:rPr lang="it-IT" sz="1800" dirty="0">
                <a:solidFill>
                  <a:srgbClr val="000000"/>
                </a:solidFill>
                <a:effectLst/>
                <a:latin typeface="Courier New" panose="02070309020205020404" pitchFamily="49" charset="0"/>
                <a:ea typeface="Times New Roman" panose="02020603050405020304" pitchFamily="18" charset="0"/>
              </a:rPr>
              <a:t>numero = 3;</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numero = 29;</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anche possibile assegnare ad una variabile il valore di un’altra variabile. Per esempio, potremmo scrivere il seguente frammento di codice:</a:t>
            </a:r>
          </a:p>
          <a:p>
            <a:r>
              <a:rPr lang="it-IT" sz="1800" dirty="0">
                <a:solidFill>
                  <a:srgbClr val="000000"/>
                </a:solidFill>
                <a:effectLst/>
                <a:latin typeface="Courier New" panose="02070309020205020404" pitchFamily="49" charset="0"/>
                <a:ea typeface="Times New Roman" panose="02020603050405020304" pitchFamily="18" charset="0"/>
              </a:rPr>
              <a:t>int a = 10;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int b = 20;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 = b;</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alla fine di questo frammento di codice,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800" dirty="0">
                <a:effectLst/>
                <a:latin typeface="Times New Roman" panose="02020603050405020304" pitchFamily="18" charset="0"/>
                <a:ea typeface="Times New Roman" panose="02020603050405020304" pitchFamily="18" charset="0"/>
              </a:rPr>
              <a:t> conterrà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20</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Tecnicamente, una </a:t>
            </a:r>
            <a:r>
              <a:rPr lang="it-IT" sz="1800" b="0" dirty="0">
                <a:effectLst/>
                <a:latin typeface="Times New Roman" panose="02020603050405020304" pitchFamily="18" charset="0"/>
                <a:ea typeface="Times New Roman" panose="02020603050405020304" pitchFamily="18" charset="0"/>
              </a:rPr>
              <a:t>variabile</a:t>
            </a:r>
            <a:r>
              <a:rPr lang="it-IT" sz="1800" dirty="0">
                <a:effectLst/>
                <a:latin typeface="Times New Roman" panose="02020603050405020304" pitchFamily="18" charset="0"/>
                <a:ea typeface="Times New Roman" panose="02020603050405020304" pitchFamily="18" charset="0"/>
              </a:rPr>
              <a:t> è una porzione di memoria in cui è immagazzinato un valore di un certo tipo. Il tipo di dato che viene definito per una variabile, è un vincolo per il valore assegnabile alla variabile stessa. Per esempio, alla variabile intera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dirty="0">
                <a:effectLst/>
                <a:latin typeface="Times New Roman" panose="02020603050405020304" pitchFamily="18" charset="0"/>
                <a:ea typeface="Times New Roman" panose="02020603050405020304" pitchFamily="18" charset="0"/>
              </a:rPr>
              <a:t>, non potremmo assegnare numeri con la virgola, caratteri o qualsiasi altra informazione che non sia un numero intero.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Anche se sino ad ora abbiamo incontrato come tipo di dato solo il tipo intero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b="1" dirty="0">
                <a:solidFill>
                  <a:srgbClr val="000000"/>
                </a:solidFill>
                <a:effectLst/>
                <a:latin typeface="Times New Roman" panose="02020603050405020304" pitchFamily="18" charset="0"/>
                <a:ea typeface="Times New Roman" panose="02020603050405020304" pitchFamily="18" charset="0"/>
              </a:rPr>
              <a:t>, esistono 8 tipi definiti da Java (si chiamano “tipi primitivi” e ne parleremo nel prossimo capitolo), e potenzialmente infiniti “tipi complessi”.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Impariamo subito a distinguere due fasi distinte: la </a:t>
            </a:r>
            <a:r>
              <a:rPr lang="it-IT" sz="1800" b="1" dirty="0">
                <a:effectLst/>
                <a:latin typeface="Times New Roman" panose="02020603050405020304" pitchFamily="18" charset="0"/>
                <a:ea typeface="Times New Roman" panose="02020603050405020304" pitchFamily="18" charset="0"/>
              </a:rPr>
              <a:t>dichiarazione</a:t>
            </a:r>
            <a:r>
              <a:rPr lang="it-IT" sz="1800" dirty="0">
                <a:effectLst/>
                <a:latin typeface="Times New Roman" panose="02020603050405020304" pitchFamily="18" charset="0"/>
                <a:ea typeface="Times New Roman" panose="02020603050405020304" pitchFamily="18" charset="0"/>
              </a:rPr>
              <a:t> e l’</a:t>
            </a:r>
            <a:r>
              <a:rPr lang="it-IT" sz="1800" b="1" dirty="0">
                <a:effectLst/>
                <a:latin typeface="Times New Roman" panose="02020603050405020304" pitchFamily="18" charset="0"/>
                <a:ea typeface="Times New Roman" panose="02020603050405020304" pitchFamily="18" charset="0"/>
              </a:rPr>
              <a:t>assegnazione</a:t>
            </a:r>
            <a:r>
              <a:rPr lang="it-IT" sz="1800" dirty="0">
                <a:effectLst/>
                <a:latin typeface="Times New Roman" panose="02020603050405020304" pitchFamily="18" charset="0"/>
                <a:ea typeface="Times New Roman" panose="02020603050405020304" pitchFamily="18" charset="0"/>
              </a:rPr>
              <a:t> della variabile</a:t>
            </a:r>
          </a:p>
        </p:txBody>
      </p:sp>
    </p:spTree>
    <p:extLst>
      <p:ext uri="{BB962C8B-B14F-4D97-AF65-F5344CB8AC3E}">
        <p14:creationId xmlns:p14="http://schemas.microsoft.com/office/powerpoint/2010/main" val="1571491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Utilizzare una variabile, significa in primo luogo assegnarle un valore. Tale valore deve essere compatibile con il tipo usato per dichiarare la variabile. Per esempio, come abbiamo già avuto modo di osservare nel capitolo 1, il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accetta come valori solo numeri interi. Considerando le variabili che abbiamo definito nel paragrafo precedente, potremmo assegnare loro un valore usando l’operatore di assegnazione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anni = 16;</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mesi = 2;</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lettera = 'A';</a:t>
            </a:r>
            <a:endParaRPr lang="it-IT" sz="1800" dirty="0">
              <a:effectLst/>
              <a:latin typeface="Courier New" panose="02070309020205020404" pitchFamily="49" charset="0"/>
              <a:ea typeface="Times New Roman" panose="02020603050405020304" pitchFamily="18" charset="0"/>
            </a:endParaRPr>
          </a:p>
          <a:p>
            <a:r>
              <a:rPr lang="it-IT" sz="1800" dirty="0" err="1">
                <a:solidFill>
                  <a:srgbClr val="000000"/>
                </a:solidFill>
                <a:effectLst/>
                <a:latin typeface="Courier New" panose="02070309020205020404" pitchFamily="49" charset="0"/>
                <a:ea typeface="Times New Roman" panose="02020603050405020304" pitchFamily="18" charset="0"/>
              </a:rPr>
              <a:t>tassoDiConversione</a:t>
            </a:r>
            <a:r>
              <a:rPr lang="it-IT" sz="1800" dirty="0">
                <a:solidFill>
                  <a:srgbClr val="000000"/>
                </a:solidFill>
                <a:effectLst/>
                <a:latin typeface="Courier New" panose="02070309020205020404" pitchFamily="49" charset="0"/>
                <a:ea typeface="Times New Roman" panose="02020603050405020304" pitchFamily="18" charset="0"/>
              </a:rPr>
              <a:t> = 1.1;</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Notare che il valore assegnato alla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lettera</a:t>
            </a:r>
            <a:r>
              <a:rPr lang="it-IT" sz="1800" dirty="0">
                <a:effectLst/>
                <a:latin typeface="Times New Roman" panose="02020603050405020304" pitchFamily="18" charset="0"/>
                <a:ea typeface="Times New Roman" panose="02020603050405020304" pitchFamily="18" charset="0"/>
              </a:rPr>
              <a:t>, è compreso tra apici singoli. È la caratteristica dei tipi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char</a:t>
            </a:r>
            <a:r>
              <a:rPr lang="it-IT" sz="1800" dirty="0">
                <a:effectLst/>
                <a:latin typeface="Times New Roman" panose="02020603050405020304" pitchFamily="18" charset="0"/>
                <a:ea typeface="Times New Roman" panose="02020603050405020304" pitchFamily="18" charset="0"/>
              </a:rPr>
              <a:t>.</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Attenzione a non confondere gli apici singoli con le virgolette (apici doppi) che abbiamo usato nel capitolo 1 per le stringhe. Le stringhe si differenziano dai caratteri perché possono contenere anche più di un carattere come vedremo presto. </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Alla variabile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tassoDiConversione</a:t>
            </a:r>
            <a:r>
              <a:rPr lang="it-IT" sz="1800" dirty="0">
                <a:effectLst/>
                <a:latin typeface="Times New Roman" panose="02020603050405020304" pitchFamily="18" charset="0"/>
                <a:ea typeface="Times New Roman" panose="02020603050405020304" pitchFamily="18" charset="0"/>
              </a:rPr>
              <a:t>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 infine, abbiamo assegnato come valore un numero decimale . Infatti, al posto della virgola che utilizziamo per i numeri decimali, viene utilizzato un punto, perché questo è lo standard negli Stati Uniti.</a:t>
            </a:r>
          </a:p>
          <a:p>
            <a:r>
              <a:rPr lang="it-IT" sz="1800" dirty="0">
                <a:effectLst/>
                <a:latin typeface="Times New Roman" panose="02020603050405020304" pitchFamily="18" charset="0"/>
                <a:ea typeface="Times New Roman" panose="02020603050405020304" pitchFamily="18" charset="0"/>
              </a:rPr>
              <a:t>Molto spesso comunque, quando dichiariamo una variabile, le assegniamo anche un valore. Questo significa che questo frammento di codice:</a:t>
            </a:r>
          </a:p>
          <a:p>
            <a:r>
              <a:rPr lang="it-IT" sz="1800" dirty="0">
                <a:solidFill>
                  <a:srgbClr val="000000"/>
                </a:solidFill>
                <a:effectLst/>
                <a:latin typeface="Courier New" panose="02070309020205020404" pitchFamily="49" charset="0"/>
                <a:ea typeface="Times New Roman" panose="02020603050405020304" pitchFamily="18" charset="0"/>
              </a:rPr>
              <a:t>int anni;</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anni = 16;</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equivalente al seguente:</a:t>
            </a:r>
          </a:p>
          <a:p>
            <a:r>
              <a:rPr lang="it-IT" sz="1800" dirty="0">
                <a:solidFill>
                  <a:srgbClr val="000000"/>
                </a:solidFill>
                <a:effectLst/>
                <a:latin typeface="Courier New" panose="02070309020205020404" pitchFamily="49" charset="0"/>
                <a:ea typeface="Times New Roman" panose="02020603050405020304" pitchFamily="18" charset="0"/>
              </a:rPr>
              <a:t>int anni = 16;</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quest’ultima istruzione viene eseguita la dichiarazione della variabile e l’operazione di assegnazione del valore in un’unica riga di codice. Trattandosi della prima assegnazione ad una variabile viene detto che la variabile è stata </a:t>
            </a:r>
            <a:r>
              <a:rPr lang="it-IT" sz="1800" b="1" dirty="0">
                <a:effectLst/>
                <a:latin typeface="Times New Roman" panose="02020603050405020304" pitchFamily="18" charset="0"/>
                <a:ea typeface="Times New Roman" panose="02020603050405020304" pitchFamily="18" charset="0"/>
              </a:rPr>
              <a:t>inizializzata</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Non è possibile utilizzare una variabile se non è stata prima inizializzata. Per esempio il seguente frammento di codice: </a:t>
            </a:r>
          </a:p>
          <a:p>
            <a:r>
              <a:rPr lang="it-IT" sz="1800" dirty="0">
                <a:solidFill>
                  <a:srgbClr val="000000"/>
                </a:solidFill>
                <a:effectLst/>
                <a:latin typeface="Courier New" panose="02070309020205020404" pitchFamily="49" charset="0"/>
                <a:ea typeface="Times New Roman" panose="02020603050405020304" pitchFamily="18" charset="0"/>
              </a:rPr>
              <a:t>char </a:t>
            </a:r>
            <a:r>
              <a:rPr lang="it-IT" sz="1800" dirty="0" err="1">
                <a:solidFill>
                  <a:srgbClr val="000000"/>
                </a:solidFill>
                <a:effectLst/>
                <a:latin typeface="Courier New" panose="02070309020205020404" pitchFamily="49" charset="0"/>
                <a:ea typeface="Times New Roman" panose="02020603050405020304" pitchFamily="18" charset="0"/>
              </a:rPr>
              <a:t>variabileNonInizializzata</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System.out.println(</a:t>
            </a:r>
            <a:r>
              <a:rPr lang="it-IT" sz="1800" dirty="0" err="1">
                <a:solidFill>
                  <a:srgbClr val="000000"/>
                </a:solidFill>
                <a:effectLst/>
                <a:latin typeface="Courier New" panose="02070309020205020404" pitchFamily="49" charset="0"/>
                <a:ea typeface="Times New Roman" panose="02020603050405020304" pitchFamily="18" charset="0"/>
              </a:rPr>
              <a:t>variabileNonInizializzata</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causerà il seguente errore in fase di compilazione:</a:t>
            </a:r>
          </a:p>
          <a:p>
            <a:r>
              <a:rPr lang="en-US" sz="1800" dirty="0">
                <a:solidFill>
                  <a:srgbClr val="FFFFFF"/>
                </a:solidFill>
                <a:effectLst/>
                <a:latin typeface="Courier New" panose="02070309020205020404" pitchFamily="49" charset="0"/>
                <a:ea typeface="MS Mincho" panose="02020609040205080304" pitchFamily="49" charset="-128"/>
              </a:rPr>
              <a:t>error: variable </a:t>
            </a:r>
            <a:r>
              <a:rPr lang="en-US" sz="1800" dirty="0" err="1">
                <a:solidFill>
                  <a:srgbClr val="FFFFFF"/>
                </a:solidFill>
                <a:effectLst/>
                <a:latin typeface="Courier New" panose="02070309020205020404" pitchFamily="49" charset="0"/>
                <a:ea typeface="MS Mincho" panose="02020609040205080304" pitchFamily="49" charset="-128"/>
              </a:rPr>
              <a:t>variabileNonInizializzata</a:t>
            </a:r>
            <a:r>
              <a:rPr lang="en-US" sz="1800" dirty="0">
                <a:solidFill>
                  <a:srgbClr val="FFFFFF"/>
                </a:solidFill>
                <a:effectLst/>
                <a:latin typeface="Courier New" panose="02070309020205020404" pitchFamily="49" charset="0"/>
                <a:ea typeface="MS Mincho" panose="02020609040205080304" pitchFamily="49" charset="-128"/>
              </a:rPr>
              <a:t> might not have been initialized</a:t>
            </a:r>
            <a:endParaRPr lang="it-IT" sz="1800" dirty="0">
              <a:solidFill>
                <a:srgbClr val="FFFFFF"/>
              </a:solidFill>
              <a:effectLst/>
              <a:latin typeface="Courier New" panose="02070309020205020404" pitchFamily="49" charset="0"/>
              <a:ea typeface="MS Mincho" panose="02020609040205080304" pitchFamily="49" charset="-128"/>
            </a:endParaRPr>
          </a:p>
          <a:p>
            <a:r>
              <a:rPr lang="en-US" sz="1800" dirty="0">
                <a:solidFill>
                  <a:srgbClr val="FFFFFF"/>
                </a:solidFill>
                <a:effectLst/>
                <a:latin typeface="Courier New" panose="02070309020205020404" pitchFamily="49" charset="0"/>
                <a:ea typeface="MS Mincho" panose="02020609040205080304" pitchFamily="49" charset="-128"/>
              </a:rPr>
              <a:t>        </a:t>
            </a:r>
            <a:r>
              <a:rPr lang="it-IT" sz="1800" dirty="0">
                <a:solidFill>
                  <a:srgbClr val="FFFFFF"/>
                </a:solidFill>
                <a:effectLst/>
                <a:latin typeface="Courier New" panose="02070309020205020404" pitchFamily="49" charset="0"/>
                <a:ea typeface="MS Mincho" panose="02020609040205080304" pitchFamily="49" charset="-128"/>
              </a:rPr>
              <a:t>System.out.println(</a:t>
            </a:r>
            <a:r>
              <a:rPr lang="it-IT" sz="1800" dirty="0" err="1">
                <a:solidFill>
                  <a:srgbClr val="FFFFFF"/>
                </a:solidFill>
                <a:effectLst/>
                <a:latin typeface="Courier New" panose="02070309020205020404" pitchFamily="49" charset="0"/>
                <a:ea typeface="MS Mincho" panose="02020609040205080304" pitchFamily="49" charset="-128"/>
              </a:rPr>
              <a:t>variabileNonInizializzata</a:t>
            </a:r>
            <a:r>
              <a:rPr lang="it-IT" sz="1800" dirty="0">
                <a:solidFill>
                  <a:srgbClr val="FFFFFF"/>
                </a:solidFill>
                <a:effectLst/>
                <a:latin typeface="Courier New" panose="02070309020205020404" pitchFamily="49" charset="0"/>
                <a:ea typeface="MS Mincho" panose="02020609040205080304" pitchFamily="49" charset="-128"/>
              </a:rPr>
              <a:t>);</a:t>
            </a:r>
          </a:p>
          <a:p>
            <a:r>
              <a:rPr lang="it-IT" sz="1800" dirty="0">
                <a:solidFill>
                  <a:srgbClr val="FFFFFF"/>
                </a:solidFill>
                <a:effectLst/>
                <a:latin typeface="Courier New" panose="02070309020205020404" pitchFamily="49" charset="0"/>
                <a:ea typeface="MS Mincho" panose="02020609040205080304" pitchFamily="49" charset="-128"/>
              </a:rPr>
              <a:t>                           ^</a:t>
            </a:r>
          </a:p>
          <a:p>
            <a:r>
              <a:rPr lang="it-IT" sz="1800" dirty="0">
                <a:solidFill>
                  <a:srgbClr val="FFFFFF"/>
                </a:solidFill>
                <a:effectLst/>
                <a:latin typeface="Courier New" panose="02070309020205020404" pitchFamily="49" charset="0"/>
                <a:ea typeface="MS Mincho" panose="02020609040205080304" pitchFamily="49" charset="-128"/>
              </a:rPr>
              <a:t>1 error</a:t>
            </a:r>
          </a:p>
          <a:p>
            <a:r>
              <a:rPr lang="it-IT" sz="1800" dirty="0">
                <a:effectLst/>
                <a:latin typeface="Times New Roman" panose="02020603050405020304" pitchFamily="18" charset="0"/>
                <a:ea typeface="Times New Roman" panose="02020603050405020304" pitchFamily="18" charset="0"/>
              </a:rPr>
              <a:t>È possibile modificare il valore di una variabile più volte. Per esempio, consideriamo la seguente classe:</a:t>
            </a:r>
          </a:p>
          <a:p>
            <a:r>
              <a:rPr lang="it-IT" sz="1800" dirty="0">
                <a:solidFill>
                  <a:srgbClr val="000000"/>
                </a:solidFill>
                <a:effectLst/>
                <a:latin typeface="Courier New" panose="02070309020205020404" pitchFamily="49" charset="0"/>
                <a:ea typeface="Times New Roman" panose="02020603050405020304" pitchFamily="18" charset="0"/>
              </a:rPr>
              <a:t>public class </a:t>
            </a:r>
            <a:r>
              <a:rPr lang="it-IT" sz="1800" dirty="0" err="1">
                <a:solidFill>
                  <a:srgbClr val="000000"/>
                </a:solidFill>
                <a:effectLst/>
                <a:latin typeface="Courier New" panose="02070309020205020404" pitchFamily="49" charset="0"/>
                <a:ea typeface="Times New Roman" panose="02020603050405020304" pitchFamily="18" charset="0"/>
              </a:rPr>
              <a:t>VariazioniDiVariabile</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static void main(String args[])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double </a:t>
            </a:r>
            <a:r>
              <a:rPr lang="it-IT" sz="1800" dirty="0" err="1">
                <a:solidFill>
                  <a:srgbClr val="000000"/>
                </a:solidFill>
                <a:effectLst/>
                <a:latin typeface="Courier New" panose="02070309020205020404" pitchFamily="49" charset="0"/>
                <a:ea typeface="Times New Roman" panose="02020603050405020304" pitchFamily="18" charset="0"/>
              </a:rPr>
              <a:t>tassoDiConversione</a:t>
            </a:r>
            <a:r>
              <a:rPr lang="it-IT" sz="1800" dirty="0">
                <a:solidFill>
                  <a:srgbClr val="000000"/>
                </a:solidFill>
                <a:effectLst/>
                <a:latin typeface="Courier New" panose="02070309020205020404" pitchFamily="49" charset="0"/>
                <a:ea typeface="Times New Roman" panose="02020603050405020304" pitchFamily="18" charset="0"/>
              </a:rPr>
              <a:t> = 1.1;</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System.out.println("Valore attuale del tasso di conversione");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a:t>
            </a:r>
            <a:r>
              <a:rPr lang="it-IT" sz="1800" dirty="0" err="1">
                <a:solidFill>
                  <a:srgbClr val="000000"/>
                </a:solidFill>
                <a:effectLst/>
                <a:latin typeface="Courier New" panose="02070309020205020404" pitchFamily="49" charset="0"/>
                <a:ea typeface="Times New Roman" panose="02020603050405020304" pitchFamily="18" charset="0"/>
              </a:rPr>
              <a:t>tassoDiConversione</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tassoDiConversione</a:t>
            </a:r>
            <a:r>
              <a:rPr lang="it-IT" sz="1800" dirty="0">
                <a:solidFill>
                  <a:srgbClr val="000000"/>
                </a:solidFill>
                <a:effectLst/>
                <a:latin typeface="Courier New" panose="02070309020205020404" pitchFamily="49" charset="0"/>
                <a:ea typeface="Times New Roman" panose="02020603050405020304" pitchFamily="18" charset="0"/>
              </a:rPr>
              <a:t> = 1.3;</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System.out.println("Valore attuale del tasso di conversione");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a:t>
            </a:r>
            <a:r>
              <a:rPr lang="it-IT" sz="1800" dirty="0" err="1">
                <a:solidFill>
                  <a:srgbClr val="000000"/>
                </a:solidFill>
                <a:effectLst/>
                <a:latin typeface="Courier New" panose="02070309020205020404" pitchFamily="49" charset="0"/>
                <a:ea typeface="Times New Roman" panose="02020603050405020304" pitchFamily="18" charset="0"/>
              </a:rPr>
              <a:t>tassoDiConversione</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tassoDiConversione</a:t>
            </a:r>
            <a:r>
              <a:rPr lang="it-IT" sz="1800" dirty="0">
                <a:solidFill>
                  <a:srgbClr val="000000"/>
                </a:solidFill>
                <a:effectLst/>
                <a:latin typeface="Courier New" panose="02070309020205020404" pitchFamily="49" charset="0"/>
                <a:ea typeface="Times New Roman" panose="02020603050405020304" pitchFamily="18" charset="0"/>
              </a:rPr>
              <a:t> = </a:t>
            </a:r>
            <a:r>
              <a:rPr lang="it-IT" sz="1800" dirty="0" err="1">
                <a:solidFill>
                  <a:srgbClr val="000000"/>
                </a:solidFill>
                <a:effectLst/>
                <a:latin typeface="Courier New" panose="02070309020205020404" pitchFamily="49" charset="0"/>
                <a:ea typeface="Times New Roman" panose="02020603050405020304" pitchFamily="18" charset="0"/>
              </a:rPr>
              <a:t>tassoDiConversione</a:t>
            </a:r>
            <a:r>
              <a:rPr lang="it-IT" sz="1800" dirty="0">
                <a:solidFill>
                  <a:srgbClr val="000000"/>
                </a:solidFill>
                <a:effectLst/>
                <a:latin typeface="Courier New" panose="02070309020205020404" pitchFamily="49" charset="0"/>
                <a:ea typeface="Times New Roman" panose="02020603050405020304" pitchFamily="18" charset="0"/>
              </a:rPr>
              <a:t> - 0.3;</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System.out.println("Valore attuale del tasso di conversione");</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a:t>
            </a:r>
            <a:r>
              <a:rPr lang="it-IT" sz="1800" dirty="0" err="1">
                <a:solidFill>
                  <a:srgbClr val="000000"/>
                </a:solidFill>
                <a:effectLst/>
                <a:latin typeface="Courier New" panose="02070309020205020404" pitchFamily="49" charset="0"/>
                <a:ea typeface="Times New Roman" panose="02020603050405020304" pitchFamily="18" charset="0"/>
              </a:rPr>
              <a:t>tassoDiConversione</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Una volta compilata e lanciata produrrà il seguente output:</a:t>
            </a:r>
          </a:p>
          <a:p>
            <a:r>
              <a:rPr lang="it-IT" sz="1800" dirty="0">
                <a:solidFill>
                  <a:srgbClr val="FFFFFF"/>
                </a:solidFill>
                <a:effectLst/>
                <a:latin typeface="Courier New" panose="02070309020205020404" pitchFamily="49" charset="0"/>
                <a:ea typeface="MS Mincho" panose="02020609040205080304" pitchFamily="49" charset="-128"/>
              </a:rPr>
              <a:t>Valore attuale del tasso di conversione</a:t>
            </a:r>
          </a:p>
          <a:p>
            <a:r>
              <a:rPr lang="it-IT" sz="1800" dirty="0">
                <a:solidFill>
                  <a:srgbClr val="FFFFFF"/>
                </a:solidFill>
                <a:effectLst/>
                <a:latin typeface="Courier New" panose="02070309020205020404" pitchFamily="49" charset="0"/>
                <a:ea typeface="MS Mincho" panose="02020609040205080304" pitchFamily="49" charset="-128"/>
              </a:rPr>
              <a:t>1.1</a:t>
            </a:r>
          </a:p>
          <a:p>
            <a:r>
              <a:rPr lang="it-IT" sz="1800" dirty="0">
                <a:solidFill>
                  <a:srgbClr val="FFFFFF"/>
                </a:solidFill>
                <a:effectLst/>
                <a:latin typeface="Courier New" panose="02070309020205020404" pitchFamily="49" charset="0"/>
                <a:ea typeface="MS Mincho" panose="02020609040205080304" pitchFamily="49" charset="-128"/>
              </a:rPr>
              <a:t>Valore attuale del tasso di conversione</a:t>
            </a:r>
          </a:p>
          <a:p>
            <a:r>
              <a:rPr lang="it-IT" sz="1800" dirty="0">
                <a:solidFill>
                  <a:srgbClr val="FFFFFF"/>
                </a:solidFill>
                <a:effectLst/>
                <a:latin typeface="Courier New" panose="02070309020205020404" pitchFamily="49" charset="0"/>
                <a:ea typeface="MS Mincho" panose="02020609040205080304" pitchFamily="49" charset="-128"/>
              </a:rPr>
              <a:t>1.3</a:t>
            </a:r>
          </a:p>
          <a:p>
            <a:r>
              <a:rPr lang="it-IT" sz="1800" dirty="0">
                <a:solidFill>
                  <a:srgbClr val="FFFFFF"/>
                </a:solidFill>
                <a:effectLst/>
                <a:latin typeface="Courier New" panose="02070309020205020404" pitchFamily="49" charset="0"/>
                <a:ea typeface="MS Mincho" panose="02020609040205080304" pitchFamily="49" charset="-128"/>
              </a:rPr>
              <a:t>Valore attuale del tasso di conversione</a:t>
            </a:r>
          </a:p>
          <a:p>
            <a:r>
              <a:rPr lang="it-IT" sz="1800" dirty="0">
                <a:solidFill>
                  <a:srgbClr val="FFFFFF"/>
                </a:solidFill>
                <a:effectLst/>
                <a:latin typeface="Courier New" panose="02070309020205020404" pitchFamily="49" charset="0"/>
                <a:ea typeface="MS Mincho" panose="02020609040205080304" pitchFamily="49" charset="-128"/>
              </a:rPr>
              <a:t>1.0</a:t>
            </a:r>
          </a:p>
          <a:p>
            <a:r>
              <a:rPr lang="it-IT" sz="1800" dirty="0">
                <a:effectLst/>
                <a:latin typeface="Times New Roman" panose="02020603050405020304" pitchFamily="18" charset="0"/>
                <a:ea typeface="Times New Roman" panose="02020603050405020304" pitchFamily="18" charset="0"/>
              </a:rPr>
              <a:t>Notare come abbiamo modificato il valore della variabile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tassoDiConversione</a:t>
            </a:r>
            <a:r>
              <a:rPr lang="it-IT" sz="1800" dirty="0">
                <a:effectLst/>
                <a:latin typeface="Times New Roman" panose="02020603050405020304" pitchFamily="18" charset="0"/>
                <a:ea typeface="Times New Roman" panose="02020603050405020304" pitchFamily="18" charset="0"/>
              </a:rPr>
              <a:t> due volte. La prima volta, assegnandole esplicitamente il nuovo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1.3</a:t>
            </a:r>
            <a:r>
              <a:rPr lang="it-IT" sz="1800" dirty="0">
                <a:effectLst/>
                <a:latin typeface="Times New Roman" panose="02020603050405020304" pitchFamily="18" charset="0"/>
                <a:ea typeface="Times New Roman" panose="02020603050405020304" pitchFamily="18" charset="0"/>
              </a:rPr>
              <a:t>, e una seconda volta assegnandole il risultato dell’operazione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tassoDiConversione</a:t>
            </a:r>
            <a:r>
              <a:rPr lang="it-IT" sz="1800"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 0.3</a:t>
            </a:r>
            <a:r>
              <a:rPr lang="it-IT" sz="1800" dirty="0">
                <a:effectLst/>
                <a:latin typeface="Times New Roman" panose="02020603050405020304" pitchFamily="18" charset="0"/>
                <a:ea typeface="Times New Roman" panose="02020603050405020304" pitchFamily="18" charset="0"/>
              </a:rPr>
              <a:t>, dove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tassoDiConversione</a:t>
            </a:r>
            <a:r>
              <a:rPr lang="it-IT" sz="1800" dirty="0">
                <a:effectLst/>
                <a:latin typeface="Times New Roman" panose="02020603050405020304" pitchFamily="18" charset="0"/>
                <a:ea typeface="Times New Roman" panose="02020603050405020304" pitchFamily="18" charset="0"/>
              </a:rPr>
              <a:t> valeva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1.3</a:t>
            </a:r>
            <a:r>
              <a:rPr lang="it-IT" sz="1800" dirty="0">
                <a:effectLst/>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4989944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Nella programmazione, le </a:t>
            </a:r>
            <a:r>
              <a:rPr lang="it-IT" sz="1800" b="1" dirty="0">
                <a:effectLst/>
                <a:latin typeface="Times New Roman" panose="02020603050405020304" pitchFamily="18" charset="0"/>
                <a:ea typeface="Times New Roman" panose="02020603050405020304" pitchFamily="18" charset="0"/>
              </a:rPr>
              <a:t>variabili</a:t>
            </a:r>
            <a:r>
              <a:rPr lang="it-IT" sz="1800" dirty="0">
                <a:effectLst/>
                <a:latin typeface="Times New Roman" panose="02020603050405020304" pitchFamily="18" charset="0"/>
                <a:ea typeface="Times New Roman" panose="02020603050405020304" pitchFamily="18" charset="0"/>
              </a:rPr>
              <a:t> ci permettono di memorizzare dati. Con esse riusciamo a gestire i dati del programma, utilizzandoli in varie maniere, per esempio definendoli, modificandoli e stampandoli. Possiamo pensare ad una variabile come una sorta di contenitore in cui risiede un’informazione. Tale informazione, è il valore di un determinato tipo, per esempio un numero intero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int numero = 1;</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Con l’istruzione precedente, abbiamo </a:t>
            </a:r>
            <a:r>
              <a:rPr lang="it-IT" sz="1800" i="1" dirty="0">
                <a:effectLst/>
                <a:latin typeface="Times New Roman" panose="02020603050405020304" pitchFamily="18" charset="0"/>
                <a:ea typeface="Times New Roman" panose="02020603050405020304" pitchFamily="18" charset="0"/>
              </a:rPr>
              <a:t>dichiarato</a:t>
            </a:r>
            <a:r>
              <a:rPr lang="it-IT" sz="1800" dirty="0">
                <a:effectLst/>
                <a:latin typeface="Times New Roman" panose="02020603050405020304" pitchFamily="18" charset="0"/>
                <a:ea typeface="Times New Roman" panose="02020603050405020304" pitchFamily="18" charset="0"/>
              </a:rPr>
              <a:t> (ovvero definito, creato) una variabile il cui nome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dirty="0">
                <a:effectLst/>
                <a:latin typeface="Times New Roman" panose="02020603050405020304" pitchFamily="18" charset="0"/>
                <a:ea typeface="Times New Roman" panose="02020603050405020304" pitchFamily="18" charset="0"/>
              </a:rPr>
              <a:t>, il tipo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ed abbiamo </a:t>
            </a:r>
            <a:r>
              <a:rPr lang="it-IT" sz="1800" i="1" dirty="0">
                <a:effectLst/>
                <a:latin typeface="Times New Roman" panose="02020603050405020304" pitchFamily="18" charset="0"/>
                <a:ea typeface="Times New Roman" panose="02020603050405020304" pitchFamily="18" charset="0"/>
              </a:rPr>
              <a:t>assegnato</a:t>
            </a:r>
            <a:r>
              <a:rPr lang="it-IT" sz="1800" dirty="0">
                <a:effectLst/>
                <a:latin typeface="Times New Roman" panose="02020603050405020304" pitchFamily="18" charset="0"/>
                <a:ea typeface="Times New Roman" panose="02020603050405020304" pitchFamily="18" charset="0"/>
              </a:rPr>
              <a:t> ad essa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L’assegnazione di un valore ad una variabile, è un’operazione che si può ripetere più volte durante l’esecuzione del programma. La prima assegnazione viene di solito chiamata </a:t>
            </a:r>
            <a:r>
              <a:rPr lang="it-IT" sz="1800" b="1" dirty="0">
                <a:effectLst/>
                <a:latin typeface="Times New Roman" panose="02020603050405020304" pitchFamily="18" charset="0"/>
                <a:ea typeface="Times New Roman" panose="02020603050405020304" pitchFamily="18" charset="0"/>
              </a:rPr>
              <a:t>inizializzazione</a:t>
            </a:r>
            <a:r>
              <a:rPr lang="it-IT" sz="1800" dirty="0">
                <a:effectLst/>
                <a:latin typeface="Times New Roman" panose="02020603050405020304" pitchFamily="18" charset="0"/>
                <a:ea typeface="Times New Roman" panose="02020603050405020304" pitchFamily="18" charset="0"/>
              </a:rPr>
              <a:t> della variabile. Dopo aver inizializzato una variabile quindi, potremo anche cambiare il suo valore. Per esempio, considerando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dirty="0">
                <a:effectLst/>
                <a:latin typeface="Times New Roman" panose="02020603050405020304" pitchFamily="18" charset="0"/>
                <a:ea typeface="Times New Roman" panose="02020603050405020304" pitchFamily="18" charset="0"/>
              </a:rPr>
              <a:t> che abbiamo già inizializzato, con le seguenti istruzioni ne possiamo cambiare il valore:</a:t>
            </a:r>
          </a:p>
          <a:p>
            <a:r>
              <a:rPr lang="it-IT" sz="1800" dirty="0">
                <a:solidFill>
                  <a:srgbClr val="000000"/>
                </a:solidFill>
                <a:effectLst/>
                <a:latin typeface="Courier New" panose="02070309020205020404" pitchFamily="49" charset="0"/>
                <a:ea typeface="Times New Roman" panose="02020603050405020304" pitchFamily="18" charset="0"/>
              </a:rPr>
              <a:t>numero = 3;</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numero = 29;</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anche possibile assegnare ad una variabile il valore di un’altra variabile. Per esempio, potremmo scrivere il seguente frammento di codice:</a:t>
            </a:r>
          </a:p>
          <a:p>
            <a:r>
              <a:rPr lang="it-IT" sz="1800" dirty="0">
                <a:solidFill>
                  <a:srgbClr val="000000"/>
                </a:solidFill>
                <a:effectLst/>
                <a:latin typeface="Courier New" panose="02070309020205020404" pitchFamily="49" charset="0"/>
                <a:ea typeface="Times New Roman" panose="02020603050405020304" pitchFamily="18" charset="0"/>
              </a:rPr>
              <a:t>int a = 10;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int b = 20;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 = b;</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alla fine di questo frammento di codice,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800" dirty="0">
                <a:effectLst/>
                <a:latin typeface="Times New Roman" panose="02020603050405020304" pitchFamily="18" charset="0"/>
                <a:ea typeface="Times New Roman" panose="02020603050405020304" pitchFamily="18" charset="0"/>
              </a:rPr>
              <a:t> conterrà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20</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Tecnicamente, una </a:t>
            </a:r>
            <a:r>
              <a:rPr lang="it-IT" sz="1800" b="0" dirty="0">
                <a:effectLst/>
                <a:latin typeface="Times New Roman" panose="02020603050405020304" pitchFamily="18" charset="0"/>
                <a:ea typeface="Times New Roman" panose="02020603050405020304" pitchFamily="18" charset="0"/>
              </a:rPr>
              <a:t>variabile</a:t>
            </a:r>
            <a:r>
              <a:rPr lang="it-IT" sz="1800" dirty="0">
                <a:effectLst/>
                <a:latin typeface="Times New Roman" panose="02020603050405020304" pitchFamily="18" charset="0"/>
                <a:ea typeface="Times New Roman" panose="02020603050405020304" pitchFamily="18" charset="0"/>
              </a:rPr>
              <a:t> è una porzione di memoria in cui è immagazzinato un valore di un certo tipo. Il tipo di dato che viene definito per una variabile, è un vincolo per il valore assegnabile alla variabile stessa. Per esempio, alla variabile intera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numero</a:t>
            </a:r>
            <a:r>
              <a:rPr lang="it-IT" sz="1800" dirty="0">
                <a:effectLst/>
                <a:latin typeface="Times New Roman" panose="02020603050405020304" pitchFamily="18" charset="0"/>
                <a:ea typeface="Times New Roman" panose="02020603050405020304" pitchFamily="18" charset="0"/>
              </a:rPr>
              <a:t>, non potremmo assegnare numeri con la virgola, caratteri o qualsiasi altra informazione che non sia un numero intero.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Anche se sino ad ora abbiamo incontrato come tipo di dato solo il tipo intero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b="1" dirty="0">
                <a:solidFill>
                  <a:srgbClr val="000000"/>
                </a:solidFill>
                <a:effectLst/>
                <a:latin typeface="Times New Roman" panose="02020603050405020304" pitchFamily="18" charset="0"/>
                <a:ea typeface="Times New Roman" panose="02020603050405020304" pitchFamily="18" charset="0"/>
              </a:rPr>
              <a:t>, esistono 8 tipi definiti da Java (si chiamano “tipi primitivi” e ne parleremo nel prossimo capitolo), e potenzialmente infiniti “tipi complessi”.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Impariamo subito a distinguere due fasi distinte: la </a:t>
            </a:r>
            <a:r>
              <a:rPr lang="it-IT" sz="1800" b="1" dirty="0">
                <a:effectLst/>
                <a:latin typeface="Times New Roman" panose="02020603050405020304" pitchFamily="18" charset="0"/>
                <a:ea typeface="Times New Roman" panose="02020603050405020304" pitchFamily="18" charset="0"/>
              </a:rPr>
              <a:t>dichiarazione</a:t>
            </a:r>
            <a:r>
              <a:rPr lang="it-IT" sz="1800" dirty="0">
                <a:effectLst/>
                <a:latin typeface="Times New Roman" panose="02020603050405020304" pitchFamily="18" charset="0"/>
                <a:ea typeface="Times New Roman" panose="02020603050405020304" pitchFamily="18" charset="0"/>
              </a:rPr>
              <a:t> e l’</a:t>
            </a:r>
            <a:r>
              <a:rPr lang="it-IT" sz="1800" b="1" dirty="0">
                <a:effectLst/>
                <a:latin typeface="Times New Roman" panose="02020603050405020304" pitchFamily="18" charset="0"/>
                <a:ea typeface="Times New Roman" panose="02020603050405020304" pitchFamily="18" charset="0"/>
              </a:rPr>
              <a:t>assegnazione</a:t>
            </a:r>
            <a:r>
              <a:rPr lang="it-IT" sz="1800" dirty="0">
                <a:effectLst/>
                <a:latin typeface="Times New Roman" panose="02020603050405020304" pitchFamily="18" charset="0"/>
                <a:ea typeface="Times New Roman" panose="02020603050405020304" pitchFamily="18" charset="0"/>
              </a:rPr>
              <a:t> della variabile</a:t>
            </a:r>
          </a:p>
        </p:txBody>
      </p:sp>
    </p:spTree>
    <p:extLst>
      <p:ext uri="{BB962C8B-B14F-4D97-AF65-F5344CB8AC3E}">
        <p14:creationId xmlns:p14="http://schemas.microsoft.com/office/powerpoint/2010/main" val="8322601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200" dirty="0">
                <a:effectLst/>
                <a:latin typeface="Times New Roman" panose="02020603050405020304" pitchFamily="18" charset="0"/>
                <a:ea typeface="Times New Roman" panose="02020603050405020304" pitchFamily="18" charset="0"/>
              </a:rPr>
              <a:t>Nella programmazione, i </a:t>
            </a:r>
            <a:r>
              <a:rPr lang="it-IT" sz="1200" b="1" dirty="0">
                <a:effectLst/>
                <a:latin typeface="Times New Roman" panose="02020603050405020304" pitchFamily="18" charset="0"/>
                <a:ea typeface="Times New Roman" panose="02020603050405020304" pitchFamily="18" charset="0"/>
              </a:rPr>
              <a:t>metodi</a:t>
            </a:r>
            <a:r>
              <a:rPr lang="it-IT" sz="1200" dirty="0">
                <a:effectLst/>
                <a:latin typeface="Times New Roman" panose="02020603050405020304" pitchFamily="18" charset="0"/>
                <a:ea typeface="Times New Roman" panose="02020603050405020304" pitchFamily="18" charset="0"/>
              </a:rPr>
              <a:t> rappresentano funzionalità definite da una sequenza di istruzioni. Tali istruzioni sono contenute all’interno di un blocco di codice delimitato da parentesi graffe. Per ora, abbiamo visto un solo esempio di metodo: il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200" dirty="0">
                <a:effectLst/>
                <a:latin typeface="Times New Roman" panose="02020603050405020304" pitchFamily="18" charset="0"/>
                <a:ea typeface="Times New Roman" panose="02020603050405020304" pitchFamily="18" charset="0"/>
              </a:rPr>
              <a:t>. Tutte le istruzioni che abbiamo eseguito con i nostri programmi, erano contenute all’interno di tale metodo, tuttavia, è possibile anche dichiarare altri metodi con nomi e caratteristiche diverse. Una volta definito un metodo, questo potrà essere invocato più volte. Invocare un metodo, significa eseguire la sequenza di istruzioni che definisce. Quindi, supponiamo ci serva eseguire più volte, in parti diverse del nostro codice, una certa sequenza di istruzioni, non sarà necessario riscriverle, ma bisognerà solamente invocare il metodo che le contiene nel momento in cui serve. Concettualmente quindi, un metodo rappresenta una funzionalità, e di conseguenza il suo nome solitamente contiene un verbo. </a:t>
            </a:r>
          </a:p>
          <a:p>
            <a:pPr marL="180340" indent="180340"/>
            <a:r>
              <a:rPr lang="it-IT" sz="1200" dirty="0">
                <a:effectLst/>
                <a:latin typeface="Times New Roman" panose="02020603050405020304" pitchFamily="18" charset="0"/>
                <a:ea typeface="MS Mincho" panose="02020609040205080304" pitchFamily="49" charset="-128"/>
              </a:rPr>
              <a:t>Per poter invocare un metodo però, bisogna prima dichiararlo.</a:t>
            </a:r>
          </a:p>
        </p:txBody>
      </p:sp>
    </p:spTree>
    <p:extLst>
      <p:ext uri="{BB962C8B-B14F-4D97-AF65-F5344CB8AC3E}">
        <p14:creationId xmlns:p14="http://schemas.microsoft.com/office/powerpoint/2010/main" val="27257667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Con la dichiarazione di un metodo, lo definiamo e lo rendiamo disponibile al nostro programma. Notare che non è possibile dichiarare un metodo al di fuori del blocco di codice di una classe. Per esempio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è stato sempre dichiarato all’interno di una classe.</a:t>
            </a:r>
          </a:p>
          <a:p>
            <a:r>
              <a:rPr lang="it-IT" sz="1800" dirty="0">
                <a:effectLst/>
                <a:latin typeface="Times New Roman" panose="02020603050405020304" pitchFamily="18" charset="0"/>
                <a:ea typeface="Times New Roman" panose="02020603050405020304" pitchFamily="18" charset="0"/>
              </a:rPr>
              <a:t>La sintassi per la dichiarazione di un metodo è la seguente (tra parentesi quadre è riportata la sintassi da considerare opzionale):</a:t>
            </a:r>
          </a:p>
          <a:p>
            <a:r>
              <a:rPr lang="it-IT" sz="1800" dirty="0">
                <a:solidFill>
                  <a:srgbClr val="000000"/>
                </a:solidFill>
                <a:effectLst/>
                <a:latin typeface="Courier New" panose="02070309020205020404" pitchFamily="49" charset="0"/>
                <a:ea typeface="Times New Roman" panose="02020603050405020304" pitchFamily="18" charset="0"/>
              </a:rPr>
              <a:t>[modificatori] </a:t>
            </a:r>
            <a:r>
              <a:rPr lang="it-IT" sz="1800" dirty="0" err="1">
                <a:solidFill>
                  <a:srgbClr val="000000"/>
                </a:solidFill>
                <a:effectLst/>
                <a:latin typeface="Courier New" panose="02070309020205020404" pitchFamily="49" charset="0"/>
                <a:ea typeface="Times New Roman" panose="02020603050405020304" pitchFamily="18" charset="0"/>
              </a:rPr>
              <a:t>tipo_di_ritorno</a:t>
            </a:r>
            <a:r>
              <a:rPr lang="it-IT" sz="1800" dirty="0">
                <a:solidFill>
                  <a:srgbClr val="000000"/>
                </a:solidFill>
                <a:effectLst/>
                <a:latin typeface="Courier New" panose="02070309020205020404" pitchFamily="49" charset="0"/>
                <a:ea typeface="Times New Roman" panose="02020603050405020304" pitchFamily="18" charset="0"/>
              </a:rPr>
              <a:t> identificatore ([parametri]) {</a:t>
            </a:r>
            <a:r>
              <a:rPr lang="it-IT" sz="1800" dirty="0" err="1">
                <a:solidFill>
                  <a:srgbClr val="000000"/>
                </a:solidFill>
                <a:effectLst/>
                <a:latin typeface="Courier New" panose="02070309020205020404" pitchFamily="49" charset="0"/>
                <a:ea typeface="Times New Roman" panose="02020603050405020304" pitchFamily="18" charset="0"/>
              </a:rPr>
              <a:t>corpo_del_metodo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Quindi, i metodi vengono definiti da: </a:t>
            </a:r>
          </a:p>
          <a:p>
            <a:pPr marL="180340" indent="180340"/>
            <a:r>
              <a:rPr lang="it-IT" sz="1800" dirty="0">
                <a:effectLst/>
                <a:latin typeface="Times New Roman" panose="02020603050405020304" pitchFamily="18" charset="0"/>
                <a:ea typeface="MS Mincho" panose="02020609040205080304" pitchFamily="49" charset="-128"/>
              </a:rPr>
              <a:t>una </a:t>
            </a:r>
            <a:r>
              <a:rPr lang="it-IT" sz="1800" b="1" dirty="0">
                <a:effectLst/>
                <a:latin typeface="Times New Roman" panose="02020603050405020304" pitchFamily="18" charset="0"/>
                <a:ea typeface="MS Mincho" panose="02020609040205080304" pitchFamily="49" charset="-128"/>
              </a:rPr>
              <a:t>lista di modificatori</a:t>
            </a:r>
            <a:r>
              <a:rPr lang="it-IT" sz="1800" dirty="0">
                <a:effectLst/>
                <a:latin typeface="Times New Roman" panose="02020603050405020304" pitchFamily="18" charset="0"/>
                <a:ea typeface="MS Mincho" panose="02020609040205080304" pitchFamily="49" charset="-128"/>
              </a:rPr>
              <a:t>. Tale lista è opzionale, e i modificatori che si possono usare, dipendono da vari fattori. Abbiamo visto per esempio che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MS Mincho" panose="02020609040205080304" pitchFamily="49" charset="-128"/>
              </a:rPr>
              <a:t>, deve essere sempre dichiarato con i modificatori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dirty="0">
                <a:effectLst/>
                <a:latin typeface="Times New Roman" panose="02020603050405020304" pitchFamily="18" charset="0"/>
                <a:ea typeface="MS Mincho" panose="02020609040205080304" pitchFamily="49" charset="-128"/>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800" dirty="0">
                <a:effectLst/>
                <a:latin typeface="Times New Roman" panose="02020603050405020304" pitchFamily="18" charset="0"/>
                <a:ea typeface="MS Mincho" panose="02020609040205080304" pitchFamily="49" charset="-128"/>
              </a:rPr>
              <a:t>.</a:t>
            </a:r>
          </a:p>
          <a:p>
            <a:pPr marL="180340" indent="180340"/>
            <a:r>
              <a:rPr lang="it-IT" sz="1800" dirty="0">
                <a:effectLst/>
                <a:latin typeface="Times New Roman" panose="02020603050405020304" pitchFamily="18" charset="0"/>
                <a:ea typeface="MS Mincho" panose="02020609040205080304" pitchFamily="49" charset="-128"/>
              </a:rPr>
              <a:t>un </a:t>
            </a:r>
            <a:r>
              <a:rPr lang="it-IT" sz="1800" b="1" dirty="0">
                <a:effectLst/>
                <a:latin typeface="Times New Roman" panose="02020603050405020304" pitchFamily="18" charset="0"/>
                <a:ea typeface="MS Mincho" panose="02020609040205080304" pitchFamily="49" charset="-128"/>
              </a:rPr>
              <a:t>tipo</a:t>
            </a:r>
            <a:r>
              <a:rPr lang="it-IT" sz="1800" dirty="0">
                <a:effectLst/>
                <a:latin typeface="Times New Roman" panose="02020603050405020304" pitchFamily="18" charset="0"/>
                <a:ea typeface="MS Mincho" panose="02020609040205080304" pitchFamily="49" charset="-128"/>
              </a:rPr>
              <a:t> </a:t>
            </a:r>
            <a:r>
              <a:rPr lang="it-IT" sz="1800" b="1" dirty="0">
                <a:effectLst/>
                <a:latin typeface="Times New Roman" panose="02020603050405020304" pitchFamily="18" charset="0"/>
                <a:ea typeface="MS Mincho" panose="02020609040205080304" pitchFamily="49" charset="-128"/>
              </a:rPr>
              <a:t>di ritorno</a:t>
            </a:r>
            <a:r>
              <a:rPr lang="it-IT" sz="1800" dirty="0">
                <a:effectLst/>
                <a:latin typeface="Times New Roman" panose="02020603050405020304" pitchFamily="18" charset="0"/>
                <a:ea typeface="MS Mincho" panose="02020609040205080304" pitchFamily="49" charset="-128"/>
              </a:rPr>
              <a:t>. Ogni metodo può ritornare un valore di un certo tipo. Se non ritorna valori (come nel caso del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MS Mincho" panose="02020609040205080304" pitchFamily="49" charset="-128"/>
              </a:rPr>
              <a:t>), come tipo di ritorno viene usata la parola chiave di Java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void</a:t>
            </a:r>
            <a:r>
              <a:rPr lang="it-IT" sz="1800" dirty="0">
                <a:effectLst/>
                <a:latin typeface="Times New Roman" panose="02020603050405020304" pitchFamily="18" charset="0"/>
                <a:ea typeface="MS Mincho" panose="02020609040205080304" pitchFamily="49" charset="-128"/>
              </a:rPr>
              <a:t> (in inglese “vuoto”). Se invece ritorna un valore, bisogna specificare il tipo di questo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MS Mincho" panose="02020609040205080304" pitchFamily="49" charset="-128"/>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dirty="0">
                <a:effectLst/>
                <a:latin typeface="Times New Roman" panose="02020603050405020304" pitchFamily="18" charset="0"/>
                <a:ea typeface="MS Mincho" panose="02020609040205080304" pitchFamily="49" charset="-128"/>
              </a:rPr>
              <a:t> etc.);</a:t>
            </a:r>
          </a:p>
          <a:p>
            <a:pPr marL="180340" indent="180340"/>
            <a:r>
              <a:rPr lang="it-IT" sz="1800" dirty="0">
                <a:effectLst/>
                <a:latin typeface="Times New Roman" panose="02020603050405020304" pitchFamily="18" charset="0"/>
                <a:ea typeface="MS Mincho" panose="02020609040205080304" pitchFamily="49" charset="-128"/>
              </a:rPr>
              <a:t>un </a:t>
            </a:r>
            <a:r>
              <a:rPr lang="it-IT" sz="1800" b="1" dirty="0">
                <a:effectLst/>
                <a:latin typeface="Times New Roman" panose="02020603050405020304" pitchFamily="18" charset="0"/>
                <a:ea typeface="MS Mincho" panose="02020609040205080304" pitchFamily="49" charset="-128"/>
              </a:rPr>
              <a:t>identificatore</a:t>
            </a:r>
            <a:r>
              <a:rPr lang="it-IT" sz="1800" dirty="0">
                <a:effectLst/>
                <a:latin typeface="Times New Roman" panose="02020603050405020304" pitchFamily="18" charset="0"/>
                <a:ea typeface="MS Mincho" panose="02020609040205080304" pitchFamily="49" charset="-128"/>
              </a:rPr>
              <a:t>. Chiaramente serve per riferirsi al metodo, e come sempre deve essere un nome significativo;</a:t>
            </a:r>
          </a:p>
          <a:p>
            <a:pPr marL="180340" indent="180340">
              <a:tabLst>
                <a:tab pos="457200" algn="l"/>
              </a:tabLst>
            </a:pPr>
            <a:r>
              <a:rPr lang="it-IT" sz="1800" b="0" dirty="0">
                <a:effectLst/>
                <a:latin typeface="Times New Roman" panose="02020603050405020304" pitchFamily="18" charset="0"/>
                <a:ea typeface="MS Mincho" panose="02020609040205080304" pitchFamily="49" charset="-128"/>
              </a:rPr>
              <a:t>una </a:t>
            </a:r>
            <a:r>
              <a:rPr lang="it-IT" sz="1800" b="1" dirty="0">
                <a:effectLst/>
                <a:latin typeface="Times New Roman" panose="02020603050405020304" pitchFamily="18" charset="0"/>
                <a:ea typeface="MS Mincho" panose="02020609040205080304" pitchFamily="49" charset="-128"/>
              </a:rPr>
              <a:t>coppia di parentesi</a:t>
            </a:r>
            <a:r>
              <a:rPr lang="it-IT" sz="1800" b="0" dirty="0">
                <a:effectLst/>
                <a:latin typeface="Times New Roman" panose="02020603050405020304" pitchFamily="18" charset="0"/>
                <a:ea typeface="MS Mincho" panose="02020609040205080304" pitchFamily="49" charset="-128"/>
              </a:rPr>
              <a:t> rotonde con all’interno una</a:t>
            </a:r>
            <a:r>
              <a:rPr lang="it-IT" sz="1800" b="1" dirty="0">
                <a:effectLst/>
                <a:latin typeface="Times New Roman" panose="02020603050405020304" pitchFamily="18" charset="0"/>
                <a:ea typeface="MS Mincho" panose="02020609040205080304" pitchFamily="49" charset="-128"/>
              </a:rPr>
              <a:t> lista di parametri (opzionale)</a:t>
            </a:r>
            <a:r>
              <a:rPr lang="it-IT" sz="1800" dirty="0">
                <a:effectLst/>
                <a:latin typeface="Times New Roman" panose="02020603050405020304" pitchFamily="18" charset="0"/>
                <a:ea typeface="MS Mincho" panose="02020609040205080304" pitchFamily="49" charset="-128"/>
              </a:rPr>
              <a:t>. Un metodo viene definito sempre con due parentesi tonde, ed all’interno di esse potrebbe esserci un elenco di dichiarazioni di variabili. Queste variabili vengono dette </a:t>
            </a:r>
            <a:r>
              <a:rPr lang="it-IT" sz="1800" b="1" dirty="0">
                <a:effectLst/>
                <a:latin typeface="Times New Roman" panose="02020603050405020304" pitchFamily="18" charset="0"/>
                <a:ea typeface="MS Mincho" panose="02020609040205080304" pitchFamily="49" charset="-128"/>
              </a:rPr>
              <a:t>parametri</a:t>
            </a:r>
            <a:r>
              <a:rPr lang="it-IT" sz="1800" dirty="0">
                <a:effectLst/>
                <a:latin typeface="Times New Roman" panose="02020603050405020304" pitchFamily="18" charset="0"/>
                <a:ea typeface="MS Mincho" panose="02020609040205080304" pitchFamily="49" charset="-128"/>
              </a:rPr>
              <a:t> del metodo. Il numero di parametri può variare da zero ad un numero imprecisato, ma è buona norma a limitare il numero di parametri da passare a un metodo. Quando si dichiarano più parametri, le loro dichiarazioni saranno separate da virgole. Tali parametri possono contenere informazioni (valori) che possono essere passati al metodo quando esso viene invocato, e rappresentano quindi l’</a:t>
            </a:r>
            <a:r>
              <a:rPr lang="it-IT" sz="1800" b="1" dirty="0">
                <a:effectLst/>
                <a:latin typeface="Times New Roman" panose="02020603050405020304" pitchFamily="18" charset="0"/>
                <a:ea typeface="MS Mincho" panose="02020609040205080304" pitchFamily="49" charset="-128"/>
              </a:rPr>
              <a:t>input del metodo</a:t>
            </a:r>
            <a:r>
              <a:rPr lang="it-IT" sz="1800" dirty="0">
                <a:effectLst/>
                <a:latin typeface="Times New Roman" panose="02020603050405020304" pitchFamily="18" charset="0"/>
                <a:ea typeface="MS Mincho" panose="02020609040205080304" pitchFamily="49" charset="-128"/>
              </a:rPr>
              <a:t>;</a:t>
            </a:r>
          </a:p>
          <a:p>
            <a:pPr marL="180340" indent="180340">
              <a:tabLst>
                <a:tab pos="457200" algn="l"/>
              </a:tabLst>
            </a:pPr>
            <a:r>
              <a:rPr lang="it-IT" sz="1800" b="1" dirty="0">
                <a:effectLst/>
                <a:latin typeface="Times New Roman" panose="02020603050405020304" pitchFamily="18" charset="0"/>
                <a:ea typeface="MS Mincho" panose="02020609040205080304" pitchFamily="49" charset="-128"/>
              </a:rPr>
              <a:t>corpo del metodo</a:t>
            </a:r>
            <a:r>
              <a:rPr lang="it-IT" sz="1800" b="0" dirty="0">
                <a:effectLst/>
                <a:latin typeface="Times New Roman" panose="02020603050405020304" pitchFamily="18" charset="0"/>
                <a:ea typeface="MS Mincho" panose="02020609040205080304" pitchFamily="49" charset="-128"/>
              </a:rPr>
              <a:t> (compreso tra parentesi graffe)</a:t>
            </a:r>
            <a:r>
              <a:rPr lang="it-IT" sz="1800" dirty="0">
                <a:effectLst/>
                <a:latin typeface="Times New Roman" panose="02020603050405020304" pitchFamily="18" charset="0"/>
                <a:ea typeface="MS Mincho" panose="02020609040205080304" pitchFamily="49" charset="-128"/>
              </a:rPr>
              <a:t>: insieme di istruzioni che verranno eseguite quando il metodo sarà invocato.</a:t>
            </a:r>
          </a:p>
          <a:p>
            <a:r>
              <a:rPr lang="it-IT" sz="1800" dirty="0">
                <a:effectLst/>
                <a:latin typeface="Times New Roman" panose="02020603050405020304" pitchFamily="18" charset="0"/>
                <a:ea typeface="Times New Roman" panose="02020603050405020304" pitchFamily="18" charset="0"/>
              </a:rPr>
              <a:t>Riassumendo, la dichiarazione di un metodo è definita da una lista di modificatori opzionale, un tipo di ritorno, un nome (identificatore), una lista di parametri e un blocco di codice che contiene le istruzioni che saranno eseguite quando il metodo sarà chiamato.</a:t>
            </a:r>
          </a:p>
        </p:txBody>
      </p:sp>
    </p:spTree>
    <p:extLst>
      <p:ext uri="{BB962C8B-B14F-4D97-AF65-F5344CB8AC3E}">
        <p14:creationId xmlns:p14="http://schemas.microsoft.com/office/powerpoint/2010/main" val="2593732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180340" indent="180340"/>
            <a:r>
              <a:rPr lang="it-IT" sz="1800" dirty="0">
                <a:effectLst/>
                <a:latin typeface="Times New Roman" panose="02020603050405020304" pitchFamily="18" charset="0"/>
                <a:ea typeface="MS Mincho" panose="02020609040205080304" pitchFamily="49" charset="-128"/>
              </a:rPr>
              <a:t>Avete notato che il codice contiene varie ripetizioni? Senza modificare l’output del programma, modifichiamo il codice aggiungendo un metodo che si occupi di stampare il valore della variabile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tassoDiConversione</a:t>
            </a:r>
            <a:r>
              <a:rPr lang="it-IT" sz="1800" dirty="0">
                <a:effectLst/>
                <a:latin typeface="Times New Roman" panose="02020603050405020304" pitchFamily="18" charset="0"/>
                <a:ea typeface="MS Mincho" panose="02020609040205080304" pitchFamily="49" charset="-128"/>
              </a:rPr>
              <a:t> (le modifiche sono in grassetto):</a:t>
            </a:r>
          </a:p>
        </p:txBody>
      </p:sp>
    </p:spTree>
    <p:extLst>
      <p:ext uri="{BB962C8B-B14F-4D97-AF65-F5344CB8AC3E}">
        <p14:creationId xmlns:p14="http://schemas.microsoft.com/office/powerpoint/2010/main" val="15554549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914400"/>
            <a:r>
              <a:rPr lang="it-IT" sz="1800" b="1" dirty="0">
                <a:solidFill>
                  <a:srgbClr val="000000"/>
                </a:solidFill>
                <a:effectLst/>
                <a:latin typeface="Times New Roman" panose="02020603050405020304" pitchFamily="18" charset="0"/>
                <a:ea typeface="Times New Roman" panose="02020603050405020304" pitchFamily="18" charset="0"/>
              </a:rPr>
              <a:t>Tecnicamente, le modifiche che impattano solo sulla forma e non sul risultato del programma, vengono definite “tecniche di refactoring”. In questo caso abbiamo utilizzato una tecnica chiamata “</a:t>
            </a:r>
            <a:r>
              <a:rPr lang="it-IT" sz="1800" b="1" dirty="0" err="1">
                <a:solidFill>
                  <a:srgbClr val="000000"/>
                </a:solidFill>
                <a:effectLst/>
                <a:latin typeface="Times New Roman" panose="02020603050405020304" pitchFamily="18" charset="0"/>
                <a:ea typeface="Times New Roman" panose="02020603050405020304" pitchFamily="18" charset="0"/>
              </a:rPr>
              <a:t>Extract</a:t>
            </a:r>
            <a:r>
              <a:rPr lang="it-IT" sz="1800" b="1" dirty="0">
                <a:solidFill>
                  <a:srgbClr val="000000"/>
                </a:solidFill>
                <a:effectLst/>
                <a:latin typeface="Times New Roman" panose="02020603050405020304" pitchFamily="18" charset="0"/>
                <a:ea typeface="Times New Roman" panose="02020603050405020304" pitchFamily="18" charset="0"/>
              </a:rPr>
              <a:t> Method”. Ci occuperemo del refactoring più volte durante lo studio di questo libro.</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Concentriamoci solo sulla dichiarazione del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stampaTassoDiConversione</a:t>
            </a:r>
            <a:r>
              <a:rPr lang="it-IT" sz="1800" dirty="0">
                <a:effectLst/>
                <a:latin typeface="Times New Roman" panose="02020603050405020304" pitchFamily="18" charset="0"/>
                <a:ea typeface="Times New Roman" panose="02020603050405020304" pitchFamily="18" charset="0"/>
              </a:rPr>
              <a:t>. Possiamo notare che esso raggruppa le due istruzioni che venivano ripetute tre volte all’interno della versione precedente della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VariazioniDiVariabile</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Il metodo, definisce un unico parametro in input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che abbiamo chiamato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tasso</a:t>
            </a:r>
            <a:r>
              <a:rPr lang="it-IT" sz="1800" dirty="0">
                <a:effectLst/>
                <a:latin typeface="Times New Roman" panose="02020603050405020304" pitchFamily="18" charset="0"/>
                <a:ea typeface="Times New Roman" panose="02020603050405020304" pitchFamily="18" charset="0"/>
              </a:rPr>
              <a:t>.</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Notare che nulla ci avrebbe vietato di chiamare il parametro </a:t>
            </a:r>
            <a:r>
              <a:rPr lang="it-IT" sz="1800" b="1"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tassoDiConversione</a:t>
            </a:r>
            <a:r>
              <a:rPr lang="it-IT" sz="1800" b="1" dirty="0">
                <a:solidFill>
                  <a:srgbClr val="000000"/>
                </a:solidFill>
                <a:effectLst/>
                <a:latin typeface="Times New Roman" panose="02020603050405020304" pitchFamily="18" charset="0"/>
                <a:ea typeface="Times New Roman" panose="02020603050405020304" pitchFamily="18" charset="0"/>
              </a:rPr>
              <a:t>, invece di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tasso</a:t>
            </a:r>
            <a:r>
              <a:rPr lang="it-IT" sz="1800" b="1" dirty="0">
                <a:solidFill>
                  <a:srgbClr val="000000"/>
                </a:solidFill>
                <a:effectLst/>
                <a:latin typeface="Times New Roman" panose="02020603050405020304" pitchFamily="18" charset="0"/>
                <a:ea typeface="Times New Roman" panose="02020603050405020304" pitchFamily="18" charset="0"/>
              </a:rPr>
              <a:t>. Tuttavia, abbiamo preferito utilizzare un nome diverso per non far intendere che i nomi debbano coincidere necessariamente.</a:t>
            </a:r>
          </a:p>
          <a:p>
            <a:pPr marL="1600200" lvl="3" indent="-228600">
              <a:spcBef>
                <a:spcPts val="1200"/>
              </a:spcBef>
              <a:spcAft>
                <a:spcPts val="300"/>
              </a:spcAft>
              <a:buFont typeface="Arial" panose="020B0604020202020204" pitchFamily="34" charset="0"/>
              <a:buChar char=""/>
            </a:pPr>
            <a:r>
              <a:rPr lang="it-IT" sz="1400" b="1" dirty="0">
                <a:effectLst/>
                <a:latin typeface="Times New Roman" panose="02020603050405020304" pitchFamily="18" charset="0"/>
              </a:rPr>
              <a:t>Invocazione di un metodo (statico)</a:t>
            </a:r>
          </a:p>
          <a:p>
            <a:r>
              <a:rPr lang="it-IT" sz="1200" dirty="0">
                <a:effectLst/>
                <a:latin typeface="Times New Roman" panose="02020603050405020304" pitchFamily="18" charset="0"/>
                <a:ea typeface="Times New Roman" panose="02020603050405020304" pitchFamily="18" charset="0"/>
              </a:rPr>
              <a:t>Torniamo sul codice del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200" dirty="0">
                <a:effectLst/>
                <a:latin typeface="Times New Roman" panose="02020603050405020304" pitchFamily="18" charset="0"/>
                <a:ea typeface="Times New Roman" panose="02020603050405020304" pitchFamily="18" charset="0"/>
              </a:rPr>
              <a:t>, in particolare sulle istruzioni in grassetto che rappresentano le invocazioni al metodo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stampaTassoDiConversione</a:t>
            </a:r>
            <a:r>
              <a:rPr lang="it-IT" sz="1200" dirty="0">
                <a:effectLst/>
                <a:latin typeface="Times New Roman" panose="02020603050405020304" pitchFamily="18" charset="0"/>
                <a:ea typeface="Times New Roman" panose="02020603050405020304" pitchFamily="18" charset="0"/>
              </a:rPr>
              <a:t>. Rispetto alla prima versione della classe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VariazioniDiVariabile</a:t>
            </a:r>
            <a:r>
              <a:rPr lang="it-IT" sz="1200" dirty="0">
                <a:effectLst/>
                <a:latin typeface="Times New Roman" panose="02020603050405020304" pitchFamily="18" charset="0"/>
                <a:ea typeface="Times New Roman" panose="02020603050405020304" pitchFamily="18" charset="0"/>
              </a:rPr>
              <a:t>, queste sostituiscono la coppia di istruzioni che si ripeteva tre volte, e che ora si trova all’interno del metodo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stampaTassoDiConversione</a:t>
            </a:r>
            <a:r>
              <a:rPr lang="it-IT" sz="1200" dirty="0">
                <a:effectLst/>
                <a:latin typeface="Times New Roman" panose="02020603050405020304" pitchFamily="18" charset="0"/>
                <a:ea typeface="Times New Roman" panose="02020603050405020304" pitchFamily="18" charset="0"/>
              </a:rPr>
              <a:t>. L’invocazione del metodo quindi, in questo caso avviene usando la seguente sintassi:</a:t>
            </a:r>
          </a:p>
          <a:p>
            <a:r>
              <a:rPr lang="it-IT" sz="1000" dirty="0">
                <a:solidFill>
                  <a:srgbClr val="000000"/>
                </a:solidFill>
                <a:effectLst/>
                <a:latin typeface="Courier New" panose="02070309020205020404" pitchFamily="49" charset="0"/>
                <a:ea typeface="Times New Roman" panose="02020603050405020304" pitchFamily="18" charset="0"/>
              </a:rPr>
              <a:t>        </a:t>
            </a:r>
            <a:r>
              <a:rPr lang="it-IT" sz="1000" dirty="0" err="1">
                <a:solidFill>
                  <a:srgbClr val="000000"/>
                </a:solidFill>
                <a:effectLst/>
                <a:latin typeface="Courier New" panose="02070309020205020404" pitchFamily="49" charset="0"/>
                <a:ea typeface="Times New Roman" panose="02020603050405020304" pitchFamily="18" charset="0"/>
              </a:rPr>
              <a:t>stampaTassoDiConversione</a:t>
            </a:r>
            <a:r>
              <a:rPr lang="it-IT" sz="1000" dirty="0">
                <a:solidFill>
                  <a:srgbClr val="000000"/>
                </a:solidFill>
                <a:effectLst/>
                <a:latin typeface="Courier New" panose="02070309020205020404" pitchFamily="49" charset="0"/>
                <a:ea typeface="Times New Roman" panose="02020603050405020304" pitchFamily="18" charset="0"/>
              </a:rPr>
              <a:t>(</a:t>
            </a:r>
            <a:r>
              <a:rPr lang="it-IT" sz="1000" dirty="0" err="1">
                <a:solidFill>
                  <a:srgbClr val="000000"/>
                </a:solidFill>
                <a:effectLst/>
                <a:latin typeface="Courier New" panose="02070309020205020404" pitchFamily="49" charset="0"/>
                <a:ea typeface="Times New Roman" panose="02020603050405020304" pitchFamily="18" charset="0"/>
              </a:rPr>
              <a:t>tassoDiConversione</a:t>
            </a:r>
            <a:r>
              <a:rPr lang="it-IT"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In particolare, questo metodo viene chiamato tre volte, e viene specificato tra le parentesi tonde, la variabile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tassoDiConversione</a:t>
            </a:r>
            <a:r>
              <a:rPr lang="it-IT" sz="1200" dirty="0">
                <a:effectLst/>
                <a:latin typeface="Times New Roman" panose="02020603050405020304" pitchFamily="18" charset="0"/>
                <a:ea typeface="Times New Roman" panose="02020603050405020304" pitchFamily="18" charset="0"/>
              </a:rPr>
              <a:t> come parametro. Questo significa che il </a:t>
            </a:r>
            <a:r>
              <a:rPr lang="it-IT" sz="1200" u="sng" dirty="0">
                <a:effectLst/>
                <a:latin typeface="Times New Roman" panose="02020603050405020304" pitchFamily="18" charset="0"/>
                <a:ea typeface="Times New Roman" panose="02020603050405020304" pitchFamily="18" charset="0"/>
              </a:rPr>
              <a:t>valore</a:t>
            </a:r>
            <a:r>
              <a:rPr lang="it-IT" sz="1200" dirty="0">
                <a:effectLst/>
                <a:latin typeface="Times New Roman" panose="02020603050405020304" pitchFamily="18" charset="0"/>
                <a:ea typeface="Times New Roman" panose="02020603050405020304" pitchFamily="18" charset="0"/>
              </a:rPr>
              <a:t> che la variabile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tassoDiConversione</a:t>
            </a:r>
            <a:r>
              <a:rPr lang="it-IT" sz="1200" dirty="0">
                <a:effectLst/>
                <a:latin typeface="Times New Roman" panose="02020603050405020304" pitchFamily="18" charset="0"/>
                <a:ea typeface="Times New Roman" panose="02020603050405020304" pitchFamily="18" charset="0"/>
              </a:rPr>
              <a:t> aveva nel momento della chiamata, verrà copiato nella variabile parametro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tasso</a:t>
            </a:r>
            <a:r>
              <a:rPr lang="it-IT" sz="1200" dirty="0">
                <a:effectLst/>
                <a:latin typeface="Times New Roman" panose="02020603050405020304" pitchFamily="18" charset="0"/>
                <a:ea typeface="Times New Roman" panose="02020603050405020304" pitchFamily="18" charset="0"/>
              </a:rPr>
              <a:t> del metodo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stampaTassoDiConversione</a:t>
            </a:r>
            <a:r>
              <a:rPr lang="it-IT" sz="1200" dirty="0">
                <a:effectLst/>
                <a:latin typeface="Times New Roman" panose="02020603050405020304" pitchFamily="18" charset="0"/>
                <a:ea typeface="Times New Roman" panose="02020603050405020304" pitchFamily="18" charset="0"/>
              </a:rPr>
              <a:t>. Quindi, verranno eseguite le istruzioni all’interno del metodo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stampaTassoDiConversione</a:t>
            </a:r>
            <a:r>
              <a:rPr lang="it-IT" sz="1200" dirty="0">
                <a:effectLst/>
                <a:latin typeface="Times New Roman" panose="02020603050405020304" pitchFamily="18" charset="0"/>
                <a:ea typeface="Times New Roman" panose="02020603050405020304" pitchFamily="18" charset="0"/>
              </a:rPr>
              <a:t>, con la variabile parametro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tasso</a:t>
            </a:r>
            <a:r>
              <a:rPr lang="it-IT" sz="1200" dirty="0">
                <a:effectLst/>
                <a:latin typeface="Times New Roman" panose="02020603050405020304" pitchFamily="18" charset="0"/>
                <a:ea typeface="Times New Roman" panose="02020603050405020304" pitchFamily="18" charset="0"/>
              </a:rPr>
              <a:t>, che contiene il valore che gli è stato passato nel momento della chiamata al metodo. In particolare, il metodo viene invocato tre volte, la prima volta gli viene passato il valore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1.1</a:t>
            </a:r>
            <a:r>
              <a:rPr lang="it-IT" sz="1200" dirty="0">
                <a:effectLst/>
                <a:latin typeface="Times New Roman" panose="02020603050405020304" pitchFamily="18" charset="0"/>
                <a:ea typeface="Times New Roman" panose="02020603050405020304" pitchFamily="18" charset="0"/>
              </a:rPr>
              <a:t>, la seconda il valore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1.3</a:t>
            </a:r>
            <a:r>
              <a:rPr lang="it-IT" sz="1200" dirty="0">
                <a:effectLst/>
                <a:latin typeface="Times New Roman" panose="02020603050405020304" pitchFamily="18" charset="0"/>
                <a:ea typeface="Times New Roman" panose="02020603050405020304" pitchFamily="18" charset="0"/>
              </a:rPr>
              <a:t>, e la terza il valore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1.0</a:t>
            </a:r>
            <a:r>
              <a:rPr lang="it-IT" sz="1200" dirty="0">
                <a:effectLst/>
                <a:latin typeface="Times New Roman" panose="02020603050405020304" pitchFamily="18" charset="0"/>
                <a:ea typeface="Times New Roman" panose="02020603050405020304" pitchFamily="18" charset="0"/>
              </a:rPr>
              <a:t>.</a:t>
            </a:r>
          </a:p>
          <a:p>
            <a:r>
              <a:rPr lang="it-IT" sz="1200" b="1" dirty="0">
                <a:effectLst/>
                <a:latin typeface="Times New Roman" panose="02020603050405020304" pitchFamily="18" charset="0"/>
                <a:ea typeface="Times New Roman" panose="02020603050405020304" pitchFamily="18" charset="0"/>
              </a:rPr>
              <a:t>(ICONA IMPORTANTE)</a:t>
            </a:r>
            <a:endParaRPr lang="it-IT" sz="1200" dirty="0">
              <a:effectLst/>
              <a:latin typeface="Times New Roman" panose="02020603050405020304" pitchFamily="18"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Notare che abbiamo anteposto alla dichiarazione del metodo anche il modificatore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200" dirty="0">
                <a:effectLst/>
                <a:latin typeface="Times New Roman" panose="02020603050405020304" pitchFamily="18" charset="0"/>
                <a:ea typeface="Times New Roman" panose="02020603050405020304" pitchFamily="18" charset="0"/>
              </a:rPr>
              <a:t>. È presto per introdurre il significato di questa parola chiave di Java, ma in questo caso, siamo stati obbligati ad utilizzarla, perché altrimenti l’esempio non sarebbe compilabile. Infatti, abbiamo chiamato il metodo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stampaTassoDiConversione</a:t>
            </a:r>
            <a:r>
              <a:rPr lang="it-IT" sz="1200" dirty="0">
                <a:effectLst/>
                <a:latin typeface="Times New Roman" panose="02020603050405020304" pitchFamily="18" charset="0"/>
                <a:ea typeface="Times New Roman" panose="02020603050405020304" pitchFamily="18" charset="0"/>
              </a:rPr>
              <a:t> dal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200" dirty="0">
                <a:effectLst/>
                <a:latin typeface="Times New Roman" panose="02020603050405020304" pitchFamily="18" charset="0"/>
                <a:ea typeface="Times New Roman" panose="02020603050405020304" pitchFamily="18" charset="0"/>
              </a:rPr>
              <a:t> che è statico. Un metodo statico può invocare altri metodi solo se essi sono statici. </a:t>
            </a:r>
          </a:p>
          <a:p>
            <a:r>
              <a:rPr lang="it-IT" sz="1200" dirty="0">
                <a:effectLst/>
                <a:latin typeface="Times New Roman" panose="02020603050405020304" pitchFamily="18" charset="0"/>
                <a:ea typeface="Times New Roman" panose="02020603050405020304" pitchFamily="18" charset="0"/>
              </a:rPr>
              <a:t>Chi ha già esperienza della programmazione funzionale, per quanto abbiamo visto sinora, troverà il concetto di metodo statico molto simile al concetto di funzione. In realtà, i metodi di solito non sono dichiarati statici, ma vengono invocati usando gli oggetti, e quindi non ci resta che introdurre finalmente i concetti fondamentali della programmazione ad oggetti, per poi ritornare sulle definizioni di variabili e metodi, che inizieremo a vedere sotto un’altra luce.</a:t>
            </a:r>
          </a:p>
          <a:p>
            <a:pPr marL="914400"/>
            <a:endParaRPr lang="it-IT" sz="18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414900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Riprendiamo il discorso sulla programmazione ad oggetti ed in particolare sull’astrazione, con un esempio. Facciamoci quindi ispirare dal mondo reale, e partiamo dal primo oggetto che vedete di fronte a voi: un libro. Il libro che avete davanti ha un titolo (“Il nuovo Java”), un editore (“Hoepli”), un autore (“Claudio De Sio Cesari”), e sicuramente sarete in grado da soli di elencare altre caratteristiche di questo libro come il costo, il numero di pagine e così via. Ad ognuna di queste caratteristiche sapreste anche assegnare un valore preciso. Ma “Il nuovo Java” è solo uno dei tanti libri che esistono. Se invece chiudete gli occhi e pensate a cos’è un libro, non pensate a “Il nuovo Java” e a nessun altro libro in particolare, ma semplicemente ad un oggetto che abbia delle pagine da leggere. La differenza tra il “Il nuovo Java” e la vostra idea di libro, è che quest’ultima non esiste nella realtà: l’idea non si può leggere! È solo un’astrazione, un’idealizzazione di tanti oggetti che esistono nel modo reale: i libri. Un’idea non esiste concretamente, non possiamo toccarla con mano. Nella nostra mente un libro ha sicuramente un numero di pagine, ma non ha un numero di pagine specifico. Invece, “Il nuovo Java” è un oggetto libro concreto, che ora state leggendo, ed ha un numero preciso di pagine.</a:t>
            </a:r>
          </a:p>
          <a:p>
            <a:r>
              <a:rPr lang="it-IT" sz="1800" dirty="0">
                <a:effectLst/>
                <a:latin typeface="Times New Roman" panose="02020603050405020304" pitchFamily="18" charset="0"/>
                <a:ea typeface="Times New Roman" panose="02020603050405020304" pitchFamily="18" charset="0"/>
              </a:rPr>
              <a:t>Ecco, ora possiamo già capire i due concetti che sono alla base dell’OOP: la classe e l’oggetto. L’idea di libro che abbiamo nella nostra mente, è rappresentabile in Java con una classe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Libro</a:t>
            </a:r>
            <a:r>
              <a:rPr lang="it-IT" sz="1800" dirty="0">
                <a:effectLst/>
                <a:latin typeface="Times New Roman" panose="02020603050405020304" pitchFamily="18" charset="0"/>
                <a:ea typeface="Times New Roman" panose="02020603050405020304" pitchFamily="18" charset="0"/>
              </a:rPr>
              <a:t>. Una classe è appunto solo un concetto, un’astrazione, un’idea, e ci serve solamente per definire come saranno fatti gli oggetti veri e propri. A differenza delle classi che abbiamo visto sinora, una classe quindi </a:t>
            </a:r>
            <a:r>
              <a:rPr lang="it-IT" sz="1800" u="sng" dirty="0">
                <a:effectLst/>
                <a:latin typeface="Times New Roman" panose="02020603050405020304" pitchFamily="18" charset="0"/>
                <a:ea typeface="Times New Roman" panose="02020603050405020304" pitchFamily="18" charset="0"/>
              </a:rPr>
              <a:t>non</a:t>
            </a:r>
            <a:r>
              <a:rPr lang="it-IT" sz="1800" dirty="0">
                <a:effectLst/>
                <a:latin typeface="Times New Roman" panose="02020603050405020304" pitchFamily="18" charset="0"/>
                <a:ea typeface="Times New Roman" panose="02020603050405020304" pitchFamily="18" charset="0"/>
              </a:rPr>
              <a:t> esegue codice, lo implementa solamente. Quindi, una volta dichiarata la classe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Libro</a:t>
            </a:r>
            <a:r>
              <a:rPr lang="it-IT" sz="1800" dirty="0">
                <a:effectLst/>
                <a:latin typeface="Times New Roman" panose="02020603050405020304" pitchFamily="18" charset="0"/>
                <a:ea typeface="Times New Roman" panose="02020603050405020304" pitchFamily="18" charset="0"/>
              </a:rPr>
              <a:t>, potremo creare all’interno dei nostri programmi degli oggetti libri concreti, partendo dal modello della classe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Libro</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Si potrebbe dire che il concetto di classe Java, è la rappresentazione sotto forma di codice del concetto di </a:t>
            </a:r>
            <a:r>
              <a:rPr lang="it-IT" sz="1800" b="1" dirty="0">
                <a:effectLst/>
                <a:latin typeface="Times New Roman" panose="02020603050405020304" pitchFamily="18" charset="0"/>
                <a:ea typeface="Times New Roman" panose="02020603050405020304" pitchFamily="18" charset="0"/>
              </a:rPr>
              <a:t>idea</a:t>
            </a:r>
            <a:r>
              <a:rPr lang="it-IT" sz="1800" dirty="0">
                <a:effectLst/>
                <a:latin typeface="Times New Roman" panose="02020603050405020304" pitchFamily="18" charset="0"/>
                <a:ea typeface="Times New Roman" panose="02020603050405020304" pitchFamily="18" charset="0"/>
              </a:rPr>
              <a:t>. Così come nel mondo reale un’idea di libro rappresenta un’astrazione di una serie di oggetti concreti che sono i libri, in Java una classe rappresenta un’astrazione (che fa da modello) per gli oggetti libri che possono essere creati ed utilizzati dal programma. In pratica, una classe Java dovrebbe avere in un programma lo stesso ruolo che ha un’idea nel mondo reale: </a:t>
            </a:r>
            <a:r>
              <a:rPr lang="it-IT" sz="1800" b="1" dirty="0">
                <a:effectLst/>
                <a:latin typeface="Times New Roman" panose="02020603050405020304" pitchFamily="18" charset="0"/>
                <a:ea typeface="Times New Roman" panose="02020603050405020304" pitchFamily="18" charset="0"/>
              </a:rPr>
              <a:t>astrarre un concetto</a:t>
            </a:r>
            <a:r>
              <a:rPr lang="it-IT" sz="1800" dirty="0">
                <a:effectLst/>
                <a:latin typeface="Times New Roman" panose="02020603050405020304" pitchFamily="18" charset="0"/>
                <a:ea typeface="Times New Roman" panose="02020603050405020304" pitchFamily="18" charset="0"/>
              </a:rPr>
              <a:t>. Gli oggetti Java invece, dovrebbero avere lo stesso ruolo che gli </a:t>
            </a:r>
            <a:r>
              <a:rPr lang="it-IT" sz="1800" b="1" dirty="0">
                <a:effectLst/>
                <a:latin typeface="Times New Roman" panose="02020603050405020304" pitchFamily="18" charset="0"/>
                <a:ea typeface="Times New Roman" panose="02020603050405020304" pitchFamily="18" charset="0"/>
              </a:rPr>
              <a:t>oggetti reali</a:t>
            </a:r>
            <a:r>
              <a:rPr lang="it-IT" sz="1800" dirty="0">
                <a:effectLst/>
                <a:latin typeface="Times New Roman" panose="02020603050405020304" pitchFamily="18" charset="0"/>
                <a:ea typeface="Times New Roman" panose="02020603050405020304" pitchFamily="18" charset="0"/>
              </a:rPr>
              <a:t> hanno nel mondo reale: quello di esistere concretamente. </a:t>
            </a:r>
          </a:p>
          <a:p>
            <a:r>
              <a:rPr lang="it-IT" sz="1800" dirty="0">
                <a:effectLst/>
                <a:latin typeface="Times New Roman" panose="02020603050405020304" pitchFamily="18" charset="0"/>
                <a:ea typeface="Times New Roman" panose="02020603050405020304" pitchFamily="18" charset="0"/>
              </a:rPr>
              <a:t>Ma cosa significa portare questi concetti teorici nella programmazione?</a:t>
            </a:r>
          </a:p>
        </p:txBody>
      </p:sp>
    </p:spTree>
    <p:extLst>
      <p:ext uri="{BB962C8B-B14F-4D97-AF65-F5344CB8AC3E}">
        <p14:creationId xmlns:p14="http://schemas.microsoft.com/office/powerpoint/2010/main" val="832438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914400"/>
            <a:r>
              <a:rPr lang="it-IT" sz="1800" b="1" dirty="0">
                <a:solidFill>
                  <a:srgbClr val="000000"/>
                </a:solidFill>
                <a:effectLst/>
                <a:latin typeface="Times New Roman" panose="02020603050405020304" pitchFamily="18" charset="0"/>
                <a:ea typeface="Times New Roman" panose="02020603050405020304" pitchFamily="18" charset="0"/>
              </a:rPr>
              <a:t>Abbiamo deciso di creare la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classe Punto</a:t>
            </a:r>
            <a:r>
              <a:rPr lang="it-IT" sz="1800" b="1" dirty="0">
                <a:solidFill>
                  <a:srgbClr val="000000"/>
                </a:solidFill>
                <a:effectLst/>
                <a:latin typeface="Times New Roman" panose="02020603050405020304" pitchFamily="18" charset="0"/>
                <a:ea typeface="Times New Roman" panose="02020603050405020304" pitchFamily="18" charset="0"/>
              </a:rPr>
              <a:t>, invece della classe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Libro</a:t>
            </a:r>
            <a:r>
              <a:rPr lang="it-IT" sz="1800" b="1" dirty="0">
                <a:solidFill>
                  <a:srgbClr val="000000"/>
                </a:solidFill>
                <a:effectLst/>
                <a:latin typeface="Times New Roman" panose="02020603050405020304" pitchFamily="18" charset="0"/>
                <a:ea typeface="Times New Roman" panose="02020603050405020304" pitchFamily="18" charset="0"/>
              </a:rPr>
              <a:t>, perché la riteniamo più utile dal punto di vista didattico. Tuttavia nell’esercizio 2.aa creeremo proprio la classe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Libro</a:t>
            </a:r>
            <a:r>
              <a:rPr lang="it-IT" sz="1800" b="1" dirty="0">
                <a:solidFill>
                  <a:srgbClr val="000000"/>
                </a:solidFill>
                <a:effectLst/>
                <a:latin typeface="Times New Roman" panose="02020603050405020304" pitchFamily="18" charset="0"/>
                <a:ea typeface="Times New Roman" panose="02020603050405020304" pitchFamily="18" charset="0"/>
              </a:rPr>
              <a:t>.</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Con Java è possibile creare codice per astrarre un qualsiasi concetto del mondo reale. Con questo semplice codice, abbiamo appena definito una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Evidentemente, lo scopo di questa classe è quello di definire il concetto di punto a due dimensioni tramite la definizione delle sue coordinate su di un piano cartesiano. Questo codice è abbastanza intuitivo da essere compreso anche senza spiegazioni. Le coordinate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800" dirty="0">
                <a:effectLst/>
                <a:latin typeface="Times New Roman" panose="02020603050405020304" pitchFamily="18" charset="0"/>
                <a:ea typeface="Times New Roman" panose="02020603050405020304" pitchFamily="18" charset="0"/>
              </a:rPr>
              <a:t> sono state astratte mediante due </a:t>
            </a:r>
            <a:r>
              <a:rPr lang="it-IT" sz="1800" b="1" dirty="0">
                <a:effectLst/>
                <a:latin typeface="Times New Roman" panose="02020603050405020304" pitchFamily="18" charset="0"/>
                <a:ea typeface="Times New Roman" panose="02020603050405020304" pitchFamily="18" charset="0"/>
              </a:rPr>
              <a:t>attributi</a:t>
            </a:r>
            <a:r>
              <a:rPr lang="it-IT" sz="1800" dirty="0">
                <a:effectLst/>
                <a:latin typeface="Times New Roman" panose="02020603050405020304" pitchFamily="18" charset="0"/>
                <a:ea typeface="Times New Roman" panose="02020603050405020304" pitchFamily="18" charset="0"/>
              </a:rPr>
              <a:t> (dette solitamente </a:t>
            </a:r>
            <a:r>
              <a:rPr lang="it-IT" sz="1800" b="1" dirty="0">
                <a:effectLst/>
                <a:latin typeface="Times New Roman" panose="02020603050405020304" pitchFamily="18" charset="0"/>
                <a:ea typeface="Times New Roman" panose="02020603050405020304" pitchFamily="18" charset="0"/>
              </a:rPr>
              <a:t>variabili</a:t>
            </a:r>
            <a:r>
              <a:rPr lang="it-IT" sz="1800" dirty="0">
                <a:effectLst/>
                <a:latin typeface="Times New Roman" panose="02020603050405020304" pitchFamily="18" charset="0"/>
                <a:ea typeface="Times New Roman" panose="02020603050405020304" pitchFamily="18" charset="0"/>
              </a:rPr>
              <a:t>) dichiarati di tipo intero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Questo significa che potranno assumere solo valori di tipo numero intero. Per esempio sarà possibile assegnare alla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5</a:t>
            </a:r>
            <a:r>
              <a:rPr lang="it-IT" sz="1800" dirty="0">
                <a:effectLst/>
                <a:latin typeface="Times New Roman" panose="02020603050405020304" pitchFamily="18" charset="0"/>
                <a:ea typeface="Times New Roman" panose="02020603050405020304" pitchFamily="18" charset="0"/>
              </a:rPr>
              <a:t>, ma non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abc</a:t>
            </a:r>
            <a:r>
              <a:rPr lang="it-IT" sz="1800" dirty="0">
                <a:effectLst/>
                <a:latin typeface="Times New Roman" panose="02020603050405020304" pitchFamily="18" charset="0"/>
                <a:ea typeface="Times New Roman" panose="02020603050405020304" pitchFamily="18" charset="0"/>
              </a:rPr>
              <a:t> o il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5.2</a:t>
            </a:r>
            <a:r>
              <a:rPr lang="it-IT" sz="1800" dirty="0">
                <a:effectLst/>
                <a:latin typeface="Times New Roman" panose="02020603050405020304" pitchFamily="18" charset="0"/>
                <a:ea typeface="Times New Roman" panose="02020603050405020304" pitchFamily="18" charset="0"/>
              </a:rPr>
              <a:t>, visto che questi ultimi non sono numeri interi. Le variabili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800" dirty="0">
                <a:effectLst/>
                <a:latin typeface="Times New Roman" panose="02020603050405020304" pitchFamily="18" charset="0"/>
                <a:ea typeface="Times New Roman" panose="02020603050405020304" pitchFamily="18" charset="0"/>
              </a:rPr>
              <a:t> sono anche state dichiarate pubbliche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800" dirty="0">
                <a:effectLst/>
                <a:latin typeface="Times New Roman" panose="02020603050405020304" pitchFamily="18" charset="0"/>
                <a:ea typeface="Times New Roman" panose="02020603050405020304" pitchFamily="18" charset="0"/>
              </a:rPr>
              <a:t>), il che significa che potrebbero essere utilizzate anche da altre classi diverse dalla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Possiamo immaginare che questa classe costituisca una parte di un’applicazione Java, magari un’applicazione di disegno.</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Qual è la differenza tra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e le altre classi che abbiamo definito sinora? Sappiamo che possiamo salvare questo listato in un file chiamato </a:t>
            </a:r>
            <a:r>
              <a:rPr lang="it-IT" sz="1800" dirty="0">
                <a:effectLst/>
                <a:latin typeface="Arial" panose="020B0604020202020204" pitchFamily="34" charset="0"/>
                <a:ea typeface="Times New Roman" panose="02020603050405020304" pitchFamily="18" charset="0"/>
                <a:cs typeface="Arial" panose="020B0604020202020204" pitchFamily="34" charset="0"/>
              </a:rPr>
              <a:t>Punto.java</a:t>
            </a:r>
            <a:r>
              <a:rPr lang="it-IT" sz="1800" dirty="0">
                <a:effectLst/>
                <a:latin typeface="Times New Roman" panose="02020603050405020304" pitchFamily="18" charset="0"/>
                <a:ea typeface="Times New Roman" panose="02020603050405020304" pitchFamily="18" charset="0"/>
              </a:rPr>
              <a:t> con un qualsiasi editor. Se usassimo il Blocco Note per esempio, potremmo compilarlo usando il JDK e la riga di comando con la seguente istruzione:</a:t>
            </a:r>
          </a:p>
          <a:p>
            <a:r>
              <a:rPr lang="it-IT" sz="1800" dirty="0">
                <a:solidFill>
                  <a:srgbClr val="FFFFFF"/>
                </a:solidFill>
                <a:effectLst/>
                <a:latin typeface="Courier New" panose="02070309020205020404" pitchFamily="49" charset="0"/>
                <a:ea typeface="MS Mincho" panose="02020609040205080304" pitchFamily="49" charset="-128"/>
              </a:rPr>
              <a:t>javac Punto.java</a:t>
            </a:r>
          </a:p>
          <a:p>
            <a:r>
              <a:rPr lang="it-IT" sz="1800" dirty="0">
                <a:effectLst/>
                <a:latin typeface="Times New Roman" panose="02020603050405020304" pitchFamily="18" charset="0"/>
                <a:ea typeface="Times New Roman" panose="02020603050405020304" pitchFamily="18" charset="0"/>
              </a:rPr>
              <a:t>ottenendo così il file </a:t>
            </a:r>
            <a:r>
              <a:rPr lang="it-IT" sz="1800" dirty="0">
                <a:effectLst/>
                <a:latin typeface="Arial" panose="020B0604020202020204" pitchFamily="34" charset="0"/>
                <a:ea typeface="Times New Roman" panose="02020603050405020304" pitchFamily="18" charset="0"/>
                <a:cs typeface="Arial" panose="020B0604020202020204" pitchFamily="34" charset="0"/>
              </a:rPr>
              <a:t>Punto.class</a:t>
            </a:r>
            <a:r>
              <a:rPr lang="it-IT" sz="1800" dirty="0">
                <a:effectLst/>
                <a:latin typeface="Times New Roman" panose="02020603050405020304" pitchFamily="18" charset="0"/>
                <a:ea typeface="Times New Roman" panose="02020603050405020304" pitchFamily="18" charset="0"/>
              </a:rPr>
              <a:t>. Questa volta però, non possiamo mandare questo file in esecuzione tramite il comando:</a:t>
            </a:r>
          </a:p>
          <a:p>
            <a:r>
              <a:rPr lang="it-IT" sz="1800" dirty="0">
                <a:solidFill>
                  <a:srgbClr val="FFFFFF"/>
                </a:solidFill>
                <a:effectLst/>
                <a:latin typeface="Courier New" panose="02070309020205020404" pitchFamily="49" charset="0"/>
                <a:ea typeface="MS Mincho" panose="02020609040205080304" pitchFamily="49" charset="-128"/>
              </a:rPr>
              <a:t>java Punto</a:t>
            </a:r>
          </a:p>
          <a:p>
            <a:r>
              <a:rPr lang="it-IT" sz="1800" dirty="0">
                <a:effectLst/>
                <a:latin typeface="Times New Roman" panose="02020603050405020304" pitchFamily="18" charset="0"/>
                <a:ea typeface="Times New Roman" panose="02020603050405020304" pitchFamily="18" charset="0"/>
              </a:rPr>
              <a:t>otterremmo infatti il seguente messaggio di errore:</a:t>
            </a:r>
          </a:p>
          <a:p>
            <a:r>
              <a:rPr lang="en-US" sz="1800" dirty="0">
                <a:solidFill>
                  <a:srgbClr val="FFFFFF"/>
                </a:solidFill>
                <a:effectLst/>
                <a:latin typeface="Courier New" panose="02070309020205020404" pitchFamily="49" charset="0"/>
                <a:ea typeface="MS Mincho" panose="02020609040205080304" pitchFamily="49" charset="-128"/>
              </a:rPr>
              <a:t>Error: Main method not found in class Punto, please define the main method as:</a:t>
            </a:r>
            <a:endParaRPr lang="it-IT" sz="1800" dirty="0">
              <a:solidFill>
                <a:srgbClr val="FFFFFF"/>
              </a:solidFill>
              <a:effectLst/>
              <a:latin typeface="Courier New" panose="02070309020205020404" pitchFamily="49" charset="0"/>
              <a:ea typeface="MS Mincho" panose="02020609040205080304" pitchFamily="49" charset="-128"/>
            </a:endParaRPr>
          </a:p>
          <a:p>
            <a:r>
              <a:rPr lang="en-US" sz="1800" dirty="0">
                <a:solidFill>
                  <a:srgbClr val="FFFFFF"/>
                </a:solidFill>
                <a:effectLst/>
                <a:latin typeface="Courier New" panose="02070309020205020404" pitchFamily="49" charset="0"/>
                <a:ea typeface="MS Mincho" panose="02020609040205080304" pitchFamily="49" charset="-128"/>
              </a:rPr>
              <a:t>   public static void main(String[] args)</a:t>
            </a:r>
            <a:endParaRPr lang="it-IT" sz="1800" dirty="0">
              <a:solidFill>
                <a:srgbClr val="FFFFFF"/>
              </a:solidFill>
              <a:effectLst/>
              <a:latin typeface="Courier New" panose="02070309020205020404" pitchFamily="49" charset="0"/>
              <a:ea typeface="MS Mincho" panose="02020609040205080304" pitchFamily="49" charset="-128"/>
            </a:endParaRPr>
          </a:p>
          <a:p>
            <a:r>
              <a:rPr lang="it-IT" sz="1800" dirty="0">
                <a:effectLst/>
                <a:latin typeface="Times New Roman" panose="02020603050405020304" pitchFamily="18" charset="0"/>
                <a:ea typeface="Times New Roman" panose="02020603050405020304" pitchFamily="18" charset="0"/>
              </a:rPr>
              <a:t>Infatti, in questa classe è assente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che abbiamo definito essere il punto di partenza dell’esecuzione di ogni applicazione Java, e che avrebbe reso la classe una classe speciale. Quindi, se eseguiamo il comando:</a:t>
            </a:r>
          </a:p>
          <a:p>
            <a:r>
              <a:rPr lang="it-IT" sz="1800" dirty="0">
                <a:solidFill>
                  <a:srgbClr val="FFFFFF"/>
                </a:solidFill>
                <a:effectLst/>
                <a:latin typeface="Courier New" panose="02070309020205020404" pitchFamily="49" charset="0"/>
                <a:ea typeface="MS Mincho" panose="02020609040205080304" pitchFamily="49" charset="-128"/>
              </a:rPr>
              <a:t>java Punto</a:t>
            </a:r>
          </a:p>
          <a:p>
            <a:r>
              <a:rPr lang="it-IT" sz="1800" dirty="0">
                <a:effectLst/>
                <a:latin typeface="Times New Roman" panose="02020603050405020304" pitchFamily="18" charset="0"/>
                <a:ea typeface="Times New Roman" panose="02020603050405020304" pitchFamily="18" charset="0"/>
              </a:rPr>
              <a:t>la JVM prova a cercare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per eseguirlo, e non trovandolo, termina istantaneamente l’esecuzione. Questa quindi è una classe che non si può eseguire.</a:t>
            </a:r>
          </a:p>
          <a:p>
            <a:r>
              <a:rPr lang="it-IT" sz="1800" dirty="0">
                <a:effectLst/>
                <a:latin typeface="Times New Roman" panose="02020603050405020304" pitchFamily="18" charset="0"/>
                <a:ea typeface="Times New Roman" panose="02020603050405020304" pitchFamily="18" charset="0"/>
              </a:rPr>
              <a:t>Ma avrebbe senso dichiarare una classe che si chiama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che esegue del codice? Nel mondo reale </a:t>
            </a:r>
            <a:r>
              <a:rPr lang="it-IT" sz="1800" i="1" dirty="0">
                <a:effectLst/>
                <a:latin typeface="Times New Roman" panose="02020603050405020304" pitchFamily="18" charset="0"/>
                <a:ea typeface="Times New Roman" panose="02020603050405020304" pitchFamily="18" charset="0"/>
              </a:rPr>
              <a:t>l’idea di un punto su un piano cartesiano</a:t>
            </a:r>
            <a:r>
              <a:rPr lang="it-IT" sz="1800" dirty="0">
                <a:effectLst/>
                <a:latin typeface="Times New Roman" panose="02020603050405020304" pitchFamily="18" charset="0"/>
                <a:ea typeface="Times New Roman" panose="02020603050405020304" pitchFamily="18" charset="0"/>
              </a:rPr>
              <a:t> può eseguire qualcosa? Non sembra una buona idea creare una classe chiamata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che rappresenti anche l’esecuzione di un’applicazione. Infatti, nel mondo reale “l’idea di punto” non sembra affatto un’entità che esegue delle attività.</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Ciò, è assolutamente in linea con la definizione di classe (</a:t>
            </a:r>
            <a:r>
              <a:rPr lang="it-IT" sz="1800" dirty="0" err="1">
                <a:effectLst/>
                <a:latin typeface="Times New Roman" panose="02020603050405020304" pitchFamily="18" charset="0"/>
                <a:ea typeface="Times New Roman" panose="02020603050405020304" pitchFamily="18" charset="0"/>
              </a:rPr>
              <a:t>def</a:t>
            </a:r>
            <a:r>
              <a:rPr lang="it-IT" sz="1800" dirty="0">
                <a:effectLst/>
                <a:latin typeface="Times New Roman" panose="02020603050405020304" pitchFamily="18" charset="0"/>
                <a:ea typeface="Times New Roman" panose="02020603050405020304" pitchFamily="18" charset="0"/>
              </a:rPr>
              <a:t>. 1). Infatti, se volessimo trovare nel mondo reale un sinonimo di classe, dovremmo pensare a termini come </a:t>
            </a:r>
            <a:r>
              <a:rPr lang="it-IT" sz="1800" i="1" dirty="0">
                <a:effectLst/>
                <a:latin typeface="Times New Roman" panose="02020603050405020304" pitchFamily="18" charset="0"/>
                <a:ea typeface="Times New Roman" panose="02020603050405020304" pitchFamily="18" charset="0"/>
              </a:rPr>
              <a:t>idea</a:t>
            </a:r>
            <a:r>
              <a:rPr lang="it-IT" sz="1800" dirty="0">
                <a:effectLst/>
                <a:latin typeface="Times New Roman" panose="02020603050405020304" pitchFamily="18" charset="0"/>
                <a:ea typeface="Times New Roman" panose="02020603050405020304" pitchFamily="18" charset="0"/>
              </a:rPr>
              <a:t>, </a:t>
            </a:r>
            <a:r>
              <a:rPr lang="it-IT" sz="1800" i="1" dirty="0">
                <a:effectLst/>
                <a:latin typeface="Times New Roman" panose="02020603050405020304" pitchFamily="18" charset="0"/>
                <a:ea typeface="Times New Roman" panose="02020603050405020304" pitchFamily="18" charset="0"/>
              </a:rPr>
              <a:t>astrazione</a:t>
            </a:r>
            <a:r>
              <a:rPr lang="it-IT" sz="1800" dirty="0">
                <a:effectLst/>
                <a:latin typeface="Times New Roman" panose="02020603050405020304" pitchFamily="18" charset="0"/>
                <a:ea typeface="Times New Roman" panose="02020603050405020304" pitchFamily="18" charset="0"/>
              </a:rPr>
              <a:t>, </a:t>
            </a:r>
            <a:r>
              <a:rPr lang="it-IT" sz="1800" i="1" dirty="0">
                <a:effectLst/>
                <a:latin typeface="Times New Roman" panose="02020603050405020304" pitchFamily="18" charset="0"/>
                <a:ea typeface="Times New Roman" panose="02020603050405020304" pitchFamily="18" charset="0"/>
              </a:rPr>
              <a:t>concetto</a:t>
            </a:r>
            <a:r>
              <a:rPr lang="it-IT" sz="1800" dirty="0">
                <a:effectLst/>
                <a:latin typeface="Times New Roman" panose="02020603050405020304" pitchFamily="18" charset="0"/>
                <a:ea typeface="Times New Roman" panose="02020603050405020304" pitchFamily="18" charset="0"/>
              </a:rPr>
              <a:t>, </a:t>
            </a:r>
            <a:r>
              <a:rPr lang="it-IT" sz="1800" i="1" dirty="0">
                <a:effectLst/>
                <a:latin typeface="Times New Roman" panose="02020603050405020304" pitchFamily="18" charset="0"/>
                <a:ea typeface="Times New Roman" panose="02020603050405020304" pitchFamily="18" charset="0"/>
              </a:rPr>
              <a:t>modello</a:t>
            </a:r>
            <a:r>
              <a:rPr lang="it-IT" sz="1800" dirty="0">
                <a:effectLst/>
                <a:latin typeface="Times New Roman" panose="02020603050405020304" pitchFamily="18" charset="0"/>
                <a:ea typeface="Times New Roman" panose="02020603050405020304" pitchFamily="18" charset="0"/>
              </a:rPr>
              <a:t> o </a:t>
            </a:r>
            <a:r>
              <a:rPr lang="it-IT" sz="1800" i="1" dirty="0">
                <a:effectLst/>
                <a:latin typeface="Times New Roman" panose="02020603050405020304" pitchFamily="18" charset="0"/>
                <a:ea typeface="Times New Roman" panose="02020603050405020304" pitchFamily="18" charset="0"/>
              </a:rPr>
              <a:t>definizione</a:t>
            </a:r>
            <a:r>
              <a:rPr lang="it-IT" sz="1800" dirty="0">
                <a:effectLst/>
                <a:latin typeface="Times New Roman" panose="02020603050405020304" pitchFamily="18" charset="0"/>
                <a:ea typeface="Times New Roman" panose="02020603050405020304" pitchFamily="18" charset="0"/>
              </a:rPr>
              <a:t>. Quindi, definendo una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con codice Java, abbiamo solo definito all’interno del nostro futuro programma il </a:t>
            </a:r>
            <a:r>
              <a:rPr lang="it-IT" sz="1800" i="1" dirty="0">
                <a:effectLst/>
                <a:latin typeface="Times New Roman" panose="02020603050405020304" pitchFamily="18" charset="0"/>
                <a:ea typeface="Times New Roman" panose="02020603050405020304" pitchFamily="18" charset="0"/>
              </a:rPr>
              <a:t>concetto di punto</a:t>
            </a:r>
            <a:r>
              <a:rPr lang="it-IT" sz="1800" dirty="0">
                <a:effectLst/>
                <a:latin typeface="Times New Roman" panose="02020603050405020304" pitchFamily="18" charset="0"/>
                <a:ea typeface="Times New Roman" panose="02020603050405020304" pitchFamily="18" charset="0"/>
              </a:rPr>
              <a:t>, secondo la nostra interpretazione e nel contesto in cui ci vogliamo calare (per esempio un programma di disegno). </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Con il codice scritto finora non abbiamo ancora definito nessun punto vero e proprio (per esempio il punto di coordinate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5</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y</a:t>
            </a:r>
            <a:r>
              <a:rPr lang="it-IT" sz="1800" dirty="0">
                <a:effectLst/>
                <a:latin typeface="Times New Roman" panose="02020603050405020304" pitchFamily="18" charset="0"/>
                <a:ea typeface="Times New Roman" panose="02020603050405020304" pitchFamily="18" charset="0"/>
              </a:rPr>
              <a:t>=</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6</a:t>
            </a:r>
            <a:r>
              <a:rPr lang="it-IT" sz="1800" dirty="0">
                <a:effectLst/>
                <a:latin typeface="Times New Roman" panose="02020603050405020304" pitchFamily="18" charset="0"/>
                <a:ea typeface="Times New Roman" panose="02020603050405020304" pitchFamily="18" charset="0"/>
              </a:rPr>
              <a:t>). Quindi, come nel mondo reale, se non esistono punti concreti (ma solo la definizione di punto) non può essere eseguita nessuna azione che abbia a che fare con un punto. Occorre quindi definire degli </a:t>
            </a:r>
            <a:r>
              <a:rPr lang="it-IT" sz="1800" i="1" dirty="0">
                <a:effectLst/>
                <a:latin typeface="Times New Roman" panose="02020603050405020304" pitchFamily="18" charset="0"/>
                <a:ea typeface="Times New Roman" panose="02020603050405020304" pitchFamily="18" charset="0"/>
              </a:rPr>
              <a:t>oggetti punto</a:t>
            </a:r>
            <a:r>
              <a:rPr lang="it-IT" sz="1800" dirty="0">
                <a:effectLst/>
                <a:latin typeface="Times New Roman" panose="02020603050405020304" pitchFamily="18" charset="0"/>
                <a:ea typeface="Times New Roman" panose="02020603050405020304" pitchFamily="18" charset="0"/>
              </a:rPr>
              <a:t>, ovvero le creazioni fisiche realizzate a partire dalla definizione data dalla classe.</a:t>
            </a:r>
          </a:p>
          <a:p>
            <a:endParaRPr lang="it-IT" sz="1800" dirty="0">
              <a:effectLst/>
              <a:latin typeface="Times New Roman" panose="02020603050405020304" pitchFamily="18"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Analizziamo quindi la classe</a:t>
            </a:r>
            <a:r>
              <a:rPr lang="it-IT" sz="1350" dirty="0">
                <a:effectLst/>
                <a:latin typeface="Times New Roman" panose="02020603050405020304" pitchFamily="18" charset="0"/>
                <a:ea typeface="Times New Roman" panose="02020603050405020304" pitchFamily="18" charset="0"/>
              </a:rPr>
              <a:t>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TestOggettiPunto</a:t>
            </a:r>
            <a:r>
              <a:rPr lang="it-IT" sz="1350" dirty="0">
                <a:effectLst/>
                <a:latin typeface="Times New Roman" panose="02020603050405020304" pitchFamily="18" charset="0"/>
                <a:ea typeface="Times New Roman" panose="02020603050405020304" pitchFamily="18" charset="0"/>
              </a:rPr>
              <a:t>. </a:t>
            </a:r>
            <a:r>
              <a:rPr lang="it-IT" sz="1200" dirty="0">
                <a:effectLst/>
                <a:latin typeface="Times New Roman" panose="02020603050405020304" pitchFamily="18" charset="0"/>
                <a:ea typeface="Times New Roman" panose="02020603050405020304" pitchFamily="18" charset="0"/>
              </a:rPr>
              <a:t>Per quanto visto nel primo capitolo, diamo per scontato che sia chiaro che alla riga 1 è stata dichiarata la classe pubblica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TestOggettiPunto</a:t>
            </a:r>
            <a:r>
              <a:rPr lang="it-IT" sz="1200" dirty="0">
                <a:effectLst/>
                <a:latin typeface="Times New Roman" panose="02020603050405020304" pitchFamily="18" charset="0"/>
                <a:ea typeface="Times New Roman" panose="02020603050405020304" pitchFamily="18" charset="0"/>
              </a:rPr>
              <a:t>, che termina alla riga 15, e che alla riga 2 è stato dichiarato il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200" dirty="0">
                <a:effectLst/>
                <a:latin typeface="Times New Roman" panose="02020603050405020304" pitchFamily="18" charset="0"/>
                <a:ea typeface="Times New Roman" panose="02020603050405020304" pitchFamily="18" charset="0"/>
              </a:rPr>
              <a:t> che termina alla riga 14. Dovrebbe essere altrettanto chiaro ormai che le parentesi graffe delimitano le strutture di classe e di metodo, e per tale ragione sono state allineate (indentate) opportunamente, per rendere esplicito il loro abbinamento.</a:t>
            </a:r>
          </a:p>
          <a:p>
            <a:r>
              <a:rPr lang="it-IT" sz="1200" dirty="0">
                <a:effectLst/>
                <a:latin typeface="Times New Roman" panose="02020603050405020304" pitchFamily="18" charset="0"/>
                <a:ea typeface="Times New Roman" panose="02020603050405020304" pitchFamily="18" charset="0"/>
              </a:rPr>
              <a:t>Alla riga 3 troviamo la prima istruzione da eseguire: la </a:t>
            </a:r>
            <a:r>
              <a:rPr lang="it-IT" sz="1200" b="1" dirty="0">
                <a:effectLst/>
                <a:latin typeface="Times New Roman" panose="02020603050405020304" pitchFamily="18" charset="0"/>
                <a:ea typeface="Times New Roman" panose="02020603050405020304" pitchFamily="18" charset="0"/>
              </a:rPr>
              <a:t>dichiarazione di un oggetto</a:t>
            </a:r>
            <a:r>
              <a:rPr lang="it-IT" sz="1200" dirty="0">
                <a:effectLst/>
                <a:latin typeface="Times New Roman" panose="02020603050405020304" pitchFamily="18" charset="0"/>
                <a:ea typeface="Times New Roman" panose="02020603050405020304" pitchFamily="18" charset="0"/>
              </a:rPr>
              <a:t> di tipo</a:t>
            </a:r>
            <a:r>
              <a:rPr lang="it-IT" sz="1350" dirty="0">
                <a:effectLst/>
                <a:latin typeface="Times New Roman" panose="02020603050405020304" pitchFamily="18" charset="0"/>
                <a:ea typeface="Times New Roman" panose="02020603050405020304" pitchFamily="18" charset="0"/>
              </a:rPr>
              <a:t>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200" dirty="0">
                <a:effectLst/>
                <a:latin typeface="Times New Roman" panose="02020603050405020304" pitchFamily="18" charset="0"/>
                <a:ea typeface="Times New Roman" panose="02020603050405020304" pitchFamily="18" charset="0"/>
              </a:rPr>
              <a:t> che viene chiamato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punto1</a:t>
            </a:r>
            <a:r>
              <a:rPr lang="it-IT" sz="1200" dirty="0">
                <a:effectLst/>
                <a:latin typeface="Times New Roman" panose="02020603050405020304" pitchFamily="18" charset="0"/>
                <a:ea typeface="Times New Roman" panose="02020603050405020304" pitchFamily="18" charset="0"/>
              </a:rPr>
              <a:t>: </a:t>
            </a:r>
          </a:p>
          <a:p>
            <a:r>
              <a:rPr lang="it-IT" sz="1000" dirty="0">
                <a:solidFill>
                  <a:srgbClr val="000000"/>
                </a:solidFill>
                <a:effectLst/>
                <a:latin typeface="Courier New" panose="02070309020205020404" pitchFamily="49" charset="0"/>
                <a:ea typeface="Times New Roman" panose="02020603050405020304" pitchFamily="18" charset="0"/>
              </a:rPr>
              <a:t>3          Punto punto1;</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Dichiarare un oggetto non significa crearlo, ma solo definire il suo nome (che ricordiamo in Java viene detto spesso </a:t>
            </a:r>
            <a:r>
              <a:rPr lang="it-IT" sz="1200" i="1" dirty="0">
                <a:effectLst/>
                <a:latin typeface="Times New Roman" panose="02020603050405020304" pitchFamily="18" charset="0"/>
                <a:ea typeface="Times New Roman" panose="02020603050405020304" pitchFamily="18" charset="0"/>
              </a:rPr>
              <a:t>identificatore</a:t>
            </a:r>
            <a:r>
              <a:rPr lang="it-IT" sz="1200" dirty="0">
                <a:effectLst/>
                <a:latin typeface="Times New Roman" panose="02020603050405020304" pitchFamily="18" charset="0"/>
                <a:ea typeface="Times New Roman" panose="02020603050405020304" pitchFamily="18" charset="0"/>
              </a:rPr>
              <a:t>) ed associargli un tipo. La sintassi per dichiarare un oggetto quindi, consiste nel far precedere al nome dell’oggetto (in questo caso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punto1</a:t>
            </a:r>
            <a:r>
              <a:rPr lang="it-IT" sz="1200" dirty="0">
                <a:effectLst/>
                <a:latin typeface="Times New Roman" panose="02020603050405020304" pitchFamily="18" charset="0"/>
                <a:ea typeface="Times New Roman" panose="02020603050405020304" pitchFamily="18" charset="0"/>
              </a:rPr>
              <a:t>) la dichiarazione del suo tipo (la classe di tipo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200" dirty="0">
                <a:effectLst/>
                <a:latin typeface="Times New Roman" panose="02020603050405020304" pitchFamily="18" charset="0"/>
                <a:ea typeface="Times New Roman" panose="02020603050405020304" pitchFamily="18" charset="0"/>
              </a:rPr>
              <a:t>). </a:t>
            </a:r>
          </a:p>
          <a:p>
            <a:r>
              <a:rPr lang="it-IT" sz="1200" dirty="0">
                <a:effectLst/>
                <a:latin typeface="Times New Roman" panose="02020603050405020304" pitchFamily="18" charset="0"/>
                <a:ea typeface="Times New Roman" panose="02020603050405020304" pitchFamily="18" charset="0"/>
              </a:rPr>
              <a:t>Alla riga 4 invece troviamo la sintassi che crea l’oggetto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punto1</a:t>
            </a:r>
            <a:r>
              <a:rPr lang="it-IT" sz="1200" dirty="0">
                <a:effectLst/>
                <a:latin typeface="Times New Roman" panose="02020603050405020304" pitchFamily="18" charset="0"/>
                <a:ea typeface="Times New Roman" panose="02020603050405020304" pitchFamily="18" charset="0"/>
              </a:rPr>
              <a:t> della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200" dirty="0">
                <a:effectLst/>
                <a:latin typeface="Times New Roman" panose="02020603050405020304" pitchFamily="18" charset="0"/>
                <a:ea typeface="Times New Roman" panose="02020603050405020304" pitchFamily="18" charset="0"/>
              </a:rPr>
              <a:t>:</a:t>
            </a:r>
          </a:p>
          <a:p>
            <a:r>
              <a:rPr lang="it-IT" sz="1000" dirty="0">
                <a:solidFill>
                  <a:srgbClr val="000000"/>
                </a:solidFill>
                <a:effectLst/>
                <a:latin typeface="Courier New" panose="02070309020205020404" pitchFamily="49" charset="0"/>
                <a:ea typeface="Times New Roman" panose="02020603050405020304" pitchFamily="18" charset="0"/>
              </a:rPr>
              <a:t>4          punto1 = new Punto();</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In questo linea di codice in realtà, ci sono due istruzioni: un’assegnazione e l’espressione (che segue il simbolo “</a:t>
            </a:r>
            <a:r>
              <a:rPr lang="it-IT" sz="1050" dirty="0">
                <a:effectLst/>
                <a:latin typeface="Courier New" panose="02070309020205020404" pitchFamily="49" charset="0"/>
                <a:ea typeface="MS Mincho" panose="02020609040205080304" pitchFamily="49" charset="-128"/>
                <a:cs typeface="Courier New" panose="02070309020205020404" pitchFamily="49" charset="0"/>
              </a:rPr>
              <a:t>=</a:t>
            </a:r>
            <a:r>
              <a:rPr lang="it-IT" sz="1200" dirty="0">
                <a:effectLst/>
                <a:latin typeface="Times New Roman" panose="02020603050405020304" pitchFamily="18" charset="0"/>
                <a:ea typeface="Times New Roman" panose="02020603050405020304" pitchFamily="18" charset="0"/>
              </a:rPr>
              <a:t>”) </a:t>
            </a:r>
            <a:r>
              <a:rPr lang="it-IT" sz="1050" dirty="0">
                <a:effectLst/>
                <a:latin typeface="Courier New" panose="02070309020205020404" pitchFamily="49" charset="0"/>
                <a:ea typeface="MS Mincho" panose="02020609040205080304" pitchFamily="49" charset="-128"/>
                <a:cs typeface="Courier New" panose="02070309020205020404" pitchFamily="49" charset="0"/>
              </a:rPr>
              <a:t>new Punto()</a:t>
            </a:r>
            <a:r>
              <a:rPr lang="it-IT" sz="1200" dirty="0">
                <a:effectLst/>
                <a:latin typeface="Times New Roman" panose="02020603050405020304" pitchFamily="18" charset="0"/>
                <a:ea typeface="Times New Roman" panose="02020603050405020304" pitchFamily="18" charset="0"/>
              </a:rPr>
              <a:t>. Tale espressione istanzia l’oggetto, mentre l’operatore </a:t>
            </a:r>
            <a:r>
              <a:rPr lang="it-IT" sz="1050" dirty="0">
                <a:effectLst/>
                <a:latin typeface="Courier New" panose="02070309020205020404" pitchFamily="49" charset="0"/>
                <a:ea typeface="MS Mincho" panose="02020609040205080304" pitchFamily="49" charset="-128"/>
                <a:cs typeface="Courier New" panose="02070309020205020404" pitchFamily="49" charset="0"/>
              </a:rPr>
              <a:t>=</a:t>
            </a:r>
            <a:r>
              <a:rPr lang="it-IT" sz="1200" dirty="0">
                <a:effectLst/>
                <a:latin typeface="Times New Roman" panose="02020603050405020304" pitchFamily="18" charset="0"/>
                <a:ea typeface="Times New Roman" panose="02020603050405020304" pitchFamily="18" charset="0"/>
              </a:rPr>
              <a:t> assegna l’oggetto creato al “nome” </a:t>
            </a:r>
            <a:r>
              <a:rPr lang="it-IT" sz="1050" dirty="0">
                <a:effectLst/>
                <a:latin typeface="Courier New" panose="02070309020205020404" pitchFamily="49" charset="0"/>
                <a:ea typeface="MS Mincho" panose="02020609040205080304" pitchFamily="49" charset="-128"/>
                <a:cs typeface="Courier New" panose="02070309020205020404" pitchFamily="49" charset="0"/>
              </a:rPr>
              <a:t>punto1</a:t>
            </a:r>
            <a:r>
              <a:rPr lang="it-IT" sz="1200" dirty="0">
                <a:effectLst/>
                <a:latin typeface="Times New Roman" panose="02020603050405020304" pitchFamily="18" charset="0"/>
                <a:ea typeface="Times New Roman" panose="02020603050405020304" pitchFamily="18" charset="0"/>
              </a:rPr>
              <a:t>. Quindi, la parola chiave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new</a:t>
            </a:r>
            <a:r>
              <a:rPr lang="it-IT" sz="1200" dirty="0">
                <a:effectLst/>
                <a:latin typeface="Times New Roman" panose="02020603050405020304" pitchFamily="18" charset="0"/>
                <a:ea typeface="Times New Roman" panose="02020603050405020304" pitchFamily="18" charset="0"/>
              </a:rPr>
              <a:t> istanzia 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200" dirty="0">
                <a:effectLst/>
                <a:latin typeface="Times New Roman" panose="02020603050405020304" pitchFamily="18" charset="0"/>
                <a:ea typeface="Times New Roman" panose="02020603050405020304" pitchFamily="18" charset="0"/>
              </a:rPr>
              <a:t>, e a questa istanza viene assegnato il nome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punto1</a:t>
            </a:r>
            <a:r>
              <a:rPr lang="it-IT" sz="1200" dirty="0">
                <a:effectLst/>
                <a:latin typeface="Times New Roman" panose="02020603050405020304" pitchFamily="18" charset="0"/>
                <a:ea typeface="Times New Roman" panose="02020603050405020304" pitchFamily="18" charset="0"/>
              </a:rPr>
              <a:t>. </a:t>
            </a:r>
          </a:p>
          <a:p>
            <a:r>
              <a:rPr lang="it-IT" sz="1200" dirty="0">
                <a:effectLst/>
                <a:latin typeface="Times New Roman" panose="02020603050405020304" pitchFamily="18" charset="0"/>
                <a:ea typeface="Times New Roman" panose="02020603050405020304" pitchFamily="18" charset="0"/>
              </a:rPr>
              <a:t>Dalla riga 4 in poi è quindi possibile utilizzare l’oggetto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punto1</a:t>
            </a:r>
            <a:r>
              <a:rPr lang="it-IT" sz="1200" dirty="0">
                <a:effectLst/>
                <a:latin typeface="Times New Roman" panose="02020603050405020304" pitchFamily="18" charset="0"/>
                <a:ea typeface="Times New Roman" panose="02020603050405020304" pitchFamily="18" charset="0"/>
              </a:rPr>
              <a:t>. Precisamente alle righe 5 e 6, assegniamo alle coordinate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200" dirty="0">
                <a:effectLst/>
                <a:latin typeface="Times New Roman" panose="02020603050405020304" pitchFamily="18" charset="0"/>
                <a:ea typeface="Times New Roman" panose="02020603050405020304" pitchFamily="18" charset="0"/>
              </a:rPr>
              <a:t> del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punto1</a:t>
            </a:r>
            <a:r>
              <a:rPr lang="it-IT" sz="1200" dirty="0">
                <a:effectLst/>
                <a:latin typeface="Times New Roman" panose="02020603050405020304" pitchFamily="18" charset="0"/>
                <a:ea typeface="Times New Roman" panose="02020603050405020304" pitchFamily="18" charset="0"/>
              </a:rPr>
              <a:t> rispettivamente i valori interi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2</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6</a:t>
            </a:r>
            <a:r>
              <a:rPr lang="it-IT" sz="1200" dirty="0">
                <a:effectLst/>
                <a:latin typeface="Times New Roman" panose="02020603050405020304" pitchFamily="18" charset="0"/>
                <a:ea typeface="Times New Roman" panose="02020603050405020304" pitchFamily="18" charset="0"/>
              </a:rPr>
              <a:t>: </a:t>
            </a:r>
          </a:p>
          <a:p>
            <a:r>
              <a:rPr lang="it-IT" sz="1000" dirty="0">
                <a:solidFill>
                  <a:srgbClr val="000000"/>
                </a:solidFill>
                <a:effectLst/>
                <a:latin typeface="Courier New" panose="02070309020205020404" pitchFamily="49" charset="0"/>
                <a:ea typeface="Times New Roman" panose="02020603050405020304" pitchFamily="18" charset="0"/>
              </a:rPr>
              <a:t>5          punto1.x = 2;</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6          punto1.y = 6;</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Notiamo l’utilizzo dell’</a:t>
            </a:r>
            <a:r>
              <a:rPr lang="it-IT" sz="1200" b="1" dirty="0">
                <a:effectLst/>
                <a:latin typeface="Times New Roman" panose="02020603050405020304" pitchFamily="18" charset="0"/>
                <a:ea typeface="Times New Roman" panose="02020603050405020304" pitchFamily="18" charset="0"/>
              </a:rPr>
              <a:t>operatore dot</a:t>
            </a:r>
            <a:r>
              <a:rPr lang="it-IT" sz="1200" dirty="0">
                <a:effectLst/>
                <a:latin typeface="Times New Roman" panose="02020603050405020304" pitchFamily="18" charset="0"/>
                <a:ea typeface="Times New Roman" panose="02020603050405020304" pitchFamily="18" charset="0"/>
              </a:rPr>
              <a:t> (che in inglese significa </a:t>
            </a:r>
            <a:r>
              <a:rPr lang="it-IT" sz="1200" i="1" dirty="0">
                <a:effectLst/>
                <a:latin typeface="Times New Roman" panose="02020603050405020304" pitchFamily="18" charset="0"/>
                <a:ea typeface="Times New Roman" panose="02020603050405020304" pitchFamily="18" charset="0"/>
              </a:rPr>
              <a:t>punto</a:t>
            </a:r>
            <a:r>
              <a:rPr lang="it-IT" sz="1200" dirty="0">
                <a:effectLst/>
                <a:latin typeface="Times New Roman" panose="02020603050405020304" pitchFamily="18" charset="0"/>
                <a:ea typeface="Times New Roman" panose="02020603050405020304" pitchFamily="18" charset="0"/>
              </a:rPr>
              <a:t>, ma nel senso del simbolo di punteggiatura “.”) per accedere alle variabili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200" dirty="0">
                <a:effectLst/>
                <a:latin typeface="Times New Roman" panose="02020603050405020304" pitchFamily="18" charset="0"/>
                <a:ea typeface="Times New Roman" panose="02020603050405020304" pitchFamily="18" charset="0"/>
              </a:rPr>
              <a:t>. L’istruzione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punto1.x = 2</a:t>
            </a:r>
            <a:r>
              <a:rPr lang="it-IT" sz="1200" dirty="0">
                <a:effectLst/>
                <a:latin typeface="Times New Roman" panose="02020603050405020304" pitchFamily="18" charset="0"/>
                <a:ea typeface="Times New Roman" panose="02020603050405020304" pitchFamily="18" charset="0"/>
              </a:rPr>
              <a:t>, per esempio, assegna il valore intero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2</a:t>
            </a:r>
            <a:r>
              <a:rPr lang="it-IT" sz="1200" dirty="0">
                <a:effectLst/>
                <a:latin typeface="Times New Roman" panose="02020603050405020304" pitchFamily="18" charset="0"/>
                <a:ea typeface="Times New Roman" panose="02020603050405020304" pitchFamily="18" charset="0"/>
              </a:rPr>
              <a:t> alla variabile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200" dirty="0">
                <a:effectLst/>
                <a:latin typeface="Times New Roman" panose="02020603050405020304" pitchFamily="18" charset="0"/>
                <a:ea typeface="Times New Roman" panose="02020603050405020304" pitchFamily="18" charset="0"/>
              </a:rPr>
              <a:t> dell’oggetto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punto1</a:t>
            </a:r>
            <a:r>
              <a:rPr lang="it-IT" sz="1200" dirty="0">
                <a:effectLst/>
                <a:latin typeface="Times New Roman" panose="02020603050405020304" pitchFamily="18" charset="0"/>
                <a:ea typeface="Times New Roman" panose="02020603050405020304" pitchFamily="18" charset="0"/>
              </a:rPr>
              <a:t>. Notare come le variabili </a:t>
            </a:r>
            <a:r>
              <a:rPr lang="it-IT" sz="1050" dirty="0">
                <a:effectLst/>
                <a:latin typeface="Courier New" panose="02070309020205020404" pitchFamily="49" charset="0"/>
                <a:ea typeface="MS Mincho" panose="02020609040205080304" pitchFamily="49" charset="-128"/>
                <a:cs typeface="Courier New" panose="02070309020205020404" pitchFamily="49" charset="0"/>
              </a:rPr>
              <a:t>x</a:t>
            </a:r>
            <a:r>
              <a:rPr lang="it-IT" sz="1200" dirty="0">
                <a:effectLst/>
                <a:latin typeface="Times New Roman" panose="02020603050405020304" pitchFamily="18" charset="0"/>
                <a:ea typeface="Times New Roman" panose="02020603050405020304" pitchFamily="18" charset="0"/>
              </a:rPr>
              <a:t> e </a:t>
            </a:r>
            <a:r>
              <a:rPr lang="it-IT" sz="1050" dirty="0">
                <a:effectLst/>
                <a:latin typeface="Courier New" panose="02070309020205020404" pitchFamily="49" charset="0"/>
                <a:ea typeface="MS Mincho" panose="02020609040205080304" pitchFamily="49" charset="-128"/>
                <a:cs typeface="Courier New" panose="02070309020205020404" pitchFamily="49" charset="0"/>
              </a:rPr>
              <a:t>y</a:t>
            </a:r>
            <a:r>
              <a:rPr lang="it-IT" sz="1200" dirty="0">
                <a:effectLst/>
                <a:latin typeface="Times New Roman" panose="02020603050405020304" pitchFamily="18" charset="0"/>
                <a:ea typeface="Times New Roman" panose="02020603050405020304" pitchFamily="18" charset="0"/>
              </a:rPr>
              <a:t> siano state dichiarate nella classe </a:t>
            </a:r>
            <a:r>
              <a:rPr lang="it-IT" sz="1050" dirty="0">
                <a:effectLst/>
                <a:latin typeface="Courier New" panose="02070309020205020404" pitchFamily="49" charset="0"/>
                <a:ea typeface="MS Mincho" panose="02020609040205080304" pitchFamily="49" charset="-128"/>
                <a:cs typeface="Courier New" panose="02070309020205020404" pitchFamily="49" charset="0"/>
              </a:rPr>
              <a:t>Punto</a:t>
            </a:r>
            <a:r>
              <a:rPr lang="it-IT" sz="1200" dirty="0">
                <a:effectLst/>
                <a:latin typeface="Times New Roman" panose="02020603050405020304" pitchFamily="18" charset="0"/>
                <a:ea typeface="Times New Roman" panose="02020603050405020304" pitchFamily="18" charset="0"/>
              </a:rPr>
              <a:t>, ma siano valorizzate per l’oggetto </a:t>
            </a:r>
            <a:r>
              <a:rPr lang="it-IT" sz="1050" dirty="0">
                <a:effectLst/>
                <a:latin typeface="Courier New" panose="02070309020205020404" pitchFamily="49" charset="0"/>
                <a:ea typeface="MS Mincho" panose="02020609040205080304" pitchFamily="49" charset="-128"/>
                <a:cs typeface="Courier New" panose="02070309020205020404" pitchFamily="49" charset="0"/>
              </a:rPr>
              <a:t>punto1</a:t>
            </a:r>
            <a:r>
              <a:rPr lang="it-IT" sz="1200" dirty="0">
                <a:effectLst/>
                <a:latin typeface="Times New Roman" panose="02020603050405020304" pitchFamily="18" charset="0"/>
                <a:ea typeface="Times New Roman" panose="02020603050405020304" pitchFamily="18" charset="0"/>
              </a:rPr>
              <a:t>, e quindi appartengono all’oggetto </a:t>
            </a:r>
            <a:r>
              <a:rPr lang="it-IT" sz="1050" dirty="0">
                <a:effectLst/>
                <a:latin typeface="Courier New" panose="02070309020205020404" pitchFamily="49" charset="0"/>
                <a:ea typeface="MS Mincho" panose="02020609040205080304" pitchFamily="49" charset="-128"/>
                <a:cs typeface="Courier New" panose="02070309020205020404" pitchFamily="49" charset="0"/>
              </a:rPr>
              <a:t>punto1</a:t>
            </a:r>
            <a:r>
              <a:rPr lang="it-IT" sz="1200" dirty="0">
                <a:effectLst/>
                <a:latin typeface="Times New Roman" panose="02020603050405020304" pitchFamily="18" charset="0"/>
                <a:ea typeface="Times New Roman" panose="02020603050405020304" pitchFamily="18" charset="0"/>
              </a:rPr>
              <a:t>. La classe </a:t>
            </a:r>
            <a:r>
              <a:rPr lang="it-IT" sz="1050" dirty="0">
                <a:effectLst/>
                <a:latin typeface="Courier New" panose="02070309020205020404" pitchFamily="49" charset="0"/>
                <a:ea typeface="MS Mincho" panose="02020609040205080304" pitchFamily="49" charset="-128"/>
                <a:cs typeface="Courier New" panose="02070309020205020404" pitchFamily="49" charset="0"/>
              </a:rPr>
              <a:t>Punto</a:t>
            </a:r>
            <a:r>
              <a:rPr lang="it-IT" sz="1200" dirty="0">
                <a:effectLst/>
                <a:latin typeface="Times New Roman" panose="02020603050405020304" pitchFamily="18" charset="0"/>
                <a:ea typeface="Times New Roman" panose="02020603050405020304" pitchFamily="18" charset="0"/>
              </a:rPr>
              <a:t> ci è servita solo come modello per istanziare l’oggetto </a:t>
            </a:r>
            <a:r>
              <a:rPr lang="it-IT" sz="1050" dirty="0">
                <a:effectLst/>
                <a:latin typeface="Courier New" panose="02070309020205020404" pitchFamily="49" charset="0"/>
                <a:ea typeface="MS Mincho" panose="02020609040205080304" pitchFamily="49" charset="-128"/>
                <a:cs typeface="Courier New" panose="02070309020205020404" pitchFamily="49" charset="0"/>
              </a:rPr>
              <a:t>punto1</a:t>
            </a:r>
            <a:r>
              <a:rPr lang="it-IT" sz="1200" dirty="0">
                <a:effectLst/>
                <a:latin typeface="Times New Roman" panose="02020603050405020304" pitchFamily="18" charset="0"/>
                <a:ea typeface="Times New Roman" panose="02020603050405020304" pitchFamily="18" charset="0"/>
              </a:rPr>
              <a:t>.</a:t>
            </a:r>
          </a:p>
          <a:p>
            <a:r>
              <a:rPr lang="it-IT" sz="1200" dirty="0">
                <a:effectLst/>
                <a:latin typeface="Times New Roman" panose="02020603050405020304" pitchFamily="18" charset="0"/>
                <a:ea typeface="Times New Roman" panose="02020603050405020304" pitchFamily="18" charset="0"/>
              </a:rPr>
              <a:t>Ricapitolando, abbiamo prima dichiarato l'oggetto alla riga 3, l’abbiamo istanziato alla riga 4, e l’abbiamo utilizzato (impostando le sue variabili) alle righe 5 e 6.</a:t>
            </a:r>
          </a:p>
          <a:p>
            <a:r>
              <a:rPr lang="it-IT" sz="1200" dirty="0">
                <a:effectLst/>
                <a:latin typeface="Times New Roman" panose="02020603050405020304" pitchFamily="18" charset="0"/>
                <a:ea typeface="Times New Roman" panose="02020603050405020304" pitchFamily="18" charset="0"/>
              </a:rPr>
              <a:t>Alla riga 7 poi, abbiamo dichiarato ed istanziato con un’unica riga di codice un altro oggetto dalla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200" dirty="0">
                <a:effectLst/>
                <a:latin typeface="Times New Roman" panose="02020603050405020304" pitchFamily="18" charset="0"/>
                <a:ea typeface="Times New Roman" panose="02020603050405020304" pitchFamily="18" charset="0"/>
              </a:rPr>
              <a:t>, chiamandolo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punto2</a:t>
            </a:r>
            <a:r>
              <a:rPr lang="it-IT" sz="1200" dirty="0">
                <a:effectLst/>
                <a:latin typeface="Times New Roman" panose="02020603050405020304" pitchFamily="18" charset="0"/>
                <a:ea typeface="Times New Roman" panose="02020603050405020304" pitchFamily="18" charset="0"/>
              </a:rPr>
              <a:t>:</a:t>
            </a:r>
          </a:p>
          <a:p>
            <a:r>
              <a:rPr lang="it-IT" sz="1000" dirty="0">
                <a:solidFill>
                  <a:srgbClr val="000000"/>
                </a:solidFill>
                <a:effectLst/>
                <a:latin typeface="Courier New" panose="02070309020205020404" pitchFamily="49" charset="0"/>
                <a:ea typeface="Times New Roman" panose="02020603050405020304" pitchFamily="18" charset="0"/>
              </a:rPr>
              <a:t>7          Punto punto2 = new Punto();</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Tecnicamente le istruzioni alla riga 7 erano tre: dichiarazione dell’oggetto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punto2</a:t>
            </a:r>
            <a:r>
              <a:rPr lang="it-IT" sz="1200" dirty="0">
                <a:effectLst/>
                <a:latin typeface="Times New Roman" panose="02020603050405020304" pitchFamily="18" charset="0"/>
                <a:ea typeface="Times New Roman" panose="02020603050405020304" pitchFamily="18" charset="0"/>
              </a:rPr>
              <a:t>, istanza di un oggetto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200" dirty="0">
                <a:effectLst/>
                <a:latin typeface="Times New Roman" panose="02020603050405020304" pitchFamily="18" charset="0"/>
                <a:ea typeface="Times New Roman" panose="02020603050405020304" pitchFamily="18" charset="0"/>
              </a:rPr>
              <a:t>, e assegnazione dell’oggetto appena creato a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punto2</a:t>
            </a:r>
            <a:r>
              <a:rPr lang="it-IT" sz="1200" dirty="0">
                <a:effectLst/>
                <a:latin typeface="Times New Roman" panose="02020603050405020304" pitchFamily="18" charset="0"/>
                <a:ea typeface="Times New Roman" panose="02020603050405020304" pitchFamily="18" charset="0"/>
              </a:rPr>
              <a:t>. </a:t>
            </a:r>
          </a:p>
          <a:p>
            <a:r>
              <a:rPr lang="it-IT" sz="1200" dirty="0">
                <a:effectLst/>
                <a:latin typeface="Times New Roman" panose="02020603050405020304" pitchFamily="18" charset="0"/>
                <a:ea typeface="Times New Roman" panose="02020603050405020304" pitchFamily="18" charset="0"/>
              </a:rPr>
              <a:t>Abbiamo poi impostato le coordinate di quest’ultimo a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1</a:t>
            </a:r>
            <a:r>
              <a:rPr lang="it-IT" sz="1200" dirty="0">
                <a:effectLst/>
                <a:latin typeface="Times New Roman" panose="02020603050405020304" pitchFamily="18" charset="0"/>
                <a:ea typeface="Times New Roman" panose="02020603050405020304" pitchFamily="18" charset="0"/>
              </a:rPr>
              <a:t>:</a:t>
            </a:r>
          </a:p>
          <a:p>
            <a:r>
              <a:rPr lang="it-IT" sz="1000" dirty="0">
                <a:solidFill>
                  <a:srgbClr val="000000"/>
                </a:solidFill>
                <a:effectLst/>
                <a:latin typeface="Courier New" panose="02070309020205020404" pitchFamily="49" charset="0"/>
                <a:ea typeface="Times New Roman" panose="02020603050405020304" pitchFamily="18" charset="0"/>
              </a:rPr>
              <a:t>8         punto2.x = 0;</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9         punto2.y = 1;</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Abbiamo infine stampato le coordinate di entrambi i punti:</a:t>
            </a:r>
          </a:p>
          <a:p>
            <a:r>
              <a:rPr lang="it-IT" sz="1000" dirty="0">
                <a:solidFill>
                  <a:srgbClr val="000000"/>
                </a:solidFill>
                <a:effectLst/>
                <a:latin typeface="Courier New" panose="02070309020205020404" pitchFamily="49" charset="0"/>
                <a:ea typeface="Times New Roman" panose="02020603050405020304" pitchFamily="18" charset="0"/>
              </a:rPr>
              <a:t>1</a:t>
            </a:r>
            <a:r>
              <a:rPr lang="en-US" sz="1000" dirty="0">
                <a:solidFill>
                  <a:srgbClr val="000000"/>
                </a:solidFill>
                <a:effectLst/>
                <a:latin typeface="Courier New" panose="02070309020205020404" pitchFamily="49" charset="0"/>
                <a:ea typeface="Times New Roman" panose="02020603050405020304" pitchFamily="18" charset="0"/>
              </a:rPr>
              <a:t>0</a:t>
            </a:r>
            <a:r>
              <a:rPr lang="it-IT" sz="1000" dirty="0">
                <a:solidFill>
                  <a:srgbClr val="000000"/>
                </a:solidFill>
                <a:effectLst/>
                <a:latin typeface="Courier New" panose="02070309020205020404" pitchFamily="49" charset="0"/>
                <a:ea typeface="Times New Roman" panose="02020603050405020304" pitchFamily="18" charset="0"/>
              </a:rPr>
              <a:t>         System.out.println(punto1.x);</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1</a:t>
            </a:r>
            <a:r>
              <a:rPr lang="en-US" sz="1000" dirty="0">
                <a:solidFill>
                  <a:srgbClr val="000000"/>
                </a:solidFill>
                <a:effectLst/>
                <a:latin typeface="Courier New" panose="02070309020205020404" pitchFamily="49" charset="0"/>
                <a:ea typeface="Times New Roman" panose="02020603050405020304" pitchFamily="18" charset="0"/>
              </a:rPr>
              <a:t>1</a:t>
            </a:r>
            <a:r>
              <a:rPr lang="it-IT" sz="1000" dirty="0">
                <a:solidFill>
                  <a:srgbClr val="000000"/>
                </a:solidFill>
                <a:effectLst/>
                <a:latin typeface="Courier New" panose="02070309020205020404" pitchFamily="49" charset="0"/>
                <a:ea typeface="Times New Roman" panose="02020603050405020304" pitchFamily="18" charset="0"/>
              </a:rPr>
              <a:t>         System.out.println(punto1.y);</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1</a:t>
            </a:r>
            <a:r>
              <a:rPr lang="en-US" sz="1000" dirty="0">
                <a:solidFill>
                  <a:srgbClr val="000000"/>
                </a:solidFill>
                <a:effectLst/>
                <a:latin typeface="Courier New" panose="02070309020205020404" pitchFamily="49" charset="0"/>
                <a:ea typeface="Times New Roman" panose="02020603050405020304" pitchFamily="18" charset="0"/>
              </a:rPr>
              <a:t>2 </a:t>
            </a:r>
            <a:r>
              <a:rPr lang="it-IT" sz="1000" dirty="0">
                <a:solidFill>
                  <a:srgbClr val="000000"/>
                </a:solidFill>
                <a:effectLst/>
                <a:latin typeface="Courier New" panose="02070309020205020404" pitchFamily="49" charset="0"/>
                <a:ea typeface="Times New Roman" panose="02020603050405020304" pitchFamily="18" charset="0"/>
              </a:rPr>
              <a:t>        System.out.println(punto2.x);</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1</a:t>
            </a:r>
            <a:r>
              <a:rPr lang="en-US" sz="1000" dirty="0">
                <a:solidFill>
                  <a:srgbClr val="000000"/>
                </a:solidFill>
                <a:effectLst/>
                <a:latin typeface="Courier New" panose="02070309020205020404" pitchFamily="49" charset="0"/>
                <a:ea typeface="Times New Roman" panose="02020603050405020304" pitchFamily="18" charset="0"/>
              </a:rPr>
              <a:t>3</a:t>
            </a:r>
            <a:r>
              <a:rPr lang="it-IT" sz="1000" dirty="0">
                <a:solidFill>
                  <a:srgbClr val="000000"/>
                </a:solidFill>
                <a:effectLst/>
                <a:latin typeface="Courier New" panose="02070309020205020404" pitchFamily="49" charset="0"/>
                <a:ea typeface="Times New Roman" panose="02020603050405020304" pitchFamily="18" charset="0"/>
              </a:rPr>
              <a:t>         System.out.println(punto2.y);</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Le definizioni di classi ed oggetto dovrebbero essere più chiare adesso: la classe è servita per definire come saranno fatti gli oggetti. L’oggetto rappresenta una realizzazione fisica della classe.</a:t>
            </a:r>
            <a:r>
              <a:rPr lang="it-IT" sz="1350" dirty="0">
                <a:effectLst/>
                <a:latin typeface="Times New Roman" panose="02020603050405020304" pitchFamily="18" charset="0"/>
                <a:ea typeface="Times New Roman" panose="02020603050405020304" pitchFamily="18" charset="0"/>
              </a:rPr>
              <a:t> </a:t>
            </a:r>
            <a:r>
              <a:rPr lang="it-IT" sz="1200" dirty="0">
                <a:effectLst/>
                <a:latin typeface="Times New Roman" panose="02020603050405020304" pitchFamily="18" charset="0"/>
                <a:ea typeface="Times New Roman" panose="02020603050405020304" pitchFamily="18" charset="0"/>
              </a:rPr>
              <a:t>In questo esempio abbiamo istanziato due oggetti diversi da una stessa classe. Entrambi questi oggetti sono punti, ma evidentemente sono punti diversi (si trovano in diverse posizioni sul riferimento cartesiano).</a:t>
            </a:r>
          </a:p>
          <a:p>
            <a:pPr marL="914400"/>
            <a:r>
              <a:rPr lang="it-IT" sz="1200" b="1" dirty="0">
                <a:solidFill>
                  <a:srgbClr val="000000"/>
                </a:solidFill>
                <a:effectLst/>
                <a:latin typeface="Times New Roman" panose="02020603050405020304" pitchFamily="18" charset="0"/>
                <a:ea typeface="Times New Roman" panose="02020603050405020304" pitchFamily="18" charset="0"/>
              </a:rPr>
              <a:t>Questo ragionamento, in fondo, è già familiare a chiunque giacché derivante dal mondo reale che ci circonda. Come abbiamo già asserito, l’essere umano, per superare la complessità della realtà, raggruppa gli oggetti in classi, tramite il processo dell’astrazione. Per esempio, nella nostra mente esiste un modello definito dalla classe </a:t>
            </a:r>
            <a:r>
              <a:rPr lang="it-IT" sz="10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Persona</a:t>
            </a:r>
            <a:r>
              <a:rPr lang="it-IT" sz="1200" b="1" dirty="0">
                <a:solidFill>
                  <a:srgbClr val="000000"/>
                </a:solidFill>
                <a:effectLst/>
                <a:latin typeface="Times New Roman" panose="02020603050405020304" pitchFamily="18" charset="0"/>
                <a:ea typeface="Times New Roman" panose="02020603050405020304" pitchFamily="18" charset="0"/>
              </a:rPr>
              <a:t> anche se nella realtà esistono miliardi di oggetti di tipo </a:t>
            </a:r>
            <a:r>
              <a:rPr lang="it-IT" sz="10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Persona</a:t>
            </a:r>
            <a:r>
              <a:rPr lang="it-IT" sz="1200" b="1" dirty="0">
                <a:solidFill>
                  <a:srgbClr val="000000"/>
                </a:solidFill>
                <a:effectLst/>
                <a:latin typeface="Times New Roman" panose="02020603050405020304" pitchFamily="18" charset="0"/>
                <a:ea typeface="Times New Roman" panose="02020603050405020304" pitchFamily="18" charset="0"/>
              </a:rPr>
              <a:t> ognuno dei quali ha caratteristiche uniche. </a:t>
            </a:r>
            <a:endParaRPr lang="it-IT" sz="1200" b="1" dirty="0">
              <a:effectLst/>
              <a:latin typeface="Times New Roman" panose="02020603050405020304" pitchFamily="18" charset="0"/>
              <a:ea typeface="Times New Roman" panose="02020603050405020304" pitchFamily="18" charset="0"/>
            </a:endParaRPr>
          </a:p>
          <a:p>
            <a:pPr marL="1600200" lvl="3" indent="-228600">
              <a:spcBef>
                <a:spcPts val="1200"/>
              </a:spcBef>
              <a:spcAft>
                <a:spcPts val="300"/>
              </a:spcAft>
              <a:buFont typeface="Arial" panose="020B0604020202020204" pitchFamily="34" charset="0"/>
              <a:buChar char=""/>
            </a:pPr>
            <a:r>
              <a:rPr lang="it-IT" sz="1400" b="1" dirty="0">
                <a:effectLst/>
                <a:latin typeface="Times New Roman" panose="02020603050405020304" pitchFamily="18" charset="0"/>
              </a:rPr>
              <a:t>2.2.1.3 Osservazione importante sulla classe Punto</a:t>
            </a:r>
          </a:p>
          <a:p>
            <a:r>
              <a:rPr lang="it-IT" sz="1200" dirty="0">
                <a:effectLst/>
                <a:latin typeface="Times New Roman" panose="02020603050405020304" pitchFamily="18" charset="0"/>
                <a:ea typeface="Times New Roman" panose="02020603050405020304" pitchFamily="18" charset="0"/>
              </a:rPr>
              <a:t>Nell’esempio precedente abbiamo potuto commentare la definizione di due classi. Per la prima (la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200" dirty="0">
                <a:effectLst/>
                <a:latin typeface="Times New Roman" panose="02020603050405020304" pitchFamily="18" charset="0"/>
                <a:ea typeface="Times New Roman" panose="02020603050405020304" pitchFamily="18" charset="0"/>
              </a:rPr>
              <a:t>) abbiamo sottolineato la caratteristica di rappresentare </a:t>
            </a:r>
            <a:r>
              <a:rPr lang="it-IT" sz="1200" b="1" dirty="0">
                <a:effectLst/>
                <a:latin typeface="Times New Roman" panose="02020603050405020304" pitchFamily="18" charset="0"/>
                <a:ea typeface="Times New Roman" panose="02020603050405020304" pitchFamily="18" charset="0"/>
              </a:rPr>
              <a:t>un dato</a:t>
            </a:r>
            <a:r>
              <a:rPr lang="it-IT" sz="1200" dirty="0">
                <a:effectLst/>
                <a:latin typeface="Times New Roman" panose="02020603050405020304" pitchFamily="18" charset="0"/>
                <a:ea typeface="Times New Roman" panose="02020603050405020304" pitchFamily="18" charset="0"/>
              </a:rPr>
              <a:t>. Tale classe è da considerarsi una parte strutturale dell’applicazione, e quindi svolge un ruolo essenziale nell’ambito della compilazione. Nell’ambito dell’esecuzione dell’applicazione, 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200" dirty="0">
                <a:effectLst/>
                <a:latin typeface="Times New Roman" panose="02020603050405020304" pitchFamily="18" charset="0"/>
                <a:ea typeface="Times New Roman" panose="02020603050405020304" pitchFamily="18" charset="0"/>
              </a:rPr>
              <a:t> però, non ha un ruolo attivo. Infatti sono gli oggetti istanziati da essa che influenzano il flusso di lavoro del programma. </a:t>
            </a:r>
            <a:br>
              <a:rPr lang="it-IT" sz="1200" dirty="0">
                <a:effectLst/>
                <a:latin typeface="Times New Roman" panose="02020603050405020304" pitchFamily="18" charset="0"/>
                <a:ea typeface="Times New Roman" panose="02020603050405020304" pitchFamily="18" charset="0"/>
              </a:rPr>
            </a:br>
            <a:r>
              <a:rPr lang="it-IT" sz="1200" dirty="0">
                <a:effectLst/>
                <a:latin typeface="Times New Roman" panose="02020603050405020304" pitchFamily="18" charset="0"/>
                <a:ea typeface="Times New Roman" panose="02020603050405020304" pitchFamily="18" charset="0"/>
              </a:rPr>
              <a:t>Questo può definirsi come il caso standard. In un’applicazione object oriented, una classe dovrebbe limitarsi a definire la struttura comune di un insieme di oggetti, e non dovrebbe mai “possedere” né variabili né metodi, ma solo dichiararli. Infatti, 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200" dirty="0">
                <a:effectLst/>
                <a:latin typeface="Times New Roman" panose="02020603050405020304" pitchFamily="18" charset="0"/>
                <a:ea typeface="Times New Roman" panose="02020603050405020304" pitchFamily="18" charset="0"/>
              </a:rPr>
              <a:t> non possiede le variabili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350" dirty="0">
                <a:effectLst/>
                <a:latin typeface="Times New Roman" panose="02020603050405020304" pitchFamily="18" charset="0"/>
                <a:ea typeface="Times New Roman" panose="02020603050405020304" pitchFamily="18" charset="0"/>
              </a:rPr>
              <a:t>, </a:t>
            </a:r>
            <a:r>
              <a:rPr lang="it-IT" sz="1200" dirty="0">
                <a:effectLst/>
                <a:latin typeface="Times New Roman" panose="02020603050405020304" pitchFamily="18" charset="0"/>
                <a:ea typeface="Times New Roman" panose="02020603050405020304" pitchFamily="18" charset="0"/>
              </a:rPr>
              <a:t>bensì, dichiarando le due variabili, definisce gli oggetti che da essa saranno istanziati come possessori di quelle variabili. Si noti che mai all’interno del codice, è presente un’istruzione come:</a:t>
            </a:r>
          </a:p>
          <a:p>
            <a:r>
              <a:rPr lang="it-IT" sz="1000" dirty="0" err="1">
                <a:solidFill>
                  <a:srgbClr val="000000"/>
                </a:solidFill>
                <a:effectLst/>
                <a:latin typeface="Courier New" panose="02070309020205020404" pitchFamily="49" charset="0"/>
                <a:ea typeface="Times New Roman" panose="02020603050405020304" pitchFamily="18" charset="0"/>
              </a:rPr>
              <a:t>Punto.x</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ovvero</a:t>
            </a:r>
          </a:p>
          <a:p>
            <a:r>
              <a:rPr lang="it-IT" sz="1000" dirty="0" err="1">
                <a:solidFill>
                  <a:srgbClr val="000000"/>
                </a:solidFill>
                <a:effectLst/>
                <a:latin typeface="Courier New" panose="02070309020205020404" pitchFamily="49" charset="0"/>
                <a:ea typeface="Times New Roman" panose="02020603050405020304" pitchFamily="18" charset="0"/>
              </a:rPr>
              <a:t>NomeClasse.nomeVariabile</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(che tra l’altro produrrebbe un errore in compilazione), bensì:</a:t>
            </a:r>
          </a:p>
          <a:p>
            <a:r>
              <a:rPr lang="it-IT" sz="1000" dirty="0">
                <a:solidFill>
                  <a:srgbClr val="000000"/>
                </a:solidFill>
                <a:effectLst/>
                <a:latin typeface="Courier New" panose="02070309020205020404" pitchFamily="49" charset="0"/>
                <a:ea typeface="Times New Roman" panose="02020603050405020304" pitchFamily="18" charset="0"/>
              </a:rPr>
              <a:t>punto1.x</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ovvero</a:t>
            </a:r>
          </a:p>
          <a:p>
            <a:r>
              <a:rPr lang="it-IT" sz="1000" dirty="0" err="1">
                <a:solidFill>
                  <a:srgbClr val="000000"/>
                </a:solidFill>
                <a:effectLst/>
                <a:latin typeface="Courier New" panose="02070309020205020404" pitchFamily="49" charset="0"/>
                <a:ea typeface="Times New Roman" panose="02020603050405020304" pitchFamily="18" charset="0"/>
              </a:rPr>
              <a:t>nomeOggetto.nomeVariabile</a:t>
            </a:r>
            <a:endParaRPr lang="it-IT" sz="1000" dirty="0">
              <a:effectLst/>
              <a:latin typeface="Courier New" panose="02070309020205020404" pitchFamily="49" charset="0"/>
              <a:ea typeface="Times New Roman" panose="02020603050405020304" pitchFamily="18" charset="0"/>
            </a:endParaRPr>
          </a:p>
          <a:p>
            <a:pPr marL="914400"/>
            <a:r>
              <a:rPr lang="it-IT" sz="1200" b="1" dirty="0">
                <a:solidFill>
                  <a:srgbClr val="000000"/>
                </a:solidFill>
                <a:effectLst/>
                <a:latin typeface="Times New Roman" panose="02020603050405020304" pitchFamily="18" charset="0"/>
                <a:ea typeface="Times New Roman" panose="02020603050405020304" pitchFamily="18" charset="0"/>
              </a:rPr>
              <a:t>L’operatore “.” è sinonimo di “appartenenza”. Sono quindi gli oggetti a possedere le variabili dichiarate nella classe, e queste, saranno chiamate “variabili d’istanza”, ovvero “variabili dell’oggetto”. Infatti, i due oggetti istanziati avevano valori diversi per </a:t>
            </a:r>
            <a:r>
              <a:rPr lang="it-IT" sz="10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it-IT" sz="1200" b="1" dirty="0">
                <a:solidFill>
                  <a:srgbClr val="000000"/>
                </a:solidFill>
                <a:effectLst/>
                <a:latin typeface="Times New Roman" panose="02020603050405020304" pitchFamily="18" charset="0"/>
                <a:ea typeface="Times New Roman" panose="02020603050405020304" pitchFamily="18" charset="0"/>
              </a:rPr>
              <a:t> e </a:t>
            </a:r>
            <a:r>
              <a:rPr lang="it-IT" sz="10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it-IT" sz="1200" b="1" dirty="0">
                <a:solidFill>
                  <a:srgbClr val="000000"/>
                </a:solidFill>
                <a:effectLst/>
                <a:latin typeface="Times New Roman" panose="02020603050405020304" pitchFamily="18" charset="0"/>
                <a:ea typeface="Times New Roman" panose="02020603050405020304" pitchFamily="18" charset="0"/>
              </a:rPr>
              <a:t>, il che significa che ognuno dei due oggetti </a:t>
            </a:r>
            <a:r>
              <a:rPr lang="it-IT" sz="10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punto1</a:t>
            </a:r>
            <a:r>
              <a:rPr lang="it-IT" sz="1200" b="1" dirty="0">
                <a:solidFill>
                  <a:srgbClr val="000000"/>
                </a:solidFill>
                <a:effectLst/>
                <a:latin typeface="Times New Roman" panose="02020603050405020304" pitchFamily="18" charset="0"/>
                <a:ea typeface="Times New Roman" panose="02020603050405020304" pitchFamily="18" charset="0"/>
              </a:rPr>
              <a:t> e </a:t>
            </a:r>
            <a:r>
              <a:rPr lang="it-IT" sz="10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punto2</a:t>
            </a:r>
            <a:r>
              <a:rPr lang="it-IT" sz="1200" b="1" dirty="0">
                <a:solidFill>
                  <a:srgbClr val="000000"/>
                </a:solidFill>
                <a:effectLst/>
                <a:latin typeface="Times New Roman" panose="02020603050405020304" pitchFamily="18" charset="0"/>
                <a:ea typeface="Times New Roman" panose="02020603050405020304" pitchFamily="18" charset="0"/>
              </a:rPr>
              <a:t> ha la sua variabile </a:t>
            </a:r>
            <a:r>
              <a:rPr lang="it-IT" sz="10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it-IT" sz="1200" b="1" dirty="0">
                <a:solidFill>
                  <a:srgbClr val="000000"/>
                </a:solidFill>
                <a:effectLst/>
                <a:latin typeface="Times New Roman" panose="02020603050405020304" pitchFamily="18" charset="0"/>
                <a:ea typeface="Times New Roman" panose="02020603050405020304" pitchFamily="18" charset="0"/>
              </a:rPr>
              <a:t> e la sua variabile </a:t>
            </a:r>
            <a:r>
              <a:rPr lang="it-IT" sz="10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it-IT" sz="1200" b="1" dirty="0">
                <a:solidFill>
                  <a:srgbClr val="000000"/>
                </a:solidFill>
                <a:effectLst/>
                <a:latin typeface="Times New Roman" panose="02020603050405020304" pitchFamily="18" charset="0"/>
                <a:ea typeface="Times New Roman" panose="02020603050405020304" pitchFamily="18" charset="0"/>
              </a:rPr>
              <a:t>. Le variabili di </a:t>
            </a:r>
            <a:r>
              <a:rPr lang="it-IT" sz="10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punto1</a:t>
            </a:r>
            <a:r>
              <a:rPr lang="it-IT" sz="1200" b="1" dirty="0">
                <a:solidFill>
                  <a:srgbClr val="000000"/>
                </a:solidFill>
                <a:effectLst/>
                <a:latin typeface="Times New Roman" panose="02020603050405020304" pitchFamily="18" charset="0"/>
                <a:ea typeface="Times New Roman" panose="02020603050405020304" pitchFamily="18" charset="0"/>
              </a:rPr>
              <a:t> sono assolutamente indipendenti dalle variabili di </a:t>
            </a:r>
            <a:r>
              <a:rPr lang="it-IT" sz="10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punto2</a:t>
            </a:r>
            <a:r>
              <a:rPr lang="it-IT" sz="1200" b="1" dirty="0">
                <a:solidFill>
                  <a:srgbClr val="000000"/>
                </a:solidFill>
                <a:effectLst/>
                <a:latin typeface="Times New Roman" panose="02020603050405020304" pitchFamily="18" charset="0"/>
                <a:ea typeface="Times New Roman" panose="02020603050405020304" pitchFamily="18" charset="0"/>
              </a:rPr>
              <a:t>. Giacché le classi non posseggono i membri (variabili e metodi) che dichiarano, non eseguono codice e non hanno un ruolo nell’ambito dell’esecuzione di un programma. Sono gli oggetti i protagonisti assoluti al runtime. In pratica, il rapporto esistente tra classe ed oggetto è esattamente lo stesso che c’è tra idea e oggetto concreto nel mondo reale.</a:t>
            </a:r>
            <a:endParaRPr lang="it-IT" sz="1200" b="1" dirty="0">
              <a:effectLst/>
              <a:latin typeface="Times New Roman" panose="02020603050405020304" pitchFamily="18" charset="0"/>
              <a:ea typeface="Times New Roman" panose="02020603050405020304" pitchFamily="18" charset="0"/>
            </a:endParaRPr>
          </a:p>
          <a:p>
            <a:pPr marL="1600200" lvl="3" indent="-228600">
              <a:spcBef>
                <a:spcPts val="1200"/>
              </a:spcBef>
              <a:spcAft>
                <a:spcPts val="300"/>
              </a:spcAft>
              <a:buFont typeface="Arial" panose="020B0604020202020204" pitchFamily="34" charset="0"/>
              <a:buChar char=""/>
            </a:pPr>
            <a:r>
              <a:rPr lang="it-IT" sz="1400" b="1" dirty="0">
                <a:effectLst/>
                <a:latin typeface="Times New Roman" panose="02020603050405020304" pitchFamily="18" charset="0"/>
              </a:rPr>
              <a:t>2.2.1.4 Osservazione importante sulla classe </a:t>
            </a:r>
            <a:r>
              <a:rPr lang="it-IT" sz="1400" b="1" dirty="0" err="1">
                <a:effectLst/>
                <a:latin typeface="Times New Roman" panose="02020603050405020304" pitchFamily="18" charset="0"/>
              </a:rPr>
              <a:t>TestOggettiPunto</a:t>
            </a:r>
            <a:endParaRPr lang="it-IT" sz="1400" b="1" dirty="0">
              <a:effectLst/>
              <a:latin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Come spesso accade quando si approccia Java, appena definita una nuova regola, subito si presenta l’eccezione (che se vogliamo... dovrebbe confermarla!). Puntiamo infatti la nostra attenzione sulla classe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TestOggettiPunto</a:t>
            </a:r>
            <a:r>
              <a:rPr lang="it-IT" sz="1200" dirty="0">
                <a:effectLst/>
                <a:latin typeface="Times New Roman" panose="02020603050405020304" pitchFamily="18" charset="0"/>
                <a:ea typeface="Times New Roman" panose="02020603050405020304" pitchFamily="18" charset="0"/>
              </a:rPr>
              <a:t>. Anche se abbiamo appena spiegato che sono gli oggetti che eseguono il codice nei programmi Java, la classe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TestOggettiPunto</a:t>
            </a:r>
            <a:r>
              <a:rPr lang="it-IT" sz="1200" dirty="0">
                <a:effectLst/>
                <a:latin typeface="Times New Roman" panose="02020603050405020304" pitchFamily="18" charset="0"/>
                <a:ea typeface="Times New Roman" panose="02020603050405020304" pitchFamily="18" charset="0"/>
              </a:rPr>
              <a:t> esegue effettivamente il codice contenuto all’interno del metodo</a:t>
            </a:r>
            <a:r>
              <a:rPr lang="it-IT" sz="1350" i="1" dirty="0">
                <a:effectLst/>
                <a:latin typeface="Times New Roman" panose="02020603050405020304" pitchFamily="18" charset="0"/>
                <a:ea typeface="Times New Roman" panose="02020603050405020304" pitchFamily="18" charset="0"/>
              </a:rPr>
              <a:t>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200" dirty="0">
                <a:effectLst/>
                <a:latin typeface="Times New Roman" panose="02020603050405020304" pitchFamily="18" charset="0"/>
                <a:ea typeface="Times New Roman" panose="02020603050405020304" pitchFamily="18" charset="0"/>
              </a:rPr>
              <a:t>, che per quanto detto è assunto per default quale punto di partenza di un’applicazione Java. </a:t>
            </a:r>
          </a:p>
          <a:p>
            <a:r>
              <a:rPr lang="it-IT" sz="1200" b="1" dirty="0">
                <a:effectLst/>
                <a:latin typeface="Times New Roman" panose="02020603050405020304" pitchFamily="18" charset="0"/>
                <a:ea typeface="Times New Roman" panose="02020603050405020304" pitchFamily="18" charset="0"/>
              </a:rPr>
              <a:t>(ICONA CURIOSITÀ)</a:t>
            </a:r>
            <a:br>
              <a:rPr lang="it-IT" sz="1200" dirty="0">
                <a:effectLst/>
                <a:latin typeface="Times New Roman" panose="02020603050405020304" pitchFamily="18" charset="0"/>
                <a:ea typeface="Times New Roman" panose="02020603050405020304" pitchFamily="18" charset="0"/>
              </a:rPr>
            </a:br>
            <a:r>
              <a:rPr lang="it-IT" sz="1200" dirty="0">
                <a:effectLst/>
                <a:latin typeface="Times New Roman" panose="02020603050405020304" pitchFamily="18" charset="0"/>
                <a:ea typeface="Times New Roman" panose="02020603050405020304" pitchFamily="18" charset="0"/>
              </a:rPr>
              <a:t>In qualche modo infatti, i creatori di Java dovevano stabilire un modo per far partire l’esecuzione di un programma. La scelta è stata compiuta in base ad una questione pratica e storica: un’applicazione scritta in C o C++, ha come punto di partenza per default un cosiddetto “programma chiamante” che deve chiamarsi proprio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200" dirty="0">
                <a:effectLst/>
                <a:latin typeface="Times New Roman" panose="02020603050405020304" pitchFamily="18" charset="0"/>
                <a:ea typeface="Times New Roman" panose="02020603050405020304" pitchFamily="18" charset="0"/>
              </a:rPr>
              <a:t>. In Java i programmi chiamanti non esistono, ma al loro posto esistono le classi contenenti i metodi statici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200" dirty="0">
                <a:effectLst/>
                <a:latin typeface="Times New Roman" panose="02020603050405020304" pitchFamily="18" charset="0"/>
                <a:ea typeface="Times New Roman" panose="02020603050405020304" pitchFamily="18" charset="0"/>
              </a:rPr>
              <a:t>. </a:t>
            </a:r>
          </a:p>
          <a:p>
            <a:pPr marL="914400"/>
            <a:r>
              <a:rPr lang="it-IT" sz="1200" b="1" dirty="0">
                <a:solidFill>
                  <a:srgbClr val="000000"/>
                </a:solidFill>
                <a:effectLst/>
                <a:latin typeface="Times New Roman" panose="02020603050405020304" pitchFamily="18" charset="0"/>
                <a:ea typeface="Times New Roman" panose="02020603050405020304" pitchFamily="18" charset="0"/>
              </a:rPr>
              <a:t>Il modificatore </a:t>
            </a:r>
            <a:r>
              <a:rPr lang="it-IT" sz="10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static</a:t>
            </a:r>
            <a:r>
              <a:rPr lang="it-IT" sz="1200" b="1" dirty="0">
                <a:solidFill>
                  <a:srgbClr val="000000"/>
                </a:solidFill>
                <a:effectLst/>
                <a:latin typeface="Times New Roman" panose="02020603050405020304" pitchFamily="18" charset="0"/>
                <a:ea typeface="Times New Roman" panose="02020603050405020304" pitchFamily="18" charset="0"/>
              </a:rPr>
              <a:t> sarà trattato in dettaglio nel capitolo 5. Intanto possiamo anticipare che un membro dichiarato statico, appartiene alla classe e che tutti gli oggetti istanziati da essa condivideranno gli stessi membri statici.</a:t>
            </a:r>
            <a:endParaRPr lang="it-IT" sz="1200" b="1" dirty="0">
              <a:effectLst/>
              <a:latin typeface="Times New Roman" panose="02020603050405020304" pitchFamily="18"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Concludendo, giacché la classe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TestOggettiPunto</a:t>
            </a:r>
            <a:r>
              <a:rPr lang="it-IT" sz="1200" dirty="0">
                <a:effectLst/>
                <a:latin typeface="Times New Roman" panose="02020603050405020304" pitchFamily="18" charset="0"/>
                <a:ea typeface="Times New Roman" panose="02020603050405020304" pitchFamily="18" charset="0"/>
              </a:rPr>
              <a:t> contiene il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200" dirty="0">
                <a:effectLst/>
                <a:latin typeface="Times New Roman" panose="02020603050405020304" pitchFamily="18" charset="0"/>
                <a:ea typeface="Times New Roman" panose="02020603050405020304" pitchFamily="18" charset="0"/>
              </a:rPr>
              <a:t>, può eseguire del codice. </a:t>
            </a:r>
          </a:p>
          <a:p>
            <a:pPr marL="914400"/>
            <a:r>
              <a:rPr lang="it-IT" sz="1200" b="1" dirty="0">
                <a:solidFill>
                  <a:srgbClr val="000000"/>
                </a:solidFill>
                <a:effectLst/>
                <a:latin typeface="Times New Roman" panose="02020603050405020304" pitchFamily="18" charset="0"/>
                <a:ea typeface="Times New Roman" panose="02020603050405020304" pitchFamily="18" charset="0"/>
              </a:rPr>
              <a:t>In ogni applicazione Java deve esserci una classe che contiene il metodo </a:t>
            </a:r>
            <a:r>
              <a:rPr lang="it-IT" sz="10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main</a:t>
            </a:r>
            <a:r>
              <a:rPr lang="it-IT" sz="1200" b="1" dirty="0">
                <a:solidFill>
                  <a:srgbClr val="000000"/>
                </a:solidFill>
                <a:effectLst/>
                <a:latin typeface="Times New Roman" panose="02020603050405020304" pitchFamily="18" charset="0"/>
                <a:ea typeface="Times New Roman" panose="02020603050405020304" pitchFamily="18" charset="0"/>
              </a:rPr>
              <a:t>. Questa classe potrebbe avere il nome dell’applicazione stessa, astraendo il flusso di lavoro che deve essere eseguito. Il metodo </a:t>
            </a:r>
            <a:r>
              <a:rPr lang="it-IT" sz="10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main</a:t>
            </a:r>
            <a:r>
              <a:rPr lang="it-IT" sz="1200" b="1" dirty="0">
                <a:solidFill>
                  <a:srgbClr val="000000"/>
                </a:solidFill>
                <a:effectLst/>
                <a:latin typeface="Times New Roman" panose="02020603050405020304" pitchFamily="18" charset="0"/>
                <a:ea typeface="Times New Roman" panose="02020603050405020304" pitchFamily="18" charset="0"/>
              </a:rPr>
              <a:t> dovrebbe creare oggetti che si occupano di eseguire istruzioni invece di eseguire istruzioni esso stesso.</a:t>
            </a:r>
            <a:endParaRPr lang="it-IT" sz="1200" b="1" dirty="0">
              <a:effectLst/>
              <a:latin typeface="Times New Roman" panose="02020603050405020304" pitchFamily="18" charset="0"/>
              <a:ea typeface="Times New Roman" panose="02020603050405020304" pitchFamily="18" charset="0"/>
            </a:endParaRPr>
          </a:p>
          <a:p>
            <a:endParaRPr lang="it-IT"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485339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Abbiamo scelto l’esempio precedente per la sua semplicità. È infatti </a:t>
            </a:r>
            <a:r>
              <a:rPr lang="it-IT" sz="1800" i="1" dirty="0">
                <a:effectLst/>
                <a:latin typeface="Times New Roman" panose="02020603050405020304" pitchFamily="18" charset="0"/>
                <a:ea typeface="Times New Roman" panose="02020603050405020304" pitchFamily="18" charset="0"/>
              </a:rPr>
              <a:t>matematico</a:t>
            </a:r>
            <a:r>
              <a:rPr lang="it-IT" sz="1800" dirty="0">
                <a:effectLst/>
                <a:latin typeface="Times New Roman" panose="02020603050405020304" pitchFamily="18" charset="0"/>
                <a:ea typeface="Times New Roman" panose="02020603050405020304" pitchFamily="18" charset="0"/>
              </a:rPr>
              <a:t> pensare ad un punto sul piano cartesiano come formato da due coordinate chiamate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800" dirty="0">
                <a:effectLst/>
                <a:latin typeface="Times New Roman" panose="02020603050405020304" pitchFamily="18" charset="0"/>
                <a:ea typeface="Times New Roman" panose="02020603050405020304" pitchFamily="18" charset="0"/>
              </a:rPr>
              <a:t>. Ma ci sono concetti del mondo reale la cui astrazione non è così semplice. </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Per esempio, volendo definire l’idea (astrazione) di un’auto, dovremmo parlare delle caratteristiche e delle funzionalità comuni ad ogni auto. Ma, se confrontiamo l'idea (ovvero la classe) di auto che definirebbe un intenditore di automobili, con quella di una persona che non ha la patente, ci sarebbero significative differenze. La persona non patentata, potrebbe definire un’auto come “un mezzo di trasporto con quattro ruote ed un motore”, ma l’intenditore di automobili potrebbe dare una definizione alternativa molto più dettagliata definendo altre caratteristiche come assicurazione, telaio, modello, pneumatici etc. Entrambe queste definizioni potrebbero essere portate nella programmazione sotto forma di classi, ma nel processo di astrazione di una classe, bisognerebbe concentrarsi solo su quello che è necessario, considerando il contesto del programma.</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Siccome il contesto del programma che stiamo per scrivere, ha l’unico scopo di spiegare come funzionano gli oggetti, ragioneremo </a:t>
            </a:r>
            <a:r>
              <a:rPr lang="it-IT" sz="1800" i="1" dirty="0">
                <a:effectLst/>
                <a:latin typeface="Times New Roman" panose="02020603050405020304" pitchFamily="18" charset="0"/>
                <a:ea typeface="Times New Roman" panose="02020603050405020304" pitchFamily="18" charset="0"/>
              </a:rPr>
              <a:t>come se non avessimo la patente</a:t>
            </a:r>
            <a:r>
              <a:rPr lang="it-IT" sz="1800" dirty="0">
                <a:effectLst/>
                <a:latin typeface="Times New Roman" panose="02020603050405020304" pitchFamily="18" charset="0"/>
                <a:ea typeface="Times New Roman" panose="02020603050405020304" pitchFamily="18" charset="0"/>
              </a:rPr>
              <a:t>, creando una classe che dichiara come attributo un intero chiamato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numeroRuote</a:t>
            </a:r>
            <a:r>
              <a:rPr lang="it-IT" sz="1800" dirty="0">
                <a:effectLst/>
                <a:latin typeface="Times New Roman" panose="02020603050405020304" pitchFamily="18" charset="0"/>
                <a:ea typeface="Times New Roman" panose="02020603050405020304" pitchFamily="18" charset="0"/>
              </a:rPr>
              <a:t> inizializzato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4</a:t>
            </a:r>
            <a:r>
              <a:rPr lang="it-IT" sz="1800" dirty="0">
                <a:effectLst/>
                <a:latin typeface="Times New Roman" panose="02020603050405020304" pitchFamily="18" charset="0"/>
                <a:ea typeface="Times New Roman" panose="02020603050405020304" pitchFamily="18" charset="0"/>
              </a:rPr>
              <a:t> (supponendo che tutte le auto abbiano quattro ruote). Inoltre, anche se vorremmo inserire un motore come attributo dell’auto, usiamo una semplificazione definendo un'altra variabile intera: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cilindrata</a:t>
            </a:r>
            <a:r>
              <a:rPr lang="it-IT" sz="1800" dirty="0">
                <a:effectLst/>
                <a:latin typeface="Times New Roman" panose="02020603050405020304" pitchFamily="18" charset="0"/>
                <a:ea typeface="Times New Roman" panose="02020603050405020304" pitchFamily="18" charset="0"/>
              </a:rPr>
              <a:t>, a cui però non assegniamo nessun valore (ogni macchina ha una sua specifica cilindrata). Infine, ci limitiamo a dichiarare anche un unico metodo che chiamiamo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accelera</a:t>
            </a:r>
            <a:r>
              <a:rPr lang="it-IT" sz="1800" dirty="0">
                <a:effectLst/>
                <a:latin typeface="Times New Roman" panose="02020603050405020304" pitchFamily="18" charset="0"/>
                <a:ea typeface="Times New Roman" panose="02020603050405020304" pitchFamily="18" charset="0"/>
              </a:rPr>
              <a:t>, che non ha nessun parametro in input e non restituisce alcun valore (sui metodi torneremo nel prossimo paragrafo):</a:t>
            </a:r>
          </a:p>
          <a:p>
            <a:r>
              <a:rPr lang="it-IT" sz="1800" dirty="0">
                <a:solidFill>
                  <a:srgbClr val="000000"/>
                </a:solidFill>
                <a:effectLst/>
                <a:latin typeface="Courier New" panose="02070309020205020404" pitchFamily="49" charset="0"/>
                <a:ea typeface="Times New Roman" panose="02020603050405020304" pitchFamily="18" charset="0"/>
              </a:rPr>
              <a:t>public class Auto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int </a:t>
            </a:r>
            <a:r>
              <a:rPr lang="it-IT" sz="1800" dirty="0" err="1">
                <a:solidFill>
                  <a:srgbClr val="000000"/>
                </a:solidFill>
                <a:effectLst/>
                <a:latin typeface="Courier New" panose="02070309020205020404" pitchFamily="49" charset="0"/>
                <a:ea typeface="Times New Roman" panose="02020603050405020304" pitchFamily="18" charset="0"/>
              </a:rPr>
              <a:t>numeroRuote</a:t>
            </a:r>
            <a:r>
              <a:rPr lang="it-IT" sz="1800" dirty="0">
                <a:solidFill>
                  <a:srgbClr val="000000"/>
                </a:solidFill>
                <a:effectLst/>
                <a:latin typeface="Courier New" panose="02070309020205020404" pitchFamily="49" charset="0"/>
                <a:ea typeface="Times New Roman" panose="02020603050405020304" pitchFamily="18" charset="0"/>
              </a:rPr>
              <a:t> = 4;</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int cilindrata;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void accelera()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System.out.println("Sto accelerando con cilindrata:");</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System.out.println(cilindrata);</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b="0" dirty="0">
                <a:effectLst/>
                <a:latin typeface="Times New Roman" panose="02020603050405020304" pitchFamily="18" charset="0"/>
                <a:ea typeface="Times New Roman" panose="02020603050405020304" pitchFamily="18" charset="0"/>
              </a:rPr>
              <a:t>Con questa classe, stiamo definendo che nel nostro programma, </a:t>
            </a:r>
            <a:r>
              <a:rPr lang="it-IT" sz="1800" dirty="0">
                <a:effectLst/>
                <a:latin typeface="Times New Roman" panose="02020603050405020304" pitchFamily="18" charset="0"/>
                <a:ea typeface="Times New Roman" panose="02020603050405020304" pitchFamily="18" charset="0"/>
              </a:rPr>
              <a:t>ogni auto avrò 4 ruote, può accelerare, ed ha una cilindrata (il cui valore non è definibile a priori). Una Ferrari California e una Fiat 600 hanno entrambe 4 ruote, una cilindrata e possono accelerare, anche se in modo diverso. La Ferrari e la Fiat sono da considerarsi oggetti della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Auto</a:t>
            </a:r>
            <a:r>
              <a:rPr lang="it-IT" sz="1800" dirty="0">
                <a:effectLst/>
                <a:latin typeface="Times New Roman" panose="02020603050405020304" pitchFamily="18" charset="0"/>
                <a:ea typeface="Times New Roman" panose="02020603050405020304" pitchFamily="18" charset="0"/>
              </a:rPr>
              <a:t>, e nella realtà esisterebbero come oggetti concreti. </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Nella seguente classe vengono quindi creati due oggetti della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Auto</a:t>
            </a:r>
            <a:r>
              <a:rPr lang="it-IT" sz="1800" dirty="0">
                <a:effectLst/>
                <a:latin typeface="Times New Roman" panose="02020603050405020304" pitchFamily="18" charset="0"/>
                <a:ea typeface="Times New Roman" panose="02020603050405020304" pitchFamily="18" charset="0"/>
              </a:rPr>
              <a:t>, viene impostata loro la cilindrata opportunamente, e per entrambi gli oggetti verrà invocato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accelera</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public class </a:t>
            </a:r>
            <a:r>
              <a:rPr lang="it-IT" sz="1800" dirty="0" err="1">
                <a:solidFill>
                  <a:srgbClr val="000000"/>
                </a:solidFill>
                <a:effectLst/>
                <a:latin typeface="Courier New" panose="02070309020205020404" pitchFamily="49" charset="0"/>
                <a:ea typeface="Times New Roman" panose="02020603050405020304" pitchFamily="18" charset="0"/>
              </a:rPr>
              <a:t>TestOggettiAuto</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static void main(String args[])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Auto fiat600 = new Auto();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fiat600.cilindrata = 1100;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fiat600.accelera();</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Auto </a:t>
            </a:r>
            <a:r>
              <a:rPr lang="it-IT" sz="1800" dirty="0" err="1">
                <a:solidFill>
                  <a:srgbClr val="000000"/>
                </a:solidFill>
                <a:effectLst/>
                <a:latin typeface="Courier New" panose="02070309020205020404" pitchFamily="49" charset="0"/>
                <a:ea typeface="Times New Roman" panose="02020603050405020304" pitchFamily="18" charset="0"/>
              </a:rPr>
              <a:t>california</a:t>
            </a:r>
            <a:r>
              <a:rPr lang="it-IT" sz="1800" dirty="0">
                <a:solidFill>
                  <a:srgbClr val="000000"/>
                </a:solidFill>
                <a:effectLst/>
                <a:latin typeface="Courier New" panose="02070309020205020404" pitchFamily="49" charset="0"/>
                <a:ea typeface="Times New Roman" panose="02020603050405020304" pitchFamily="18" charset="0"/>
              </a:rPr>
              <a:t> = new Auto();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california.cilindrata</a:t>
            </a:r>
            <a:r>
              <a:rPr lang="it-IT" sz="1800" dirty="0">
                <a:solidFill>
                  <a:srgbClr val="000000"/>
                </a:solidFill>
                <a:effectLst/>
                <a:latin typeface="Courier New" panose="02070309020205020404" pitchFamily="49" charset="0"/>
                <a:ea typeface="Times New Roman" panose="02020603050405020304" pitchFamily="18" charset="0"/>
              </a:rPr>
              <a:t> = 4300;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california.accelera</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Compilando queste due classi e lanciando quest’ultima, otterremmo il seguente output:</a:t>
            </a:r>
          </a:p>
          <a:p>
            <a:r>
              <a:rPr lang="it-IT" sz="1800" dirty="0">
                <a:solidFill>
                  <a:srgbClr val="FFFFFF"/>
                </a:solidFill>
                <a:effectLst/>
                <a:latin typeface="Courier New" panose="02070309020205020404" pitchFamily="49" charset="0"/>
                <a:ea typeface="MS Mincho" panose="02020609040205080304" pitchFamily="49" charset="-128"/>
              </a:rPr>
              <a:t>Sto accelerando con cilindrata:</a:t>
            </a:r>
          </a:p>
          <a:p>
            <a:r>
              <a:rPr lang="it-IT" sz="1800" dirty="0">
                <a:solidFill>
                  <a:srgbClr val="FFFFFF"/>
                </a:solidFill>
                <a:effectLst/>
                <a:latin typeface="Courier New" panose="02070309020205020404" pitchFamily="49" charset="0"/>
                <a:ea typeface="MS Mincho" panose="02020609040205080304" pitchFamily="49" charset="-128"/>
              </a:rPr>
              <a:t>1100</a:t>
            </a:r>
          </a:p>
          <a:p>
            <a:r>
              <a:rPr lang="it-IT" sz="1800" dirty="0">
                <a:solidFill>
                  <a:srgbClr val="FFFFFF"/>
                </a:solidFill>
                <a:effectLst/>
                <a:latin typeface="Courier New" panose="02070309020205020404" pitchFamily="49" charset="0"/>
                <a:ea typeface="MS Mincho" panose="02020609040205080304" pitchFamily="49" charset="-128"/>
              </a:rPr>
              <a:t>Sto accelerando con cilindrata:</a:t>
            </a:r>
          </a:p>
          <a:p>
            <a:r>
              <a:rPr lang="it-IT" sz="1800" dirty="0">
                <a:solidFill>
                  <a:srgbClr val="FFFFFF"/>
                </a:solidFill>
                <a:effectLst/>
                <a:latin typeface="Courier New" panose="02070309020205020404" pitchFamily="49" charset="0"/>
                <a:ea typeface="MS Mincho" panose="02020609040205080304" pitchFamily="49" charset="-128"/>
              </a:rPr>
              <a:t>4300</a:t>
            </a:r>
          </a:p>
          <a:p>
            <a:r>
              <a:rPr lang="it-IT" sz="1800" dirty="0">
                <a:effectLst/>
                <a:latin typeface="Times New Roman" panose="02020603050405020304" pitchFamily="18" charset="0"/>
                <a:ea typeface="Times New Roman" panose="02020603050405020304" pitchFamily="18" charset="0"/>
              </a:rPr>
              <a:t>Tale output deriva dalla chiamata ai metodi accelera sui due oggetti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fiat600</a:t>
            </a:r>
            <a:r>
              <a:rPr lang="it-IT" sz="1800" dirty="0">
                <a:effectLst/>
                <a:latin typeface="Times New Roman" panose="02020603050405020304" pitchFamily="18" charset="0"/>
                <a:ea typeface="Times New Roman" panose="02020603050405020304" pitchFamily="18" charset="0"/>
              </a:rPr>
              <a:t> 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california</a:t>
            </a:r>
            <a:r>
              <a:rPr lang="it-IT" sz="1800" dirty="0">
                <a:effectLst/>
                <a:latin typeface="Times New Roman" panose="02020603050405020304" pitchFamily="18" charset="0"/>
                <a:ea typeface="Times New Roman" panose="02020603050405020304" pitchFamily="18" charset="0"/>
              </a:rPr>
              <a:t>, ottenuta mediante la sintassi:</a:t>
            </a:r>
          </a:p>
          <a:p>
            <a:r>
              <a:rPr lang="it-IT" sz="1800" dirty="0" err="1">
                <a:solidFill>
                  <a:srgbClr val="000000"/>
                </a:solidFill>
                <a:effectLst/>
                <a:latin typeface="Courier New" panose="02070309020205020404" pitchFamily="49" charset="0"/>
                <a:ea typeface="Times New Roman" panose="02020603050405020304" pitchFamily="18" charset="0"/>
              </a:rPr>
              <a:t>nomeOggetto.nomemetodo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che fa uso dell’operatore dot, che come abbiamo detto, è l’operatore che indica appartenenza. In pratica, ogni oggetto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Auto</a:t>
            </a:r>
            <a:r>
              <a:rPr lang="it-IT" sz="1800" dirty="0">
                <a:effectLst/>
                <a:latin typeface="Times New Roman" panose="02020603050405020304" pitchFamily="18" charset="0"/>
                <a:ea typeface="Times New Roman" panose="02020603050405020304" pitchFamily="18" charset="0"/>
              </a:rPr>
              <a:t>, ha come caratteristica la sua cilindrata, e come funzionalità il suo metodo </a:t>
            </a:r>
            <a:r>
              <a:rPr lang="it-IT" sz="1800" dirty="0">
                <a:effectLst/>
                <a:latin typeface="Courier New" panose="02070309020205020404" pitchFamily="49" charset="0"/>
                <a:ea typeface="Times New Roman" panose="02020603050405020304" pitchFamily="18" charset="0"/>
              </a:rPr>
              <a:t>accelera</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Quando viene chiamato un metodo, l’esecuzione del programma si sposta all’interno del metodo chiamato ed esegue le istruzioni ivi contenute. Questo è il caso standard, i metodi e le variabili che dichiariamo in una classe, appartengono agli oggetti e non alla classe. Infatti vengono detti rispettivamente metodi d’istanza e variabili d’istanza. Mentre l’appartenenza delle variabili agli oggetti dovrebbe essere abbastanza evidente, per i metodi può risultare meno chiaro. Tuttavia, in questo esempio abbiamo visto come invocando lo stesso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accelera</a:t>
            </a:r>
            <a:r>
              <a:rPr lang="it-IT" sz="1800" dirty="0">
                <a:effectLst/>
                <a:latin typeface="Times New Roman" panose="02020603050405020304" pitchFamily="18" charset="0"/>
                <a:ea typeface="Times New Roman" panose="02020603050405020304" pitchFamily="18" charset="0"/>
              </a:rPr>
              <a:t> su oggetti diversi, otterremo diversi output.</a:t>
            </a:r>
          </a:p>
        </p:txBody>
      </p:sp>
    </p:spTree>
    <p:extLst>
      <p:ext uri="{BB962C8B-B14F-4D97-AF65-F5344CB8AC3E}">
        <p14:creationId xmlns:p14="http://schemas.microsoft.com/office/powerpoint/2010/main" val="2147754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Abbiamo scelto l’esempio precedente per la sua semplicità. È infatti </a:t>
            </a:r>
            <a:r>
              <a:rPr lang="it-IT" sz="1800" i="1" dirty="0">
                <a:effectLst/>
                <a:latin typeface="Times New Roman" panose="02020603050405020304" pitchFamily="18" charset="0"/>
                <a:ea typeface="Times New Roman" panose="02020603050405020304" pitchFamily="18" charset="0"/>
              </a:rPr>
              <a:t>matematico</a:t>
            </a:r>
            <a:r>
              <a:rPr lang="it-IT" sz="1800" dirty="0">
                <a:effectLst/>
                <a:latin typeface="Times New Roman" panose="02020603050405020304" pitchFamily="18" charset="0"/>
                <a:ea typeface="Times New Roman" panose="02020603050405020304" pitchFamily="18" charset="0"/>
              </a:rPr>
              <a:t> pensare ad un punto sul piano cartesiano come formato da due coordinate chiamate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800" dirty="0">
                <a:effectLst/>
                <a:latin typeface="Times New Roman" panose="02020603050405020304" pitchFamily="18" charset="0"/>
                <a:ea typeface="Times New Roman" panose="02020603050405020304" pitchFamily="18" charset="0"/>
              </a:rPr>
              <a:t>. Ma ci sono concetti del mondo reale la cui astrazione non è così semplice. </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Per esempio, volendo definire l’idea (astrazione) di un’auto, dovremmo parlare delle caratteristiche e delle funzionalità comuni ad ogni auto. Ma, se confrontiamo l'idea (ovvero la classe) di auto che definirebbe un intenditore di automobili, con quella di una persona che non ha la patente, ci sarebbero significative differenze. La persona non patentata, potrebbe definire un’auto come “un mezzo di trasporto con quattro ruote ed un motore”, ma l’intenditore di automobili potrebbe dare una definizione alternativa molto più dettagliata definendo altre caratteristiche come assicurazione, telaio, modello, pneumatici etc. Entrambe queste definizioni potrebbero essere portate nella programmazione sotto forma di classi, ma nel processo di astrazione di una classe, bisognerebbe concentrarsi solo su quello che è necessario, considerando il contesto del programma.</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Siccome il contesto del programma che stiamo per scrivere, ha l’unico scopo di spiegare come funzionano gli oggetti, ragioneremo </a:t>
            </a:r>
            <a:r>
              <a:rPr lang="it-IT" sz="1800" i="1" dirty="0">
                <a:effectLst/>
                <a:latin typeface="Times New Roman" panose="02020603050405020304" pitchFamily="18" charset="0"/>
                <a:ea typeface="Times New Roman" panose="02020603050405020304" pitchFamily="18" charset="0"/>
              </a:rPr>
              <a:t>come se non avessimo la patente</a:t>
            </a:r>
            <a:r>
              <a:rPr lang="it-IT" sz="1800" dirty="0">
                <a:effectLst/>
                <a:latin typeface="Times New Roman" panose="02020603050405020304" pitchFamily="18" charset="0"/>
                <a:ea typeface="Times New Roman" panose="02020603050405020304" pitchFamily="18" charset="0"/>
              </a:rPr>
              <a:t>, creando una classe che dichiara come attributo un intero chiamato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numeroRuote</a:t>
            </a:r>
            <a:r>
              <a:rPr lang="it-IT" sz="1800" dirty="0">
                <a:effectLst/>
                <a:latin typeface="Times New Roman" panose="02020603050405020304" pitchFamily="18" charset="0"/>
                <a:ea typeface="Times New Roman" panose="02020603050405020304" pitchFamily="18" charset="0"/>
              </a:rPr>
              <a:t> inizializzato 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4</a:t>
            </a:r>
            <a:r>
              <a:rPr lang="it-IT" sz="1800" dirty="0">
                <a:effectLst/>
                <a:latin typeface="Times New Roman" panose="02020603050405020304" pitchFamily="18" charset="0"/>
                <a:ea typeface="Times New Roman" panose="02020603050405020304" pitchFamily="18" charset="0"/>
              </a:rPr>
              <a:t> (supponendo che tutte le auto abbiano quattro ruote). Inoltre, anche se vorremmo inserire un motore come attributo dell’auto, usiamo una semplificazione definendo un'altra variabile intera: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cilindrata</a:t>
            </a:r>
            <a:r>
              <a:rPr lang="it-IT" sz="1800" dirty="0">
                <a:effectLst/>
                <a:latin typeface="Times New Roman" panose="02020603050405020304" pitchFamily="18" charset="0"/>
                <a:ea typeface="Times New Roman" panose="02020603050405020304" pitchFamily="18" charset="0"/>
              </a:rPr>
              <a:t>, a cui però non assegniamo nessun valore (ogni macchina ha una sua specifica cilindrata). Infine, ci limitiamo a dichiarare anche un unico metodo che chiamiamo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accelera</a:t>
            </a:r>
            <a:r>
              <a:rPr lang="it-IT" sz="1800" dirty="0">
                <a:effectLst/>
                <a:latin typeface="Times New Roman" panose="02020603050405020304" pitchFamily="18" charset="0"/>
                <a:ea typeface="Times New Roman" panose="02020603050405020304" pitchFamily="18" charset="0"/>
              </a:rPr>
              <a:t>, che non ha nessun parametro in input e non restituisce alcun valore (sui metodi torneremo nel prossimo paragrafo):</a:t>
            </a:r>
          </a:p>
          <a:p>
            <a:r>
              <a:rPr lang="it-IT" sz="1800" dirty="0">
                <a:solidFill>
                  <a:srgbClr val="000000"/>
                </a:solidFill>
                <a:effectLst/>
                <a:latin typeface="Courier New" panose="02070309020205020404" pitchFamily="49" charset="0"/>
                <a:ea typeface="Times New Roman" panose="02020603050405020304" pitchFamily="18" charset="0"/>
              </a:rPr>
              <a:t>public class Auto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int </a:t>
            </a:r>
            <a:r>
              <a:rPr lang="it-IT" sz="1800" dirty="0" err="1">
                <a:solidFill>
                  <a:srgbClr val="000000"/>
                </a:solidFill>
                <a:effectLst/>
                <a:latin typeface="Courier New" panose="02070309020205020404" pitchFamily="49" charset="0"/>
                <a:ea typeface="Times New Roman" panose="02020603050405020304" pitchFamily="18" charset="0"/>
              </a:rPr>
              <a:t>numeroRuote</a:t>
            </a:r>
            <a:r>
              <a:rPr lang="it-IT" sz="1800" dirty="0">
                <a:solidFill>
                  <a:srgbClr val="000000"/>
                </a:solidFill>
                <a:effectLst/>
                <a:latin typeface="Courier New" panose="02070309020205020404" pitchFamily="49" charset="0"/>
                <a:ea typeface="Times New Roman" panose="02020603050405020304" pitchFamily="18" charset="0"/>
              </a:rPr>
              <a:t> = 4;</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int cilindrata;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void accelera()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System.out.println("Sto accelerando con cilindrata:");</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System.out.println(cilindrata);</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b="0" dirty="0">
                <a:effectLst/>
                <a:latin typeface="Times New Roman" panose="02020603050405020304" pitchFamily="18" charset="0"/>
                <a:ea typeface="Times New Roman" panose="02020603050405020304" pitchFamily="18" charset="0"/>
              </a:rPr>
              <a:t>Con questa classe, stiamo definendo che nel nostro programma, </a:t>
            </a:r>
            <a:r>
              <a:rPr lang="it-IT" sz="1800" dirty="0">
                <a:effectLst/>
                <a:latin typeface="Times New Roman" panose="02020603050405020304" pitchFamily="18" charset="0"/>
                <a:ea typeface="Times New Roman" panose="02020603050405020304" pitchFamily="18" charset="0"/>
              </a:rPr>
              <a:t>ogni auto avrò 4 ruote, può accelerare, ed ha una cilindrata (il cui valore non è definibile a priori). Una Ferrari California e una Fiat 600 hanno entrambe 4 ruote, una cilindrata e possono accelerare, anche se in modo diverso. La Ferrari e la Fiat sono da considerarsi oggetti della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Auto</a:t>
            </a:r>
            <a:r>
              <a:rPr lang="it-IT" sz="1800" dirty="0">
                <a:effectLst/>
                <a:latin typeface="Times New Roman" panose="02020603050405020304" pitchFamily="18" charset="0"/>
                <a:ea typeface="Times New Roman" panose="02020603050405020304" pitchFamily="18" charset="0"/>
              </a:rPr>
              <a:t>, e nella realtà esisterebbero come oggetti concreti. </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Nella seguente classe vengono quindi creati due oggetti della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Auto</a:t>
            </a:r>
            <a:r>
              <a:rPr lang="it-IT" sz="1800" dirty="0">
                <a:effectLst/>
                <a:latin typeface="Times New Roman" panose="02020603050405020304" pitchFamily="18" charset="0"/>
                <a:ea typeface="Times New Roman" panose="02020603050405020304" pitchFamily="18" charset="0"/>
              </a:rPr>
              <a:t>, viene impostata loro la cilindrata opportunamente, e per entrambi gli oggetti verrà invocato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accelera</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public class </a:t>
            </a:r>
            <a:r>
              <a:rPr lang="it-IT" sz="1800" dirty="0" err="1">
                <a:solidFill>
                  <a:srgbClr val="000000"/>
                </a:solidFill>
                <a:effectLst/>
                <a:latin typeface="Courier New" panose="02070309020205020404" pitchFamily="49" charset="0"/>
                <a:ea typeface="Times New Roman" panose="02020603050405020304" pitchFamily="18" charset="0"/>
              </a:rPr>
              <a:t>TestOggettiAuto</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public static void main(String args[])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Auto fiat600 = new Auto();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fiat600.cilindrata = 1100;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fiat600.accelera();</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Auto </a:t>
            </a:r>
            <a:r>
              <a:rPr lang="it-IT" sz="1800" dirty="0" err="1">
                <a:solidFill>
                  <a:srgbClr val="000000"/>
                </a:solidFill>
                <a:effectLst/>
                <a:latin typeface="Courier New" panose="02070309020205020404" pitchFamily="49" charset="0"/>
                <a:ea typeface="Times New Roman" panose="02020603050405020304" pitchFamily="18" charset="0"/>
              </a:rPr>
              <a:t>california</a:t>
            </a:r>
            <a:r>
              <a:rPr lang="it-IT" sz="1800" dirty="0">
                <a:solidFill>
                  <a:srgbClr val="000000"/>
                </a:solidFill>
                <a:effectLst/>
                <a:latin typeface="Courier New" panose="02070309020205020404" pitchFamily="49" charset="0"/>
                <a:ea typeface="Times New Roman" panose="02020603050405020304" pitchFamily="18" charset="0"/>
              </a:rPr>
              <a:t> = new Auto();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california.cilindrata</a:t>
            </a:r>
            <a:r>
              <a:rPr lang="it-IT" sz="1800" dirty="0">
                <a:solidFill>
                  <a:srgbClr val="000000"/>
                </a:solidFill>
                <a:effectLst/>
                <a:latin typeface="Courier New" panose="02070309020205020404" pitchFamily="49" charset="0"/>
                <a:ea typeface="Times New Roman" panose="02020603050405020304" pitchFamily="18" charset="0"/>
              </a:rPr>
              <a:t> = 4300;</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r>
              <a:rPr lang="it-IT" sz="1800" dirty="0" err="1">
                <a:solidFill>
                  <a:srgbClr val="000000"/>
                </a:solidFill>
                <a:effectLst/>
                <a:latin typeface="Courier New" panose="02070309020205020404" pitchFamily="49" charset="0"/>
                <a:ea typeface="Times New Roman" panose="02020603050405020304" pitchFamily="18" charset="0"/>
              </a:rPr>
              <a:t>california.accelera</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Compilando queste due classi e lanciando quest’ultima, otterremmo il seguente output:</a:t>
            </a:r>
          </a:p>
          <a:p>
            <a:r>
              <a:rPr lang="it-IT" sz="1800" dirty="0">
                <a:solidFill>
                  <a:srgbClr val="FFFFFF"/>
                </a:solidFill>
                <a:effectLst/>
                <a:latin typeface="Courier New" panose="02070309020205020404" pitchFamily="49" charset="0"/>
                <a:ea typeface="MS Mincho" panose="02020609040205080304" pitchFamily="49" charset="-128"/>
              </a:rPr>
              <a:t>Sto accelerando con cilindrata:</a:t>
            </a:r>
          </a:p>
          <a:p>
            <a:r>
              <a:rPr lang="it-IT" sz="1800" dirty="0">
                <a:solidFill>
                  <a:srgbClr val="FFFFFF"/>
                </a:solidFill>
                <a:effectLst/>
                <a:latin typeface="Courier New" panose="02070309020205020404" pitchFamily="49" charset="0"/>
                <a:ea typeface="MS Mincho" panose="02020609040205080304" pitchFamily="49" charset="-128"/>
              </a:rPr>
              <a:t>1100</a:t>
            </a:r>
          </a:p>
          <a:p>
            <a:r>
              <a:rPr lang="it-IT" sz="1800" dirty="0">
                <a:solidFill>
                  <a:srgbClr val="FFFFFF"/>
                </a:solidFill>
                <a:effectLst/>
                <a:latin typeface="Courier New" panose="02070309020205020404" pitchFamily="49" charset="0"/>
                <a:ea typeface="MS Mincho" panose="02020609040205080304" pitchFamily="49" charset="-128"/>
              </a:rPr>
              <a:t>Sto accelerando con cilindrata:</a:t>
            </a:r>
          </a:p>
          <a:p>
            <a:r>
              <a:rPr lang="it-IT" sz="1800" dirty="0">
                <a:solidFill>
                  <a:srgbClr val="FFFFFF"/>
                </a:solidFill>
                <a:effectLst/>
                <a:latin typeface="Courier New" panose="02070309020205020404" pitchFamily="49" charset="0"/>
                <a:ea typeface="MS Mincho" panose="02020609040205080304" pitchFamily="49" charset="-128"/>
              </a:rPr>
              <a:t>4300</a:t>
            </a:r>
          </a:p>
          <a:p>
            <a:r>
              <a:rPr lang="it-IT" sz="1800" dirty="0">
                <a:effectLst/>
                <a:latin typeface="Times New Roman" panose="02020603050405020304" pitchFamily="18" charset="0"/>
                <a:ea typeface="Times New Roman" panose="02020603050405020304" pitchFamily="18" charset="0"/>
              </a:rPr>
              <a:t>Tale output deriva dalla chiamata ai metodi accelera sui due oggetti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fiat600</a:t>
            </a:r>
            <a:r>
              <a:rPr lang="it-IT" sz="1800" dirty="0">
                <a:effectLst/>
                <a:latin typeface="Times New Roman" panose="02020603050405020304" pitchFamily="18" charset="0"/>
                <a:ea typeface="Times New Roman" panose="02020603050405020304" pitchFamily="18" charset="0"/>
              </a:rPr>
              <a:t> 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california</a:t>
            </a:r>
            <a:r>
              <a:rPr lang="it-IT" sz="1800" dirty="0">
                <a:effectLst/>
                <a:latin typeface="Times New Roman" panose="02020603050405020304" pitchFamily="18" charset="0"/>
                <a:ea typeface="Times New Roman" panose="02020603050405020304" pitchFamily="18" charset="0"/>
              </a:rPr>
              <a:t>, ottenuta mediante la sintassi:</a:t>
            </a:r>
          </a:p>
          <a:p>
            <a:r>
              <a:rPr lang="it-IT" sz="1800" dirty="0" err="1">
                <a:solidFill>
                  <a:srgbClr val="000000"/>
                </a:solidFill>
                <a:effectLst/>
                <a:latin typeface="Courier New" panose="02070309020205020404" pitchFamily="49" charset="0"/>
                <a:ea typeface="Times New Roman" panose="02020603050405020304" pitchFamily="18" charset="0"/>
              </a:rPr>
              <a:t>nomeOggetto.nomemetodo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che fa uso dell’operatore dot, che come abbiamo detto, è l’operatore che indica appartenenza. In pratica, ogni oggetto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Auto</a:t>
            </a:r>
            <a:r>
              <a:rPr lang="it-IT" sz="1800" dirty="0">
                <a:effectLst/>
                <a:latin typeface="Times New Roman" panose="02020603050405020304" pitchFamily="18" charset="0"/>
                <a:ea typeface="Times New Roman" panose="02020603050405020304" pitchFamily="18" charset="0"/>
              </a:rPr>
              <a:t>, ha come caratteristica la sua cilindrata, e come funzionalità il suo metodo </a:t>
            </a:r>
            <a:r>
              <a:rPr lang="it-IT" sz="1800" dirty="0">
                <a:effectLst/>
                <a:latin typeface="Courier New" panose="02070309020205020404" pitchFamily="49" charset="0"/>
                <a:ea typeface="Times New Roman" panose="02020603050405020304" pitchFamily="18" charset="0"/>
              </a:rPr>
              <a:t>accelera</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Quando viene chiamato un metodo, l’esecuzione del programma si sposta all’interno del metodo chiamato ed esegue le istruzioni ivi contenute. Questo è il caso standard, i metodi e le variabili che dichiariamo in una classe, appartengono agli oggetti e non alla classe. Infatti vengono detti rispettivamente metodi d’istanza e variabili d’istanza. Mentre l’appartenenza delle variabili agli oggetti dovrebbe essere abbastanza evidente, per i metodi può risultare meno chiaro. Tuttavia, in questo esempio abbiamo visto come invocando lo stesso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accelera</a:t>
            </a:r>
            <a:r>
              <a:rPr lang="it-IT" sz="1800" dirty="0">
                <a:effectLst/>
                <a:latin typeface="Times New Roman" panose="02020603050405020304" pitchFamily="18" charset="0"/>
                <a:ea typeface="Times New Roman" panose="02020603050405020304" pitchFamily="18" charset="0"/>
              </a:rPr>
              <a:t> su oggetti diversi, otterremo diversi output.</a:t>
            </a:r>
          </a:p>
        </p:txBody>
      </p:sp>
    </p:spTree>
    <p:extLst>
      <p:ext uri="{BB962C8B-B14F-4D97-AF65-F5344CB8AC3E}">
        <p14:creationId xmlns:p14="http://schemas.microsoft.com/office/powerpoint/2010/main" val="41332940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1600200" lvl="3" indent="-228600">
              <a:spcBef>
                <a:spcPts val="1200"/>
              </a:spcBef>
              <a:spcAft>
                <a:spcPts val="300"/>
              </a:spcAft>
              <a:buFont typeface="Arial" panose="020B0604020202020204" pitchFamily="34" charset="0"/>
              <a:buChar char=""/>
            </a:pPr>
            <a:r>
              <a:rPr lang="it-IT" sz="1400" b="1" dirty="0">
                <a:effectLst/>
                <a:latin typeface="Times New Roman" panose="02020603050405020304" pitchFamily="18" charset="0"/>
              </a:rPr>
              <a:t>Astrazione di un metodo</a:t>
            </a:r>
          </a:p>
          <a:p>
            <a:r>
              <a:rPr lang="it-IT" sz="1200" dirty="0">
                <a:effectLst/>
                <a:latin typeface="Times New Roman" panose="02020603050405020304" pitchFamily="18" charset="0"/>
                <a:ea typeface="Times New Roman" panose="02020603050405020304" pitchFamily="18" charset="0"/>
              </a:rPr>
              <a:t>È sempre fondamentale, distinguere nettamente due fasi per quanto riguarda i metodi: dichiarazione e chiamata (ovvero la definizione e l’utilizzo). Per definirle un metodo, occorre utilizzare l’astrazione.</a:t>
            </a:r>
          </a:p>
          <a:p>
            <a:r>
              <a:rPr lang="it-IT" sz="1200" dirty="0">
                <a:effectLst/>
                <a:latin typeface="Times New Roman" panose="02020603050405020304" pitchFamily="18" charset="0"/>
                <a:ea typeface="Times New Roman" panose="02020603050405020304" pitchFamily="18" charset="0"/>
              </a:rPr>
              <a:t>Consideriamo la seguente classe che astrae in maniera semplice un</a:t>
            </a:r>
            <a:r>
              <a:rPr lang="it-IT" sz="1350" dirty="0">
                <a:effectLst/>
                <a:latin typeface="Times New Roman" panose="02020603050405020304" pitchFamily="18" charset="0"/>
                <a:ea typeface="Times New Roman" panose="02020603050405020304" pitchFamily="18" charset="0"/>
              </a:rPr>
              <a:t>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Termometro</a:t>
            </a:r>
            <a:r>
              <a:rPr lang="it-IT" sz="1200" dirty="0">
                <a:effectLst/>
                <a:latin typeface="Times New Roman" panose="02020603050405020304" pitchFamily="18" charset="0"/>
                <a:ea typeface="Times New Roman" panose="02020603050405020304" pitchFamily="18" charset="0"/>
              </a:rPr>
              <a:t>: </a:t>
            </a:r>
          </a:p>
          <a:p>
            <a:r>
              <a:rPr lang="en-GB" sz="1000" dirty="0">
                <a:solidFill>
                  <a:srgbClr val="000000"/>
                </a:solidFill>
                <a:effectLst/>
                <a:latin typeface="Courier New" panose="02070309020205020404" pitchFamily="49" charset="0"/>
                <a:ea typeface="Times New Roman" panose="02020603050405020304" pitchFamily="18" charset="0"/>
              </a:rPr>
              <a:t>public class </a:t>
            </a:r>
            <a:r>
              <a:rPr lang="en-GB" sz="1000" dirty="0" err="1">
                <a:solidFill>
                  <a:srgbClr val="000000"/>
                </a:solidFill>
                <a:effectLst/>
                <a:latin typeface="Courier New" panose="02070309020205020404" pitchFamily="49" charset="0"/>
                <a:ea typeface="Times New Roman" panose="02020603050405020304" pitchFamily="18" charset="0"/>
              </a:rPr>
              <a:t>Termometro</a:t>
            </a:r>
            <a:r>
              <a:rPr lang="en-GB"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public double </a:t>
            </a:r>
            <a:r>
              <a:rPr lang="en-GB" sz="1000" dirty="0" err="1">
                <a:solidFill>
                  <a:srgbClr val="000000"/>
                </a:solidFill>
                <a:effectLst/>
                <a:latin typeface="Courier New" panose="02070309020205020404" pitchFamily="49" charset="0"/>
                <a:ea typeface="Times New Roman" panose="02020603050405020304" pitchFamily="18" charset="0"/>
              </a:rPr>
              <a:t>temperatura</a:t>
            </a:r>
            <a:r>
              <a:rPr lang="en-GB"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public void </a:t>
            </a:r>
            <a:r>
              <a:rPr lang="en-GB" sz="1000" dirty="0" err="1">
                <a:solidFill>
                  <a:srgbClr val="000000"/>
                </a:solidFill>
                <a:effectLst/>
                <a:latin typeface="Courier New" panose="02070309020205020404" pitchFamily="49" charset="0"/>
                <a:ea typeface="Times New Roman" panose="02020603050405020304" pitchFamily="18" charset="0"/>
              </a:rPr>
              <a:t>incrementaTemperatura</a:t>
            </a:r>
            <a:r>
              <a:rPr lang="en-GB" sz="1000" dirty="0">
                <a:solidFill>
                  <a:srgbClr val="000000"/>
                </a:solidFill>
                <a:effectLst/>
                <a:latin typeface="Courier New" panose="02070309020205020404" pitchFamily="49" charset="0"/>
                <a:ea typeface="Times New Roman" panose="02020603050405020304" pitchFamily="18" charset="0"/>
              </a:rPr>
              <a:t>(double i) {</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a:t>
            </a:r>
            <a:r>
              <a:rPr lang="it-IT" sz="1000" dirty="0">
                <a:solidFill>
                  <a:srgbClr val="000000"/>
                </a:solidFill>
                <a:effectLst/>
                <a:latin typeface="Courier New" panose="02070309020205020404" pitchFamily="49" charset="0"/>
                <a:ea typeface="Times New Roman" panose="02020603050405020304" pitchFamily="18" charset="0"/>
              </a:rPr>
              <a:t>temperatura = temperatura + i;</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 </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Essa dichiara una variabile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temperatura</a:t>
            </a:r>
            <a:r>
              <a:rPr lang="it-IT" sz="1200" dirty="0">
                <a:effectLst/>
                <a:latin typeface="Times New Roman" panose="02020603050405020304" pitchFamily="18" charset="0"/>
                <a:ea typeface="Times New Roman" panose="02020603050405020304" pitchFamily="18" charset="0"/>
              </a:rPr>
              <a:t> di tipo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200" dirty="0">
                <a:effectLst/>
                <a:latin typeface="Times New Roman" panose="02020603050405020304" pitchFamily="18" charset="0"/>
                <a:ea typeface="Times New Roman" panose="02020603050405020304" pitchFamily="18" charset="0"/>
              </a:rPr>
              <a:t>, e un metodo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cambiaTemperatura</a:t>
            </a:r>
            <a:r>
              <a:rPr lang="it-IT" sz="1200" dirty="0">
                <a:effectLst/>
                <a:latin typeface="Times New Roman" panose="02020603050405020304" pitchFamily="18" charset="0"/>
                <a:ea typeface="Times New Roman" panose="02020603050405020304" pitchFamily="18" charset="0"/>
              </a:rPr>
              <a:t> che modifica la temperatura in base ad un banale metodo che esegue una somma di due numeri decimali, ed assegna il risultato alla variabile temperatura. </a:t>
            </a:r>
          </a:p>
          <a:p>
            <a:r>
              <a:rPr lang="it-IT" sz="1200" dirty="0">
                <a:effectLst/>
                <a:latin typeface="Times New Roman" panose="02020603050405020304" pitchFamily="18" charset="0"/>
                <a:ea typeface="Times New Roman" panose="02020603050405020304" pitchFamily="18" charset="0"/>
              </a:rPr>
              <a:t>Concentriamoci su questo metodo ed analizziamo le varie parti che costituiscono la sua dichiarazione. </a:t>
            </a:r>
          </a:p>
          <a:p>
            <a:r>
              <a:rPr lang="it-IT" sz="1200" dirty="0">
                <a:effectLst/>
                <a:latin typeface="Times New Roman" panose="02020603050405020304" pitchFamily="18" charset="0"/>
                <a:ea typeface="Times New Roman" panose="02020603050405020304" pitchFamily="18" charset="0"/>
              </a:rPr>
              <a:t>Iniziamo notando che il metodo presenta come modificatore la parola chiave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200" dirty="0">
                <a:effectLst/>
                <a:latin typeface="Times New Roman" panose="02020603050405020304" pitchFamily="18" charset="0"/>
                <a:ea typeface="Times New Roman" panose="02020603050405020304" pitchFamily="18" charset="0"/>
              </a:rPr>
              <a:t> che abbiamo incontrato più volte, anche nelle dichiarazioni di classe e variabile. Un metodo dichiarato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200" dirty="0">
                <a:effectLst/>
                <a:latin typeface="Times New Roman" panose="02020603050405020304" pitchFamily="18" charset="0"/>
                <a:ea typeface="Times New Roman" panose="02020603050405020304" pitchFamily="18" charset="0"/>
              </a:rPr>
              <a:t> sarà accessibile da altre classi. È un modificatore che influisce sulla visibilità di un metodo all’esterno della classe, e viene detto </a:t>
            </a:r>
            <a:r>
              <a:rPr lang="it-IT" sz="1200" b="1" dirty="0">
                <a:effectLst/>
                <a:latin typeface="Times New Roman" panose="02020603050405020304" pitchFamily="18" charset="0"/>
                <a:ea typeface="Times New Roman" panose="02020603050405020304" pitchFamily="18" charset="0"/>
              </a:rPr>
              <a:t>specificatore d’acceso</a:t>
            </a:r>
            <a:r>
              <a:rPr lang="it-IT" sz="1200" dirty="0">
                <a:effectLst/>
                <a:latin typeface="Times New Roman" panose="02020603050405020304" pitchFamily="18" charset="0"/>
                <a:ea typeface="Times New Roman" panose="02020603050405020304" pitchFamily="18" charset="0"/>
              </a:rPr>
              <a:t>. Infatti, esistono anche altri specificatori d’accesso come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private</a:t>
            </a:r>
            <a:r>
              <a:rPr lang="it-IT" sz="1200" dirty="0">
                <a:effectLst/>
                <a:latin typeface="Times New Roman" panose="02020603050405020304" pitchFamily="18" charset="0"/>
                <a:ea typeface="Times New Roman" panose="02020603050405020304" pitchFamily="18" charset="0"/>
              </a:rPr>
              <a:t>, ma il discorso sarà approfondito solo nel capitolo 5. Per ora, usare il modificatore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200" dirty="0">
                <a:effectLst/>
                <a:latin typeface="Times New Roman" panose="02020603050405020304" pitchFamily="18" charset="0"/>
                <a:ea typeface="Times New Roman" panose="02020603050405020304" pitchFamily="18" charset="0"/>
              </a:rPr>
              <a:t> o non usarlo, non influirà sulla funzionalità del nostro codice. Tuttavia, lo useremo per abituarci al caso standard.</a:t>
            </a:r>
          </a:p>
          <a:p>
            <a:r>
              <a:rPr lang="it-IT" sz="1200" dirty="0">
                <a:effectLst/>
                <a:latin typeface="Times New Roman" panose="02020603050405020304" pitchFamily="18" charset="0"/>
                <a:ea typeface="Times New Roman" panose="02020603050405020304" pitchFamily="18" charset="0"/>
              </a:rPr>
              <a:t>Passiamo quindi all’analisi dell’identificatore del metodo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incrementaTemperatura</a:t>
            </a:r>
            <a:r>
              <a:rPr lang="it-IT" sz="1200" dirty="0">
                <a:effectLst/>
                <a:latin typeface="Times New Roman" panose="02020603050405020304" pitchFamily="18" charset="0"/>
                <a:ea typeface="Times New Roman" panose="02020603050405020304" pitchFamily="18" charset="0"/>
              </a:rPr>
              <a:t>. Notiamo che il nome del metodo non descrive correttamente la funzionalità che vuole definire. Infatti, se volessimo diminuire la temperatura passando a questo metodo un numero negativo, l’identificatore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incrementaTemperatura</a:t>
            </a:r>
            <a:r>
              <a:rPr lang="it-IT" sz="1200" dirty="0">
                <a:effectLst/>
                <a:latin typeface="Times New Roman" panose="02020603050405020304" pitchFamily="18" charset="0"/>
                <a:ea typeface="Times New Roman" panose="02020603050405020304" pitchFamily="18" charset="0"/>
              </a:rPr>
              <a:t> risulterebbe fuorviante. Quando questo metodo verrà chiamato quindi, bisognerà passargli in input un valore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200" dirty="0">
                <a:effectLst/>
                <a:latin typeface="Times New Roman" panose="02020603050405020304" pitchFamily="18" charset="0"/>
                <a:ea typeface="Times New Roman" panose="02020603050405020304" pitchFamily="18" charset="0"/>
              </a:rPr>
              <a:t>, come per esempio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1.2</a:t>
            </a:r>
            <a:r>
              <a:rPr lang="it-IT" sz="1200" dirty="0">
                <a:effectLst/>
                <a:latin typeface="Times New Roman" panose="02020603050405020304" pitchFamily="18" charset="0"/>
                <a:ea typeface="Times New Roman" panose="02020603050405020304" pitchFamily="18" charset="0"/>
              </a:rPr>
              <a:t>, oppure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-2.9</a:t>
            </a:r>
            <a:r>
              <a:rPr lang="it-IT" sz="1200" dirty="0">
                <a:effectLst/>
                <a:latin typeface="Times New Roman" panose="02020603050405020304" pitchFamily="18" charset="0"/>
                <a:ea typeface="Times New Roman" panose="02020603050405020304" pitchFamily="18" charset="0"/>
              </a:rPr>
              <a:t>. L’identificatore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cambiaTemperatura</a:t>
            </a:r>
            <a:r>
              <a:rPr lang="it-IT" sz="1200" dirty="0">
                <a:effectLst/>
                <a:latin typeface="Times New Roman" panose="02020603050405020304" pitchFamily="18" charset="0"/>
                <a:ea typeface="Times New Roman" panose="02020603050405020304" pitchFamily="18" charset="0"/>
              </a:rPr>
              <a:t>, sarebbe indubbiamente più appropriato. </a:t>
            </a:r>
          </a:p>
          <a:p>
            <a:r>
              <a:rPr lang="it-IT" sz="1200" dirty="0">
                <a:effectLst/>
                <a:latin typeface="Times New Roman" panose="02020603050405020304" pitchFamily="18" charset="0"/>
                <a:ea typeface="Times New Roman" panose="02020603050405020304" pitchFamily="18" charset="0"/>
              </a:rPr>
              <a:t>Per quanto riguarda il tipo di ritorno, anche questa volta è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void</a:t>
            </a:r>
            <a:r>
              <a:rPr lang="it-IT" sz="1200" dirty="0">
                <a:effectLst/>
                <a:latin typeface="Times New Roman" panose="02020603050405020304" pitchFamily="18" charset="0"/>
                <a:ea typeface="Times New Roman" panose="02020603050405020304" pitchFamily="18" charset="0"/>
              </a:rPr>
              <a:t>, quindi questo metodo non ritorna valori.</a:t>
            </a:r>
          </a:p>
          <a:p>
            <a:r>
              <a:rPr lang="it-IT" sz="1200" dirty="0">
                <a:effectLst/>
                <a:latin typeface="Times New Roman" panose="02020603050405020304" pitchFamily="18" charset="0"/>
                <a:ea typeface="Times New Roman" panose="02020603050405020304" pitchFamily="18" charset="0"/>
              </a:rPr>
              <a:t>Come nome del parametro del metodo abbiamo scelto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i</a:t>
            </a:r>
            <a:r>
              <a:rPr lang="it-IT" sz="1200" dirty="0">
                <a:effectLst/>
                <a:latin typeface="Times New Roman" panose="02020603050405020304" pitchFamily="18" charset="0"/>
                <a:ea typeface="Times New Roman" panose="02020603050405020304" pitchFamily="18" charset="0"/>
              </a:rPr>
              <a:t>, che nella nostra idea originaria, doveva abbreviare l’identificatore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incremento</a:t>
            </a:r>
            <a:r>
              <a:rPr lang="it-IT" sz="1200" dirty="0">
                <a:effectLst/>
                <a:latin typeface="Times New Roman" panose="02020603050405020304" pitchFamily="18" charset="0"/>
                <a:ea typeface="Times New Roman" panose="02020603050405020304" pitchFamily="18" charset="0"/>
              </a:rPr>
              <a:t>. Sebbene, gli identificatori coincisi, ci permettano di risparmiare qualche digitazione, essi non rappresentano sempre una buona astrazione del concetto che rappresentano. Riusciamo a comprendere l’utilità di questo parametro, solo perché stiamo definendo un metodo molto semplice. Tuttavia, non sarà sempre così. Scegliere identificatori “parlanti”, è fondamentali per la leggibilità del nostro codice, e quindi per semplificare la nostra interazione con il codice stesso. Sarebbe preferibile quindi, utilizzare un identificatore come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differenza</a:t>
            </a:r>
            <a:r>
              <a:rPr lang="it-IT" sz="1200" dirty="0">
                <a:effectLst/>
                <a:latin typeface="Times New Roman" panose="02020603050405020304" pitchFamily="18" charset="0"/>
                <a:ea typeface="Times New Roman" panose="02020603050405020304" pitchFamily="18" charset="0"/>
              </a:rPr>
              <a:t>.</a:t>
            </a:r>
          </a:p>
          <a:p>
            <a:r>
              <a:rPr lang="it-IT" sz="1200" dirty="0">
                <a:effectLst/>
                <a:latin typeface="Times New Roman" panose="02020603050405020304" pitchFamily="18" charset="0"/>
                <a:ea typeface="Times New Roman" panose="02020603050405020304" pitchFamily="18" charset="0"/>
              </a:rPr>
              <a:t>Anche in questo caso, sottolineiamo che il blocco di codice del metodo, anche se tecnicamente corretto, potrebbe essere astratto in maniera diversa. Condensando tutta la logica in un unico statement, abbiamo indubbiamente sacrificato la leggibilità del codice alla sinteticità. Per un esempio così semplice questo è accettabile, ma dopo le nostre considerazioni creiamo una nuova “versione leggibile” della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Termometro</a:t>
            </a:r>
            <a:r>
              <a:rPr lang="it-IT" sz="1200" dirty="0">
                <a:effectLst/>
                <a:latin typeface="Times New Roman" panose="02020603050405020304" pitchFamily="18" charset="0"/>
                <a:ea typeface="Times New Roman" panose="02020603050405020304" pitchFamily="18" charset="0"/>
              </a:rPr>
              <a:t> usando l’astrazione:</a:t>
            </a:r>
          </a:p>
          <a:p>
            <a:r>
              <a:rPr lang="en-GB" sz="1000" dirty="0">
                <a:solidFill>
                  <a:srgbClr val="000000"/>
                </a:solidFill>
                <a:effectLst/>
                <a:latin typeface="Courier New" panose="02070309020205020404" pitchFamily="49" charset="0"/>
                <a:ea typeface="Times New Roman" panose="02020603050405020304" pitchFamily="18" charset="0"/>
              </a:rPr>
              <a:t>public class </a:t>
            </a:r>
            <a:r>
              <a:rPr lang="en-GB" sz="1000" dirty="0" err="1">
                <a:solidFill>
                  <a:srgbClr val="000000"/>
                </a:solidFill>
                <a:effectLst/>
                <a:latin typeface="Courier New" panose="02070309020205020404" pitchFamily="49" charset="0"/>
                <a:ea typeface="Times New Roman" panose="02020603050405020304" pitchFamily="18" charset="0"/>
              </a:rPr>
              <a:t>Termometro</a:t>
            </a:r>
            <a:r>
              <a:rPr lang="en-GB"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public double </a:t>
            </a:r>
            <a:r>
              <a:rPr lang="en-GB" sz="1000" dirty="0" err="1">
                <a:solidFill>
                  <a:srgbClr val="000000"/>
                </a:solidFill>
                <a:effectLst/>
                <a:latin typeface="Courier New" panose="02070309020205020404" pitchFamily="49" charset="0"/>
                <a:ea typeface="Times New Roman" panose="02020603050405020304" pitchFamily="18" charset="0"/>
              </a:rPr>
              <a:t>temperatura</a:t>
            </a:r>
            <a:r>
              <a:rPr lang="en-GB"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en-GB" sz="1000" dirty="0">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a:t>
            </a:r>
            <a:r>
              <a:rPr lang="it-IT" sz="1000" dirty="0">
                <a:solidFill>
                  <a:srgbClr val="000000"/>
                </a:solidFill>
                <a:effectLst/>
                <a:latin typeface="Courier New" panose="02070309020205020404" pitchFamily="49" charset="0"/>
                <a:ea typeface="Times New Roman" panose="02020603050405020304" pitchFamily="18" charset="0"/>
              </a:rPr>
              <a:t>public void </a:t>
            </a:r>
            <a:r>
              <a:rPr lang="it-IT" sz="1000" dirty="0" err="1">
                <a:solidFill>
                  <a:srgbClr val="000000"/>
                </a:solidFill>
                <a:effectLst/>
                <a:latin typeface="Courier New" panose="02070309020205020404" pitchFamily="49" charset="0"/>
                <a:ea typeface="Times New Roman" panose="02020603050405020304" pitchFamily="18" charset="0"/>
              </a:rPr>
              <a:t>cambiaTemperatura</a:t>
            </a:r>
            <a:r>
              <a:rPr lang="it-IT" sz="1000" dirty="0">
                <a:solidFill>
                  <a:srgbClr val="000000"/>
                </a:solidFill>
                <a:effectLst/>
                <a:latin typeface="Courier New" panose="02070309020205020404" pitchFamily="49" charset="0"/>
                <a:ea typeface="Times New Roman" panose="02020603050405020304" pitchFamily="18" charset="0"/>
              </a:rPr>
              <a:t>(double differenza) {</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double </a:t>
            </a:r>
            <a:r>
              <a:rPr lang="it-IT" sz="1000" dirty="0" err="1">
                <a:solidFill>
                  <a:srgbClr val="000000"/>
                </a:solidFill>
                <a:effectLst/>
                <a:latin typeface="Courier New" panose="02070309020205020404" pitchFamily="49" charset="0"/>
                <a:ea typeface="Times New Roman" panose="02020603050405020304" pitchFamily="18" charset="0"/>
              </a:rPr>
              <a:t>nuovaTemperatura</a:t>
            </a:r>
            <a:r>
              <a:rPr lang="it-IT" sz="1000" dirty="0">
                <a:solidFill>
                  <a:srgbClr val="000000"/>
                </a:solidFill>
                <a:effectLst/>
                <a:latin typeface="Courier New" panose="02070309020205020404" pitchFamily="49" charset="0"/>
                <a:ea typeface="Times New Roman" panose="02020603050405020304" pitchFamily="18" charset="0"/>
              </a:rPr>
              <a:t> = temperatura + differenza;</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temperatura = </a:t>
            </a:r>
            <a:r>
              <a:rPr lang="it-IT" sz="1000" dirty="0" err="1">
                <a:solidFill>
                  <a:srgbClr val="000000"/>
                </a:solidFill>
                <a:effectLst/>
                <a:latin typeface="Courier New" panose="02070309020205020404" pitchFamily="49" charset="0"/>
                <a:ea typeface="Times New Roman" panose="02020603050405020304" pitchFamily="18" charset="0"/>
              </a:rPr>
              <a:t>nuovaTemperatura</a:t>
            </a:r>
            <a:r>
              <a:rPr lang="it-IT"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Paragoniamo la precedente “versione leggibile” alla seguente “versione sintetica”</a:t>
            </a:r>
          </a:p>
          <a:p>
            <a:r>
              <a:rPr lang="en-GB" sz="1000" dirty="0">
                <a:solidFill>
                  <a:srgbClr val="000000"/>
                </a:solidFill>
                <a:effectLst/>
                <a:latin typeface="Courier New" panose="02070309020205020404" pitchFamily="49" charset="0"/>
                <a:ea typeface="Times New Roman" panose="02020603050405020304" pitchFamily="18" charset="0"/>
              </a:rPr>
              <a:t>public class </a:t>
            </a:r>
            <a:r>
              <a:rPr lang="en-GB" sz="1000" dirty="0" err="1">
                <a:solidFill>
                  <a:srgbClr val="000000"/>
                </a:solidFill>
                <a:effectLst/>
                <a:latin typeface="Courier New" panose="02070309020205020404" pitchFamily="49" charset="0"/>
                <a:ea typeface="Times New Roman" panose="02020603050405020304" pitchFamily="18" charset="0"/>
              </a:rPr>
              <a:t>Termometro</a:t>
            </a:r>
            <a:r>
              <a:rPr lang="en-GB"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public double temp;</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public void </a:t>
            </a:r>
            <a:r>
              <a:rPr lang="en-GB" sz="1000" dirty="0" err="1">
                <a:solidFill>
                  <a:srgbClr val="000000"/>
                </a:solidFill>
                <a:effectLst/>
                <a:latin typeface="Courier New" panose="02070309020205020404" pitchFamily="49" charset="0"/>
                <a:ea typeface="Times New Roman" panose="02020603050405020304" pitchFamily="18" charset="0"/>
              </a:rPr>
              <a:t>cambiaTemp</a:t>
            </a:r>
            <a:r>
              <a:rPr lang="en-GB" sz="1000" dirty="0">
                <a:solidFill>
                  <a:srgbClr val="000000"/>
                </a:solidFill>
                <a:effectLst/>
                <a:latin typeface="Courier New" panose="02070309020205020404" pitchFamily="49" charset="0"/>
                <a:ea typeface="Times New Roman" panose="02020603050405020304" pitchFamily="18" charset="0"/>
              </a:rPr>
              <a:t>(double diff) {</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a:t>
            </a:r>
            <a:r>
              <a:rPr lang="it-IT" sz="1000" dirty="0" err="1">
                <a:solidFill>
                  <a:srgbClr val="000000"/>
                </a:solidFill>
                <a:effectLst/>
                <a:latin typeface="Courier New" panose="02070309020205020404" pitchFamily="49" charset="0"/>
                <a:ea typeface="Times New Roman" panose="02020603050405020304" pitchFamily="18" charset="0"/>
              </a:rPr>
              <a:t>temp</a:t>
            </a:r>
            <a:r>
              <a:rPr lang="it-IT" sz="1000" dirty="0">
                <a:solidFill>
                  <a:srgbClr val="000000"/>
                </a:solidFill>
                <a:effectLst/>
                <a:latin typeface="Courier New" panose="02070309020205020404" pitchFamily="49" charset="0"/>
                <a:ea typeface="Times New Roman" panose="02020603050405020304" pitchFamily="18" charset="0"/>
              </a:rPr>
              <a:t> = </a:t>
            </a:r>
            <a:r>
              <a:rPr lang="it-IT" sz="1000" dirty="0" err="1">
                <a:solidFill>
                  <a:srgbClr val="000000"/>
                </a:solidFill>
                <a:effectLst/>
                <a:latin typeface="Courier New" panose="02070309020205020404" pitchFamily="49" charset="0"/>
                <a:ea typeface="Times New Roman" panose="02020603050405020304" pitchFamily="18" charset="0"/>
              </a:rPr>
              <a:t>temp</a:t>
            </a:r>
            <a:r>
              <a:rPr lang="it-IT" sz="1000" dirty="0">
                <a:solidFill>
                  <a:srgbClr val="000000"/>
                </a:solidFill>
                <a:effectLst/>
                <a:latin typeface="Courier New" panose="02070309020205020404" pitchFamily="49" charset="0"/>
                <a:ea typeface="Times New Roman" panose="02020603050405020304" pitchFamily="18" charset="0"/>
              </a:rPr>
              <a:t> + diff;</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Quale soluzione è migliore? Quella che favorisce la leggibilità, o quella che preferisce la sinteticità?</a:t>
            </a:r>
          </a:p>
          <a:p>
            <a:r>
              <a:rPr lang="it-IT" sz="1200" dirty="0">
                <a:effectLst/>
                <a:latin typeface="Times New Roman" panose="02020603050405020304" pitchFamily="18" charset="0"/>
                <a:ea typeface="Times New Roman" panose="02020603050405020304" pitchFamily="18" charset="0"/>
              </a:rPr>
              <a:t>Come spesso accade, la soluzione migliore dipende da tanti fattori. La leggibilità è soggettiva, la sinteticità no. La leggibilità favorisce le modifiche del nostro codice, e ci permette evolverlo più facilmente, ma la sinteticità ci permette di finire prima il nostro lavoro, e di dedicarci ad altro. Inoltre potrebbe anche rendere il codice più performante. Bisogna scegliere un giusto compromesso, e questo dipende dalla nostra capacità di astrazione, la nostra pazienza, dalla nostra forma mentis, dalla nostra esperienza di programmazione ed altri fattori. Per questo esempio, potrebbe essere un compromesso accettabile la seguente implementazione:</a:t>
            </a:r>
          </a:p>
          <a:p>
            <a:r>
              <a:rPr lang="en-GB" sz="1000" dirty="0">
                <a:solidFill>
                  <a:srgbClr val="000000"/>
                </a:solidFill>
                <a:effectLst/>
                <a:latin typeface="Courier New" panose="02070309020205020404" pitchFamily="49" charset="0"/>
                <a:ea typeface="Times New Roman" panose="02020603050405020304" pitchFamily="18" charset="0"/>
              </a:rPr>
              <a:t>public class </a:t>
            </a:r>
            <a:r>
              <a:rPr lang="en-GB" sz="1000" dirty="0" err="1">
                <a:solidFill>
                  <a:srgbClr val="000000"/>
                </a:solidFill>
                <a:effectLst/>
                <a:latin typeface="Courier New" panose="02070309020205020404" pitchFamily="49" charset="0"/>
                <a:ea typeface="Times New Roman" panose="02020603050405020304" pitchFamily="18" charset="0"/>
              </a:rPr>
              <a:t>Termometro</a:t>
            </a:r>
            <a:r>
              <a:rPr lang="en-GB"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public double </a:t>
            </a:r>
            <a:r>
              <a:rPr lang="en-GB" sz="1000" dirty="0" err="1">
                <a:solidFill>
                  <a:srgbClr val="000000"/>
                </a:solidFill>
                <a:effectLst/>
                <a:latin typeface="Courier New" panose="02070309020205020404" pitchFamily="49" charset="0"/>
                <a:ea typeface="Times New Roman" panose="02020603050405020304" pitchFamily="18" charset="0"/>
              </a:rPr>
              <a:t>temperatura</a:t>
            </a:r>
            <a:r>
              <a:rPr lang="en-GB"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en-GB" sz="1000" dirty="0">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a:t>
            </a:r>
            <a:r>
              <a:rPr lang="it-IT" sz="1000" dirty="0">
                <a:solidFill>
                  <a:srgbClr val="000000"/>
                </a:solidFill>
                <a:effectLst/>
                <a:latin typeface="Courier New" panose="02070309020205020404" pitchFamily="49" charset="0"/>
                <a:ea typeface="Times New Roman" panose="02020603050405020304" pitchFamily="18" charset="0"/>
              </a:rPr>
              <a:t>public void </a:t>
            </a:r>
            <a:r>
              <a:rPr lang="it-IT" sz="1000" dirty="0" err="1">
                <a:solidFill>
                  <a:srgbClr val="000000"/>
                </a:solidFill>
                <a:effectLst/>
                <a:latin typeface="Courier New" panose="02070309020205020404" pitchFamily="49" charset="0"/>
                <a:ea typeface="Times New Roman" panose="02020603050405020304" pitchFamily="18" charset="0"/>
              </a:rPr>
              <a:t>cambiaTemperatura</a:t>
            </a:r>
            <a:r>
              <a:rPr lang="it-IT" sz="1000" dirty="0">
                <a:solidFill>
                  <a:srgbClr val="000000"/>
                </a:solidFill>
                <a:effectLst/>
                <a:latin typeface="Courier New" panose="02070309020205020404" pitchFamily="49" charset="0"/>
                <a:ea typeface="Times New Roman" panose="02020603050405020304" pitchFamily="18" charset="0"/>
              </a:rPr>
              <a:t>(double differenza) {</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temperatura = temperatura + differenza;</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Tuttavia, essendo soggettivo potreste scegliere di implementare la classe in maniera diversa, noi considereremo quest’ultima la versione definitiva.</a:t>
            </a:r>
          </a:p>
          <a:p>
            <a:r>
              <a:rPr lang="it-IT" sz="1200" dirty="0">
                <a:effectLst/>
                <a:latin typeface="Times New Roman" panose="02020603050405020304" pitchFamily="18" charset="0"/>
                <a:ea typeface="Times New Roman" panose="02020603050405020304" pitchFamily="18" charset="0"/>
              </a:rPr>
              <a:t>In qualsiasi caso, abbiamo definito per la prima volta un metodo non statico. Tale metodo, è definito nella classe, ma non appartiene alla classe, che come abbiamo visto </a:t>
            </a:r>
            <a:r>
              <a:rPr lang="it-IT" sz="1200" u="sng" dirty="0">
                <a:effectLst/>
                <a:latin typeface="Times New Roman" panose="02020603050405020304" pitchFamily="18" charset="0"/>
                <a:ea typeface="Times New Roman" panose="02020603050405020304" pitchFamily="18" charset="0"/>
              </a:rPr>
              <a:t>non</a:t>
            </a:r>
            <a:r>
              <a:rPr lang="it-IT" sz="1200" dirty="0">
                <a:effectLst/>
                <a:latin typeface="Times New Roman" panose="02020603050405020304" pitchFamily="18" charset="0"/>
                <a:ea typeface="Times New Roman" panose="02020603050405020304" pitchFamily="18" charset="0"/>
              </a:rPr>
              <a:t> deve eseguire codice. Per poter eseguire le istruzioni contenute in un metodo, bisogna creare un oggetto della classe che lo dichiara e invocarlo come spiegato nel prossimo paragrafo.</a:t>
            </a:r>
          </a:p>
        </p:txBody>
      </p:sp>
    </p:spTree>
    <p:extLst>
      <p:ext uri="{BB962C8B-B14F-4D97-AF65-F5344CB8AC3E}">
        <p14:creationId xmlns:p14="http://schemas.microsoft.com/office/powerpoint/2010/main" val="13506823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Concentriamoci direttamente sulle istruzioni contenute nel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Dopo la prima riga contenente un commento, viene istanziato in oggetto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Termometro</a:t>
            </a:r>
            <a:r>
              <a:rPr lang="it-IT" sz="1800" dirty="0">
                <a:effectLst/>
                <a:latin typeface="Times New Roman" panose="02020603050405020304" pitchFamily="18" charset="0"/>
                <a:ea typeface="Times New Roman" panose="02020603050405020304" pitchFamily="18" charset="0"/>
              </a:rPr>
              <a:t> che abbiamo chiamato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termometroCucina</a:t>
            </a:r>
            <a:r>
              <a:rPr lang="it-IT" sz="1800" dirty="0">
                <a:effectLst/>
                <a:latin typeface="Times New Roman" panose="02020603050405020304" pitchFamily="18" charset="0"/>
                <a:ea typeface="Times New Roman" panose="02020603050405020304" pitchFamily="18" charset="0"/>
              </a:rPr>
              <a:t>, che dovrebbe appunto astrarre un termometro che si trova nella cucina. Poi viene settata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temperatura</a:t>
            </a:r>
            <a:r>
              <a:rPr lang="it-IT" sz="1800" dirty="0">
                <a:effectLst/>
                <a:latin typeface="Times New Roman" panose="02020603050405020304" pitchFamily="18" charset="0"/>
                <a:ea typeface="Times New Roman" panose="02020603050405020304" pitchFamily="18" charset="0"/>
              </a:rPr>
              <a:t> al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22.2</a:t>
            </a:r>
            <a:r>
              <a:rPr lang="it-IT" sz="1800" dirty="0">
                <a:effectLst/>
                <a:latin typeface="Times New Roman" panose="02020603050405020304" pitchFamily="18" charset="0"/>
                <a:ea typeface="Times New Roman" panose="02020603050405020304" pitchFamily="18" charset="0"/>
              </a:rPr>
              <a:t>. Subito dopo viene stampata l’attuale temperatura del termometro, usando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temperatura</a:t>
            </a:r>
            <a:r>
              <a:rPr lang="it-IT" sz="1800" dirty="0">
                <a:effectLst/>
                <a:latin typeface="Times New Roman" panose="02020603050405020304" pitchFamily="18" charset="0"/>
                <a:ea typeface="Times New Roman" panose="02020603050405020304" pitchFamily="18" charset="0"/>
              </a:rPr>
              <a:t> dell’oggetto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termometroCucina</a:t>
            </a:r>
            <a:r>
              <a:rPr lang="it-IT" sz="1800" dirty="0">
                <a:effectLst/>
                <a:latin typeface="Times New Roman" panose="02020603050405020304" pitchFamily="18" charset="0"/>
                <a:ea typeface="Times New Roman" panose="02020603050405020304" pitchFamily="18" charset="0"/>
              </a:rPr>
              <a:t>, tramite l’operatore dot. Poi viene simulata l’apertura di una finestra della cucina, e il conseguente abbassamento della temperatura, che avviene con la chiamata al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cambiaTemperatura</a:t>
            </a:r>
            <a:r>
              <a:rPr lang="it-IT" sz="1800" dirty="0">
                <a:effectLst/>
                <a:latin typeface="Times New Roman" panose="02020603050405020304" pitchFamily="18" charset="0"/>
                <a:ea typeface="Times New Roman" panose="02020603050405020304" pitchFamily="18" charset="0"/>
              </a:rPr>
              <a:t>. Possiamo notare che l’accesso al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cambiaTemperatura</a:t>
            </a:r>
            <a:r>
              <a:rPr lang="it-IT" sz="1800" dirty="0">
                <a:effectLst/>
                <a:latin typeface="Times New Roman" panose="02020603050405020304" pitchFamily="18" charset="0"/>
                <a:ea typeface="Times New Roman" panose="02020603050405020304" pitchFamily="18" charset="0"/>
              </a:rPr>
              <a:t> è avvenuto sempre tramite l’operatore </a:t>
            </a:r>
            <a:r>
              <a:rPr lang="it-IT" sz="1800" i="1" dirty="0">
                <a:effectLst/>
                <a:latin typeface="Times New Roman" panose="02020603050405020304" pitchFamily="18" charset="0"/>
                <a:ea typeface="Times New Roman" panose="02020603050405020304" pitchFamily="18" charset="0"/>
              </a:rPr>
              <a:t>dot</a:t>
            </a:r>
            <a:r>
              <a:rPr lang="it-IT" sz="1800" dirty="0">
                <a:effectLst/>
                <a:latin typeface="Times New Roman" panose="02020603050405020304" pitchFamily="18" charset="0"/>
                <a:ea typeface="Times New Roman" panose="02020603050405020304" pitchFamily="18" charset="0"/>
              </a:rPr>
              <a:t> come nel caso dell’accesso alle variabili. Quindi, tutti i membri (attributi e metodi) pubblici definiti all’interno di una classe, saranno accessibili tramite un’istanza della classe stessa che utilizza l’operatore dot. La sintassi è la seguente:</a:t>
            </a:r>
          </a:p>
          <a:p>
            <a:r>
              <a:rPr lang="it-IT" sz="1800" dirty="0" err="1">
                <a:solidFill>
                  <a:srgbClr val="000000"/>
                </a:solidFill>
                <a:effectLst/>
                <a:latin typeface="Courier New" panose="02070309020205020404" pitchFamily="49" charset="0"/>
                <a:ea typeface="Times New Roman" panose="02020603050405020304" pitchFamily="18" charset="0"/>
              </a:rPr>
              <a:t>nomeOggetto.nomeMetodo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e</a:t>
            </a:r>
          </a:p>
          <a:p>
            <a:r>
              <a:rPr lang="it-IT" sz="1800" dirty="0" err="1">
                <a:solidFill>
                  <a:srgbClr val="000000"/>
                </a:solidFill>
                <a:effectLst/>
                <a:latin typeface="Courier New" panose="02070309020205020404" pitchFamily="49" charset="0"/>
                <a:ea typeface="Times New Roman" panose="02020603050405020304" pitchFamily="18" charset="0"/>
              </a:rPr>
              <a:t>nomeOggetto.nomeAttributo</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L’accesso al metodo di un oggetto provoca l’esecuzione del relativo blocco di codice. Subito dopo viene stampata la nuova temperatura dell’oggetto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termometroCucina</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Il codice che segue il secondo commento, crea un oggetto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termometroSoggiorno</a:t>
            </a:r>
            <a:r>
              <a:rPr lang="it-IT" sz="1800" dirty="0">
                <a:effectLst/>
                <a:latin typeface="Times New Roman" panose="02020603050405020304" pitchFamily="18" charset="0"/>
                <a:ea typeface="Times New Roman" panose="02020603050405020304" pitchFamily="18" charset="0"/>
              </a:rPr>
              <a:t>, la cui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temperatura</a:t>
            </a:r>
            <a:r>
              <a:rPr lang="it-IT" sz="1800" dirty="0">
                <a:effectLst/>
                <a:latin typeface="Times New Roman" panose="02020603050405020304" pitchFamily="18" charset="0"/>
                <a:ea typeface="Times New Roman" panose="02020603050405020304" pitchFamily="18" charset="0"/>
              </a:rPr>
              <a:t> viene inizializzata al valore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18.6</a:t>
            </a:r>
            <a:r>
              <a:rPr lang="it-IT" sz="1800" dirty="0">
                <a:effectLst/>
                <a:latin typeface="Times New Roman" panose="02020603050405020304" pitchFamily="18" charset="0"/>
                <a:ea typeface="Times New Roman" panose="02020603050405020304" pitchFamily="18" charset="0"/>
              </a:rPr>
              <a:t>. Poi viene simulata l’accensione del riscaldamento in soggiorno, e il conseguente innalzamento della temperatura. Notare anche che quando stampiamo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temperatura</a:t>
            </a:r>
            <a:r>
              <a:rPr lang="it-IT" sz="1800" dirty="0">
                <a:effectLst/>
                <a:latin typeface="Times New Roman" panose="02020603050405020304" pitchFamily="18" charset="0"/>
                <a:ea typeface="Times New Roman" panose="02020603050405020304" pitchFamily="18" charset="0"/>
              </a:rPr>
              <a:t> dei due oggetti, usiamo il simbolo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non col significato di addizione, ma come concatenazione di stringhe. Infatti, l’istruzione che in input al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System.out.println</a:t>
            </a:r>
            <a:r>
              <a:rPr lang="it-IT" sz="1800" dirty="0">
                <a:effectLst/>
                <a:latin typeface="Times New Roman" panose="02020603050405020304" pitchFamily="18" charset="0"/>
                <a:ea typeface="Times New Roman" panose="02020603050405020304" pitchFamily="18" charset="0"/>
              </a:rPr>
              <a:t>:</a:t>
            </a:r>
          </a:p>
          <a:p>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termometroSoggiorno.temperatura</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 + " gradi"</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somma un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double</a:t>
            </a:r>
            <a:r>
              <a:rPr lang="it-IT" sz="1800" dirty="0">
                <a:effectLst/>
                <a:latin typeface="Times New Roman" panose="02020603050405020304" pitchFamily="18" charset="0"/>
                <a:ea typeface="Times New Roman" panose="02020603050405020304" pitchFamily="18" charset="0"/>
              </a:rPr>
              <a:t> ad un valore stringa (che ricordiamo è una sequenza di caratteri compresa tra doppi apici). Quando si somma un qualsiasi tipo ad una stringa, il risultato sarà sempre una stringa. </a:t>
            </a:r>
          </a:p>
        </p:txBody>
      </p:sp>
    </p:spTree>
    <p:extLst>
      <p:ext uri="{BB962C8B-B14F-4D97-AF65-F5344CB8AC3E}">
        <p14:creationId xmlns:p14="http://schemas.microsoft.com/office/powerpoint/2010/main" val="12606986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Consideriamo la seguente classe chiamata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Aritmetica</a:t>
            </a:r>
            <a:r>
              <a:rPr lang="it-IT" sz="1800" dirty="0">
                <a:effectLst/>
                <a:latin typeface="Times New Roman" panose="02020603050405020304" pitchFamily="18" charset="0"/>
                <a:ea typeface="Times New Roman" panose="02020603050405020304" pitchFamily="18" charset="0"/>
              </a:rPr>
              <a:t>, che dichiara un banale metodo che somma due numeri, e concentriamoci su di esso: </a:t>
            </a:r>
          </a:p>
          <a:p>
            <a:r>
              <a:rPr lang="en-GB" sz="1800" dirty="0">
                <a:solidFill>
                  <a:srgbClr val="000000"/>
                </a:solidFill>
                <a:effectLst/>
                <a:latin typeface="Courier New" panose="02070309020205020404" pitchFamily="49" charset="0"/>
                <a:ea typeface="Times New Roman" panose="02020603050405020304" pitchFamily="18" charset="0"/>
              </a:rPr>
              <a:t>public class </a:t>
            </a:r>
            <a:r>
              <a:rPr lang="en-GB" sz="1800" dirty="0" err="1">
                <a:solidFill>
                  <a:srgbClr val="000000"/>
                </a:solidFill>
                <a:effectLst/>
                <a:latin typeface="Courier New" panose="02070309020205020404" pitchFamily="49" charset="0"/>
                <a:ea typeface="Times New Roman" panose="02020603050405020304" pitchFamily="18" charset="0"/>
              </a:rPr>
              <a:t>Aritmetica</a:t>
            </a:r>
            <a:r>
              <a:rPr lang="en-GB"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int somma(int a, int b) </a:t>
            </a:r>
            <a:r>
              <a:rPr lang="en-US"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return (a + b);</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L’astrazione di questa classe è indubbiamente migliorabile. Tra gli esercizi online (dal numero 2.cc in poi) potrete modificare questa classe e fare diverse osservazioni.</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Questo metodo è il primo metodo che introduciamo che restituisce un risultato. Per quanto riguarda il tipo di ritorno infatti, per la prima volta non troviamo la parola chiave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void</a:t>
            </a:r>
            <a:r>
              <a:rPr lang="it-IT" sz="1800" dirty="0">
                <a:effectLst/>
                <a:latin typeface="Times New Roman" panose="02020603050405020304" pitchFamily="18" charset="0"/>
                <a:ea typeface="Times New Roman" panose="02020603050405020304" pitchFamily="18" charset="0"/>
              </a:rPr>
              <a:t>, ma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 che rappresenta un numero intero. Ciò significa che quando questo metodo sarà invocato, esso restituirà in output un valore di tipo intero. Infatti, nell’ultima istruzione del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sommaDueInteri</a:t>
            </a:r>
            <a:r>
              <a:rPr lang="it-IT" sz="1800" dirty="0">
                <a:effectLst/>
                <a:latin typeface="Times New Roman" panose="02020603050405020304" pitchFamily="18" charset="0"/>
                <a:ea typeface="Times New Roman" panose="02020603050405020304" pitchFamily="18" charset="0"/>
              </a:rPr>
              <a:t>, i due parametri saranno sommati tramite l’operatore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a:t>
            </a:r>
            <a:r>
              <a:rPr lang="it-IT" sz="1800" dirty="0">
                <a:effectLst/>
                <a:latin typeface="Times New Roman" panose="02020603050405020304" pitchFamily="18" charset="0"/>
                <a:ea typeface="Times New Roman" panose="02020603050405020304" pitchFamily="18" charset="0"/>
              </a:rPr>
              <a:t>, e il risultato della loro somma verrà restituita come output tramite il comando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return</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        return (a + b);</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Il risultato che viene restituito da questo metodo è la somma di due interi, che è ovviamente un intero. Ecco perché il tipo di ritorno è dichiarato come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Nell’unico statement contenuto nel blocco di codice quindi, ci sono due istruzioni: la somma dei due parametri ed il comando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return</a:t>
            </a:r>
            <a:r>
              <a:rPr lang="it-IT" sz="1800" dirty="0">
                <a:effectLst/>
                <a:latin typeface="Times New Roman" panose="02020603050405020304" pitchFamily="18" charset="0"/>
                <a:ea typeface="Times New Roman" panose="02020603050405020304" pitchFamily="18" charset="0"/>
              </a:rPr>
              <a:t>, che provoca la terminazione del metodo, ritornando il valore successivamente specificato.</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Si noti che per l’istruzione di somma è stata circondata da due parentesi tonde. Anche se in questo caso non erano necessarie per la corretta esecuzione del metodo, abbiamo preferito evidenziare che la somma sarebbe stata eseguita prima dell’istruzione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return</a:t>
            </a:r>
            <a:r>
              <a:rPr lang="it-IT" sz="1800" b="1" dirty="0">
                <a:solidFill>
                  <a:srgbClr val="000000"/>
                </a:solidFill>
                <a:effectLst/>
                <a:latin typeface="Times New Roman" panose="02020603050405020304" pitchFamily="18" charset="0"/>
                <a:ea typeface="Times New Roman" panose="02020603050405020304" pitchFamily="18" charset="0"/>
              </a:rPr>
              <a:t>. Infatti, come nella aritmetica tradizionale, le parentesi tonde assegnano una priorità maggiore all’istruzione contenuta.</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qualsiasi caso, abbiamo definito per la prima volta un metodo, a cui passiamo delle informazioni (i due valori interi), e che ci ritorna un risultato. La definizione di un metodo però, fa parte della definizione di una classe, che come abbiamo visto </a:t>
            </a:r>
            <a:r>
              <a:rPr lang="it-IT" sz="1800" u="sng" dirty="0">
                <a:effectLst/>
                <a:latin typeface="Times New Roman" panose="02020603050405020304" pitchFamily="18" charset="0"/>
                <a:ea typeface="Times New Roman" panose="02020603050405020304" pitchFamily="18" charset="0"/>
              </a:rPr>
              <a:t>non</a:t>
            </a:r>
            <a:r>
              <a:rPr lang="it-IT" sz="1800" dirty="0">
                <a:effectLst/>
                <a:latin typeface="Times New Roman" panose="02020603050405020304" pitchFamily="18" charset="0"/>
                <a:ea typeface="Times New Roman" panose="02020603050405020304" pitchFamily="18" charset="0"/>
              </a:rPr>
              <a:t> esegue codice. Per poter eseguire le istruzioni contenute in un metodo, bisogna creare un oggetto della classe che lo dichiara, e invocarlo come nel prossimo listato. Presentiamo quindi un’altra classe eseguibile (ovvero contenente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che istanzia un oggetto dalla classe</a:t>
            </a:r>
            <a:r>
              <a:rPr lang="it-IT" sz="1800" i="1" dirty="0">
                <a:effectLst/>
                <a:latin typeface="Times New Roman" panose="02020603050405020304" pitchFamily="18" charset="0"/>
                <a:ea typeface="Times New Roman" panose="02020603050405020304" pitchFamily="18" charset="0"/>
              </a:rPr>
              <a:t>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Aritmetica</a:t>
            </a:r>
            <a:r>
              <a:rPr lang="it-IT" sz="1800" dirty="0">
                <a:effectLst/>
                <a:latin typeface="Times New Roman" panose="02020603050405020304" pitchFamily="18" charset="0"/>
                <a:ea typeface="Times New Roman" panose="02020603050405020304" pitchFamily="18" charset="0"/>
              </a:rPr>
              <a:t>, chiamando su di esso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somma</a:t>
            </a:r>
            <a:r>
              <a:rPr lang="it-IT" sz="1800" dirty="0">
                <a:effectLst/>
                <a:latin typeface="Times New Roman" panose="02020603050405020304" pitchFamily="18" charset="0"/>
                <a:ea typeface="Times New Roman" panose="02020603050405020304" pitchFamily="18" charset="0"/>
              </a:rPr>
              <a:t>: </a:t>
            </a:r>
          </a:p>
          <a:p>
            <a:r>
              <a:rPr lang="en-US" sz="1800" dirty="0">
                <a:solidFill>
                  <a:srgbClr val="000000"/>
                </a:solidFill>
                <a:effectLst/>
                <a:latin typeface="Courier New" panose="02070309020205020404" pitchFamily="49" charset="0"/>
                <a:ea typeface="Times New Roman" panose="02020603050405020304" pitchFamily="18" charset="0"/>
              </a:rPr>
              <a:t>1 public class </a:t>
            </a:r>
            <a:r>
              <a:rPr lang="en-GB" sz="1800" dirty="0" err="1">
                <a:solidFill>
                  <a:srgbClr val="000000"/>
                </a:solidFill>
                <a:effectLst/>
                <a:latin typeface="Courier New" panose="02070309020205020404" pitchFamily="49" charset="0"/>
                <a:ea typeface="Times New Roman" panose="02020603050405020304" pitchFamily="18" charset="0"/>
              </a:rPr>
              <a:t>TestSomma</a:t>
            </a:r>
            <a:r>
              <a:rPr lang="en-US"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2     public static void main(String args[])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3         Aritmetica </a:t>
            </a:r>
            <a:r>
              <a:rPr lang="it-IT" sz="1800" dirty="0" err="1">
                <a:solidFill>
                  <a:srgbClr val="000000"/>
                </a:solidFill>
                <a:effectLst/>
                <a:latin typeface="Courier New" panose="02070309020205020404" pitchFamily="49" charset="0"/>
                <a:ea typeface="Times New Roman" panose="02020603050405020304" pitchFamily="18" charset="0"/>
              </a:rPr>
              <a:t>oggettoAritmetica</a:t>
            </a:r>
            <a:r>
              <a:rPr lang="it-IT" sz="1800" dirty="0">
                <a:solidFill>
                  <a:srgbClr val="000000"/>
                </a:solidFill>
                <a:effectLst/>
                <a:latin typeface="Courier New" panose="02070309020205020404" pitchFamily="49" charset="0"/>
                <a:ea typeface="Times New Roman" panose="02020603050405020304" pitchFamily="18" charset="0"/>
              </a:rPr>
              <a:t> = new Aritmetica();</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4         int risultato = </a:t>
            </a:r>
            <a:r>
              <a:rPr lang="it-IT" sz="1800" dirty="0" err="1">
                <a:solidFill>
                  <a:srgbClr val="000000"/>
                </a:solidFill>
                <a:effectLst/>
                <a:latin typeface="Courier New" panose="02070309020205020404" pitchFamily="49" charset="0"/>
                <a:ea typeface="Times New Roman" panose="02020603050405020304" pitchFamily="18" charset="0"/>
              </a:rPr>
              <a:t>oggettoAritmetica.somma</a:t>
            </a:r>
            <a:r>
              <a:rPr lang="it-IT" sz="1800" dirty="0">
                <a:solidFill>
                  <a:srgbClr val="000000"/>
                </a:solidFill>
                <a:effectLst/>
                <a:latin typeface="Courier New" panose="02070309020205020404" pitchFamily="49" charset="0"/>
                <a:ea typeface="Times New Roman" panose="02020603050405020304" pitchFamily="18" charset="0"/>
              </a:rPr>
              <a:t>(5, 6);</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5         System.out.println(risultato);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6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7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Concentriamoci direttamente sulle istruzioni contenute nel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Alla riga 3 viene istanziato un oggetto chiamato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oggettoAritmetica</a:t>
            </a:r>
            <a:r>
              <a:rPr lang="it-IT" sz="1800" dirty="0">
                <a:effectLst/>
                <a:latin typeface="Times New Roman" panose="02020603050405020304" pitchFamily="18" charset="0"/>
                <a:ea typeface="Times New Roman" panose="02020603050405020304" pitchFamily="18" charset="0"/>
              </a:rPr>
              <a:t>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Aritmetica</a:t>
            </a:r>
            <a:r>
              <a:rPr lang="it-IT" sz="1800" dirty="0">
                <a:effectLst/>
                <a:latin typeface="Times New Roman" panose="02020603050405020304" pitchFamily="18" charset="0"/>
                <a:ea typeface="Times New Roman" panose="02020603050405020304" pitchFamily="18" charset="0"/>
              </a:rPr>
              <a:t>. Su questo oggetto, viene invocato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somma</a:t>
            </a:r>
            <a:r>
              <a:rPr lang="it-IT" sz="1800" dirty="0">
                <a:effectLst/>
                <a:latin typeface="Times New Roman" panose="02020603050405020304" pitchFamily="18" charset="0"/>
                <a:ea typeface="Times New Roman" panose="02020603050405020304" pitchFamily="18" charset="0"/>
              </a:rPr>
              <a:t> che abbiamo dichiarato nella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Aritmetica</a:t>
            </a:r>
            <a:r>
              <a:rPr lang="it-IT" sz="1800" dirty="0">
                <a:effectLst/>
                <a:latin typeface="Times New Roman" panose="02020603050405020304" pitchFamily="18" charset="0"/>
                <a:ea typeface="Times New Roman" panose="02020603050405020304" pitchFamily="18" charset="0"/>
              </a:rPr>
              <a:t> (riga 4). Come abbiamo già detto, l’accesso al metodo di un oggetto provoca l’esecuzione del relativo blocco di codice. Abbiamo quindi definito una variabile intera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risultato</a:t>
            </a:r>
            <a:r>
              <a:rPr lang="it-IT" sz="1800" dirty="0">
                <a:effectLst/>
                <a:latin typeface="Times New Roman" panose="02020603050405020304" pitchFamily="18" charset="0"/>
                <a:ea typeface="Times New Roman" panose="02020603050405020304" pitchFamily="18" charset="0"/>
              </a:rPr>
              <a:t>, che immagazzina il risultato della somma che viene restituito dal metodo. Se non avessimo fatto ciò, non avrebbe avuto senso chiamare un metodo che restituisce un valore dal momento che non l’avremmo potuto utilizzare! Invece, dopo averlo immagazzinato nella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risultato</a:t>
            </a:r>
            <a:r>
              <a:rPr lang="it-IT" sz="1800" dirty="0">
                <a:effectLst/>
                <a:latin typeface="Times New Roman" panose="02020603050405020304" pitchFamily="18" charset="0"/>
                <a:ea typeface="Times New Roman" panose="02020603050405020304" pitchFamily="18" charset="0"/>
              </a:rPr>
              <a:t>, ne abbiamo stampato a video il valore per verificare in fase di runtime la corretta esecuzione della somma. Per farlo, abbiamo dovuto passare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risultato</a:t>
            </a:r>
            <a:r>
              <a:rPr lang="it-IT" sz="1800" dirty="0">
                <a:effectLst/>
                <a:latin typeface="Times New Roman" panose="02020603050405020304" pitchFamily="18" charset="0"/>
                <a:ea typeface="Times New Roman" panose="02020603050405020304" pitchFamily="18" charset="0"/>
              </a:rPr>
              <a:t> come parametro al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System.out.println</a:t>
            </a:r>
            <a:r>
              <a:rPr lang="it-IT" sz="1800" dirty="0">
                <a:effectLst/>
                <a:latin typeface="Times New Roman" panose="02020603050405020304" pitchFamily="18" charset="0"/>
                <a:ea typeface="Times New Roman" panose="02020603050405020304" pitchFamily="18" charset="0"/>
              </a:rPr>
              <a:t>. </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Come abbiamo già accennato nel primo capitolo, l’istruzione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System.out.println(risultato)</a:t>
            </a:r>
            <a:r>
              <a:rPr lang="it-IT" sz="1800" b="1" dirty="0">
                <a:solidFill>
                  <a:srgbClr val="000000"/>
                </a:solidFill>
                <a:effectLst/>
                <a:latin typeface="Times New Roman" panose="02020603050405020304" pitchFamily="18" charset="0"/>
                <a:ea typeface="Times New Roman" panose="02020603050405020304" pitchFamily="18" charset="0"/>
              </a:rPr>
              <a:t> è anch’essa una chiamata ad un metodo. È un metodo che non abbiamo scritto noi, ma che esiste nella sterminata libreria di classi che ci mette a disposizione Java. Tenendo presente quello che abbiamo detto sui metodi, sugli oggetti e sull’operatore dot, è possibile intuire che il metodo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println</a:t>
            </a:r>
            <a:r>
              <a:rPr lang="it-IT" sz="1800" b="1" dirty="0">
                <a:solidFill>
                  <a:srgbClr val="000000"/>
                </a:solidFill>
                <a:effectLst/>
                <a:latin typeface="Times New Roman" panose="02020603050405020304" pitchFamily="18" charset="0"/>
                <a:ea typeface="Times New Roman" panose="02020603050405020304" pitchFamily="18" charset="0"/>
              </a:rPr>
              <a:t> può prendere un parametro in input e che non restituisce un risultato in output (tipo di ritorno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void</a:t>
            </a:r>
            <a:r>
              <a:rPr lang="it-IT" sz="1800" b="1" dirty="0">
                <a:solidFill>
                  <a:srgbClr val="000000"/>
                </a:solidFill>
                <a:effectLst/>
                <a:latin typeface="Times New Roman" panose="02020603050405020304" pitchFamily="18" charset="0"/>
                <a:ea typeface="Times New Roman" panose="02020603050405020304" pitchFamily="18" charset="0"/>
              </a:rPr>
              <a:t>). Ma sappiamo che i metodi vengono chiamati sugli oggetti, quindi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System.out</a:t>
            </a:r>
            <a:r>
              <a:rPr lang="it-IT" sz="1800" b="1" dirty="0">
                <a:solidFill>
                  <a:srgbClr val="000000"/>
                </a:solidFill>
                <a:effectLst/>
                <a:latin typeface="Times New Roman" panose="02020603050405020304" pitchFamily="18" charset="0"/>
                <a:ea typeface="Times New Roman" panose="02020603050405020304" pitchFamily="18" charset="0"/>
              </a:rPr>
              <a:t> deve essere un oggetto. Infatti lo è, e rappresenta l’output standard del sistema, che per il sistema operativo Windows coincide con la prompt dei comandi. Ecco perché, la chiamata su quest’oggetto del metodo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println</a:t>
            </a:r>
            <a:r>
              <a:rPr lang="it-IT" sz="1800" b="1" dirty="0">
                <a:solidFill>
                  <a:srgbClr val="000000"/>
                </a:solidFill>
                <a:effectLst/>
                <a:latin typeface="Times New Roman" panose="02020603050405020304" pitchFamily="18" charset="0"/>
                <a:ea typeface="Times New Roman" panose="02020603050405020304" pitchFamily="18" charset="0"/>
              </a:rPr>
              <a:t>, provoca la stampa sulla prompt dei comandi del parametro che gli viene passato in input. Più avanti studieremo più in dettaglio l’oggetto </a:t>
            </a:r>
            <a:r>
              <a:rPr lang="it-IT" sz="1800" b="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System.out</a:t>
            </a:r>
            <a:r>
              <a:rPr lang="it-IT" sz="1800" b="1" dirty="0">
                <a:solidFill>
                  <a:srgbClr val="000000"/>
                </a:solidFill>
                <a:effectLst/>
                <a:latin typeface="Times New Roman" panose="02020603050405020304" pitchFamily="18" charset="0"/>
                <a:ea typeface="Times New Roman" panose="02020603050405020304" pitchFamily="18" charset="0"/>
              </a:rPr>
              <a:t>.</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Da notare che avremmo anche potuto sostituire le righe 4 e 5 con la seguente:</a:t>
            </a:r>
          </a:p>
          <a:p>
            <a:r>
              <a:rPr lang="it-IT" sz="1800" dirty="0">
                <a:solidFill>
                  <a:srgbClr val="000000"/>
                </a:solidFill>
                <a:effectLst/>
                <a:latin typeface="Courier New" panose="02070309020205020404" pitchFamily="49" charset="0"/>
                <a:ea typeface="Times New Roman" panose="02020603050405020304" pitchFamily="18" charset="0"/>
              </a:rPr>
              <a:t>System.out.println(</a:t>
            </a:r>
            <a:r>
              <a:rPr lang="it-IT" sz="1800" dirty="0" err="1">
                <a:solidFill>
                  <a:srgbClr val="000000"/>
                </a:solidFill>
                <a:effectLst/>
                <a:latin typeface="Courier New" panose="02070309020205020404" pitchFamily="49" charset="0"/>
                <a:ea typeface="Times New Roman" panose="02020603050405020304" pitchFamily="18" charset="0"/>
              </a:rPr>
              <a:t>oggettoAritmetica.somma</a:t>
            </a:r>
            <a:r>
              <a:rPr lang="it-IT" sz="1800" dirty="0">
                <a:solidFill>
                  <a:srgbClr val="000000"/>
                </a:solidFill>
                <a:effectLst/>
                <a:latin typeface="Courier New" panose="02070309020205020404" pitchFamily="49" charset="0"/>
                <a:ea typeface="Times New Roman" panose="02020603050405020304" pitchFamily="18" charset="0"/>
              </a:rPr>
              <a:t>(5,6));</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Con questo statement, avremmo stampato al volo il valore ritornato dalla chiamata al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somma</a:t>
            </a:r>
            <a:r>
              <a:rPr lang="it-IT" sz="1800" dirty="0">
                <a:effectLst/>
                <a:latin typeface="Times New Roman" panose="02020603050405020304" pitchFamily="18" charset="0"/>
                <a:ea typeface="Times New Roman" panose="02020603050405020304" pitchFamily="18" charset="0"/>
              </a:rPr>
              <a:t> sull’oggetto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oggettoAritmetica</a:t>
            </a:r>
            <a:r>
              <a:rPr lang="it-IT" sz="1800" dirty="0">
                <a:effectLst/>
                <a:latin typeface="Times New Roman" panose="02020603050405020304" pitchFamily="18" charset="0"/>
                <a:ea typeface="Times New Roman" panose="02020603050405020304" pitchFamily="18" charset="0"/>
              </a:rPr>
              <a:t>. Tale valore infatti, è lo stesso valore che conteneva 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risultato</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Esistono anche metodi che non hanno parametri in input. Per esempio un metodo (inutile) che somma sempre gli stessi numeri e quindi restituisce sempre lo stesso valore come il seguente:</a:t>
            </a:r>
          </a:p>
          <a:p>
            <a:r>
              <a:rPr lang="en-GB" sz="1800" dirty="0">
                <a:solidFill>
                  <a:srgbClr val="000000"/>
                </a:solidFill>
                <a:effectLst/>
                <a:latin typeface="Courier New" panose="02070309020205020404" pitchFamily="49" charset="0"/>
                <a:ea typeface="Times New Roman" panose="02020603050405020304" pitchFamily="18" charset="0"/>
              </a:rPr>
              <a:t>public class </a:t>
            </a:r>
            <a:r>
              <a:rPr lang="en-GB" sz="1800" dirty="0" err="1">
                <a:solidFill>
                  <a:srgbClr val="000000"/>
                </a:solidFill>
                <a:effectLst/>
                <a:latin typeface="Courier New" panose="02070309020205020404" pitchFamily="49" charset="0"/>
                <a:ea typeface="Times New Roman" panose="02020603050405020304" pitchFamily="18" charset="0"/>
              </a:rPr>
              <a:t>AritmeticaFissa</a:t>
            </a:r>
            <a:r>
              <a:rPr lang="en-GB"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int somma()</a:t>
            </a:r>
            <a:r>
              <a:rPr lang="en-US"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return (5 + 6);</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oppure il seguente metodo che quando chiamato restituisce una nuova istanza della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a:t>
            </a:r>
          </a:p>
          <a:p>
            <a:r>
              <a:rPr lang="en-GB" sz="1800" dirty="0">
                <a:solidFill>
                  <a:srgbClr val="000000"/>
                </a:solidFill>
                <a:effectLst/>
                <a:latin typeface="Courier New" panose="02070309020205020404" pitchFamily="49" charset="0"/>
                <a:ea typeface="Times New Roman" panose="02020603050405020304" pitchFamily="18" charset="0"/>
              </a:rPr>
              <a:t>public class </a:t>
            </a:r>
            <a:r>
              <a:rPr lang="en-GB" sz="1800" dirty="0" err="1">
                <a:solidFill>
                  <a:srgbClr val="000000"/>
                </a:solidFill>
                <a:effectLst/>
                <a:latin typeface="Courier New" panose="02070309020205020404" pitchFamily="49" charset="0"/>
                <a:ea typeface="Times New Roman" panose="02020603050405020304" pitchFamily="18" charset="0"/>
              </a:rPr>
              <a:t>FabbricaPunti</a:t>
            </a:r>
            <a:r>
              <a:rPr lang="en-GB"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Punto </a:t>
            </a:r>
            <a:r>
              <a:rPr lang="en-GB" sz="1800" dirty="0" err="1">
                <a:solidFill>
                  <a:srgbClr val="000000"/>
                </a:solidFill>
                <a:effectLst/>
                <a:latin typeface="Courier New" panose="02070309020205020404" pitchFamily="49" charset="0"/>
                <a:ea typeface="Times New Roman" panose="02020603050405020304" pitchFamily="18" charset="0"/>
              </a:rPr>
              <a:t>dammiUnPunto</a:t>
            </a:r>
            <a:r>
              <a:rPr lang="en-GB"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return new Punto();</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questo esempio possiamo notare che il tipo di ritorno non è un valore primitivo come un intero, ma un oggetto. </a:t>
            </a:r>
          </a:p>
          <a:p>
            <a:r>
              <a:rPr lang="it-IT" sz="1800" dirty="0">
                <a:effectLst/>
                <a:latin typeface="Times New Roman" panose="02020603050405020304" pitchFamily="18" charset="0"/>
                <a:ea typeface="Times New Roman" panose="02020603050405020304" pitchFamily="18" charset="0"/>
              </a:rPr>
              <a:t>Abbiamo anche già visto metodi che non hanno tipo di ritorno, ovvero hanno come tipo di ritorno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void</a:t>
            </a:r>
            <a:r>
              <a:rPr lang="it-IT" sz="1800" dirty="0">
                <a:effectLst/>
                <a:latin typeface="Times New Roman" panose="02020603050405020304" pitchFamily="18" charset="0"/>
                <a:ea typeface="Times New Roman" panose="02020603050405020304" pitchFamily="18" charset="0"/>
              </a:rPr>
              <a:t>. Esistono ovviamente anche metodi che non hanno né parametri in input, né in output (tipo di ritorno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void</a:t>
            </a:r>
            <a:r>
              <a:rPr lang="it-IT" sz="1800" dirty="0">
                <a:effectLst/>
                <a:latin typeface="Times New Roman" panose="02020603050405020304" pitchFamily="18" charset="0"/>
                <a:ea typeface="Times New Roman" panose="02020603050405020304" pitchFamily="18" charset="0"/>
              </a:rPr>
              <a:t>), come per esempio un semplice metodo che visualizza a video sempre lo stesso messaggio:</a:t>
            </a:r>
          </a:p>
          <a:p>
            <a:r>
              <a:rPr lang="it-IT" sz="1800" dirty="0">
                <a:solidFill>
                  <a:srgbClr val="000000"/>
                </a:solidFill>
                <a:effectLst/>
                <a:latin typeface="Courier New" panose="02070309020205020404" pitchFamily="49" charset="0"/>
                <a:ea typeface="Times New Roman" panose="02020603050405020304" pitchFamily="18" charset="0"/>
              </a:rPr>
              <a:t>public class Saluti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public void </a:t>
            </a:r>
            <a:r>
              <a:rPr lang="it-IT" sz="1800" dirty="0" err="1">
                <a:solidFill>
                  <a:srgbClr val="000000"/>
                </a:solidFill>
                <a:effectLst/>
                <a:latin typeface="Courier New" panose="02070309020205020404" pitchFamily="49" charset="0"/>
                <a:ea typeface="Times New Roman" panose="02020603050405020304" pitchFamily="18" charset="0"/>
              </a:rPr>
              <a:t>stampaSaluto</a:t>
            </a:r>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System.out.println("Ciao");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Segue una banale classe che istanzia un oggetto dalla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Saluti</a:t>
            </a:r>
            <a:r>
              <a:rPr lang="it-IT" sz="1800" dirty="0">
                <a:effectLst/>
                <a:latin typeface="Times New Roman" panose="02020603050405020304" pitchFamily="18" charset="0"/>
                <a:ea typeface="Times New Roman" panose="02020603050405020304" pitchFamily="18" charset="0"/>
              </a:rPr>
              <a:t> e chiama il metodo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stampaSaluto</a:t>
            </a:r>
            <a:r>
              <a:rPr lang="it-IT" sz="1800" dirty="0">
                <a:effectLst/>
                <a:latin typeface="Times New Roman" panose="02020603050405020304" pitchFamily="18" charset="0"/>
                <a:ea typeface="Times New Roman" panose="02020603050405020304" pitchFamily="18" charset="0"/>
              </a:rPr>
              <a:t>. Come si può notare, se il metodo ha come tipo di ritorno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void</a:t>
            </a:r>
            <a:r>
              <a:rPr lang="it-IT" sz="1800" dirty="0">
                <a:effectLst/>
                <a:latin typeface="Times New Roman" panose="02020603050405020304" pitchFamily="18" charset="0"/>
                <a:ea typeface="Times New Roman" panose="02020603050405020304" pitchFamily="18" charset="0"/>
              </a:rPr>
              <a:t>, non bisogna (e non è possibile) “catturarne” il risultato.</a:t>
            </a:r>
          </a:p>
          <a:p>
            <a:r>
              <a:rPr lang="it-IT" sz="1800" dirty="0">
                <a:solidFill>
                  <a:srgbClr val="000000"/>
                </a:solidFill>
                <a:effectLst/>
                <a:latin typeface="Courier New" panose="02070309020205020404" pitchFamily="49" charset="0"/>
                <a:ea typeface="Times New Roman" panose="02020603050405020304" pitchFamily="18" charset="0"/>
              </a:rPr>
              <a:t>public class </a:t>
            </a:r>
            <a:r>
              <a:rPr lang="en-GB" sz="1800" dirty="0" err="1">
                <a:solidFill>
                  <a:srgbClr val="000000"/>
                </a:solidFill>
                <a:effectLst/>
                <a:latin typeface="Courier New" panose="02070309020205020404" pitchFamily="49" charset="0"/>
                <a:ea typeface="Times New Roman" panose="02020603050405020304" pitchFamily="18" charset="0"/>
              </a:rPr>
              <a:t>TestSaluti</a:t>
            </a:r>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public static void main(String args[]){</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Saluti oggetto1 = new Saluti();</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oggetto1.stampaSaluto();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p:txBody>
      </p:sp>
    </p:spTree>
    <p:extLst>
      <p:ext uri="{BB962C8B-B14F-4D97-AF65-F5344CB8AC3E}">
        <p14:creationId xmlns:p14="http://schemas.microsoft.com/office/powerpoint/2010/main" val="20559727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3789427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marL="1600200" lvl="3" indent="-228600">
              <a:spcBef>
                <a:spcPts val="1200"/>
              </a:spcBef>
              <a:spcAft>
                <a:spcPts val="300"/>
              </a:spcAft>
              <a:buFont typeface="Arial" panose="020B0604020202020204" pitchFamily="34" charset="0"/>
              <a:buChar char=""/>
            </a:pPr>
            <a:r>
              <a:rPr lang="it-IT" sz="1400" b="1" dirty="0">
                <a:effectLst/>
                <a:latin typeface="Times New Roman" panose="02020603050405020304" pitchFamily="18" charset="0"/>
              </a:rPr>
              <a:t>Variabili d’istanza</a:t>
            </a:r>
          </a:p>
          <a:p>
            <a:r>
              <a:rPr lang="it-IT" sz="1200" dirty="0">
                <a:effectLst/>
                <a:latin typeface="Times New Roman" panose="02020603050405020304" pitchFamily="18" charset="0"/>
                <a:ea typeface="Times New Roman" panose="02020603050405020304" pitchFamily="18" charset="0"/>
              </a:rPr>
              <a:t>Una variabile è detta </a:t>
            </a:r>
            <a:r>
              <a:rPr lang="it-IT" sz="1200" b="1" dirty="0">
                <a:effectLst/>
                <a:latin typeface="Times New Roman" panose="02020603050405020304" pitchFamily="18" charset="0"/>
                <a:ea typeface="Times New Roman" panose="02020603050405020304" pitchFamily="18" charset="0"/>
              </a:rPr>
              <a:t>variabile d’istanza</a:t>
            </a:r>
            <a:r>
              <a:rPr lang="it-IT" sz="1200" dirty="0">
                <a:effectLst/>
                <a:latin typeface="Times New Roman" panose="02020603050405020304" pitchFamily="18" charset="0"/>
                <a:ea typeface="Times New Roman" panose="02020603050405020304" pitchFamily="18" charset="0"/>
              </a:rPr>
              <a:t> (o anche </a:t>
            </a:r>
            <a:r>
              <a:rPr lang="it-IT" sz="1200" b="1" dirty="0">
                <a:effectLst/>
                <a:latin typeface="Times New Roman" panose="02020603050405020304" pitchFamily="18" charset="0"/>
                <a:ea typeface="Times New Roman" panose="02020603050405020304" pitchFamily="18" charset="0"/>
              </a:rPr>
              <a:t>variabile membro, campo</a:t>
            </a:r>
            <a:r>
              <a:rPr lang="it-IT" sz="1200" dirty="0">
                <a:effectLst/>
                <a:latin typeface="Times New Roman" panose="02020603050405020304" pitchFamily="18" charset="0"/>
                <a:ea typeface="Times New Roman" panose="02020603050405020304" pitchFamily="18" charset="0"/>
              </a:rPr>
              <a:t> o </a:t>
            </a:r>
            <a:r>
              <a:rPr lang="it-IT" sz="1200" b="1" dirty="0">
                <a:effectLst/>
                <a:latin typeface="Times New Roman" panose="02020603050405020304" pitchFamily="18" charset="0"/>
                <a:ea typeface="Times New Roman" panose="02020603050405020304" pitchFamily="18" charset="0"/>
              </a:rPr>
              <a:t>attributo</a:t>
            </a:r>
            <a:r>
              <a:rPr lang="it-IT" sz="1200" dirty="0">
                <a:effectLst/>
                <a:latin typeface="Times New Roman" panose="02020603050405020304" pitchFamily="18" charset="0"/>
                <a:ea typeface="Times New Roman" panose="02020603050405020304" pitchFamily="18" charset="0"/>
              </a:rPr>
              <a:t>) se è dichiarata in una classe, ma al di fuori di un metodo.</a:t>
            </a:r>
          </a:p>
          <a:p>
            <a:pPr marL="914400"/>
            <a:r>
              <a:rPr lang="it-IT" sz="1200" b="1" dirty="0">
                <a:solidFill>
                  <a:srgbClr val="000000"/>
                </a:solidFill>
                <a:effectLst/>
                <a:latin typeface="Times New Roman" panose="02020603050405020304" pitchFamily="18" charset="0"/>
                <a:ea typeface="Times New Roman" panose="02020603050405020304" pitchFamily="18" charset="0"/>
              </a:rPr>
              <a:t>Non è possibile comunque definire una variabile al di fuori di una classe. </a:t>
            </a:r>
            <a:endParaRPr lang="it-IT" sz="1200" b="1" dirty="0">
              <a:effectLst/>
              <a:latin typeface="Times New Roman" panose="02020603050405020304" pitchFamily="18"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Le variabili definite nella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Rettangolo</a:t>
            </a:r>
            <a:r>
              <a:rPr lang="it-IT" sz="1200" dirty="0">
                <a:effectLst/>
                <a:latin typeface="Times New Roman" panose="02020603050405020304" pitchFamily="18" charset="0"/>
                <a:ea typeface="Times New Roman" panose="02020603050405020304" pitchFamily="18" charset="0"/>
              </a:rPr>
              <a:t> sono tutte di istanza. Esse condividono il proprio ciclo di vita con l’oggetto (istanza) cui appartengono. Quando un oggetto della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Rettangolo</a:t>
            </a:r>
            <a:r>
              <a:rPr lang="it-IT" sz="1200" dirty="0">
                <a:effectLst/>
                <a:latin typeface="Times New Roman" panose="02020603050405020304" pitchFamily="18" charset="0"/>
                <a:ea typeface="Times New Roman" panose="02020603050405020304" pitchFamily="18" charset="0"/>
              </a:rPr>
              <a:t> è istanziato, viene allocato spazio in memoria per tutte le sue variabili d’istanza che vengono inizializzate ai relativi valori nulli. Nel nostro caso, le variabili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altezza</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base</a:t>
            </a:r>
            <a:r>
              <a:rPr lang="it-IT" sz="1200" dirty="0">
                <a:effectLst/>
                <a:latin typeface="Times New Roman" panose="02020603050405020304" pitchFamily="18" charset="0"/>
                <a:ea typeface="Times New Roman" panose="02020603050405020304" pitchFamily="18" charset="0"/>
              </a:rPr>
              <a:t> saranno inizializzate al valore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200" dirty="0">
                <a:effectLst/>
                <a:latin typeface="Times New Roman" panose="02020603050405020304" pitchFamily="18" charset="0"/>
                <a:ea typeface="Times New Roman" panose="02020603050405020304" pitchFamily="18" charset="0"/>
              </a:rPr>
              <a:t> in quanto numeri interi.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NUMERO_LATI</a:t>
            </a:r>
            <a:r>
              <a:rPr lang="it-IT" sz="1200" dirty="0">
                <a:effectLst/>
                <a:latin typeface="Times New Roman" panose="02020603050405020304" pitchFamily="18" charset="0"/>
                <a:ea typeface="Times New Roman" panose="02020603050405020304" pitchFamily="18" charset="0"/>
              </a:rPr>
              <a:t> invece è una costante esplicitamente inizializzata a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4</a:t>
            </a:r>
            <a:r>
              <a:rPr lang="it-IT" sz="1200" dirty="0">
                <a:effectLst/>
                <a:latin typeface="Times New Roman" panose="02020603050405020304" pitchFamily="18" charset="0"/>
                <a:ea typeface="Times New Roman" panose="02020603050405020304" pitchFamily="18" charset="0"/>
              </a:rPr>
              <a:t> ed il suo valore non potrà cambiare. Una variabile d’istanza smetterà di esistere quando smetterà di esistere l’oggetto a cui appartiene.</a:t>
            </a:r>
          </a:p>
          <a:p>
            <a:pPr marL="1600200" lvl="3" indent="-228600">
              <a:spcBef>
                <a:spcPts val="1200"/>
              </a:spcBef>
              <a:spcAft>
                <a:spcPts val="300"/>
              </a:spcAft>
              <a:buFont typeface="Arial" panose="020B0604020202020204" pitchFamily="34" charset="0"/>
              <a:buChar char=""/>
            </a:pPr>
            <a:r>
              <a:rPr lang="it-IT" sz="1400" b="1" dirty="0">
                <a:effectLst/>
                <a:latin typeface="Times New Roman" panose="02020603050405020304" pitchFamily="18" charset="0"/>
              </a:rPr>
              <a:t>2.2.3.2 Variabili locali</a:t>
            </a:r>
          </a:p>
          <a:p>
            <a:r>
              <a:rPr lang="it-IT" sz="1200" dirty="0">
                <a:effectLst/>
                <a:latin typeface="Times New Roman" panose="02020603050405020304" pitchFamily="18" charset="0"/>
                <a:ea typeface="Times New Roman" panose="02020603050405020304" pitchFamily="18" charset="0"/>
              </a:rPr>
              <a:t>Una variabile è detta </a:t>
            </a:r>
            <a:r>
              <a:rPr lang="it-IT" sz="1200" b="1" dirty="0">
                <a:effectLst/>
                <a:latin typeface="Times New Roman" panose="02020603050405020304" pitchFamily="18" charset="0"/>
                <a:ea typeface="Times New Roman" panose="02020603050405020304" pitchFamily="18" charset="0"/>
              </a:rPr>
              <a:t>locale</a:t>
            </a:r>
            <a:r>
              <a:rPr lang="it-IT" sz="1200" dirty="0">
                <a:effectLst/>
                <a:latin typeface="Times New Roman" panose="02020603050405020304" pitchFamily="18" charset="0"/>
                <a:ea typeface="Times New Roman" panose="02020603050405020304" pitchFamily="18" charset="0"/>
              </a:rPr>
              <a:t> (o </a:t>
            </a:r>
            <a:r>
              <a:rPr lang="it-IT" sz="1200" b="1" dirty="0">
                <a:effectLst/>
                <a:latin typeface="Times New Roman" panose="02020603050405020304" pitchFamily="18" charset="0"/>
                <a:ea typeface="Times New Roman" panose="02020603050405020304" pitchFamily="18" charset="0"/>
              </a:rPr>
              <a:t>di stack</a:t>
            </a:r>
            <a:r>
              <a:rPr lang="it-IT" sz="1200" dirty="0">
                <a:effectLst/>
                <a:latin typeface="Times New Roman" panose="02020603050405020304" pitchFamily="18" charset="0"/>
                <a:ea typeface="Times New Roman" panose="02020603050405020304" pitchFamily="18" charset="0"/>
              </a:rPr>
              <a:t>, o </a:t>
            </a:r>
            <a:r>
              <a:rPr lang="it-IT" sz="1200" b="1" dirty="0">
                <a:effectLst/>
                <a:latin typeface="Times New Roman" panose="02020603050405020304" pitchFamily="18" charset="0"/>
                <a:ea typeface="Times New Roman" panose="02020603050405020304" pitchFamily="18" charset="0"/>
              </a:rPr>
              <a:t>automatica</a:t>
            </a:r>
            <a:r>
              <a:rPr lang="it-IT" sz="1200" dirty="0">
                <a:effectLst/>
                <a:latin typeface="Times New Roman" panose="02020603050405020304" pitchFamily="18" charset="0"/>
                <a:ea typeface="Times New Roman" panose="02020603050405020304" pitchFamily="18" charset="0"/>
              </a:rPr>
              <a:t>, o anche </a:t>
            </a:r>
            <a:r>
              <a:rPr lang="it-IT" sz="1200" b="1" dirty="0">
                <a:effectLst/>
                <a:latin typeface="Times New Roman" panose="02020603050405020304" pitchFamily="18" charset="0"/>
                <a:ea typeface="Times New Roman" panose="02020603050405020304" pitchFamily="18" charset="0"/>
              </a:rPr>
              <a:t>temporanea</a:t>
            </a:r>
            <a:r>
              <a:rPr lang="it-IT" sz="1200" dirty="0">
                <a:effectLst/>
                <a:latin typeface="Times New Roman" panose="02020603050405020304" pitchFamily="18" charset="0"/>
                <a:ea typeface="Times New Roman" panose="02020603050405020304" pitchFamily="18" charset="0"/>
              </a:rPr>
              <a:t>) se è dichiarata all’interno di un metodo. Essa smetterà di esistere quando terminerà il metodo. </a:t>
            </a:r>
          </a:p>
          <a:p>
            <a:r>
              <a:rPr lang="it-IT" sz="1200" dirty="0">
                <a:effectLst/>
                <a:latin typeface="Times New Roman" panose="02020603050405020304" pitchFamily="18" charset="0"/>
                <a:ea typeface="Times New Roman" panose="02020603050405020304" pitchFamily="18" charset="0"/>
              </a:rPr>
              <a:t>Tutte le variabili che sono state dichiarate all’interno dei metodi (compreso il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200" dirty="0">
                <a:effectLst/>
                <a:latin typeface="Times New Roman" panose="02020603050405020304" pitchFamily="18" charset="0"/>
                <a:ea typeface="Times New Roman" panose="02020603050405020304" pitchFamily="18" charset="0"/>
              </a:rPr>
              <a:t>), sono quindi variabili locali. Per esempio, consideriamo la classe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TestSomma</a:t>
            </a:r>
            <a:r>
              <a:rPr lang="it-IT" sz="1200" dirty="0">
                <a:effectLst/>
                <a:latin typeface="Times New Roman" panose="02020603050405020304" pitchFamily="18" charset="0"/>
                <a:ea typeface="Times New Roman" panose="02020603050405020304" pitchFamily="18" charset="0"/>
              </a:rPr>
              <a:t> incontrata precedentemente, la variabile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risultato</a:t>
            </a:r>
            <a:r>
              <a:rPr lang="it-IT" sz="1200" dirty="0">
                <a:effectLst/>
                <a:latin typeface="Times New Roman" panose="02020603050405020304" pitchFamily="18" charset="0"/>
                <a:ea typeface="Times New Roman" panose="02020603050405020304" pitchFamily="18" charset="0"/>
              </a:rPr>
              <a:t> è una variabile locale:</a:t>
            </a:r>
          </a:p>
          <a:p>
            <a:r>
              <a:rPr lang="en-US" sz="1000" dirty="0">
                <a:solidFill>
                  <a:srgbClr val="000000"/>
                </a:solidFill>
                <a:effectLst/>
                <a:latin typeface="Courier New" panose="02070309020205020404" pitchFamily="49" charset="0"/>
                <a:ea typeface="Times New Roman" panose="02020603050405020304" pitchFamily="18" charset="0"/>
              </a:rPr>
              <a:t>public class </a:t>
            </a:r>
            <a:r>
              <a:rPr lang="en-GB" sz="1000" dirty="0" err="1">
                <a:solidFill>
                  <a:srgbClr val="000000"/>
                </a:solidFill>
                <a:effectLst/>
                <a:latin typeface="Courier New" panose="02070309020205020404" pitchFamily="49" charset="0"/>
                <a:ea typeface="Times New Roman" panose="02020603050405020304" pitchFamily="18" charset="0"/>
              </a:rPr>
              <a:t>TestSomma</a:t>
            </a:r>
            <a:r>
              <a:rPr lang="en-US"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en-US" sz="1000" dirty="0">
                <a:solidFill>
                  <a:srgbClr val="000000"/>
                </a:solidFill>
                <a:effectLst/>
                <a:latin typeface="Courier New" panose="02070309020205020404" pitchFamily="49" charset="0"/>
                <a:ea typeface="Times New Roman" panose="02020603050405020304" pitchFamily="18" charset="0"/>
              </a:rPr>
              <a:t>    public static void main(String args[]) {</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Aritmetica </a:t>
            </a:r>
            <a:r>
              <a:rPr lang="it-IT" sz="1000" dirty="0" err="1">
                <a:solidFill>
                  <a:srgbClr val="000000"/>
                </a:solidFill>
                <a:effectLst/>
                <a:latin typeface="Courier New" panose="02070309020205020404" pitchFamily="49" charset="0"/>
                <a:ea typeface="Times New Roman" panose="02020603050405020304" pitchFamily="18" charset="0"/>
              </a:rPr>
              <a:t>oggettoAritmetica</a:t>
            </a:r>
            <a:r>
              <a:rPr lang="it-IT" sz="1000" dirty="0">
                <a:solidFill>
                  <a:srgbClr val="000000"/>
                </a:solidFill>
                <a:effectLst/>
                <a:latin typeface="Courier New" panose="02070309020205020404" pitchFamily="49" charset="0"/>
                <a:ea typeface="Times New Roman" panose="02020603050405020304" pitchFamily="18" charset="0"/>
              </a:rPr>
              <a:t> = new Aritmetica();</a:t>
            </a:r>
            <a:endParaRPr lang="it-IT" sz="1000" dirty="0">
              <a:effectLst/>
              <a:latin typeface="Courier New" panose="02070309020205020404" pitchFamily="49" charset="0"/>
              <a:ea typeface="Times New Roman" panose="02020603050405020304" pitchFamily="18" charset="0"/>
            </a:endParaRPr>
          </a:p>
          <a:p>
            <a:r>
              <a:rPr lang="it-IT" sz="1000" b="1" dirty="0">
                <a:solidFill>
                  <a:srgbClr val="000000"/>
                </a:solidFill>
                <a:effectLst/>
                <a:latin typeface="Courier New" panose="02070309020205020404" pitchFamily="49" charset="0"/>
                <a:ea typeface="Times New Roman" panose="02020603050405020304" pitchFamily="18" charset="0"/>
              </a:rPr>
              <a:t>        int risultato</a:t>
            </a:r>
            <a:r>
              <a:rPr lang="it-IT" sz="1000" dirty="0">
                <a:solidFill>
                  <a:srgbClr val="000000"/>
                </a:solidFill>
                <a:effectLst/>
                <a:latin typeface="Courier New" panose="02070309020205020404" pitchFamily="49" charset="0"/>
                <a:ea typeface="Times New Roman" panose="02020603050405020304" pitchFamily="18" charset="0"/>
              </a:rPr>
              <a:t> = </a:t>
            </a:r>
            <a:r>
              <a:rPr lang="it-IT" sz="1000" dirty="0" err="1">
                <a:solidFill>
                  <a:srgbClr val="000000"/>
                </a:solidFill>
                <a:effectLst/>
                <a:latin typeface="Courier New" panose="02070309020205020404" pitchFamily="49" charset="0"/>
                <a:ea typeface="Times New Roman" panose="02020603050405020304" pitchFamily="18" charset="0"/>
              </a:rPr>
              <a:t>oggettoAritmetica.somma</a:t>
            </a:r>
            <a:r>
              <a:rPr lang="it-IT" sz="1000" dirty="0">
                <a:solidFill>
                  <a:srgbClr val="000000"/>
                </a:solidFill>
                <a:effectLst/>
                <a:latin typeface="Courier New" panose="02070309020205020404" pitchFamily="49" charset="0"/>
                <a:ea typeface="Times New Roman" panose="02020603050405020304" pitchFamily="18" charset="0"/>
              </a:rPr>
              <a:t>(5, 6);</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System.out.println(risultato);</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fr-FR" sz="1200" dirty="0">
                <a:effectLst/>
                <a:latin typeface="Times New Roman" panose="02020603050405020304" pitchFamily="18" charset="0"/>
                <a:ea typeface="Times New Roman" panose="02020603050405020304" pitchFamily="18" charset="0"/>
              </a:rPr>
              <a:t>Le </a:t>
            </a:r>
            <a:r>
              <a:rPr lang="fr-FR" sz="1200" dirty="0" err="1">
                <a:effectLst/>
                <a:latin typeface="Times New Roman" panose="02020603050405020304" pitchFamily="18" charset="0"/>
                <a:ea typeface="Times New Roman" panose="02020603050405020304" pitchFamily="18" charset="0"/>
              </a:rPr>
              <a:t>variabili</a:t>
            </a:r>
            <a:r>
              <a:rPr lang="fr-FR" sz="1200" dirty="0">
                <a:effectLst/>
                <a:latin typeface="Times New Roman" panose="02020603050405020304" pitchFamily="18" charset="0"/>
                <a:ea typeface="Times New Roman" panose="02020603050405020304" pitchFamily="18" charset="0"/>
              </a:rPr>
              <a:t> </a:t>
            </a:r>
            <a:r>
              <a:rPr lang="fr-FR" sz="1200" dirty="0" err="1">
                <a:effectLst/>
                <a:latin typeface="Times New Roman" panose="02020603050405020304" pitchFamily="18" charset="0"/>
                <a:ea typeface="Times New Roman" panose="02020603050405020304" pitchFamily="18" charset="0"/>
              </a:rPr>
              <a:t>locali</a:t>
            </a:r>
            <a:r>
              <a:rPr lang="it-IT" sz="1200" dirty="0">
                <a:effectLst/>
                <a:latin typeface="Times New Roman" panose="02020603050405020304" pitchFamily="18" charset="0"/>
                <a:ea typeface="Times New Roman" panose="02020603050405020304" pitchFamily="18" charset="0"/>
              </a:rPr>
              <a:t>, a differenza delle variabili di istanza, non saranno inizializzate ad un valore nullo nel momento in cui viene istanziato l’oggetto a cui appartengono. Siccome le variabili locali non vengono inizializzate automaticamente, quindi bisogna farlo esplicitamente. Infatti il compilatore potrebbe restituire un messaggio di errore laddove ci sia possibilità che la variabile non sia inizializzata al runtime. Le variabili locali condividono il loro ciclo di vita con il blocco di codice in cui sono dichiarate. Per esempio la variabile </a:t>
            </a:r>
            <a:r>
              <a:rPr lang="it-IT" sz="1000" dirty="0">
                <a:effectLst/>
                <a:latin typeface="Courier New" panose="02070309020205020404" pitchFamily="49" charset="0"/>
                <a:ea typeface="Times New Roman" panose="02020603050405020304" pitchFamily="18" charset="0"/>
              </a:rPr>
              <a:t>risultato</a:t>
            </a:r>
            <a:r>
              <a:rPr lang="it-IT" sz="1200" dirty="0">
                <a:effectLst/>
                <a:latin typeface="Times New Roman" panose="02020603050405020304" pitchFamily="18" charset="0"/>
                <a:ea typeface="Times New Roman" panose="02020603050405020304" pitchFamily="18" charset="0"/>
              </a:rPr>
              <a:t> dell’esempio precedente è visibile solo all’interno del metodo </a:t>
            </a:r>
            <a:r>
              <a:rPr lang="it-IT" sz="1000" dirty="0">
                <a:effectLst/>
                <a:latin typeface="Courier New" panose="02070309020205020404" pitchFamily="49" charset="0"/>
                <a:ea typeface="Times New Roman" panose="02020603050405020304" pitchFamily="18" charset="0"/>
              </a:rPr>
              <a:t>main</a:t>
            </a:r>
            <a:r>
              <a:rPr lang="it-IT" sz="1200" dirty="0">
                <a:effectLst/>
                <a:latin typeface="Times New Roman" panose="02020603050405020304" pitchFamily="18" charset="0"/>
                <a:ea typeface="Times New Roman" panose="02020603050405020304" pitchFamily="18" charset="0"/>
              </a:rPr>
              <a:t>. Durante il runtime dell’applicazione, verrà allocato lo spazio in memoria per la variabile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risultato</a:t>
            </a:r>
            <a:r>
              <a:rPr lang="it-IT" sz="1200" dirty="0">
                <a:effectLst/>
                <a:latin typeface="Times New Roman" panose="02020603050405020304" pitchFamily="18" charset="0"/>
                <a:ea typeface="Times New Roman" panose="02020603050405020304" pitchFamily="18" charset="0"/>
              </a:rPr>
              <a:t>, nel momento in cui verrà eseguita la riga relativa alla sua dichiarazione. Una volta terminato il metodo, l’area di memoria che era stata allocata per la variabile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risultato</a:t>
            </a:r>
            <a:r>
              <a:rPr lang="it-IT" sz="1200" dirty="0">
                <a:effectLst/>
                <a:latin typeface="Times New Roman" panose="02020603050405020304" pitchFamily="18" charset="0"/>
                <a:ea typeface="Times New Roman" panose="02020603050405020304" pitchFamily="18" charset="0"/>
              </a:rPr>
              <a:t>,  verrà nuovamente deallocata, e messa a disposizione del programma per poter essere riutilizzata. </a:t>
            </a:r>
          </a:p>
          <a:p>
            <a:r>
              <a:rPr lang="it-IT" sz="1200" dirty="0">
                <a:effectLst/>
                <a:latin typeface="Times New Roman" panose="02020603050405020304" pitchFamily="18" charset="0"/>
                <a:ea typeface="Times New Roman" panose="02020603050405020304" pitchFamily="18" charset="0"/>
              </a:rPr>
              <a:t>Un’altra differenza importante da rimarcare tra le variabili locali e d’istanza è nell’utilizzo di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200" dirty="0">
                <a:effectLst/>
                <a:latin typeface="Times New Roman" panose="02020603050405020304" pitchFamily="18" charset="0"/>
                <a:ea typeface="Times New Roman" panose="02020603050405020304" pitchFamily="18" charset="0"/>
              </a:rPr>
              <a:t>, e gli altri specificatori di accessi che studieremo. Infatti, condividendo il ciclo di vita con il metodo in cui sono dichiarate, non ha senso (e non è possibile) anteporre alle variabili locali un modificatore d’accesso. Non è possibile quindi dichiarare una variabile locale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200" dirty="0">
                <a:effectLst/>
                <a:latin typeface="Times New Roman" panose="02020603050405020304" pitchFamily="18" charset="0"/>
                <a:ea typeface="Times New Roman" panose="02020603050405020304" pitchFamily="18" charset="0"/>
              </a:rPr>
              <a:t>.</a:t>
            </a:r>
          </a:p>
          <a:p>
            <a:pPr marL="914400"/>
            <a:r>
              <a:rPr lang="it-IT" sz="1200" b="1" dirty="0">
                <a:solidFill>
                  <a:srgbClr val="000000"/>
                </a:solidFill>
                <a:effectLst/>
                <a:latin typeface="Times New Roman" panose="02020603050405020304" pitchFamily="18" charset="0"/>
                <a:ea typeface="Times New Roman" panose="02020603050405020304" pitchFamily="18" charset="0"/>
              </a:rPr>
              <a:t>Il concetto e la modalità di allocazione di memoria di una variabile d’istanza si differenziano a tal punto dai concetti e dalle modalità di allocazione di memoria di una variabile locale (o di un parametro), che è possibile in una classe dare lo stesso nome ad una variabile locale (o ad un parametro) e ad una variabile d’istanza. Come vedremo questa pratica è molto utilizzata. </a:t>
            </a:r>
            <a:endParaRPr lang="it-IT" sz="1200" b="1" dirty="0">
              <a:effectLst/>
              <a:latin typeface="Times New Roman" panose="02020603050405020304" pitchFamily="18" charset="0"/>
              <a:ea typeface="Times New Roman" panose="02020603050405020304" pitchFamily="18" charset="0"/>
            </a:endParaRPr>
          </a:p>
          <a:p>
            <a:pPr marL="1600200" lvl="3" indent="-228600">
              <a:spcBef>
                <a:spcPts val="1200"/>
              </a:spcBef>
              <a:spcAft>
                <a:spcPts val="300"/>
              </a:spcAft>
              <a:buFont typeface="Arial" panose="020B0604020202020204" pitchFamily="34" charset="0"/>
              <a:buChar char=""/>
            </a:pPr>
            <a:r>
              <a:rPr lang="it-IT" sz="1400" b="1" dirty="0">
                <a:effectLst/>
                <a:latin typeface="Times New Roman" panose="02020603050405020304" pitchFamily="18" charset="0"/>
              </a:rPr>
              <a:t>2.2.3.3 Parametri di un metodo</a:t>
            </a:r>
          </a:p>
          <a:p>
            <a:r>
              <a:rPr lang="it-IT" sz="1200" dirty="0">
                <a:effectLst/>
                <a:latin typeface="Times New Roman" panose="02020603050405020304" pitchFamily="18" charset="0"/>
                <a:ea typeface="Times New Roman" panose="02020603050405020304" pitchFamily="18" charset="0"/>
              </a:rPr>
              <a:t>Le variabili dichiarate all’interno delle parentesi tonde che si trovano alla destra dell’identificatore nella dichiarazione di un metodo, sono dette </a:t>
            </a:r>
            <a:r>
              <a:rPr lang="it-IT" sz="1200" b="1" dirty="0">
                <a:effectLst/>
                <a:latin typeface="Times New Roman" panose="02020603050405020304" pitchFamily="18" charset="0"/>
                <a:ea typeface="Times New Roman" panose="02020603050405020304" pitchFamily="18" charset="0"/>
              </a:rPr>
              <a:t>parametri</a:t>
            </a:r>
            <a:r>
              <a:rPr lang="it-IT" sz="1200" dirty="0">
                <a:effectLst/>
                <a:latin typeface="Times New Roman" panose="02020603050405020304" pitchFamily="18" charset="0"/>
                <a:ea typeface="Times New Roman" panose="02020603050405020304" pitchFamily="18" charset="0"/>
              </a:rPr>
              <a:t> o </a:t>
            </a:r>
            <a:r>
              <a:rPr lang="it-IT" sz="1200" b="1" dirty="0">
                <a:effectLst/>
                <a:latin typeface="Times New Roman" panose="02020603050405020304" pitchFamily="18" charset="0"/>
                <a:ea typeface="Times New Roman" panose="02020603050405020304" pitchFamily="18" charset="0"/>
              </a:rPr>
              <a:t>argomenti</a:t>
            </a:r>
            <a:r>
              <a:rPr lang="it-IT" sz="1200" dirty="0">
                <a:effectLst/>
                <a:latin typeface="Times New Roman" panose="02020603050405020304" pitchFamily="18" charset="0"/>
                <a:ea typeface="Times New Roman" panose="02020603050405020304" pitchFamily="18" charset="0"/>
              </a:rPr>
              <a:t> del metodo.</a:t>
            </a:r>
          </a:p>
          <a:p>
            <a:r>
              <a:rPr lang="it-IT" sz="1200" dirty="0">
                <a:effectLst/>
                <a:latin typeface="Times New Roman" panose="02020603050405020304" pitchFamily="18" charset="0"/>
                <a:ea typeface="Times New Roman" panose="02020603050405020304" pitchFamily="18" charset="0"/>
              </a:rPr>
              <a:t>Per esempio, nella seguente dichiarazione del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somma</a:t>
            </a:r>
            <a:r>
              <a:rPr lang="it-IT" sz="1200" dirty="0">
                <a:effectLst/>
                <a:latin typeface="Times New Roman" panose="02020603050405020304" pitchFamily="18" charset="0"/>
                <a:ea typeface="Times New Roman" panose="02020603050405020304" pitchFamily="18" charset="0"/>
              </a:rPr>
              <a:t> della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Aritmetica</a:t>
            </a:r>
            <a:r>
              <a:rPr lang="it-IT" sz="1200" dirty="0">
                <a:effectLst/>
                <a:latin typeface="Times New Roman" panose="02020603050405020304" pitchFamily="18" charset="0"/>
                <a:ea typeface="Times New Roman" panose="02020603050405020304" pitchFamily="18" charset="0"/>
              </a:rPr>
              <a:t> vengono dichiarati due parametri interi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200" dirty="0">
                <a:effectLst/>
                <a:latin typeface="Times New Roman" panose="02020603050405020304" pitchFamily="18" charset="0"/>
                <a:ea typeface="Times New Roman" panose="02020603050405020304" pitchFamily="18" charset="0"/>
              </a:rPr>
              <a:t>:</a:t>
            </a:r>
          </a:p>
          <a:p>
            <a:r>
              <a:rPr lang="fr-FR" sz="1000" dirty="0">
                <a:solidFill>
                  <a:srgbClr val="000000"/>
                </a:solidFill>
                <a:effectLst/>
                <a:latin typeface="Courier New" panose="02070309020205020404" pitchFamily="49" charset="0"/>
                <a:ea typeface="Times New Roman" panose="02020603050405020304" pitchFamily="18" charset="0"/>
              </a:rPr>
              <a:t>public int somma(int x, int y) {</a:t>
            </a:r>
            <a:endParaRPr lang="it-IT" sz="1000" dirty="0">
              <a:effectLst/>
              <a:latin typeface="Courier New" panose="02070309020205020404" pitchFamily="49" charset="0"/>
              <a:ea typeface="Times New Roman" panose="02020603050405020304" pitchFamily="18" charset="0"/>
            </a:endParaRPr>
          </a:p>
          <a:p>
            <a:r>
              <a:rPr lang="en-US" sz="1000" dirty="0">
                <a:solidFill>
                  <a:srgbClr val="000000"/>
                </a:solidFill>
                <a:effectLst/>
                <a:latin typeface="Courier New" panose="02070309020205020404" pitchFamily="49" charset="0"/>
                <a:ea typeface="Times New Roman" panose="02020603050405020304" pitchFamily="18" charset="0"/>
              </a:rPr>
              <a:t>    </a:t>
            </a:r>
            <a:r>
              <a:rPr lang="fr-FR" sz="1000" dirty="0">
                <a:solidFill>
                  <a:srgbClr val="000000"/>
                </a:solidFill>
                <a:effectLst/>
                <a:latin typeface="Courier New" panose="02070309020205020404" pitchFamily="49" charset="0"/>
                <a:ea typeface="Times New Roman" panose="02020603050405020304" pitchFamily="18" charset="0"/>
              </a:rPr>
              <a:t>return (x + y);</a:t>
            </a:r>
            <a:endParaRPr lang="it-IT" sz="1000" dirty="0">
              <a:effectLst/>
              <a:latin typeface="Courier New" panose="02070309020205020404" pitchFamily="49" charset="0"/>
              <a:ea typeface="Times New Roman" panose="02020603050405020304" pitchFamily="18" charset="0"/>
            </a:endParaRPr>
          </a:p>
          <a:p>
            <a:r>
              <a:rPr lang="fr-FR"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Abbiamo già visto, che i parametri di un metodo saranno inizializzati al momento della chiamata del metodo. Infatti, per chiamare il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somma</a:t>
            </a:r>
            <a:r>
              <a:rPr lang="it-IT" sz="1200" dirty="0">
                <a:effectLst/>
                <a:latin typeface="Times New Roman" panose="02020603050405020304" pitchFamily="18" charset="0"/>
                <a:ea typeface="Times New Roman" panose="02020603050405020304" pitchFamily="18" charset="0"/>
              </a:rPr>
              <a:t> dovremo passare i valori ai parametri, per esempio:</a:t>
            </a:r>
          </a:p>
          <a:p>
            <a:r>
              <a:rPr lang="it-IT" sz="10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int risultato = </a:t>
            </a:r>
            <a:r>
              <a:rPr lang="it-IT" sz="1000" dirty="0" err="1">
                <a:solidFill>
                  <a:srgbClr val="000000"/>
                </a:solidFill>
                <a:effectLst/>
                <a:latin typeface="Courier New" panose="02070309020205020404" pitchFamily="49" charset="0"/>
                <a:ea typeface="Times New Roman" panose="02020603050405020304" pitchFamily="18" charset="0"/>
              </a:rPr>
              <a:t>oggettoAritmetica</a:t>
            </a:r>
            <a:r>
              <a:rPr lang="it-IT" sz="1000"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.somma</a:t>
            </a:r>
            <a:r>
              <a:rPr lang="it-IT" sz="10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(5, 6);</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In particolare, durante l’esecuzione del programma, all’interno del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somma</a:t>
            </a:r>
            <a:r>
              <a:rPr lang="it-IT" sz="1200" dirty="0">
                <a:effectLst/>
                <a:latin typeface="Times New Roman" panose="02020603050405020304" pitchFamily="18" charset="0"/>
                <a:ea typeface="Times New Roman" panose="02020603050405020304" pitchFamily="18" charset="0"/>
              </a:rPr>
              <a:t>, la variabile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200" dirty="0">
                <a:effectLst/>
                <a:latin typeface="Times New Roman" panose="02020603050405020304" pitchFamily="18" charset="0"/>
                <a:ea typeface="Times New Roman" panose="02020603050405020304" pitchFamily="18" charset="0"/>
              </a:rPr>
              <a:t> varrà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5</a:t>
            </a:r>
            <a:r>
              <a:rPr lang="it-IT" sz="1200" dirty="0">
                <a:effectLst/>
                <a:latin typeface="Times New Roman" panose="02020603050405020304" pitchFamily="18" charset="0"/>
                <a:ea typeface="Times New Roman" panose="02020603050405020304" pitchFamily="18" charset="0"/>
              </a:rPr>
              <a:t>, mentre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200" dirty="0">
                <a:effectLst/>
                <a:latin typeface="Times New Roman" panose="02020603050405020304" pitchFamily="18" charset="0"/>
                <a:ea typeface="Times New Roman" panose="02020603050405020304" pitchFamily="18" charset="0"/>
              </a:rPr>
              <a:t> varrà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6</a:t>
            </a:r>
            <a:r>
              <a:rPr lang="it-IT" sz="1200" dirty="0">
                <a:effectLst/>
                <a:latin typeface="Times New Roman" panose="02020603050405020304" pitchFamily="18" charset="0"/>
                <a:ea typeface="Times New Roman" panose="02020603050405020304" pitchFamily="18" charset="0"/>
              </a:rPr>
              <a:t>. Potremmo anche scrivere equivalentemente:</a:t>
            </a:r>
          </a:p>
          <a:p>
            <a:r>
              <a:rPr lang="it-IT" sz="1000" dirty="0">
                <a:solidFill>
                  <a:srgbClr val="000000"/>
                </a:solidFill>
                <a:effectLst/>
                <a:latin typeface="Courier New" panose="02070309020205020404" pitchFamily="49" charset="0"/>
                <a:ea typeface="Times New Roman" panose="02020603050405020304" pitchFamily="18" charset="0"/>
              </a:rPr>
              <a:t>int a = 5, b = 6;</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int risultato = </a:t>
            </a:r>
            <a:r>
              <a:rPr lang="it-IT" sz="1000" dirty="0" err="1">
                <a:solidFill>
                  <a:srgbClr val="000000"/>
                </a:solidFill>
                <a:effectLst/>
                <a:latin typeface="Courier New" panose="02070309020205020404" pitchFamily="49" charset="0"/>
                <a:ea typeface="Times New Roman" panose="02020603050405020304" pitchFamily="18" charset="0"/>
              </a:rPr>
              <a:t>oggettoAritmetica.somma</a:t>
            </a:r>
            <a:r>
              <a:rPr lang="it-IT" sz="1000" dirty="0">
                <a:solidFill>
                  <a:srgbClr val="000000"/>
                </a:solidFill>
                <a:effectLst/>
                <a:latin typeface="Courier New" panose="02070309020205020404" pitchFamily="49" charset="0"/>
                <a:ea typeface="Times New Roman" panose="02020603050405020304" pitchFamily="18" charset="0"/>
              </a:rPr>
              <a:t>(a, b);</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ed ottenere lo stesso risultato. Infatti il passaggio di parametri ad un metodo, avviene sempre tramite il suo valore. Questo significa che non vengono passate le variabili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b</a:t>
            </a:r>
            <a:r>
              <a:rPr lang="it-IT" sz="1200" dirty="0">
                <a:effectLst/>
                <a:latin typeface="Times New Roman" panose="02020603050405020304" pitchFamily="18" charset="0"/>
                <a:ea typeface="Times New Roman" panose="02020603050405020304" pitchFamily="18" charset="0"/>
              </a:rPr>
              <a:t> al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somma</a:t>
            </a:r>
            <a:r>
              <a:rPr lang="it-IT" sz="1200" dirty="0">
                <a:effectLst/>
                <a:latin typeface="Times New Roman" panose="02020603050405020304" pitchFamily="18" charset="0"/>
                <a:ea typeface="Times New Roman" panose="02020603050405020304" pitchFamily="18" charset="0"/>
              </a:rPr>
              <a:t>, bensì i loro valori, che all’interno del metodo saranno immagazzinati nei parametri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200" dirty="0">
                <a:effectLst/>
                <a:latin typeface="Times New Roman" panose="02020603050405020304" pitchFamily="18" charset="0"/>
                <a:ea typeface="Times New Roman" panose="02020603050405020304" pitchFamily="18" charset="0"/>
              </a:rPr>
              <a:t>.</a:t>
            </a:r>
          </a:p>
          <a:p>
            <a:r>
              <a:rPr lang="it-IT" sz="1200" dirty="0">
                <a:effectLst/>
                <a:latin typeface="Times New Roman" panose="02020603050405020304" pitchFamily="18" charset="0"/>
                <a:ea typeface="Times New Roman" panose="02020603050405020304" pitchFamily="18" charset="0"/>
              </a:rPr>
              <a:t>È importante sottolineare che un parametro si può considerare anche una variabile locale del metodo, essendo visibile solo all’interno del metodo e condividendo con esso il ciclo di vita. La differenza principale sussiste solo nella posizione della dichiarazione di una variabile locale (che potrebbe essere dichiarata anche alla fine del metodo) e quella di un parametro (che viene dichiarato contestualmente al metodo stesso), non nel processo di immagazzinamento in memoria. Durante il runtime dell’applicazione, quando viene invocato un metodo, viene allocata in memoria lo spazio necessario per memorizzare tutti i parametri del metodo. Una volta terminato il metodo, questo spazio, verrà nuovamente deallocato, e messo a disposizione del programma per poter essere riutilizzato. </a:t>
            </a:r>
          </a:p>
        </p:txBody>
      </p:sp>
    </p:spTree>
    <p:extLst>
      <p:ext uri="{BB962C8B-B14F-4D97-AF65-F5344CB8AC3E}">
        <p14:creationId xmlns:p14="http://schemas.microsoft.com/office/powerpoint/2010/main" val="21917151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a:spcBef>
                <a:spcPts val="1400"/>
              </a:spcBef>
              <a:spcAft>
                <a:spcPts val="1400"/>
              </a:spcAft>
            </a:pPr>
            <a:r>
              <a:rPr lang="it-IT" sz="1300" b="1" dirty="0">
                <a:effectLst/>
                <a:latin typeface="Arial" panose="020B0604020202020204" pitchFamily="34" charset="0"/>
              </a:rPr>
              <a:t>Ancora sulle variabili in Java</a:t>
            </a:r>
          </a:p>
          <a:p>
            <a:r>
              <a:rPr lang="it-IT" sz="1200" dirty="0">
                <a:effectLst/>
                <a:latin typeface="Times New Roman" panose="02020603050405020304" pitchFamily="18" charset="0"/>
                <a:ea typeface="Times New Roman" panose="02020603050405020304" pitchFamily="18" charset="0"/>
              </a:rPr>
              <a:t>Abbiamo introdotto le variabili nel paragrafo 2.1.4. Tuttavia, c’è ancora molto da dire sulle variabili. Negli esempi che abbiamo fatto sinora, sono state definite variabili che avevano caratteristiche diverse. Cerchiamo quindi di fare un po’ di ordine tra le nostre idee. Partiamo con un esempio.</a:t>
            </a:r>
          </a:p>
          <a:p>
            <a:r>
              <a:rPr lang="it-IT" sz="1200" dirty="0">
                <a:effectLst/>
                <a:latin typeface="Times New Roman" panose="02020603050405020304" pitchFamily="18" charset="0"/>
                <a:ea typeface="Times New Roman" panose="02020603050405020304" pitchFamily="18" charset="0"/>
              </a:rPr>
              <a:t>Dichiariamo una classe che definisce in maniera superficiale un rettangolo:</a:t>
            </a:r>
          </a:p>
          <a:p>
            <a:r>
              <a:rPr lang="en-GB" sz="1000" dirty="0">
                <a:solidFill>
                  <a:srgbClr val="000000"/>
                </a:solidFill>
                <a:effectLst/>
                <a:latin typeface="Courier New" panose="02070309020205020404" pitchFamily="49" charset="0"/>
                <a:ea typeface="Times New Roman" panose="02020603050405020304" pitchFamily="18" charset="0"/>
              </a:rPr>
              <a:t>public class Rettangolo {</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public final int NUMERO_LATI = 4;</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public int base;</a:t>
            </a:r>
            <a:endParaRPr lang="it-IT" sz="1000" dirty="0">
              <a:effectLst/>
              <a:latin typeface="Courier New" panose="02070309020205020404" pitchFamily="49" charset="0"/>
              <a:ea typeface="Times New Roman" panose="02020603050405020304" pitchFamily="18" charset="0"/>
            </a:endParaRPr>
          </a:p>
          <a:p>
            <a:r>
              <a:rPr lang="en-GB" sz="1000" dirty="0">
                <a:solidFill>
                  <a:srgbClr val="000000"/>
                </a:solidFill>
                <a:effectLst/>
                <a:latin typeface="Courier New" panose="02070309020205020404" pitchFamily="49" charset="0"/>
                <a:ea typeface="Times New Roman" panose="02020603050405020304" pitchFamily="18" charset="0"/>
              </a:rPr>
              <a:t>    public int altezza;</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In questo caso abbiamo definito due variabili intere chiamate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altezza</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base</a:t>
            </a:r>
            <a:r>
              <a:rPr lang="it-IT" sz="1200" dirty="0">
                <a:effectLst/>
                <a:latin typeface="Times New Roman" panose="02020603050405020304" pitchFamily="18" charset="0"/>
                <a:ea typeface="Times New Roman" panose="02020603050405020304" pitchFamily="18" charset="0"/>
              </a:rPr>
              <a:t>, ed una </a:t>
            </a:r>
            <a:r>
              <a:rPr lang="it-IT" sz="1200" i="1" dirty="0">
                <a:effectLst/>
                <a:latin typeface="Times New Roman" panose="02020603050405020304" pitchFamily="18" charset="0"/>
                <a:ea typeface="Times New Roman" panose="02020603050405020304" pitchFamily="18" charset="0"/>
              </a:rPr>
              <a:t>costante</a:t>
            </a:r>
            <a:r>
              <a:rPr lang="it-IT" sz="1350" i="1" dirty="0">
                <a:effectLst/>
                <a:latin typeface="Times New Roman" panose="02020603050405020304" pitchFamily="18" charset="0"/>
                <a:ea typeface="Times New Roman" panose="02020603050405020304" pitchFamily="18" charset="0"/>
              </a:rPr>
              <a:t>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NUMERO_LATI</a:t>
            </a:r>
            <a:r>
              <a:rPr lang="it-IT" sz="1200" dirty="0">
                <a:effectLst/>
                <a:latin typeface="Times New Roman" panose="02020603050405020304" pitchFamily="18" charset="0"/>
                <a:ea typeface="Times New Roman" panose="02020603050405020304" pitchFamily="18" charset="0"/>
              </a:rPr>
              <a:t>. Si dice </a:t>
            </a:r>
            <a:r>
              <a:rPr lang="it-IT" sz="1200" b="1" dirty="0">
                <a:effectLst/>
                <a:latin typeface="Times New Roman" panose="02020603050405020304" pitchFamily="18" charset="0"/>
                <a:ea typeface="Times New Roman" panose="02020603050405020304" pitchFamily="18" charset="0"/>
              </a:rPr>
              <a:t>costante</a:t>
            </a:r>
            <a:r>
              <a:rPr lang="it-IT" sz="1200" dirty="0">
                <a:effectLst/>
                <a:latin typeface="Times New Roman" panose="02020603050405020304" pitchFamily="18" charset="0"/>
                <a:ea typeface="Times New Roman" panose="02020603050405020304" pitchFamily="18" charset="0"/>
              </a:rPr>
              <a:t>, una variabile che durante il suo ciclo di vita può assumere un unico valore. Questo significa che se nel nostro programma un’istruzione tentasse di cambiare il valore della costante, otterremo un errore in compilazione. Ciò che trasforma una variabile in costante, è il modificatore </a:t>
            </a:r>
            <a:r>
              <a:rPr lang="it-IT" sz="1000" b="1" dirty="0">
                <a:effectLst/>
                <a:latin typeface="Courier New" panose="02070309020205020404" pitchFamily="49" charset="0"/>
                <a:ea typeface="Times New Roman" panose="02020603050405020304" pitchFamily="18" charset="0"/>
                <a:cs typeface="Courier New" panose="02070309020205020404" pitchFamily="49" charset="0"/>
              </a:rPr>
              <a:t>final</a:t>
            </a:r>
            <a:r>
              <a:rPr lang="it-IT" sz="1200" dirty="0">
                <a:effectLst/>
                <a:latin typeface="Times New Roman" panose="02020603050405020304" pitchFamily="18" charset="0"/>
                <a:ea typeface="Times New Roman" panose="02020603050405020304" pitchFamily="18" charset="0"/>
              </a:rPr>
              <a:t> che viene specificato nella dichiarazione. Tale modificatore, ha proprio questo scopo, quello di limitare ad uno, il numero delle assegnazioni possibili ad una variabile. </a:t>
            </a:r>
            <a:br>
              <a:rPr lang="it-IT" sz="1200" dirty="0">
                <a:effectLst/>
                <a:latin typeface="Times New Roman" panose="02020603050405020304" pitchFamily="18" charset="0"/>
                <a:ea typeface="Times New Roman" panose="02020603050405020304" pitchFamily="18" charset="0"/>
              </a:rPr>
            </a:br>
            <a:r>
              <a:rPr lang="it-IT" sz="1200" b="1" dirty="0">
                <a:effectLst/>
                <a:latin typeface="Times New Roman" panose="02020603050405020304" pitchFamily="18" charset="0"/>
                <a:ea typeface="Times New Roman" panose="02020603050405020304" pitchFamily="18" charset="0"/>
              </a:rPr>
              <a:t>(ICONA MOLTO IMPORTANTE)</a:t>
            </a:r>
            <a:endParaRPr lang="it-IT" sz="1200" dirty="0">
              <a:effectLst/>
              <a:latin typeface="Times New Roman" panose="02020603050405020304" pitchFamily="18"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Mettendo da parte che le variabili possono anche essere dichiarate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final</a:t>
            </a:r>
            <a:r>
              <a:rPr lang="it-IT" sz="1200" dirty="0">
                <a:effectLst/>
                <a:latin typeface="Times New Roman" panose="02020603050405020304" pitchFamily="18" charset="0"/>
                <a:ea typeface="Times New Roman" panose="02020603050405020304" pitchFamily="18" charset="0"/>
              </a:rPr>
              <a:t>, la categorizzazione dei vari tipi di variabili, dipende soprattutto dalla posizione della propria dichiarazione. Tale posizione, definisce le </a:t>
            </a:r>
            <a:r>
              <a:rPr lang="it-IT" sz="1200" b="1" dirty="0">
                <a:effectLst/>
                <a:latin typeface="Times New Roman" panose="02020603050405020304" pitchFamily="18" charset="0"/>
                <a:ea typeface="Times New Roman" panose="02020603050405020304" pitchFamily="18" charset="0"/>
              </a:rPr>
              <a:t>scope</a:t>
            </a:r>
            <a:r>
              <a:rPr lang="it-IT" sz="1200" dirty="0">
                <a:effectLst/>
                <a:latin typeface="Times New Roman" panose="02020603050405020304" pitchFamily="18" charset="0"/>
                <a:ea typeface="Times New Roman" panose="02020603050405020304" pitchFamily="18" charset="0"/>
              </a:rPr>
              <a:t>, ovvero la visibilità, ed il ciclo di vita della variabile stessa. Le variabili condividono il loro ciclo di vita con il blocco di codice in cui sono dichiarate. In pratica potremmo definire tre diverse tipologie di variabili, basandoci sul posizionamento della dichiarazione all’interno della classe: </a:t>
            </a:r>
            <a:r>
              <a:rPr lang="it-IT" sz="1200" b="1" dirty="0">
                <a:effectLst/>
                <a:latin typeface="Times New Roman" panose="02020603050405020304" pitchFamily="18" charset="0"/>
                <a:ea typeface="Times New Roman" panose="02020603050405020304" pitchFamily="18" charset="0"/>
              </a:rPr>
              <a:t>variabili d’istanza</a:t>
            </a:r>
            <a:r>
              <a:rPr lang="it-IT" sz="1200" dirty="0">
                <a:effectLst/>
                <a:latin typeface="Times New Roman" panose="02020603050405020304" pitchFamily="18" charset="0"/>
                <a:ea typeface="Times New Roman" panose="02020603050405020304" pitchFamily="18" charset="0"/>
              </a:rPr>
              <a:t>, </a:t>
            </a:r>
            <a:r>
              <a:rPr lang="it-IT" sz="1200" b="1" dirty="0">
                <a:effectLst/>
                <a:latin typeface="Times New Roman" panose="02020603050405020304" pitchFamily="18" charset="0"/>
                <a:ea typeface="Times New Roman" panose="02020603050405020304" pitchFamily="18" charset="0"/>
              </a:rPr>
              <a:t>variabili locali</a:t>
            </a:r>
            <a:r>
              <a:rPr lang="it-IT" sz="1200" dirty="0">
                <a:effectLst/>
                <a:latin typeface="Times New Roman" panose="02020603050405020304" pitchFamily="18" charset="0"/>
                <a:ea typeface="Times New Roman" panose="02020603050405020304" pitchFamily="18" charset="0"/>
              </a:rPr>
              <a:t> e </a:t>
            </a:r>
            <a:r>
              <a:rPr lang="it-IT" sz="1200" b="1" dirty="0">
                <a:effectLst/>
                <a:latin typeface="Times New Roman" panose="02020603050405020304" pitchFamily="18" charset="0"/>
                <a:ea typeface="Times New Roman" panose="02020603050405020304" pitchFamily="18" charset="0"/>
              </a:rPr>
              <a:t>parametri</a:t>
            </a:r>
            <a:r>
              <a:rPr lang="it-IT" sz="1200" dirty="0">
                <a:effectLst/>
                <a:latin typeface="Times New Roman" panose="02020603050405020304" pitchFamily="18" charset="0"/>
                <a:ea typeface="Times New Roman" panose="02020603050405020304" pitchFamily="18" charset="0"/>
              </a:rPr>
              <a:t>.</a:t>
            </a:r>
          </a:p>
          <a:p>
            <a:pPr marL="1600200" lvl="3" indent="-228600">
              <a:spcBef>
                <a:spcPts val="1200"/>
              </a:spcBef>
              <a:spcAft>
                <a:spcPts val="300"/>
              </a:spcAft>
              <a:buFont typeface="Arial" panose="020B0604020202020204" pitchFamily="34" charset="0"/>
              <a:buChar char=""/>
            </a:pPr>
            <a:r>
              <a:rPr lang="it-IT" sz="1400" b="1" dirty="0">
                <a:effectLst/>
                <a:latin typeface="Times New Roman" panose="02020603050405020304" pitchFamily="18" charset="0"/>
              </a:rPr>
              <a:t>2.2.3.1 Variabili d’istanza</a:t>
            </a:r>
          </a:p>
          <a:p>
            <a:r>
              <a:rPr lang="it-IT" sz="1200" dirty="0">
                <a:effectLst/>
                <a:latin typeface="Times New Roman" panose="02020603050405020304" pitchFamily="18" charset="0"/>
                <a:ea typeface="Times New Roman" panose="02020603050405020304" pitchFamily="18" charset="0"/>
              </a:rPr>
              <a:t>Una variabile è detta </a:t>
            </a:r>
            <a:r>
              <a:rPr lang="it-IT" sz="1200" b="1" dirty="0">
                <a:effectLst/>
                <a:latin typeface="Times New Roman" panose="02020603050405020304" pitchFamily="18" charset="0"/>
                <a:ea typeface="Times New Roman" panose="02020603050405020304" pitchFamily="18" charset="0"/>
              </a:rPr>
              <a:t>variabile d’istanza</a:t>
            </a:r>
            <a:r>
              <a:rPr lang="it-IT" sz="1200" dirty="0">
                <a:effectLst/>
                <a:latin typeface="Times New Roman" panose="02020603050405020304" pitchFamily="18" charset="0"/>
                <a:ea typeface="Times New Roman" panose="02020603050405020304" pitchFamily="18" charset="0"/>
              </a:rPr>
              <a:t> (o anche </a:t>
            </a:r>
            <a:r>
              <a:rPr lang="it-IT" sz="1200" b="1" dirty="0">
                <a:effectLst/>
                <a:latin typeface="Times New Roman" panose="02020603050405020304" pitchFamily="18" charset="0"/>
                <a:ea typeface="Times New Roman" panose="02020603050405020304" pitchFamily="18" charset="0"/>
              </a:rPr>
              <a:t>variabile membro, campo</a:t>
            </a:r>
            <a:r>
              <a:rPr lang="it-IT" sz="1200" dirty="0">
                <a:effectLst/>
                <a:latin typeface="Times New Roman" panose="02020603050405020304" pitchFamily="18" charset="0"/>
                <a:ea typeface="Times New Roman" panose="02020603050405020304" pitchFamily="18" charset="0"/>
              </a:rPr>
              <a:t> o </a:t>
            </a:r>
            <a:r>
              <a:rPr lang="it-IT" sz="1200" b="1" dirty="0">
                <a:effectLst/>
                <a:latin typeface="Times New Roman" panose="02020603050405020304" pitchFamily="18" charset="0"/>
                <a:ea typeface="Times New Roman" panose="02020603050405020304" pitchFamily="18" charset="0"/>
              </a:rPr>
              <a:t>attributo</a:t>
            </a:r>
            <a:r>
              <a:rPr lang="it-IT" sz="1200" dirty="0">
                <a:effectLst/>
                <a:latin typeface="Times New Roman" panose="02020603050405020304" pitchFamily="18" charset="0"/>
                <a:ea typeface="Times New Roman" panose="02020603050405020304" pitchFamily="18" charset="0"/>
              </a:rPr>
              <a:t>) se è dichiarata in una classe, ma al di fuori di un metodo.</a:t>
            </a:r>
          </a:p>
          <a:p>
            <a:pPr marL="914400"/>
            <a:r>
              <a:rPr lang="it-IT" sz="1200" b="1" dirty="0">
                <a:solidFill>
                  <a:srgbClr val="000000"/>
                </a:solidFill>
                <a:effectLst/>
                <a:latin typeface="Times New Roman" panose="02020603050405020304" pitchFamily="18" charset="0"/>
                <a:ea typeface="Times New Roman" panose="02020603050405020304" pitchFamily="18" charset="0"/>
              </a:rPr>
              <a:t>Non è possibile comunque definire una variabile al di fuori di una classe. </a:t>
            </a:r>
            <a:endParaRPr lang="it-IT" sz="1200" b="1" dirty="0">
              <a:effectLst/>
              <a:latin typeface="Times New Roman" panose="02020603050405020304" pitchFamily="18"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Le variabili definite nella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Rettangolo</a:t>
            </a:r>
            <a:r>
              <a:rPr lang="it-IT" sz="1200" dirty="0">
                <a:effectLst/>
                <a:latin typeface="Times New Roman" panose="02020603050405020304" pitchFamily="18" charset="0"/>
                <a:ea typeface="Times New Roman" panose="02020603050405020304" pitchFamily="18" charset="0"/>
              </a:rPr>
              <a:t> sono tutte di istanza. Esse condividono il proprio ciclo di vita con l’oggetto (istanza) cui appartengono. Quando un oggetto della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Rettangolo</a:t>
            </a:r>
            <a:r>
              <a:rPr lang="it-IT" sz="1200" dirty="0">
                <a:effectLst/>
                <a:latin typeface="Times New Roman" panose="02020603050405020304" pitchFamily="18" charset="0"/>
                <a:ea typeface="Times New Roman" panose="02020603050405020304" pitchFamily="18" charset="0"/>
              </a:rPr>
              <a:t> è istanziato, viene allocato spazio in memoria per tutte le sue variabili d’istanza che vengono inizializzate ai relativi valori nulli. Nel nostro caso, le variabili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altezza</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base</a:t>
            </a:r>
            <a:r>
              <a:rPr lang="it-IT" sz="1200" dirty="0">
                <a:effectLst/>
                <a:latin typeface="Times New Roman" panose="02020603050405020304" pitchFamily="18" charset="0"/>
                <a:ea typeface="Times New Roman" panose="02020603050405020304" pitchFamily="18" charset="0"/>
              </a:rPr>
              <a:t> saranno inizializzate al valore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200" dirty="0">
                <a:effectLst/>
                <a:latin typeface="Times New Roman" panose="02020603050405020304" pitchFamily="18" charset="0"/>
                <a:ea typeface="Times New Roman" panose="02020603050405020304" pitchFamily="18" charset="0"/>
              </a:rPr>
              <a:t> in quanto numeri interi.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NUMERO_LATI</a:t>
            </a:r>
            <a:r>
              <a:rPr lang="it-IT" sz="1200" dirty="0">
                <a:effectLst/>
                <a:latin typeface="Times New Roman" panose="02020603050405020304" pitchFamily="18" charset="0"/>
                <a:ea typeface="Times New Roman" panose="02020603050405020304" pitchFamily="18" charset="0"/>
              </a:rPr>
              <a:t> invece è una costante esplicitamente inizializzata a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4</a:t>
            </a:r>
            <a:r>
              <a:rPr lang="it-IT" sz="1200" dirty="0">
                <a:effectLst/>
                <a:latin typeface="Times New Roman" panose="02020603050405020304" pitchFamily="18" charset="0"/>
                <a:ea typeface="Times New Roman" panose="02020603050405020304" pitchFamily="18" charset="0"/>
              </a:rPr>
              <a:t> ed il suo valore non potrà cambiare. Una variabile d’istanza smetterà di esistere quando smetterà di esistere l’oggetto a cui appartiene.</a:t>
            </a:r>
          </a:p>
          <a:p>
            <a:pPr marL="1600200" lvl="3" indent="-228600">
              <a:spcBef>
                <a:spcPts val="1200"/>
              </a:spcBef>
              <a:spcAft>
                <a:spcPts val="300"/>
              </a:spcAft>
              <a:buFont typeface="Arial" panose="020B0604020202020204" pitchFamily="34" charset="0"/>
              <a:buChar char=""/>
            </a:pPr>
            <a:r>
              <a:rPr lang="it-IT" sz="1400" b="1" dirty="0">
                <a:effectLst/>
                <a:latin typeface="Times New Roman" panose="02020603050405020304" pitchFamily="18" charset="0"/>
              </a:rPr>
              <a:t>2.2.3.2 Variabili locali</a:t>
            </a:r>
          </a:p>
          <a:p>
            <a:r>
              <a:rPr lang="it-IT" sz="1200" dirty="0">
                <a:effectLst/>
                <a:latin typeface="Times New Roman" panose="02020603050405020304" pitchFamily="18" charset="0"/>
                <a:ea typeface="Times New Roman" panose="02020603050405020304" pitchFamily="18" charset="0"/>
              </a:rPr>
              <a:t>Una variabile è detta </a:t>
            </a:r>
            <a:r>
              <a:rPr lang="it-IT" sz="1200" b="1" dirty="0">
                <a:effectLst/>
                <a:latin typeface="Times New Roman" panose="02020603050405020304" pitchFamily="18" charset="0"/>
                <a:ea typeface="Times New Roman" panose="02020603050405020304" pitchFamily="18" charset="0"/>
              </a:rPr>
              <a:t>locale</a:t>
            </a:r>
            <a:r>
              <a:rPr lang="it-IT" sz="1200" dirty="0">
                <a:effectLst/>
                <a:latin typeface="Times New Roman" panose="02020603050405020304" pitchFamily="18" charset="0"/>
                <a:ea typeface="Times New Roman" panose="02020603050405020304" pitchFamily="18" charset="0"/>
              </a:rPr>
              <a:t> (o </a:t>
            </a:r>
            <a:r>
              <a:rPr lang="it-IT" sz="1200" b="1" dirty="0">
                <a:effectLst/>
                <a:latin typeface="Times New Roman" panose="02020603050405020304" pitchFamily="18" charset="0"/>
                <a:ea typeface="Times New Roman" panose="02020603050405020304" pitchFamily="18" charset="0"/>
              </a:rPr>
              <a:t>di stack</a:t>
            </a:r>
            <a:r>
              <a:rPr lang="it-IT" sz="1200" dirty="0">
                <a:effectLst/>
                <a:latin typeface="Times New Roman" panose="02020603050405020304" pitchFamily="18" charset="0"/>
                <a:ea typeface="Times New Roman" panose="02020603050405020304" pitchFamily="18" charset="0"/>
              </a:rPr>
              <a:t>, o </a:t>
            </a:r>
            <a:r>
              <a:rPr lang="it-IT" sz="1200" b="1" dirty="0">
                <a:effectLst/>
                <a:latin typeface="Times New Roman" panose="02020603050405020304" pitchFamily="18" charset="0"/>
                <a:ea typeface="Times New Roman" panose="02020603050405020304" pitchFamily="18" charset="0"/>
              </a:rPr>
              <a:t>automatica</a:t>
            </a:r>
            <a:r>
              <a:rPr lang="it-IT" sz="1200" dirty="0">
                <a:effectLst/>
                <a:latin typeface="Times New Roman" panose="02020603050405020304" pitchFamily="18" charset="0"/>
                <a:ea typeface="Times New Roman" panose="02020603050405020304" pitchFamily="18" charset="0"/>
              </a:rPr>
              <a:t>, o anche </a:t>
            </a:r>
            <a:r>
              <a:rPr lang="it-IT" sz="1200" b="1" dirty="0">
                <a:effectLst/>
                <a:latin typeface="Times New Roman" panose="02020603050405020304" pitchFamily="18" charset="0"/>
                <a:ea typeface="Times New Roman" panose="02020603050405020304" pitchFamily="18" charset="0"/>
              </a:rPr>
              <a:t>temporanea</a:t>
            </a:r>
            <a:r>
              <a:rPr lang="it-IT" sz="1200" dirty="0">
                <a:effectLst/>
                <a:latin typeface="Times New Roman" panose="02020603050405020304" pitchFamily="18" charset="0"/>
                <a:ea typeface="Times New Roman" panose="02020603050405020304" pitchFamily="18" charset="0"/>
              </a:rPr>
              <a:t>) se è dichiarata all’interno di un metodo. Essa smetterà di esistere quando terminerà il metodo. </a:t>
            </a:r>
          </a:p>
          <a:p>
            <a:r>
              <a:rPr lang="it-IT" sz="1200" dirty="0">
                <a:effectLst/>
                <a:latin typeface="Times New Roman" panose="02020603050405020304" pitchFamily="18" charset="0"/>
                <a:ea typeface="Times New Roman" panose="02020603050405020304" pitchFamily="18" charset="0"/>
              </a:rPr>
              <a:t>Tutte le variabili che sono state dichiarate all’interno dei metodi (compreso il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200" dirty="0">
                <a:effectLst/>
                <a:latin typeface="Times New Roman" panose="02020603050405020304" pitchFamily="18" charset="0"/>
                <a:ea typeface="Times New Roman" panose="02020603050405020304" pitchFamily="18" charset="0"/>
              </a:rPr>
              <a:t>), sono quindi variabili locali. Per esempio, consideriamo la classe </a:t>
            </a:r>
            <a:r>
              <a:rPr lang="it-IT" sz="1000" dirty="0" err="1">
                <a:effectLst/>
                <a:latin typeface="Courier New" panose="02070309020205020404" pitchFamily="49" charset="0"/>
                <a:ea typeface="Times New Roman" panose="02020603050405020304" pitchFamily="18" charset="0"/>
                <a:cs typeface="Courier New" panose="02070309020205020404" pitchFamily="49" charset="0"/>
              </a:rPr>
              <a:t>TestSomma</a:t>
            </a:r>
            <a:r>
              <a:rPr lang="it-IT" sz="1200" dirty="0">
                <a:effectLst/>
                <a:latin typeface="Times New Roman" panose="02020603050405020304" pitchFamily="18" charset="0"/>
                <a:ea typeface="Times New Roman" panose="02020603050405020304" pitchFamily="18" charset="0"/>
              </a:rPr>
              <a:t> incontrata precedentemente, la variabile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risultato</a:t>
            </a:r>
            <a:r>
              <a:rPr lang="it-IT" sz="1200" dirty="0">
                <a:effectLst/>
                <a:latin typeface="Times New Roman" panose="02020603050405020304" pitchFamily="18" charset="0"/>
                <a:ea typeface="Times New Roman" panose="02020603050405020304" pitchFamily="18" charset="0"/>
              </a:rPr>
              <a:t> è una variabile locale:</a:t>
            </a:r>
          </a:p>
          <a:p>
            <a:r>
              <a:rPr lang="en-US" sz="1000" dirty="0">
                <a:solidFill>
                  <a:srgbClr val="000000"/>
                </a:solidFill>
                <a:effectLst/>
                <a:latin typeface="Courier New" panose="02070309020205020404" pitchFamily="49" charset="0"/>
                <a:ea typeface="Times New Roman" panose="02020603050405020304" pitchFamily="18" charset="0"/>
              </a:rPr>
              <a:t>public class </a:t>
            </a:r>
            <a:r>
              <a:rPr lang="en-GB" sz="1000" dirty="0" err="1">
                <a:solidFill>
                  <a:srgbClr val="000000"/>
                </a:solidFill>
                <a:effectLst/>
                <a:latin typeface="Courier New" panose="02070309020205020404" pitchFamily="49" charset="0"/>
                <a:ea typeface="Times New Roman" panose="02020603050405020304" pitchFamily="18" charset="0"/>
              </a:rPr>
              <a:t>TestSomma</a:t>
            </a:r>
            <a:r>
              <a:rPr lang="en-US"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en-US" sz="1000" dirty="0">
                <a:solidFill>
                  <a:srgbClr val="000000"/>
                </a:solidFill>
                <a:effectLst/>
                <a:latin typeface="Courier New" panose="02070309020205020404" pitchFamily="49" charset="0"/>
                <a:ea typeface="Times New Roman" panose="02020603050405020304" pitchFamily="18" charset="0"/>
              </a:rPr>
              <a:t>    public static void main(String args[]) {</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Aritmetica </a:t>
            </a:r>
            <a:r>
              <a:rPr lang="it-IT" sz="1000" dirty="0" err="1">
                <a:solidFill>
                  <a:srgbClr val="000000"/>
                </a:solidFill>
                <a:effectLst/>
                <a:latin typeface="Courier New" panose="02070309020205020404" pitchFamily="49" charset="0"/>
                <a:ea typeface="Times New Roman" panose="02020603050405020304" pitchFamily="18" charset="0"/>
              </a:rPr>
              <a:t>oggettoAritmetica</a:t>
            </a:r>
            <a:r>
              <a:rPr lang="it-IT" sz="1000" dirty="0">
                <a:solidFill>
                  <a:srgbClr val="000000"/>
                </a:solidFill>
                <a:effectLst/>
                <a:latin typeface="Courier New" panose="02070309020205020404" pitchFamily="49" charset="0"/>
                <a:ea typeface="Times New Roman" panose="02020603050405020304" pitchFamily="18" charset="0"/>
              </a:rPr>
              <a:t> = new Aritmetica();</a:t>
            </a:r>
            <a:endParaRPr lang="it-IT" sz="1000" dirty="0">
              <a:effectLst/>
              <a:latin typeface="Courier New" panose="02070309020205020404" pitchFamily="49" charset="0"/>
              <a:ea typeface="Times New Roman" panose="02020603050405020304" pitchFamily="18" charset="0"/>
            </a:endParaRPr>
          </a:p>
          <a:p>
            <a:r>
              <a:rPr lang="it-IT" sz="1000" b="1" dirty="0">
                <a:solidFill>
                  <a:srgbClr val="000000"/>
                </a:solidFill>
                <a:effectLst/>
                <a:latin typeface="Courier New" panose="02070309020205020404" pitchFamily="49" charset="0"/>
                <a:ea typeface="Times New Roman" panose="02020603050405020304" pitchFamily="18" charset="0"/>
              </a:rPr>
              <a:t>        int risultato</a:t>
            </a:r>
            <a:r>
              <a:rPr lang="it-IT" sz="1000" dirty="0">
                <a:solidFill>
                  <a:srgbClr val="000000"/>
                </a:solidFill>
                <a:effectLst/>
                <a:latin typeface="Courier New" panose="02070309020205020404" pitchFamily="49" charset="0"/>
                <a:ea typeface="Times New Roman" panose="02020603050405020304" pitchFamily="18" charset="0"/>
              </a:rPr>
              <a:t> = </a:t>
            </a:r>
            <a:r>
              <a:rPr lang="it-IT" sz="1000" dirty="0" err="1">
                <a:solidFill>
                  <a:srgbClr val="000000"/>
                </a:solidFill>
                <a:effectLst/>
                <a:latin typeface="Courier New" panose="02070309020205020404" pitchFamily="49" charset="0"/>
                <a:ea typeface="Times New Roman" panose="02020603050405020304" pitchFamily="18" charset="0"/>
              </a:rPr>
              <a:t>oggettoAritmetica.somma</a:t>
            </a:r>
            <a:r>
              <a:rPr lang="it-IT" sz="1000" dirty="0">
                <a:solidFill>
                  <a:srgbClr val="000000"/>
                </a:solidFill>
                <a:effectLst/>
                <a:latin typeface="Courier New" panose="02070309020205020404" pitchFamily="49" charset="0"/>
                <a:ea typeface="Times New Roman" panose="02020603050405020304" pitchFamily="18" charset="0"/>
              </a:rPr>
              <a:t>(5, 6);</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System.out.println(risultato);</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a:t>
            </a:r>
            <a:endParaRPr lang="it-IT" sz="1000" dirty="0">
              <a:effectLst/>
              <a:latin typeface="Courier New" panose="02070309020205020404" pitchFamily="49" charset="0"/>
              <a:ea typeface="Times New Roman" panose="02020603050405020304" pitchFamily="18" charset="0"/>
            </a:endParaRPr>
          </a:p>
          <a:p>
            <a:r>
              <a:rPr lang="fr-FR" sz="1200" dirty="0">
                <a:effectLst/>
                <a:latin typeface="Times New Roman" panose="02020603050405020304" pitchFamily="18" charset="0"/>
                <a:ea typeface="Times New Roman" panose="02020603050405020304" pitchFamily="18" charset="0"/>
              </a:rPr>
              <a:t>Le </a:t>
            </a:r>
            <a:r>
              <a:rPr lang="fr-FR" sz="1200" dirty="0" err="1">
                <a:effectLst/>
                <a:latin typeface="Times New Roman" panose="02020603050405020304" pitchFamily="18" charset="0"/>
                <a:ea typeface="Times New Roman" panose="02020603050405020304" pitchFamily="18" charset="0"/>
              </a:rPr>
              <a:t>variabili</a:t>
            </a:r>
            <a:r>
              <a:rPr lang="fr-FR" sz="1200" dirty="0">
                <a:effectLst/>
                <a:latin typeface="Times New Roman" panose="02020603050405020304" pitchFamily="18" charset="0"/>
                <a:ea typeface="Times New Roman" panose="02020603050405020304" pitchFamily="18" charset="0"/>
              </a:rPr>
              <a:t> </a:t>
            </a:r>
            <a:r>
              <a:rPr lang="fr-FR" sz="1200" dirty="0" err="1">
                <a:effectLst/>
                <a:latin typeface="Times New Roman" panose="02020603050405020304" pitchFamily="18" charset="0"/>
                <a:ea typeface="Times New Roman" panose="02020603050405020304" pitchFamily="18" charset="0"/>
              </a:rPr>
              <a:t>locali</a:t>
            </a:r>
            <a:r>
              <a:rPr lang="it-IT" sz="1200" dirty="0">
                <a:effectLst/>
                <a:latin typeface="Times New Roman" panose="02020603050405020304" pitchFamily="18" charset="0"/>
                <a:ea typeface="Times New Roman" panose="02020603050405020304" pitchFamily="18" charset="0"/>
              </a:rPr>
              <a:t>, a differenza delle variabili di istanza, non saranno inizializzate ad un valore nullo nel momento in cui viene istanziato l’oggetto a cui appartengono. Siccome le variabili locali non vengono inizializzate automaticamente, quindi bisogna farlo esplicitamente. Infatti il compilatore potrebbe restituire un messaggio di errore laddove ci sia possibilità che la variabile non sia inizializzata al runtime. Le variabili locali condividono il loro ciclo di vita con il blocco di codice in cui sono dichiarate. Per esempio la variabile </a:t>
            </a:r>
            <a:r>
              <a:rPr lang="it-IT" sz="1000" dirty="0">
                <a:effectLst/>
                <a:latin typeface="Courier New" panose="02070309020205020404" pitchFamily="49" charset="0"/>
                <a:ea typeface="Times New Roman" panose="02020603050405020304" pitchFamily="18" charset="0"/>
              </a:rPr>
              <a:t>risultato</a:t>
            </a:r>
            <a:r>
              <a:rPr lang="it-IT" sz="1200" dirty="0">
                <a:effectLst/>
                <a:latin typeface="Times New Roman" panose="02020603050405020304" pitchFamily="18" charset="0"/>
                <a:ea typeface="Times New Roman" panose="02020603050405020304" pitchFamily="18" charset="0"/>
              </a:rPr>
              <a:t> dell’esempio precedente è visibile solo all’interno del metodo </a:t>
            </a:r>
            <a:r>
              <a:rPr lang="it-IT" sz="1000" dirty="0">
                <a:effectLst/>
                <a:latin typeface="Courier New" panose="02070309020205020404" pitchFamily="49" charset="0"/>
                <a:ea typeface="Times New Roman" panose="02020603050405020304" pitchFamily="18" charset="0"/>
              </a:rPr>
              <a:t>main</a:t>
            </a:r>
            <a:r>
              <a:rPr lang="it-IT" sz="1200" dirty="0">
                <a:effectLst/>
                <a:latin typeface="Times New Roman" panose="02020603050405020304" pitchFamily="18" charset="0"/>
                <a:ea typeface="Times New Roman" panose="02020603050405020304" pitchFamily="18" charset="0"/>
              </a:rPr>
              <a:t>. Durante il runtime dell’applicazione, verrà allocato lo spazio in memoria per la variabile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risultato</a:t>
            </a:r>
            <a:r>
              <a:rPr lang="it-IT" sz="1200" dirty="0">
                <a:effectLst/>
                <a:latin typeface="Times New Roman" panose="02020603050405020304" pitchFamily="18" charset="0"/>
                <a:ea typeface="Times New Roman" panose="02020603050405020304" pitchFamily="18" charset="0"/>
              </a:rPr>
              <a:t>, nel momento in cui verrà eseguita la riga relativa alla sua dichiarazione. Una volta terminato il metodo, l’area di memoria che era stata allocata per la variabile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risultato</a:t>
            </a:r>
            <a:r>
              <a:rPr lang="it-IT" sz="1200" dirty="0">
                <a:effectLst/>
                <a:latin typeface="Times New Roman" panose="02020603050405020304" pitchFamily="18" charset="0"/>
                <a:ea typeface="Times New Roman" panose="02020603050405020304" pitchFamily="18" charset="0"/>
              </a:rPr>
              <a:t>,  verrà nuovamente deallocata, e messa a disposizione del programma per poter essere riutilizzata. </a:t>
            </a:r>
          </a:p>
          <a:p>
            <a:r>
              <a:rPr lang="it-IT" sz="1200" dirty="0">
                <a:effectLst/>
                <a:latin typeface="Times New Roman" panose="02020603050405020304" pitchFamily="18" charset="0"/>
                <a:ea typeface="Times New Roman" panose="02020603050405020304" pitchFamily="18" charset="0"/>
              </a:rPr>
              <a:t>Un’altra differenza importante da rimarcare tra le variabili locali e d’istanza è nell’utilizzo di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200" dirty="0">
                <a:effectLst/>
                <a:latin typeface="Times New Roman" panose="02020603050405020304" pitchFamily="18" charset="0"/>
                <a:ea typeface="Times New Roman" panose="02020603050405020304" pitchFamily="18" charset="0"/>
              </a:rPr>
              <a:t>, e gli altri specificatori di accessi che studieremo. Infatti, condividendo il ciclo di vita con il metodo in cui sono dichiarate, non ha senso (e non è possibile) anteporre alle variabili locali un modificatore d’accesso. Non è possibile quindi dichiarare una variabile locale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public</a:t>
            </a:r>
            <a:r>
              <a:rPr lang="it-IT" sz="1200" dirty="0">
                <a:effectLst/>
                <a:latin typeface="Times New Roman" panose="02020603050405020304" pitchFamily="18" charset="0"/>
                <a:ea typeface="Times New Roman" panose="02020603050405020304" pitchFamily="18" charset="0"/>
              </a:rPr>
              <a:t>.</a:t>
            </a:r>
          </a:p>
          <a:p>
            <a:pPr marL="914400"/>
            <a:r>
              <a:rPr lang="it-IT" sz="1200" b="1" dirty="0">
                <a:solidFill>
                  <a:srgbClr val="000000"/>
                </a:solidFill>
                <a:effectLst/>
                <a:latin typeface="Times New Roman" panose="02020603050405020304" pitchFamily="18" charset="0"/>
                <a:ea typeface="Times New Roman" panose="02020603050405020304" pitchFamily="18" charset="0"/>
              </a:rPr>
              <a:t>Il concetto e la modalità di allocazione di memoria di una variabile d’istanza si differenziano a tal punto dai concetti e dalle modalità di allocazione di memoria di una variabile locale (o di un parametro), che è possibile in una classe dare lo stesso nome ad una variabile locale (o ad un parametro) e ad una variabile d’istanza. Come vedremo questa pratica è molto utilizzata. </a:t>
            </a:r>
            <a:endParaRPr lang="it-IT" sz="1200" b="1" dirty="0">
              <a:effectLst/>
              <a:latin typeface="Times New Roman" panose="02020603050405020304" pitchFamily="18" charset="0"/>
              <a:ea typeface="Times New Roman" panose="02020603050405020304" pitchFamily="18" charset="0"/>
            </a:endParaRPr>
          </a:p>
          <a:p>
            <a:pPr marL="1600200" lvl="3" indent="-228600">
              <a:spcBef>
                <a:spcPts val="1200"/>
              </a:spcBef>
              <a:spcAft>
                <a:spcPts val="300"/>
              </a:spcAft>
              <a:buFont typeface="Arial" panose="020B0604020202020204" pitchFamily="34" charset="0"/>
              <a:buChar char=""/>
            </a:pPr>
            <a:r>
              <a:rPr lang="it-IT" sz="1400" b="1" dirty="0">
                <a:effectLst/>
                <a:latin typeface="Times New Roman" panose="02020603050405020304" pitchFamily="18" charset="0"/>
              </a:rPr>
              <a:t>2.2.3.3 Parametri di un metodo</a:t>
            </a:r>
          </a:p>
          <a:p>
            <a:r>
              <a:rPr lang="it-IT" sz="1200" dirty="0">
                <a:effectLst/>
                <a:latin typeface="Times New Roman" panose="02020603050405020304" pitchFamily="18" charset="0"/>
                <a:ea typeface="Times New Roman" panose="02020603050405020304" pitchFamily="18" charset="0"/>
              </a:rPr>
              <a:t>Le variabili dichiarate all’interno delle parentesi tonde che si trovano alla destra dell’identificatore nella dichiarazione di un metodo, sono dette </a:t>
            </a:r>
            <a:r>
              <a:rPr lang="it-IT" sz="1200" b="1" dirty="0">
                <a:effectLst/>
                <a:latin typeface="Times New Roman" panose="02020603050405020304" pitchFamily="18" charset="0"/>
                <a:ea typeface="Times New Roman" panose="02020603050405020304" pitchFamily="18" charset="0"/>
              </a:rPr>
              <a:t>parametri</a:t>
            </a:r>
            <a:r>
              <a:rPr lang="it-IT" sz="1200" dirty="0">
                <a:effectLst/>
                <a:latin typeface="Times New Roman" panose="02020603050405020304" pitchFamily="18" charset="0"/>
                <a:ea typeface="Times New Roman" panose="02020603050405020304" pitchFamily="18" charset="0"/>
              </a:rPr>
              <a:t> o </a:t>
            </a:r>
            <a:r>
              <a:rPr lang="it-IT" sz="1200" b="1" dirty="0">
                <a:effectLst/>
                <a:latin typeface="Times New Roman" panose="02020603050405020304" pitchFamily="18" charset="0"/>
                <a:ea typeface="Times New Roman" panose="02020603050405020304" pitchFamily="18" charset="0"/>
              </a:rPr>
              <a:t>argomenti</a:t>
            </a:r>
            <a:r>
              <a:rPr lang="it-IT" sz="1200" dirty="0">
                <a:effectLst/>
                <a:latin typeface="Times New Roman" panose="02020603050405020304" pitchFamily="18" charset="0"/>
                <a:ea typeface="Times New Roman" panose="02020603050405020304" pitchFamily="18" charset="0"/>
              </a:rPr>
              <a:t> del metodo.</a:t>
            </a:r>
          </a:p>
          <a:p>
            <a:r>
              <a:rPr lang="it-IT" sz="1200" dirty="0">
                <a:effectLst/>
                <a:latin typeface="Times New Roman" panose="02020603050405020304" pitchFamily="18" charset="0"/>
                <a:ea typeface="Times New Roman" panose="02020603050405020304" pitchFamily="18" charset="0"/>
              </a:rPr>
              <a:t>Per esempio, nella seguente dichiarazione del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somma</a:t>
            </a:r>
            <a:r>
              <a:rPr lang="it-IT" sz="1200" dirty="0">
                <a:effectLst/>
                <a:latin typeface="Times New Roman" panose="02020603050405020304" pitchFamily="18" charset="0"/>
                <a:ea typeface="Times New Roman" panose="02020603050405020304" pitchFamily="18" charset="0"/>
              </a:rPr>
              <a:t> della classe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Aritmetica</a:t>
            </a:r>
            <a:r>
              <a:rPr lang="it-IT" sz="1200" dirty="0">
                <a:effectLst/>
                <a:latin typeface="Times New Roman" panose="02020603050405020304" pitchFamily="18" charset="0"/>
                <a:ea typeface="Times New Roman" panose="02020603050405020304" pitchFamily="18" charset="0"/>
              </a:rPr>
              <a:t> vengono dichiarati due parametri interi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200" dirty="0">
                <a:effectLst/>
                <a:latin typeface="Times New Roman" panose="02020603050405020304" pitchFamily="18" charset="0"/>
                <a:ea typeface="Times New Roman" panose="02020603050405020304" pitchFamily="18" charset="0"/>
              </a:rPr>
              <a:t>:</a:t>
            </a:r>
          </a:p>
          <a:p>
            <a:r>
              <a:rPr lang="fr-FR" sz="1000" dirty="0">
                <a:solidFill>
                  <a:srgbClr val="000000"/>
                </a:solidFill>
                <a:effectLst/>
                <a:latin typeface="Courier New" panose="02070309020205020404" pitchFamily="49" charset="0"/>
                <a:ea typeface="Times New Roman" panose="02020603050405020304" pitchFamily="18" charset="0"/>
              </a:rPr>
              <a:t>public int somma(int x, int y) {</a:t>
            </a:r>
            <a:endParaRPr lang="it-IT" sz="1000" dirty="0">
              <a:effectLst/>
              <a:latin typeface="Courier New" panose="02070309020205020404" pitchFamily="49" charset="0"/>
              <a:ea typeface="Times New Roman" panose="02020603050405020304" pitchFamily="18" charset="0"/>
            </a:endParaRPr>
          </a:p>
          <a:p>
            <a:r>
              <a:rPr lang="en-US" sz="1000" dirty="0">
                <a:solidFill>
                  <a:srgbClr val="000000"/>
                </a:solidFill>
                <a:effectLst/>
                <a:latin typeface="Courier New" panose="02070309020205020404" pitchFamily="49" charset="0"/>
                <a:ea typeface="Times New Roman" panose="02020603050405020304" pitchFamily="18" charset="0"/>
              </a:rPr>
              <a:t>    </a:t>
            </a:r>
            <a:r>
              <a:rPr lang="fr-FR" sz="1000" dirty="0">
                <a:solidFill>
                  <a:srgbClr val="000000"/>
                </a:solidFill>
                <a:effectLst/>
                <a:latin typeface="Courier New" panose="02070309020205020404" pitchFamily="49" charset="0"/>
                <a:ea typeface="Times New Roman" panose="02020603050405020304" pitchFamily="18" charset="0"/>
              </a:rPr>
              <a:t>return (x + y);</a:t>
            </a:r>
            <a:endParaRPr lang="it-IT" sz="1000" dirty="0">
              <a:effectLst/>
              <a:latin typeface="Courier New" panose="02070309020205020404" pitchFamily="49" charset="0"/>
              <a:ea typeface="Times New Roman" panose="02020603050405020304" pitchFamily="18" charset="0"/>
            </a:endParaRPr>
          </a:p>
          <a:p>
            <a:r>
              <a:rPr lang="fr-FR" sz="1000" dirty="0">
                <a:solidFill>
                  <a:srgbClr val="000000"/>
                </a:solidFill>
                <a:effectLst/>
                <a:latin typeface="Courier New" panose="02070309020205020404" pitchFamily="49" charset="0"/>
                <a:ea typeface="Times New Roman" panose="02020603050405020304" pitchFamily="18" charset="0"/>
              </a:rPr>
              <a:t>} </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Abbiamo già visto, che i parametri di un metodo saranno inizializzati al momento della chiamata del metodo. Infatti, per chiamare il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somma</a:t>
            </a:r>
            <a:r>
              <a:rPr lang="it-IT" sz="1200" dirty="0">
                <a:effectLst/>
                <a:latin typeface="Times New Roman" panose="02020603050405020304" pitchFamily="18" charset="0"/>
                <a:ea typeface="Times New Roman" panose="02020603050405020304" pitchFamily="18" charset="0"/>
              </a:rPr>
              <a:t> dovremo passare i valori ai parametri, per esempio:</a:t>
            </a:r>
          </a:p>
          <a:p>
            <a:r>
              <a:rPr lang="it-IT" sz="10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int risultato = </a:t>
            </a:r>
            <a:r>
              <a:rPr lang="it-IT" sz="1000" dirty="0" err="1">
                <a:solidFill>
                  <a:srgbClr val="000000"/>
                </a:solidFill>
                <a:effectLst/>
                <a:latin typeface="Courier New" panose="02070309020205020404" pitchFamily="49" charset="0"/>
                <a:ea typeface="Times New Roman" panose="02020603050405020304" pitchFamily="18" charset="0"/>
              </a:rPr>
              <a:t>oggettoAritmetica</a:t>
            </a:r>
            <a:r>
              <a:rPr lang="it-IT" sz="1000"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.somma</a:t>
            </a:r>
            <a:r>
              <a:rPr lang="it-IT" sz="10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(5, 6);</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In particolare, durante l’esecuzione del programma, all’interno del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somma</a:t>
            </a:r>
            <a:r>
              <a:rPr lang="it-IT" sz="1200" dirty="0">
                <a:effectLst/>
                <a:latin typeface="Times New Roman" panose="02020603050405020304" pitchFamily="18" charset="0"/>
                <a:ea typeface="Times New Roman" panose="02020603050405020304" pitchFamily="18" charset="0"/>
              </a:rPr>
              <a:t>, la variabile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200" dirty="0">
                <a:effectLst/>
                <a:latin typeface="Times New Roman" panose="02020603050405020304" pitchFamily="18" charset="0"/>
                <a:ea typeface="Times New Roman" panose="02020603050405020304" pitchFamily="18" charset="0"/>
              </a:rPr>
              <a:t> varrà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5</a:t>
            </a:r>
            <a:r>
              <a:rPr lang="it-IT" sz="1200" dirty="0">
                <a:effectLst/>
                <a:latin typeface="Times New Roman" panose="02020603050405020304" pitchFamily="18" charset="0"/>
                <a:ea typeface="Times New Roman" panose="02020603050405020304" pitchFamily="18" charset="0"/>
              </a:rPr>
              <a:t>, mentre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200" dirty="0">
                <a:effectLst/>
                <a:latin typeface="Times New Roman" panose="02020603050405020304" pitchFamily="18" charset="0"/>
                <a:ea typeface="Times New Roman" panose="02020603050405020304" pitchFamily="18" charset="0"/>
              </a:rPr>
              <a:t> varrà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6</a:t>
            </a:r>
            <a:r>
              <a:rPr lang="it-IT" sz="1200" dirty="0">
                <a:effectLst/>
                <a:latin typeface="Times New Roman" panose="02020603050405020304" pitchFamily="18" charset="0"/>
                <a:ea typeface="Times New Roman" panose="02020603050405020304" pitchFamily="18" charset="0"/>
              </a:rPr>
              <a:t>. Potremmo anche scrivere equivalentemente:</a:t>
            </a:r>
          </a:p>
          <a:p>
            <a:r>
              <a:rPr lang="it-IT" sz="1000" dirty="0">
                <a:solidFill>
                  <a:srgbClr val="000000"/>
                </a:solidFill>
                <a:effectLst/>
                <a:latin typeface="Courier New" panose="02070309020205020404" pitchFamily="49" charset="0"/>
                <a:ea typeface="Times New Roman" panose="02020603050405020304" pitchFamily="18" charset="0"/>
              </a:rPr>
              <a:t>int a = 5, b = 6;</a:t>
            </a:r>
            <a:endParaRPr lang="it-IT" sz="1000" dirty="0">
              <a:effectLst/>
              <a:latin typeface="Courier New" panose="02070309020205020404" pitchFamily="49" charset="0"/>
              <a:ea typeface="Times New Roman" panose="02020603050405020304" pitchFamily="18" charset="0"/>
            </a:endParaRPr>
          </a:p>
          <a:p>
            <a:r>
              <a:rPr lang="it-IT" sz="1000" dirty="0">
                <a:solidFill>
                  <a:srgbClr val="000000"/>
                </a:solidFill>
                <a:effectLst/>
                <a:latin typeface="Courier New" panose="02070309020205020404" pitchFamily="49" charset="0"/>
                <a:ea typeface="Times New Roman" panose="02020603050405020304" pitchFamily="18" charset="0"/>
              </a:rPr>
              <a:t>int risultato = </a:t>
            </a:r>
            <a:r>
              <a:rPr lang="it-IT" sz="1000" dirty="0" err="1">
                <a:solidFill>
                  <a:srgbClr val="000000"/>
                </a:solidFill>
                <a:effectLst/>
                <a:latin typeface="Courier New" panose="02070309020205020404" pitchFamily="49" charset="0"/>
                <a:ea typeface="Times New Roman" panose="02020603050405020304" pitchFamily="18" charset="0"/>
              </a:rPr>
              <a:t>oggettoAritmetica.somma</a:t>
            </a:r>
            <a:r>
              <a:rPr lang="it-IT" sz="1000" dirty="0">
                <a:solidFill>
                  <a:srgbClr val="000000"/>
                </a:solidFill>
                <a:effectLst/>
                <a:latin typeface="Courier New" panose="02070309020205020404" pitchFamily="49" charset="0"/>
                <a:ea typeface="Times New Roman" panose="02020603050405020304" pitchFamily="18" charset="0"/>
              </a:rPr>
              <a:t>(a, b);</a:t>
            </a:r>
            <a:endParaRPr lang="it-IT" sz="1000" dirty="0">
              <a:effectLst/>
              <a:latin typeface="Courier New" panose="02070309020205020404" pitchFamily="49" charset="0"/>
              <a:ea typeface="Times New Roman" panose="02020603050405020304" pitchFamily="18" charset="0"/>
            </a:endParaRPr>
          </a:p>
          <a:p>
            <a:r>
              <a:rPr lang="it-IT" sz="1200" dirty="0">
                <a:effectLst/>
                <a:latin typeface="Times New Roman" panose="02020603050405020304" pitchFamily="18" charset="0"/>
                <a:ea typeface="Times New Roman" panose="02020603050405020304" pitchFamily="18" charset="0"/>
              </a:rPr>
              <a:t>ed ottenere lo stesso risultato. Infatti il passaggio di parametri ad un metodo, avviene sempre tramite il suo valore. Questo significa che non vengono passate le variabili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a</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b</a:t>
            </a:r>
            <a:r>
              <a:rPr lang="it-IT" sz="1200" dirty="0">
                <a:effectLst/>
                <a:latin typeface="Times New Roman" panose="02020603050405020304" pitchFamily="18" charset="0"/>
                <a:ea typeface="Times New Roman" panose="02020603050405020304" pitchFamily="18" charset="0"/>
              </a:rPr>
              <a:t> al metodo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somma</a:t>
            </a:r>
            <a:r>
              <a:rPr lang="it-IT" sz="1200" dirty="0">
                <a:effectLst/>
                <a:latin typeface="Times New Roman" panose="02020603050405020304" pitchFamily="18" charset="0"/>
                <a:ea typeface="Times New Roman" panose="02020603050405020304" pitchFamily="18" charset="0"/>
              </a:rPr>
              <a:t>, bensì i loro valori, che all’interno del metodo saranno immagazzinati nei parametri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200" dirty="0">
                <a:effectLst/>
                <a:latin typeface="Times New Roman" panose="02020603050405020304" pitchFamily="18" charset="0"/>
                <a:ea typeface="Times New Roman" panose="02020603050405020304" pitchFamily="18" charset="0"/>
              </a:rPr>
              <a:t> e </a:t>
            </a:r>
            <a:r>
              <a:rPr lang="it-IT" sz="10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200" dirty="0">
                <a:effectLst/>
                <a:latin typeface="Times New Roman" panose="02020603050405020304" pitchFamily="18" charset="0"/>
                <a:ea typeface="Times New Roman" panose="02020603050405020304" pitchFamily="18" charset="0"/>
              </a:rPr>
              <a:t>.</a:t>
            </a:r>
          </a:p>
          <a:p>
            <a:r>
              <a:rPr lang="it-IT" sz="1200" dirty="0">
                <a:effectLst/>
                <a:latin typeface="Times New Roman" panose="02020603050405020304" pitchFamily="18" charset="0"/>
                <a:ea typeface="Times New Roman" panose="02020603050405020304" pitchFamily="18" charset="0"/>
              </a:rPr>
              <a:t>È importante sottolineare che un parametro si può considerare anche una variabile locale del metodo, essendo visibile solo all’interno del metodo e condividendo con esso il ciclo di vita. La differenza principale sussiste solo nella posizione della dichiarazione di una variabile locale (che potrebbe essere dichiarata anche alla fine del metodo) e quella di un parametro (che viene dichiarato contestualmente al metodo stesso), non nel processo di immagazzinamento in memoria. Durante il runtime dell’applicazione, quando viene invocato un metodo, viene allocata in memoria lo spazio necessario per memorizzare tutti i parametri del metodo. Una volta terminato il metodo, questo spazio, verrà nuovamente deallocato, e messo a disposizione del programma per poter essere riutilizzato. </a:t>
            </a:r>
          </a:p>
        </p:txBody>
      </p:sp>
    </p:spTree>
    <p:extLst>
      <p:ext uri="{BB962C8B-B14F-4D97-AF65-F5344CB8AC3E}">
        <p14:creationId xmlns:p14="http://schemas.microsoft.com/office/powerpoint/2010/main" val="28711624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Quando creiamo un oggetto utilizzando la parola chiave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new</a:t>
            </a:r>
            <a:r>
              <a:rPr lang="it-IT" sz="1800" dirty="0">
                <a:effectLst/>
                <a:latin typeface="Times New Roman" panose="02020603050405020304" pitchFamily="18" charset="0"/>
                <a:ea typeface="Times New Roman" panose="02020603050405020304" pitchFamily="18" charset="0"/>
              </a:rPr>
              <a:t>, c’è sempre una chiamata ad un costruttore (per esempio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new Punto()</a:t>
            </a:r>
            <a:r>
              <a:rPr lang="it-IT" sz="1800" dirty="0">
                <a:effectLst/>
                <a:latin typeface="Times New Roman" panose="02020603050405020304" pitchFamily="18" charset="0"/>
                <a:ea typeface="Times New Roman" panose="02020603050405020304" pitchFamily="18" charset="0"/>
              </a:rPr>
              <a:t>). Eppure, prima del paragrafo precedente, non abbiamo mai fornito costruttori alle nostre classi, ma come appena detto, abbiamo chiamato costruttori ogni volta che abbiamo istanziato oggetti! Java infatti possiede una caratteristica molto importante troppo spesso ignorata. In diverse situazioni, il compilatore inserisce automaticamente e in modo trasparente istruzioni non inserite dal programmatore. Se infatti proviamo a compilare una classe sprovvista di costruttore, il compilatore ne fornirà uno implicitamente. Il costruttore inserito non contiene comandi che provocano qualche conseguenza visibile al programmatore. Esso è detto </a:t>
            </a:r>
            <a:r>
              <a:rPr lang="it-IT" sz="1800" b="1" dirty="0">
                <a:effectLst/>
                <a:latin typeface="Times New Roman" panose="02020603050405020304" pitchFamily="18" charset="0"/>
                <a:ea typeface="Times New Roman" panose="02020603050405020304" pitchFamily="18" charset="0"/>
              </a:rPr>
              <a:t>costruttore di default</a:t>
            </a:r>
            <a:r>
              <a:rPr lang="it-IT" sz="1800" dirty="0">
                <a:effectLst/>
                <a:latin typeface="Times New Roman" panose="02020603050405020304" pitchFamily="18" charset="0"/>
                <a:ea typeface="Times New Roman" panose="02020603050405020304" pitchFamily="18" charset="0"/>
              </a:rPr>
              <a:t> e non ha parametri. Ciò giustifica il fatto che fino ad ora non abbiamo mai istanziato oggetti passando parametri al costruttore.</a:t>
            </a:r>
          </a:p>
          <a:p>
            <a:r>
              <a:rPr lang="it-IT" sz="1800" dirty="0">
                <a:effectLst/>
                <a:latin typeface="Times New Roman" panose="02020603050405020304" pitchFamily="18" charset="0"/>
                <a:ea typeface="Times New Roman" panose="02020603050405020304" pitchFamily="18" charset="0"/>
              </a:rPr>
              <a:t>Se per esempio codifichiamo la classe</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 Punto</a:t>
            </a:r>
            <a:r>
              <a:rPr lang="it-IT" sz="1800" dirty="0">
                <a:effectLst/>
                <a:latin typeface="Times New Roman" panose="02020603050405020304" pitchFamily="18" charset="0"/>
                <a:ea typeface="Times New Roman" panose="02020603050405020304" pitchFamily="18" charset="0"/>
              </a:rPr>
              <a:t> nel modo seguente: </a:t>
            </a:r>
          </a:p>
          <a:p>
            <a:r>
              <a:rPr lang="en-GB" sz="1800" dirty="0">
                <a:solidFill>
                  <a:srgbClr val="000000"/>
                </a:solidFill>
                <a:effectLst/>
                <a:latin typeface="Courier New" panose="02070309020205020404" pitchFamily="49" charset="0"/>
                <a:ea typeface="Times New Roman" panose="02020603050405020304" pitchFamily="18" charset="0"/>
              </a:rPr>
              <a:t>public class Punto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int x;</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public int y;</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Al momento della compilazione, il compilatore aggiungerebbe ad essa il costruttore di default (in grassetto):</a:t>
            </a:r>
          </a:p>
          <a:p>
            <a:r>
              <a:rPr lang="it-IT" sz="1800" dirty="0">
                <a:solidFill>
                  <a:srgbClr val="000000"/>
                </a:solidFill>
                <a:effectLst/>
                <a:latin typeface="Courier New" panose="02070309020205020404" pitchFamily="49" charset="0"/>
                <a:ea typeface="Times New Roman" panose="02020603050405020304" pitchFamily="18" charset="0"/>
              </a:rPr>
              <a:t>public class Punto { </a:t>
            </a:r>
            <a:endParaRPr lang="it-IT" sz="1800" dirty="0">
              <a:effectLst/>
              <a:latin typeface="Courier New" panose="02070309020205020404" pitchFamily="49" charset="0"/>
              <a:ea typeface="Times New Roman" panose="02020603050405020304" pitchFamily="18" charset="0"/>
            </a:endParaRPr>
          </a:p>
          <a:p>
            <a:r>
              <a:rPr lang="en-GB" sz="1800" b="1" dirty="0">
                <a:solidFill>
                  <a:srgbClr val="000000"/>
                </a:solidFill>
                <a:effectLst/>
                <a:latin typeface="Courier New" panose="02070309020205020404" pitchFamily="49" charset="0"/>
                <a:ea typeface="Times New Roman" panose="02020603050405020304" pitchFamily="18" charset="0"/>
              </a:rPr>
              <a:t>    </a:t>
            </a:r>
            <a:r>
              <a:rPr lang="it-IT" sz="1800" b="1" dirty="0">
                <a:solidFill>
                  <a:srgbClr val="000000"/>
                </a:solidFill>
                <a:effectLst/>
                <a:latin typeface="Courier New" panose="02070309020205020404" pitchFamily="49" charset="0"/>
                <a:ea typeface="Times New Roman" panose="02020603050405020304" pitchFamily="18" charset="0"/>
              </a:rPr>
              <a:t>public Punto() {</a:t>
            </a:r>
            <a:endParaRPr lang="it-IT" sz="1800" dirty="0">
              <a:effectLst/>
              <a:latin typeface="Courier New" panose="02070309020205020404" pitchFamily="49" charset="0"/>
              <a:ea typeface="Times New Roman" panose="02020603050405020304" pitchFamily="18" charset="0"/>
            </a:endParaRPr>
          </a:p>
          <a:p>
            <a:r>
              <a:rPr lang="en-US" sz="1800" b="1" dirty="0">
                <a:solidFill>
                  <a:srgbClr val="000000"/>
                </a:solidFill>
                <a:effectLst/>
                <a:latin typeface="Courier New" panose="02070309020205020404" pitchFamily="49" charset="0"/>
                <a:ea typeface="Times New Roman" panose="02020603050405020304" pitchFamily="18" charset="0"/>
              </a:rPr>
              <a:t>    </a:t>
            </a:r>
            <a:r>
              <a:rPr lang="it-IT" sz="1800" b="1"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public int x;</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public int y;</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Ecco perché fino ad ora abbiamo istanziato gli oggetti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con la sintassi:</a:t>
            </a:r>
          </a:p>
          <a:p>
            <a:r>
              <a:rPr lang="it-IT" sz="1800" dirty="0">
                <a:solidFill>
                  <a:srgbClr val="000000"/>
                </a:solidFill>
                <a:effectLst/>
                <a:latin typeface="Courier New" panose="02070309020205020404" pitchFamily="49" charset="0"/>
                <a:ea typeface="Times New Roman" panose="02020603050405020304" pitchFamily="18" charset="0"/>
              </a:rPr>
              <a:t>Punto p = new Punto();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Anche senza la presenza esplicita di costruttori. </a:t>
            </a: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Notare che se non esistesse il costruttore di default, avremmo dovuto imparare prima i costruttori e poi gli oggetti, e quindi sarebbe stato più complicato imparare questi argomenti. Questa è una delle caratteristiche che faceva sì che Java all’inizio fosse definito un linguaggio “semplice da imparare”. Infatti, il fatto che sia implicitamente inserito dal compilatore Java un costruttore all’interno delle classi, ci ha permesso di parlare di istanze di oggetti senza per forza dover prima spiegare un concetto come il costruttore.</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Sottolineiamo una volta di più, che il costruttore di default viene inserito in una classe dal compilatore se e solo se il programmatore non ne ha fornito uno esplicitamente. Nel momento in cui il programmatore fornisce ad una classe un costruttore, sia esso con o senza parametri, il compilatore </a:t>
            </a:r>
            <a:r>
              <a:rPr lang="it-IT" sz="1800" u="sng" dirty="0">
                <a:effectLst/>
                <a:latin typeface="Times New Roman" panose="02020603050405020304" pitchFamily="18" charset="0"/>
                <a:ea typeface="Times New Roman" panose="02020603050405020304" pitchFamily="18" charset="0"/>
              </a:rPr>
              <a:t>non</a:t>
            </a:r>
            <a:r>
              <a:rPr lang="it-IT" sz="1800" dirty="0">
                <a:effectLst/>
                <a:latin typeface="Times New Roman" panose="02020603050405020304" pitchFamily="18" charset="0"/>
                <a:ea typeface="Times New Roman" panose="02020603050405020304" pitchFamily="18" charset="0"/>
              </a:rPr>
              <a:t> inserirà quello di default. L’argomento sarà ulteriormente approfondito nel capitolo 6 dove scopriremo anche altre “istruzioni fantasma”.</a:t>
            </a:r>
          </a:p>
          <a:p>
            <a:pPr marL="914400"/>
            <a:r>
              <a:rPr lang="it-IT" sz="1800" b="1" dirty="0">
                <a:solidFill>
                  <a:srgbClr val="000000"/>
                </a:solidFill>
                <a:effectLst/>
                <a:latin typeface="Times New Roman" panose="02020603050405020304" pitchFamily="18" charset="0"/>
                <a:ea typeface="Times New Roman" panose="02020603050405020304" pitchFamily="18" charset="0"/>
              </a:rPr>
              <a:t>Un costruttore senza parametri inserito dal programmatore </a:t>
            </a:r>
            <a:r>
              <a:rPr lang="it-IT" sz="1800" b="1" u="sng" dirty="0">
                <a:solidFill>
                  <a:srgbClr val="000000"/>
                </a:solidFill>
                <a:effectLst/>
                <a:latin typeface="Times New Roman" panose="02020603050405020304" pitchFamily="18" charset="0"/>
                <a:ea typeface="Times New Roman" panose="02020603050405020304" pitchFamily="18" charset="0"/>
              </a:rPr>
              <a:t>non</a:t>
            </a:r>
            <a:r>
              <a:rPr lang="it-IT" sz="1800" b="1" dirty="0">
                <a:solidFill>
                  <a:srgbClr val="000000"/>
                </a:solidFill>
                <a:effectLst/>
                <a:latin typeface="Times New Roman" panose="02020603050405020304" pitchFamily="18" charset="0"/>
                <a:ea typeface="Times New Roman" panose="02020603050405020304" pitchFamily="18" charset="0"/>
              </a:rPr>
              <a:t> si chiama costruttore di default, è solo un costruttore senza parametri. La terminologia è importante, non dobbiamo confondere due concetti diversi tra loro.</a:t>
            </a:r>
            <a:endParaRPr lang="it-IT" sz="1800" b="1" dirty="0">
              <a:effectLst/>
              <a:latin typeface="Times New Roman" panose="02020603050405020304" pitchFamily="18" charset="0"/>
              <a:ea typeface="Times New Roman" panose="02020603050405020304" pitchFamily="18" charset="0"/>
            </a:endParaRPr>
          </a:p>
          <a:p>
            <a:pPr algn="just"/>
            <a:r>
              <a:rPr lang="it-IT" sz="1800" b="1" dirty="0">
                <a:effectLst/>
                <a:latin typeface="Times New Roman" panose="02020603050405020304" pitchFamily="18" charset="0"/>
                <a:ea typeface="Times New Roman" panose="02020603050405020304" pitchFamily="18" charset="0"/>
              </a:rPr>
              <a:t>(ICONA BEST PRACTICE)</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L’ordine dei membri all’interno della classe non è importante al fine della compilazione. Possiamo scrivere prima i metodi, poi i costruttori e poi le variabili d’istanza, o alternare un costruttore a una variabile e ad un metodo; è tutto legale. La creazione di un oggetto di una classe in memoria, infatti, non provoca l’esecuzione in sequenza del codice della classe come se fosse un programma funzionale. Solitamente però, la convenzione richiede di definire prima le variabili d’istanza, poi i costruttori ed infine i metodi.</a:t>
            </a:r>
          </a:p>
        </p:txBody>
      </p:sp>
    </p:spTree>
    <p:extLst>
      <p:ext uri="{BB962C8B-B14F-4D97-AF65-F5344CB8AC3E}">
        <p14:creationId xmlns:p14="http://schemas.microsoft.com/office/powerpoint/2010/main" val="42033353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Un costruttore ha sempre e comunque lo stesso nome della classe in cui è dichiarato. Ricordiamoci che è importante anche fare attenzione a lettere maiuscole e minuscole.</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Il fatto che non abbia tipo di ritorno, non significa che il tipo di ritorno è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void</a:t>
            </a:r>
            <a:r>
              <a:rPr lang="it-IT" sz="1800" dirty="0">
                <a:effectLst/>
                <a:latin typeface="Times New Roman" panose="02020603050405020304" pitchFamily="18" charset="0"/>
                <a:ea typeface="Times New Roman" panose="02020603050405020304" pitchFamily="18" charset="0"/>
              </a:rPr>
              <a:t>, ma che non dichiara alcun tipo di ritorno. Si distingue dai metodi ordinari anche per questo.</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Per esempio, viene presentata una classe con un costruttore dichiarato esplicitamente (in grassetto):</a:t>
            </a:r>
          </a:p>
          <a:p>
            <a:r>
              <a:rPr lang="it-IT" sz="1800" dirty="0">
                <a:solidFill>
                  <a:srgbClr val="000000"/>
                </a:solidFill>
                <a:effectLst/>
                <a:latin typeface="Courier New" panose="02070309020205020404" pitchFamily="49" charset="0"/>
                <a:ea typeface="Times New Roman" panose="02020603050405020304" pitchFamily="18" charset="0"/>
              </a:rPr>
              <a:t>public class Punto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a:t>
            </a:r>
            <a:r>
              <a:rPr lang="it-IT" sz="1800" dirty="0">
                <a:solidFill>
                  <a:srgbClr val="000000"/>
                </a:solidFill>
                <a:effectLst/>
                <a:latin typeface="Courier New" panose="02070309020205020404" pitchFamily="49" charset="0"/>
                <a:ea typeface="Times New Roman" panose="02020603050405020304" pitchFamily="18" charset="0"/>
              </a:rPr>
              <a:t>int x;</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a:t>
            </a:r>
            <a:r>
              <a:rPr lang="it-IT" sz="1800" dirty="0">
                <a:solidFill>
                  <a:srgbClr val="000000"/>
                </a:solidFill>
                <a:effectLst/>
                <a:latin typeface="Courier New" panose="02070309020205020404" pitchFamily="49" charset="0"/>
                <a:ea typeface="Times New Roman" panose="02020603050405020304" pitchFamily="18" charset="0"/>
              </a:rPr>
              <a:t>int y;</a:t>
            </a:r>
            <a:endParaRPr lang="it-IT" sz="1800" dirty="0">
              <a:effectLst/>
              <a:latin typeface="Courier New" panose="02070309020205020404" pitchFamily="49" charset="0"/>
              <a:ea typeface="Times New Roman" panose="02020603050405020304" pitchFamily="18" charset="0"/>
            </a:endParaRPr>
          </a:p>
          <a:p>
            <a:r>
              <a:rPr lang="en-US" sz="1800" b="1" dirty="0">
                <a:solidFill>
                  <a:srgbClr val="000000"/>
                </a:solidFill>
                <a:effectLst/>
                <a:latin typeface="Courier New" panose="02070309020205020404" pitchFamily="49" charset="0"/>
                <a:ea typeface="Times New Roman" panose="02020603050405020304" pitchFamily="18" charset="0"/>
              </a:rPr>
              <a:t>    </a:t>
            </a:r>
            <a:r>
              <a:rPr lang="it-IT" sz="1800" b="1" dirty="0">
                <a:solidFill>
                  <a:srgbClr val="000000"/>
                </a:solidFill>
                <a:effectLst/>
                <a:latin typeface="Courier New" panose="02070309020205020404" pitchFamily="49" charset="0"/>
                <a:ea typeface="Times New Roman" panose="02020603050405020304" pitchFamily="18" charset="0"/>
              </a:rPr>
              <a:t>public Punto(){</a:t>
            </a:r>
            <a:endParaRPr lang="it-IT" sz="1800" dirty="0">
              <a:effectLst/>
              <a:latin typeface="Courier New" panose="02070309020205020404" pitchFamily="49" charset="0"/>
              <a:ea typeface="Times New Roman" panose="02020603050405020304" pitchFamily="18" charset="0"/>
            </a:endParaRPr>
          </a:p>
          <a:p>
            <a:r>
              <a:rPr lang="en-US" sz="1800" b="1" dirty="0">
                <a:solidFill>
                  <a:srgbClr val="000000"/>
                </a:solidFill>
                <a:effectLst/>
                <a:latin typeface="Courier New" panose="02070309020205020404" pitchFamily="49" charset="0"/>
                <a:ea typeface="Times New Roman" panose="02020603050405020304" pitchFamily="18" charset="0"/>
              </a:rPr>
              <a:t>        </a:t>
            </a:r>
            <a:r>
              <a:rPr lang="it-IT" sz="1800" b="1" dirty="0">
                <a:solidFill>
                  <a:srgbClr val="000000"/>
                </a:solidFill>
                <a:effectLst/>
                <a:latin typeface="Courier New" panose="02070309020205020404" pitchFamily="49" charset="0"/>
                <a:ea typeface="Times New Roman" panose="02020603050405020304" pitchFamily="18" charset="0"/>
              </a:rPr>
              <a:t>System.out.println("Costruito un Punto!");</a:t>
            </a:r>
            <a:endParaRPr lang="it-IT" sz="1800" dirty="0">
              <a:effectLst/>
              <a:latin typeface="Courier New" panose="02070309020205020404" pitchFamily="49" charset="0"/>
              <a:ea typeface="Times New Roman" panose="02020603050405020304" pitchFamily="18" charset="0"/>
            </a:endParaRPr>
          </a:p>
          <a:p>
            <a:r>
              <a:rPr lang="it-IT" sz="1800" b="1"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Una volta dichiarato questo costruttore (nessun tipo di ritorno, stesso nome della classe), verrà eseguito il suo blocco di codice ogni volta che sarà istanziato un oggetto. Infatti, analizziamo meglio la sintassi che permette di istanziare oggetti. Per esempio, consideriamo le seguenti righe:</a:t>
            </a:r>
          </a:p>
          <a:p>
            <a:r>
              <a:rPr lang="it-IT" sz="1800" dirty="0">
                <a:solidFill>
                  <a:srgbClr val="000000"/>
                </a:solidFill>
                <a:effectLst/>
                <a:latin typeface="Courier New" panose="02070309020205020404" pitchFamily="49" charset="0"/>
                <a:ea typeface="Times New Roman" panose="02020603050405020304" pitchFamily="18" charset="0"/>
              </a:rPr>
              <a:t>Punto punto1;</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punto1 = new Punto();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Nella prima riga, dichiariamo un oggetto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punto1</a:t>
            </a:r>
            <a:r>
              <a:rPr lang="it-IT" sz="1800" dirty="0">
                <a:effectLst/>
                <a:latin typeface="Times New Roman" panose="02020603050405020304" pitchFamily="18" charset="0"/>
                <a:ea typeface="Times New Roman" panose="02020603050405020304" pitchFamily="18" charset="0"/>
              </a:rPr>
              <a:t>,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Nella seconda istanziamo un oggetto di tipo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e poi lo assegniamo alla variabile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punto1</a:t>
            </a:r>
            <a:r>
              <a:rPr lang="it-IT" sz="1800" dirty="0">
                <a:effectLst/>
                <a:latin typeface="Times New Roman" panose="02020603050405020304" pitchFamily="18" charset="0"/>
                <a:ea typeface="Times New Roman" panose="02020603050405020304" pitchFamily="18" charset="0"/>
              </a:rPr>
              <a:t>. Queste due righe potrebbero tranquillamente essere condensate in un’unica riga:</a:t>
            </a:r>
          </a:p>
          <a:p>
            <a:r>
              <a:rPr lang="it-IT" sz="1800" dirty="0">
                <a:solidFill>
                  <a:srgbClr val="000000"/>
                </a:solidFill>
                <a:effectLst/>
                <a:latin typeface="Courier New" panose="02070309020205020404" pitchFamily="49" charset="0"/>
                <a:ea typeface="Times New Roman" panose="02020603050405020304" pitchFamily="18" charset="0"/>
              </a:rPr>
              <a:t>Punto punto1 = new Punto();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Come accennato in precedenza però, è la parola chiave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new</a:t>
            </a:r>
            <a:r>
              <a:rPr lang="it-IT" sz="1800" dirty="0">
                <a:effectLst/>
                <a:latin typeface="Times New Roman" panose="02020603050405020304" pitchFamily="18" charset="0"/>
                <a:ea typeface="Times New Roman" panose="02020603050405020304" pitchFamily="18" charset="0"/>
              </a:rPr>
              <a:t> che istanzia formalmente l’oggetto. Perciò basterebbe la sintassi:</a:t>
            </a:r>
          </a:p>
          <a:p>
            <a:r>
              <a:rPr lang="it-IT" sz="1800" dirty="0">
                <a:solidFill>
                  <a:srgbClr val="000000"/>
                </a:solidFill>
                <a:effectLst/>
                <a:latin typeface="Courier New" panose="02070309020205020404" pitchFamily="49" charset="0"/>
                <a:ea typeface="Times New Roman" panose="02020603050405020304" pitchFamily="18" charset="0"/>
              </a:rPr>
              <a:t>new Punto();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per istanziare l’oggetto. In questo modo però, l’oggetto appena creato non avrebbe una variabile per riferirsi ad esso (una variabile che punta ad un oggetto si dirà </a:t>
            </a:r>
            <a:r>
              <a:rPr lang="it-IT" sz="1800" b="1" dirty="0">
                <a:effectLst/>
                <a:latin typeface="Times New Roman" panose="02020603050405020304" pitchFamily="18" charset="0"/>
                <a:ea typeface="Times New Roman" panose="02020603050405020304" pitchFamily="18" charset="0"/>
              </a:rPr>
              <a:t>reference</a:t>
            </a:r>
            <a:r>
              <a:rPr lang="it-IT" sz="1800" dirty="0">
                <a:effectLst/>
                <a:latin typeface="Times New Roman" panose="02020603050405020304" pitchFamily="18" charset="0"/>
                <a:ea typeface="Times New Roman" panose="02020603050405020304" pitchFamily="18" charset="0"/>
              </a:rPr>
              <a:t>), e quindi non risulterebbe utilizzabile nelle righe successive. Solitamente quindi, quando si istanzia un oggetto, gli si assegna un reference. </a:t>
            </a:r>
            <a:br>
              <a:rPr lang="it-IT" sz="1800" dirty="0">
                <a:effectLst/>
                <a:latin typeface="Times New Roman" panose="02020603050405020304" pitchFamily="18" charset="0"/>
                <a:ea typeface="Times New Roman" panose="02020603050405020304" pitchFamily="18" charset="0"/>
              </a:rPr>
            </a:br>
            <a:r>
              <a:rPr lang="it-IT" sz="1800" dirty="0">
                <a:effectLst/>
                <a:latin typeface="Times New Roman" panose="02020603050405020304" pitchFamily="18" charset="0"/>
                <a:ea typeface="Times New Roman" panose="02020603050405020304" pitchFamily="18" charset="0"/>
              </a:rPr>
              <a:t>Appare quindi evidente che l’ultima parte dell’istruzione da analizzare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non va interpretata come “</a:t>
            </a:r>
            <a:r>
              <a:rPr lang="it-IT" sz="1800" dirty="0" err="1">
                <a:effectLst/>
                <a:latin typeface="Times New Roman" panose="02020603050405020304" pitchFamily="18" charset="0"/>
                <a:ea typeface="Times New Roman" panose="02020603050405020304" pitchFamily="18" charset="0"/>
              </a:rPr>
              <a:t>nomeDellaClasse</a:t>
            </a:r>
            <a:r>
              <a:rPr lang="it-IT" sz="1800" dirty="0">
                <a:effectLst/>
                <a:latin typeface="Times New Roman" panose="02020603050405020304" pitchFamily="18" charset="0"/>
                <a:ea typeface="Times New Roman" panose="02020603050405020304" pitchFamily="18" charset="0"/>
              </a:rPr>
              <a:t> con parentesi tonde”, bensì come “chiamata al metodo costruttore”. In corrispondenza dell’istruzione suddetta, un programma produrrebbe il seguente output:</a:t>
            </a:r>
          </a:p>
          <a:p>
            <a:r>
              <a:rPr lang="it-IT" sz="1800" dirty="0">
                <a:solidFill>
                  <a:srgbClr val="FFFFFF"/>
                </a:solidFill>
                <a:effectLst/>
                <a:latin typeface="Courier New" panose="02070309020205020404" pitchFamily="49" charset="0"/>
                <a:ea typeface="MS Mincho" panose="02020609040205080304" pitchFamily="49" charset="-128"/>
              </a:rPr>
              <a:t>  Costruito un Punto!</a:t>
            </a:r>
          </a:p>
          <a:p>
            <a:r>
              <a:rPr lang="it-IT" sz="1800" dirty="0">
                <a:effectLst/>
                <a:latin typeface="Times New Roman" panose="02020603050405020304" pitchFamily="18" charset="0"/>
                <a:ea typeface="Times New Roman" panose="02020603050405020304" pitchFamily="18" charset="0"/>
              </a:rPr>
              <a:t>Questo è l’unico modo per chiamare un costruttore. Un costruttore, essendo definito senza un tipo di ritorno, non può considerarsi un metodo ordinario, e non si può chiamare tramite l’operatore dot. Il solo modo per invocare un costruttore, consiste nell’utilizzare l’operatore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new</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Nell’esempio precedente la chiamata al costruttore ha provocato la stampa a video di una frase. In realtà, il costruttore solitamente è utilizzato per inizializzare le variabili d’istanza di un oggetto. Essendo un metodo (anche se speciale) può avere una lista di parametri. È quindi possibile codificare il seguente costruttore all’interno della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a:t>
            </a:r>
          </a:p>
          <a:p>
            <a:r>
              <a:rPr lang="en-GB" sz="1800" dirty="0">
                <a:solidFill>
                  <a:srgbClr val="000000"/>
                </a:solidFill>
                <a:effectLst/>
                <a:latin typeface="Courier New" panose="02070309020205020404" pitchFamily="49" charset="0"/>
                <a:ea typeface="Times New Roman" panose="02020603050405020304" pitchFamily="18" charset="0"/>
              </a:rPr>
              <a:t>public class Punto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en-GB" sz="1800" b="1" dirty="0">
                <a:solidFill>
                  <a:srgbClr val="000000"/>
                </a:solidFill>
                <a:effectLst/>
                <a:latin typeface="Courier New" panose="02070309020205020404" pitchFamily="49" charset="0"/>
                <a:ea typeface="Times New Roman" panose="02020603050405020304" pitchFamily="18" charset="0"/>
              </a:rPr>
              <a:t>public Punto(int a, int b) {</a:t>
            </a:r>
            <a:endParaRPr lang="it-IT" sz="1800" dirty="0">
              <a:effectLst/>
              <a:latin typeface="Courier New" panose="02070309020205020404" pitchFamily="49" charset="0"/>
              <a:ea typeface="Times New Roman" panose="02020603050405020304" pitchFamily="18" charset="0"/>
            </a:endParaRPr>
          </a:p>
          <a:p>
            <a:r>
              <a:rPr lang="en-GB" sz="1800" b="1" dirty="0">
                <a:solidFill>
                  <a:srgbClr val="000000"/>
                </a:solidFill>
                <a:effectLst/>
                <a:latin typeface="Courier New" panose="02070309020205020404" pitchFamily="49" charset="0"/>
                <a:ea typeface="Times New Roman" panose="02020603050405020304" pitchFamily="18" charset="0"/>
              </a:rPr>
              <a:t>        x = a;</a:t>
            </a:r>
            <a:endParaRPr lang="it-IT" sz="1800" dirty="0">
              <a:effectLst/>
              <a:latin typeface="Courier New" panose="02070309020205020404" pitchFamily="49" charset="0"/>
              <a:ea typeface="Times New Roman" panose="02020603050405020304" pitchFamily="18" charset="0"/>
            </a:endParaRPr>
          </a:p>
          <a:p>
            <a:r>
              <a:rPr lang="en-GB" sz="1800" b="1" dirty="0">
                <a:solidFill>
                  <a:srgbClr val="000000"/>
                </a:solidFill>
                <a:effectLst/>
                <a:latin typeface="Courier New" panose="02070309020205020404" pitchFamily="49" charset="0"/>
                <a:ea typeface="Times New Roman" panose="02020603050405020304" pitchFamily="18" charset="0"/>
              </a:rPr>
              <a:t>        y = b;</a:t>
            </a:r>
            <a:endParaRPr lang="it-IT" sz="1800" dirty="0">
              <a:effectLst/>
              <a:latin typeface="Courier New" panose="02070309020205020404" pitchFamily="49" charset="0"/>
              <a:ea typeface="Times New Roman" panose="02020603050405020304" pitchFamily="18" charset="0"/>
            </a:endParaRPr>
          </a:p>
          <a:p>
            <a:r>
              <a:rPr lang="en-GB" sz="1800" b="1"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int x;</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public int y;</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Con questa classe non sarà più possibile istanziare gli oggetti con la solita sintassi:</a:t>
            </a:r>
          </a:p>
          <a:p>
            <a:r>
              <a:rPr lang="it-IT" sz="1800" dirty="0">
                <a:solidFill>
                  <a:srgbClr val="000000"/>
                </a:solidFill>
                <a:effectLst/>
                <a:latin typeface="Courier New" panose="02070309020205020404" pitchFamily="49" charset="0"/>
                <a:ea typeface="Times New Roman" panose="02020603050405020304" pitchFamily="18" charset="0"/>
              </a:rPr>
              <a:t>Punto punto1 = new Punto();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otterremmo un errore di compilazione, dal momento che staremmo cercando di chiamare un costruttore che non esiste (quello senza parametri).</a:t>
            </a:r>
          </a:p>
          <a:p>
            <a:r>
              <a:rPr lang="it-IT" sz="1800" dirty="0">
                <a:effectLst/>
                <a:latin typeface="Times New Roman" panose="02020603050405020304" pitchFamily="18" charset="0"/>
                <a:ea typeface="Times New Roman" panose="02020603050405020304" pitchFamily="18" charset="0"/>
              </a:rPr>
              <a:t>La sintassi da utilizzare per dichiarare ed istanziare un oggetto invece, deve essere per esempio la seguente:</a:t>
            </a:r>
          </a:p>
          <a:p>
            <a:r>
              <a:rPr lang="it-IT" sz="1800" dirty="0">
                <a:solidFill>
                  <a:srgbClr val="000000"/>
                </a:solidFill>
                <a:effectLst/>
                <a:latin typeface="Courier New" panose="02070309020205020404" pitchFamily="49" charset="0"/>
                <a:ea typeface="Times New Roman" panose="02020603050405020304" pitchFamily="18" charset="0"/>
              </a:rPr>
              <a:t>Punto punto1 = new Punto(5,6);</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realtà, è anche possibile fornire più costruttori all’interno della stessa classe, basta che la lista degli argomenti in input differisca. Questo perché un metodo è univocamente determinato dalla coppia costituita dal suo identificatore e la lista dei parametri, che viene detta </a:t>
            </a:r>
            <a:r>
              <a:rPr lang="it-IT" sz="1800" b="1" dirty="0">
                <a:effectLst/>
                <a:latin typeface="Times New Roman" panose="02020603050405020304" pitchFamily="18" charset="0"/>
                <a:ea typeface="Times New Roman" panose="02020603050405020304" pitchFamily="18" charset="0"/>
              </a:rPr>
              <a:t>firma del metodo</a:t>
            </a:r>
            <a:r>
              <a:rPr lang="it-IT" sz="1800" dirty="0">
                <a:effectLst/>
                <a:latin typeface="Times New Roman" panose="02020603050405020304" pitchFamily="18" charset="0"/>
                <a:ea typeface="Times New Roman" panose="02020603050405020304" pitchFamily="18" charset="0"/>
              </a:rPr>
              <a:t>. </a:t>
            </a:r>
          </a:p>
          <a:p>
            <a:r>
              <a:rPr lang="it-IT" sz="1800" b="1" dirty="0">
                <a:effectLst/>
                <a:latin typeface="Times New Roman" panose="02020603050405020304" pitchFamily="18" charset="0"/>
                <a:ea typeface="Times New Roman" panose="02020603050405020304" pitchFamily="18" charset="0"/>
              </a:rPr>
              <a:t>(ICONA CURIOSITÀ)</a:t>
            </a:r>
            <a:endParaRPr lang="it-IT" sz="1800" dirty="0">
              <a:effectLst/>
              <a:latin typeface="Times New Roman" panose="02020603050405020304" pitchFamily="18" charset="0"/>
              <a:ea typeface="Times New Roman" panose="02020603050405020304" pitchFamily="18" charset="0"/>
            </a:endParaRPr>
          </a:p>
          <a:p>
            <a:pPr marL="914400"/>
            <a:r>
              <a:rPr lang="it-IT" sz="1800" b="1" dirty="0">
                <a:solidFill>
                  <a:srgbClr val="000000"/>
                </a:solidFill>
                <a:effectLst/>
                <a:latin typeface="Times New Roman" panose="02020603050405020304" pitchFamily="18" charset="0"/>
                <a:ea typeface="Times New Roman" panose="02020603050405020304" pitchFamily="18" charset="0"/>
              </a:rPr>
              <a:t>In alcuni testi o articoli su Java, troverete anche la dicitura “segnatura del metodo”. Questo perché si è tradotta dall’inglese il termine “method signature”. In italiano però, “segnatura” è un termine arcaico.</a:t>
            </a:r>
            <a:endParaRPr lang="it-IT" sz="1800" b="1"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Per esempio sarà possibile fornire entrambi i costruttori che abbiamo visto alla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a:t>
            </a:r>
          </a:p>
          <a:p>
            <a:r>
              <a:rPr lang="en-GB" sz="1800" dirty="0">
                <a:solidFill>
                  <a:srgbClr val="000000"/>
                </a:solidFill>
                <a:effectLst/>
                <a:latin typeface="Courier New" panose="02070309020205020404" pitchFamily="49" charset="0"/>
                <a:ea typeface="Times New Roman" panose="02020603050405020304" pitchFamily="18" charset="0"/>
              </a:rPr>
              <a:t>public class Punto {</a:t>
            </a:r>
            <a:endParaRPr lang="it-IT" sz="1800" dirty="0">
              <a:effectLst/>
              <a:latin typeface="Courier New" panose="02070309020205020404" pitchFamily="49" charset="0"/>
              <a:ea typeface="Times New Roman" panose="02020603050405020304" pitchFamily="18" charset="0"/>
            </a:endParaRPr>
          </a:p>
          <a:p>
            <a:r>
              <a:rPr lang="en-GB" sz="1800" b="1" dirty="0">
                <a:solidFill>
                  <a:srgbClr val="000000"/>
                </a:solidFill>
                <a:effectLst/>
                <a:latin typeface="Courier New" panose="02070309020205020404" pitchFamily="49" charset="0"/>
                <a:ea typeface="Times New Roman" panose="02020603050405020304" pitchFamily="18" charset="0"/>
              </a:rPr>
              <a:t>    </a:t>
            </a:r>
            <a:r>
              <a:rPr lang="it-IT" sz="1800" b="1" dirty="0">
                <a:solidFill>
                  <a:srgbClr val="000000"/>
                </a:solidFill>
                <a:effectLst/>
                <a:latin typeface="Courier New" panose="02070309020205020404" pitchFamily="49" charset="0"/>
                <a:ea typeface="Times New Roman" panose="02020603050405020304" pitchFamily="18" charset="0"/>
              </a:rPr>
              <a:t>public Punto() {</a:t>
            </a:r>
            <a:endParaRPr lang="it-IT" sz="1800" dirty="0">
              <a:effectLst/>
              <a:latin typeface="Courier New" panose="02070309020205020404" pitchFamily="49" charset="0"/>
              <a:ea typeface="Times New Roman" panose="02020603050405020304" pitchFamily="18" charset="0"/>
            </a:endParaRPr>
          </a:p>
          <a:p>
            <a:r>
              <a:rPr lang="en-US" sz="1800" b="1" dirty="0">
                <a:solidFill>
                  <a:srgbClr val="000000"/>
                </a:solidFill>
                <a:effectLst/>
                <a:latin typeface="Courier New" panose="02070309020205020404" pitchFamily="49" charset="0"/>
                <a:ea typeface="Times New Roman" panose="02020603050405020304" pitchFamily="18" charset="0"/>
              </a:rPr>
              <a:t>    </a:t>
            </a:r>
            <a:r>
              <a:rPr lang="it-IT" sz="1800" b="1"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US" sz="1800" dirty="0">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US" sz="1800" b="1" dirty="0">
                <a:solidFill>
                  <a:srgbClr val="000000"/>
                </a:solidFill>
                <a:effectLst/>
                <a:latin typeface="Courier New" panose="02070309020205020404" pitchFamily="49" charset="0"/>
                <a:ea typeface="Times New Roman" panose="02020603050405020304" pitchFamily="18" charset="0"/>
              </a:rPr>
              <a:t>    </a:t>
            </a:r>
            <a:r>
              <a:rPr lang="en-GB" sz="1800" b="1" dirty="0">
                <a:solidFill>
                  <a:srgbClr val="000000"/>
                </a:solidFill>
                <a:effectLst/>
                <a:latin typeface="Courier New" panose="02070309020205020404" pitchFamily="49" charset="0"/>
                <a:ea typeface="Times New Roman" panose="02020603050405020304" pitchFamily="18" charset="0"/>
              </a:rPr>
              <a:t>public Punto(int a, int b) {</a:t>
            </a:r>
            <a:endParaRPr lang="it-IT" sz="1800" dirty="0">
              <a:effectLst/>
              <a:latin typeface="Courier New" panose="02070309020205020404" pitchFamily="49" charset="0"/>
              <a:ea typeface="Times New Roman" panose="02020603050405020304" pitchFamily="18" charset="0"/>
            </a:endParaRPr>
          </a:p>
          <a:p>
            <a:r>
              <a:rPr lang="en-GB" sz="1800" b="1" dirty="0">
                <a:solidFill>
                  <a:srgbClr val="000000"/>
                </a:solidFill>
                <a:effectLst/>
                <a:latin typeface="Courier New" panose="02070309020205020404" pitchFamily="49" charset="0"/>
                <a:ea typeface="Times New Roman" panose="02020603050405020304" pitchFamily="18" charset="0"/>
              </a:rPr>
              <a:t>        x = a;</a:t>
            </a:r>
            <a:endParaRPr lang="it-IT" sz="1800" dirty="0">
              <a:effectLst/>
              <a:latin typeface="Courier New" panose="02070309020205020404" pitchFamily="49" charset="0"/>
              <a:ea typeface="Times New Roman" panose="02020603050405020304" pitchFamily="18" charset="0"/>
            </a:endParaRPr>
          </a:p>
          <a:p>
            <a:r>
              <a:rPr lang="en-GB" sz="1800" b="1" dirty="0">
                <a:solidFill>
                  <a:srgbClr val="000000"/>
                </a:solidFill>
                <a:effectLst/>
                <a:latin typeface="Courier New" panose="02070309020205020404" pitchFamily="49" charset="0"/>
                <a:ea typeface="Times New Roman" panose="02020603050405020304" pitchFamily="18" charset="0"/>
              </a:rPr>
              <a:t>        y = b;</a:t>
            </a:r>
            <a:endParaRPr lang="it-IT" sz="1800" dirty="0">
              <a:effectLst/>
              <a:latin typeface="Courier New" panose="02070309020205020404" pitchFamily="49" charset="0"/>
              <a:ea typeface="Times New Roman" panose="02020603050405020304" pitchFamily="18" charset="0"/>
            </a:endParaRPr>
          </a:p>
          <a:p>
            <a:r>
              <a:rPr lang="en-GB" sz="1800" b="1"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int x;</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public int y;</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questo modo potremo istanziare oggetti dalla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in due modi, o usando il primo costruttore (che non contiene codice da eseguire):</a:t>
            </a:r>
          </a:p>
          <a:p>
            <a:r>
              <a:rPr lang="it-IT" sz="1800" dirty="0">
                <a:solidFill>
                  <a:srgbClr val="000000"/>
                </a:solidFill>
                <a:effectLst/>
                <a:latin typeface="Courier New" panose="02070309020205020404" pitchFamily="49" charset="0"/>
                <a:ea typeface="Times New Roman" panose="02020603050405020304" pitchFamily="18" charset="0"/>
              </a:rPr>
              <a:t>Punto p = new Punto();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oppure usando il secondo:</a:t>
            </a:r>
          </a:p>
          <a:p>
            <a:r>
              <a:rPr lang="it-IT" sz="1800" dirty="0">
                <a:solidFill>
                  <a:srgbClr val="000000"/>
                </a:solidFill>
                <a:effectLst/>
                <a:latin typeface="Courier New" panose="02070309020205020404" pitchFamily="49" charset="0"/>
                <a:ea typeface="Times New Roman" panose="02020603050405020304" pitchFamily="18" charset="0"/>
              </a:rPr>
              <a:t>Punto p = new Punto(12,14);</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Nel primo caso il punto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a:t>
            </a:r>
            <a:r>
              <a:rPr lang="it-IT" sz="1800" dirty="0">
                <a:effectLst/>
                <a:latin typeface="Times New Roman" panose="02020603050405020304" pitchFamily="18" charset="0"/>
                <a:ea typeface="Times New Roman" panose="02020603050405020304" pitchFamily="18" charset="0"/>
              </a:rPr>
              <a:t> avrà entrambe le coordinate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800" dirty="0">
                <a:effectLst/>
                <a:latin typeface="Times New Roman" panose="02020603050405020304" pitchFamily="18" charset="0"/>
                <a:ea typeface="Times New Roman" panose="02020603050405020304" pitchFamily="18" charset="0"/>
              </a:rPr>
              <a:t> che valgono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0</a:t>
            </a:r>
            <a:r>
              <a:rPr lang="it-IT" sz="1800" dirty="0">
                <a:effectLst/>
                <a:latin typeface="Times New Roman" panose="02020603050405020304" pitchFamily="18" charset="0"/>
                <a:ea typeface="Times New Roman" panose="02020603050405020304" pitchFamily="18" charset="0"/>
              </a:rPr>
              <a:t>. Ricordiamo infatti che le variabili d’istanza vengono inizializzate automaticamente ai valori nulli. Nel secondo caso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x</a:t>
            </a:r>
            <a:r>
              <a:rPr lang="it-IT" sz="1800" dirty="0">
                <a:effectLst/>
                <a:latin typeface="Times New Roman" panose="02020603050405020304" pitchFamily="18" charset="0"/>
                <a:ea typeface="Times New Roman" panose="02020603050405020304" pitchFamily="18" charset="0"/>
              </a:rPr>
              <a:t> varrà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12</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y</a:t>
            </a:r>
            <a:r>
              <a:rPr lang="it-IT" sz="1800" dirty="0">
                <a:effectLst/>
                <a:latin typeface="Times New Roman" panose="02020603050405020304" pitchFamily="18" charset="0"/>
                <a:ea typeface="Times New Roman" panose="02020603050405020304" pitchFamily="18" charset="0"/>
              </a:rPr>
              <a:t> varrà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14</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Notare che la seguente riga di codice:</a:t>
            </a:r>
          </a:p>
          <a:p>
            <a:r>
              <a:rPr lang="it-IT" sz="1800" dirty="0">
                <a:solidFill>
                  <a:srgbClr val="000000"/>
                </a:solidFill>
                <a:effectLst/>
                <a:latin typeface="Courier New" panose="02070309020205020404" pitchFamily="49" charset="0"/>
                <a:ea typeface="Times New Roman" panose="02020603050405020304" pitchFamily="18" charset="0"/>
              </a:rPr>
              <a:t>Punto p = new Punto(12,14);</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è equivalente alle seguenti: </a:t>
            </a:r>
          </a:p>
          <a:p>
            <a:r>
              <a:rPr lang="it-IT" sz="1800" dirty="0">
                <a:solidFill>
                  <a:srgbClr val="000000"/>
                </a:solidFill>
                <a:effectLst/>
                <a:latin typeface="Courier New" panose="02070309020205020404" pitchFamily="49" charset="0"/>
                <a:ea typeface="Times New Roman" panose="02020603050405020304" pitchFamily="18" charset="0"/>
              </a:rPr>
              <a:t>Punto punto1 = new Punto();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punto1.x = 12;</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punto1.y = 14;</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La possibilità di creare più costruttori nella stessa classe è una manifestazione del polimorfismo (trattato in dettaglio nel capitolo 7) nota come “overload”. Questo consente di scrivere più metodi con lo stesso nome (ma con differente lista dei parametri). Ci sono altre regole da studiare ma le approfondiremo a tempo debito.</a:t>
            </a:r>
            <a:endParaRPr lang="it-IT"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935842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Un </a:t>
            </a:r>
            <a:r>
              <a:rPr lang="it-IT" sz="1800" b="1" dirty="0">
                <a:effectLst/>
                <a:latin typeface="Times New Roman" panose="02020603050405020304" pitchFamily="18" charset="0"/>
                <a:ea typeface="Times New Roman" panose="02020603050405020304" pitchFamily="18" charset="0"/>
              </a:rPr>
              <a:t>package</a:t>
            </a:r>
            <a:r>
              <a:rPr lang="it-IT" sz="1800" dirty="0">
                <a:effectLst/>
                <a:latin typeface="Times New Roman" panose="02020603050405020304" pitchFamily="18" charset="0"/>
                <a:ea typeface="Times New Roman" panose="02020603050405020304" pitchFamily="18" charset="0"/>
              </a:rPr>
              <a:t>, permette di raggruppare in un’unica entità classi Java logicamente correlate. Fisicamente il package non è altro che una </a:t>
            </a:r>
            <a:r>
              <a:rPr lang="it-IT" sz="1800" b="0" dirty="0">
                <a:effectLst/>
                <a:latin typeface="Times New Roman" panose="02020603050405020304" pitchFamily="18" charset="0"/>
                <a:ea typeface="Times New Roman" panose="02020603050405020304" pitchFamily="18" charset="0"/>
              </a:rPr>
              <a:t>cartella</a:t>
            </a:r>
            <a:r>
              <a:rPr lang="it-IT" sz="1800" dirty="0">
                <a:effectLst/>
                <a:latin typeface="Times New Roman" panose="02020603050405020304" pitchFamily="18" charset="0"/>
                <a:ea typeface="Times New Roman" panose="02020603050405020304" pitchFamily="18" charset="0"/>
              </a:rPr>
              <a:t> (sinonimo di </a:t>
            </a:r>
            <a:r>
              <a:rPr lang="it-IT" sz="1800" b="0" dirty="0">
                <a:effectLst/>
                <a:latin typeface="Times New Roman" panose="02020603050405020304" pitchFamily="18" charset="0"/>
                <a:ea typeface="Times New Roman" panose="02020603050405020304" pitchFamily="18" charset="0"/>
              </a:rPr>
              <a:t>directory</a:t>
            </a:r>
            <a:r>
              <a:rPr lang="it-IT" sz="1800" dirty="0">
                <a:effectLst/>
                <a:latin typeface="Times New Roman" panose="02020603050405020304" pitchFamily="18" charset="0"/>
                <a:ea typeface="Times New Roman" panose="02020603050405020304" pitchFamily="18" charset="0"/>
              </a:rPr>
              <a:t>) del nostro sistema operativo, ma non tutte le cartelle sono package. Per eleggere una cartella a package, una classe Java deve dichiarare nel suo codice la sua appartenenza a quel determinato package. Inoltre il risultato della compilazione della classe (il file </a:t>
            </a:r>
            <a:r>
              <a:rPr lang="it-IT" sz="1800" dirty="0">
                <a:effectLst/>
                <a:latin typeface="Arial" panose="020B0604020202020204" pitchFamily="34" charset="0"/>
                <a:ea typeface="Times New Roman" panose="02020603050405020304" pitchFamily="18" charset="0"/>
                <a:cs typeface="Arial" panose="020B0604020202020204" pitchFamily="34" charset="0"/>
              </a:rPr>
              <a:t>.class</a:t>
            </a:r>
            <a:r>
              <a:rPr lang="it-IT" sz="1800" dirty="0">
                <a:effectLst/>
                <a:latin typeface="Times New Roman" panose="02020603050405020304" pitchFamily="18" charset="0"/>
                <a:ea typeface="Times New Roman" panose="02020603050405020304" pitchFamily="18" charset="0"/>
              </a:rPr>
              <a:t>) deve risiedere fisicamente all’interno di essa.</a:t>
            </a:r>
          </a:p>
          <a:p>
            <a:pPr>
              <a:spcBef>
                <a:spcPts val="1400"/>
              </a:spcBef>
              <a:spcAft>
                <a:spcPts val="1400"/>
              </a:spcAft>
            </a:pPr>
            <a:r>
              <a:rPr lang="it-IT" sz="1800" b="1" dirty="0">
                <a:effectLst/>
                <a:latin typeface="Arial" panose="020B0604020202020204" pitchFamily="34" charset="0"/>
              </a:rPr>
              <a:t>2.3.1 Le parole chiave </a:t>
            </a:r>
            <a:r>
              <a:rPr lang="it-IT" sz="1800" b="1" dirty="0">
                <a:effectLst/>
                <a:latin typeface="Courier New" panose="02070309020205020404" pitchFamily="49" charset="0"/>
                <a:cs typeface="Courier New" panose="02070309020205020404" pitchFamily="49" charset="0"/>
              </a:rPr>
              <a:t>package</a:t>
            </a:r>
            <a:r>
              <a:rPr lang="it-IT" sz="1800" b="1" dirty="0">
                <a:effectLst/>
                <a:latin typeface="Arial" panose="020B0604020202020204" pitchFamily="34" charset="0"/>
              </a:rPr>
              <a:t> e </a:t>
            </a:r>
            <a:r>
              <a:rPr lang="it-IT" sz="1800" b="1" dirty="0">
                <a:effectLst/>
                <a:latin typeface="Courier New" panose="02070309020205020404" pitchFamily="49" charset="0"/>
                <a:cs typeface="Courier New" panose="02070309020205020404" pitchFamily="49" charset="0"/>
              </a:rPr>
              <a:t>import</a:t>
            </a:r>
            <a:endParaRPr lang="it-IT" sz="1800" b="1" dirty="0">
              <a:effectLst/>
              <a:latin typeface="Arial" panose="020B0604020202020204" pitchFamily="34" charset="0"/>
            </a:endParaRPr>
          </a:p>
          <a:p>
            <a:r>
              <a:rPr lang="it-IT" sz="1800" dirty="0">
                <a:effectLst/>
                <a:latin typeface="Times New Roman" panose="02020603050405020304" pitchFamily="18" charset="0"/>
                <a:ea typeface="Times New Roman" panose="02020603050405020304" pitchFamily="18" charset="0"/>
              </a:rPr>
              <a:t>Se volessimo far appartenere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a un package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geometria</a:t>
            </a:r>
            <a:r>
              <a:rPr lang="it-IT" sz="1800" dirty="0">
                <a:effectLst/>
                <a:latin typeface="Times New Roman" panose="02020603050405020304" pitchFamily="18" charset="0"/>
                <a:ea typeface="Times New Roman" panose="02020603050405020304" pitchFamily="18" charset="0"/>
              </a:rPr>
              <a:t>, dovremmo semplicemente inserire come prima istruzione del nostro file sorgente la seguente dichiarazione di package:</a:t>
            </a:r>
          </a:p>
          <a:p>
            <a:r>
              <a:rPr lang="it-IT" sz="1800" dirty="0">
                <a:solidFill>
                  <a:srgbClr val="000000"/>
                </a:solidFill>
                <a:effectLst/>
                <a:latin typeface="Courier New" panose="02070309020205020404" pitchFamily="49" charset="0"/>
                <a:ea typeface="Times New Roman" panose="02020603050405020304" pitchFamily="18" charset="0"/>
              </a:rPr>
              <a:t>package geometria;</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public class Punto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public int x, y;</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Ciò comporterebbe che il file compilato (</a:t>
            </a:r>
            <a:r>
              <a:rPr lang="it-IT" sz="1800" dirty="0">
                <a:effectLst/>
                <a:latin typeface="Arial" panose="020B0604020202020204" pitchFamily="34" charset="0"/>
                <a:ea typeface="Times New Roman" panose="02020603050405020304" pitchFamily="18" charset="0"/>
                <a:cs typeface="Arial" panose="020B0604020202020204" pitchFamily="34" charset="0"/>
              </a:rPr>
              <a:t>.class</a:t>
            </a:r>
            <a:r>
              <a:rPr lang="it-IT" sz="1800" dirty="0">
                <a:effectLst/>
                <a:latin typeface="Times New Roman" panose="02020603050405020304" pitchFamily="18" charset="0"/>
                <a:ea typeface="Times New Roman" panose="02020603050405020304" pitchFamily="18" charset="0"/>
              </a:rPr>
              <a:t>) dovrà obbligatoriamente risiedere in una cartella chiamata proprio </a:t>
            </a:r>
            <a:r>
              <a:rPr lang="it-IT" sz="1800" dirty="0">
                <a:effectLst/>
                <a:latin typeface="Arial" panose="020B0604020202020204" pitchFamily="34" charset="0"/>
                <a:ea typeface="Times New Roman" panose="02020603050405020304" pitchFamily="18" charset="0"/>
                <a:cs typeface="Arial" panose="020B0604020202020204" pitchFamily="34" charset="0"/>
              </a:rPr>
              <a:t>geometria</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Se invece volessimo creare un albero di package più strutturato possiamo tranquillamente usare la sintassi sfruttando l’operatore dot (che anche in questo caso implica </a:t>
            </a:r>
            <a:r>
              <a:rPr lang="it-IT" sz="1800" i="1" dirty="0">
                <a:effectLst/>
                <a:latin typeface="Times New Roman" panose="02020603050405020304" pitchFamily="18" charset="0"/>
                <a:ea typeface="Times New Roman" panose="02020603050405020304" pitchFamily="18" charset="0"/>
              </a:rPr>
              <a:t>appartenenza</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package </a:t>
            </a:r>
            <a:r>
              <a:rPr lang="en-US" sz="1800" dirty="0" err="1">
                <a:solidFill>
                  <a:srgbClr val="000000"/>
                </a:solidFill>
                <a:effectLst/>
                <a:latin typeface="Courier New" panose="02070309020205020404" pitchFamily="49" charset="0"/>
                <a:ea typeface="Times New Roman" panose="02020603050405020304" pitchFamily="18" charset="0"/>
              </a:rPr>
              <a:t>studio.matematica</a:t>
            </a:r>
            <a:r>
              <a:rPr lang="en-US" sz="1800" dirty="0">
                <a:solidFill>
                  <a:srgbClr val="000000"/>
                </a:solidFill>
                <a:effectLst/>
                <a:latin typeface="Courier New" panose="02070309020205020404" pitchFamily="49" charset="0"/>
                <a:ea typeface="Times New Roman" panose="02020603050405020304" pitchFamily="18" charset="0"/>
              </a:rPr>
              <a:t>.</a:t>
            </a:r>
            <a:r>
              <a:rPr lang="it-IT" sz="1800" dirty="0">
                <a:solidFill>
                  <a:srgbClr val="000000"/>
                </a:solidFill>
                <a:effectLst/>
                <a:latin typeface="Courier New" panose="02070309020205020404" pitchFamily="49" charset="0"/>
                <a:ea typeface="Times New Roman" panose="02020603050405020304" pitchFamily="18" charset="0"/>
              </a:rPr>
              <a:t>geometria;</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public class Punto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en-US" sz="1800" dirty="0">
                <a:solidFill>
                  <a:srgbClr val="000000"/>
                </a:solidFill>
                <a:effectLst/>
                <a:latin typeface="Courier New" panose="02070309020205020404" pitchFamily="49" charset="0"/>
                <a:ea typeface="Times New Roman" panose="02020603050405020304" pitchFamily="18" charset="0"/>
              </a:rPr>
              <a:t>public int x, y;</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questo caso, il file compilato risiederà all’interno di una cartella </a:t>
            </a:r>
            <a:r>
              <a:rPr lang="it-IT" sz="1800" dirty="0">
                <a:effectLst/>
                <a:latin typeface="Arial" panose="020B0604020202020204" pitchFamily="34" charset="0"/>
                <a:ea typeface="Times New Roman" panose="02020603050405020304" pitchFamily="18" charset="0"/>
                <a:cs typeface="Arial" panose="020B0604020202020204" pitchFamily="34" charset="0"/>
              </a:rPr>
              <a:t>geometria</a:t>
            </a:r>
            <a:r>
              <a:rPr lang="it-IT" sz="1800" dirty="0">
                <a:effectLst/>
                <a:latin typeface="Times New Roman" panose="02020603050405020304" pitchFamily="18" charset="0"/>
                <a:ea typeface="Times New Roman" panose="02020603050405020304" pitchFamily="18" charset="0"/>
              </a:rPr>
              <a:t>, a sua volta contenuta in una cartella </a:t>
            </a:r>
            <a:r>
              <a:rPr lang="it-IT" sz="1800" dirty="0">
                <a:effectLst/>
                <a:latin typeface="Arial" panose="020B0604020202020204" pitchFamily="34" charset="0"/>
                <a:ea typeface="Times New Roman" panose="02020603050405020304" pitchFamily="18" charset="0"/>
                <a:cs typeface="Arial" panose="020B0604020202020204" pitchFamily="34" charset="0"/>
              </a:rPr>
              <a:t>matematica</a:t>
            </a:r>
            <a:r>
              <a:rPr lang="it-IT" sz="1800" dirty="0">
                <a:effectLst/>
                <a:latin typeface="Times New Roman" panose="02020603050405020304" pitchFamily="18" charset="0"/>
                <a:ea typeface="Times New Roman" panose="02020603050405020304" pitchFamily="18" charset="0"/>
              </a:rPr>
              <a:t>, a sua volta contenuta in una cartella </a:t>
            </a:r>
            <a:r>
              <a:rPr lang="it-IT" sz="1800" dirty="0">
                <a:effectLst/>
                <a:latin typeface="Arial" panose="020B0604020202020204" pitchFamily="34" charset="0"/>
                <a:ea typeface="Times New Roman" panose="02020603050405020304" pitchFamily="18" charset="0"/>
                <a:cs typeface="Arial" panose="020B0604020202020204" pitchFamily="34" charset="0"/>
              </a:rPr>
              <a:t>studio</a:t>
            </a:r>
            <a:r>
              <a:rPr lang="it-IT" sz="1800" dirty="0">
                <a:effectLst/>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17697075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pPr>
              <a:spcBef>
                <a:spcPts val="1400"/>
              </a:spcBef>
              <a:spcAft>
                <a:spcPts val="1400"/>
              </a:spcAft>
            </a:pPr>
            <a:r>
              <a:rPr lang="it-IT" sz="1800" b="1" dirty="0">
                <a:effectLst/>
                <a:latin typeface="Arial" panose="020B0604020202020204" pitchFamily="34" charset="0"/>
              </a:rPr>
              <a:t>2.3.1 Le parole chiave </a:t>
            </a:r>
            <a:r>
              <a:rPr lang="it-IT" sz="1800" b="1" dirty="0">
                <a:effectLst/>
                <a:latin typeface="Courier New" panose="02070309020205020404" pitchFamily="49" charset="0"/>
                <a:cs typeface="Courier New" panose="02070309020205020404" pitchFamily="49" charset="0"/>
              </a:rPr>
              <a:t>package</a:t>
            </a:r>
            <a:r>
              <a:rPr lang="it-IT" sz="1800" b="1" dirty="0">
                <a:effectLst/>
                <a:latin typeface="Arial" panose="020B0604020202020204" pitchFamily="34" charset="0"/>
              </a:rPr>
              <a:t> e </a:t>
            </a:r>
            <a:r>
              <a:rPr lang="it-IT" sz="1800" b="1" dirty="0">
                <a:effectLst/>
                <a:latin typeface="Courier New" panose="02070309020205020404" pitchFamily="49" charset="0"/>
                <a:cs typeface="Courier New" panose="02070309020205020404" pitchFamily="49" charset="0"/>
              </a:rPr>
              <a:t>import</a:t>
            </a:r>
            <a:endParaRPr lang="it-IT" sz="1800" b="1" dirty="0">
              <a:effectLst/>
              <a:latin typeface="Arial" panose="020B0604020202020204" pitchFamily="34" charset="0"/>
            </a:endParaRPr>
          </a:p>
          <a:p>
            <a:r>
              <a:rPr lang="it-IT" sz="1800" dirty="0">
                <a:effectLst/>
                <a:latin typeface="Times New Roman" panose="02020603050405020304" pitchFamily="18" charset="0"/>
                <a:ea typeface="Times New Roman" panose="02020603050405020304" pitchFamily="18" charset="0"/>
              </a:rPr>
              <a:t>Se volessimo far appartenere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a un package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geometria</a:t>
            </a:r>
            <a:r>
              <a:rPr lang="it-IT" sz="1800" dirty="0">
                <a:effectLst/>
                <a:latin typeface="Times New Roman" panose="02020603050405020304" pitchFamily="18" charset="0"/>
                <a:ea typeface="Times New Roman" panose="02020603050405020304" pitchFamily="18" charset="0"/>
              </a:rPr>
              <a:t>, dovremmo semplicemente inserire come prima istruzione del nostro file sorgente la seguente dichiarazione di package:</a:t>
            </a:r>
          </a:p>
          <a:p>
            <a:r>
              <a:rPr lang="it-IT" sz="1800" dirty="0">
                <a:solidFill>
                  <a:srgbClr val="000000"/>
                </a:solidFill>
                <a:effectLst/>
                <a:latin typeface="Courier New" panose="02070309020205020404" pitchFamily="49" charset="0"/>
                <a:ea typeface="Times New Roman" panose="02020603050405020304" pitchFamily="18" charset="0"/>
              </a:rPr>
              <a:t>package geometria;</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public class Punto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public int x, y;</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Ciò comporterebbe che il file compilato (</a:t>
            </a:r>
            <a:r>
              <a:rPr lang="it-IT" sz="1800" dirty="0">
                <a:effectLst/>
                <a:latin typeface="Arial" panose="020B0604020202020204" pitchFamily="34" charset="0"/>
                <a:ea typeface="Times New Roman" panose="02020603050405020304" pitchFamily="18" charset="0"/>
                <a:cs typeface="Arial" panose="020B0604020202020204" pitchFamily="34" charset="0"/>
              </a:rPr>
              <a:t>.class</a:t>
            </a:r>
            <a:r>
              <a:rPr lang="it-IT" sz="1800" dirty="0">
                <a:effectLst/>
                <a:latin typeface="Times New Roman" panose="02020603050405020304" pitchFamily="18" charset="0"/>
                <a:ea typeface="Times New Roman" panose="02020603050405020304" pitchFamily="18" charset="0"/>
              </a:rPr>
              <a:t>) dovrà obbligatoriamente risiedere in una cartella chiamata proprio </a:t>
            </a:r>
            <a:r>
              <a:rPr lang="it-IT" sz="1800" dirty="0">
                <a:effectLst/>
                <a:latin typeface="Arial" panose="020B0604020202020204" pitchFamily="34" charset="0"/>
                <a:ea typeface="Times New Roman" panose="02020603050405020304" pitchFamily="18" charset="0"/>
                <a:cs typeface="Arial" panose="020B0604020202020204" pitchFamily="34" charset="0"/>
              </a:rPr>
              <a:t>geometria</a:t>
            </a:r>
            <a:r>
              <a:rPr lang="it-IT" sz="1800" dirty="0">
                <a:effectLst/>
                <a:latin typeface="Times New Roman" panose="02020603050405020304" pitchFamily="18" charset="0"/>
                <a:ea typeface="Times New Roman" panose="02020603050405020304" pitchFamily="18" charset="0"/>
              </a:rPr>
              <a:t>. </a:t>
            </a:r>
          </a:p>
          <a:p>
            <a:r>
              <a:rPr lang="it-IT" sz="1800" dirty="0">
                <a:effectLst/>
                <a:latin typeface="Times New Roman" panose="02020603050405020304" pitchFamily="18" charset="0"/>
                <a:ea typeface="Times New Roman" panose="02020603050405020304" pitchFamily="18" charset="0"/>
              </a:rPr>
              <a:t>Se invece volessimo creare un albero di package più strutturato possiamo tranquillamente usare la sintassi sfruttando l’operatore dot (che anche in questo caso implica </a:t>
            </a:r>
            <a:r>
              <a:rPr lang="it-IT" sz="1800" i="1" dirty="0">
                <a:effectLst/>
                <a:latin typeface="Times New Roman" panose="02020603050405020304" pitchFamily="18" charset="0"/>
                <a:ea typeface="Times New Roman" panose="02020603050405020304" pitchFamily="18" charset="0"/>
              </a:rPr>
              <a:t>appartenenza</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000000"/>
                </a:solidFill>
                <a:effectLst/>
                <a:latin typeface="Courier New" panose="02070309020205020404" pitchFamily="49" charset="0"/>
                <a:ea typeface="Times New Roman" panose="02020603050405020304" pitchFamily="18" charset="0"/>
              </a:rPr>
              <a:t>package </a:t>
            </a:r>
            <a:r>
              <a:rPr lang="en-US" sz="1800" dirty="0" err="1">
                <a:solidFill>
                  <a:srgbClr val="000000"/>
                </a:solidFill>
                <a:effectLst/>
                <a:latin typeface="Courier New" panose="02070309020205020404" pitchFamily="49" charset="0"/>
                <a:ea typeface="Times New Roman" panose="02020603050405020304" pitchFamily="18" charset="0"/>
              </a:rPr>
              <a:t>studio.matematica</a:t>
            </a:r>
            <a:r>
              <a:rPr lang="en-US" sz="1800" dirty="0">
                <a:solidFill>
                  <a:srgbClr val="000000"/>
                </a:solidFill>
                <a:effectLst/>
                <a:latin typeface="Courier New" panose="02070309020205020404" pitchFamily="49" charset="0"/>
                <a:ea typeface="Times New Roman" panose="02020603050405020304" pitchFamily="18" charset="0"/>
              </a:rPr>
              <a:t>.</a:t>
            </a:r>
            <a:r>
              <a:rPr lang="it-IT" sz="1800" dirty="0">
                <a:solidFill>
                  <a:srgbClr val="000000"/>
                </a:solidFill>
                <a:effectLst/>
                <a:latin typeface="Courier New" panose="02070309020205020404" pitchFamily="49" charset="0"/>
                <a:ea typeface="Times New Roman" panose="02020603050405020304" pitchFamily="18" charset="0"/>
              </a:rPr>
              <a:t>geometria;</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public class Punto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a:t>
            </a:r>
            <a:r>
              <a:rPr lang="en-US" sz="1800" dirty="0">
                <a:solidFill>
                  <a:srgbClr val="000000"/>
                </a:solidFill>
                <a:effectLst/>
                <a:latin typeface="Courier New" panose="02070309020205020404" pitchFamily="49" charset="0"/>
                <a:ea typeface="Times New Roman" panose="02020603050405020304" pitchFamily="18" charset="0"/>
              </a:rPr>
              <a:t>public int x, y;</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In questo caso, il file compilato risiederà all’interno di una cartella </a:t>
            </a:r>
            <a:r>
              <a:rPr lang="it-IT" sz="1800" dirty="0">
                <a:effectLst/>
                <a:latin typeface="Arial" panose="020B0604020202020204" pitchFamily="34" charset="0"/>
                <a:ea typeface="Times New Roman" panose="02020603050405020304" pitchFamily="18" charset="0"/>
                <a:cs typeface="Arial" panose="020B0604020202020204" pitchFamily="34" charset="0"/>
              </a:rPr>
              <a:t>geometria</a:t>
            </a:r>
            <a:r>
              <a:rPr lang="it-IT" sz="1800" dirty="0">
                <a:effectLst/>
                <a:latin typeface="Times New Roman" panose="02020603050405020304" pitchFamily="18" charset="0"/>
                <a:ea typeface="Times New Roman" panose="02020603050405020304" pitchFamily="18" charset="0"/>
              </a:rPr>
              <a:t>, a sua volta contenuta in una cartella </a:t>
            </a:r>
            <a:r>
              <a:rPr lang="it-IT" sz="1800" dirty="0">
                <a:effectLst/>
                <a:latin typeface="Arial" panose="020B0604020202020204" pitchFamily="34" charset="0"/>
                <a:ea typeface="Times New Roman" panose="02020603050405020304" pitchFamily="18" charset="0"/>
                <a:cs typeface="Arial" panose="020B0604020202020204" pitchFamily="34" charset="0"/>
              </a:rPr>
              <a:t>matematica</a:t>
            </a:r>
            <a:r>
              <a:rPr lang="it-IT" sz="1800" dirty="0">
                <a:effectLst/>
                <a:latin typeface="Times New Roman" panose="02020603050405020304" pitchFamily="18" charset="0"/>
                <a:ea typeface="Times New Roman" panose="02020603050405020304" pitchFamily="18" charset="0"/>
              </a:rPr>
              <a:t>, a sua volta contenuta in una cartella </a:t>
            </a:r>
            <a:r>
              <a:rPr lang="it-IT" sz="1800" dirty="0">
                <a:effectLst/>
                <a:latin typeface="Arial" panose="020B0604020202020204" pitchFamily="34" charset="0"/>
                <a:ea typeface="Times New Roman" panose="02020603050405020304" pitchFamily="18" charset="0"/>
                <a:cs typeface="Arial" panose="020B0604020202020204" pitchFamily="34" charset="0"/>
              </a:rPr>
              <a:t>studio</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L’introduzione dei package, implica però anche il tener conto delle regole di visibilità delle classi contenute nei package. Per esempio, come fa una classe che si trova in una certa cartella ad utilizzare una classe che si trova in un’altra cartella? Se una classe chiamata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TestPunto</a:t>
            </a:r>
            <a:r>
              <a:rPr lang="it-IT" sz="1800" dirty="0">
                <a:effectLst/>
                <a:latin typeface="Times New Roman" panose="02020603050405020304" pitchFamily="18" charset="0"/>
                <a:ea typeface="Times New Roman" panose="02020603050405020304" pitchFamily="18" charset="0"/>
              </a:rPr>
              <a:t> vuole usare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e non si trova nello stesso package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studio.matematica.geometria</a:t>
            </a:r>
            <a:r>
              <a:rPr lang="it-IT" sz="1800" dirty="0">
                <a:effectLst/>
                <a:latin typeface="Times New Roman" panose="02020603050405020304" pitchFamily="18" charset="0"/>
                <a:ea typeface="Times New Roman" panose="02020603050405020304" pitchFamily="18" charset="0"/>
              </a:rPr>
              <a:t>, dovrà importare la classe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Punto</a:t>
            </a:r>
            <a:r>
              <a:rPr lang="it-IT" sz="1800" dirty="0">
                <a:effectLst/>
                <a:latin typeface="Times New Roman" panose="02020603050405020304" pitchFamily="18" charset="0"/>
                <a:ea typeface="Times New Roman" panose="02020603050405020304" pitchFamily="18" charset="0"/>
              </a:rPr>
              <a:t> con il comando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import</a:t>
            </a:r>
            <a:r>
              <a:rPr lang="it-IT" sz="1800" dirty="0">
                <a:effectLst/>
                <a:latin typeface="Times New Roman" panose="02020603050405020304" pitchFamily="18" charset="0"/>
                <a:ea typeface="Times New Roman" panose="02020603050405020304" pitchFamily="18" charset="0"/>
              </a:rPr>
              <a:t>, che va dichiarato dopo la dichiarazione di package, ma prima della dichiarazione della classe, come nel seguente codice:</a:t>
            </a:r>
          </a:p>
          <a:p>
            <a:r>
              <a:rPr lang="it-IT" sz="1800" dirty="0">
                <a:solidFill>
                  <a:srgbClr val="000000"/>
                </a:solidFill>
                <a:effectLst/>
                <a:latin typeface="Courier New" panose="02070309020205020404" pitchFamily="49" charset="0"/>
                <a:ea typeface="Times New Roman" panose="02020603050405020304" pitchFamily="18" charset="0"/>
              </a:rPr>
              <a:t>package </a:t>
            </a:r>
            <a:r>
              <a:rPr lang="en-GB" sz="1800" dirty="0" err="1">
                <a:solidFill>
                  <a:srgbClr val="000000"/>
                </a:solidFill>
                <a:effectLst/>
                <a:latin typeface="Courier New" panose="02070309020205020404" pitchFamily="49" charset="0"/>
                <a:ea typeface="Times New Roman" panose="02020603050405020304" pitchFamily="18" charset="0"/>
              </a:rPr>
              <a:t>studio.matematica</a:t>
            </a:r>
            <a:r>
              <a:rPr lang="en-GB" sz="1800" dirty="0">
                <a:solidFill>
                  <a:srgbClr val="000000"/>
                </a:solidFill>
                <a:effectLst/>
                <a:latin typeface="Courier New" panose="02070309020205020404" pitchFamily="49" charset="0"/>
                <a:ea typeface="Times New Roman" panose="02020603050405020304" pitchFamily="18" charset="0"/>
              </a:rPr>
              <a:t>.</a:t>
            </a:r>
            <a:r>
              <a:rPr lang="it-IT" sz="1800" dirty="0">
                <a:solidFill>
                  <a:srgbClr val="000000"/>
                </a:solidFill>
                <a:effectLst/>
                <a:latin typeface="Courier New" panose="02070309020205020404" pitchFamily="49" charset="0"/>
                <a:ea typeface="Times New Roman" panose="02020603050405020304" pitchFamily="18" charset="0"/>
              </a:rPr>
              <a:t>geometria</a:t>
            </a:r>
            <a:r>
              <a:rPr lang="en-GB" sz="1800" dirty="0">
                <a:solidFill>
                  <a:srgbClr val="000000"/>
                </a:solidFill>
                <a:effectLst/>
                <a:latin typeface="Courier New" panose="02070309020205020404" pitchFamily="49" charset="0"/>
                <a:ea typeface="Times New Roman" panose="02020603050405020304" pitchFamily="18" charset="0"/>
              </a:rPr>
              <a:t>.test</a:t>
            </a:r>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GB" sz="1800" dirty="0">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import </a:t>
            </a:r>
            <a:r>
              <a:rPr lang="en-GB" sz="1800" dirty="0" err="1">
                <a:solidFill>
                  <a:srgbClr val="000000"/>
                </a:solidFill>
                <a:effectLst/>
                <a:latin typeface="Courier New" panose="02070309020205020404" pitchFamily="49" charset="0"/>
                <a:ea typeface="Times New Roman" panose="02020603050405020304" pitchFamily="18" charset="0"/>
              </a:rPr>
              <a:t>studio.matematica</a:t>
            </a:r>
            <a:r>
              <a:rPr lang="en-GB" sz="1800" dirty="0">
                <a:solidFill>
                  <a:srgbClr val="000000"/>
                </a:solidFill>
                <a:effectLst/>
                <a:latin typeface="Courier New" panose="02070309020205020404" pitchFamily="49" charset="0"/>
                <a:ea typeface="Times New Roman" panose="02020603050405020304" pitchFamily="18" charset="0"/>
              </a:rPr>
              <a:t>.</a:t>
            </a:r>
            <a:r>
              <a:rPr lang="it-IT" sz="1800" dirty="0">
                <a:solidFill>
                  <a:srgbClr val="000000"/>
                </a:solidFill>
                <a:effectLst/>
                <a:latin typeface="Courier New" panose="02070309020205020404" pitchFamily="49" charset="0"/>
                <a:ea typeface="Times New Roman" panose="02020603050405020304" pitchFamily="18" charset="0"/>
              </a:rPr>
              <a:t>geometria</a:t>
            </a:r>
            <a:r>
              <a:rPr lang="en-GB" sz="1800" dirty="0">
                <a:solidFill>
                  <a:srgbClr val="000000"/>
                </a:solidFill>
                <a:effectLst/>
                <a:latin typeface="Courier New" panose="02070309020205020404" pitchFamily="49" charset="0"/>
                <a:ea typeface="Times New Roman" panose="02020603050405020304" pitchFamily="18" charset="0"/>
              </a:rPr>
              <a:t>.Punto;</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Courier New" panose="02070309020205020404" pitchFamily="49" charset="0"/>
                <a:ea typeface="Times New Roman" panose="02020603050405020304" pitchFamily="18" charset="0"/>
              </a:rPr>
              <a:t> </a:t>
            </a:r>
          </a:p>
          <a:p>
            <a:r>
              <a:rPr lang="it-IT" sz="1800" dirty="0">
                <a:solidFill>
                  <a:srgbClr val="000000"/>
                </a:solidFill>
                <a:effectLst/>
                <a:latin typeface="Courier New" panose="02070309020205020404" pitchFamily="49" charset="0"/>
                <a:ea typeface="Times New Roman" panose="02020603050405020304" pitchFamily="18" charset="0"/>
              </a:rPr>
              <a:t>public class </a:t>
            </a:r>
            <a:r>
              <a:rPr lang="en-GB" sz="1800" dirty="0">
                <a:solidFill>
                  <a:srgbClr val="000000"/>
                </a:solidFill>
                <a:effectLst/>
                <a:latin typeface="Courier New" panose="02070309020205020404" pitchFamily="49" charset="0"/>
                <a:ea typeface="Times New Roman" panose="02020603050405020304" pitchFamily="18" charset="0"/>
              </a:rPr>
              <a:t>Test</a:t>
            </a:r>
            <a:r>
              <a:rPr lang="it-IT" sz="1800" dirty="0">
                <a:solidFill>
                  <a:srgbClr val="000000"/>
                </a:solidFill>
                <a:effectLst/>
                <a:latin typeface="Courier New" panose="02070309020205020404" pitchFamily="49" charset="0"/>
                <a:ea typeface="Times New Roman" panose="02020603050405020304" pitchFamily="18" charset="0"/>
              </a:rPr>
              <a:t>Punto {</a:t>
            </a:r>
            <a:endParaRPr lang="it-IT" sz="1800" dirty="0">
              <a:effectLst/>
              <a:latin typeface="Courier New" panose="02070309020205020404" pitchFamily="49" charset="0"/>
              <a:ea typeface="Times New Roman" panose="02020603050405020304" pitchFamily="18" charset="0"/>
            </a:endParaRPr>
          </a:p>
          <a:p>
            <a:r>
              <a:rPr lang="en-GB" sz="1800" dirty="0">
                <a:solidFill>
                  <a:srgbClr val="000000"/>
                </a:solidFill>
                <a:effectLst/>
                <a:latin typeface="Courier New" panose="02070309020205020404" pitchFamily="49" charset="0"/>
                <a:ea typeface="Times New Roman" panose="02020603050405020304" pitchFamily="18" charset="0"/>
              </a:rPr>
              <a:t>    public static void main (String args[])     </a:t>
            </a:r>
            <a:r>
              <a:rPr lang="en-US"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en-US" sz="1800" dirty="0">
                <a:solidFill>
                  <a:srgbClr val="000000"/>
                </a:solidFill>
                <a:effectLst/>
                <a:latin typeface="Courier New" panose="02070309020205020404" pitchFamily="49" charset="0"/>
                <a:ea typeface="Times New Roman" panose="02020603050405020304" pitchFamily="18" charset="0"/>
              </a:rPr>
              <a:t>        </a:t>
            </a:r>
            <a:r>
              <a:rPr lang="it-IT" sz="1800" dirty="0">
                <a:solidFill>
                  <a:srgbClr val="000000"/>
                </a:solidFill>
                <a:effectLst/>
                <a:latin typeface="Courier New" panose="02070309020205020404" pitchFamily="49" charset="0"/>
                <a:ea typeface="Times New Roman" panose="02020603050405020304" pitchFamily="18" charset="0"/>
              </a:rPr>
              <a:t>Punto p = new Punto();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//altro codice omesso...</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    }</a:t>
            </a:r>
            <a:endParaRPr lang="it-IT" sz="1800" dirty="0">
              <a:effectLst/>
              <a:latin typeface="Courier New" panose="02070309020205020404" pitchFamily="49" charset="0"/>
              <a:ea typeface="Times New Roman" panose="02020603050405020304" pitchFamily="18" charset="0"/>
            </a:endParaRPr>
          </a:p>
          <a:p>
            <a:r>
              <a:rPr lang="it-IT" sz="1800" dirty="0">
                <a:solidFill>
                  <a:srgbClr val="000000"/>
                </a:solidFill>
                <a:effectLst/>
                <a:latin typeface="Courier New" panose="02070309020205020404" pitchFamily="49" charset="0"/>
                <a:ea typeface="Times New Roman" panose="02020603050405020304" pitchFamily="18" charset="0"/>
              </a:rPr>
              <a:t>}</a:t>
            </a:r>
            <a:endParaRPr lang="it-IT" sz="1800" dirty="0">
              <a:effectLst/>
              <a:latin typeface="Courier New" panose="02070309020205020404" pitchFamily="49" charset="0"/>
              <a:ea typeface="Times New Roman" panose="02020603050405020304" pitchFamily="18" charset="0"/>
            </a:endParaRPr>
          </a:p>
          <a:p>
            <a:r>
              <a:rPr lang="it-IT" sz="1800" dirty="0">
                <a:effectLst/>
                <a:latin typeface="Times New Roman" panose="02020603050405020304" pitchFamily="18" charset="0"/>
                <a:ea typeface="Times New Roman" panose="02020603050405020304" pitchFamily="18" charset="0"/>
              </a:rPr>
              <a:t>Supponiamo che i file sorgente </a:t>
            </a:r>
            <a:r>
              <a:rPr lang="it-IT" sz="1800" dirty="0">
                <a:effectLst/>
                <a:latin typeface="Arial" panose="020B0604020202020204" pitchFamily="34" charset="0"/>
                <a:ea typeface="Times New Roman" panose="02020603050405020304" pitchFamily="18" charset="0"/>
                <a:cs typeface="Arial" panose="020B0604020202020204" pitchFamily="34" charset="0"/>
              </a:rPr>
              <a:t>TestPunto.java</a:t>
            </a:r>
            <a:r>
              <a:rPr lang="it-IT" sz="1800" dirty="0">
                <a:effectLst/>
                <a:latin typeface="Times New Roman" panose="02020603050405020304" pitchFamily="18" charset="0"/>
                <a:ea typeface="Times New Roman" panose="02020603050405020304" pitchFamily="18" charset="0"/>
              </a:rPr>
              <a:t> e </a:t>
            </a:r>
            <a:r>
              <a:rPr lang="it-IT" sz="1800" dirty="0">
                <a:effectLst/>
                <a:latin typeface="Arial" panose="020B0604020202020204" pitchFamily="34" charset="0"/>
                <a:ea typeface="Times New Roman" panose="02020603050405020304" pitchFamily="18" charset="0"/>
                <a:cs typeface="Arial" panose="020B0604020202020204" pitchFamily="34" charset="0"/>
              </a:rPr>
              <a:t>Punto.java</a:t>
            </a:r>
            <a:r>
              <a:rPr lang="it-IT" sz="1800" dirty="0">
                <a:effectLst/>
                <a:latin typeface="Times New Roman" panose="02020603050405020304" pitchFamily="18" charset="0"/>
                <a:ea typeface="Times New Roman" panose="02020603050405020304" pitchFamily="18" charset="0"/>
              </a:rPr>
              <a:t> si trovino inizialmente nella stessa cartella </a:t>
            </a:r>
            <a:r>
              <a:rPr lang="it-IT" sz="1800" dirty="0">
                <a:effectLst/>
                <a:latin typeface="Arial" panose="020B0604020202020204" pitchFamily="34" charset="0"/>
                <a:ea typeface="Times New Roman" panose="02020603050405020304" pitchFamily="18" charset="0"/>
                <a:cs typeface="Arial" panose="020B0604020202020204" pitchFamily="34" charset="0"/>
              </a:rPr>
              <a:t>test</a:t>
            </a:r>
            <a:r>
              <a:rPr lang="it-IT" sz="1800" dirty="0">
                <a:effectLst/>
                <a:latin typeface="Times New Roman" panose="02020603050405020304" pitchFamily="18" charset="0"/>
                <a:ea typeface="Times New Roman" panose="02020603050405020304" pitchFamily="18" charset="0"/>
              </a:rPr>
              <a:t>. Una volta compilati, verranno create le cartelle relative ai package dichiarati, e i file </a:t>
            </a:r>
            <a:r>
              <a:rPr lang="it-IT" sz="1800" dirty="0">
                <a:effectLst/>
                <a:latin typeface="Arial" panose="020B0604020202020204" pitchFamily="34" charset="0"/>
                <a:ea typeface="Times New Roman" panose="02020603050405020304" pitchFamily="18" charset="0"/>
                <a:cs typeface="Arial" panose="020B0604020202020204" pitchFamily="34" charset="0"/>
              </a:rPr>
              <a:t>.class</a:t>
            </a:r>
            <a:r>
              <a:rPr lang="it-IT" sz="1800" dirty="0">
                <a:effectLst/>
                <a:latin typeface="Times New Roman" panose="02020603050405020304" pitchFamily="18" charset="0"/>
                <a:ea typeface="Times New Roman" panose="02020603050405020304" pitchFamily="18" charset="0"/>
              </a:rPr>
              <a:t> saranno direttamente spostati all’interno di esse come mostrato nella figura 2.1.</a:t>
            </a:r>
          </a:p>
          <a:p>
            <a:r>
              <a:rPr lang="it-IT" sz="1800" b="1" dirty="0">
                <a:solidFill>
                  <a:srgbClr val="0000FF"/>
                </a:solidFill>
                <a:effectLst/>
                <a:latin typeface="Arial" panose="020B0604020202020204" pitchFamily="34" charset="0"/>
                <a:ea typeface="MS Mincho" panose="02020609040205080304" pitchFamily="49" charset="-128"/>
              </a:rPr>
              <a:t>Figura 2.1 - Compilazione di file dichiarati con package.</a:t>
            </a:r>
            <a:endParaRPr lang="it-IT" sz="1800" dirty="0">
              <a:solidFill>
                <a:srgbClr val="00008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834117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Purtroppo però, la situazione non è così semplice come sembra. Infatti l’esempio precedente riporta uno degli scenari più semplici. Con EJE, questo tipo di scenario viene coperto senza complicazioni, in quanto EJE gestirebbe per voi il posizionamento dei file e la creazione delle cartelle (a patto che i file </a:t>
            </a:r>
            <a:r>
              <a:rPr lang="it-IT" sz="1800" dirty="0">
                <a:effectLst/>
                <a:latin typeface="Arial" panose="020B0604020202020204" pitchFamily="34" charset="0"/>
                <a:ea typeface="Times New Roman" panose="02020603050405020304" pitchFamily="18" charset="0"/>
                <a:cs typeface="Arial" panose="020B0604020202020204" pitchFamily="34" charset="0"/>
              </a:rPr>
              <a:t>.java</a:t>
            </a:r>
            <a:r>
              <a:rPr lang="it-IT" sz="1800" dirty="0">
                <a:effectLst/>
                <a:latin typeface="Times New Roman" panose="02020603050405020304" pitchFamily="18" charset="0"/>
                <a:ea typeface="Times New Roman" panose="02020603050405020304" pitchFamily="18" charset="0"/>
              </a:rPr>
              <a:t> si trovino entrambi nella stessa cartella iniziale). Se invece provassimo a compilare con la prompt dei comandi, dovremmo utilizzare la seguente sintassi per eseguire la compilazione, dopo esserci posizionati nella cartella </a:t>
            </a:r>
            <a:r>
              <a:rPr lang="it-IT" sz="1800" dirty="0">
                <a:effectLst/>
                <a:latin typeface="Arial" panose="020B0604020202020204" pitchFamily="34" charset="0"/>
                <a:ea typeface="Times New Roman" panose="02020603050405020304" pitchFamily="18" charset="0"/>
                <a:cs typeface="Arial" panose="020B0604020202020204" pitchFamily="34" charset="0"/>
              </a:rPr>
              <a:t>test</a:t>
            </a:r>
            <a:r>
              <a:rPr lang="it-IT" sz="1800" dirty="0">
                <a:effectLst/>
                <a:latin typeface="Times New Roman" panose="02020603050405020304" pitchFamily="18" charset="0"/>
                <a:ea typeface="Times New Roman" panose="02020603050405020304" pitchFamily="18" charset="0"/>
              </a:rPr>
              <a:t>:</a:t>
            </a:r>
          </a:p>
          <a:p>
            <a:r>
              <a:rPr lang="it-IT" sz="1800" dirty="0">
                <a:solidFill>
                  <a:srgbClr val="FFFFFF"/>
                </a:solidFill>
                <a:effectLst/>
                <a:latin typeface="Courier New" panose="02070309020205020404" pitchFamily="49" charset="0"/>
                <a:ea typeface="MS Mincho" panose="02020609040205080304" pitchFamily="49" charset="-128"/>
              </a:rPr>
              <a:t>javac -d . Punto.java TestPunto.java</a:t>
            </a:r>
          </a:p>
          <a:p>
            <a:r>
              <a:rPr lang="it-IT" sz="1800" dirty="0">
                <a:effectLst/>
                <a:latin typeface="Times New Roman" panose="02020603050405020304" pitchFamily="18" charset="0"/>
                <a:ea typeface="Times New Roman" panose="02020603050405020304" pitchFamily="18" charset="0"/>
              </a:rPr>
              <a:t>In questo modo, compileremmo entrambi i file contemporaneamente specificando di voler creare le directory (sinonimo di cartelle) con l’opzione </a:t>
            </a:r>
            <a:r>
              <a:rPr lang="it-IT" sz="1800" dirty="0">
                <a:effectLst/>
                <a:latin typeface="Arial" panose="020B0604020202020204" pitchFamily="34" charset="0"/>
                <a:ea typeface="Times New Roman" panose="02020603050405020304" pitchFamily="18" charset="0"/>
                <a:cs typeface="Arial" panose="020B0604020202020204" pitchFamily="34" charset="0"/>
              </a:rPr>
              <a:t>-d</a:t>
            </a:r>
            <a:r>
              <a:rPr lang="it-IT" sz="1800" dirty="0">
                <a:effectLst/>
                <a:latin typeface="Times New Roman" panose="02020603050405020304" pitchFamily="18" charset="0"/>
                <a:ea typeface="Times New Roman" panose="02020603050405020304" pitchFamily="18" charset="0"/>
              </a:rPr>
              <a:t> (abbreviativo di </a:t>
            </a:r>
            <a:r>
              <a:rPr lang="it-IT" sz="1800" dirty="0">
                <a:effectLst/>
                <a:latin typeface="Arial" panose="020B0604020202020204" pitchFamily="34" charset="0"/>
                <a:ea typeface="Times New Roman" panose="02020603050405020304" pitchFamily="18" charset="0"/>
                <a:cs typeface="Arial" panose="020B0604020202020204" pitchFamily="34" charset="0"/>
              </a:rPr>
              <a:t>-directory</a:t>
            </a:r>
            <a:r>
              <a:rPr lang="it-IT" sz="1800" dirty="0">
                <a:effectLst/>
                <a:latin typeface="Times New Roman" panose="02020603050405020304" pitchFamily="18" charset="0"/>
                <a:ea typeface="Times New Roman" panose="02020603050405020304" pitchFamily="18" charset="0"/>
              </a:rPr>
              <a:t>) e specificando che tali cartelle devono essere create a partire dalla cartella corrente (che nell’informatica viene individuata solitamente con il simbolo di “</a:t>
            </a:r>
            <a:r>
              <a:rPr lang="it-IT" sz="1800" dirty="0">
                <a:effectLst/>
                <a:latin typeface="Arial" panose="020B0604020202020204" pitchFamily="34" charset="0"/>
                <a:ea typeface="Times New Roman" panose="02020603050405020304" pitchFamily="18" charset="0"/>
                <a:cs typeface="Arial" panose="020B0604020202020204" pitchFamily="34" charset="0"/>
              </a:rPr>
              <a:t>.</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Per eseguire il file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TestPunto</a:t>
            </a:r>
            <a:r>
              <a:rPr lang="it-IT" sz="1800" dirty="0">
                <a:effectLst/>
                <a:latin typeface="Times New Roman" panose="02020603050405020304" pitchFamily="18" charset="0"/>
                <a:ea typeface="Times New Roman" panose="02020603050405020304" pitchFamily="18" charset="0"/>
              </a:rPr>
              <a:t> invece, sempre dalla cartella </a:t>
            </a:r>
            <a:r>
              <a:rPr lang="it-IT" sz="1800" dirty="0">
                <a:effectLst/>
                <a:latin typeface="Arial" panose="020B0604020202020204" pitchFamily="34" charset="0"/>
                <a:ea typeface="Times New Roman" panose="02020603050405020304" pitchFamily="18" charset="0"/>
                <a:cs typeface="Arial" panose="020B0604020202020204" pitchFamily="34" charset="0"/>
              </a:rPr>
              <a:t>test</a:t>
            </a:r>
            <a:r>
              <a:rPr lang="it-IT" sz="1800" dirty="0">
                <a:effectLst/>
                <a:latin typeface="Times New Roman" panose="02020603050405020304" pitchFamily="18" charset="0"/>
                <a:ea typeface="Times New Roman" panose="02020603050405020304" pitchFamily="18" charset="0"/>
              </a:rPr>
              <a:t> dovremmo lanciare il comando:</a:t>
            </a:r>
          </a:p>
          <a:p>
            <a:r>
              <a:rPr lang="it-IT" sz="1800" dirty="0">
                <a:solidFill>
                  <a:srgbClr val="FFFFFF"/>
                </a:solidFill>
                <a:effectLst/>
                <a:latin typeface="Courier New" panose="02070309020205020404" pitchFamily="49" charset="0"/>
                <a:ea typeface="MS Mincho" panose="02020609040205080304" pitchFamily="49" charset="-128"/>
              </a:rPr>
              <a:t>java </a:t>
            </a:r>
            <a:r>
              <a:rPr lang="it-IT" sz="1800" dirty="0" err="1">
                <a:solidFill>
                  <a:srgbClr val="FFFFFF"/>
                </a:solidFill>
                <a:effectLst/>
                <a:latin typeface="Courier New" panose="02070309020205020404" pitchFamily="49" charset="0"/>
                <a:ea typeface="MS Mincho" panose="02020609040205080304" pitchFamily="49" charset="-128"/>
              </a:rPr>
              <a:t>studio.matematica.geometria.test.TestPunto</a:t>
            </a:r>
            <a:endParaRPr lang="it-IT" sz="1800" dirty="0">
              <a:solidFill>
                <a:srgbClr val="FFFFFF"/>
              </a:solidFill>
              <a:effectLst/>
              <a:latin typeface="Courier New" panose="02070309020205020404" pitchFamily="49" charset="0"/>
              <a:ea typeface="MS Mincho" panose="02020609040205080304" pitchFamily="49" charset="-128"/>
            </a:endParaRPr>
          </a:p>
          <a:p>
            <a:r>
              <a:rPr lang="it-IT" sz="1800" dirty="0">
                <a:effectLst/>
                <a:latin typeface="Times New Roman" panose="02020603050405020304" pitchFamily="18" charset="0"/>
                <a:ea typeface="Times New Roman" panose="02020603050405020304" pitchFamily="18" charset="0"/>
              </a:rPr>
              <a:t>ovvero dovrete anteporre al nome della classe </a:t>
            </a:r>
            <a:r>
              <a:rPr lang="it-IT" sz="1800" dirty="0" err="1">
                <a:effectLst/>
                <a:latin typeface="Courier New" panose="02070309020205020404" pitchFamily="49" charset="0"/>
                <a:ea typeface="Times New Roman" panose="02020603050405020304" pitchFamily="18" charset="0"/>
                <a:cs typeface="Courier New" panose="02070309020205020404" pitchFamily="49" charset="0"/>
              </a:rPr>
              <a:t>TestPunto</a:t>
            </a:r>
            <a:r>
              <a:rPr lang="it-IT" sz="1800" dirty="0">
                <a:effectLst/>
                <a:latin typeface="Times New Roman" panose="02020603050405020304" pitchFamily="18" charset="0"/>
                <a:ea typeface="Times New Roman" panose="02020603050405020304" pitchFamily="18" charset="0"/>
              </a:rPr>
              <a:t>, la dichiarazione del suo package per indicare dove si trova il bytecode alla Java Virtual Machine. Questa versione lunga del nome della classe è detta </a:t>
            </a:r>
            <a:r>
              <a:rPr lang="it-IT" sz="1800" b="1" dirty="0">
                <a:effectLst/>
                <a:latin typeface="Times New Roman" panose="02020603050405020304" pitchFamily="18" charset="0"/>
                <a:ea typeface="Times New Roman" panose="02020603050405020304" pitchFamily="18" charset="0"/>
              </a:rPr>
              <a:t>fully-qualified name</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Times New Roman" panose="02020603050405020304" pitchFamily="18" charset="0"/>
              </a:rPr>
              <a:t>Altri scenari che prevedono il posizionamento dei file sorgente in cartelle diverse, richiedono ulteriori accorgimenti (spiegati in dettaglio nel capitolo 5) che potrebbero far diventare l’apprendimento di Java un vero e proprio incubo per il neofita. La soluzione è offerta dagli IDE, che gestiscono automaticamente il posizionamento dei file sorgente e dei file </a:t>
            </a:r>
            <a:r>
              <a:rPr lang="it-IT" sz="1800" dirty="0">
                <a:effectLst/>
                <a:latin typeface="Arial" panose="020B0604020202020204" pitchFamily="34" charset="0"/>
                <a:ea typeface="Times New Roman" panose="02020603050405020304" pitchFamily="18" charset="0"/>
                <a:cs typeface="Arial" panose="020B0604020202020204" pitchFamily="34" charset="0"/>
              </a:rPr>
              <a:t>.class</a:t>
            </a:r>
            <a:r>
              <a:rPr lang="it-IT" sz="1800" dirty="0">
                <a:effectLst/>
                <a:latin typeface="Times New Roman" panose="02020603050405020304" pitchFamily="18" charset="0"/>
                <a:ea typeface="Times New Roman" panose="02020603050405020304" pitchFamily="18" charset="0"/>
              </a:rPr>
              <a:t>, esonerando il programmatore dal compito di preoccuparsi del posizionamento dei file. </a:t>
            </a:r>
          </a:p>
          <a:p>
            <a:r>
              <a:rPr lang="it-IT" sz="1800" dirty="0">
                <a:effectLst/>
                <a:latin typeface="Times New Roman" panose="02020603050405020304" pitchFamily="18" charset="0"/>
                <a:ea typeface="Times New Roman" panose="02020603050405020304" pitchFamily="18" charset="0"/>
              </a:rPr>
              <a:t>Giacché il concetto di package non è essenziale al fine di approcciare correttamente al linguaggio, è stato scelto di rimandare al capitolo 5 la trattazione dettagliata di questo argomento. Fino a quel momento non dichiareremo più package nei nostri esempi e nei nostri esercizi.</a:t>
            </a:r>
          </a:p>
        </p:txBody>
      </p:sp>
    </p:spTree>
    <p:extLst>
      <p:ext uri="{BB962C8B-B14F-4D97-AF65-F5344CB8AC3E}">
        <p14:creationId xmlns:p14="http://schemas.microsoft.com/office/powerpoint/2010/main" val="19119218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MS Mincho" panose="02020609040205080304" pitchFamily="49" charset="-128"/>
              </a:rPr>
              <a:t>Seguono una serie di voci, pregiudizi, idee sbagliate, imprecise o quantomeno superficiali, che riguardano il linguaggio Java:</a:t>
            </a:r>
          </a:p>
          <a:p>
            <a:pPr marL="180340" indent="180340"/>
            <a:r>
              <a:rPr lang="it-IT" sz="1800" b="1" dirty="0">
                <a:effectLst/>
                <a:latin typeface="Times New Roman" panose="02020603050405020304" pitchFamily="18" charset="0"/>
                <a:ea typeface="MS Mincho" panose="02020609040205080304" pitchFamily="49" charset="-128"/>
              </a:rPr>
              <a:t>Java è lento</a:t>
            </a:r>
            <a:r>
              <a:rPr lang="it-IT" sz="1800" dirty="0">
                <a:effectLst/>
                <a:latin typeface="Times New Roman" panose="02020603050405020304" pitchFamily="18" charset="0"/>
                <a:ea typeface="MS Mincho" panose="02020609040205080304" pitchFamily="49" charset="-128"/>
              </a:rPr>
              <a:t>: Nei primi anni Java era un linguaggio effettivamente lento se comparato ad altri linguaggi compilati. Le performance dell’interpretazione del bytecode da parte della JVM non erano ottimizzate e la lentezza era palese. Dopo pochi anni dalla nascita di Java però, Sun Microsystems creò la sua prima JVM basata </a:t>
            </a:r>
            <a:r>
              <a:rPr lang="it-IT" sz="1800" dirty="0" err="1">
                <a:effectLst/>
                <a:latin typeface="Times New Roman" panose="02020603050405020304" pitchFamily="18" charset="0"/>
                <a:ea typeface="MS Mincho" panose="02020609040205080304" pitchFamily="49" charset="-128"/>
              </a:rPr>
              <a:t>sull’</a:t>
            </a:r>
            <a:r>
              <a:rPr lang="it-IT" sz="1800" b="1" dirty="0" err="1">
                <a:effectLst/>
                <a:latin typeface="Times New Roman" panose="02020603050405020304" pitchFamily="18" charset="0"/>
                <a:ea typeface="MS Mincho" panose="02020609040205080304" pitchFamily="49" charset="-128"/>
              </a:rPr>
              <a:t>HotSpot</a:t>
            </a:r>
            <a:r>
              <a:rPr lang="it-IT" sz="1800" b="1" dirty="0">
                <a:effectLst/>
                <a:latin typeface="Times New Roman" panose="02020603050405020304" pitchFamily="18" charset="0"/>
                <a:ea typeface="MS Mincho" panose="02020609040205080304" pitchFamily="49" charset="-128"/>
              </a:rPr>
              <a:t> Performance Engine</a:t>
            </a:r>
            <a:r>
              <a:rPr lang="it-IT" sz="1800" dirty="0">
                <a:effectLst/>
                <a:latin typeface="Times New Roman" panose="02020603050405020304" pitchFamily="18" charset="0"/>
                <a:ea typeface="MS Mincho" panose="02020609040205080304" pitchFamily="49" charset="-128"/>
              </a:rPr>
              <a:t>, che divenne la JVM di default già dalla versione 1.3 di Java. Si tratta di una JVM con compilazione </a:t>
            </a:r>
            <a:r>
              <a:rPr lang="it-IT" sz="1800" b="1" dirty="0">
                <a:effectLst/>
                <a:latin typeface="Times New Roman" panose="02020603050405020304" pitchFamily="18" charset="0"/>
                <a:ea typeface="MS Mincho" panose="02020609040205080304" pitchFamily="49" charset="-128"/>
              </a:rPr>
              <a:t>Just-In-Time</a:t>
            </a:r>
            <a:r>
              <a:rPr lang="it-IT" sz="1800" dirty="0">
                <a:effectLst/>
                <a:latin typeface="Times New Roman" panose="02020603050405020304" pitchFamily="18" charset="0"/>
                <a:ea typeface="MS Mincho" panose="02020609040205080304" pitchFamily="49" charset="-128"/>
              </a:rPr>
              <a:t> (in inglese </a:t>
            </a:r>
            <a:r>
              <a:rPr lang="it-IT" sz="1800" b="1" dirty="0">
                <a:effectLst/>
                <a:latin typeface="Times New Roman" panose="02020603050405020304" pitchFamily="18" charset="0"/>
                <a:ea typeface="MS Mincho" panose="02020609040205080304" pitchFamily="49" charset="-128"/>
              </a:rPr>
              <a:t>JIT</a:t>
            </a:r>
            <a:r>
              <a:rPr lang="it-IT" sz="1800" dirty="0">
                <a:effectLst/>
                <a:latin typeface="Times New Roman" panose="02020603050405020304" pitchFamily="18" charset="0"/>
                <a:ea typeface="MS Mincho" panose="02020609040205080304" pitchFamily="49" charset="-128"/>
              </a:rPr>
              <a:t> compilation che potremmo tradurre come </a:t>
            </a:r>
            <a:r>
              <a:rPr lang="it-IT" sz="1800" i="1" dirty="0">
                <a:effectLst/>
                <a:latin typeface="Times New Roman" panose="02020603050405020304" pitchFamily="18" charset="0"/>
                <a:ea typeface="MS Mincho" panose="02020609040205080304" pitchFamily="49" charset="-128"/>
              </a:rPr>
              <a:t>compilazione al volo</a:t>
            </a:r>
            <a:r>
              <a:rPr lang="it-IT" sz="1800" dirty="0">
                <a:effectLst/>
                <a:latin typeface="Times New Roman" panose="02020603050405020304" pitchFamily="18" charset="0"/>
                <a:ea typeface="MS Mincho" panose="02020609040205080304" pitchFamily="49" charset="-128"/>
              </a:rPr>
              <a:t>) che durante l’esecuzione analizza continuamente il programma, individua le parti di codice che vengono eseguite più frequentemente (chiamate appunto </a:t>
            </a:r>
            <a:r>
              <a:rPr lang="it-IT" sz="1800" b="1" dirty="0">
                <a:effectLst/>
                <a:latin typeface="Times New Roman" panose="02020603050405020304" pitchFamily="18" charset="0"/>
                <a:ea typeface="MS Mincho" panose="02020609040205080304" pitchFamily="49" charset="-128"/>
              </a:rPr>
              <a:t>HotSpot</a:t>
            </a:r>
            <a:r>
              <a:rPr lang="it-IT" sz="1800" dirty="0">
                <a:effectLst/>
                <a:latin typeface="Times New Roman" panose="02020603050405020304" pitchFamily="18" charset="0"/>
                <a:ea typeface="MS Mincho" panose="02020609040205080304" pitchFamily="49" charset="-128"/>
              </a:rPr>
              <a:t>) e le traduce in linguaggio macchina, ottimizzando al massimo la traduzione. Inoltre anche il compilatore Java esegue tante ottimizzazioni quando viene creato il bytecode. Oggi, la JVM ha prestazioni comparabili tranquillamente a quelle dei linguaggi compilati più performanti come C e C++, che in alcuni benchmark sono addirittura superati. </a:t>
            </a:r>
          </a:p>
          <a:p>
            <a:pPr marL="914400"/>
            <a:r>
              <a:rPr lang="it-IT" sz="1800" b="1" dirty="0">
                <a:solidFill>
                  <a:srgbClr val="000000"/>
                </a:solidFill>
                <a:effectLst/>
                <a:latin typeface="(Tipo di carattere testo asiati"/>
                <a:ea typeface="Times New Roman" panose="02020603050405020304" pitchFamily="18" charset="0"/>
                <a:cs typeface="(Tipo di carattere testo asiati"/>
              </a:rPr>
              <a:t>Attualmente con lo sviluppo di una nuova virtual machine sperimentale chiamata Graal VM, si è dato inizio alla sperimentazione di una nuova generazione di JVM basato su compilazione </a:t>
            </a:r>
            <a:r>
              <a:rPr lang="it-IT" sz="1800" b="1" i="1" dirty="0" err="1">
                <a:solidFill>
                  <a:srgbClr val="000000"/>
                </a:solidFill>
                <a:effectLst/>
                <a:latin typeface="(Tipo di carattere testo asiati"/>
                <a:ea typeface="Times New Roman" panose="02020603050405020304" pitchFamily="18" charset="0"/>
                <a:cs typeface="(Tipo di carattere testo asiati"/>
              </a:rPr>
              <a:t>Ahead</a:t>
            </a:r>
            <a:r>
              <a:rPr lang="it-IT" sz="1800" b="1" i="1" dirty="0">
                <a:solidFill>
                  <a:srgbClr val="000000"/>
                </a:solidFill>
                <a:effectLst/>
                <a:latin typeface="(Tipo di carattere testo asiati"/>
                <a:ea typeface="Times New Roman" panose="02020603050405020304" pitchFamily="18" charset="0"/>
                <a:cs typeface="(Tipo di carattere testo asiati"/>
              </a:rPr>
              <a:t>-Of-Time</a:t>
            </a:r>
            <a:r>
              <a:rPr lang="it-IT" sz="1800" b="1" dirty="0">
                <a:solidFill>
                  <a:srgbClr val="000000"/>
                </a:solidFill>
                <a:effectLst/>
                <a:latin typeface="(Tipo di carattere testo asiati"/>
                <a:ea typeface="Times New Roman" panose="02020603050405020304" pitchFamily="18" charset="0"/>
                <a:cs typeface="(Tipo di carattere testo asiati"/>
              </a:rPr>
              <a:t> (in inglese </a:t>
            </a:r>
            <a:r>
              <a:rPr lang="it-IT" sz="1800" b="1" i="1" dirty="0">
                <a:solidFill>
                  <a:srgbClr val="000000"/>
                </a:solidFill>
                <a:effectLst/>
                <a:latin typeface="(Tipo di carattere testo asiati"/>
                <a:ea typeface="Times New Roman" panose="02020603050405020304" pitchFamily="18" charset="0"/>
                <a:cs typeface="(Tipo di carattere testo asiati"/>
              </a:rPr>
              <a:t>AOT</a:t>
            </a:r>
            <a:r>
              <a:rPr lang="it-IT" sz="1800" b="1" dirty="0">
                <a:solidFill>
                  <a:srgbClr val="000000"/>
                </a:solidFill>
                <a:effectLst/>
                <a:latin typeface="(Tipo di carattere testo asiati"/>
                <a:ea typeface="Times New Roman" panose="02020603050405020304" pitchFamily="18" charset="0"/>
                <a:cs typeface="(Tipo di carattere testo asiati"/>
              </a:rPr>
              <a:t> </a:t>
            </a:r>
            <a:r>
              <a:rPr lang="it-IT" sz="1800" b="1" i="1" dirty="0">
                <a:solidFill>
                  <a:srgbClr val="000000"/>
                </a:solidFill>
                <a:effectLst/>
                <a:latin typeface="(Tipo di carattere testo asiati"/>
                <a:ea typeface="Times New Roman" panose="02020603050405020304" pitchFamily="18" charset="0"/>
                <a:cs typeface="(Tipo di carattere testo asiati"/>
              </a:rPr>
              <a:t>compilation</a:t>
            </a:r>
            <a:r>
              <a:rPr lang="it-IT" sz="1800" b="1" dirty="0">
                <a:solidFill>
                  <a:srgbClr val="000000"/>
                </a:solidFill>
                <a:effectLst/>
                <a:latin typeface="(Tipo di carattere testo asiati"/>
                <a:ea typeface="Times New Roman" panose="02020603050405020304" pitchFamily="18" charset="0"/>
                <a:cs typeface="(Tipo di carattere testo asiati"/>
              </a:rPr>
              <a:t>, che potremmo tradurre come </a:t>
            </a:r>
            <a:r>
              <a:rPr lang="it-IT" sz="1800" b="1" i="1" dirty="0">
                <a:solidFill>
                  <a:srgbClr val="000000"/>
                </a:solidFill>
                <a:effectLst/>
                <a:latin typeface="(Tipo di carattere testo asiati"/>
                <a:ea typeface="Times New Roman" panose="02020603050405020304" pitchFamily="18" charset="0"/>
                <a:cs typeface="(Tipo di carattere testo asiati"/>
              </a:rPr>
              <a:t>compilazione prima del tempo</a:t>
            </a:r>
            <a:r>
              <a:rPr lang="it-IT" sz="1800" b="1" dirty="0">
                <a:solidFill>
                  <a:srgbClr val="000000"/>
                </a:solidFill>
                <a:effectLst/>
                <a:latin typeface="(Tipo di carattere testo asiati"/>
                <a:ea typeface="Times New Roman" panose="02020603050405020304" pitchFamily="18" charset="0"/>
                <a:cs typeface="(Tipo di carattere testo asiati"/>
              </a:rPr>
              <a:t>). AOT si pone l’obiettivo di diminuire sensibilmente i tempi di compilazione al volo (JIT), soprattutto nella fase di startup dell’applicazione. Quindi in futuro le prestazioni dovrebbero migliorare ulteriormente.</a:t>
            </a:r>
            <a:endParaRPr lang="it-IT" sz="1800" b="1" dirty="0">
              <a:effectLst/>
              <a:latin typeface="(Tipo di carattere testo asiati"/>
              <a:ea typeface="Times New Roman" panose="02020603050405020304" pitchFamily="18" charset="0"/>
              <a:cs typeface="(Tipo di carattere testo asiati"/>
            </a:endParaRPr>
          </a:p>
          <a:p>
            <a:pPr marL="180340" indent="180340"/>
            <a:r>
              <a:rPr lang="it-IT" sz="1800" b="1" dirty="0">
                <a:effectLst/>
                <a:latin typeface="Times New Roman" panose="02020603050405020304" pitchFamily="18" charset="0"/>
                <a:ea typeface="MS Mincho" panose="02020609040205080304" pitchFamily="49" charset="-128"/>
              </a:rPr>
              <a:t>Java non è sicuro</a:t>
            </a:r>
            <a:r>
              <a:rPr lang="it-IT" sz="1800" dirty="0">
                <a:effectLst/>
                <a:latin typeface="Times New Roman" panose="02020603050405020304" pitchFamily="18" charset="0"/>
                <a:ea typeface="MS Mincho" panose="02020609040205080304" pitchFamily="49" charset="-128"/>
              </a:rPr>
              <a:t>: nei primi anni ci fu una sorta di gara a trovare le criticità di alcune tecnologie Java come le Applet, a cui fu data grande pubblicità, ma che in realtà Sun risolse molto presto. Ancora più risalto fu dato ad alcune falle trovate nel Java Plug-in all’inizio degli anni ‘10, tanto da far rimuovere lo stesso dai più importanti browser nel giro di pochi mesi. Niente di comparabile ai danni provocati in tutti questi anni da virus e worm distribuiti con programmi eseguibili su Windows! In realtà, Java è tra i linguaggi più importanti, indubbiamente il più sicuro, soprattutto dopo i passi da gigante fatti negli ultimi anni da Oracle. </a:t>
            </a:r>
            <a:br>
              <a:rPr lang="it-IT" sz="1800" dirty="0">
                <a:effectLst/>
                <a:latin typeface="Times New Roman" panose="02020603050405020304" pitchFamily="18" charset="0"/>
                <a:ea typeface="MS Mincho" panose="02020609040205080304" pitchFamily="49" charset="-128"/>
              </a:rPr>
            </a:br>
            <a:r>
              <a:rPr lang="it-IT" sz="1800" b="1" dirty="0">
                <a:effectLst/>
                <a:latin typeface="Times New Roman" panose="02020603050405020304" pitchFamily="18" charset="0"/>
                <a:ea typeface="MS Mincho" panose="02020609040205080304" pitchFamily="49" charset="-128"/>
              </a:rPr>
              <a:t>(ICONA CURIOSITÀ)</a:t>
            </a:r>
            <a:endParaRPr lang="it-IT" sz="1800" dirty="0">
              <a:effectLst/>
              <a:latin typeface="Times New Roman" panose="02020603050405020304" pitchFamily="18" charset="0"/>
              <a:ea typeface="MS Mincho" panose="02020609040205080304" pitchFamily="49" charset="-128"/>
            </a:endParaRPr>
          </a:p>
          <a:p>
            <a:pPr marL="180340" indent="180340"/>
            <a:r>
              <a:rPr lang="it-IT" sz="1800" dirty="0">
                <a:effectLst/>
                <a:latin typeface="Times New Roman" panose="02020603050405020304" pitchFamily="18" charset="0"/>
                <a:ea typeface="MS Mincho" panose="02020609040205080304" pitchFamily="49" charset="-128"/>
              </a:rPr>
              <a:t>Una video ironico fu creato per pubblicizzare la conferenza di </a:t>
            </a:r>
            <a:r>
              <a:rPr lang="it-IT" sz="1800" dirty="0" err="1">
                <a:effectLst/>
                <a:latin typeface="Times New Roman" panose="02020603050405020304" pitchFamily="18" charset="0"/>
                <a:ea typeface="MS Mincho" panose="02020609040205080304" pitchFamily="49" charset="-128"/>
              </a:rPr>
              <a:t>JavaZone</a:t>
            </a:r>
            <a:r>
              <a:rPr lang="it-IT" sz="1800" dirty="0">
                <a:effectLst/>
                <a:latin typeface="Times New Roman" panose="02020603050405020304" pitchFamily="18" charset="0"/>
                <a:ea typeface="MS Mincho" panose="02020609040205080304" pitchFamily="49" charset="-128"/>
              </a:rPr>
              <a:t> ad Oslo del 2013, lo trovate al link 1.1 su </a:t>
            </a:r>
            <a:r>
              <a:rPr lang="it-IT" sz="1800" dirty="0">
                <a:effectLst/>
                <a:latin typeface="Arial" panose="020B0604020202020204" pitchFamily="34" charset="0"/>
                <a:ea typeface="MS Mincho" panose="02020609040205080304" pitchFamily="49" charset="-128"/>
                <a:cs typeface="Arial" panose="020B0604020202020204" pitchFamily="34" charset="0"/>
              </a:rPr>
              <a:t>www.nuovojava.it</a:t>
            </a:r>
            <a:r>
              <a:rPr lang="it-IT" sz="1800" dirty="0">
                <a:effectLst/>
                <a:latin typeface="Times New Roman" panose="02020603050405020304" pitchFamily="18" charset="0"/>
                <a:ea typeface="MS Mincho" panose="02020609040205080304" pitchFamily="49" charset="-128"/>
              </a:rPr>
              <a:t>.</a:t>
            </a:r>
            <a:r>
              <a:rPr lang="it-IT" sz="1800" b="1" dirty="0">
                <a:effectLst/>
                <a:latin typeface="Times New Roman" panose="02020603050405020304" pitchFamily="18" charset="0"/>
                <a:ea typeface="MS Mincho" panose="02020609040205080304" pitchFamily="49" charset="-128"/>
              </a:rPr>
              <a:t> [ICONA LINK 1.1]</a:t>
            </a:r>
            <a:endParaRPr lang="it-IT" sz="1800" dirty="0">
              <a:effectLst/>
              <a:latin typeface="Times New Roman" panose="02020603050405020304" pitchFamily="18" charset="0"/>
              <a:ea typeface="MS Mincho" panose="02020609040205080304" pitchFamily="49" charset="-128"/>
            </a:endParaRPr>
          </a:p>
          <a:p>
            <a:pPr marL="180340" indent="180340"/>
            <a:r>
              <a:rPr lang="it-IT" sz="1800" b="1" dirty="0">
                <a:effectLst/>
                <a:latin typeface="Times New Roman" panose="02020603050405020304" pitchFamily="18" charset="0"/>
                <a:ea typeface="MS Mincho" panose="02020609040205080304" pitchFamily="49" charset="-128"/>
              </a:rPr>
              <a:t>Java è prolisso</a:t>
            </a:r>
            <a:r>
              <a:rPr lang="it-IT" sz="1800" dirty="0">
                <a:effectLst/>
                <a:latin typeface="Times New Roman" panose="02020603050405020304" pitchFamily="18" charset="0"/>
                <a:ea typeface="MS Mincho" panose="02020609040205080304" pitchFamily="49" charset="-128"/>
              </a:rPr>
              <a:t>: indubbiamente, rispetto ad altri linguaggi Java è un linguaggio prolisso (si usa spesso il termine “verboso”). È anche vero però, che negli ultimi anni una buona parte dell’evoluzione del linguaggio si è concentrata sul rendere la sua sintassi più sintetica. Il multi-</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catch</a:t>
            </a:r>
            <a:r>
              <a:rPr lang="it-IT" sz="1800" dirty="0">
                <a:effectLst/>
                <a:latin typeface="Times New Roman" panose="02020603050405020304" pitchFamily="18" charset="0"/>
                <a:ea typeface="MS Mincho" panose="02020609040205080304" pitchFamily="49" charset="-128"/>
              </a:rPr>
              <a:t>, il </a:t>
            </a:r>
            <a:r>
              <a:rPr lang="it-IT" sz="1800" dirty="0">
                <a:effectLst/>
                <a:latin typeface="Courier New" panose="02070309020205020404" pitchFamily="49" charset="0"/>
                <a:ea typeface="MS Mincho" panose="02020609040205080304" pitchFamily="49" charset="-128"/>
                <a:cs typeface="Courier New" panose="02070309020205020404" pitchFamily="49" charset="0"/>
              </a:rPr>
              <a:t>try</a:t>
            </a:r>
            <a:r>
              <a:rPr lang="it-IT" sz="1800" dirty="0">
                <a:effectLst/>
                <a:latin typeface="Times New Roman" panose="02020603050405020304" pitchFamily="18" charset="0"/>
                <a:ea typeface="MS Mincho" panose="02020609040205080304" pitchFamily="49" charset="-128"/>
              </a:rPr>
              <a:t>-with-resources, i factory method per le collection, le espressioni Lambda, gli stream e le pipeline, la deduzione per i tipi delle variabili locali, ed i record sono solo alcuni degli ultimi cambiamenti che rendono Java un linguaggio molto diverso e più moderno. Purtroppo, spesso la criticità di alcuni progetti, porta gli sviluppatori a rimanere bloccati su versioni di Java antiquate, e di non potersi aggiornare per usufruire delle nuove feature.</a:t>
            </a:r>
          </a:p>
          <a:p>
            <a:pPr marL="180340" indent="180340"/>
            <a:r>
              <a:rPr lang="it-IT" sz="1800" b="1" dirty="0">
                <a:effectLst/>
                <a:latin typeface="Times New Roman" panose="02020603050405020304" pitchFamily="18" charset="0"/>
                <a:ea typeface="MS Mincho" panose="02020609040205080304" pitchFamily="49" charset="-128"/>
              </a:rPr>
              <a:t>Java è facile da imparare</a:t>
            </a:r>
            <a:r>
              <a:rPr lang="it-IT" sz="1800" dirty="0">
                <a:effectLst/>
                <a:latin typeface="Times New Roman" panose="02020603050405020304" pitchFamily="18" charset="0"/>
                <a:ea typeface="MS Mincho" panose="02020609040205080304" pitchFamily="49" charset="-128"/>
              </a:rPr>
              <a:t>: una volta Java era davvero un linguaggio facile da imparare. Oggi invece è un linguaggio molto complesso. Tuttavia in questo libro verrà usato un metodo collaudato, affinché lo studio sia semplificato al massimo. Quindi anche le caratteristiche avanzate più complesse di Java dovrebbero sempre risultare comprensibili. </a:t>
            </a:r>
          </a:p>
          <a:p>
            <a:pPr marL="180340" indent="180340"/>
            <a:r>
              <a:rPr lang="it-IT" sz="1800" b="1" dirty="0">
                <a:effectLst/>
                <a:latin typeface="Times New Roman" panose="02020603050405020304" pitchFamily="18" charset="0"/>
                <a:ea typeface="MS Mincho" panose="02020609040205080304" pitchFamily="49" charset="-128"/>
              </a:rPr>
              <a:t>Java è a pagamento</a:t>
            </a:r>
            <a:r>
              <a:rPr lang="it-IT" sz="1800" dirty="0">
                <a:effectLst/>
                <a:latin typeface="Times New Roman" panose="02020603050405020304" pitchFamily="18" charset="0"/>
                <a:ea typeface="MS Mincho" panose="02020609040205080304" pitchFamily="49" charset="-128"/>
              </a:rPr>
              <a:t>: dopo Java 8, è vero che Oracle ha introdotto una nuova politica a pagamento per il supporto in produzione dei programmi che girano sul JDK Oracle, ma è anche vero che è possibile scaricare l’OpenJDK, che è allineato con il JDK Oracle. Il “prezzo da pagare” per ottenere le patch di sicurezza gratuitamente, è quello di aggiornare il JDK ogni volta che esce una nuova versione. È possibile anche scegliere altri JDK come quelli che offrono per esempio AdoptOpenJDK, e Azul (ma anche tanti altri) che offrono soluzioni diverse per il supporto. Quindi la risposta è no, Java è ancora un linguaggio che si può usare gratuitamente.</a:t>
            </a:r>
          </a:p>
          <a:p>
            <a:pPr marL="180340" indent="180340"/>
            <a:r>
              <a:rPr lang="it-IT" sz="1800" b="1" dirty="0">
                <a:effectLst/>
                <a:latin typeface="Times New Roman" panose="02020603050405020304" pitchFamily="18" charset="0"/>
                <a:ea typeface="MS Mincho" panose="02020609040205080304" pitchFamily="49" charset="-128"/>
              </a:rPr>
              <a:t>JavaScript è una versione semplificata di Java</a:t>
            </a:r>
            <a:r>
              <a:rPr lang="it-IT" sz="1800" dirty="0">
                <a:effectLst/>
                <a:latin typeface="Times New Roman" panose="02020603050405020304" pitchFamily="18" charset="0"/>
                <a:ea typeface="MS Mincho" panose="02020609040205080304" pitchFamily="49" charset="-128"/>
              </a:rPr>
              <a:t>: in realtà a parte il nome (che fu scelto perché all’epoca Java era sulla bocca di tutti) e la sintassi abbastanza simile, Javascript non ha nulla a che fare con Java. Javascript è un linguaggio di scripting che gira sulle pagine web, grazie al fatto che ogni browser ne implementa un interprete. È un linguaggio non tipizzato (al contrario di Java che come vedremo presto è </a:t>
            </a:r>
            <a:r>
              <a:rPr lang="it-IT" sz="1800" i="1" dirty="0">
                <a:effectLst/>
                <a:latin typeface="Times New Roman" panose="02020603050405020304" pitchFamily="18" charset="0"/>
                <a:ea typeface="MS Mincho" panose="02020609040205080304" pitchFamily="49" charset="-128"/>
              </a:rPr>
              <a:t>fortemente tipizzato</a:t>
            </a:r>
            <a:r>
              <a:rPr lang="it-IT" sz="1800" dirty="0">
                <a:effectLst/>
                <a:latin typeface="Times New Roman" panose="02020603050405020304" pitchFamily="18" charset="0"/>
                <a:ea typeface="MS Mincho" panose="02020609040205080304" pitchFamily="49" charset="-128"/>
              </a:rPr>
              <a:t>) e non ha un compilatore.</a:t>
            </a:r>
          </a:p>
        </p:txBody>
      </p:sp>
    </p:spTree>
    <p:extLst>
      <p:ext uri="{BB962C8B-B14F-4D97-AF65-F5344CB8AC3E}">
        <p14:creationId xmlns:p14="http://schemas.microsoft.com/office/powerpoint/2010/main" val="39048821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ote 1">
            <a:extLst>
              <a:ext uri="{FF2B5EF4-FFF2-40B4-BE49-F238E27FC236}">
                <a16:creationId xmlns:a16="http://schemas.microsoft.com/office/drawing/2014/main" id="{C040D6EA-1B8B-48B9-8F8E-77C62CF53D6A}"/>
              </a:ext>
            </a:extLst>
          </p:cNvPr>
          <p:cNvSpPr>
            <a:spLocks noGrp="1"/>
          </p:cNvSpPr>
          <p:nvPr>
            <p:ph type="body" idx="1"/>
          </p:nvPr>
        </p:nvSpPr>
        <p:spPr/>
        <p:txBody>
          <a:bodyPr/>
          <a:lstStyle/>
          <a:p>
            <a:r>
              <a:rPr lang="it-IT" sz="1800" dirty="0">
                <a:effectLst/>
                <a:latin typeface="Times New Roman" panose="02020603050405020304" pitchFamily="18" charset="0"/>
                <a:ea typeface="Times New Roman" panose="02020603050405020304" pitchFamily="18" charset="0"/>
              </a:rPr>
              <a:t>Lo </a:t>
            </a:r>
            <a:r>
              <a:rPr lang="it-IT" sz="1800" b="1" dirty="0">
                <a:effectLst/>
                <a:latin typeface="Times New Roman" panose="02020603050405020304" pitchFamily="18" charset="0"/>
                <a:ea typeface="Times New Roman" panose="02020603050405020304" pitchFamily="18" charset="0"/>
              </a:rPr>
              <a:t>sviluppo del software</a:t>
            </a:r>
            <a:r>
              <a:rPr lang="it-IT" sz="1800" dirty="0">
                <a:effectLst/>
                <a:latin typeface="Times New Roman" panose="02020603050405020304" pitchFamily="18" charset="0"/>
                <a:ea typeface="Times New Roman" panose="02020603050405020304" pitchFamily="18" charset="0"/>
              </a:rPr>
              <a:t> richiede che siano portate a termine una serie di attività (un </a:t>
            </a:r>
            <a:r>
              <a:rPr lang="it-IT" sz="1800" b="1" dirty="0">
                <a:effectLst/>
                <a:latin typeface="Times New Roman" panose="02020603050405020304" pitchFamily="18" charset="0"/>
                <a:ea typeface="Times New Roman" panose="02020603050405020304" pitchFamily="18" charset="0"/>
              </a:rPr>
              <a:t>processo</a:t>
            </a:r>
            <a:r>
              <a:rPr lang="it-IT" sz="1800" dirty="0">
                <a:effectLst/>
                <a:latin typeface="Times New Roman" panose="02020603050405020304" pitchFamily="18" charset="0"/>
                <a:ea typeface="Times New Roman" panose="02020603050405020304" pitchFamily="18" charset="0"/>
              </a:rPr>
              <a:t>) che permetteranno ad un’idea di diventare software. Un processo minimale richiede almeno quattro attività ben definite: capire cosa fare, capire come fare, implementare il software, testarlo e risolvere gli eventuali problemi.</a:t>
            </a:r>
          </a:p>
          <a:p>
            <a:r>
              <a:rPr lang="it-IT" sz="1800" dirty="0">
                <a:effectLst/>
                <a:latin typeface="Times New Roman" panose="02020603050405020304" pitchFamily="18" charset="0"/>
                <a:ea typeface="Times New Roman" panose="02020603050405020304" pitchFamily="18" charset="0"/>
              </a:rPr>
              <a:t>Java è un </a:t>
            </a:r>
            <a:r>
              <a:rPr lang="it-IT" sz="1800" b="1" dirty="0">
                <a:effectLst/>
                <a:latin typeface="Times New Roman" panose="02020603050405020304" pitchFamily="18" charset="0"/>
                <a:ea typeface="Times New Roman" panose="02020603050405020304" pitchFamily="18" charset="0"/>
              </a:rPr>
              <a:t>linguaggio object oriented</a:t>
            </a:r>
            <a:r>
              <a:rPr lang="it-IT" sz="1800" dirty="0">
                <a:effectLst/>
                <a:latin typeface="Times New Roman" panose="02020603050405020304" pitchFamily="18" charset="0"/>
                <a:ea typeface="Times New Roman" panose="02020603050405020304" pitchFamily="18" charset="0"/>
              </a:rPr>
              <a:t>, il che significa che supporta con le sue caratteristiche la </a:t>
            </a:r>
            <a:r>
              <a:rPr lang="it-IT" sz="1800" b="1" dirty="0">
                <a:effectLst/>
                <a:latin typeface="Times New Roman" panose="02020603050405020304" pitchFamily="18" charset="0"/>
                <a:ea typeface="Times New Roman" panose="02020603050405020304" pitchFamily="18" charset="0"/>
              </a:rPr>
              <a:t>programmazione object oriented</a:t>
            </a:r>
            <a:r>
              <a:rPr lang="it-IT" sz="1800" dirty="0">
                <a:effectLst/>
                <a:latin typeface="Times New Roman" panose="02020603050405020304" pitchFamily="18" charset="0"/>
                <a:ea typeface="Times New Roman" panose="02020603050405020304" pitchFamily="18" charset="0"/>
              </a:rPr>
              <a:t> (</a:t>
            </a:r>
            <a:r>
              <a:rPr lang="it-IT" sz="1800" b="1" dirty="0">
                <a:effectLst/>
                <a:latin typeface="Times New Roman" panose="02020603050405020304" pitchFamily="18" charset="0"/>
                <a:ea typeface="Times New Roman" panose="02020603050405020304" pitchFamily="18" charset="0"/>
              </a:rPr>
              <a:t>OOP</a:t>
            </a:r>
            <a:r>
              <a:rPr lang="it-IT" sz="1800" dirty="0">
                <a:effectLst/>
                <a:latin typeface="Times New Roman" panose="02020603050405020304" pitchFamily="18" charset="0"/>
                <a:ea typeface="Times New Roman" panose="02020603050405020304" pitchFamily="18" charset="0"/>
              </a:rPr>
              <a:t>). Alla base della programmazione OOP ci sono i concetti di classe ed oggetto, che come tutti gli altri concetti della teoria dell’Object Orientation sono ispirati al mondo reale. </a:t>
            </a:r>
          </a:p>
          <a:p>
            <a:r>
              <a:rPr lang="it-IT" sz="1800" dirty="0">
                <a:effectLst/>
                <a:latin typeface="Times New Roman" panose="02020603050405020304" pitchFamily="18" charset="0"/>
                <a:ea typeface="Times New Roman" panose="02020603050405020304" pitchFamily="18" charset="0"/>
              </a:rPr>
              <a:t>Una </a:t>
            </a:r>
            <a:r>
              <a:rPr lang="it-IT" sz="1800" b="1" dirty="0">
                <a:effectLst/>
                <a:latin typeface="Times New Roman" panose="02020603050405020304" pitchFamily="18" charset="0"/>
                <a:ea typeface="Times New Roman" panose="02020603050405020304" pitchFamily="18" charset="0"/>
              </a:rPr>
              <a:t>classe</a:t>
            </a:r>
            <a:r>
              <a:rPr lang="it-IT" sz="1800" dirty="0">
                <a:effectLst/>
                <a:latin typeface="Times New Roman" panose="02020603050405020304" pitchFamily="18" charset="0"/>
                <a:ea typeface="Times New Roman" panose="02020603050405020304" pitchFamily="18" charset="0"/>
              </a:rPr>
              <a:t> rappresenta un’astrazione per un gruppo di oggetti che condividono le stesse caratteristiche e funzionalità. Un </a:t>
            </a:r>
            <a:r>
              <a:rPr lang="it-IT" sz="1800" b="1" dirty="0">
                <a:effectLst/>
                <a:latin typeface="Times New Roman" panose="02020603050405020304" pitchFamily="18" charset="0"/>
                <a:ea typeface="Times New Roman" panose="02020603050405020304" pitchFamily="18" charset="0"/>
              </a:rPr>
              <a:t>oggetto</a:t>
            </a:r>
            <a:r>
              <a:rPr lang="it-IT" sz="1800" dirty="0">
                <a:effectLst/>
                <a:latin typeface="Times New Roman" panose="02020603050405020304" pitchFamily="18" charset="0"/>
                <a:ea typeface="Times New Roman" panose="02020603050405020304" pitchFamily="18" charset="0"/>
              </a:rPr>
              <a:t> è una creazione fisica (detta anche </a:t>
            </a:r>
            <a:r>
              <a:rPr lang="it-IT" sz="1800" b="1" dirty="0">
                <a:effectLst/>
                <a:latin typeface="Times New Roman" panose="02020603050405020304" pitchFamily="18" charset="0"/>
                <a:ea typeface="Times New Roman" panose="02020603050405020304" pitchFamily="18" charset="0"/>
              </a:rPr>
              <a:t>istanza</a:t>
            </a:r>
            <a:r>
              <a:rPr lang="it-IT" sz="1800" dirty="0">
                <a:effectLst/>
                <a:latin typeface="Times New Roman" panose="02020603050405020304" pitchFamily="18" charset="0"/>
                <a:ea typeface="Times New Roman" panose="02020603050405020304" pitchFamily="18" charset="0"/>
              </a:rPr>
              <a:t>) della classe. Ogni classe è unica, ma gli oggetti creati a partire dalla stessa classe sono diversi.</a:t>
            </a:r>
          </a:p>
          <a:p>
            <a:r>
              <a:rPr lang="it-IT" sz="1800" dirty="0">
                <a:effectLst/>
                <a:latin typeface="Times New Roman" panose="02020603050405020304" pitchFamily="18" charset="0"/>
                <a:ea typeface="Times New Roman" panose="02020603050405020304" pitchFamily="18" charset="0"/>
              </a:rPr>
              <a:t>Nella programmazione ad oggetti, l’astrazione è la tecnica che ci permette di definire gli elementi di programmazione (classi, oggetti, metodi, variabili etc.).</a:t>
            </a:r>
          </a:p>
          <a:p>
            <a:r>
              <a:rPr lang="it-IT" sz="1800" dirty="0">
                <a:effectLst/>
                <a:latin typeface="Times New Roman" panose="02020603050405020304" pitchFamily="18" charset="0"/>
                <a:ea typeface="Times New Roman" panose="02020603050405020304" pitchFamily="18" charset="0"/>
              </a:rPr>
              <a:t>I programmi Java saranno costituiti da tante classi che si referenziano l’un l’altra. Nei programmi Java però, saranno gli oggetti istanziati dalle classi che eseguiranno le istruzioni, le classi invece serviranno soprattutto per definire la struttura degli oggetti. Un’eccezione è rappresentata dalla classe che contiene il metodo statico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che è il punto di partenza per ogni programma Java e di conseguenza esegue delle istruzioni (di solito crea oggetti che eseguono istruzioni). La classe contenente il metodo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main</a:t>
            </a:r>
            <a:r>
              <a:rPr lang="it-IT" sz="1800" dirty="0">
                <a:effectLst/>
                <a:latin typeface="Times New Roman" panose="02020603050405020304" pitchFamily="18" charset="0"/>
                <a:ea typeface="Times New Roman" panose="02020603050405020304" pitchFamily="18" charset="0"/>
              </a:rPr>
              <a:t> è l’unica classe che si può eseguire mediante il comando </a:t>
            </a:r>
            <a:r>
              <a:rPr lang="it-IT" sz="1800" dirty="0">
                <a:effectLst/>
                <a:latin typeface="Arial" panose="020B0604020202020204" pitchFamily="34" charset="0"/>
                <a:ea typeface="Times New Roman" panose="02020603050405020304" pitchFamily="18" charset="0"/>
                <a:cs typeface="Arial" panose="020B0604020202020204" pitchFamily="34" charset="0"/>
              </a:rPr>
              <a:t>java</a:t>
            </a:r>
            <a:r>
              <a:rPr lang="it-IT" sz="1800" dirty="0">
                <a:effectLst/>
                <a:latin typeface="Times New Roman" panose="02020603050405020304" pitchFamily="18" charset="0"/>
                <a:ea typeface="Times New Roman" panose="02020603050405020304" pitchFamily="18" charset="0"/>
              </a:rPr>
              <a:t>.</a:t>
            </a:r>
          </a:p>
          <a:p>
            <a:r>
              <a:rPr lang="it-IT" sz="1800" dirty="0">
                <a:effectLst/>
                <a:latin typeface="Times New Roman" panose="02020603050405020304" pitchFamily="18" charset="0"/>
                <a:ea typeface="MS Mincho" panose="02020609040205080304" pitchFamily="49" charset="-128"/>
              </a:rPr>
              <a:t>Ogni file che fa parte di un’applicazione Java conterrà il listato di una ed una sola classe (tranne in alcuni casi eccezionali che per ora il lettore può ignorare). Inoltre, ogni classe solitamente contiene definizioni di variabili, metodi e costruttori. </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MS Mincho" panose="02020609040205080304" pitchFamily="49" charset="-128"/>
              </a:rPr>
              <a:t>I </a:t>
            </a:r>
            <a:r>
              <a:rPr lang="it-IT" sz="1800" b="1" dirty="0">
                <a:effectLst/>
                <a:latin typeface="Times New Roman" panose="02020603050405020304" pitchFamily="18" charset="0"/>
                <a:ea typeface="MS Mincho" panose="02020609040205080304" pitchFamily="49" charset="-128"/>
              </a:rPr>
              <a:t>metodi</a:t>
            </a:r>
            <a:r>
              <a:rPr lang="it-IT" sz="1800" dirty="0">
                <a:effectLst/>
                <a:latin typeface="Times New Roman" panose="02020603050405020304" pitchFamily="18" charset="0"/>
                <a:ea typeface="MS Mincho" panose="02020609040205080304" pitchFamily="49" charset="-128"/>
              </a:rPr>
              <a:t> contengono codice operativo e definiscono le funzionalità degli oggetti. Hanno bisogno di essere dichiarati all’interno di una classe e di essere utilizzati tramite l’operatore </a:t>
            </a:r>
            <a:r>
              <a:rPr lang="it-IT" sz="1800" b="1" dirty="0">
                <a:effectLst/>
                <a:latin typeface="Times New Roman" panose="02020603050405020304" pitchFamily="18" charset="0"/>
                <a:ea typeface="MS Mincho" panose="02020609040205080304" pitchFamily="49" charset="-128"/>
              </a:rPr>
              <a:t>dot</a:t>
            </a:r>
            <a:r>
              <a:rPr lang="it-IT" sz="1800" dirty="0">
                <a:effectLst/>
                <a:latin typeface="Times New Roman" panose="02020603050405020304" pitchFamily="18" charset="0"/>
                <a:ea typeface="MS Mincho" panose="02020609040205080304" pitchFamily="49" charset="-128"/>
              </a:rPr>
              <a:t> applicato ad un oggetto. I metodi possono o meno restituire un risultato in output ed avere o meno dei parametri in input. Viene detta </a:t>
            </a:r>
            <a:r>
              <a:rPr lang="it-IT" sz="1800" b="1" dirty="0">
                <a:effectLst/>
                <a:latin typeface="Times New Roman" panose="02020603050405020304" pitchFamily="18" charset="0"/>
                <a:ea typeface="MS Mincho" panose="02020609040205080304" pitchFamily="49" charset="-128"/>
              </a:rPr>
              <a:t>firma del metodo</a:t>
            </a:r>
            <a:r>
              <a:rPr lang="it-IT" sz="1800" dirty="0">
                <a:effectLst/>
                <a:latin typeface="Times New Roman" panose="02020603050405020304" pitchFamily="18" charset="0"/>
                <a:ea typeface="MS Mincho" panose="02020609040205080304" pitchFamily="49" charset="-128"/>
              </a:rPr>
              <a:t> la coppia costituita dal nome e dalla lista dei parametri. La firma identifica univocamente un metodo.</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MS Mincho" panose="02020609040205080304" pitchFamily="49" charset="-128"/>
              </a:rPr>
              <a:t>Le </a:t>
            </a:r>
            <a:r>
              <a:rPr lang="it-IT" sz="1800" b="1" dirty="0">
                <a:effectLst/>
                <a:latin typeface="Times New Roman" panose="02020603050405020304" pitchFamily="18" charset="0"/>
                <a:ea typeface="MS Mincho" panose="02020609040205080304" pitchFamily="49" charset="-128"/>
              </a:rPr>
              <a:t>variabili</a:t>
            </a:r>
            <a:r>
              <a:rPr lang="it-IT" sz="1800" dirty="0">
                <a:effectLst/>
                <a:latin typeface="Times New Roman" panose="02020603050405020304" pitchFamily="18" charset="0"/>
                <a:ea typeface="MS Mincho" panose="02020609040205080304" pitchFamily="49" charset="-128"/>
              </a:rPr>
              <a:t> si dividono in tre tipologie, definite dal posizionamento della dichiarazione: d’istanza, locali e parametri (che si possono in sostanza considerare locali). Una </a:t>
            </a:r>
            <a:r>
              <a:rPr lang="it-IT" sz="1800" b="1" dirty="0">
                <a:effectLst/>
                <a:latin typeface="Times New Roman" panose="02020603050405020304" pitchFamily="18" charset="0"/>
                <a:ea typeface="MS Mincho" panose="02020609040205080304" pitchFamily="49" charset="-128"/>
              </a:rPr>
              <a:t>variabile d’istanza</a:t>
            </a:r>
            <a:r>
              <a:rPr lang="it-IT" sz="1800" dirty="0">
                <a:effectLst/>
                <a:latin typeface="Times New Roman" panose="02020603050405020304" pitchFamily="18" charset="0"/>
                <a:ea typeface="MS Mincho" panose="02020609040205080304" pitchFamily="49" charset="-128"/>
              </a:rPr>
              <a:t> è dichiarata al di fuori di un metodo e rappresenta un </a:t>
            </a:r>
            <a:r>
              <a:rPr lang="it-IT" sz="1800" b="1" dirty="0">
                <a:effectLst/>
                <a:latin typeface="Times New Roman" panose="02020603050405020304" pitchFamily="18" charset="0"/>
                <a:ea typeface="MS Mincho" panose="02020609040205080304" pitchFamily="49" charset="-128"/>
              </a:rPr>
              <a:t>membro</a:t>
            </a:r>
            <a:r>
              <a:rPr lang="it-IT" sz="1800" dirty="0">
                <a:effectLst/>
                <a:latin typeface="Times New Roman" panose="02020603050405020304" pitchFamily="18" charset="0"/>
                <a:ea typeface="MS Mincho" panose="02020609040205080304" pitchFamily="49" charset="-128"/>
              </a:rPr>
              <a:t> della classe al pari di un metodo. Oltre ad un nome (identificatore), le variabili hanno un tipo (per esempio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int</a:t>
            </a:r>
            <a:r>
              <a:rPr lang="it-IT" sz="1800" dirty="0">
                <a:effectLst/>
                <a:latin typeface="Times New Roman" panose="02020603050405020304" pitchFamily="18" charset="0"/>
                <a:ea typeface="MS Mincho" panose="02020609040205080304" pitchFamily="49" charset="-128"/>
              </a:rPr>
              <a:t>) e un valore (per esempio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8</a:t>
            </a:r>
            <a:r>
              <a:rPr lang="it-IT" sz="1800" dirty="0">
                <a:effectLst/>
                <a:latin typeface="Times New Roman" panose="02020603050405020304" pitchFamily="18" charset="0"/>
                <a:ea typeface="MS Mincho" panose="02020609040205080304" pitchFamily="49" charset="-128"/>
              </a:rPr>
              <a:t>). In particolare le variabili d’istanza rappresentano gli attributi (le caratteristiche) di un oggetto ed è possibile accedervi tramite l’operatore dot applicato ad un oggetto. Le </a:t>
            </a:r>
            <a:r>
              <a:rPr lang="it-IT" sz="1800" b="1" dirty="0">
                <a:effectLst/>
                <a:latin typeface="Times New Roman" panose="02020603050405020304" pitchFamily="18" charset="0"/>
                <a:ea typeface="MS Mincho" panose="02020609040205080304" pitchFamily="49" charset="-128"/>
              </a:rPr>
              <a:t>variabili locali</a:t>
            </a:r>
            <a:r>
              <a:rPr lang="it-IT" sz="1800" dirty="0">
                <a:effectLst/>
                <a:latin typeface="Times New Roman" panose="02020603050405020304" pitchFamily="18" charset="0"/>
                <a:ea typeface="MS Mincho" panose="02020609040205080304" pitchFamily="49" charset="-128"/>
              </a:rPr>
              <a:t> ed i </a:t>
            </a:r>
            <a:r>
              <a:rPr lang="it-IT" sz="1800" b="1" dirty="0">
                <a:effectLst/>
                <a:latin typeface="Times New Roman" panose="02020603050405020304" pitchFamily="18" charset="0"/>
                <a:ea typeface="MS Mincho" panose="02020609040205080304" pitchFamily="49" charset="-128"/>
              </a:rPr>
              <a:t>parametri</a:t>
            </a:r>
            <a:r>
              <a:rPr lang="it-IT" sz="1800" dirty="0">
                <a:effectLst/>
                <a:latin typeface="Times New Roman" panose="02020603050405020304" pitchFamily="18" charset="0"/>
                <a:ea typeface="MS Mincho" panose="02020609040205080304" pitchFamily="49" charset="-128"/>
              </a:rPr>
              <a:t> di un metodo sono invece dichiarate all’interno di un metodo con cui condividono il ciclo di vita. Questo significa che in fase di esecuzione del programma, vengono create quando viene eseguito il metodo in cui sono dichiarate, e una volta terminato il metodo non saranno più accessibili. I parametri in particolare vengono inizializzati con valori che provengono dall’esterno del metodo in cui sono definiti, e tali valori rappresentano l’input di un metodo. </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MS Mincho" panose="02020609040205080304" pitchFamily="49" charset="-128"/>
              </a:rPr>
              <a:t>I </a:t>
            </a:r>
            <a:r>
              <a:rPr lang="it-IT" sz="1800" b="1" dirty="0">
                <a:effectLst/>
                <a:latin typeface="Times New Roman" panose="02020603050405020304" pitchFamily="18" charset="0"/>
                <a:ea typeface="MS Mincho" panose="02020609040205080304" pitchFamily="49" charset="-128"/>
              </a:rPr>
              <a:t>costruttori</a:t>
            </a:r>
            <a:r>
              <a:rPr lang="it-IT" sz="1800" dirty="0">
                <a:effectLst/>
                <a:latin typeface="Times New Roman" panose="02020603050405020304" pitchFamily="18" charset="0"/>
                <a:ea typeface="MS Mincho" panose="02020609040205080304" pitchFamily="49" charset="-128"/>
              </a:rPr>
              <a:t> sono metodi speciali che si trovano all’interno di ogni classe. Infatti, se il programmatore non ne fornisce uno esplicitamente, il compilatore Java aggiungerà il </a:t>
            </a:r>
            <a:r>
              <a:rPr lang="it-IT" sz="1800" b="1" dirty="0">
                <a:effectLst/>
                <a:latin typeface="Times New Roman" panose="02020603050405020304" pitchFamily="18" charset="0"/>
                <a:ea typeface="MS Mincho" panose="02020609040205080304" pitchFamily="49" charset="-128"/>
              </a:rPr>
              <a:t>costruttore di default</a:t>
            </a:r>
            <a:r>
              <a:rPr lang="it-IT" sz="1800" dirty="0">
                <a:effectLst/>
                <a:latin typeface="Times New Roman" panose="02020603050405020304" pitchFamily="18" charset="0"/>
                <a:ea typeface="MS Mincho" panose="02020609040205080304" pitchFamily="49" charset="-128"/>
              </a:rPr>
              <a:t>. Il costruttore non ha tipo di ritorno, ha lo stesso nome della classe in cui è dichiarato e viene chiamato ogni volta che viene istanziato un oggetto. Può prendere in input parametri come un metodo qualsiasi e grazie ad una caratteristica chiamata </a:t>
            </a:r>
            <a:r>
              <a:rPr lang="it-IT" sz="1800" i="1" dirty="0">
                <a:effectLst/>
                <a:latin typeface="Times New Roman" panose="02020603050405020304" pitchFamily="18" charset="0"/>
                <a:ea typeface="MS Mincho" panose="02020609040205080304" pitchFamily="49" charset="-128"/>
              </a:rPr>
              <a:t>overload</a:t>
            </a:r>
            <a:r>
              <a:rPr lang="it-IT" sz="1800" dirty="0">
                <a:effectLst/>
                <a:latin typeface="Times New Roman" panose="02020603050405020304" pitchFamily="18" charset="0"/>
                <a:ea typeface="MS Mincho" panose="02020609040205080304" pitchFamily="49" charset="-128"/>
              </a:rPr>
              <a:t> possiamo definire più costruttori all’interno della stessa classe. Un costruttore di solito viene utilizzato per inizializzare le variabili d’istanza di un oggetto. </a:t>
            </a:r>
            <a:endParaRPr lang="it-IT" sz="1800" dirty="0">
              <a:effectLst/>
              <a:latin typeface="Times New Roman" panose="02020603050405020304" pitchFamily="18" charset="0"/>
              <a:ea typeface="Times New Roman" panose="02020603050405020304" pitchFamily="18" charset="0"/>
            </a:endParaRPr>
          </a:p>
          <a:p>
            <a:r>
              <a:rPr lang="it-IT" sz="1800" dirty="0">
                <a:effectLst/>
                <a:latin typeface="Times New Roman" panose="02020603050405020304" pitchFamily="18" charset="0"/>
                <a:ea typeface="MS Mincho" panose="02020609040205080304" pitchFamily="49" charset="-128"/>
              </a:rPr>
              <a:t>Un </a:t>
            </a:r>
            <a:r>
              <a:rPr lang="it-IT" sz="1800" b="1" dirty="0">
                <a:effectLst/>
                <a:latin typeface="Times New Roman" panose="02020603050405020304" pitchFamily="18" charset="0"/>
                <a:ea typeface="MS Mincho" panose="02020609040205080304" pitchFamily="49" charset="-128"/>
              </a:rPr>
              <a:t>package</a:t>
            </a:r>
            <a:r>
              <a:rPr lang="it-IT" sz="1800" dirty="0">
                <a:effectLst/>
                <a:latin typeface="Times New Roman" panose="02020603050405020304" pitchFamily="18" charset="0"/>
                <a:ea typeface="MS Mincho" panose="02020609040205080304" pitchFamily="49" charset="-128"/>
              </a:rPr>
              <a:t> consente di raggruppare le classi logicamente relazionate tra loro. Un package fisicamente coincide con una cartella. Una classe che vuole utilizzarne un’altra appartenente da un package diverso, la deve </a:t>
            </a:r>
            <a:r>
              <a:rPr lang="it-IT" sz="1800" b="1" dirty="0">
                <a:effectLst/>
                <a:latin typeface="Times New Roman" panose="02020603050405020304" pitchFamily="18" charset="0"/>
                <a:ea typeface="MS Mincho" panose="02020609040205080304" pitchFamily="49" charset="-128"/>
              </a:rPr>
              <a:t>importare</a:t>
            </a:r>
            <a:r>
              <a:rPr lang="it-IT" sz="1800" dirty="0">
                <a:effectLst/>
                <a:latin typeface="Times New Roman" panose="02020603050405020304" pitchFamily="18" charset="0"/>
                <a:ea typeface="MS Mincho" panose="02020609040205080304" pitchFamily="49" charset="-128"/>
              </a:rPr>
              <a:t> mediante il comando </a:t>
            </a:r>
            <a:r>
              <a:rPr lang="it-IT" sz="1800" dirty="0">
                <a:effectLst/>
                <a:latin typeface="Courier New" panose="02070309020205020404" pitchFamily="49" charset="0"/>
                <a:ea typeface="Times New Roman" panose="02020603050405020304" pitchFamily="18" charset="0"/>
                <a:cs typeface="Courier New" panose="02070309020205020404" pitchFamily="49" charset="0"/>
              </a:rPr>
              <a:t>import</a:t>
            </a:r>
            <a:r>
              <a:rPr lang="it-IT" sz="1800" dirty="0">
                <a:effectLst/>
                <a:latin typeface="Times New Roman" panose="02020603050405020304" pitchFamily="18" charset="0"/>
                <a:ea typeface="MS Mincho" panose="02020609040205080304" pitchFamily="49" charset="-128"/>
              </a:rPr>
              <a:t>. Durante lo sviluppo, la gestione dei package può risultare piuttosto macchinosa se non si usa un IDE.</a:t>
            </a:r>
          </a:p>
        </p:txBody>
      </p:sp>
    </p:spTree>
    <p:extLst>
      <p:ext uri="{BB962C8B-B14F-4D97-AF65-F5344CB8AC3E}">
        <p14:creationId xmlns:p14="http://schemas.microsoft.com/office/powerpoint/2010/main" val="2091665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it-IT"/>
              <a:t>Claudio De Sio Cesari: NJ-002</a:t>
            </a:r>
            <a:endParaRPr lang="it-IT" dirty="0"/>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120733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e contenut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it-IT"/>
              <a:t>Claudio De Sio Cesari: NJ-002</a:t>
            </a:r>
            <a:endParaRPr lang="it-IT" dirty="0"/>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3458091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9"/>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NJ-002</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EA83E0A8-4958-4553-8C1A-CC59A6ABE123}" type="slidenum">
              <a:rPr lang="it-IT" smtClean="0"/>
              <a:pPr/>
              <a:t>‹N›</a:t>
            </a:fld>
            <a:endParaRPr lang="it-IT"/>
          </a:p>
        </p:txBody>
      </p:sp>
    </p:spTree>
    <p:extLst>
      <p:ext uri="{BB962C8B-B14F-4D97-AF65-F5344CB8AC3E}">
        <p14:creationId xmlns:p14="http://schemas.microsoft.com/office/powerpoint/2010/main" val="3436973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1_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67430" y="476590"/>
            <a:ext cx="8229600" cy="1252728"/>
          </a:xfrm>
        </p:spPr>
        <p:txBody>
          <a:bodyPr/>
          <a:lstStyle>
            <a:lvl1pPr algn="l">
              <a:defRPr sz="1800">
                <a:solidFill>
                  <a:srgbClr val="C00000"/>
                </a:solidFill>
              </a:defRPr>
            </a:lvl1pPr>
            <a:extLst/>
          </a:lstStyle>
          <a:p>
            <a:r>
              <a:rPr kumimoji="0" lang="it-IT" dirty="0"/>
              <a:t>Fare clic per modificare lo stile del titolo</a:t>
            </a:r>
            <a:endParaRPr kumimoji="0" lang="en-US" dirty="0"/>
          </a:p>
        </p:txBody>
      </p:sp>
      <p:sp>
        <p:nvSpPr>
          <p:cNvPr id="3" name="Segnaposto contenuto 2"/>
          <p:cNvSpPr>
            <a:spLocks noGrp="1"/>
          </p:cNvSpPr>
          <p:nvPr>
            <p:ph idx="1"/>
          </p:nvPr>
        </p:nvSpPr>
        <p:spPr/>
        <p:txBody>
          <a:bodyPr/>
          <a:lstStyle>
            <a:lvl1pPr>
              <a:defRPr sz="1600"/>
            </a:lvl1pPr>
            <a:lvl2pPr>
              <a:defRPr sz="1600"/>
            </a:lvl2pPr>
            <a:lvl3pPr>
              <a:defRPr sz="1600"/>
            </a:lvl3pPr>
            <a:lvl4pPr>
              <a:defRPr sz="1600"/>
            </a:lvl4pPr>
            <a:lvl5pPr>
              <a:defRPr sz="16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kumimoji="0" lang="en-US" dirty="0"/>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NJ-002</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A47CFDED-9124-48F1-BBFC-49CD505FB6D3}" type="slidenum">
              <a:rPr lang="it-IT" smtClean="0"/>
              <a:pPr/>
              <a:t>‹N›</a:t>
            </a:fld>
            <a:endParaRPr lang="it-IT"/>
          </a:p>
        </p:txBody>
      </p:sp>
    </p:spTree>
    <p:extLst>
      <p:ext uri="{BB962C8B-B14F-4D97-AF65-F5344CB8AC3E}">
        <p14:creationId xmlns:p14="http://schemas.microsoft.com/office/powerpoint/2010/main" val="3811523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a:xfrm>
            <a:off x="457200" y="6448345"/>
            <a:ext cx="2133600" cy="365125"/>
          </a:xfrm>
        </p:spPr>
        <p:txBody>
          <a:bodyPr/>
          <a:lstStyle>
            <a:lvl1pPr>
              <a:defRPr/>
            </a:lvl1pPr>
          </a:lstStyle>
          <a:p>
            <a:pPr>
              <a:defRPr/>
            </a:pPr>
            <a:r>
              <a:rPr lang="it-IT"/>
              <a:t>20/03/2012</a:t>
            </a:r>
          </a:p>
        </p:txBody>
      </p:sp>
      <p:sp>
        <p:nvSpPr>
          <p:cNvPr id="3" name="Segnaposto piè di pagina 4"/>
          <p:cNvSpPr>
            <a:spLocks noGrp="1"/>
          </p:cNvSpPr>
          <p:nvPr>
            <p:ph type="ftr" sz="quarter" idx="11"/>
          </p:nvPr>
        </p:nvSpPr>
        <p:spPr>
          <a:xfrm>
            <a:off x="3124200" y="6448345"/>
            <a:ext cx="2895600" cy="365125"/>
          </a:xfrm>
        </p:spPr>
        <p:txBody>
          <a:bodyPr/>
          <a:lstStyle>
            <a:lvl1pPr>
              <a:defRPr/>
            </a:lvl1pPr>
          </a:lstStyle>
          <a:p>
            <a:pPr>
              <a:defRPr/>
            </a:pPr>
            <a:r>
              <a:rPr lang="it-IT"/>
              <a:t>Claudio De Sio Cesari: NJ-002</a:t>
            </a:r>
            <a:endParaRPr lang="it-IT" dirty="0"/>
          </a:p>
        </p:txBody>
      </p:sp>
      <p:sp>
        <p:nvSpPr>
          <p:cNvPr id="4" name="Segnaposto numero diapositiva 5"/>
          <p:cNvSpPr>
            <a:spLocks noGrp="1"/>
          </p:cNvSpPr>
          <p:nvPr>
            <p:ph type="sldNum" sz="quarter" idx="12"/>
          </p:nvPr>
        </p:nvSpPr>
        <p:spPr>
          <a:xfrm>
            <a:off x="6553200" y="6448345"/>
            <a:ext cx="2133600" cy="365125"/>
          </a:xfrm>
        </p:spPr>
        <p:txBody>
          <a:bodyPr/>
          <a:lstStyle>
            <a:lvl1pPr>
              <a:defRPr/>
            </a:lvl1pPr>
          </a:lstStyle>
          <a:p>
            <a:pPr>
              <a:defRPr/>
            </a:pPr>
            <a:fld id="{D7110DCC-F880-45A0-B38F-83BA2DDD42DF}" type="slidenum">
              <a:rPr lang="it-IT"/>
              <a:pPr>
                <a:defRPr/>
              </a:pPr>
              <a:t>‹N›</a:t>
            </a:fld>
            <a:endParaRPr lang="it-IT"/>
          </a:p>
        </p:txBody>
      </p:sp>
    </p:spTree>
    <p:extLst>
      <p:ext uri="{BB962C8B-B14F-4D97-AF65-F5344CB8AC3E}">
        <p14:creationId xmlns:p14="http://schemas.microsoft.com/office/powerpoint/2010/main" val="1303194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personalizza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data 3"/>
          <p:cNvSpPr>
            <a:spLocks noGrp="1"/>
          </p:cNvSpPr>
          <p:nvPr>
            <p:ph type="dt" sz="half" idx="10"/>
          </p:nvPr>
        </p:nvSpPr>
        <p:spPr>
          <a:xfrm>
            <a:off x="457200" y="6448345"/>
            <a:ext cx="2133600" cy="365125"/>
          </a:xfrm>
        </p:spPr>
        <p:txBody>
          <a:bodyPr/>
          <a:lstStyle>
            <a:lvl1pPr>
              <a:defRPr/>
            </a:lvl1pPr>
          </a:lstStyle>
          <a:p>
            <a:pPr>
              <a:defRPr/>
            </a:pPr>
            <a:r>
              <a:rPr lang="it-IT"/>
              <a:t>20/03/2012</a:t>
            </a:r>
          </a:p>
        </p:txBody>
      </p:sp>
      <p:sp>
        <p:nvSpPr>
          <p:cNvPr id="4" name="Segnaposto piè di pagina 4"/>
          <p:cNvSpPr>
            <a:spLocks noGrp="1"/>
          </p:cNvSpPr>
          <p:nvPr>
            <p:ph type="ftr" sz="quarter" idx="11"/>
          </p:nvPr>
        </p:nvSpPr>
        <p:spPr>
          <a:xfrm>
            <a:off x="3124200" y="6448345"/>
            <a:ext cx="2895600" cy="365125"/>
          </a:xfrm>
        </p:spPr>
        <p:txBody>
          <a:bodyPr/>
          <a:lstStyle>
            <a:lvl1pPr>
              <a:defRPr/>
            </a:lvl1pPr>
          </a:lstStyle>
          <a:p>
            <a:pPr>
              <a:defRPr/>
            </a:pPr>
            <a:r>
              <a:rPr lang="it-IT"/>
              <a:t>Claudio De Sio Cesari: NJ-002</a:t>
            </a:r>
            <a:endParaRPr lang="it-IT" dirty="0"/>
          </a:p>
        </p:txBody>
      </p:sp>
      <p:sp>
        <p:nvSpPr>
          <p:cNvPr id="5" name="Segnaposto numero diapositiva 5"/>
          <p:cNvSpPr>
            <a:spLocks noGrp="1"/>
          </p:cNvSpPr>
          <p:nvPr>
            <p:ph type="sldNum" sz="quarter" idx="12"/>
          </p:nvPr>
        </p:nvSpPr>
        <p:spPr>
          <a:xfrm>
            <a:off x="6553200" y="6448345"/>
            <a:ext cx="2133600" cy="365125"/>
          </a:xfrm>
        </p:spPr>
        <p:txBody>
          <a:bodyPr/>
          <a:lstStyle>
            <a:lvl1pPr>
              <a:defRPr/>
            </a:lvl1pPr>
          </a:lstStyle>
          <a:p>
            <a:pPr>
              <a:defRPr/>
            </a:pPr>
            <a:fld id="{EAFDC1E0-E1FA-475B-A781-6647668C09E3}" type="slidenum">
              <a:rPr lang="it-IT"/>
              <a:pPr>
                <a:defRPr/>
              </a:pPr>
              <a:t>‹N›</a:t>
            </a:fld>
            <a:endParaRPr lang="it-IT"/>
          </a:p>
        </p:txBody>
      </p:sp>
    </p:spTree>
    <p:extLst>
      <p:ext uri="{BB962C8B-B14F-4D97-AF65-F5344CB8AC3E}">
        <p14:creationId xmlns:p14="http://schemas.microsoft.com/office/powerpoint/2010/main" val="1604631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lvl1pPr>
              <a:defRPr/>
            </a:lvl1pPr>
          </a:lstStyle>
          <a:p>
            <a:pPr>
              <a:defRPr/>
            </a:pPr>
            <a:r>
              <a:rPr lang="it-IT"/>
              <a:t>20/03/2012</a:t>
            </a:r>
          </a:p>
        </p:txBody>
      </p:sp>
      <p:sp>
        <p:nvSpPr>
          <p:cNvPr id="5" name="Segnaposto piè di pagina 4"/>
          <p:cNvSpPr>
            <a:spLocks noGrp="1"/>
          </p:cNvSpPr>
          <p:nvPr>
            <p:ph type="ftr" sz="quarter" idx="11"/>
          </p:nvPr>
        </p:nvSpPr>
        <p:spPr/>
        <p:txBody>
          <a:bodyPr/>
          <a:lstStyle>
            <a:lvl1pPr>
              <a:defRPr/>
            </a:lvl1pPr>
          </a:lstStyle>
          <a:p>
            <a:pPr>
              <a:defRPr/>
            </a:pPr>
            <a:r>
              <a:rPr lang="it-IT"/>
              <a:t>Claudio De Sio Cesari: NJ-002</a:t>
            </a:r>
            <a:endParaRPr lang="it-IT" dirty="0"/>
          </a:p>
        </p:txBody>
      </p:sp>
      <p:sp>
        <p:nvSpPr>
          <p:cNvPr id="6" name="Segnaposto numero diapositiva 5"/>
          <p:cNvSpPr>
            <a:spLocks noGrp="1"/>
          </p:cNvSpPr>
          <p:nvPr>
            <p:ph type="sldNum" sz="quarter" idx="12"/>
          </p:nvPr>
        </p:nvSpPr>
        <p:spPr/>
        <p:txBody>
          <a:bodyPr/>
          <a:lstStyle>
            <a:lvl1pPr>
              <a:defRPr/>
            </a:lvl1pPr>
          </a:lstStyle>
          <a:p>
            <a:pPr>
              <a:defRPr/>
            </a:pPr>
            <a:fld id="{23931951-706E-4828-A5DF-A5F618EB3661}" type="slidenum">
              <a:rPr lang="it-IT"/>
              <a:pPr>
                <a:defRPr/>
              </a:pPr>
              <a:t>‹N›</a:t>
            </a:fld>
            <a:endParaRPr lang="it-IT"/>
          </a:p>
        </p:txBody>
      </p:sp>
    </p:spTree>
    <p:extLst>
      <p:ext uri="{BB962C8B-B14F-4D97-AF65-F5344CB8AC3E}">
        <p14:creationId xmlns:p14="http://schemas.microsoft.com/office/powerpoint/2010/main" val="1944746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2"/>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lvl1pPr>
              <a:defRPr/>
            </a:lvl1pPr>
          </a:lstStyle>
          <a:p>
            <a:pPr>
              <a:defRPr/>
            </a:pPr>
            <a:r>
              <a:rPr lang="it-IT"/>
              <a:t>20/03/2012</a:t>
            </a:r>
          </a:p>
        </p:txBody>
      </p:sp>
      <p:sp>
        <p:nvSpPr>
          <p:cNvPr id="5" name="Segnaposto piè di pagina 4"/>
          <p:cNvSpPr>
            <a:spLocks noGrp="1"/>
          </p:cNvSpPr>
          <p:nvPr>
            <p:ph type="ftr" sz="quarter" idx="11"/>
          </p:nvPr>
        </p:nvSpPr>
        <p:spPr/>
        <p:txBody>
          <a:bodyPr/>
          <a:lstStyle>
            <a:lvl1pPr>
              <a:defRPr/>
            </a:lvl1pPr>
          </a:lstStyle>
          <a:p>
            <a:pPr>
              <a:defRPr/>
            </a:pPr>
            <a:r>
              <a:rPr lang="it-IT"/>
              <a:t>Claudio De Sio Cesari: NJ-002</a:t>
            </a:r>
            <a:endParaRPr lang="it-IT" dirty="0"/>
          </a:p>
        </p:txBody>
      </p:sp>
      <p:sp>
        <p:nvSpPr>
          <p:cNvPr id="6" name="Segnaposto numero diapositiva 5"/>
          <p:cNvSpPr>
            <a:spLocks noGrp="1"/>
          </p:cNvSpPr>
          <p:nvPr>
            <p:ph type="sldNum" sz="quarter" idx="12"/>
          </p:nvPr>
        </p:nvSpPr>
        <p:spPr/>
        <p:txBody>
          <a:bodyPr/>
          <a:lstStyle>
            <a:lvl1pPr>
              <a:defRPr/>
            </a:lvl1pPr>
          </a:lstStyle>
          <a:p>
            <a:pPr>
              <a:defRPr/>
            </a:pPr>
            <a:fld id="{E38AB037-F906-4F18-AB42-E6112392815B}" type="slidenum">
              <a:rPr lang="it-IT"/>
              <a:pPr>
                <a:defRPr/>
              </a:pPr>
              <a:t>‹N›</a:t>
            </a:fld>
            <a:endParaRPr lang="it-IT"/>
          </a:p>
        </p:txBody>
      </p:sp>
    </p:spTree>
    <p:extLst>
      <p:ext uri="{BB962C8B-B14F-4D97-AF65-F5344CB8AC3E}">
        <p14:creationId xmlns:p14="http://schemas.microsoft.com/office/powerpoint/2010/main" val="712030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3"/>
          <p:cNvSpPr>
            <a:spLocks noGrp="1"/>
          </p:cNvSpPr>
          <p:nvPr>
            <p:ph type="dt" sz="half" idx="10"/>
          </p:nvPr>
        </p:nvSpPr>
        <p:spPr/>
        <p:txBody>
          <a:bodyPr/>
          <a:lstStyle>
            <a:lvl1pPr>
              <a:defRPr/>
            </a:lvl1pPr>
          </a:lstStyle>
          <a:p>
            <a:pPr>
              <a:defRPr/>
            </a:pPr>
            <a:r>
              <a:rPr lang="it-IT"/>
              <a:t>20/03/2012</a:t>
            </a:r>
          </a:p>
        </p:txBody>
      </p:sp>
      <p:sp>
        <p:nvSpPr>
          <p:cNvPr id="6" name="Segnaposto piè di pagina 4"/>
          <p:cNvSpPr>
            <a:spLocks noGrp="1"/>
          </p:cNvSpPr>
          <p:nvPr>
            <p:ph type="ftr" sz="quarter" idx="11"/>
          </p:nvPr>
        </p:nvSpPr>
        <p:spPr/>
        <p:txBody>
          <a:bodyPr/>
          <a:lstStyle>
            <a:lvl1pPr>
              <a:defRPr/>
            </a:lvl1pPr>
          </a:lstStyle>
          <a:p>
            <a:pPr>
              <a:defRPr/>
            </a:pPr>
            <a:r>
              <a:rPr lang="it-IT"/>
              <a:t>Claudio De Sio Cesari: NJ-002</a:t>
            </a:r>
            <a:endParaRPr lang="it-IT" dirty="0"/>
          </a:p>
        </p:txBody>
      </p:sp>
      <p:sp>
        <p:nvSpPr>
          <p:cNvPr id="7" name="Segnaposto numero diapositiva 5"/>
          <p:cNvSpPr>
            <a:spLocks noGrp="1"/>
          </p:cNvSpPr>
          <p:nvPr>
            <p:ph type="sldNum" sz="quarter" idx="12"/>
          </p:nvPr>
        </p:nvSpPr>
        <p:spPr/>
        <p:txBody>
          <a:bodyPr/>
          <a:lstStyle>
            <a:lvl1pPr>
              <a:defRPr/>
            </a:lvl1pPr>
          </a:lstStyle>
          <a:p>
            <a:pPr>
              <a:defRPr/>
            </a:pPr>
            <a:fld id="{1B333BF1-6409-4282-97C2-A463B03E8B60}" type="slidenum">
              <a:rPr lang="it-IT"/>
              <a:pPr>
                <a:defRPr/>
              </a:pPr>
              <a:t>‹N›</a:t>
            </a:fld>
            <a:endParaRPr lang="it-IT"/>
          </a:p>
        </p:txBody>
      </p:sp>
    </p:spTree>
    <p:extLst>
      <p:ext uri="{BB962C8B-B14F-4D97-AF65-F5344CB8AC3E}">
        <p14:creationId xmlns:p14="http://schemas.microsoft.com/office/powerpoint/2010/main" val="4077066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apositiva titol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pt-BR">
                <a:solidFill>
                  <a:prstClr val="black">
                    <a:tint val="75000"/>
                  </a:prstClr>
                </a:solidFill>
              </a:rPr>
              <a:t>Claudio De Sio Cesari: NJ-002</a:t>
            </a:r>
            <a:endParaRPr lang="it-IT">
              <a:solidFill>
                <a:prstClr val="black">
                  <a:tint val="75000"/>
                </a:prstClr>
              </a:solidFill>
            </a:endParaRPr>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pPr/>
              <a:t>‹N›</a:t>
            </a:fld>
            <a:endParaRPr lang="it-IT"/>
          </a:p>
        </p:txBody>
      </p:sp>
    </p:spTree>
    <p:extLst>
      <p:ext uri="{BB962C8B-B14F-4D97-AF65-F5344CB8AC3E}">
        <p14:creationId xmlns:p14="http://schemas.microsoft.com/office/powerpoint/2010/main" val="1366589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contenuto">
    <p:spTree>
      <p:nvGrpSpPr>
        <p:cNvPr id="1" name=""/>
        <p:cNvGrpSpPr/>
        <p:nvPr/>
      </p:nvGrpSpPr>
      <p:grpSpPr>
        <a:xfrm>
          <a:off x="0" y="0"/>
          <a:ext cx="0" cy="0"/>
          <a:chOff x="0" y="0"/>
          <a:chExt cx="0" cy="0"/>
        </a:xfrm>
      </p:grpSpPr>
      <p:sp>
        <p:nvSpPr>
          <p:cNvPr id="2" name="Segnaposto data 3"/>
          <p:cNvSpPr>
            <a:spLocks noGrp="1"/>
          </p:cNvSpPr>
          <p:nvPr>
            <p:ph type="dt" sz="half" idx="10"/>
          </p:nvPr>
        </p:nvSpPr>
        <p:spPr/>
        <p:txBody>
          <a:bodyPr/>
          <a:lstStyle>
            <a:lvl1pPr>
              <a:defRPr/>
            </a:lvl1pPr>
          </a:lstStyle>
          <a:p>
            <a:r>
              <a:rPr lang="it-IT"/>
              <a:t>20/03/2012</a:t>
            </a:r>
          </a:p>
        </p:txBody>
      </p:sp>
      <p:sp>
        <p:nvSpPr>
          <p:cNvPr id="3" name="Segnaposto piè di pagina 4"/>
          <p:cNvSpPr>
            <a:spLocks noGrp="1"/>
          </p:cNvSpPr>
          <p:nvPr>
            <p:ph type="ftr" sz="quarter" idx="11"/>
          </p:nvPr>
        </p:nvSpPr>
        <p:spPr/>
        <p:txBody>
          <a:bodyPr/>
          <a:lstStyle>
            <a:lvl1pPr>
              <a:defRPr/>
            </a:lvl1pPr>
          </a:lstStyle>
          <a:p>
            <a:r>
              <a:rPr lang="pt-BR">
                <a:solidFill>
                  <a:prstClr val="black">
                    <a:tint val="75000"/>
                  </a:prstClr>
                </a:solidFill>
              </a:rPr>
              <a:t>Claudio De Sio Cesari: NJ-002</a:t>
            </a:r>
            <a:endParaRPr lang="it-IT">
              <a:solidFill>
                <a:prstClr val="black">
                  <a:tint val="75000"/>
                </a:prstClr>
              </a:solidFill>
            </a:endParaRPr>
          </a:p>
        </p:txBody>
      </p:sp>
      <p:sp>
        <p:nvSpPr>
          <p:cNvPr id="4" name="Segnaposto numero diapositiva 5"/>
          <p:cNvSpPr>
            <a:spLocks noGrp="1"/>
          </p:cNvSpPr>
          <p:nvPr>
            <p:ph type="sldNum" sz="quarter" idx="12"/>
          </p:nvPr>
        </p:nvSpPr>
        <p:spPr/>
        <p:txBody>
          <a:bodyPr/>
          <a:lstStyle>
            <a:lvl1pPr>
              <a:defRPr/>
            </a:lvl1pPr>
          </a:lstStyle>
          <a:p>
            <a:fld id="{EA83E0A8-4958-4553-8C1A-CC59A6ABE123}" type="slidenum">
              <a:rPr lang="it-IT" smtClean="0"/>
              <a:pPr/>
              <a:t>‹N›</a:t>
            </a:fld>
            <a:endParaRPr lang="it-IT"/>
          </a:p>
        </p:txBody>
      </p:sp>
    </p:spTree>
    <p:extLst>
      <p:ext uri="{BB962C8B-B14F-4D97-AF65-F5344CB8AC3E}">
        <p14:creationId xmlns:p14="http://schemas.microsoft.com/office/powerpoint/2010/main" val="3519824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9"/>
            <a:ext cx="7772400" cy="1470025"/>
          </a:xfrm>
        </p:spPr>
        <p:txBody>
          <a:bodyPr/>
          <a:lstStyle/>
          <a:p>
            <a:r>
              <a:rPr lang="it-IT"/>
              <a:t>Fare clic per modificare lo stile del titolo</a:t>
            </a:r>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NJ-002</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EA83E0A8-4958-4553-8C1A-CC59A6ABE123}" type="slidenum">
              <a:rPr lang="it-IT" smtClean="0"/>
              <a:pPr/>
              <a:t>‹N›</a:t>
            </a:fld>
            <a:endParaRPr lang="it-IT"/>
          </a:p>
        </p:txBody>
      </p:sp>
    </p:spTree>
    <p:extLst>
      <p:ext uri="{BB962C8B-B14F-4D97-AF65-F5344CB8AC3E}">
        <p14:creationId xmlns:p14="http://schemas.microsoft.com/office/powerpoint/2010/main" val="3436973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57200" y="376022"/>
            <a:ext cx="8229600" cy="1252728"/>
          </a:xfrm>
        </p:spPr>
        <p:txBody>
          <a:bodyPr/>
          <a:lstStyle>
            <a:lvl1pPr algn="l">
              <a:defRPr sz="1800"/>
            </a:lvl1pPr>
            <a:extLst/>
          </a:lstStyle>
          <a:p>
            <a:r>
              <a:rPr kumimoji="0" lang="it-IT" dirty="0"/>
              <a:t>Fare clic per modificare lo stile del titolo</a:t>
            </a:r>
            <a:endParaRPr kumimoji="0" lang="en-US" dirty="0"/>
          </a:p>
        </p:txBody>
      </p:sp>
      <p:sp>
        <p:nvSpPr>
          <p:cNvPr id="3" name="Segnaposto contenuto 2"/>
          <p:cNvSpPr>
            <a:spLocks noGrp="1"/>
          </p:cNvSpPr>
          <p:nvPr>
            <p:ph idx="1"/>
          </p:nvPr>
        </p:nvSpPr>
        <p:spPr/>
        <p:txBody>
          <a:bodyPr/>
          <a:lstStyle>
            <a:lvl1pPr>
              <a:defRPr sz="1600"/>
            </a:lvl1pPr>
            <a:lvl2pPr>
              <a:defRPr sz="1600"/>
            </a:lvl2pPr>
            <a:lvl3pPr>
              <a:defRPr sz="1600"/>
            </a:lvl3pPr>
            <a:lvl4pPr>
              <a:defRPr sz="1600"/>
            </a:lvl4pPr>
            <a:lvl5pPr>
              <a:defRPr sz="1600"/>
            </a:lvl5pPr>
            <a:extLst/>
          </a:lstStyle>
          <a:p>
            <a:pPr lvl="0" eaLnBrk="1" latinLnBrk="0" hangingPunct="1"/>
            <a:r>
              <a:rPr lang="it-IT" dirty="0"/>
              <a:t>Fare clic per modificare stili del testo dello schema</a:t>
            </a:r>
          </a:p>
          <a:p>
            <a:pPr lvl="1" eaLnBrk="1" latinLnBrk="0" hangingPunct="1"/>
            <a:r>
              <a:rPr lang="it-IT" dirty="0"/>
              <a:t>Secondo livello</a:t>
            </a:r>
          </a:p>
          <a:p>
            <a:pPr lvl="2" eaLnBrk="1" latinLnBrk="0" hangingPunct="1"/>
            <a:r>
              <a:rPr lang="it-IT" dirty="0"/>
              <a:t>Terzo livello</a:t>
            </a:r>
          </a:p>
          <a:p>
            <a:pPr lvl="3" eaLnBrk="1" latinLnBrk="0" hangingPunct="1"/>
            <a:r>
              <a:rPr lang="it-IT" dirty="0"/>
              <a:t>Quarto livello</a:t>
            </a:r>
          </a:p>
          <a:p>
            <a:pPr lvl="4" eaLnBrk="1" latinLnBrk="0" hangingPunct="1"/>
            <a:r>
              <a:rPr lang="it-IT" dirty="0"/>
              <a:t>Quinto livello</a:t>
            </a:r>
            <a:endParaRPr kumimoji="0" lang="en-US" dirty="0"/>
          </a:p>
        </p:txBody>
      </p:sp>
      <p:sp>
        <p:nvSpPr>
          <p:cNvPr id="4" name="Segnaposto data 3"/>
          <p:cNvSpPr>
            <a:spLocks noGrp="1"/>
          </p:cNvSpPr>
          <p:nvPr>
            <p:ph type="dt" sz="half" idx="10"/>
          </p:nvPr>
        </p:nvSpPr>
        <p:spPr/>
        <p:txBody>
          <a:bodyPr/>
          <a:lstStyle/>
          <a:p>
            <a:r>
              <a:rPr lang="it-IT"/>
              <a:t>20/03/2012</a:t>
            </a:r>
          </a:p>
        </p:txBody>
      </p:sp>
      <p:sp>
        <p:nvSpPr>
          <p:cNvPr id="5" name="Segnaposto piè di pagina 4"/>
          <p:cNvSpPr>
            <a:spLocks noGrp="1"/>
          </p:cNvSpPr>
          <p:nvPr>
            <p:ph type="ftr" sz="quarter" idx="11"/>
          </p:nvPr>
        </p:nvSpPr>
        <p:spPr/>
        <p:txBody>
          <a:bodyPr/>
          <a:lstStyle/>
          <a:p>
            <a:r>
              <a:rPr lang="pt-BR">
                <a:solidFill>
                  <a:prstClr val="black">
                    <a:tint val="75000"/>
                  </a:prstClr>
                </a:solidFill>
              </a:rPr>
              <a:t>Claudio De Sio Cesari: NJ-002</a:t>
            </a:r>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A47CFDED-9124-48F1-BBFC-49CD505FB6D3}" type="slidenum">
              <a:rPr lang="it-IT" smtClean="0"/>
              <a:pPr/>
              <a:t>‹N›</a:t>
            </a:fld>
            <a:endParaRPr lang="it-IT"/>
          </a:p>
        </p:txBody>
      </p:sp>
    </p:spTree>
    <p:extLst>
      <p:ext uri="{BB962C8B-B14F-4D97-AF65-F5344CB8AC3E}">
        <p14:creationId xmlns:p14="http://schemas.microsoft.com/office/powerpoint/2010/main" val="3811523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657350" y="4464028"/>
            <a:ext cx="6858000" cy="1194650"/>
          </a:xfrm>
        </p:spPr>
        <p:txBody>
          <a:bodyPr wrap="none" anchor="t">
            <a:normAutofit/>
          </a:bodyPr>
          <a:lstStyle>
            <a:lvl1pPr algn="r">
              <a:defRPr sz="7200" b="0" spc="-225">
                <a:gradFill flip="none" rotWithShape="1">
                  <a:gsLst>
                    <a:gs pos="32000">
                      <a:schemeClr val="tx1">
                        <a:lumMod val="89000"/>
                      </a:schemeClr>
                    </a:gs>
                    <a:gs pos="100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it-IT"/>
              <a:t>Fare clic per modificare lo stile del titolo</a:t>
            </a:r>
            <a:endParaRPr lang="en-US" dirty="0"/>
          </a:p>
        </p:txBody>
      </p:sp>
      <p:sp>
        <p:nvSpPr>
          <p:cNvPr id="3" name="Subtitle 2"/>
          <p:cNvSpPr>
            <a:spLocks noGrp="1"/>
          </p:cNvSpPr>
          <p:nvPr>
            <p:ph type="subTitle" idx="1"/>
          </p:nvPr>
        </p:nvSpPr>
        <p:spPr>
          <a:xfrm>
            <a:off x="1657349" y="3829878"/>
            <a:ext cx="6858000" cy="618523"/>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endParaRPr lang="en-US" dirty="0"/>
          </a:p>
        </p:txBody>
      </p:sp>
      <p:sp>
        <p:nvSpPr>
          <p:cNvPr id="7" name="Date Placeholder 6"/>
          <p:cNvSpPr>
            <a:spLocks noGrp="1"/>
          </p:cNvSpPr>
          <p:nvPr>
            <p:ph type="dt" sz="half" idx="10"/>
          </p:nvPr>
        </p:nvSpPr>
        <p:spPr/>
        <p:txBody>
          <a:bodyPr/>
          <a:lstStyle/>
          <a:p>
            <a:r>
              <a:rPr lang="it-IT"/>
              <a:t>20/03/2012</a:t>
            </a:r>
          </a:p>
        </p:txBody>
      </p:sp>
      <p:sp>
        <p:nvSpPr>
          <p:cNvPr id="8" name="Footer Placeholder 7"/>
          <p:cNvSpPr>
            <a:spLocks noGrp="1"/>
          </p:cNvSpPr>
          <p:nvPr>
            <p:ph type="ftr" sz="quarter" idx="11"/>
          </p:nvPr>
        </p:nvSpPr>
        <p:spPr/>
        <p:txBody>
          <a:bodyPr/>
          <a:lstStyle/>
          <a:p>
            <a:r>
              <a:rPr lang="it-IT"/>
              <a:t>Claudio De Sio Cesari: NJ-002</a:t>
            </a:r>
            <a:endParaRPr lang="it-IT" dirty="0"/>
          </a:p>
        </p:txBody>
      </p:sp>
      <p:sp>
        <p:nvSpPr>
          <p:cNvPr id="9" name="Slide Number Placeholder 8"/>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722980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it-IT"/>
              <a:t>Fare clic per modificare lo stile del titolo</a:t>
            </a:r>
            <a:endParaRPr lang="en-US" dirty="0"/>
          </a:p>
        </p:txBody>
      </p:sp>
      <p:sp>
        <p:nvSpPr>
          <p:cNvPr id="3" name="Content Placeholder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NJ-002</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7832838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7" name="Title 1"/>
          <p:cNvSpPr>
            <a:spLocks noGrp="1"/>
          </p:cNvSpPr>
          <p:nvPr>
            <p:ph type="ctrTitle"/>
          </p:nvPr>
        </p:nvSpPr>
        <p:spPr>
          <a:xfrm>
            <a:off x="640899" y="4464028"/>
            <a:ext cx="6858000" cy="1194650"/>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it-IT"/>
              <a:t>Fare clic per modificare lo stile del titolo</a:t>
            </a:r>
            <a:endParaRPr lang="en-US" dirty="0"/>
          </a:p>
        </p:txBody>
      </p:sp>
      <p:sp>
        <p:nvSpPr>
          <p:cNvPr id="8" name="Subtitle 2"/>
          <p:cNvSpPr>
            <a:spLocks noGrp="1"/>
          </p:cNvSpPr>
          <p:nvPr>
            <p:ph type="subTitle" idx="1"/>
          </p:nvPr>
        </p:nvSpPr>
        <p:spPr>
          <a:xfrm>
            <a:off x="640899" y="3829878"/>
            <a:ext cx="6858000" cy="617822"/>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NJ-002</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4209286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Content Placeholder 2"/>
          <p:cNvSpPr>
            <a:spLocks noGrp="1"/>
          </p:cNvSpPr>
          <p:nvPr>
            <p:ph sz="half" idx="1"/>
          </p:nvPr>
        </p:nvSpPr>
        <p:spPr>
          <a:xfrm>
            <a:off x="840000" y="1825625"/>
            <a:ext cx="3768912"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4739880" y="1825625"/>
            <a:ext cx="377547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NJ-002</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948785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it-IT"/>
              <a:t>Fare clic per modificare lo stile del titolo</a:t>
            </a:r>
            <a:endParaRPr lang="en-US" dirty="0"/>
          </a:p>
        </p:txBody>
      </p:sp>
      <p:sp>
        <p:nvSpPr>
          <p:cNvPr id="3" name="Text Placeholder 2"/>
          <p:cNvSpPr>
            <a:spLocks noGrp="1"/>
          </p:cNvSpPr>
          <p:nvPr>
            <p:ph type="body" idx="1"/>
          </p:nvPr>
        </p:nvSpPr>
        <p:spPr>
          <a:xfrm>
            <a:off x="840000" y="1681163"/>
            <a:ext cx="3768912" cy="823912"/>
          </a:xfrm>
        </p:spPr>
        <p:txBody>
          <a:bodyPr anchor="b">
            <a:normAutofit/>
          </a:bodyPr>
          <a:lstStyle>
            <a:lvl1pPr marL="0" indent="0">
              <a:buNone/>
              <a:defRPr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4" name="Content Placeholder 3"/>
          <p:cNvSpPr>
            <a:spLocks noGrp="1"/>
          </p:cNvSpPr>
          <p:nvPr>
            <p:ph sz="half" idx="2"/>
          </p:nvPr>
        </p:nvSpPr>
        <p:spPr>
          <a:xfrm>
            <a:off x="840000" y="2505075"/>
            <a:ext cx="3768912"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4739880" y="1681163"/>
            <a:ext cx="3776661" cy="823912"/>
          </a:xfrm>
        </p:spPr>
        <p:txBody>
          <a:bodyPr vert="horz" lIns="91440" tIns="45720" rIns="91440" bIns="45720" rtlCol="0" anchor="b">
            <a:normAutofit/>
          </a:bodyPr>
          <a:lstStyle>
            <a:lvl1pPr>
              <a:buNone/>
              <a:defRPr lang="en-US" sz="20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6" name="Content Placeholder 5"/>
          <p:cNvSpPr>
            <a:spLocks noGrp="1"/>
          </p:cNvSpPr>
          <p:nvPr>
            <p:ph sz="quarter" idx="4"/>
          </p:nvPr>
        </p:nvSpPr>
        <p:spPr>
          <a:xfrm>
            <a:off x="4739880" y="2505075"/>
            <a:ext cx="3776661"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r>
              <a:rPr lang="it-IT"/>
              <a:t>20/03/2012</a:t>
            </a:r>
          </a:p>
        </p:txBody>
      </p:sp>
      <p:sp>
        <p:nvSpPr>
          <p:cNvPr id="8" name="Footer Placeholder 7"/>
          <p:cNvSpPr>
            <a:spLocks noGrp="1"/>
          </p:cNvSpPr>
          <p:nvPr>
            <p:ph type="ftr" sz="quarter" idx="11"/>
          </p:nvPr>
        </p:nvSpPr>
        <p:spPr/>
        <p:txBody>
          <a:bodyPr/>
          <a:lstStyle/>
          <a:p>
            <a:r>
              <a:rPr lang="it-IT"/>
              <a:t>Claudio De Sio Cesari: NJ-002</a:t>
            </a:r>
            <a:endParaRPr lang="it-IT" dirty="0"/>
          </a:p>
        </p:txBody>
      </p:sp>
      <p:sp>
        <p:nvSpPr>
          <p:cNvPr id="9" name="Slide Number Placeholder 8"/>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329445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NJ-002</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6053460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it-IT"/>
              <a:t>20/03/2012</a:t>
            </a:r>
          </a:p>
        </p:txBody>
      </p:sp>
      <p:sp>
        <p:nvSpPr>
          <p:cNvPr id="3" name="Footer Placeholder 2"/>
          <p:cNvSpPr>
            <a:spLocks noGrp="1"/>
          </p:cNvSpPr>
          <p:nvPr>
            <p:ph type="ftr" sz="quarter" idx="11"/>
          </p:nvPr>
        </p:nvSpPr>
        <p:spPr/>
        <p:txBody>
          <a:bodyPr/>
          <a:lstStyle/>
          <a:p>
            <a:r>
              <a:rPr lang="it-IT"/>
              <a:t>Claudio De Sio Cesari: NJ-002</a:t>
            </a:r>
            <a:endParaRPr lang="it-IT" dirty="0"/>
          </a:p>
        </p:txBody>
      </p:sp>
      <p:sp>
        <p:nvSpPr>
          <p:cNvPr id="4" name="Slide Number Placeholder 3"/>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85113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a:t>
            </a:r>
            <a:endParaRPr lang="en-US" dirty="0"/>
          </a:p>
        </p:txBody>
      </p:sp>
      <p:sp>
        <p:nvSpPr>
          <p:cNvPr id="3" name="Content Placeholder 2"/>
          <p:cNvSpPr>
            <a:spLocks noGrp="1"/>
          </p:cNvSpPr>
          <p:nvPr>
            <p:ph idx="1"/>
          </p:nvPr>
        </p:nvSpPr>
        <p:spPr>
          <a:xfrm>
            <a:off x="3887391" y="987426"/>
            <a:ext cx="4629150" cy="4873625"/>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NJ-002</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993330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it-IT"/>
              <a:t>Fare clic sull'icona per inserire un'immagine</a:t>
            </a:r>
            <a:endParaRPr lang="en-US" dirty="0"/>
          </a:p>
        </p:txBody>
      </p:sp>
      <p:sp>
        <p:nvSpPr>
          <p:cNvPr id="4" name="Text Placeholder 3"/>
          <p:cNvSpPr>
            <a:spLocks noGrp="1"/>
          </p:cNvSpPr>
          <p:nvPr>
            <p:ph type="body" sz="half" idx="2"/>
          </p:nvPr>
        </p:nvSpPr>
        <p:spPr>
          <a:xfrm>
            <a:off x="840000" y="2057400"/>
            <a:ext cx="2739019" cy="3811588"/>
          </a:xfrm>
        </p:spPr>
        <p:txBody>
          <a:bodyPr>
            <a:normAutofit/>
          </a:bodyPr>
          <a:lstStyle>
            <a:lvl1pPr marL="0" indent="0">
              <a:buNone/>
              <a:defRPr sz="14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NJ-002</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2072349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629841" y="4367161"/>
            <a:ext cx="7886700" cy="819355"/>
          </a:xfrm>
        </p:spPr>
        <p:txBody>
          <a:bodyPr anchor="b"/>
          <a:lstStyle>
            <a:lvl1pPr>
              <a:defRPr sz="2400"/>
            </a:lvl1pPr>
          </a:lstStyle>
          <a:p>
            <a:r>
              <a:rPr lang="it-IT"/>
              <a:t>Fare clic per modificare lo stile del titolo</a:t>
            </a:r>
            <a:endParaRPr lang="en-US" dirty="0"/>
          </a:p>
        </p:txBody>
      </p:sp>
      <p:sp>
        <p:nvSpPr>
          <p:cNvPr id="3" name="Picture Placeholder 2"/>
          <p:cNvSpPr>
            <a:spLocks noGrp="1" noChangeAspect="1"/>
          </p:cNvSpPr>
          <p:nvPr>
            <p:ph type="pic" idx="1"/>
          </p:nvPr>
        </p:nvSpPr>
        <p:spPr>
          <a:xfrm>
            <a:off x="629841" y="987426"/>
            <a:ext cx="78867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it-IT"/>
              <a:t>Fare clic sull'icona per inserire un'immagine</a:t>
            </a:r>
            <a:endParaRPr lang="en-US" dirty="0"/>
          </a:p>
        </p:txBody>
      </p:sp>
      <p:sp>
        <p:nvSpPr>
          <p:cNvPr id="4" name="Text Placeholder 3"/>
          <p:cNvSpPr>
            <a:spLocks noGrp="1"/>
          </p:cNvSpPr>
          <p:nvPr>
            <p:ph type="body" sz="half" idx="2"/>
          </p:nvPr>
        </p:nvSpPr>
        <p:spPr>
          <a:xfrm>
            <a:off x="629841" y="5186516"/>
            <a:ext cx="7885509"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NJ-002</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40477078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3534344"/>
          </a:xfrm>
        </p:spPr>
        <p:txBody>
          <a:bodyPr anchor="ctr"/>
          <a:lstStyle>
            <a:lvl1pPr>
              <a:defRPr sz="2400"/>
            </a:lvl1pPr>
          </a:lstStyle>
          <a:p>
            <a:r>
              <a:rPr lang="it-IT"/>
              <a:t>Fare clic per modificare lo stile del titolo</a:t>
            </a:r>
            <a:endParaRPr lang="en-US" dirty="0"/>
          </a:p>
        </p:txBody>
      </p:sp>
      <p:sp>
        <p:nvSpPr>
          <p:cNvPr id="4" name="Text Placeholder 3"/>
          <p:cNvSpPr>
            <a:spLocks noGrp="1"/>
          </p:cNvSpPr>
          <p:nvPr>
            <p:ph type="body" sz="half" idx="2"/>
          </p:nvPr>
        </p:nvSpPr>
        <p:spPr>
          <a:xfrm>
            <a:off x="629841" y="4489399"/>
            <a:ext cx="7885509" cy="1501826"/>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NJ-002</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2220467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084659" y="365125"/>
            <a:ext cx="6977064" cy="2992904"/>
          </a:xfrm>
        </p:spPr>
        <p:txBody>
          <a:bodyPr anchor="ctr"/>
          <a:lstStyle>
            <a:lvl1pPr>
              <a:defRPr sz="3300"/>
            </a:lvl1pPr>
          </a:lstStyle>
          <a:p>
            <a:r>
              <a:rPr lang="it-IT"/>
              <a:t>Fare clic per modificare lo stile del titolo</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4" name="Text Placeholder 3"/>
          <p:cNvSpPr>
            <a:spLocks noGrp="1"/>
          </p:cNvSpPr>
          <p:nvPr>
            <p:ph type="body" sz="half" idx="2"/>
          </p:nvPr>
        </p:nvSpPr>
        <p:spPr>
          <a:xfrm>
            <a:off x="628650" y="4501729"/>
            <a:ext cx="7884318"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NJ-002</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
        <p:nvSpPr>
          <p:cNvPr id="9" name="TextBox 8"/>
          <p:cNvSpPr txBox="1"/>
          <p:nvPr/>
        </p:nvSpPr>
        <p:spPr>
          <a:xfrm>
            <a:off x="833283" y="786824"/>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7828359" y="2743200"/>
            <a:ext cx="4572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19973619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629841" y="2326968"/>
            <a:ext cx="7886700" cy="2511835"/>
          </a:xfrm>
        </p:spPr>
        <p:txBody>
          <a:bodyPr anchor="b">
            <a:normAutofit/>
          </a:bodyPr>
          <a:lstStyle>
            <a:lvl1pPr>
              <a:defRPr sz="4050"/>
            </a:lvl1pPr>
          </a:lstStyle>
          <a:p>
            <a:r>
              <a:rPr lang="it-IT"/>
              <a:t>Fare clic per modificare lo stile del titolo</a:t>
            </a:r>
            <a:endParaRPr lang="en-US" dirty="0"/>
          </a:p>
        </p:txBody>
      </p:sp>
      <p:sp>
        <p:nvSpPr>
          <p:cNvPr id="4" name="Text Placeholder 3"/>
          <p:cNvSpPr>
            <a:spLocks noGrp="1"/>
          </p:cNvSpPr>
          <p:nvPr>
            <p:ph type="body" sz="half" idx="2"/>
          </p:nvPr>
        </p:nvSpPr>
        <p:spPr>
          <a:xfrm>
            <a:off x="629841" y="4850581"/>
            <a:ext cx="7885509"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stili del testo dello schema</a:t>
            </a:r>
          </a:p>
        </p:txBody>
      </p:sp>
      <p:sp>
        <p:nvSpPr>
          <p:cNvPr id="5" name="Date Placeholder 4"/>
          <p:cNvSpPr>
            <a:spLocks noGrp="1"/>
          </p:cNvSpPr>
          <p:nvPr>
            <p:ph type="dt" sz="half" idx="10"/>
          </p:nvPr>
        </p:nvSpPr>
        <p:spPr/>
        <p:txBody>
          <a:bodyPr/>
          <a:lstStyle/>
          <a:p>
            <a:r>
              <a:rPr lang="it-IT"/>
              <a:t>20/03/2012</a:t>
            </a:r>
          </a:p>
        </p:txBody>
      </p:sp>
      <p:sp>
        <p:nvSpPr>
          <p:cNvPr id="6" name="Footer Placeholder 5"/>
          <p:cNvSpPr>
            <a:spLocks noGrp="1"/>
          </p:cNvSpPr>
          <p:nvPr>
            <p:ph type="ftr" sz="quarter" idx="11"/>
          </p:nvPr>
        </p:nvSpPr>
        <p:spPr/>
        <p:txBody>
          <a:bodyPr/>
          <a:lstStyle/>
          <a:p>
            <a:r>
              <a:rPr lang="it-IT"/>
              <a:t>Claudio De Sio Cesari: NJ-002</a:t>
            </a:r>
            <a:endParaRPr lang="it-IT" dirty="0"/>
          </a:p>
        </p:txBody>
      </p:sp>
      <p:sp>
        <p:nvSpPr>
          <p:cNvPr id="7" name="Slide Number Placeholder 6"/>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32690677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15" name="Title 1"/>
          <p:cNvSpPr>
            <a:spLocks noGrp="1"/>
          </p:cNvSpPr>
          <p:nvPr>
            <p:ph type="title"/>
          </p:nvPr>
        </p:nvSpPr>
        <p:spPr>
          <a:xfrm>
            <a:off x="628650" y="365126"/>
            <a:ext cx="7886700" cy="1325563"/>
          </a:xfrm>
        </p:spPr>
        <p:txBody>
          <a:bodyPr/>
          <a:lstStyle/>
          <a:p>
            <a:r>
              <a:rPr lang="it-IT"/>
              <a:t>Fare clic per modificare lo stile del titolo</a:t>
            </a:r>
            <a:endParaRPr lang="en-US" dirty="0"/>
          </a:p>
        </p:txBody>
      </p:sp>
      <p:sp>
        <p:nvSpPr>
          <p:cNvPr id="7" name="Text Placeholder 2"/>
          <p:cNvSpPr>
            <a:spLocks noGrp="1"/>
          </p:cNvSpPr>
          <p:nvPr>
            <p:ph type="body" idx="1"/>
          </p:nvPr>
        </p:nvSpPr>
        <p:spPr>
          <a:xfrm>
            <a:off x="1002961" y="1885950"/>
            <a:ext cx="2210150" cy="576262"/>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8" name="Text Placeholder 3"/>
          <p:cNvSpPr>
            <a:spLocks noGrp="1"/>
          </p:cNvSpPr>
          <p:nvPr>
            <p:ph type="body" sz="half" idx="15"/>
          </p:nvPr>
        </p:nvSpPr>
        <p:spPr>
          <a:xfrm>
            <a:off x="1017598" y="2571750"/>
            <a:ext cx="2195513"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9" name="Text Placeholder 4"/>
          <p:cNvSpPr>
            <a:spLocks noGrp="1"/>
          </p:cNvSpPr>
          <p:nvPr>
            <p:ph type="body" sz="quarter" idx="3"/>
          </p:nvPr>
        </p:nvSpPr>
        <p:spPr>
          <a:xfrm>
            <a:off x="3440996" y="1885950"/>
            <a:ext cx="2202181" cy="576262"/>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10" name="Text Placeholder 3"/>
          <p:cNvSpPr>
            <a:spLocks noGrp="1"/>
          </p:cNvSpPr>
          <p:nvPr>
            <p:ph type="body" sz="half" idx="16"/>
          </p:nvPr>
        </p:nvSpPr>
        <p:spPr>
          <a:xfrm>
            <a:off x="3433081" y="2571750"/>
            <a:ext cx="2210096"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11" name="Text Placeholder 4"/>
          <p:cNvSpPr>
            <a:spLocks noGrp="1"/>
          </p:cNvSpPr>
          <p:nvPr>
            <p:ph type="body" sz="quarter" idx="13"/>
          </p:nvPr>
        </p:nvSpPr>
        <p:spPr>
          <a:xfrm>
            <a:off x="5871777" y="1885950"/>
            <a:ext cx="2199085" cy="576262"/>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it-IT"/>
              <a:t>Fare clic per modificare stili del testo dello schema</a:t>
            </a:r>
          </a:p>
        </p:txBody>
      </p:sp>
      <p:sp>
        <p:nvSpPr>
          <p:cNvPr id="12" name="Text Placeholder 3"/>
          <p:cNvSpPr>
            <a:spLocks noGrp="1"/>
          </p:cNvSpPr>
          <p:nvPr>
            <p:ph type="body" sz="half" idx="17"/>
          </p:nvPr>
        </p:nvSpPr>
        <p:spPr>
          <a:xfrm>
            <a:off x="5871777" y="2571750"/>
            <a:ext cx="2199085" cy="3589338"/>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NJ-002</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26049755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30" name="Title 1"/>
          <p:cNvSpPr>
            <a:spLocks noGrp="1"/>
          </p:cNvSpPr>
          <p:nvPr>
            <p:ph type="title"/>
          </p:nvPr>
        </p:nvSpPr>
        <p:spPr>
          <a:xfrm>
            <a:off x="628650" y="365126"/>
            <a:ext cx="7886700" cy="1325563"/>
          </a:xfrm>
        </p:spPr>
        <p:txBody>
          <a:bodyPr/>
          <a:lstStyle/>
          <a:p>
            <a:r>
              <a:rPr lang="it-IT"/>
              <a:t>Fare clic per modificare lo stile del titolo</a:t>
            </a:r>
            <a:endParaRPr lang="en-US" dirty="0"/>
          </a:p>
        </p:txBody>
      </p:sp>
      <p:sp>
        <p:nvSpPr>
          <p:cNvPr id="19" name="Text Placeholder 2"/>
          <p:cNvSpPr>
            <a:spLocks noGrp="1"/>
          </p:cNvSpPr>
          <p:nvPr>
            <p:ph type="body" idx="1"/>
          </p:nvPr>
        </p:nvSpPr>
        <p:spPr>
          <a:xfrm>
            <a:off x="999064" y="4297503"/>
            <a:ext cx="2205038"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0" name="Picture Placeholder 2"/>
          <p:cNvSpPr>
            <a:spLocks noGrp="1" noChangeAspect="1"/>
          </p:cNvSpPr>
          <p:nvPr>
            <p:ph type="pic" idx="15"/>
          </p:nvPr>
        </p:nvSpPr>
        <p:spPr>
          <a:xfrm>
            <a:off x="999064" y="2256354"/>
            <a:ext cx="220503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1" name="Text Placeholder 3"/>
          <p:cNvSpPr>
            <a:spLocks noGrp="1"/>
          </p:cNvSpPr>
          <p:nvPr>
            <p:ph type="body" sz="half" idx="18"/>
          </p:nvPr>
        </p:nvSpPr>
        <p:spPr>
          <a:xfrm>
            <a:off x="999064" y="4873766"/>
            <a:ext cx="220503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22" name="Text Placeholder 4"/>
          <p:cNvSpPr>
            <a:spLocks noGrp="1"/>
          </p:cNvSpPr>
          <p:nvPr>
            <p:ph type="body" sz="quarter" idx="3"/>
          </p:nvPr>
        </p:nvSpPr>
        <p:spPr>
          <a:xfrm>
            <a:off x="3426748" y="4297503"/>
            <a:ext cx="2197894"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3" name="Picture Placeholder 2"/>
          <p:cNvSpPr>
            <a:spLocks noGrp="1" noChangeAspect="1"/>
          </p:cNvSpPr>
          <p:nvPr>
            <p:ph type="pic" idx="21"/>
          </p:nvPr>
        </p:nvSpPr>
        <p:spPr>
          <a:xfrm>
            <a:off x="3426747" y="2256354"/>
            <a:ext cx="2197894"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4" name="Text Placeholder 3"/>
          <p:cNvSpPr>
            <a:spLocks noGrp="1"/>
          </p:cNvSpPr>
          <p:nvPr>
            <p:ph type="body" sz="half" idx="19"/>
          </p:nvPr>
        </p:nvSpPr>
        <p:spPr>
          <a:xfrm>
            <a:off x="3425733" y="4873765"/>
            <a:ext cx="2200805"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25" name="Text Placeholder 4"/>
          <p:cNvSpPr>
            <a:spLocks noGrp="1"/>
          </p:cNvSpPr>
          <p:nvPr>
            <p:ph type="body" sz="quarter" idx="13"/>
          </p:nvPr>
        </p:nvSpPr>
        <p:spPr>
          <a:xfrm>
            <a:off x="5853242" y="4297503"/>
            <a:ext cx="2199085" cy="576262"/>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stili del testo dello schema</a:t>
            </a:r>
          </a:p>
        </p:txBody>
      </p:sp>
      <p:sp>
        <p:nvSpPr>
          <p:cNvPr id="26" name="Picture Placeholder 2"/>
          <p:cNvSpPr>
            <a:spLocks noGrp="1" noChangeAspect="1"/>
          </p:cNvSpPr>
          <p:nvPr>
            <p:ph type="pic" idx="22"/>
          </p:nvPr>
        </p:nvSpPr>
        <p:spPr>
          <a:xfrm>
            <a:off x="5853241" y="2256354"/>
            <a:ext cx="219908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it-IT"/>
              <a:t>Fare clic sull'icona per inserire un'immagine</a:t>
            </a:r>
            <a:endParaRPr lang="en-US" dirty="0"/>
          </a:p>
        </p:txBody>
      </p:sp>
      <p:sp>
        <p:nvSpPr>
          <p:cNvPr id="27" name="Text Placeholder 3"/>
          <p:cNvSpPr>
            <a:spLocks noGrp="1"/>
          </p:cNvSpPr>
          <p:nvPr>
            <p:ph type="body" sz="half" idx="20"/>
          </p:nvPr>
        </p:nvSpPr>
        <p:spPr>
          <a:xfrm>
            <a:off x="5853148" y="4873763"/>
            <a:ext cx="2201998"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it-IT"/>
              <a:t>Fare clic per modificare stili del testo dello schema</a:t>
            </a:r>
          </a:p>
        </p:txBody>
      </p:sp>
      <p:sp>
        <p:nvSpPr>
          <p:cNvPr id="3" name="Date Placeholder 2"/>
          <p:cNvSpPr>
            <a:spLocks noGrp="1"/>
          </p:cNvSpPr>
          <p:nvPr>
            <p:ph type="dt" sz="half" idx="10"/>
          </p:nvPr>
        </p:nvSpPr>
        <p:spPr/>
        <p:txBody>
          <a:bodyPr/>
          <a:lstStyle/>
          <a:p>
            <a:r>
              <a:rPr lang="it-IT"/>
              <a:t>20/03/2012</a:t>
            </a:r>
          </a:p>
        </p:txBody>
      </p:sp>
      <p:sp>
        <p:nvSpPr>
          <p:cNvPr id="4" name="Footer Placeholder 3"/>
          <p:cNvSpPr>
            <a:spLocks noGrp="1"/>
          </p:cNvSpPr>
          <p:nvPr>
            <p:ph type="ftr" sz="quarter" idx="11"/>
          </p:nvPr>
        </p:nvSpPr>
        <p:spPr/>
        <p:txBody>
          <a:bodyPr/>
          <a:lstStyle/>
          <a:p>
            <a:r>
              <a:rPr lang="it-IT"/>
              <a:t>Claudio De Sio Cesari: NJ-002</a:t>
            </a:r>
            <a:endParaRPr lang="it-IT" dirty="0"/>
          </a:p>
        </p:txBody>
      </p:sp>
      <p:sp>
        <p:nvSpPr>
          <p:cNvPr id="5" name="Slide Number Placeholder 4"/>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6833497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a:t>
            </a:r>
            <a:endParaRPr lang="en-US" dirty="0"/>
          </a:p>
        </p:txBody>
      </p:sp>
      <p:sp>
        <p:nvSpPr>
          <p:cNvPr id="3" name="Vertical Text Placeholder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NJ-002</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1492445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it-IT"/>
              <a:t>Fare clic per modificare lo stile del titolo</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r>
              <a:rPr lang="it-IT"/>
              <a:t>20/03/2012</a:t>
            </a:r>
          </a:p>
        </p:txBody>
      </p:sp>
      <p:sp>
        <p:nvSpPr>
          <p:cNvPr id="5" name="Footer Placeholder 4"/>
          <p:cNvSpPr>
            <a:spLocks noGrp="1"/>
          </p:cNvSpPr>
          <p:nvPr>
            <p:ph type="ftr" sz="quarter" idx="11"/>
          </p:nvPr>
        </p:nvSpPr>
        <p:spPr/>
        <p:txBody>
          <a:bodyPr/>
          <a:lstStyle/>
          <a:p>
            <a:r>
              <a:rPr lang="it-IT"/>
              <a:t>Claudio De Sio Cesari: NJ-002</a:t>
            </a:r>
            <a:endParaRPr lang="it-IT" dirty="0"/>
          </a:p>
        </p:txBody>
      </p:sp>
      <p:sp>
        <p:nvSpPr>
          <p:cNvPr id="6" name="Slide Number Placeholder 5"/>
          <p:cNvSpPr>
            <a:spLocks noGrp="1"/>
          </p:cNvSpPr>
          <p:nvPr>
            <p:ph type="sldNum" sz="quarter" idx="12"/>
          </p:nvPr>
        </p:nvSpPr>
        <p:spPr/>
        <p:txBody>
          <a:bodyPr/>
          <a:lstStyle/>
          <a:p>
            <a:fld id="{EA83E0A8-4958-4553-8C1A-CC59A6ABE123}" type="slidenum">
              <a:rPr lang="it-IT" smtClean="0"/>
              <a:t>‹N›</a:t>
            </a:fld>
            <a:endParaRPr lang="it-IT"/>
          </a:p>
        </p:txBody>
      </p:sp>
    </p:spTree>
    <p:extLst>
      <p:ext uri="{BB962C8B-B14F-4D97-AF65-F5344CB8AC3E}">
        <p14:creationId xmlns:p14="http://schemas.microsoft.com/office/powerpoint/2010/main" val="1079587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jpe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1.jpeg"/><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theme" Target="../theme/theme4.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image" Target="../media/image3.pn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stile</a:t>
            </a:r>
          </a:p>
        </p:txBody>
      </p:sp>
      <p:sp>
        <p:nvSpPr>
          <p:cNvPr id="1027"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2"/>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111" charset="0"/>
                <a:ea typeface="ＭＳ Ｐゴシック" pitchFamily="-111" charset="-128"/>
                <a:cs typeface="+mn-cs"/>
              </a:defRPr>
            </a:lvl1pPr>
          </a:lstStyle>
          <a:p>
            <a:r>
              <a:rPr lang="it-IT"/>
              <a:t>20/03/2012</a:t>
            </a:r>
          </a:p>
        </p:txBody>
      </p:sp>
      <p:sp>
        <p:nvSpPr>
          <p:cNvPr id="5" name="Segnaposto piè di pagina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it-IT"/>
              <a:t>Claudio De Sio Cesari: NJ-002</a:t>
            </a:r>
            <a:endParaRPr lang="it-IT" dirty="0"/>
          </a:p>
        </p:txBody>
      </p:sp>
      <p:sp>
        <p:nvSpPr>
          <p:cNvPr id="6" name="Segnaposto numero diapositiva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111" charset="0"/>
                <a:ea typeface="ＭＳ Ｐゴシック" pitchFamily="-111" charset="-128"/>
                <a:cs typeface="+mn-cs"/>
              </a:defRPr>
            </a:lvl1pPr>
          </a:lstStyle>
          <a:p>
            <a:fld id="{EA83E0A8-4958-4553-8C1A-CC59A6ABE123}" type="slidenum">
              <a:rPr lang="it-IT" smtClean="0"/>
              <a:t>‹N›</a:t>
            </a:fld>
            <a:endParaRPr lang="it-IT"/>
          </a:p>
        </p:txBody>
      </p:sp>
      <p:pic>
        <p:nvPicPr>
          <p:cNvPr id="1031" name="Immagine 3" descr="PPT_template-06.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75" r:id="rId3"/>
    <p:sldLayoutId id="2147483676" r:id="rId4"/>
  </p:sldLayoutIdLst>
  <p:hf hdr="0" dt="0"/>
  <p:txStyles>
    <p:titleStyle>
      <a:lvl1pPr algn="ctr" defTabSz="457200" rtl="0" eaLnBrk="1" fontAlgn="base" hangingPunct="1">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lo stile del titolo</a:t>
            </a:r>
          </a:p>
        </p:txBody>
      </p:sp>
      <p:sp>
        <p:nvSpPr>
          <p:cNvPr id="2051"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smtClean="0">
                <a:solidFill>
                  <a:schemeClr val="tx1">
                    <a:tint val="75000"/>
                  </a:schemeClr>
                </a:solidFill>
                <a:ea typeface="ＭＳ Ｐゴシック" pitchFamily="-111" charset="-128"/>
                <a:cs typeface="+mn-cs"/>
              </a:defRPr>
            </a:lvl1pPr>
          </a:lstStyle>
          <a:p>
            <a:pPr>
              <a:defRPr/>
            </a:pPr>
            <a:r>
              <a:rPr lang="it-IT"/>
              <a:t>20/03/2012</a:t>
            </a:r>
          </a:p>
        </p:txBody>
      </p:sp>
      <p:sp>
        <p:nvSpPr>
          <p:cNvPr id="5" name="Segnaposto piè di pagina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ea typeface="ＭＳ Ｐゴシック" pitchFamily="-111" charset="-128"/>
                <a:cs typeface="+mn-cs"/>
              </a:defRPr>
            </a:lvl1pPr>
          </a:lstStyle>
          <a:p>
            <a:pPr>
              <a:defRPr/>
            </a:pPr>
            <a:r>
              <a:rPr lang="it-IT"/>
              <a:t>Claudio De Sio Cesari: NJ-002</a:t>
            </a:r>
            <a:endParaRPr lang="it-IT" dirty="0"/>
          </a:p>
        </p:txBody>
      </p:sp>
      <p:sp>
        <p:nvSpPr>
          <p:cNvPr id="6" name="Segnaposto numero diapositiva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smtClean="0">
                <a:solidFill>
                  <a:schemeClr val="tx1">
                    <a:tint val="75000"/>
                  </a:schemeClr>
                </a:solidFill>
                <a:ea typeface="ＭＳ Ｐゴシック" pitchFamily="-111" charset="-128"/>
                <a:cs typeface="+mn-cs"/>
              </a:defRPr>
            </a:lvl1pPr>
          </a:lstStyle>
          <a:p>
            <a:pPr>
              <a:defRPr/>
            </a:pPr>
            <a:fld id="{BF9AA21D-CBBF-4F18-852F-35D67877B6D0}" type="slidenum">
              <a:rPr lang="it-IT"/>
              <a:pPr>
                <a:defRPr/>
              </a:pPr>
              <a:t>‹N›</a:t>
            </a:fld>
            <a:endParaRPr lang="it-IT"/>
          </a:p>
        </p:txBody>
      </p:sp>
      <p:pic>
        <p:nvPicPr>
          <p:cNvPr id="2055" name="Immagine 3" descr="PPT_template-04-04.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 y="0"/>
            <a:ext cx="91424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Lst>
  <p:hf hd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Segnaposto titolo 1"/>
          <p:cNvSpPr>
            <a:spLocks noGrp="1"/>
          </p:cNvSpPr>
          <p:nvPr>
            <p:ph type="title"/>
          </p:nvPr>
        </p:nvSpPr>
        <p:spPr bwMode="auto">
          <a:xfrm>
            <a:off x="457200" y="274639"/>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t>Fare clic per modificare stile</a:t>
            </a:r>
          </a:p>
        </p:txBody>
      </p:sp>
      <p:sp>
        <p:nvSpPr>
          <p:cNvPr id="1027" name="Segnaposto testo 2"/>
          <p:cNvSpPr>
            <a:spLocks noGrp="1"/>
          </p:cNvSpPr>
          <p:nvPr>
            <p:ph type="body" idx="1"/>
          </p:nvPr>
        </p:nvSpPr>
        <p:spPr bwMode="auto">
          <a:xfrm>
            <a:off x="457200" y="1600202"/>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457200" y="6356353"/>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111" charset="0"/>
                <a:ea typeface="ＭＳ Ｐゴシック" pitchFamily="-111" charset="-128"/>
                <a:cs typeface="+mn-cs"/>
              </a:defRPr>
            </a:lvl1pPr>
          </a:lstStyle>
          <a:p>
            <a:r>
              <a:rPr lang="it-IT"/>
              <a:t>20/03/2012</a:t>
            </a:r>
          </a:p>
        </p:txBody>
      </p:sp>
      <p:sp>
        <p:nvSpPr>
          <p:cNvPr id="5" name="Segnaposto piè di pagina 4"/>
          <p:cNvSpPr>
            <a:spLocks noGrp="1"/>
          </p:cNvSpPr>
          <p:nvPr>
            <p:ph type="ftr" sz="quarter" idx="3"/>
          </p:nvPr>
        </p:nvSpPr>
        <p:spPr>
          <a:xfrm>
            <a:off x="3124200" y="6356353"/>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pt-BR">
                <a:solidFill>
                  <a:prstClr val="black">
                    <a:tint val="75000"/>
                  </a:prstClr>
                </a:solidFill>
              </a:rPr>
              <a:t>Claudio De Sio Cesari: NJ-002</a:t>
            </a:r>
            <a:endParaRPr lang="it-IT">
              <a:solidFill>
                <a:prstClr val="black">
                  <a:tint val="75000"/>
                </a:prstClr>
              </a:solidFill>
            </a:endParaRPr>
          </a:p>
        </p:txBody>
      </p:sp>
      <p:sp>
        <p:nvSpPr>
          <p:cNvPr id="6" name="Segnaposto numero diapositiva 5"/>
          <p:cNvSpPr>
            <a:spLocks noGrp="1"/>
          </p:cNvSpPr>
          <p:nvPr>
            <p:ph type="sldNum" sz="quarter" idx="4"/>
          </p:nvPr>
        </p:nvSpPr>
        <p:spPr>
          <a:xfrm>
            <a:off x="6553200" y="6356353"/>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111" charset="0"/>
                <a:ea typeface="ＭＳ Ｐゴシック" pitchFamily="-111" charset="-128"/>
                <a:cs typeface="+mn-cs"/>
              </a:defRPr>
            </a:lvl1pPr>
          </a:lstStyle>
          <a:p>
            <a:fld id="{EA83E0A8-4958-4553-8C1A-CC59A6ABE123}" type="slidenum">
              <a:rPr lang="it-IT" smtClean="0"/>
              <a:pPr/>
              <a:t>‹N›</a:t>
            </a:fld>
            <a:endParaRPr lang="it-IT"/>
          </a:p>
        </p:txBody>
      </p:sp>
      <p:pic>
        <p:nvPicPr>
          <p:cNvPr id="1031" name="Immagine 3" descr="PPT_template-06.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4333671"/>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Lst>
  <p:hf hdr="0" dt="0"/>
  <p:txStyles>
    <p:titleStyle>
      <a:lvl1pPr algn="ctr" defTabSz="457200" rtl="0" eaLnBrk="1" fontAlgn="base" hangingPunct="1">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l="-17000" r="-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it-IT"/>
              <a:t>Fare clic per modificare lo stile del titolo</a:t>
            </a:r>
            <a:endParaRPr lang="en-US" dirty="0"/>
          </a:p>
        </p:txBody>
      </p:sp>
      <p:sp>
        <p:nvSpPr>
          <p:cNvPr id="3" name="Text Placeholder 2"/>
          <p:cNvSpPr>
            <a:spLocks noGrp="1"/>
          </p:cNvSpPr>
          <p:nvPr>
            <p:ph type="body" idx="1"/>
          </p:nvPr>
        </p:nvSpPr>
        <p:spPr>
          <a:xfrm>
            <a:off x="840000" y="1825625"/>
            <a:ext cx="767535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it-IT"/>
              <a:t>20/03/2012</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r>
              <a:rPr lang="it-IT"/>
              <a:t>Claudio De Sio Cesari: NJ-002</a:t>
            </a:r>
            <a:endParaRPr lang="it-IT"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EA83E0A8-4958-4553-8C1A-CC59A6ABE123}" type="slidenum">
              <a:rPr lang="it-IT" smtClean="0"/>
              <a:t>‹N›</a:t>
            </a:fld>
            <a:endParaRPr lang="it-IT"/>
          </a:p>
        </p:txBody>
      </p:sp>
    </p:spTree>
    <p:extLst>
      <p:ext uri="{BB962C8B-B14F-4D97-AF65-F5344CB8AC3E}">
        <p14:creationId xmlns:p14="http://schemas.microsoft.com/office/powerpoint/2010/main" val="3813533679"/>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hf hdr="0" dt="0"/>
  <p:txStyles>
    <p:titleStyle>
      <a:lvl1pPr algn="l" defTabSz="685800" rtl="0" eaLnBrk="1" latinLnBrk="0" hangingPunct="1">
        <a:lnSpc>
          <a:spcPct val="90000"/>
        </a:lnSpc>
        <a:spcBef>
          <a:spcPct val="0"/>
        </a:spcBef>
        <a:buNone/>
        <a:defRPr sz="4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olo 1"/>
          <p:cNvSpPr>
            <a:spLocks noGrp="1"/>
          </p:cNvSpPr>
          <p:nvPr>
            <p:ph type="ctrTitle"/>
          </p:nvPr>
        </p:nvSpPr>
        <p:spPr>
          <a:xfrm>
            <a:off x="527360" y="1052670"/>
            <a:ext cx="8077200" cy="3976530"/>
          </a:xfrm>
        </p:spPr>
        <p:txBody>
          <a:bodyPr>
            <a:normAutofit fontScale="90000"/>
          </a:bodyPr>
          <a:lstStyle/>
          <a:p>
            <a:pPr algn="ctr"/>
            <a:r>
              <a:rPr lang="it-IT" sz="8000" b="1" dirty="0"/>
              <a:t>Claudio De Sio Cesari</a:t>
            </a:r>
            <a:br>
              <a:rPr lang="it-IT" b="1" dirty="0"/>
            </a:br>
            <a:br>
              <a:rPr lang="it-IT" sz="3200" dirty="0">
                <a:solidFill>
                  <a:srgbClr val="000000"/>
                </a:solidFill>
                <a:latin typeface="Calibri" panose="020F0502020204030204" pitchFamily="34" charset="0"/>
              </a:rPr>
            </a:br>
            <a:r>
              <a:rPr lang="it-IT" sz="7300" dirty="0">
                <a:solidFill>
                  <a:srgbClr val="000000"/>
                </a:solidFill>
                <a:latin typeface="Calibri" panose="020F0502020204030204" pitchFamily="34" charset="0"/>
              </a:rPr>
              <a:t> Il nuovo Java</a:t>
            </a:r>
            <a:br>
              <a:rPr lang="it-IT" sz="5400" dirty="0">
                <a:solidFill>
                  <a:srgbClr val="000000"/>
                </a:solidFill>
                <a:latin typeface="Calibri" panose="020F0502020204030204" pitchFamily="34" charset="0"/>
              </a:rPr>
            </a:br>
            <a:r>
              <a:rPr lang="it-IT" sz="6000" dirty="0">
                <a:solidFill>
                  <a:srgbClr val="000000"/>
                </a:solidFill>
                <a:latin typeface="Calibri" panose="020F0502020204030204" pitchFamily="34" charset="0"/>
              </a:rPr>
              <a:t>Componenti fondamentali </a:t>
            </a:r>
            <a:br>
              <a:rPr lang="it-IT" sz="6000" dirty="0">
                <a:solidFill>
                  <a:srgbClr val="000000"/>
                </a:solidFill>
                <a:latin typeface="Calibri" panose="020F0502020204030204" pitchFamily="34" charset="0"/>
              </a:rPr>
            </a:br>
            <a:r>
              <a:rPr lang="it-IT" sz="6000" dirty="0">
                <a:solidFill>
                  <a:srgbClr val="000000"/>
                </a:solidFill>
                <a:latin typeface="Calibri" panose="020F0502020204030204" pitchFamily="34" charset="0"/>
              </a:rPr>
              <a:t>di un programma Java</a:t>
            </a:r>
            <a:br>
              <a:rPr lang="it-IT" sz="5400" dirty="0">
                <a:solidFill>
                  <a:srgbClr val="000000"/>
                </a:solidFill>
                <a:latin typeface="Calibri" panose="020F0502020204030204" pitchFamily="34" charset="0"/>
              </a:rPr>
            </a:br>
            <a:r>
              <a:rPr lang="it-IT" sz="6000" dirty="0">
                <a:solidFill>
                  <a:srgbClr val="000000"/>
                </a:solidFill>
                <a:latin typeface="Calibri" panose="020F0502020204030204" pitchFamily="34" charset="0"/>
              </a:rPr>
              <a:t>(NJ</a:t>
            </a:r>
            <a:r>
              <a:rPr lang="it-IT" sz="6000" b="1" dirty="0"/>
              <a:t>– 002)</a:t>
            </a:r>
            <a:r>
              <a:rPr lang="it-IT" sz="6000" dirty="0">
                <a:solidFill>
                  <a:srgbClr val="000000"/>
                </a:solidFill>
                <a:latin typeface="Calibri" panose="020F0502020204030204" pitchFamily="34" charset="0"/>
              </a:rPr>
              <a:t> </a:t>
            </a:r>
            <a:br>
              <a:rPr lang="it-IT" sz="6000" dirty="0">
                <a:solidFill>
                  <a:srgbClr val="000000"/>
                </a:solidFill>
                <a:latin typeface="Calibri" panose="020F0502020204030204" pitchFamily="34" charset="0"/>
              </a:rPr>
            </a:br>
            <a:br>
              <a:rPr lang="it-IT" sz="3600" dirty="0">
                <a:solidFill>
                  <a:srgbClr val="000000"/>
                </a:solidFill>
                <a:latin typeface="Calibri" panose="020F0502020204030204" pitchFamily="34" charset="0"/>
              </a:rPr>
            </a:br>
            <a:r>
              <a:rPr lang="it-IT" sz="3600" dirty="0">
                <a:solidFill>
                  <a:srgbClr val="000000"/>
                </a:solidFill>
                <a:latin typeface="Calibri" panose="020F0502020204030204" pitchFamily="34" charset="0"/>
              </a:rPr>
              <a:t>https://www.nuovojava.it</a:t>
            </a:r>
            <a:endParaRPr lang="it-IT" sz="3600" dirty="0"/>
          </a:p>
        </p:txBody>
      </p:sp>
    </p:spTree>
    <p:extLst>
      <p:ext uri="{BB962C8B-B14F-4D97-AF65-F5344CB8AC3E}">
        <p14:creationId xmlns:p14="http://schemas.microsoft.com/office/powerpoint/2010/main" val="408828648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467430" y="1"/>
            <a:ext cx="8137130" cy="1256126"/>
          </a:xfrm>
        </p:spPr>
        <p:txBody>
          <a:bodyPr>
            <a:normAutofit fontScale="90000"/>
          </a:bodyPr>
          <a:lstStyle/>
          <a:p>
            <a:r>
              <a:rPr lang="it-IT" dirty="0"/>
              <a:t>Componenti fondamentali di un programma Java</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0" y="1124680"/>
            <a:ext cx="9144000" cy="5368193"/>
          </a:xfrm>
        </p:spPr>
        <p:txBody>
          <a:bodyPr>
            <a:noAutofit/>
          </a:bodyPr>
          <a:lstStyle/>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Comprendere cosa significa sviluppare un programma in Java, cosa sono i processi e i paradigmi di programmazione (unità 2.1).</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Saper definire i concetti di classe, oggetto, variabile, metodo e costruttore (unità 2.1,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Saper dichiarare una classe (unità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Istanziare oggetti da una classe (unità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Utilizzare i membri pubblici di un oggetto sfruttando l’operatore dot (unità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Dichiarare ed invocare un metodo (unità 2.1,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Saper dichiarare e assegnare un valore ad una variabile (unità 2.1,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Saper definire ed utilizzare i diversi tipi di variabili (d’istanza, locali e parametri) (unità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Dichiarare ed invocare un metodo costruttore (unità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Saper definire un costruttore di default (unità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Saper definire una classe appartenente ad un package e saper importare classi da altri package (unità 2.3).</a:t>
            </a:r>
          </a:p>
          <a:p>
            <a:pPr marL="180340" indent="180340">
              <a:tabLst>
                <a:tab pos="457200" algn="l"/>
              </a:tabLst>
            </a:pPr>
            <a:r>
              <a:rPr lang="it-IT" sz="2000" dirty="0">
                <a:latin typeface="Calibri" panose="020F0502020204030204" pitchFamily="34" charset="0"/>
                <a:cs typeface="Calibri" panose="020F0502020204030204" pitchFamily="34" charset="0"/>
              </a:rPr>
              <a:t>Approfondimento online  2.1</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a:t>
            </a:fld>
            <a:endParaRPr lang="it-IT"/>
          </a:p>
        </p:txBody>
      </p:sp>
    </p:spTree>
    <p:extLst>
      <p:ext uri="{BB962C8B-B14F-4D97-AF65-F5344CB8AC3E}">
        <p14:creationId xmlns:p14="http://schemas.microsoft.com/office/powerpoint/2010/main" val="805334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71500"/>
            <a:ext cx="7886700" cy="1862189"/>
          </a:xfrm>
        </p:spPr>
        <p:txBody>
          <a:bodyPr/>
          <a:lstStyle/>
          <a:p>
            <a:r>
              <a:rPr lang="it-IT" dirty="0"/>
              <a:t>Cosa significa creare un programma Java</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755470" y="2060810"/>
            <a:ext cx="7759880" cy="4295541"/>
          </a:xfrm>
        </p:spPr>
        <p:txBody>
          <a:bodyPr>
            <a:normAutofit/>
          </a:bodyPr>
          <a:lstStyle/>
          <a:p>
            <a:r>
              <a:rPr lang="it-IT" sz="3200" dirty="0"/>
              <a:t>Ruolo della </a:t>
            </a:r>
            <a:r>
              <a:rPr lang="it-IT" sz="3200" b="1" dirty="0"/>
              <a:t>main class</a:t>
            </a:r>
            <a:r>
              <a:rPr lang="it-IT" sz="3200" dirty="0"/>
              <a:t> (</a:t>
            </a:r>
            <a:r>
              <a:rPr lang="it-IT" sz="3200" b="1" dirty="0"/>
              <a:t>classe principale</a:t>
            </a:r>
            <a:r>
              <a:rPr lang="it-IT" sz="3200" dirty="0"/>
              <a:t> – </a:t>
            </a:r>
            <a:r>
              <a:rPr lang="it-IT" sz="3200" b="1" dirty="0"/>
              <a:t>classe del main</a:t>
            </a:r>
            <a:r>
              <a:rPr lang="it-IT" sz="3200" dirty="0"/>
              <a:t>)</a:t>
            </a:r>
          </a:p>
          <a:p>
            <a:r>
              <a:rPr lang="it-IT" sz="3200" dirty="0"/>
              <a:t>Numero di classi di un programma</a:t>
            </a:r>
          </a:p>
          <a:p>
            <a:r>
              <a:rPr lang="it-IT" sz="3200" dirty="0"/>
              <a:t>Ruolo delle classi in un programma</a:t>
            </a:r>
          </a:p>
          <a:p>
            <a:r>
              <a:rPr lang="it-IT" sz="3200" dirty="0"/>
              <a:t>È fondamentale capire cosa significa </a:t>
            </a:r>
            <a:r>
              <a:rPr lang="it-IT" sz="3200" b="1" dirty="0"/>
              <a:t>sviluppare software </a:t>
            </a:r>
            <a:r>
              <a:rPr lang="it-IT" sz="3200" dirty="0"/>
              <a:t>(</a:t>
            </a:r>
            <a:r>
              <a:rPr lang="it-IT" sz="3200" b="1" dirty="0"/>
              <a:t>software development</a:t>
            </a:r>
            <a:r>
              <a:rPr lang="it-IT" sz="3200" dirty="0"/>
              <a:t>)</a:t>
            </a:r>
          </a:p>
          <a:p>
            <a:pPr marL="0" indent="0">
              <a:buNone/>
            </a:pPr>
            <a:endParaRPr lang="it-IT" sz="3200" dirty="0"/>
          </a:p>
          <a:p>
            <a:endParaRPr lang="it-IT" sz="3200" dirty="0"/>
          </a:p>
          <a:p>
            <a:pPr lvl="1"/>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a:t>
            </a:fld>
            <a:endParaRPr lang="it-IT"/>
          </a:p>
        </p:txBody>
      </p:sp>
    </p:spTree>
    <p:extLst>
      <p:ext uri="{BB962C8B-B14F-4D97-AF65-F5344CB8AC3E}">
        <p14:creationId xmlns:p14="http://schemas.microsoft.com/office/powerpoint/2010/main" val="2845546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71500"/>
            <a:ext cx="7886700" cy="1862189"/>
          </a:xfrm>
        </p:spPr>
        <p:txBody>
          <a:bodyPr/>
          <a:lstStyle/>
          <a:p>
            <a:r>
              <a:rPr lang="it-IT" dirty="0"/>
              <a:t>Software development (SD)</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755470" y="1484730"/>
            <a:ext cx="7759880" cy="4871621"/>
          </a:xfrm>
        </p:spPr>
        <p:txBody>
          <a:bodyPr>
            <a:normAutofit/>
          </a:bodyPr>
          <a:lstStyle/>
          <a:p>
            <a:r>
              <a:rPr lang="it-IT" sz="3200" dirty="0">
                <a:effectLst/>
                <a:ea typeface="Times New Roman" panose="02020603050405020304" pitchFamily="18" charset="0"/>
              </a:rPr>
              <a:t>Lo </a:t>
            </a:r>
            <a:r>
              <a:rPr lang="it-IT" sz="3200" b="1" dirty="0">
                <a:effectLst/>
                <a:ea typeface="Times New Roman" panose="02020603050405020304" pitchFamily="18" charset="0"/>
              </a:rPr>
              <a:t>sviluppo del </a:t>
            </a:r>
            <a:r>
              <a:rPr lang="it-IT" sz="3200" b="1" dirty="0">
                <a:ea typeface="Times New Roman" panose="02020603050405020304" pitchFamily="18" charset="0"/>
              </a:rPr>
              <a:t>software</a:t>
            </a:r>
            <a:r>
              <a:rPr lang="it-IT" sz="3200" dirty="0">
                <a:effectLst/>
                <a:ea typeface="Times New Roman" panose="02020603050405020304" pitchFamily="18" charset="0"/>
              </a:rPr>
              <a:t> è processo creativo che porta a creare un programma partendo da un’idea. </a:t>
            </a:r>
          </a:p>
          <a:p>
            <a:r>
              <a:rPr lang="it-IT" sz="3200" dirty="0">
                <a:effectLst/>
                <a:ea typeface="Times New Roman" panose="02020603050405020304" pitchFamily="18" charset="0"/>
              </a:rPr>
              <a:t>Questo </a:t>
            </a:r>
            <a:r>
              <a:rPr lang="it-IT" sz="3200" b="1" dirty="0">
                <a:effectLst/>
                <a:ea typeface="Times New Roman" panose="02020603050405020304" pitchFamily="18" charset="0"/>
              </a:rPr>
              <a:t>processo</a:t>
            </a:r>
            <a:r>
              <a:rPr lang="it-IT" sz="3200" dirty="0">
                <a:effectLst/>
                <a:ea typeface="Times New Roman" panose="02020603050405020304" pitchFamily="18" charset="0"/>
              </a:rPr>
              <a:t> è composto da una sequenza di attività da svolgere, ma non esiste un processo standard che sia perfetto per ogni situazione di programmazione. </a:t>
            </a:r>
          </a:p>
          <a:p>
            <a:r>
              <a:rPr lang="it-IT" sz="3200" dirty="0">
                <a:effectLst/>
                <a:ea typeface="Times New Roman" panose="02020603050405020304" pitchFamily="18" charset="0"/>
              </a:rPr>
              <a:t>Quindi, tali attività cambiano di tipologia, di ordine di esecuzione e di numero, a seconda del programma da creare</a:t>
            </a:r>
            <a:endParaRPr lang="it-IT" sz="3200" dirty="0"/>
          </a:p>
          <a:p>
            <a:endParaRPr lang="it-IT" sz="3200" dirty="0"/>
          </a:p>
          <a:p>
            <a:pPr lvl="1"/>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4</a:t>
            </a:fld>
            <a:endParaRPr lang="it-IT"/>
          </a:p>
        </p:txBody>
      </p:sp>
    </p:spTree>
    <p:extLst>
      <p:ext uri="{BB962C8B-B14F-4D97-AF65-F5344CB8AC3E}">
        <p14:creationId xmlns:p14="http://schemas.microsoft.com/office/powerpoint/2010/main" val="2993077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755470" y="908650"/>
            <a:ext cx="7759880" cy="5447701"/>
          </a:xfrm>
        </p:spPr>
        <p:txBody>
          <a:bodyPr>
            <a:normAutofit/>
          </a:bodyPr>
          <a:lstStyle/>
          <a:p>
            <a:pPr marL="0" indent="0" algn="ctr">
              <a:buNone/>
            </a:pPr>
            <a:r>
              <a:rPr lang="it-IT" sz="5400" dirty="0">
                <a:effectLst/>
                <a:latin typeface="Times New Roman" panose="02020603050405020304" pitchFamily="18" charset="0"/>
                <a:ea typeface="Times New Roman" panose="02020603050405020304" pitchFamily="18" charset="0"/>
              </a:rPr>
              <a:t>Il grande errore che commettono i programmatori poco esperti, è quello di pensare che per programmare basti saper programmare</a:t>
            </a:r>
            <a:endParaRPr lang="it-IT" sz="5400"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5</a:t>
            </a:fld>
            <a:endParaRPr lang="it-IT"/>
          </a:p>
        </p:txBody>
      </p:sp>
    </p:spTree>
    <p:extLst>
      <p:ext uri="{BB962C8B-B14F-4D97-AF65-F5344CB8AC3E}">
        <p14:creationId xmlns:p14="http://schemas.microsoft.com/office/powerpoint/2010/main" val="2778313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SD: processo minimale</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p:txBody>
          <a:bodyPr>
            <a:normAutofit/>
          </a:bodyPr>
          <a:lstStyle/>
          <a:p>
            <a:r>
              <a:rPr lang="it-IT" sz="2800" dirty="0"/>
              <a:t>Capire tutte le funzionalità che l’applicazione deve implementare (ovvero capire cosa deve fare il nostro programma)</a:t>
            </a:r>
          </a:p>
          <a:p>
            <a:r>
              <a:rPr lang="it-IT" sz="2800" dirty="0"/>
              <a:t>Trovare delle strategie per creare il programma nel modo migliore possibile (capire come implementare il nostro programma)</a:t>
            </a:r>
          </a:p>
          <a:p>
            <a:r>
              <a:rPr lang="it-IT" sz="2800" dirty="0"/>
              <a:t>Implementare con il codice le soluzioni ipotizzate (ovvero programmare)</a:t>
            </a:r>
          </a:p>
          <a:p>
            <a:r>
              <a:rPr lang="it-IT" sz="2800" dirty="0"/>
              <a:t>Testare il corretto funzionamento del nostro programma e risolvere eventuali problemi</a:t>
            </a:r>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dirty="0"/>
              <a:t>Claudio De Sio Cesari: NJ-002</a:t>
            </a:r>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6</a:t>
            </a:fld>
            <a:endParaRPr lang="it-IT"/>
          </a:p>
        </p:txBody>
      </p:sp>
    </p:spTree>
    <p:extLst>
      <p:ext uri="{BB962C8B-B14F-4D97-AF65-F5344CB8AC3E}">
        <p14:creationId xmlns:p14="http://schemas.microsoft.com/office/powerpoint/2010/main" val="3304286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Object Oriented Programming</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p:txBody>
          <a:bodyPr>
            <a:normAutofit/>
          </a:bodyPr>
          <a:lstStyle/>
          <a:p>
            <a:r>
              <a:rPr lang="it-IT" sz="4000" b="1" dirty="0"/>
              <a:t>OOP</a:t>
            </a:r>
            <a:r>
              <a:rPr lang="it-IT" sz="4000" dirty="0"/>
              <a:t>: </a:t>
            </a:r>
            <a:r>
              <a:rPr lang="it-IT" sz="4000" b="1" dirty="0"/>
              <a:t>programmazione orientata agli oggetti</a:t>
            </a:r>
            <a:r>
              <a:rPr lang="it-IT" sz="4000" dirty="0"/>
              <a:t>, o più semplicemente </a:t>
            </a:r>
            <a:r>
              <a:rPr lang="it-IT" sz="4000" b="1" dirty="0"/>
              <a:t>programmazione ad oggetti</a:t>
            </a:r>
          </a:p>
          <a:p>
            <a:r>
              <a:rPr lang="it-IT" sz="4000" dirty="0"/>
              <a:t>Stile di programmazione basato su concetti ispirati dal mondo reale</a:t>
            </a:r>
          </a:p>
          <a:p>
            <a:r>
              <a:rPr lang="it-IT" sz="4000" dirty="0"/>
              <a:t>Paradigmi e principi OO</a:t>
            </a:r>
          </a:p>
          <a:p>
            <a:endParaRPr lang="it-IT" sz="4000" dirty="0"/>
          </a:p>
          <a:p>
            <a:pPr lvl="1"/>
            <a:endParaRPr lang="it-IT" dirty="0"/>
          </a:p>
          <a:p>
            <a:pPr lvl="1"/>
            <a:endParaRPr lang="it-IT" dirty="0"/>
          </a:p>
          <a:p>
            <a:pPr lvl="1"/>
            <a:endParaRPr lang="it-IT" dirty="0"/>
          </a:p>
          <a:p>
            <a:pPr lvl="1"/>
            <a:endParaRPr lang="it-IT" dirty="0"/>
          </a:p>
          <a:p>
            <a:pPr lvl="1"/>
            <a:endParaRPr lang="it-IT" dirty="0"/>
          </a:p>
          <a:p>
            <a:pPr lvl="1"/>
            <a:endParaRPr lang="it-IT" dirty="0"/>
          </a:p>
          <a:p>
            <a:pPr lvl="1"/>
            <a:endParaRPr lang="it-IT" dirty="0"/>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7</a:t>
            </a:fld>
            <a:endParaRPr lang="it-IT"/>
          </a:p>
        </p:txBody>
      </p:sp>
    </p:spTree>
    <p:extLst>
      <p:ext uri="{BB962C8B-B14F-4D97-AF65-F5344CB8AC3E}">
        <p14:creationId xmlns:p14="http://schemas.microsoft.com/office/powerpoint/2010/main" val="4274646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Paradigmi fondamentali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p:txBody>
          <a:bodyPr>
            <a:normAutofit/>
          </a:bodyPr>
          <a:lstStyle/>
          <a:p>
            <a:r>
              <a:rPr lang="it-IT" sz="4000" b="1" dirty="0"/>
              <a:t>Incapsulamento</a:t>
            </a:r>
          </a:p>
          <a:p>
            <a:r>
              <a:rPr lang="it-IT" sz="4000" b="1" dirty="0"/>
              <a:t>Ereditarietà</a:t>
            </a:r>
          </a:p>
          <a:p>
            <a:r>
              <a:rPr lang="it-IT" sz="4000" b="1" dirty="0"/>
              <a:t>Polimorfismo</a:t>
            </a:r>
          </a:p>
          <a:p>
            <a:r>
              <a:rPr lang="it-IT" sz="4000" b="1" dirty="0"/>
              <a:t>Astrazione *</a:t>
            </a:r>
          </a:p>
          <a:p>
            <a:r>
              <a:rPr lang="it-IT" sz="4000" b="1" dirty="0"/>
              <a:t>Riuso</a:t>
            </a:r>
            <a:endParaRPr lang="it-IT" sz="4000" dirty="0"/>
          </a:p>
          <a:p>
            <a:endParaRPr lang="it-IT" sz="4000" dirty="0"/>
          </a:p>
          <a:p>
            <a:pPr lvl="1"/>
            <a:endParaRPr lang="it-IT" dirty="0"/>
          </a:p>
          <a:p>
            <a:pPr lvl="1"/>
            <a:endParaRPr lang="it-IT" dirty="0"/>
          </a:p>
          <a:p>
            <a:pPr lvl="1"/>
            <a:endParaRPr lang="it-IT" dirty="0"/>
          </a:p>
          <a:p>
            <a:pPr lvl="1"/>
            <a:endParaRPr lang="it-IT" dirty="0"/>
          </a:p>
          <a:p>
            <a:pPr lvl="1"/>
            <a:endParaRPr lang="it-IT" dirty="0"/>
          </a:p>
          <a:p>
            <a:pPr lvl="1"/>
            <a:endParaRPr lang="it-IT" dirty="0"/>
          </a:p>
          <a:p>
            <a:pPr lvl="1"/>
            <a:endParaRPr lang="it-IT" dirty="0"/>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8</a:t>
            </a:fld>
            <a:endParaRPr lang="it-IT"/>
          </a:p>
        </p:txBody>
      </p:sp>
    </p:spTree>
    <p:extLst>
      <p:ext uri="{BB962C8B-B14F-4D97-AF65-F5344CB8AC3E}">
        <p14:creationId xmlns:p14="http://schemas.microsoft.com/office/powerpoint/2010/main" val="3900688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FD500-763B-475F-95AC-2A7DE0F1371A}"/>
              </a:ext>
            </a:extLst>
          </p:cNvPr>
          <p:cNvSpPr>
            <a:spLocks noGrp="1"/>
          </p:cNvSpPr>
          <p:nvPr>
            <p:ph type="title"/>
          </p:nvPr>
        </p:nvSpPr>
        <p:spPr>
          <a:xfrm>
            <a:off x="628650" y="136524"/>
            <a:ext cx="7886700" cy="1554165"/>
          </a:xfrm>
        </p:spPr>
        <p:txBody>
          <a:bodyPr/>
          <a:lstStyle/>
          <a:p>
            <a:pPr algn="ctr"/>
            <a:r>
              <a:rPr lang="it-IT" dirty="0"/>
              <a:t>Astrazione</a:t>
            </a:r>
          </a:p>
        </p:txBody>
      </p:sp>
      <p:sp>
        <p:nvSpPr>
          <p:cNvPr id="3" name="Segnaposto contenuto 2">
            <a:extLst>
              <a:ext uri="{FF2B5EF4-FFF2-40B4-BE49-F238E27FC236}">
                <a16:creationId xmlns:a16="http://schemas.microsoft.com/office/drawing/2014/main" id="{84CFE59D-E19E-49A0-BEBC-4EE3897DF2B6}"/>
              </a:ext>
            </a:extLst>
          </p:cNvPr>
          <p:cNvSpPr>
            <a:spLocks noGrp="1"/>
          </p:cNvSpPr>
          <p:nvPr>
            <p:ph idx="1"/>
          </p:nvPr>
        </p:nvSpPr>
        <p:spPr>
          <a:xfrm>
            <a:off x="840000" y="1556740"/>
            <a:ext cx="7675350" cy="4620223"/>
          </a:xfrm>
        </p:spPr>
        <p:txBody>
          <a:bodyPr>
            <a:normAutofit lnSpcReduction="10000"/>
          </a:bodyPr>
          <a:lstStyle/>
          <a:p>
            <a:r>
              <a:rPr lang="it-IT" sz="2800" dirty="0"/>
              <a:t>Potrebbe definirsi come:</a:t>
            </a:r>
          </a:p>
          <a:p>
            <a:pPr marL="0" indent="0" algn="ctr">
              <a:buNone/>
            </a:pPr>
            <a:r>
              <a:rPr lang="it-IT" sz="3200" dirty="0"/>
              <a:t>«l’arte di sapersi concentrare solo sui dettagli veramente importanti di un’entità in un certo contesto»</a:t>
            </a:r>
          </a:p>
          <a:p>
            <a:pPr marL="0" indent="0" algn="ctr">
              <a:buNone/>
            </a:pPr>
            <a:endParaRPr lang="it-IT" sz="3200" dirty="0"/>
          </a:p>
          <a:p>
            <a:r>
              <a:rPr lang="it-IT" sz="2800" dirty="0"/>
              <a:t>La usiamo ogni giorno in ogni istante della nostra vita:</a:t>
            </a:r>
          </a:p>
          <a:p>
            <a:pPr marL="0" indent="0" algn="ctr">
              <a:buNone/>
            </a:pPr>
            <a:r>
              <a:rPr lang="it-IT" sz="3200" dirty="0"/>
              <a:t>«l’essere umano supera la complessità della realtà che lo circonda, grazie alla sua capacità di astrarsi»</a:t>
            </a:r>
          </a:p>
        </p:txBody>
      </p:sp>
      <p:sp>
        <p:nvSpPr>
          <p:cNvPr id="4" name="Segnaposto piè di pagina 3">
            <a:extLst>
              <a:ext uri="{FF2B5EF4-FFF2-40B4-BE49-F238E27FC236}">
                <a16:creationId xmlns:a16="http://schemas.microsoft.com/office/drawing/2014/main" id="{392CB2FB-0ABD-47E1-8073-A5A967A83B22}"/>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257AF19C-FEF0-4582-8FE6-1CD8D7D28332}"/>
              </a:ext>
            </a:extLst>
          </p:cNvPr>
          <p:cNvSpPr>
            <a:spLocks noGrp="1"/>
          </p:cNvSpPr>
          <p:nvPr>
            <p:ph type="sldNum" sz="quarter" idx="12"/>
          </p:nvPr>
        </p:nvSpPr>
        <p:spPr/>
        <p:txBody>
          <a:bodyPr/>
          <a:lstStyle/>
          <a:p>
            <a:fld id="{EA83E0A8-4958-4553-8C1A-CC59A6ABE123}" type="slidenum">
              <a:rPr lang="it-IT" smtClean="0"/>
              <a:t>9</a:t>
            </a:fld>
            <a:endParaRPr lang="it-IT"/>
          </a:p>
        </p:txBody>
      </p:sp>
    </p:spTree>
    <p:extLst>
      <p:ext uri="{BB962C8B-B14F-4D97-AF65-F5344CB8AC3E}">
        <p14:creationId xmlns:p14="http://schemas.microsoft.com/office/powerpoint/2010/main" val="3649336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1"/>
            <a:ext cx="8515350" cy="1012954"/>
          </a:xfrm>
        </p:spPr>
        <p:txBody>
          <a:bodyPr/>
          <a:lstStyle/>
          <a:p>
            <a:r>
              <a:rPr lang="it-IT" dirty="0"/>
              <a:t>Concetti alla base della sintassi Java</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10</a:t>
            </a:fld>
            <a:endParaRPr lang="it-IT"/>
          </a:p>
        </p:txBody>
      </p:sp>
      <p:sp>
        <p:nvSpPr>
          <p:cNvPr id="7" name="CasellaDiTesto 6">
            <a:extLst>
              <a:ext uri="{FF2B5EF4-FFF2-40B4-BE49-F238E27FC236}">
                <a16:creationId xmlns:a16="http://schemas.microsoft.com/office/drawing/2014/main" id="{DA1F5DDC-7858-42A5-97D8-8EB9EF01713E}"/>
              </a:ext>
            </a:extLst>
          </p:cNvPr>
          <p:cNvSpPr txBox="1"/>
          <p:nvPr/>
        </p:nvSpPr>
        <p:spPr>
          <a:xfrm>
            <a:off x="0" y="1271733"/>
            <a:ext cx="9144000" cy="4524315"/>
          </a:xfrm>
          <a:prstGeom prst="rect">
            <a:avLst/>
          </a:prstGeom>
          <a:noFill/>
        </p:spPr>
        <p:txBody>
          <a:bodyPr wrap="square">
            <a:spAutoFit/>
          </a:bodyPr>
          <a:lstStyle/>
          <a:p>
            <a:r>
              <a:rPr lang="it-IT" sz="2400" dirty="0">
                <a:solidFill>
                  <a:schemeClr val="accent5"/>
                </a:solidFill>
                <a:effectLst/>
                <a:latin typeface="Courier New" panose="02070309020205020404" pitchFamily="49" charset="0"/>
                <a:ea typeface="Times New Roman" panose="02020603050405020304" pitchFamily="18" charset="0"/>
              </a:rPr>
              <a:t>// dichiarazione di classe</a:t>
            </a:r>
          </a:p>
          <a:p>
            <a:r>
              <a:rPr lang="it-IT" sz="2400" dirty="0">
                <a:solidFill>
                  <a:schemeClr val="accent5"/>
                </a:solidFill>
                <a:effectLst/>
                <a:latin typeface="Courier New" panose="02070309020205020404" pitchFamily="49" charset="0"/>
                <a:ea typeface="Times New Roman" panose="02020603050405020304" pitchFamily="18" charset="0"/>
              </a:rPr>
              <a:t>public class </a:t>
            </a:r>
            <a:r>
              <a:rPr lang="it-IT" sz="2400" dirty="0" err="1">
                <a:solidFill>
                  <a:schemeClr val="accent5"/>
                </a:solidFill>
                <a:effectLst/>
                <a:latin typeface="Courier New" panose="02070309020205020404" pitchFamily="49" charset="0"/>
                <a:ea typeface="Times New Roman" panose="02020603050405020304" pitchFamily="18" charset="0"/>
              </a:rPr>
              <a:t>SintassiBase</a:t>
            </a:r>
            <a:r>
              <a:rPr lang="it-IT" sz="2400" dirty="0">
                <a:solidFill>
                  <a:schemeClr val="accent5"/>
                </a:solidFill>
                <a:effectLst/>
                <a:latin typeface="Courier New" panose="02070309020205020404" pitchFamily="49" charset="0"/>
                <a:ea typeface="Times New Roman" panose="02020603050405020304" pitchFamily="18" charset="0"/>
              </a:rPr>
              <a:t> {</a:t>
            </a:r>
          </a:p>
          <a:p>
            <a:r>
              <a:rPr lang="it-IT" sz="2400" dirty="0">
                <a:solidFill>
                  <a:schemeClr val="accent5"/>
                </a:solidFill>
                <a:effectLst/>
                <a:latin typeface="Courier New" panose="02070309020205020404" pitchFamily="49" charset="0"/>
                <a:ea typeface="Times New Roman" panose="02020603050405020304" pitchFamily="18" charset="0"/>
              </a:rPr>
              <a:t>    //dichiarazione del metodo main</a:t>
            </a:r>
          </a:p>
          <a:p>
            <a:r>
              <a:rPr lang="it-IT" sz="2400" dirty="0">
                <a:solidFill>
                  <a:schemeClr val="accent5"/>
                </a:solidFill>
                <a:effectLst/>
                <a:latin typeface="Courier New" panose="02070309020205020404" pitchFamily="49" charset="0"/>
                <a:ea typeface="Times New Roman" panose="02020603050405020304" pitchFamily="18" charset="0"/>
              </a:rPr>
              <a:t>    public static void main(String args[]) {</a:t>
            </a:r>
          </a:p>
          <a:p>
            <a:r>
              <a:rPr lang="it-IT" sz="2400" dirty="0">
                <a:solidFill>
                  <a:schemeClr val="accent5"/>
                </a:solidFill>
                <a:effectLst/>
                <a:latin typeface="Courier New" panose="02070309020205020404" pitchFamily="49" charset="0"/>
                <a:ea typeface="Times New Roman" panose="02020603050405020304" pitchFamily="18" charset="0"/>
              </a:rPr>
              <a:t>        // dichiarazione di variabili</a:t>
            </a:r>
          </a:p>
          <a:p>
            <a:r>
              <a:rPr lang="it-IT" sz="2400" dirty="0">
                <a:solidFill>
                  <a:schemeClr val="accent5"/>
                </a:solidFill>
                <a:effectLst/>
                <a:latin typeface="Courier New" panose="02070309020205020404" pitchFamily="49" charset="0"/>
                <a:ea typeface="Times New Roman" panose="02020603050405020304" pitchFamily="18" charset="0"/>
              </a:rPr>
              <a:t>        int variabile1 = 10;</a:t>
            </a:r>
          </a:p>
          <a:p>
            <a:r>
              <a:rPr lang="it-IT" sz="2400" dirty="0">
                <a:solidFill>
                  <a:schemeClr val="accent5"/>
                </a:solidFill>
                <a:effectLst/>
                <a:latin typeface="Courier New" panose="02070309020205020404" pitchFamily="49" charset="0"/>
                <a:ea typeface="Times New Roman" panose="02020603050405020304" pitchFamily="18" charset="0"/>
              </a:rPr>
              <a:t>        int variabile2 = 20;</a:t>
            </a:r>
          </a:p>
          <a:p>
            <a:r>
              <a:rPr lang="it-IT" sz="2400" dirty="0">
                <a:solidFill>
                  <a:schemeClr val="accent5"/>
                </a:solidFill>
                <a:effectLst/>
                <a:latin typeface="Courier New" panose="02070309020205020404" pitchFamily="49" charset="0"/>
                <a:ea typeface="Times New Roman" panose="02020603050405020304" pitchFamily="18" charset="0"/>
              </a:rPr>
              <a:t>        //stampa dell'addizione delle variabili</a:t>
            </a:r>
          </a:p>
          <a:p>
            <a:r>
              <a:rPr lang="it-IT" sz="2400" dirty="0">
                <a:solidFill>
                  <a:schemeClr val="accent5"/>
                </a:solidFill>
                <a:effectLst/>
                <a:latin typeface="Courier New" panose="02070309020205020404" pitchFamily="49" charset="0"/>
                <a:ea typeface="Times New Roman" panose="02020603050405020304" pitchFamily="18" charset="0"/>
              </a:rPr>
              <a:t>        System.out.println(variabile1 + </a:t>
            </a:r>
          </a:p>
          <a:p>
            <a:r>
              <a:rPr lang="it-IT" sz="2400" dirty="0">
                <a:solidFill>
                  <a:schemeClr val="accent5"/>
                </a:solidFill>
                <a:latin typeface="Courier New" panose="02070309020205020404" pitchFamily="49" charset="0"/>
                <a:ea typeface="Times New Roman" panose="02020603050405020304" pitchFamily="18" charset="0"/>
              </a:rPr>
              <a:t>            </a:t>
            </a:r>
            <a:r>
              <a:rPr lang="it-IT" sz="2400" dirty="0">
                <a:solidFill>
                  <a:schemeClr val="accent5"/>
                </a:solidFill>
                <a:effectLst/>
                <a:latin typeface="Courier New" panose="02070309020205020404" pitchFamily="49" charset="0"/>
                <a:ea typeface="Times New Roman" panose="02020603050405020304" pitchFamily="18" charset="0"/>
              </a:rPr>
              <a:t>variabile2);</a:t>
            </a:r>
          </a:p>
          <a:p>
            <a:r>
              <a:rPr lang="it-IT" sz="2400" dirty="0">
                <a:solidFill>
                  <a:schemeClr val="accent5"/>
                </a:solidFill>
                <a:effectLst/>
                <a:latin typeface="Courier New" panose="02070309020205020404" pitchFamily="49" charset="0"/>
                <a:ea typeface="Times New Roman" panose="02020603050405020304" pitchFamily="18" charset="0"/>
              </a:rPr>
              <a:t>    }</a:t>
            </a:r>
          </a:p>
          <a:p>
            <a:r>
              <a:rPr lang="it-IT" sz="2400" dirty="0">
                <a:solidFill>
                  <a:schemeClr val="accent5"/>
                </a:solidFill>
                <a:effectLst/>
                <a:latin typeface="Times New Roman" panose="02020603050405020304" pitchFamily="18" charset="0"/>
                <a:ea typeface="Times New Roman" panose="02020603050405020304" pitchFamily="18" charset="0"/>
              </a:rPr>
              <a:t>} </a:t>
            </a:r>
            <a:endParaRPr lang="it-IT" sz="2400" dirty="0">
              <a:solidFill>
                <a:schemeClr val="accent5"/>
              </a:solidFill>
            </a:endParaRPr>
          </a:p>
        </p:txBody>
      </p:sp>
    </p:spTree>
    <p:extLst>
      <p:ext uri="{BB962C8B-B14F-4D97-AF65-F5344CB8AC3E}">
        <p14:creationId xmlns:p14="http://schemas.microsoft.com/office/powerpoint/2010/main" val="2404731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2D6D6B-4C15-49B1-B550-586B9664DB81}"/>
              </a:ext>
            </a:extLst>
          </p:cNvPr>
          <p:cNvSpPr>
            <a:spLocks noGrp="1"/>
          </p:cNvSpPr>
          <p:nvPr>
            <p:ph type="title"/>
          </p:nvPr>
        </p:nvSpPr>
        <p:spPr>
          <a:xfrm>
            <a:off x="0" y="5076"/>
            <a:ext cx="9144000" cy="975584"/>
          </a:xfrm>
        </p:spPr>
        <p:txBody>
          <a:bodyPr/>
          <a:lstStyle/>
          <a:p>
            <a:r>
              <a:rPr lang="it-IT" dirty="0"/>
              <a:t>Concetti alla base della sintassi Java</a:t>
            </a:r>
          </a:p>
        </p:txBody>
      </p:sp>
      <p:sp>
        <p:nvSpPr>
          <p:cNvPr id="3" name="Segnaposto contenuto 2">
            <a:extLst>
              <a:ext uri="{FF2B5EF4-FFF2-40B4-BE49-F238E27FC236}">
                <a16:creationId xmlns:a16="http://schemas.microsoft.com/office/drawing/2014/main" id="{1B0AF8AC-F454-45E3-9B39-7A4B04435911}"/>
              </a:ext>
            </a:extLst>
          </p:cNvPr>
          <p:cNvSpPr>
            <a:spLocks noGrp="1"/>
          </p:cNvSpPr>
          <p:nvPr>
            <p:ph idx="1"/>
          </p:nvPr>
        </p:nvSpPr>
        <p:spPr>
          <a:xfrm>
            <a:off x="840000" y="980660"/>
            <a:ext cx="7675350" cy="5196303"/>
          </a:xfrm>
        </p:spPr>
        <p:txBody>
          <a:bodyPr/>
          <a:lstStyle/>
          <a:p>
            <a:endParaRPr lang="it-IT" sz="2800" dirty="0"/>
          </a:p>
          <a:p>
            <a:r>
              <a:rPr lang="it-IT" sz="2800" b="1" dirty="0"/>
              <a:t>Parole definite del  linguaggio</a:t>
            </a:r>
            <a:r>
              <a:rPr lang="it-IT" sz="2800" dirty="0"/>
              <a:t> (una volta si parlava di </a:t>
            </a:r>
            <a:r>
              <a:rPr lang="it-IT" sz="2800" b="1" dirty="0"/>
              <a:t>parole chiave</a:t>
            </a:r>
            <a:r>
              <a:rPr lang="it-IT" sz="2800" dirty="0"/>
              <a:t>)</a:t>
            </a:r>
          </a:p>
          <a:p>
            <a:r>
              <a:rPr lang="it-IT" sz="2800" b="1" dirty="0"/>
              <a:t>Identificatori</a:t>
            </a:r>
            <a:r>
              <a:rPr lang="it-IT" sz="2800" dirty="0"/>
              <a:t> (nomi)</a:t>
            </a:r>
          </a:p>
          <a:p>
            <a:r>
              <a:rPr lang="it-IT" sz="2800" b="1" dirty="0"/>
              <a:t>Simboli definiti dal linguaggio</a:t>
            </a:r>
            <a:r>
              <a:rPr lang="it-IT" sz="2800" dirty="0"/>
              <a:t> (quasi tutti </a:t>
            </a:r>
            <a:r>
              <a:rPr lang="it-IT" sz="2800" b="1" dirty="0"/>
              <a:t>operatori</a:t>
            </a:r>
            <a:r>
              <a:rPr lang="it-IT" sz="2800" dirty="0"/>
              <a:t> ma alcuni sono parole definite dal linguaggio)</a:t>
            </a:r>
          </a:p>
          <a:p>
            <a:r>
              <a:rPr lang="it-IT" sz="2800" b="1" dirty="0"/>
              <a:t>Dati</a:t>
            </a:r>
            <a:r>
              <a:rPr lang="it-IT" sz="2800" dirty="0"/>
              <a:t> (</a:t>
            </a:r>
            <a:r>
              <a:rPr lang="it-IT" sz="2800" b="1" dirty="0"/>
              <a:t>valori</a:t>
            </a:r>
            <a:r>
              <a:rPr lang="it-IT" sz="2800" dirty="0"/>
              <a:t> o </a:t>
            </a:r>
            <a:r>
              <a:rPr lang="it-IT" sz="2800" b="1" dirty="0"/>
              <a:t>literals</a:t>
            </a:r>
            <a:r>
              <a:rPr lang="it-IT" sz="2800" dirty="0"/>
              <a:t>)</a:t>
            </a:r>
          </a:p>
          <a:p>
            <a:r>
              <a:rPr lang="it-IT" sz="2800" b="1" dirty="0"/>
              <a:t>Whitespace</a:t>
            </a:r>
            <a:r>
              <a:rPr lang="it-IT" sz="2800" dirty="0"/>
              <a:t> (</a:t>
            </a:r>
            <a:r>
              <a:rPr lang="it-IT" sz="2800" b="1" dirty="0"/>
              <a:t>spazi bianchi</a:t>
            </a:r>
            <a:r>
              <a:rPr lang="it-IT" sz="2800" dirty="0"/>
              <a:t>)</a:t>
            </a:r>
          </a:p>
          <a:p>
            <a:r>
              <a:rPr lang="it-IT" sz="2800" b="1" dirty="0"/>
              <a:t>Commenti</a:t>
            </a:r>
            <a:r>
              <a:rPr lang="it-IT" sz="2800" dirty="0"/>
              <a:t> (meta-informazioni non utilizzate dal compilatore)</a:t>
            </a:r>
          </a:p>
          <a:p>
            <a:endParaRPr lang="it-IT" sz="2800" dirty="0"/>
          </a:p>
        </p:txBody>
      </p:sp>
      <p:sp>
        <p:nvSpPr>
          <p:cNvPr id="4" name="Segnaposto piè di pagina 3">
            <a:extLst>
              <a:ext uri="{FF2B5EF4-FFF2-40B4-BE49-F238E27FC236}">
                <a16:creationId xmlns:a16="http://schemas.microsoft.com/office/drawing/2014/main" id="{FAA0DADD-4466-4EDD-89D2-0F5B643DE945}"/>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A2233C3-3D4B-41F0-9ACF-16D0C0AEF244}"/>
              </a:ext>
            </a:extLst>
          </p:cNvPr>
          <p:cNvSpPr>
            <a:spLocks noGrp="1"/>
          </p:cNvSpPr>
          <p:nvPr>
            <p:ph type="sldNum" sz="quarter" idx="12"/>
          </p:nvPr>
        </p:nvSpPr>
        <p:spPr/>
        <p:txBody>
          <a:bodyPr/>
          <a:lstStyle/>
          <a:p>
            <a:fld id="{EA83E0A8-4958-4553-8C1A-CC59A6ABE123}" type="slidenum">
              <a:rPr lang="it-IT" smtClean="0"/>
              <a:t>11</a:t>
            </a:fld>
            <a:endParaRPr lang="it-IT"/>
          </a:p>
        </p:txBody>
      </p:sp>
    </p:spTree>
    <p:extLst>
      <p:ext uri="{BB962C8B-B14F-4D97-AF65-F5344CB8AC3E}">
        <p14:creationId xmlns:p14="http://schemas.microsoft.com/office/powerpoint/2010/main" val="1256682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2D6D6B-4C15-49B1-B550-586B9664DB81}"/>
              </a:ext>
            </a:extLst>
          </p:cNvPr>
          <p:cNvSpPr>
            <a:spLocks noGrp="1"/>
          </p:cNvSpPr>
          <p:nvPr>
            <p:ph type="title"/>
          </p:nvPr>
        </p:nvSpPr>
        <p:spPr>
          <a:xfrm>
            <a:off x="0" y="5076"/>
            <a:ext cx="9144000" cy="975584"/>
          </a:xfrm>
        </p:spPr>
        <p:txBody>
          <a:bodyPr/>
          <a:lstStyle/>
          <a:p>
            <a:r>
              <a:rPr lang="it-IT" dirty="0"/>
              <a:t>Concetti alla base della sintassi Java</a:t>
            </a:r>
          </a:p>
        </p:txBody>
      </p:sp>
      <p:sp>
        <p:nvSpPr>
          <p:cNvPr id="3" name="Segnaposto contenuto 2">
            <a:extLst>
              <a:ext uri="{FF2B5EF4-FFF2-40B4-BE49-F238E27FC236}">
                <a16:creationId xmlns:a16="http://schemas.microsoft.com/office/drawing/2014/main" id="{1B0AF8AC-F454-45E3-9B39-7A4B04435911}"/>
              </a:ext>
            </a:extLst>
          </p:cNvPr>
          <p:cNvSpPr>
            <a:spLocks noGrp="1"/>
          </p:cNvSpPr>
          <p:nvPr>
            <p:ph idx="1"/>
          </p:nvPr>
        </p:nvSpPr>
        <p:spPr>
          <a:xfrm>
            <a:off x="840000" y="980660"/>
            <a:ext cx="7675350" cy="5196303"/>
          </a:xfrm>
        </p:spPr>
        <p:txBody>
          <a:bodyPr>
            <a:normAutofit/>
          </a:bodyPr>
          <a:lstStyle/>
          <a:p>
            <a:r>
              <a:rPr lang="it-IT" sz="4000" dirty="0"/>
              <a:t>In particolare, una </a:t>
            </a:r>
            <a:r>
              <a:rPr lang="it-IT" sz="4000" b="1" dirty="0"/>
              <a:t>riga di codice</a:t>
            </a:r>
            <a:r>
              <a:rPr lang="it-IT" sz="4000" dirty="0"/>
              <a:t> può contenere una o più </a:t>
            </a:r>
            <a:r>
              <a:rPr lang="it-IT" sz="4000" b="1" dirty="0"/>
              <a:t>istruzioni</a:t>
            </a:r>
            <a:r>
              <a:rPr lang="it-IT" sz="4000" dirty="0"/>
              <a:t> (a volte solo una parte)</a:t>
            </a:r>
          </a:p>
          <a:p>
            <a:r>
              <a:rPr lang="it-IT" sz="4000" dirty="0"/>
              <a:t>Tipi di istruzioni</a:t>
            </a:r>
          </a:p>
          <a:p>
            <a:pPr lvl="1" algn="just"/>
            <a:r>
              <a:rPr lang="it-IT" sz="4000" b="1" dirty="0"/>
              <a:t>Statement</a:t>
            </a:r>
            <a:r>
              <a:rPr lang="it-IT" sz="4000" dirty="0"/>
              <a:t> (per esempio una </a:t>
            </a:r>
            <a:r>
              <a:rPr lang="it-IT" sz="4000" b="1" dirty="0"/>
              <a:t>dichiarazione</a:t>
            </a:r>
            <a:r>
              <a:rPr lang="it-IT" sz="4000" dirty="0"/>
              <a:t>)</a:t>
            </a:r>
            <a:endParaRPr lang="it-IT" sz="4000" b="1" dirty="0"/>
          </a:p>
          <a:p>
            <a:pPr lvl="1"/>
            <a:r>
              <a:rPr lang="it-IT" sz="4000" b="1" dirty="0"/>
              <a:t>Espressione </a:t>
            </a:r>
            <a:r>
              <a:rPr lang="it-IT" sz="4000" dirty="0"/>
              <a:t>(per esempio una </a:t>
            </a:r>
            <a:r>
              <a:rPr lang="it-IT" sz="4000" b="1" dirty="0"/>
              <a:t>operazione</a:t>
            </a:r>
            <a:r>
              <a:rPr lang="it-IT" sz="4000" dirty="0"/>
              <a:t>)</a:t>
            </a:r>
          </a:p>
        </p:txBody>
      </p:sp>
      <p:sp>
        <p:nvSpPr>
          <p:cNvPr id="4" name="Segnaposto piè di pagina 3">
            <a:extLst>
              <a:ext uri="{FF2B5EF4-FFF2-40B4-BE49-F238E27FC236}">
                <a16:creationId xmlns:a16="http://schemas.microsoft.com/office/drawing/2014/main" id="{FAA0DADD-4466-4EDD-89D2-0F5B643DE945}"/>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A2233C3-3D4B-41F0-9ACF-16D0C0AEF244}"/>
              </a:ext>
            </a:extLst>
          </p:cNvPr>
          <p:cNvSpPr>
            <a:spLocks noGrp="1"/>
          </p:cNvSpPr>
          <p:nvPr>
            <p:ph type="sldNum" sz="quarter" idx="12"/>
          </p:nvPr>
        </p:nvSpPr>
        <p:spPr/>
        <p:txBody>
          <a:bodyPr/>
          <a:lstStyle/>
          <a:p>
            <a:fld id="{EA83E0A8-4958-4553-8C1A-CC59A6ABE123}" type="slidenum">
              <a:rPr lang="it-IT" smtClean="0"/>
              <a:t>12</a:t>
            </a:fld>
            <a:endParaRPr lang="it-IT"/>
          </a:p>
        </p:txBody>
      </p:sp>
    </p:spTree>
    <p:extLst>
      <p:ext uri="{BB962C8B-B14F-4D97-AF65-F5344CB8AC3E}">
        <p14:creationId xmlns:p14="http://schemas.microsoft.com/office/powerpoint/2010/main" val="4066811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Variabili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13</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p:txBody>
          <a:bodyPr>
            <a:normAutofit fontScale="92500" lnSpcReduction="20000"/>
          </a:bodyPr>
          <a:lstStyle/>
          <a:p>
            <a:r>
              <a:rPr lang="it-IT" sz="3600" dirty="0"/>
              <a:t>Permettono di memorizzare dati</a:t>
            </a:r>
          </a:p>
          <a:p>
            <a:r>
              <a:rPr lang="it-IT" sz="3600" dirty="0"/>
              <a:t>Possiamo gestire i dati definendo, modificando e per esempio stampando dati. </a:t>
            </a:r>
          </a:p>
          <a:p>
            <a:r>
              <a:rPr lang="it-IT" sz="3600" dirty="0"/>
              <a:t>È una sorta di contenitore in cui risiede un’informazione. </a:t>
            </a:r>
          </a:p>
          <a:p>
            <a:r>
              <a:rPr lang="it-IT" sz="3600" dirty="0"/>
              <a:t>Tale informazione, è il valore di un determinato tipo, per esempio un numero intero 1 di tipo </a:t>
            </a:r>
            <a:r>
              <a:rPr lang="it-IT" sz="3600" i="1" dirty="0"/>
              <a:t>int</a:t>
            </a:r>
            <a:r>
              <a:rPr lang="it-IT" sz="3600" dirty="0"/>
              <a:t>:</a:t>
            </a:r>
          </a:p>
          <a:p>
            <a:pPr marL="0" indent="0">
              <a:buNone/>
            </a:pPr>
            <a:r>
              <a:rPr lang="it-IT" sz="3600" dirty="0">
                <a:solidFill>
                  <a:schemeClr val="accent5"/>
                </a:solidFill>
              </a:rPr>
              <a:t>int numero = 1;</a:t>
            </a:r>
          </a:p>
        </p:txBody>
      </p:sp>
    </p:spTree>
    <p:extLst>
      <p:ext uri="{BB962C8B-B14F-4D97-AF65-F5344CB8AC3E}">
        <p14:creationId xmlns:p14="http://schemas.microsoft.com/office/powerpoint/2010/main" val="761887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Variabili: dichiarazione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14</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836640"/>
            <a:ext cx="9144000" cy="5400750"/>
          </a:xfrm>
        </p:spPr>
        <p:txBody>
          <a:bodyPr>
            <a:noAutofit/>
          </a:bodyPr>
          <a:lstStyle/>
          <a:p>
            <a:pPr marL="0" indent="0">
              <a:buNone/>
            </a:pPr>
            <a:r>
              <a:rPr lang="it-IT" sz="2300" dirty="0"/>
              <a:t>Per poter utilizzare una variabile, bisogna prima dichiararla, ovvero definirla. In particolare, le variabili vengono definite da: </a:t>
            </a:r>
          </a:p>
          <a:p>
            <a:r>
              <a:rPr lang="it-IT" sz="2300" dirty="0"/>
              <a:t>Una </a:t>
            </a:r>
            <a:r>
              <a:rPr lang="it-IT" sz="2300" b="1" dirty="0"/>
              <a:t>lista di modificatori</a:t>
            </a:r>
            <a:r>
              <a:rPr lang="it-IT" sz="2300" dirty="0"/>
              <a:t>. Tale lista è opzionale e i tipi di modificatori che si possono usare dipendono da vari fattori</a:t>
            </a:r>
          </a:p>
          <a:p>
            <a:r>
              <a:rPr lang="it-IT" sz="2300" dirty="0"/>
              <a:t>Un </a:t>
            </a:r>
            <a:r>
              <a:rPr lang="it-IT" sz="2300" b="1" dirty="0"/>
              <a:t>tipo di dato</a:t>
            </a:r>
            <a:r>
              <a:rPr lang="it-IT" sz="2300" dirty="0"/>
              <a:t>. Ogni variabile può contenere un certo tipo, per esempio un numero, un numero con la virgola o una lettera. Quando dichiariamo un tipo per una variabile, obblighiamo la variabile ad ospitare solo valori compatibile con il tipo</a:t>
            </a:r>
          </a:p>
          <a:p>
            <a:r>
              <a:rPr lang="it-IT" sz="2300" dirty="0"/>
              <a:t>Un </a:t>
            </a:r>
            <a:r>
              <a:rPr lang="it-IT" sz="2300" b="1" dirty="0"/>
              <a:t>identificatore</a:t>
            </a:r>
            <a:r>
              <a:rPr lang="it-IT" sz="2300" dirty="0"/>
              <a:t>. Esso serve per riferirsi alla variabile. Scegliere il nome più adatto per una variabile è fondamentale, è così che usiamo l’astrazione per le variabili, scegliendo un nome che ci risulti naturale e utile per poter interagire con il software</a:t>
            </a:r>
          </a:p>
          <a:p>
            <a:r>
              <a:rPr lang="it-IT" sz="2300" dirty="0"/>
              <a:t>Un </a:t>
            </a:r>
            <a:r>
              <a:rPr lang="it-IT" sz="2300" b="1" dirty="0"/>
              <a:t>valore</a:t>
            </a:r>
            <a:r>
              <a:rPr lang="it-IT" sz="2300" dirty="0"/>
              <a:t> (ovvero il dato contenuto nel contenitore). Esso deve essere compatibile con il tipo di dato usato per dichiarare la variabile. Durante l’esecuzione dell’applicazione può essere modificato. Una variabile senza un valore non ha senso</a:t>
            </a:r>
          </a:p>
        </p:txBody>
      </p:sp>
    </p:spTree>
    <p:extLst>
      <p:ext uri="{BB962C8B-B14F-4D97-AF65-F5344CB8AC3E}">
        <p14:creationId xmlns:p14="http://schemas.microsoft.com/office/powerpoint/2010/main" val="2044858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Variabili: dichiarazione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15</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836640"/>
            <a:ext cx="9144000" cy="5400750"/>
          </a:xfrm>
        </p:spPr>
        <p:txBody>
          <a:bodyPr>
            <a:noAutofit/>
          </a:bodyPr>
          <a:lstStyle/>
          <a:p>
            <a:r>
              <a:rPr lang="it-IT" sz="2800" dirty="0">
                <a:effectLst/>
                <a:latin typeface="Times New Roman" panose="02020603050405020304" pitchFamily="18" charset="0"/>
                <a:ea typeface="Times New Roman" panose="02020603050405020304" pitchFamily="18" charset="0"/>
              </a:rPr>
              <a:t>Per dichiarazione di una variabile, intendiamo un’istruzione che segua la seguente sintassi (tra parentesi quadre è riportata la sintassi da considerare opzionale):</a:t>
            </a:r>
          </a:p>
          <a:p>
            <a:pPr marL="0" indent="0">
              <a:buNone/>
            </a:pPr>
            <a:r>
              <a:rPr lang="it-IT" sz="2800" dirty="0">
                <a:effectLst/>
                <a:latin typeface="Times New Roman" panose="02020603050405020304" pitchFamily="18" charset="0"/>
                <a:ea typeface="Times New Roman" panose="02020603050405020304" pitchFamily="18" charset="0"/>
              </a:rPr>
              <a:t>[modificatori] </a:t>
            </a:r>
            <a:r>
              <a:rPr lang="it-IT" sz="2800" dirty="0" err="1">
                <a:effectLst/>
                <a:latin typeface="Times New Roman" panose="02020603050405020304" pitchFamily="18" charset="0"/>
                <a:ea typeface="Times New Roman" panose="02020603050405020304" pitchFamily="18" charset="0"/>
              </a:rPr>
              <a:t>tipo_di_dato</a:t>
            </a:r>
            <a:r>
              <a:rPr lang="it-IT" sz="2800" dirty="0">
                <a:effectLst/>
                <a:latin typeface="Times New Roman" panose="02020603050405020304" pitchFamily="18" charset="0"/>
                <a:ea typeface="Times New Roman" panose="02020603050405020304" pitchFamily="18" charset="0"/>
              </a:rPr>
              <a:t> identificatore [= valore];</a:t>
            </a:r>
          </a:p>
          <a:p>
            <a:r>
              <a:rPr lang="it-IT" sz="2800" dirty="0">
                <a:effectLst/>
                <a:latin typeface="Times New Roman" panose="02020603050405020304" pitchFamily="18" charset="0"/>
                <a:ea typeface="Times New Roman" panose="02020603050405020304" pitchFamily="18" charset="0"/>
              </a:rPr>
              <a:t>Esempi:</a:t>
            </a:r>
          </a:p>
          <a:p>
            <a:pPr marL="0" indent="0">
              <a:buNone/>
            </a:pPr>
            <a:r>
              <a:rPr lang="it-IT" sz="2800" dirty="0">
                <a:solidFill>
                  <a:schemeClr val="accent5"/>
                </a:solidFill>
                <a:effectLst/>
                <a:latin typeface="Times New Roman" panose="02020603050405020304" pitchFamily="18" charset="0"/>
                <a:ea typeface="Times New Roman" panose="02020603050405020304" pitchFamily="18" charset="0"/>
              </a:rPr>
              <a:t>int anni;</a:t>
            </a:r>
          </a:p>
          <a:p>
            <a:pPr marL="0" indent="0">
              <a:buNone/>
            </a:pPr>
            <a:r>
              <a:rPr lang="it-IT" sz="2800" dirty="0">
                <a:solidFill>
                  <a:schemeClr val="accent5"/>
                </a:solidFill>
                <a:effectLst/>
                <a:latin typeface="Times New Roman" panose="02020603050405020304" pitchFamily="18" charset="0"/>
                <a:ea typeface="Times New Roman" panose="02020603050405020304" pitchFamily="18" charset="0"/>
              </a:rPr>
              <a:t>char lettera;</a:t>
            </a:r>
          </a:p>
          <a:p>
            <a:pPr marL="0" indent="0">
              <a:buNone/>
            </a:pPr>
            <a:r>
              <a:rPr lang="it-IT" sz="2800" dirty="0">
                <a:solidFill>
                  <a:schemeClr val="accent5"/>
                </a:solidFill>
                <a:effectLst/>
                <a:latin typeface="Times New Roman" panose="02020603050405020304" pitchFamily="18" charset="0"/>
                <a:ea typeface="Times New Roman" panose="02020603050405020304" pitchFamily="18" charset="0"/>
              </a:rPr>
              <a:t>double </a:t>
            </a:r>
            <a:r>
              <a:rPr lang="it-IT" sz="2800" dirty="0" err="1">
                <a:solidFill>
                  <a:schemeClr val="accent5"/>
                </a:solidFill>
                <a:effectLst/>
                <a:latin typeface="Times New Roman" panose="02020603050405020304" pitchFamily="18" charset="0"/>
                <a:ea typeface="Times New Roman" panose="02020603050405020304" pitchFamily="18" charset="0"/>
              </a:rPr>
              <a:t>tassoDiConversione</a:t>
            </a:r>
            <a:r>
              <a:rPr lang="it-IT" sz="2800" dirty="0">
                <a:solidFill>
                  <a:schemeClr val="accent5"/>
                </a:solidFill>
                <a:effectLst/>
                <a:latin typeface="Times New Roman" panose="02020603050405020304" pitchFamily="18" charset="0"/>
                <a:ea typeface="Times New Roman" panose="02020603050405020304" pitchFamily="18" charset="0"/>
              </a:rPr>
              <a:t>;</a:t>
            </a:r>
          </a:p>
          <a:p>
            <a:pPr marL="0" indent="0">
              <a:buNone/>
            </a:pPr>
            <a:r>
              <a:rPr lang="it-IT" sz="2800" dirty="0">
                <a:solidFill>
                  <a:schemeClr val="accent5"/>
                </a:solidFill>
                <a:effectLst/>
                <a:latin typeface="Times New Roman" panose="02020603050405020304" pitchFamily="18" charset="0"/>
                <a:ea typeface="Times New Roman" panose="02020603050405020304" pitchFamily="18" charset="0"/>
              </a:rPr>
              <a:t>int anni;</a:t>
            </a:r>
          </a:p>
          <a:p>
            <a:pPr marL="0" indent="0">
              <a:buNone/>
            </a:pPr>
            <a:r>
              <a:rPr lang="it-IT" sz="2800" dirty="0">
                <a:solidFill>
                  <a:schemeClr val="accent5"/>
                </a:solidFill>
                <a:effectLst/>
                <a:latin typeface="Times New Roman" panose="02020603050405020304" pitchFamily="18" charset="0"/>
                <a:ea typeface="Times New Roman" panose="02020603050405020304" pitchFamily="18" charset="0"/>
              </a:rPr>
              <a:t>int mesi;</a:t>
            </a:r>
          </a:p>
          <a:p>
            <a:pPr marL="0" indent="0">
              <a:buNone/>
            </a:pPr>
            <a:r>
              <a:rPr lang="it-IT" sz="2800" dirty="0">
                <a:solidFill>
                  <a:schemeClr val="accent5"/>
                </a:solidFill>
                <a:effectLst/>
                <a:latin typeface="Times New Roman" panose="02020603050405020304" pitchFamily="18" charset="0"/>
                <a:ea typeface="Times New Roman" panose="02020603050405020304" pitchFamily="18" charset="0"/>
              </a:rPr>
              <a:t>int anni, mesi;</a:t>
            </a:r>
          </a:p>
        </p:txBody>
      </p:sp>
    </p:spTree>
    <p:extLst>
      <p:ext uri="{BB962C8B-B14F-4D97-AF65-F5344CB8AC3E}">
        <p14:creationId xmlns:p14="http://schemas.microsoft.com/office/powerpoint/2010/main" val="1378175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Variabili: assegnazione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16</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836640"/>
            <a:ext cx="9144000" cy="5400750"/>
          </a:xfrm>
        </p:spPr>
        <p:txBody>
          <a:bodyPr>
            <a:noAutofit/>
          </a:bodyPr>
          <a:lstStyle/>
          <a:p>
            <a:r>
              <a:rPr lang="it-IT" sz="3200" dirty="0">
                <a:effectLst/>
                <a:latin typeface="Times New Roman" panose="02020603050405020304" pitchFamily="18" charset="0"/>
                <a:ea typeface="Times New Roman" panose="02020603050405020304" pitchFamily="18" charset="0"/>
              </a:rPr>
              <a:t>Esempi:</a:t>
            </a:r>
          </a:p>
          <a:p>
            <a:pPr marL="0" indent="0">
              <a:buNone/>
            </a:pPr>
            <a:r>
              <a:rPr lang="it-IT" sz="3200" dirty="0">
                <a:solidFill>
                  <a:schemeClr val="accent5"/>
                </a:solidFill>
                <a:effectLst/>
                <a:latin typeface="Times New Roman" panose="02020603050405020304" pitchFamily="18" charset="0"/>
                <a:ea typeface="Times New Roman" panose="02020603050405020304" pitchFamily="18" charset="0"/>
              </a:rPr>
              <a:t>anni = 16;</a:t>
            </a:r>
          </a:p>
          <a:p>
            <a:pPr marL="0" indent="0">
              <a:buNone/>
            </a:pPr>
            <a:r>
              <a:rPr lang="it-IT" sz="3200" dirty="0">
                <a:solidFill>
                  <a:schemeClr val="accent5"/>
                </a:solidFill>
                <a:effectLst/>
                <a:latin typeface="Times New Roman" panose="02020603050405020304" pitchFamily="18" charset="0"/>
                <a:ea typeface="Times New Roman" panose="02020603050405020304" pitchFamily="18" charset="0"/>
              </a:rPr>
              <a:t>mesi = 2;</a:t>
            </a:r>
          </a:p>
          <a:p>
            <a:pPr marL="0" indent="0">
              <a:buNone/>
            </a:pPr>
            <a:r>
              <a:rPr lang="it-IT" sz="3200" dirty="0">
                <a:solidFill>
                  <a:schemeClr val="accent5"/>
                </a:solidFill>
                <a:effectLst/>
                <a:latin typeface="Times New Roman" panose="02020603050405020304" pitchFamily="18" charset="0"/>
                <a:ea typeface="Times New Roman" panose="02020603050405020304" pitchFamily="18" charset="0"/>
              </a:rPr>
              <a:t>lettera = 'A';</a:t>
            </a:r>
          </a:p>
          <a:p>
            <a:pPr marL="0" indent="0">
              <a:buNone/>
            </a:pPr>
            <a:r>
              <a:rPr lang="it-IT" sz="3200" dirty="0" err="1">
                <a:solidFill>
                  <a:schemeClr val="accent5"/>
                </a:solidFill>
                <a:effectLst/>
                <a:latin typeface="Times New Roman" panose="02020603050405020304" pitchFamily="18" charset="0"/>
                <a:ea typeface="Times New Roman" panose="02020603050405020304" pitchFamily="18" charset="0"/>
              </a:rPr>
              <a:t>tassoDiConversione</a:t>
            </a:r>
            <a:r>
              <a:rPr lang="it-IT" sz="3200" dirty="0">
                <a:solidFill>
                  <a:schemeClr val="accent5"/>
                </a:solidFill>
                <a:effectLst/>
                <a:latin typeface="Times New Roman" panose="02020603050405020304" pitchFamily="18" charset="0"/>
                <a:ea typeface="Times New Roman" panose="02020603050405020304" pitchFamily="18" charset="0"/>
              </a:rPr>
              <a:t> = 1.1;</a:t>
            </a:r>
          </a:p>
          <a:p>
            <a:pPr marL="0" indent="0">
              <a:buNone/>
            </a:pPr>
            <a:r>
              <a:rPr lang="it-IT" sz="3200" dirty="0">
                <a:solidFill>
                  <a:schemeClr val="accent5"/>
                </a:solidFill>
                <a:effectLst/>
                <a:latin typeface="Times New Roman" panose="02020603050405020304" pitchFamily="18" charset="0"/>
                <a:ea typeface="Times New Roman" panose="02020603050405020304" pitchFamily="18" charset="0"/>
              </a:rPr>
              <a:t>int anni;</a:t>
            </a:r>
          </a:p>
          <a:p>
            <a:pPr marL="0" indent="0">
              <a:buNone/>
            </a:pPr>
            <a:r>
              <a:rPr lang="it-IT" sz="3200" dirty="0">
                <a:solidFill>
                  <a:schemeClr val="accent5"/>
                </a:solidFill>
                <a:effectLst/>
                <a:latin typeface="Times New Roman" panose="02020603050405020304" pitchFamily="18" charset="0"/>
                <a:ea typeface="Times New Roman" panose="02020603050405020304" pitchFamily="18" charset="0"/>
              </a:rPr>
              <a:t>anni = 16;</a:t>
            </a:r>
          </a:p>
          <a:p>
            <a:pPr marL="0" indent="0">
              <a:buNone/>
            </a:pPr>
            <a:r>
              <a:rPr lang="it-IT" sz="3200" dirty="0">
                <a:solidFill>
                  <a:schemeClr val="accent5"/>
                </a:solidFill>
                <a:effectLst/>
                <a:latin typeface="Times New Roman" panose="02020603050405020304" pitchFamily="18" charset="0"/>
                <a:ea typeface="Times New Roman" panose="02020603050405020304" pitchFamily="18" charset="0"/>
              </a:rPr>
              <a:t>int anni = 16;</a:t>
            </a:r>
          </a:p>
          <a:p>
            <a:pPr marL="0" indent="0">
              <a:buNone/>
            </a:pPr>
            <a:r>
              <a:rPr lang="it-IT" sz="3200" dirty="0">
                <a:solidFill>
                  <a:schemeClr val="accent5"/>
                </a:solidFill>
                <a:effectLst/>
                <a:latin typeface="Times New Roman" panose="02020603050405020304" pitchFamily="18" charset="0"/>
                <a:ea typeface="Times New Roman" panose="02020603050405020304" pitchFamily="18" charset="0"/>
              </a:rPr>
              <a:t>char </a:t>
            </a:r>
            <a:r>
              <a:rPr lang="it-IT" sz="3200" dirty="0" err="1">
                <a:solidFill>
                  <a:schemeClr val="accent5"/>
                </a:solidFill>
                <a:effectLst/>
                <a:latin typeface="Times New Roman" panose="02020603050405020304" pitchFamily="18" charset="0"/>
                <a:ea typeface="Times New Roman" panose="02020603050405020304" pitchFamily="18" charset="0"/>
              </a:rPr>
              <a:t>variabileNonInizializzata</a:t>
            </a:r>
            <a:r>
              <a:rPr lang="it-IT" sz="3200" dirty="0">
                <a:solidFill>
                  <a:schemeClr val="accent5"/>
                </a:solidFill>
                <a:effectLst/>
                <a:latin typeface="Times New Roman" panose="02020603050405020304" pitchFamily="18" charset="0"/>
                <a:ea typeface="Times New Roman" panose="02020603050405020304" pitchFamily="18" charset="0"/>
              </a:rPr>
              <a:t>;</a:t>
            </a:r>
          </a:p>
          <a:p>
            <a:pPr marL="0" indent="0">
              <a:buNone/>
            </a:pPr>
            <a:r>
              <a:rPr lang="it-IT" sz="3200" dirty="0">
                <a:solidFill>
                  <a:schemeClr val="accent5"/>
                </a:solidFill>
                <a:effectLst/>
                <a:latin typeface="Times New Roman" panose="02020603050405020304" pitchFamily="18" charset="0"/>
                <a:ea typeface="Times New Roman" panose="02020603050405020304" pitchFamily="18" charset="0"/>
              </a:rPr>
              <a:t>System.out.println(</a:t>
            </a:r>
            <a:r>
              <a:rPr lang="it-IT" sz="3200" dirty="0" err="1">
                <a:solidFill>
                  <a:schemeClr val="accent5"/>
                </a:solidFill>
                <a:effectLst/>
                <a:latin typeface="Times New Roman" panose="02020603050405020304" pitchFamily="18" charset="0"/>
                <a:ea typeface="Times New Roman" panose="02020603050405020304" pitchFamily="18" charset="0"/>
              </a:rPr>
              <a:t>variabileNonInizializzata</a:t>
            </a:r>
            <a:r>
              <a:rPr lang="it-IT" sz="3200" dirty="0">
                <a:solidFill>
                  <a:schemeClr val="accent5"/>
                </a:solidFill>
                <a:effectLst/>
                <a:latin typeface="Times New Roman" panose="02020603050405020304" pitchFamily="18" charset="0"/>
                <a:ea typeface="Times New Roman" panose="02020603050405020304" pitchFamily="18" charset="0"/>
              </a:rPr>
              <a:t>);</a:t>
            </a:r>
          </a:p>
          <a:p>
            <a:pPr marL="0" indent="0">
              <a:buNone/>
            </a:pPr>
            <a:endParaRPr lang="it-IT" sz="2800" dirty="0">
              <a:solidFill>
                <a:schemeClr val="accent5"/>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00324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Variabili: esempio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17</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980660"/>
            <a:ext cx="9144000" cy="5400750"/>
          </a:xfrm>
        </p:spPr>
        <p:txBody>
          <a:bodyPr>
            <a:noAutofit/>
          </a:bodyPr>
          <a:lstStyle/>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public class </a:t>
            </a:r>
            <a:r>
              <a:rPr lang="it-IT" dirty="0" err="1">
                <a:solidFill>
                  <a:schemeClr val="accent5"/>
                </a:solidFill>
                <a:effectLst/>
                <a:latin typeface="Times New Roman" panose="02020603050405020304" pitchFamily="18" charset="0"/>
                <a:ea typeface="Times New Roman" panose="02020603050405020304" pitchFamily="18" charset="0"/>
              </a:rPr>
              <a:t>VariazioniDiVariabile</a:t>
            </a:r>
            <a:r>
              <a:rPr lang="it-IT" dirty="0">
                <a:solidFill>
                  <a:schemeClr val="accent5"/>
                </a:solidFill>
                <a:effectLst/>
                <a:latin typeface="Times New Roman" panose="02020603050405020304" pitchFamily="18" charset="0"/>
                <a:ea typeface="Times New Roman" panose="02020603050405020304" pitchFamily="18" charset="0"/>
              </a:rPr>
              <a:t> {</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public static void main(String args[]) {</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double </a:t>
            </a:r>
            <a:r>
              <a:rPr lang="it-IT" dirty="0" err="1">
                <a:solidFill>
                  <a:schemeClr val="accent5"/>
                </a:solidFill>
                <a:effectLst/>
                <a:latin typeface="Times New Roman" panose="02020603050405020304" pitchFamily="18" charset="0"/>
                <a:ea typeface="Times New Roman" panose="02020603050405020304" pitchFamily="18" charset="0"/>
              </a:rPr>
              <a:t>tassoDiConversione</a:t>
            </a:r>
            <a:r>
              <a:rPr lang="it-IT" dirty="0">
                <a:solidFill>
                  <a:schemeClr val="accent5"/>
                </a:solidFill>
                <a:effectLst/>
                <a:latin typeface="Times New Roman" panose="02020603050405020304" pitchFamily="18" charset="0"/>
                <a:ea typeface="Times New Roman" panose="02020603050405020304" pitchFamily="18" charset="0"/>
              </a:rPr>
              <a:t> = 1.1;</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System.out.println("Valore attuale del tasso di conversione");</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System.out.println(</a:t>
            </a:r>
            <a:r>
              <a:rPr lang="it-IT" dirty="0" err="1">
                <a:solidFill>
                  <a:schemeClr val="accent5"/>
                </a:solidFill>
                <a:effectLst/>
                <a:latin typeface="Times New Roman" panose="02020603050405020304" pitchFamily="18" charset="0"/>
                <a:ea typeface="Times New Roman" panose="02020603050405020304" pitchFamily="18" charset="0"/>
              </a:rPr>
              <a:t>tassoDiConversione</a:t>
            </a:r>
            <a:r>
              <a:rPr lang="it-IT" dirty="0">
                <a:solidFill>
                  <a:schemeClr val="accent5"/>
                </a:solidFill>
                <a:effectLst/>
                <a:latin typeface="Times New Roman" panose="02020603050405020304" pitchFamily="18" charset="0"/>
                <a:ea typeface="Times New Roman" panose="02020603050405020304" pitchFamily="18" charset="0"/>
              </a:rPr>
              <a:t>);</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a:t>
            </a:r>
            <a:r>
              <a:rPr lang="it-IT" dirty="0" err="1">
                <a:solidFill>
                  <a:schemeClr val="accent5"/>
                </a:solidFill>
                <a:effectLst/>
                <a:latin typeface="Times New Roman" panose="02020603050405020304" pitchFamily="18" charset="0"/>
                <a:ea typeface="Times New Roman" panose="02020603050405020304" pitchFamily="18" charset="0"/>
              </a:rPr>
              <a:t>tassoDiConversione</a:t>
            </a:r>
            <a:r>
              <a:rPr lang="it-IT" dirty="0">
                <a:solidFill>
                  <a:schemeClr val="accent5"/>
                </a:solidFill>
                <a:effectLst/>
                <a:latin typeface="Times New Roman" panose="02020603050405020304" pitchFamily="18" charset="0"/>
                <a:ea typeface="Times New Roman" panose="02020603050405020304" pitchFamily="18" charset="0"/>
              </a:rPr>
              <a:t> = 1.3;</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System.out.println("Valore attuale del tasso di conversione");</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System.out.println(</a:t>
            </a:r>
            <a:r>
              <a:rPr lang="it-IT" dirty="0" err="1">
                <a:solidFill>
                  <a:schemeClr val="accent5"/>
                </a:solidFill>
                <a:effectLst/>
                <a:latin typeface="Times New Roman" panose="02020603050405020304" pitchFamily="18" charset="0"/>
                <a:ea typeface="Times New Roman" panose="02020603050405020304" pitchFamily="18" charset="0"/>
              </a:rPr>
              <a:t>tassoDiConversione</a:t>
            </a:r>
            <a:r>
              <a:rPr lang="it-IT" dirty="0">
                <a:solidFill>
                  <a:schemeClr val="accent5"/>
                </a:solidFill>
                <a:effectLst/>
                <a:latin typeface="Times New Roman" panose="02020603050405020304" pitchFamily="18" charset="0"/>
                <a:ea typeface="Times New Roman" panose="02020603050405020304" pitchFamily="18" charset="0"/>
              </a:rPr>
              <a:t>);</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a:t>
            </a:r>
            <a:r>
              <a:rPr lang="it-IT" dirty="0" err="1">
                <a:solidFill>
                  <a:schemeClr val="accent5"/>
                </a:solidFill>
                <a:effectLst/>
                <a:latin typeface="Times New Roman" panose="02020603050405020304" pitchFamily="18" charset="0"/>
                <a:ea typeface="Times New Roman" panose="02020603050405020304" pitchFamily="18" charset="0"/>
              </a:rPr>
              <a:t>tassoDiConversione</a:t>
            </a:r>
            <a:r>
              <a:rPr lang="it-IT" dirty="0">
                <a:solidFill>
                  <a:schemeClr val="accent5"/>
                </a:solidFill>
                <a:effectLst/>
                <a:latin typeface="Times New Roman" panose="02020603050405020304" pitchFamily="18" charset="0"/>
                <a:ea typeface="Times New Roman" panose="02020603050405020304" pitchFamily="18" charset="0"/>
              </a:rPr>
              <a:t> = </a:t>
            </a:r>
            <a:r>
              <a:rPr lang="it-IT" dirty="0" err="1">
                <a:solidFill>
                  <a:schemeClr val="accent5"/>
                </a:solidFill>
                <a:effectLst/>
                <a:latin typeface="Times New Roman" panose="02020603050405020304" pitchFamily="18" charset="0"/>
                <a:ea typeface="Times New Roman" panose="02020603050405020304" pitchFamily="18" charset="0"/>
              </a:rPr>
              <a:t>tassoDiConversione</a:t>
            </a:r>
            <a:r>
              <a:rPr lang="it-IT" dirty="0">
                <a:solidFill>
                  <a:schemeClr val="accent5"/>
                </a:solidFill>
                <a:effectLst/>
                <a:latin typeface="Times New Roman" panose="02020603050405020304" pitchFamily="18" charset="0"/>
                <a:ea typeface="Times New Roman" panose="02020603050405020304" pitchFamily="18" charset="0"/>
              </a:rPr>
              <a:t> - 0.3;</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System.out.println("Valore attuale del tasso di conversione");</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System.out.println(</a:t>
            </a:r>
            <a:r>
              <a:rPr lang="it-IT" dirty="0" err="1">
                <a:solidFill>
                  <a:schemeClr val="accent5"/>
                </a:solidFill>
                <a:effectLst/>
                <a:latin typeface="Times New Roman" panose="02020603050405020304" pitchFamily="18" charset="0"/>
                <a:ea typeface="Times New Roman" panose="02020603050405020304" pitchFamily="18" charset="0"/>
              </a:rPr>
              <a:t>tassoDiConversione</a:t>
            </a:r>
            <a:r>
              <a:rPr lang="it-IT" dirty="0">
                <a:solidFill>
                  <a:schemeClr val="accent5"/>
                </a:solidFill>
                <a:effectLst/>
                <a:latin typeface="Times New Roman" panose="02020603050405020304" pitchFamily="18" charset="0"/>
                <a:ea typeface="Times New Roman" panose="02020603050405020304" pitchFamily="18" charset="0"/>
              </a:rPr>
              <a:t>);</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a:t>
            </a:r>
          </a:p>
          <a:p>
            <a:pPr marL="0" indent="0">
              <a:buNone/>
            </a:pPr>
            <a:endParaRPr lang="it-IT" dirty="0">
              <a:solidFill>
                <a:schemeClr val="accent5"/>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30720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1196690"/>
          </a:xfrm>
        </p:spPr>
        <p:txBody>
          <a:bodyPr/>
          <a:lstStyle/>
          <a:p>
            <a:r>
              <a:rPr lang="it-IT" dirty="0"/>
              <a:t>Metodi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18</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1196691"/>
            <a:ext cx="9144000" cy="4980272"/>
          </a:xfrm>
        </p:spPr>
        <p:txBody>
          <a:bodyPr>
            <a:normAutofit fontScale="40000" lnSpcReduction="20000"/>
          </a:bodyPr>
          <a:lstStyle/>
          <a:p>
            <a:r>
              <a:rPr lang="it-IT" sz="6700" dirty="0"/>
              <a:t>Funzionalità definite da una sequenza di istruzioni</a:t>
            </a:r>
          </a:p>
          <a:p>
            <a:r>
              <a:rPr lang="it-IT" sz="6700" dirty="0"/>
              <a:t>Tutte le istruzioni che abbiamo eseguito con i nostri programmi erano contenute nel </a:t>
            </a:r>
            <a:r>
              <a:rPr lang="it-IT" sz="6700" i="1" dirty="0"/>
              <a:t>main</a:t>
            </a:r>
          </a:p>
          <a:p>
            <a:r>
              <a:rPr lang="it-IT" sz="6700" dirty="0"/>
              <a:t>È possibile anche dichiarare altri metodi con nomi e caratteristiche diverse</a:t>
            </a:r>
          </a:p>
          <a:p>
            <a:r>
              <a:rPr lang="it-IT" sz="6700" dirty="0"/>
              <a:t>Una volta definito un metodo, questo potrà essere invocato più volte. Invocare un metodo, significa eseguire la sequenza di istruzioni che definisce.</a:t>
            </a:r>
          </a:p>
          <a:p>
            <a:r>
              <a:rPr lang="it-IT" sz="6700" dirty="0"/>
              <a:t>Quindi, supponiamo ci serva eseguire più volte, in parti diverse del nostro codice, una certa sequenza di istruzioni, non sarà necessario riscriverle, ma bisognerà solamente invocare il metodo che le contiene nel momento in cui serve</a:t>
            </a:r>
          </a:p>
          <a:p>
            <a:r>
              <a:rPr lang="it-IT" sz="6700" dirty="0"/>
              <a:t>Concettualmente quindi, un metodo rappresenta una funzionalità, e di conseguenza il suo nome solitamente contiene un verbo</a:t>
            </a:r>
          </a:p>
          <a:p>
            <a:endParaRPr lang="it-IT" sz="3600" dirty="0"/>
          </a:p>
        </p:txBody>
      </p:sp>
    </p:spTree>
    <p:extLst>
      <p:ext uri="{BB962C8B-B14F-4D97-AF65-F5344CB8AC3E}">
        <p14:creationId xmlns:p14="http://schemas.microsoft.com/office/powerpoint/2010/main" val="3592047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1052669"/>
          </a:xfrm>
        </p:spPr>
        <p:txBody>
          <a:bodyPr/>
          <a:lstStyle/>
          <a:p>
            <a:r>
              <a:rPr lang="it-IT" dirty="0"/>
              <a:t>Metodi: dichiarazione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19</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980660"/>
            <a:ext cx="9144000" cy="5124293"/>
          </a:xfrm>
        </p:spPr>
        <p:txBody>
          <a:bodyPr>
            <a:noAutofit/>
          </a:bodyPr>
          <a:lstStyle/>
          <a:p>
            <a:pPr marL="0" indent="0">
              <a:buNone/>
            </a:pPr>
            <a:r>
              <a:rPr lang="it-IT" b="1" dirty="0">
                <a:solidFill>
                  <a:schemeClr val="accent5"/>
                </a:solidFill>
              </a:rPr>
              <a:t>[modificatori] </a:t>
            </a:r>
            <a:r>
              <a:rPr lang="it-IT" b="1" dirty="0" err="1">
                <a:solidFill>
                  <a:schemeClr val="accent5"/>
                </a:solidFill>
              </a:rPr>
              <a:t>tipo_di_ritorno</a:t>
            </a:r>
            <a:r>
              <a:rPr lang="it-IT" b="1" dirty="0">
                <a:solidFill>
                  <a:schemeClr val="accent5"/>
                </a:solidFill>
              </a:rPr>
              <a:t> identificatore ([parametri]) {</a:t>
            </a:r>
            <a:r>
              <a:rPr lang="it-IT" b="1" dirty="0" err="1">
                <a:solidFill>
                  <a:schemeClr val="accent5"/>
                </a:solidFill>
              </a:rPr>
              <a:t>corpo_del_metodo</a:t>
            </a:r>
            <a:r>
              <a:rPr lang="it-IT" b="1" dirty="0">
                <a:solidFill>
                  <a:schemeClr val="accent5"/>
                </a:solidFill>
              </a:rPr>
              <a:t>}</a:t>
            </a:r>
          </a:p>
          <a:p>
            <a:r>
              <a:rPr lang="it-IT" b="1" dirty="0"/>
              <a:t>Lista di modificatori</a:t>
            </a:r>
            <a:r>
              <a:rPr lang="it-IT" dirty="0"/>
              <a:t>. Dipendono da vari fattori. </a:t>
            </a:r>
          </a:p>
          <a:p>
            <a:r>
              <a:rPr lang="it-IT" b="1" dirty="0"/>
              <a:t>Tipo di ritorno</a:t>
            </a:r>
            <a:r>
              <a:rPr lang="it-IT" dirty="0"/>
              <a:t>. Ogni metodo può ritornare un valore di un certo tipo. Se non ritorna valori (come nel caso del </a:t>
            </a:r>
            <a:r>
              <a:rPr lang="it-IT" i="1" dirty="0"/>
              <a:t>main</a:t>
            </a:r>
            <a:r>
              <a:rPr lang="it-IT" dirty="0"/>
              <a:t>), come tipo di ritorno viene usata la parola chiave di Java </a:t>
            </a:r>
            <a:r>
              <a:rPr lang="it-IT" i="1" dirty="0"/>
              <a:t>void</a:t>
            </a:r>
            <a:r>
              <a:rPr lang="it-IT" dirty="0"/>
              <a:t> (in inglese “vuoto”). Altrimenti bisogna specificare il tipo di questo valore (</a:t>
            </a:r>
            <a:r>
              <a:rPr lang="it-IT" i="1" dirty="0"/>
              <a:t>int</a:t>
            </a:r>
            <a:r>
              <a:rPr lang="it-IT" dirty="0"/>
              <a:t>, </a:t>
            </a:r>
            <a:r>
              <a:rPr lang="it-IT" i="1" dirty="0"/>
              <a:t>double</a:t>
            </a:r>
            <a:r>
              <a:rPr lang="it-IT" dirty="0"/>
              <a:t> etc.)</a:t>
            </a:r>
          </a:p>
          <a:p>
            <a:r>
              <a:rPr lang="it-IT" b="1" dirty="0"/>
              <a:t>Identificatore</a:t>
            </a:r>
            <a:r>
              <a:rPr lang="it-IT" dirty="0"/>
              <a:t>. È il nome del metodo e deve essere significativo;</a:t>
            </a:r>
          </a:p>
          <a:p>
            <a:r>
              <a:rPr lang="it-IT" b="1" dirty="0"/>
              <a:t>Parametri</a:t>
            </a:r>
            <a:r>
              <a:rPr lang="it-IT" dirty="0"/>
              <a:t> o </a:t>
            </a:r>
            <a:r>
              <a:rPr lang="it-IT" b="1" dirty="0"/>
              <a:t>argomenti</a:t>
            </a:r>
            <a:r>
              <a:rPr lang="it-IT" dirty="0"/>
              <a:t>. Una coppia di parentesi tonde con all’interno una lista di parametri (opzionale), ovvero dichiarazioni di variabili separate da virgole. Tali parametri possono contenere informazioni (valori) che possono essere passati al metodo quando esso viene invocato, e rappresentano quindi l’</a:t>
            </a:r>
            <a:r>
              <a:rPr lang="it-IT" b="1" dirty="0"/>
              <a:t>input</a:t>
            </a:r>
            <a:r>
              <a:rPr lang="it-IT" dirty="0"/>
              <a:t> del metodo</a:t>
            </a:r>
          </a:p>
          <a:p>
            <a:r>
              <a:rPr lang="it-IT" b="1" dirty="0"/>
              <a:t>Corpo del metodo</a:t>
            </a:r>
            <a:r>
              <a:rPr lang="it-IT" dirty="0"/>
              <a:t> (compreso tra parentesi graffe): insieme di istruzioni che verranno eseguite quando il metodo sarà invocato.</a:t>
            </a:r>
          </a:p>
        </p:txBody>
      </p:sp>
    </p:spTree>
    <p:extLst>
      <p:ext uri="{BB962C8B-B14F-4D97-AF65-F5344CB8AC3E}">
        <p14:creationId xmlns:p14="http://schemas.microsoft.com/office/powerpoint/2010/main" val="2268771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Metodi: esempio di refactoring</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20</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980660"/>
            <a:ext cx="9144000" cy="5400750"/>
          </a:xfrm>
        </p:spPr>
        <p:txBody>
          <a:bodyPr>
            <a:noAutofit/>
          </a:bodyPr>
          <a:lstStyle/>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public class </a:t>
            </a:r>
            <a:r>
              <a:rPr lang="it-IT" dirty="0" err="1">
                <a:solidFill>
                  <a:schemeClr val="accent5"/>
                </a:solidFill>
                <a:effectLst/>
                <a:latin typeface="Times New Roman" panose="02020603050405020304" pitchFamily="18" charset="0"/>
                <a:ea typeface="Times New Roman" panose="02020603050405020304" pitchFamily="18" charset="0"/>
              </a:rPr>
              <a:t>VariazioniDiVariabile</a:t>
            </a:r>
            <a:r>
              <a:rPr lang="it-IT" dirty="0">
                <a:solidFill>
                  <a:schemeClr val="accent5"/>
                </a:solidFill>
                <a:effectLst/>
                <a:latin typeface="Times New Roman" panose="02020603050405020304" pitchFamily="18" charset="0"/>
                <a:ea typeface="Times New Roman" panose="02020603050405020304" pitchFamily="18" charset="0"/>
              </a:rPr>
              <a:t> {</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public static void main(String args[]) {</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double </a:t>
            </a:r>
            <a:r>
              <a:rPr lang="it-IT" dirty="0" err="1">
                <a:solidFill>
                  <a:schemeClr val="accent5"/>
                </a:solidFill>
                <a:effectLst/>
                <a:latin typeface="Times New Roman" panose="02020603050405020304" pitchFamily="18" charset="0"/>
                <a:ea typeface="Times New Roman" panose="02020603050405020304" pitchFamily="18" charset="0"/>
              </a:rPr>
              <a:t>tassoDiConversione</a:t>
            </a:r>
            <a:r>
              <a:rPr lang="it-IT" dirty="0">
                <a:solidFill>
                  <a:schemeClr val="accent5"/>
                </a:solidFill>
                <a:effectLst/>
                <a:latin typeface="Times New Roman" panose="02020603050405020304" pitchFamily="18" charset="0"/>
                <a:ea typeface="Times New Roman" panose="02020603050405020304" pitchFamily="18" charset="0"/>
              </a:rPr>
              <a:t> = 1.1;</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a:t>
            </a:r>
            <a:r>
              <a:rPr lang="it-IT" b="1" dirty="0">
                <a:solidFill>
                  <a:schemeClr val="accent5"/>
                </a:solidFill>
                <a:effectLst/>
                <a:latin typeface="Times New Roman" panose="02020603050405020304" pitchFamily="18" charset="0"/>
                <a:ea typeface="Times New Roman" panose="02020603050405020304" pitchFamily="18" charset="0"/>
              </a:rPr>
              <a:t>System.out.println("Valore attuale del tasso di conversione");</a:t>
            </a:r>
          </a:p>
          <a:p>
            <a:pPr marL="0" indent="0">
              <a:buNone/>
            </a:pPr>
            <a:r>
              <a:rPr lang="it-IT" b="1" dirty="0">
                <a:solidFill>
                  <a:schemeClr val="accent5"/>
                </a:solidFill>
                <a:effectLst/>
                <a:latin typeface="Times New Roman" panose="02020603050405020304" pitchFamily="18" charset="0"/>
                <a:ea typeface="Times New Roman" panose="02020603050405020304" pitchFamily="18" charset="0"/>
              </a:rPr>
              <a:t>        System.out.println(</a:t>
            </a:r>
            <a:r>
              <a:rPr lang="it-IT" b="1" dirty="0" err="1">
                <a:solidFill>
                  <a:schemeClr val="accent5"/>
                </a:solidFill>
                <a:effectLst/>
                <a:latin typeface="Times New Roman" panose="02020603050405020304" pitchFamily="18" charset="0"/>
                <a:ea typeface="Times New Roman" panose="02020603050405020304" pitchFamily="18" charset="0"/>
              </a:rPr>
              <a:t>tassoDiConversione</a:t>
            </a:r>
            <a:r>
              <a:rPr lang="it-IT" b="1" dirty="0">
                <a:solidFill>
                  <a:schemeClr val="accent5"/>
                </a:solidFill>
                <a:effectLst/>
                <a:latin typeface="Times New Roman" panose="02020603050405020304" pitchFamily="18" charset="0"/>
                <a:ea typeface="Times New Roman" panose="02020603050405020304" pitchFamily="18" charset="0"/>
              </a:rPr>
              <a:t>);</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a:t>
            </a:r>
            <a:r>
              <a:rPr lang="it-IT" dirty="0" err="1">
                <a:solidFill>
                  <a:schemeClr val="accent5"/>
                </a:solidFill>
                <a:effectLst/>
                <a:latin typeface="Times New Roman" panose="02020603050405020304" pitchFamily="18" charset="0"/>
                <a:ea typeface="Times New Roman" panose="02020603050405020304" pitchFamily="18" charset="0"/>
              </a:rPr>
              <a:t>tassoDiConversione</a:t>
            </a:r>
            <a:r>
              <a:rPr lang="it-IT" dirty="0">
                <a:solidFill>
                  <a:schemeClr val="accent5"/>
                </a:solidFill>
                <a:effectLst/>
                <a:latin typeface="Times New Roman" panose="02020603050405020304" pitchFamily="18" charset="0"/>
                <a:ea typeface="Times New Roman" panose="02020603050405020304" pitchFamily="18" charset="0"/>
              </a:rPr>
              <a:t> = 1.3;</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a:t>
            </a:r>
            <a:r>
              <a:rPr lang="it-IT" b="1" dirty="0">
                <a:solidFill>
                  <a:schemeClr val="accent5"/>
                </a:solidFill>
                <a:effectLst/>
                <a:latin typeface="Times New Roman" panose="02020603050405020304" pitchFamily="18" charset="0"/>
                <a:ea typeface="Times New Roman" panose="02020603050405020304" pitchFamily="18" charset="0"/>
              </a:rPr>
              <a:t>System.out.println("Valore attuale del tasso di conversione");</a:t>
            </a:r>
          </a:p>
          <a:p>
            <a:pPr marL="0" indent="0">
              <a:buNone/>
            </a:pPr>
            <a:r>
              <a:rPr lang="it-IT" b="1" dirty="0">
                <a:solidFill>
                  <a:schemeClr val="accent5"/>
                </a:solidFill>
                <a:effectLst/>
                <a:latin typeface="Times New Roman" panose="02020603050405020304" pitchFamily="18" charset="0"/>
                <a:ea typeface="Times New Roman" panose="02020603050405020304" pitchFamily="18" charset="0"/>
              </a:rPr>
              <a:t>        System.out.println(</a:t>
            </a:r>
            <a:r>
              <a:rPr lang="it-IT" b="1" dirty="0" err="1">
                <a:solidFill>
                  <a:schemeClr val="accent5"/>
                </a:solidFill>
                <a:effectLst/>
                <a:latin typeface="Times New Roman" panose="02020603050405020304" pitchFamily="18" charset="0"/>
                <a:ea typeface="Times New Roman" panose="02020603050405020304" pitchFamily="18" charset="0"/>
              </a:rPr>
              <a:t>tassoDiConversione</a:t>
            </a:r>
            <a:r>
              <a:rPr lang="it-IT" b="1" dirty="0">
                <a:solidFill>
                  <a:schemeClr val="accent5"/>
                </a:solidFill>
                <a:effectLst/>
                <a:latin typeface="Times New Roman" panose="02020603050405020304" pitchFamily="18" charset="0"/>
                <a:ea typeface="Times New Roman" panose="02020603050405020304" pitchFamily="18" charset="0"/>
              </a:rPr>
              <a:t>);</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a:t>
            </a:r>
            <a:r>
              <a:rPr lang="it-IT" dirty="0" err="1">
                <a:solidFill>
                  <a:schemeClr val="accent5"/>
                </a:solidFill>
                <a:effectLst/>
                <a:latin typeface="Times New Roman" panose="02020603050405020304" pitchFamily="18" charset="0"/>
                <a:ea typeface="Times New Roman" panose="02020603050405020304" pitchFamily="18" charset="0"/>
              </a:rPr>
              <a:t>tassoDiConversione</a:t>
            </a:r>
            <a:r>
              <a:rPr lang="it-IT" dirty="0">
                <a:solidFill>
                  <a:schemeClr val="accent5"/>
                </a:solidFill>
                <a:effectLst/>
                <a:latin typeface="Times New Roman" panose="02020603050405020304" pitchFamily="18" charset="0"/>
                <a:ea typeface="Times New Roman" panose="02020603050405020304" pitchFamily="18" charset="0"/>
              </a:rPr>
              <a:t> = </a:t>
            </a:r>
            <a:r>
              <a:rPr lang="it-IT" dirty="0" err="1">
                <a:solidFill>
                  <a:schemeClr val="accent5"/>
                </a:solidFill>
                <a:effectLst/>
                <a:latin typeface="Times New Roman" panose="02020603050405020304" pitchFamily="18" charset="0"/>
                <a:ea typeface="Times New Roman" panose="02020603050405020304" pitchFamily="18" charset="0"/>
              </a:rPr>
              <a:t>tassoDiConversione</a:t>
            </a:r>
            <a:r>
              <a:rPr lang="it-IT" dirty="0">
                <a:solidFill>
                  <a:schemeClr val="accent5"/>
                </a:solidFill>
                <a:effectLst/>
                <a:latin typeface="Times New Roman" panose="02020603050405020304" pitchFamily="18" charset="0"/>
                <a:ea typeface="Times New Roman" panose="02020603050405020304" pitchFamily="18" charset="0"/>
              </a:rPr>
              <a:t> - 0.3;</a:t>
            </a:r>
          </a:p>
          <a:p>
            <a:pPr marL="0" indent="0">
              <a:buNone/>
            </a:pPr>
            <a:r>
              <a:rPr lang="it-IT" b="1" dirty="0">
                <a:solidFill>
                  <a:schemeClr val="accent5"/>
                </a:solidFill>
                <a:effectLst/>
                <a:latin typeface="Times New Roman" panose="02020603050405020304" pitchFamily="18" charset="0"/>
                <a:ea typeface="Times New Roman" panose="02020603050405020304" pitchFamily="18" charset="0"/>
              </a:rPr>
              <a:t>        System.out.println("Valore attuale del tasso di conversione");</a:t>
            </a:r>
          </a:p>
          <a:p>
            <a:pPr marL="0" indent="0">
              <a:buNone/>
            </a:pPr>
            <a:r>
              <a:rPr lang="it-IT" b="1" dirty="0">
                <a:solidFill>
                  <a:schemeClr val="accent5"/>
                </a:solidFill>
                <a:effectLst/>
                <a:latin typeface="Times New Roman" panose="02020603050405020304" pitchFamily="18" charset="0"/>
                <a:ea typeface="Times New Roman" panose="02020603050405020304" pitchFamily="18" charset="0"/>
              </a:rPr>
              <a:t>        System.out.println(</a:t>
            </a:r>
            <a:r>
              <a:rPr lang="it-IT" b="1" dirty="0" err="1">
                <a:solidFill>
                  <a:schemeClr val="accent5"/>
                </a:solidFill>
                <a:effectLst/>
                <a:latin typeface="Times New Roman" panose="02020603050405020304" pitchFamily="18" charset="0"/>
                <a:ea typeface="Times New Roman" panose="02020603050405020304" pitchFamily="18" charset="0"/>
              </a:rPr>
              <a:t>tassoDiConversione</a:t>
            </a:r>
            <a:r>
              <a:rPr lang="it-IT" b="1" dirty="0">
                <a:solidFill>
                  <a:schemeClr val="accent5"/>
                </a:solidFill>
                <a:effectLst/>
                <a:latin typeface="Times New Roman" panose="02020603050405020304" pitchFamily="18" charset="0"/>
                <a:ea typeface="Times New Roman" panose="02020603050405020304" pitchFamily="18" charset="0"/>
              </a:rPr>
              <a:t>);</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    }</a:t>
            </a:r>
          </a:p>
          <a:p>
            <a:pPr marL="0" indent="0">
              <a:buNone/>
            </a:pPr>
            <a:r>
              <a:rPr lang="it-IT" dirty="0">
                <a:solidFill>
                  <a:schemeClr val="accent5"/>
                </a:solidFill>
                <a:effectLst/>
                <a:latin typeface="Times New Roman" panose="02020603050405020304" pitchFamily="18" charset="0"/>
                <a:ea typeface="Times New Roman" panose="02020603050405020304" pitchFamily="18" charset="0"/>
              </a:rPr>
              <a:t>}</a:t>
            </a:r>
          </a:p>
          <a:p>
            <a:pPr marL="0" indent="0">
              <a:buNone/>
            </a:pPr>
            <a:endParaRPr lang="it-IT" dirty="0">
              <a:solidFill>
                <a:schemeClr val="accent5"/>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55161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Metodi: esempio di refactoring</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21</a:t>
            </a:fld>
            <a:endParaRPr lang="it-IT"/>
          </a:p>
        </p:txBody>
      </p:sp>
      <p:sp>
        <p:nvSpPr>
          <p:cNvPr id="10" name="Segnaposto contenuto 9">
            <a:extLst>
              <a:ext uri="{FF2B5EF4-FFF2-40B4-BE49-F238E27FC236}">
                <a16:creationId xmlns:a16="http://schemas.microsoft.com/office/drawing/2014/main" id="{A3EF61EC-9655-49FA-9810-2704A9418A1C}"/>
              </a:ext>
            </a:extLst>
          </p:cNvPr>
          <p:cNvSpPr>
            <a:spLocks noGrp="1"/>
          </p:cNvSpPr>
          <p:nvPr>
            <p:ph idx="1"/>
          </p:nvPr>
        </p:nvSpPr>
        <p:spPr>
          <a:xfrm>
            <a:off x="0" y="980660"/>
            <a:ext cx="9144000" cy="5400750"/>
          </a:xfrm>
        </p:spPr>
        <p:txBody>
          <a:bodyPr>
            <a:noAutofit/>
          </a:bodyPr>
          <a:lstStyle/>
          <a:p>
            <a:pPr marL="0" indent="0">
              <a:buNone/>
            </a:pPr>
            <a:r>
              <a:rPr lang="it-IT" sz="2300" dirty="0">
                <a:solidFill>
                  <a:schemeClr val="accent5"/>
                </a:solidFill>
                <a:effectLst/>
                <a:latin typeface="Times New Roman" panose="02020603050405020304" pitchFamily="18" charset="0"/>
                <a:ea typeface="Times New Roman" panose="02020603050405020304" pitchFamily="18" charset="0"/>
              </a:rPr>
              <a:t>public class </a:t>
            </a:r>
            <a:r>
              <a:rPr lang="it-IT" sz="2300" dirty="0" err="1">
                <a:solidFill>
                  <a:schemeClr val="accent5"/>
                </a:solidFill>
                <a:effectLst/>
                <a:latin typeface="Times New Roman" panose="02020603050405020304" pitchFamily="18" charset="0"/>
                <a:ea typeface="Times New Roman" panose="02020603050405020304" pitchFamily="18" charset="0"/>
              </a:rPr>
              <a:t>VariazioniDiVariabile</a:t>
            </a:r>
            <a:r>
              <a:rPr lang="it-IT" sz="2300" dirty="0">
                <a:solidFill>
                  <a:schemeClr val="accent5"/>
                </a:solidFill>
                <a:effectLst/>
                <a:latin typeface="Times New Roman" panose="02020603050405020304" pitchFamily="18" charset="0"/>
                <a:ea typeface="Times New Roman" panose="02020603050405020304" pitchFamily="18" charset="0"/>
              </a:rPr>
              <a:t> {</a:t>
            </a:r>
          </a:p>
          <a:p>
            <a:pPr marL="0" indent="0">
              <a:buNone/>
            </a:pPr>
            <a:r>
              <a:rPr lang="it-IT" sz="2300" dirty="0">
                <a:solidFill>
                  <a:schemeClr val="accent5"/>
                </a:solidFill>
                <a:effectLst/>
                <a:latin typeface="Times New Roman" panose="02020603050405020304" pitchFamily="18" charset="0"/>
                <a:ea typeface="Times New Roman" panose="02020603050405020304" pitchFamily="18" charset="0"/>
              </a:rPr>
              <a:t>    public static void main(String args[]) {</a:t>
            </a:r>
          </a:p>
          <a:p>
            <a:pPr marL="0" indent="0">
              <a:buNone/>
            </a:pPr>
            <a:r>
              <a:rPr lang="it-IT" sz="2300" dirty="0">
                <a:solidFill>
                  <a:schemeClr val="accent5"/>
                </a:solidFill>
                <a:effectLst/>
                <a:latin typeface="Times New Roman" panose="02020603050405020304" pitchFamily="18" charset="0"/>
                <a:ea typeface="Times New Roman" panose="02020603050405020304" pitchFamily="18" charset="0"/>
              </a:rPr>
              <a:t>        double </a:t>
            </a:r>
            <a:r>
              <a:rPr lang="it-IT" sz="2300" dirty="0" err="1">
                <a:solidFill>
                  <a:schemeClr val="accent5"/>
                </a:solidFill>
                <a:effectLst/>
                <a:latin typeface="Times New Roman" panose="02020603050405020304" pitchFamily="18" charset="0"/>
                <a:ea typeface="Times New Roman" panose="02020603050405020304" pitchFamily="18" charset="0"/>
              </a:rPr>
              <a:t>tassoDiConversione</a:t>
            </a:r>
            <a:r>
              <a:rPr lang="it-IT" sz="2300" dirty="0">
                <a:solidFill>
                  <a:schemeClr val="accent5"/>
                </a:solidFill>
                <a:effectLst/>
                <a:latin typeface="Times New Roman" panose="02020603050405020304" pitchFamily="18" charset="0"/>
                <a:ea typeface="Times New Roman" panose="02020603050405020304" pitchFamily="18" charset="0"/>
              </a:rPr>
              <a:t> = 1.1;</a:t>
            </a:r>
          </a:p>
          <a:p>
            <a:pPr marL="0" indent="0">
              <a:buNone/>
            </a:pPr>
            <a:r>
              <a:rPr lang="it-IT" sz="2300" dirty="0">
                <a:solidFill>
                  <a:schemeClr val="accent5"/>
                </a:solidFill>
                <a:effectLst/>
                <a:latin typeface="Times New Roman" panose="02020603050405020304" pitchFamily="18" charset="0"/>
                <a:ea typeface="Times New Roman" panose="02020603050405020304" pitchFamily="18" charset="0"/>
              </a:rPr>
              <a:t>        </a:t>
            </a:r>
            <a:r>
              <a:rPr lang="it-IT" sz="2300" b="1" dirty="0" err="1">
                <a:solidFill>
                  <a:schemeClr val="accent5"/>
                </a:solidFill>
                <a:effectLst/>
                <a:latin typeface="Times New Roman" panose="02020603050405020304" pitchFamily="18" charset="0"/>
                <a:ea typeface="Times New Roman" panose="02020603050405020304" pitchFamily="18" charset="0"/>
              </a:rPr>
              <a:t>stampaTassoDiConversione</a:t>
            </a:r>
            <a:r>
              <a:rPr lang="it-IT" sz="2300" b="1" dirty="0">
                <a:solidFill>
                  <a:schemeClr val="accent5"/>
                </a:solidFill>
                <a:effectLst/>
                <a:latin typeface="Times New Roman" panose="02020603050405020304" pitchFamily="18" charset="0"/>
                <a:ea typeface="Times New Roman" panose="02020603050405020304" pitchFamily="18" charset="0"/>
              </a:rPr>
              <a:t>(</a:t>
            </a:r>
            <a:r>
              <a:rPr lang="it-IT" sz="2300" b="1" dirty="0" err="1">
                <a:solidFill>
                  <a:schemeClr val="accent5"/>
                </a:solidFill>
                <a:effectLst/>
                <a:latin typeface="Times New Roman" panose="02020603050405020304" pitchFamily="18" charset="0"/>
                <a:ea typeface="Times New Roman" panose="02020603050405020304" pitchFamily="18" charset="0"/>
              </a:rPr>
              <a:t>tassoDiConversione</a:t>
            </a:r>
            <a:r>
              <a:rPr lang="it-IT" sz="2300" b="1" dirty="0">
                <a:solidFill>
                  <a:schemeClr val="accent5"/>
                </a:solidFill>
                <a:effectLst/>
                <a:latin typeface="Times New Roman" panose="02020603050405020304" pitchFamily="18" charset="0"/>
                <a:ea typeface="Times New Roman" panose="02020603050405020304" pitchFamily="18" charset="0"/>
              </a:rPr>
              <a:t>);</a:t>
            </a:r>
          </a:p>
          <a:p>
            <a:pPr marL="0" indent="0">
              <a:buNone/>
            </a:pPr>
            <a:r>
              <a:rPr lang="it-IT" sz="2300" dirty="0">
                <a:solidFill>
                  <a:schemeClr val="accent5"/>
                </a:solidFill>
                <a:effectLst/>
                <a:latin typeface="Times New Roman" panose="02020603050405020304" pitchFamily="18" charset="0"/>
                <a:ea typeface="Times New Roman" panose="02020603050405020304" pitchFamily="18" charset="0"/>
              </a:rPr>
              <a:t>        </a:t>
            </a:r>
            <a:r>
              <a:rPr lang="it-IT" sz="2300" dirty="0" err="1">
                <a:solidFill>
                  <a:schemeClr val="accent5"/>
                </a:solidFill>
                <a:effectLst/>
                <a:latin typeface="Times New Roman" panose="02020603050405020304" pitchFamily="18" charset="0"/>
                <a:ea typeface="Times New Roman" panose="02020603050405020304" pitchFamily="18" charset="0"/>
              </a:rPr>
              <a:t>tassoDiConversione</a:t>
            </a:r>
            <a:r>
              <a:rPr lang="it-IT" sz="2300" dirty="0">
                <a:solidFill>
                  <a:schemeClr val="accent5"/>
                </a:solidFill>
                <a:effectLst/>
                <a:latin typeface="Times New Roman" panose="02020603050405020304" pitchFamily="18" charset="0"/>
                <a:ea typeface="Times New Roman" panose="02020603050405020304" pitchFamily="18" charset="0"/>
              </a:rPr>
              <a:t> = </a:t>
            </a:r>
            <a:r>
              <a:rPr lang="it-IT" sz="2300" dirty="0" err="1">
                <a:solidFill>
                  <a:schemeClr val="accent5"/>
                </a:solidFill>
                <a:effectLst/>
                <a:latin typeface="Times New Roman" panose="02020603050405020304" pitchFamily="18" charset="0"/>
                <a:ea typeface="Times New Roman" panose="02020603050405020304" pitchFamily="18" charset="0"/>
              </a:rPr>
              <a:t>tassoDiConversione</a:t>
            </a:r>
            <a:r>
              <a:rPr lang="it-IT" sz="2300" dirty="0">
                <a:solidFill>
                  <a:schemeClr val="accent5"/>
                </a:solidFill>
                <a:effectLst/>
                <a:latin typeface="Times New Roman" panose="02020603050405020304" pitchFamily="18" charset="0"/>
                <a:ea typeface="Times New Roman" panose="02020603050405020304" pitchFamily="18" charset="0"/>
              </a:rPr>
              <a:t> + 0.2;</a:t>
            </a:r>
          </a:p>
          <a:p>
            <a:pPr marL="0" indent="0">
              <a:buNone/>
            </a:pPr>
            <a:r>
              <a:rPr lang="it-IT" sz="2300" dirty="0">
                <a:solidFill>
                  <a:schemeClr val="accent5"/>
                </a:solidFill>
                <a:effectLst/>
                <a:latin typeface="Times New Roman" panose="02020603050405020304" pitchFamily="18" charset="0"/>
                <a:ea typeface="Times New Roman" panose="02020603050405020304" pitchFamily="18" charset="0"/>
              </a:rPr>
              <a:t>        </a:t>
            </a:r>
            <a:r>
              <a:rPr lang="it-IT" sz="2300" b="1" dirty="0" err="1">
                <a:solidFill>
                  <a:schemeClr val="accent5"/>
                </a:solidFill>
                <a:effectLst/>
                <a:latin typeface="Times New Roman" panose="02020603050405020304" pitchFamily="18" charset="0"/>
                <a:ea typeface="Times New Roman" panose="02020603050405020304" pitchFamily="18" charset="0"/>
              </a:rPr>
              <a:t>stampaTassoDiConversione</a:t>
            </a:r>
            <a:r>
              <a:rPr lang="it-IT" sz="2300" b="1" dirty="0">
                <a:solidFill>
                  <a:schemeClr val="accent5"/>
                </a:solidFill>
                <a:effectLst/>
                <a:latin typeface="Times New Roman" panose="02020603050405020304" pitchFamily="18" charset="0"/>
                <a:ea typeface="Times New Roman" panose="02020603050405020304" pitchFamily="18" charset="0"/>
              </a:rPr>
              <a:t>(</a:t>
            </a:r>
            <a:r>
              <a:rPr lang="it-IT" sz="2300" b="1" dirty="0" err="1">
                <a:solidFill>
                  <a:schemeClr val="accent5"/>
                </a:solidFill>
                <a:effectLst/>
                <a:latin typeface="Times New Roman" panose="02020603050405020304" pitchFamily="18" charset="0"/>
                <a:ea typeface="Times New Roman" panose="02020603050405020304" pitchFamily="18" charset="0"/>
              </a:rPr>
              <a:t>tassoDiConversione</a:t>
            </a:r>
            <a:r>
              <a:rPr lang="it-IT" sz="2300" b="1" dirty="0">
                <a:solidFill>
                  <a:schemeClr val="accent5"/>
                </a:solidFill>
                <a:effectLst/>
                <a:latin typeface="Times New Roman" panose="02020603050405020304" pitchFamily="18" charset="0"/>
                <a:ea typeface="Times New Roman" panose="02020603050405020304" pitchFamily="18" charset="0"/>
              </a:rPr>
              <a:t>);</a:t>
            </a:r>
          </a:p>
          <a:p>
            <a:pPr marL="0" indent="0">
              <a:buNone/>
            </a:pPr>
            <a:r>
              <a:rPr lang="it-IT" sz="2300" dirty="0">
                <a:solidFill>
                  <a:schemeClr val="accent5"/>
                </a:solidFill>
                <a:effectLst/>
                <a:latin typeface="Times New Roman" panose="02020603050405020304" pitchFamily="18" charset="0"/>
                <a:ea typeface="Times New Roman" panose="02020603050405020304" pitchFamily="18" charset="0"/>
              </a:rPr>
              <a:t>        </a:t>
            </a:r>
            <a:r>
              <a:rPr lang="it-IT" sz="2300" dirty="0" err="1">
                <a:solidFill>
                  <a:schemeClr val="accent5"/>
                </a:solidFill>
                <a:effectLst/>
                <a:latin typeface="Times New Roman" panose="02020603050405020304" pitchFamily="18" charset="0"/>
                <a:ea typeface="Times New Roman" panose="02020603050405020304" pitchFamily="18" charset="0"/>
              </a:rPr>
              <a:t>tassoDiConversione</a:t>
            </a:r>
            <a:r>
              <a:rPr lang="it-IT" sz="2300" dirty="0">
                <a:solidFill>
                  <a:schemeClr val="accent5"/>
                </a:solidFill>
                <a:effectLst/>
                <a:latin typeface="Times New Roman" panose="02020603050405020304" pitchFamily="18" charset="0"/>
                <a:ea typeface="Times New Roman" panose="02020603050405020304" pitchFamily="18" charset="0"/>
              </a:rPr>
              <a:t> = </a:t>
            </a:r>
            <a:r>
              <a:rPr lang="it-IT" sz="2300" dirty="0" err="1">
                <a:solidFill>
                  <a:schemeClr val="accent5"/>
                </a:solidFill>
                <a:effectLst/>
                <a:latin typeface="Times New Roman" panose="02020603050405020304" pitchFamily="18" charset="0"/>
                <a:ea typeface="Times New Roman" panose="02020603050405020304" pitchFamily="18" charset="0"/>
              </a:rPr>
              <a:t>tassoDiConversione</a:t>
            </a:r>
            <a:r>
              <a:rPr lang="it-IT" sz="2300" dirty="0">
                <a:solidFill>
                  <a:schemeClr val="accent5"/>
                </a:solidFill>
                <a:effectLst/>
                <a:latin typeface="Times New Roman" panose="02020603050405020304" pitchFamily="18" charset="0"/>
                <a:ea typeface="Times New Roman" panose="02020603050405020304" pitchFamily="18" charset="0"/>
              </a:rPr>
              <a:t> - 0.3;</a:t>
            </a:r>
          </a:p>
          <a:p>
            <a:pPr marL="0" indent="0">
              <a:buNone/>
            </a:pPr>
            <a:r>
              <a:rPr lang="it-IT" sz="2300" dirty="0">
                <a:solidFill>
                  <a:schemeClr val="accent5"/>
                </a:solidFill>
                <a:effectLst/>
                <a:latin typeface="Times New Roman" panose="02020603050405020304" pitchFamily="18" charset="0"/>
                <a:ea typeface="Times New Roman" panose="02020603050405020304" pitchFamily="18" charset="0"/>
              </a:rPr>
              <a:t>        </a:t>
            </a:r>
            <a:r>
              <a:rPr lang="it-IT" sz="2300" b="1" dirty="0" err="1">
                <a:solidFill>
                  <a:schemeClr val="accent5"/>
                </a:solidFill>
                <a:effectLst/>
                <a:latin typeface="Times New Roman" panose="02020603050405020304" pitchFamily="18" charset="0"/>
                <a:ea typeface="Times New Roman" panose="02020603050405020304" pitchFamily="18" charset="0"/>
              </a:rPr>
              <a:t>stampaTassoDiConversione</a:t>
            </a:r>
            <a:r>
              <a:rPr lang="it-IT" sz="2300" b="1" dirty="0">
                <a:solidFill>
                  <a:schemeClr val="accent5"/>
                </a:solidFill>
                <a:effectLst/>
                <a:latin typeface="Times New Roman" panose="02020603050405020304" pitchFamily="18" charset="0"/>
                <a:ea typeface="Times New Roman" panose="02020603050405020304" pitchFamily="18" charset="0"/>
              </a:rPr>
              <a:t>(</a:t>
            </a:r>
            <a:r>
              <a:rPr lang="it-IT" sz="2300" b="1" dirty="0" err="1">
                <a:solidFill>
                  <a:schemeClr val="accent5"/>
                </a:solidFill>
                <a:effectLst/>
                <a:latin typeface="Times New Roman" panose="02020603050405020304" pitchFamily="18" charset="0"/>
                <a:ea typeface="Times New Roman" panose="02020603050405020304" pitchFamily="18" charset="0"/>
              </a:rPr>
              <a:t>tassoDiConversione</a:t>
            </a:r>
            <a:r>
              <a:rPr lang="it-IT" sz="2300" b="1" dirty="0">
                <a:solidFill>
                  <a:schemeClr val="accent5"/>
                </a:solidFill>
                <a:effectLst/>
                <a:latin typeface="Times New Roman" panose="02020603050405020304" pitchFamily="18" charset="0"/>
                <a:ea typeface="Times New Roman" panose="02020603050405020304" pitchFamily="18" charset="0"/>
              </a:rPr>
              <a:t>);</a:t>
            </a:r>
          </a:p>
          <a:p>
            <a:pPr marL="0" indent="0">
              <a:buNone/>
            </a:pPr>
            <a:r>
              <a:rPr lang="it-IT" sz="2300" dirty="0">
                <a:solidFill>
                  <a:schemeClr val="accent5"/>
                </a:solidFill>
                <a:effectLst/>
                <a:latin typeface="Times New Roman" panose="02020603050405020304" pitchFamily="18" charset="0"/>
                <a:ea typeface="Times New Roman" panose="02020603050405020304" pitchFamily="18" charset="0"/>
              </a:rPr>
              <a:t>    }</a:t>
            </a:r>
          </a:p>
          <a:p>
            <a:pPr marL="0" indent="0">
              <a:buNone/>
            </a:pPr>
            <a:r>
              <a:rPr lang="it-IT" sz="2300" b="1" dirty="0">
                <a:solidFill>
                  <a:schemeClr val="accent5"/>
                </a:solidFill>
                <a:effectLst/>
                <a:latin typeface="Times New Roman" panose="02020603050405020304" pitchFamily="18" charset="0"/>
                <a:ea typeface="Times New Roman" panose="02020603050405020304" pitchFamily="18" charset="0"/>
              </a:rPr>
              <a:t>    public static void </a:t>
            </a:r>
            <a:r>
              <a:rPr lang="it-IT" sz="2300" b="1" dirty="0" err="1">
                <a:solidFill>
                  <a:schemeClr val="accent5"/>
                </a:solidFill>
                <a:effectLst/>
                <a:latin typeface="Times New Roman" panose="02020603050405020304" pitchFamily="18" charset="0"/>
                <a:ea typeface="Times New Roman" panose="02020603050405020304" pitchFamily="18" charset="0"/>
              </a:rPr>
              <a:t>stampaTassoDiConversione</a:t>
            </a:r>
            <a:r>
              <a:rPr lang="it-IT" sz="2300" b="1" dirty="0">
                <a:solidFill>
                  <a:schemeClr val="accent5"/>
                </a:solidFill>
                <a:effectLst/>
                <a:latin typeface="Times New Roman" panose="02020603050405020304" pitchFamily="18" charset="0"/>
                <a:ea typeface="Times New Roman" panose="02020603050405020304" pitchFamily="18" charset="0"/>
              </a:rPr>
              <a:t>(double tasso) {</a:t>
            </a:r>
          </a:p>
          <a:p>
            <a:pPr marL="0" indent="0">
              <a:buNone/>
            </a:pPr>
            <a:r>
              <a:rPr lang="it-IT" sz="2300" b="1" dirty="0">
                <a:solidFill>
                  <a:schemeClr val="accent5"/>
                </a:solidFill>
                <a:effectLst/>
                <a:latin typeface="Times New Roman" panose="02020603050405020304" pitchFamily="18" charset="0"/>
                <a:ea typeface="Times New Roman" panose="02020603050405020304" pitchFamily="18" charset="0"/>
              </a:rPr>
              <a:t>        System.out.println("Valore attuale del tasso di conversione");</a:t>
            </a:r>
          </a:p>
          <a:p>
            <a:pPr marL="0" indent="0">
              <a:buNone/>
            </a:pPr>
            <a:r>
              <a:rPr lang="it-IT" sz="2300" b="1" dirty="0">
                <a:solidFill>
                  <a:schemeClr val="accent5"/>
                </a:solidFill>
                <a:effectLst/>
                <a:latin typeface="Times New Roman" panose="02020603050405020304" pitchFamily="18" charset="0"/>
                <a:ea typeface="Times New Roman" panose="02020603050405020304" pitchFamily="18" charset="0"/>
              </a:rPr>
              <a:t>        System.out.println(tasso);</a:t>
            </a:r>
          </a:p>
          <a:p>
            <a:pPr marL="0" indent="0">
              <a:buNone/>
            </a:pPr>
            <a:r>
              <a:rPr lang="it-IT" sz="2300" b="1" dirty="0">
                <a:solidFill>
                  <a:schemeClr val="accent5"/>
                </a:solidFill>
                <a:effectLst/>
                <a:latin typeface="Times New Roman" panose="02020603050405020304" pitchFamily="18" charset="0"/>
                <a:ea typeface="Times New Roman" panose="02020603050405020304" pitchFamily="18" charset="0"/>
              </a:rPr>
              <a:t>    }</a:t>
            </a:r>
          </a:p>
          <a:p>
            <a:pPr marL="0" indent="0">
              <a:buNone/>
            </a:pPr>
            <a:r>
              <a:rPr lang="it-IT" sz="2300" dirty="0">
                <a:solidFill>
                  <a:schemeClr val="accent5"/>
                </a:solidFill>
                <a:effectLst/>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2779444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p:txBody>
          <a:bodyPr/>
          <a:lstStyle/>
          <a:p>
            <a:r>
              <a:rPr lang="it-IT" dirty="0"/>
              <a:t>Le basi della OOP</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840000" y="1825625"/>
            <a:ext cx="7675350" cy="3907695"/>
          </a:xfrm>
        </p:spPr>
        <p:txBody>
          <a:bodyPr>
            <a:normAutofit/>
          </a:bodyPr>
          <a:lstStyle/>
          <a:p>
            <a:r>
              <a:rPr lang="it-IT" sz="3600" dirty="0"/>
              <a:t>Una </a:t>
            </a:r>
            <a:r>
              <a:rPr lang="it-IT" sz="3600" b="1" dirty="0"/>
              <a:t>classe</a:t>
            </a:r>
            <a:r>
              <a:rPr lang="it-IT" sz="3600" dirty="0"/>
              <a:t> è un’astrazione indicante un insieme di oggetti che condividono le stesse caratteristiche e le stesse funzionalità;</a:t>
            </a:r>
          </a:p>
          <a:p>
            <a:r>
              <a:rPr lang="it-IT" sz="3600" dirty="0"/>
              <a:t>Un </a:t>
            </a:r>
            <a:r>
              <a:rPr lang="it-IT" sz="3600" b="1" dirty="0"/>
              <a:t>oggetto</a:t>
            </a:r>
            <a:r>
              <a:rPr lang="it-IT" sz="3600" dirty="0"/>
              <a:t> è un’istanza (ovvero una creazione fisica) di una classe.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22</a:t>
            </a:fld>
            <a:endParaRPr lang="it-IT"/>
          </a:p>
        </p:txBody>
      </p:sp>
    </p:spTree>
    <p:extLst>
      <p:ext uri="{BB962C8B-B14F-4D97-AF65-F5344CB8AC3E}">
        <p14:creationId xmlns:p14="http://schemas.microsoft.com/office/powerpoint/2010/main" val="2594785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36525"/>
            <a:ext cx="7886700" cy="1132176"/>
          </a:xfrm>
        </p:spPr>
        <p:txBody>
          <a:bodyPr/>
          <a:lstStyle/>
          <a:p>
            <a:r>
              <a:rPr lang="it-IT" dirty="0"/>
              <a:t>Esempio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23</a:t>
            </a:fld>
            <a:endParaRPr lang="it-IT"/>
          </a:p>
        </p:txBody>
      </p:sp>
      <p:sp>
        <p:nvSpPr>
          <p:cNvPr id="9" name="CasellaDiTesto 8">
            <a:extLst>
              <a:ext uri="{FF2B5EF4-FFF2-40B4-BE49-F238E27FC236}">
                <a16:creationId xmlns:a16="http://schemas.microsoft.com/office/drawing/2014/main" id="{7CCF90F5-E152-4CA9-8B6A-174C4B3EE5D9}"/>
              </a:ext>
            </a:extLst>
          </p:cNvPr>
          <p:cNvSpPr txBox="1"/>
          <p:nvPr/>
        </p:nvSpPr>
        <p:spPr>
          <a:xfrm>
            <a:off x="0" y="2521059"/>
            <a:ext cx="4572000" cy="1815882"/>
          </a:xfrm>
          <a:prstGeom prst="rect">
            <a:avLst/>
          </a:prstGeom>
          <a:noFill/>
        </p:spPr>
        <p:txBody>
          <a:bodyPr wrap="square">
            <a:spAutoFit/>
          </a:bodyPr>
          <a:lstStyle/>
          <a:p>
            <a:r>
              <a:rPr lang="en-US" sz="2800" dirty="0">
                <a:solidFill>
                  <a:schemeClr val="accent5"/>
                </a:solidFill>
              </a:rPr>
              <a:t>public class Punto {</a:t>
            </a:r>
          </a:p>
          <a:p>
            <a:r>
              <a:rPr lang="en-US" sz="2800" dirty="0">
                <a:solidFill>
                  <a:schemeClr val="accent5"/>
                </a:solidFill>
              </a:rPr>
              <a:t>    public int x;</a:t>
            </a:r>
          </a:p>
          <a:p>
            <a:r>
              <a:rPr lang="en-US" sz="2800" dirty="0">
                <a:solidFill>
                  <a:schemeClr val="accent5"/>
                </a:solidFill>
              </a:rPr>
              <a:t>    public int y;</a:t>
            </a:r>
          </a:p>
          <a:p>
            <a:r>
              <a:rPr lang="en-US" sz="2800" dirty="0">
                <a:solidFill>
                  <a:schemeClr val="accent5"/>
                </a:solidFill>
              </a:rPr>
              <a:t>}</a:t>
            </a:r>
          </a:p>
        </p:txBody>
      </p:sp>
      <p:sp>
        <p:nvSpPr>
          <p:cNvPr id="13" name="CasellaDiTesto 12">
            <a:extLst>
              <a:ext uri="{FF2B5EF4-FFF2-40B4-BE49-F238E27FC236}">
                <a16:creationId xmlns:a16="http://schemas.microsoft.com/office/drawing/2014/main" id="{84CEF0C3-B5F2-4685-B65B-C71311F99301}"/>
              </a:ext>
            </a:extLst>
          </p:cNvPr>
          <p:cNvSpPr txBox="1"/>
          <p:nvPr/>
        </p:nvSpPr>
        <p:spPr>
          <a:xfrm>
            <a:off x="3419840" y="1124680"/>
            <a:ext cx="5688790" cy="5632311"/>
          </a:xfrm>
          <a:prstGeom prst="rect">
            <a:avLst/>
          </a:prstGeom>
          <a:noFill/>
        </p:spPr>
        <p:txBody>
          <a:bodyPr wrap="square">
            <a:spAutoFit/>
          </a:bodyPr>
          <a:lstStyle/>
          <a:p>
            <a:r>
              <a:rPr lang="it-IT" sz="2400" dirty="0">
                <a:solidFill>
                  <a:schemeClr val="accent6"/>
                </a:solidFill>
              </a:rPr>
              <a:t>public class </a:t>
            </a:r>
            <a:r>
              <a:rPr lang="it-IT" sz="2400" dirty="0" err="1">
                <a:solidFill>
                  <a:schemeClr val="accent6"/>
                </a:solidFill>
              </a:rPr>
              <a:t>TestOggettiPunto</a:t>
            </a:r>
            <a:r>
              <a:rPr lang="it-IT" sz="2400" dirty="0">
                <a:solidFill>
                  <a:schemeClr val="accent6"/>
                </a:solidFill>
              </a:rPr>
              <a:t> {</a:t>
            </a:r>
          </a:p>
          <a:p>
            <a:r>
              <a:rPr lang="it-IT" sz="2400" dirty="0">
                <a:solidFill>
                  <a:schemeClr val="accent6"/>
                </a:solidFill>
              </a:rPr>
              <a:t>    public static void main(String args[]) {</a:t>
            </a:r>
          </a:p>
          <a:p>
            <a:r>
              <a:rPr lang="it-IT" sz="2400" dirty="0">
                <a:solidFill>
                  <a:schemeClr val="accent6"/>
                </a:solidFill>
              </a:rPr>
              <a:t>        Punto punto1;</a:t>
            </a:r>
          </a:p>
          <a:p>
            <a:r>
              <a:rPr lang="it-IT" sz="2400" dirty="0">
                <a:solidFill>
                  <a:schemeClr val="accent6"/>
                </a:solidFill>
              </a:rPr>
              <a:t>        punto1 = new Punto();</a:t>
            </a:r>
          </a:p>
          <a:p>
            <a:r>
              <a:rPr lang="it-IT" sz="2400" dirty="0">
                <a:solidFill>
                  <a:schemeClr val="accent6"/>
                </a:solidFill>
              </a:rPr>
              <a:t>        punto1.x = 2;</a:t>
            </a:r>
          </a:p>
          <a:p>
            <a:r>
              <a:rPr lang="it-IT" sz="2400" dirty="0">
                <a:solidFill>
                  <a:schemeClr val="accent6"/>
                </a:solidFill>
              </a:rPr>
              <a:t>        punto1.y = 6;</a:t>
            </a:r>
          </a:p>
          <a:p>
            <a:r>
              <a:rPr lang="it-IT" sz="2400" dirty="0">
                <a:solidFill>
                  <a:schemeClr val="accent6"/>
                </a:solidFill>
              </a:rPr>
              <a:t>        Punto punto2 = new Punto();</a:t>
            </a:r>
          </a:p>
          <a:p>
            <a:r>
              <a:rPr lang="it-IT" sz="2400" dirty="0">
                <a:solidFill>
                  <a:schemeClr val="accent6"/>
                </a:solidFill>
              </a:rPr>
              <a:t>        punto2.x = 0;</a:t>
            </a:r>
          </a:p>
          <a:p>
            <a:r>
              <a:rPr lang="it-IT" sz="2400" dirty="0">
                <a:solidFill>
                  <a:schemeClr val="accent6"/>
                </a:solidFill>
              </a:rPr>
              <a:t>        punto2.y = 1;</a:t>
            </a:r>
          </a:p>
          <a:p>
            <a:r>
              <a:rPr lang="it-IT" sz="2400" dirty="0">
                <a:solidFill>
                  <a:schemeClr val="accent6"/>
                </a:solidFill>
              </a:rPr>
              <a:t>        System.out.println(punto1.x);</a:t>
            </a:r>
          </a:p>
          <a:p>
            <a:r>
              <a:rPr lang="it-IT" sz="2400" dirty="0">
                <a:solidFill>
                  <a:schemeClr val="accent6"/>
                </a:solidFill>
              </a:rPr>
              <a:t>        System.out.println(punto1.y);</a:t>
            </a:r>
          </a:p>
          <a:p>
            <a:r>
              <a:rPr lang="it-IT" sz="2400" dirty="0">
                <a:solidFill>
                  <a:schemeClr val="accent6"/>
                </a:solidFill>
              </a:rPr>
              <a:t>         System.out.println(punto2.x);</a:t>
            </a:r>
          </a:p>
          <a:p>
            <a:r>
              <a:rPr lang="it-IT" sz="2400" dirty="0">
                <a:solidFill>
                  <a:schemeClr val="accent6"/>
                </a:solidFill>
              </a:rPr>
              <a:t>        System.out.println(punto2.y);</a:t>
            </a:r>
          </a:p>
          <a:p>
            <a:r>
              <a:rPr lang="it-IT" sz="2400" dirty="0">
                <a:solidFill>
                  <a:schemeClr val="accent6"/>
                </a:solidFill>
              </a:rPr>
              <a:t>    }</a:t>
            </a:r>
          </a:p>
          <a:p>
            <a:r>
              <a:rPr lang="it-IT" sz="2400" dirty="0">
                <a:solidFill>
                  <a:schemeClr val="accent6"/>
                </a:solidFill>
              </a:rPr>
              <a:t>}</a:t>
            </a:r>
          </a:p>
        </p:txBody>
      </p:sp>
    </p:spTree>
    <p:extLst>
      <p:ext uri="{BB962C8B-B14F-4D97-AF65-F5344CB8AC3E}">
        <p14:creationId xmlns:p14="http://schemas.microsoft.com/office/powerpoint/2010/main" val="1125790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836640"/>
          </a:xfrm>
        </p:spPr>
        <p:txBody>
          <a:bodyPr>
            <a:normAutofit/>
          </a:bodyPr>
          <a:lstStyle/>
          <a:p>
            <a:pPr algn="r"/>
            <a:r>
              <a:rPr lang="it-IT" dirty="0"/>
              <a:t>Esempio (analisi)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24</a:t>
            </a:fld>
            <a:endParaRPr lang="it-IT"/>
          </a:p>
        </p:txBody>
      </p:sp>
      <p:sp>
        <p:nvSpPr>
          <p:cNvPr id="9" name="CasellaDiTesto 8">
            <a:extLst>
              <a:ext uri="{FF2B5EF4-FFF2-40B4-BE49-F238E27FC236}">
                <a16:creationId xmlns:a16="http://schemas.microsoft.com/office/drawing/2014/main" id="{0B5AF549-2AF5-4B84-87CB-A5C66B9ED44E}"/>
              </a:ext>
            </a:extLst>
          </p:cNvPr>
          <p:cNvSpPr txBox="1"/>
          <p:nvPr/>
        </p:nvSpPr>
        <p:spPr>
          <a:xfrm>
            <a:off x="0" y="549508"/>
            <a:ext cx="9361300" cy="3046988"/>
          </a:xfrm>
          <a:prstGeom prst="rect">
            <a:avLst/>
          </a:prstGeom>
          <a:noFill/>
        </p:spPr>
        <p:txBody>
          <a:bodyPr wrap="square">
            <a:spAutoFit/>
          </a:bodyPr>
          <a:lstStyle/>
          <a:p>
            <a:r>
              <a:rPr lang="it-IT" sz="2400" dirty="0">
                <a:solidFill>
                  <a:schemeClr val="accent5"/>
                </a:solidFill>
              </a:rPr>
              <a:t>public class Auto {</a:t>
            </a:r>
          </a:p>
          <a:p>
            <a:r>
              <a:rPr lang="it-IT" sz="2400" dirty="0">
                <a:solidFill>
                  <a:schemeClr val="accent5"/>
                </a:solidFill>
              </a:rPr>
              <a:t>    public int </a:t>
            </a:r>
            <a:r>
              <a:rPr lang="it-IT" sz="2400" dirty="0" err="1">
                <a:solidFill>
                  <a:schemeClr val="accent5"/>
                </a:solidFill>
              </a:rPr>
              <a:t>numeroRuote</a:t>
            </a:r>
            <a:r>
              <a:rPr lang="it-IT" sz="2400" dirty="0">
                <a:solidFill>
                  <a:schemeClr val="accent5"/>
                </a:solidFill>
              </a:rPr>
              <a:t> = 4;</a:t>
            </a:r>
          </a:p>
          <a:p>
            <a:r>
              <a:rPr lang="it-IT" sz="2400" dirty="0">
                <a:solidFill>
                  <a:schemeClr val="accent5"/>
                </a:solidFill>
              </a:rPr>
              <a:t>    public int cilindrata; </a:t>
            </a:r>
          </a:p>
          <a:p>
            <a:r>
              <a:rPr lang="it-IT" sz="2400" dirty="0">
                <a:solidFill>
                  <a:schemeClr val="accent5"/>
                </a:solidFill>
              </a:rPr>
              <a:t>    public void accelera() {</a:t>
            </a:r>
          </a:p>
          <a:p>
            <a:r>
              <a:rPr lang="it-IT" sz="2400" dirty="0">
                <a:solidFill>
                  <a:schemeClr val="accent5"/>
                </a:solidFill>
              </a:rPr>
              <a:t>        System.out.println("Sto accelerando con cilindrata:");</a:t>
            </a:r>
          </a:p>
          <a:p>
            <a:r>
              <a:rPr lang="it-IT" sz="2400" dirty="0">
                <a:solidFill>
                  <a:schemeClr val="accent5"/>
                </a:solidFill>
              </a:rPr>
              <a:t>        System.out.println(cilindrata);</a:t>
            </a:r>
          </a:p>
          <a:p>
            <a:r>
              <a:rPr lang="it-IT" sz="2400" dirty="0">
                <a:solidFill>
                  <a:schemeClr val="accent5"/>
                </a:solidFill>
              </a:rPr>
              <a:t>    }</a:t>
            </a:r>
          </a:p>
          <a:p>
            <a:r>
              <a:rPr lang="it-IT" sz="2400" dirty="0">
                <a:solidFill>
                  <a:schemeClr val="accent5"/>
                </a:solidFill>
              </a:rPr>
              <a:t>}</a:t>
            </a:r>
          </a:p>
        </p:txBody>
      </p:sp>
      <p:sp>
        <p:nvSpPr>
          <p:cNvPr id="15" name="CasellaDiTesto 14">
            <a:extLst>
              <a:ext uri="{FF2B5EF4-FFF2-40B4-BE49-F238E27FC236}">
                <a16:creationId xmlns:a16="http://schemas.microsoft.com/office/drawing/2014/main" id="{B15DCF34-7F4A-4FE6-92D9-9893688E79D5}"/>
              </a:ext>
            </a:extLst>
          </p:cNvPr>
          <p:cNvSpPr txBox="1"/>
          <p:nvPr/>
        </p:nvSpPr>
        <p:spPr>
          <a:xfrm>
            <a:off x="3419840" y="2936336"/>
            <a:ext cx="7065962" cy="3785652"/>
          </a:xfrm>
          <a:prstGeom prst="rect">
            <a:avLst/>
          </a:prstGeom>
          <a:noFill/>
        </p:spPr>
        <p:txBody>
          <a:bodyPr wrap="square">
            <a:spAutoFit/>
          </a:bodyPr>
          <a:lstStyle/>
          <a:p>
            <a:r>
              <a:rPr lang="it-IT" sz="2400" dirty="0">
                <a:solidFill>
                  <a:schemeClr val="accent6"/>
                </a:solidFill>
              </a:rPr>
              <a:t>public class </a:t>
            </a:r>
            <a:r>
              <a:rPr lang="it-IT" sz="2400" dirty="0" err="1">
                <a:solidFill>
                  <a:schemeClr val="accent6"/>
                </a:solidFill>
              </a:rPr>
              <a:t>TestOggettiAuto</a:t>
            </a:r>
            <a:r>
              <a:rPr lang="it-IT" sz="2400" dirty="0">
                <a:solidFill>
                  <a:schemeClr val="accent6"/>
                </a:solidFill>
              </a:rPr>
              <a:t> {</a:t>
            </a:r>
          </a:p>
          <a:p>
            <a:r>
              <a:rPr lang="it-IT" sz="2400" dirty="0">
                <a:solidFill>
                  <a:schemeClr val="accent6"/>
                </a:solidFill>
              </a:rPr>
              <a:t>    public static void main(String args[]) {</a:t>
            </a:r>
          </a:p>
          <a:p>
            <a:r>
              <a:rPr lang="it-IT" sz="2400" dirty="0">
                <a:solidFill>
                  <a:schemeClr val="accent6"/>
                </a:solidFill>
              </a:rPr>
              <a:t>        Auto fiat600 = new Auto();</a:t>
            </a:r>
          </a:p>
          <a:p>
            <a:r>
              <a:rPr lang="it-IT" sz="2400" dirty="0">
                <a:solidFill>
                  <a:schemeClr val="accent6"/>
                </a:solidFill>
              </a:rPr>
              <a:t>        fiat600.cilindrata = 1100;</a:t>
            </a:r>
          </a:p>
          <a:p>
            <a:r>
              <a:rPr lang="it-IT" sz="2400" dirty="0">
                <a:solidFill>
                  <a:schemeClr val="accent6"/>
                </a:solidFill>
              </a:rPr>
              <a:t>        fiat600.accelera();</a:t>
            </a:r>
          </a:p>
          <a:p>
            <a:r>
              <a:rPr lang="it-IT" sz="2400" dirty="0">
                <a:solidFill>
                  <a:schemeClr val="accent6"/>
                </a:solidFill>
              </a:rPr>
              <a:t>        Auto </a:t>
            </a:r>
            <a:r>
              <a:rPr lang="it-IT" sz="2400" dirty="0" err="1">
                <a:solidFill>
                  <a:schemeClr val="accent6"/>
                </a:solidFill>
              </a:rPr>
              <a:t>california</a:t>
            </a:r>
            <a:r>
              <a:rPr lang="it-IT" sz="2400" dirty="0">
                <a:solidFill>
                  <a:schemeClr val="accent6"/>
                </a:solidFill>
              </a:rPr>
              <a:t> = new Auto();</a:t>
            </a:r>
          </a:p>
          <a:p>
            <a:r>
              <a:rPr lang="it-IT" sz="2400" dirty="0">
                <a:solidFill>
                  <a:schemeClr val="accent6"/>
                </a:solidFill>
              </a:rPr>
              <a:t>        </a:t>
            </a:r>
            <a:r>
              <a:rPr lang="it-IT" sz="2400" dirty="0" err="1">
                <a:solidFill>
                  <a:schemeClr val="accent6"/>
                </a:solidFill>
              </a:rPr>
              <a:t>california.cilindrata</a:t>
            </a:r>
            <a:r>
              <a:rPr lang="it-IT" sz="2400" dirty="0">
                <a:solidFill>
                  <a:schemeClr val="accent6"/>
                </a:solidFill>
              </a:rPr>
              <a:t> = 4300;</a:t>
            </a:r>
          </a:p>
          <a:p>
            <a:r>
              <a:rPr lang="it-IT" sz="2400" dirty="0">
                <a:solidFill>
                  <a:schemeClr val="accent6"/>
                </a:solidFill>
              </a:rPr>
              <a:t>        </a:t>
            </a:r>
            <a:r>
              <a:rPr lang="it-IT" sz="2400" dirty="0" err="1">
                <a:solidFill>
                  <a:schemeClr val="accent6"/>
                </a:solidFill>
              </a:rPr>
              <a:t>california.accelera</a:t>
            </a:r>
            <a:r>
              <a:rPr lang="it-IT" sz="2400" dirty="0">
                <a:solidFill>
                  <a:schemeClr val="accent6"/>
                </a:solidFill>
              </a:rPr>
              <a:t>();</a:t>
            </a:r>
          </a:p>
          <a:p>
            <a:r>
              <a:rPr lang="it-IT" sz="2400" dirty="0">
                <a:solidFill>
                  <a:schemeClr val="accent6"/>
                </a:solidFill>
              </a:rPr>
              <a:t>    }</a:t>
            </a:r>
          </a:p>
          <a:p>
            <a:r>
              <a:rPr lang="it-IT" sz="2400" dirty="0">
                <a:solidFill>
                  <a:schemeClr val="accent6"/>
                </a:solidFill>
              </a:rPr>
              <a:t>}</a:t>
            </a:r>
          </a:p>
        </p:txBody>
      </p:sp>
    </p:spTree>
    <p:extLst>
      <p:ext uri="{BB962C8B-B14F-4D97-AF65-F5344CB8AC3E}">
        <p14:creationId xmlns:p14="http://schemas.microsoft.com/office/powerpoint/2010/main" val="3586185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836640"/>
          </a:xfrm>
        </p:spPr>
        <p:txBody>
          <a:bodyPr>
            <a:normAutofit/>
          </a:bodyPr>
          <a:lstStyle/>
          <a:p>
            <a:pPr algn="r"/>
            <a:r>
              <a:rPr lang="it-IT" dirty="0"/>
              <a:t>Astrazione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25</a:t>
            </a:fld>
            <a:endParaRPr lang="it-IT"/>
          </a:p>
        </p:txBody>
      </p:sp>
      <p:sp>
        <p:nvSpPr>
          <p:cNvPr id="9" name="CasellaDiTesto 8">
            <a:extLst>
              <a:ext uri="{FF2B5EF4-FFF2-40B4-BE49-F238E27FC236}">
                <a16:creationId xmlns:a16="http://schemas.microsoft.com/office/drawing/2014/main" id="{0B5AF549-2AF5-4B84-87CB-A5C66B9ED44E}"/>
              </a:ext>
            </a:extLst>
          </p:cNvPr>
          <p:cNvSpPr txBox="1"/>
          <p:nvPr/>
        </p:nvSpPr>
        <p:spPr>
          <a:xfrm>
            <a:off x="0" y="549508"/>
            <a:ext cx="9361300" cy="2308324"/>
          </a:xfrm>
          <a:prstGeom prst="rect">
            <a:avLst/>
          </a:prstGeom>
          <a:noFill/>
        </p:spPr>
        <p:txBody>
          <a:bodyPr wrap="square">
            <a:spAutoFit/>
          </a:bodyPr>
          <a:lstStyle/>
          <a:p>
            <a:r>
              <a:rPr lang="it-IT" sz="2400" dirty="0">
                <a:solidFill>
                  <a:schemeClr val="accent5"/>
                </a:solidFill>
              </a:rPr>
              <a:t>public class Termometro {</a:t>
            </a:r>
          </a:p>
          <a:p>
            <a:r>
              <a:rPr lang="it-IT" sz="2400" dirty="0">
                <a:solidFill>
                  <a:schemeClr val="accent5"/>
                </a:solidFill>
              </a:rPr>
              <a:t>    public double temperatura;</a:t>
            </a:r>
          </a:p>
          <a:p>
            <a:r>
              <a:rPr lang="it-IT" sz="2400" dirty="0">
                <a:solidFill>
                  <a:schemeClr val="accent5"/>
                </a:solidFill>
              </a:rPr>
              <a:t>    public void </a:t>
            </a:r>
            <a:r>
              <a:rPr lang="it-IT" sz="2400" dirty="0" err="1">
                <a:solidFill>
                  <a:schemeClr val="accent5"/>
                </a:solidFill>
              </a:rPr>
              <a:t>incrementaTemperatura</a:t>
            </a:r>
            <a:r>
              <a:rPr lang="it-IT" sz="2400" dirty="0">
                <a:solidFill>
                  <a:schemeClr val="accent5"/>
                </a:solidFill>
              </a:rPr>
              <a:t>(double i) {</a:t>
            </a:r>
          </a:p>
          <a:p>
            <a:r>
              <a:rPr lang="it-IT" sz="2400" dirty="0">
                <a:solidFill>
                  <a:schemeClr val="accent5"/>
                </a:solidFill>
              </a:rPr>
              <a:t>        temperatura = temperatura + i;</a:t>
            </a:r>
          </a:p>
          <a:p>
            <a:r>
              <a:rPr lang="it-IT" sz="2400" dirty="0">
                <a:solidFill>
                  <a:schemeClr val="accent5"/>
                </a:solidFill>
              </a:rPr>
              <a:t>    } </a:t>
            </a:r>
          </a:p>
          <a:p>
            <a:r>
              <a:rPr lang="it-IT" sz="2400" dirty="0">
                <a:solidFill>
                  <a:schemeClr val="accent5"/>
                </a:solidFill>
              </a:rPr>
              <a:t>} </a:t>
            </a:r>
          </a:p>
        </p:txBody>
      </p:sp>
      <p:sp>
        <p:nvSpPr>
          <p:cNvPr id="7" name="CasellaDiTesto 6">
            <a:extLst>
              <a:ext uri="{FF2B5EF4-FFF2-40B4-BE49-F238E27FC236}">
                <a16:creationId xmlns:a16="http://schemas.microsoft.com/office/drawing/2014/main" id="{03EB8C32-A00C-4AB0-8720-02FB54160877}"/>
              </a:ext>
            </a:extLst>
          </p:cNvPr>
          <p:cNvSpPr txBox="1"/>
          <p:nvPr/>
        </p:nvSpPr>
        <p:spPr>
          <a:xfrm>
            <a:off x="-26566" y="3407339"/>
            <a:ext cx="9361300" cy="3046988"/>
          </a:xfrm>
          <a:prstGeom prst="rect">
            <a:avLst/>
          </a:prstGeom>
          <a:noFill/>
        </p:spPr>
        <p:txBody>
          <a:bodyPr wrap="square">
            <a:spAutoFit/>
          </a:bodyPr>
          <a:lstStyle/>
          <a:p>
            <a:r>
              <a:rPr lang="it-IT" sz="2400" dirty="0">
                <a:solidFill>
                  <a:schemeClr val="accent5"/>
                </a:solidFill>
              </a:rPr>
              <a:t>// REFACTORING</a:t>
            </a:r>
          </a:p>
          <a:p>
            <a:r>
              <a:rPr lang="it-IT" sz="2400" dirty="0">
                <a:solidFill>
                  <a:schemeClr val="accent5"/>
                </a:solidFill>
              </a:rPr>
              <a:t>public class Termometro {</a:t>
            </a:r>
          </a:p>
          <a:p>
            <a:r>
              <a:rPr lang="it-IT" sz="2400" dirty="0">
                <a:solidFill>
                  <a:schemeClr val="accent5"/>
                </a:solidFill>
              </a:rPr>
              <a:t>    public double temperatura;</a:t>
            </a:r>
          </a:p>
          <a:p>
            <a:endParaRPr lang="it-IT" sz="2400" dirty="0">
              <a:solidFill>
                <a:schemeClr val="accent5"/>
              </a:solidFill>
            </a:endParaRPr>
          </a:p>
          <a:p>
            <a:r>
              <a:rPr lang="it-IT" sz="2400" dirty="0">
                <a:solidFill>
                  <a:schemeClr val="accent5"/>
                </a:solidFill>
              </a:rPr>
              <a:t>    public void </a:t>
            </a:r>
            <a:r>
              <a:rPr lang="it-IT" sz="2400" dirty="0" err="1">
                <a:solidFill>
                  <a:schemeClr val="accent5"/>
                </a:solidFill>
              </a:rPr>
              <a:t>cambiaTemperatura</a:t>
            </a:r>
            <a:r>
              <a:rPr lang="it-IT" sz="2400" dirty="0">
                <a:solidFill>
                  <a:schemeClr val="accent5"/>
                </a:solidFill>
              </a:rPr>
              <a:t>(double differenza) {</a:t>
            </a:r>
          </a:p>
          <a:p>
            <a:r>
              <a:rPr lang="it-IT" sz="2400" dirty="0">
                <a:solidFill>
                  <a:schemeClr val="accent5"/>
                </a:solidFill>
              </a:rPr>
              <a:t>        temperatura = temperatura + differenza;</a:t>
            </a:r>
          </a:p>
          <a:p>
            <a:r>
              <a:rPr lang="it-IT" sz="2400" dirty="0">
                <a:solidFill>
                  <a:schemeClr val="accent5"/>
                </a:solidFill>
              </a:rPr>
              <a:t>    }</a:t>
            </a:r>
          </a:p>
          <a:p>
            <a:r>
              <a:rPr lang="it-IT" sz="2400" dirty="0">
                <a:solidFill>
                  <a:schemeClr val="accent5"/>
                </a:solidFill>
              </a:rPr>
              <a:t>}</a:t>
            </a:r>
          </a:p>
        </p:txBody>
      </p:sp>
    </p:spTree>
    <p:extLst>
      <p:ext uri="{BB962C8B-B14F-4D97-AF65-F5344CB8AC3E}">
        <p14:creationId xmlns:p14="http://schemas.microsoft.com/office/powerpoint/2010/main" val="1393660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836640"/>
          </a:xfrm>
        </p:spPr>
        <p:txBody>
          <a:bodyPr>
            <a:normAutofit/>
          </a:bodyPr>
          <a:lstStyle/>
          <a:p>
            <a:pPr algn="r"/>
            <a:r>
              <a:rPr lang="it-IT" dirty="0"/>
              <a:t>Astrazione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26</a:t>
            </a:fld>
            <a:endParaRPr lang="it-IT"/>
          </a:p>
        </p:txBody>
      </p:sp>
      <p:sp>
        <p:nvSpPr>
          <p:cNvPr id="9" name="CasellaDiTesto 8">
            <a:extLst>
              <a:ext uri="{FF2B5EF4-FFF2-40B4-BE49-F238E27FC236}">
                <a16:creationId xmlns:a16="http://schemas.microsoft.com/office/drawing/2014/main" id="{0B5AF549-2AF5-4B84-87CB-A5C66B9ED44E}"/>
              </a:ext>
            </a:extLst>
          </p:cNvPr>
          <p:cNvSpPr txBox="1"/>
          <p:nvPr/>
        </p:nvSpPr>
        <p:spPr>
          <a:xfrm>
            <a:off x="0" y="549508"/>
            <a:ext cx="9361300" cy="2677656"/>
          </a:xfrm>
          <a:prstGeom prst="rect">
            <a:avLst/>
          </a:prstGeom>
          <a:noFill/>
        </p:spPr>
        <p:txBody>
          <a:bodyPr wrap="square">
            <a:spAutoFit/>
          </a:bodyPr>
          <a:lstStyle/>
          <a:p>
            <a:r>
              <a:rPr lang="it-IT" sz="2400" dirty="0">
                <a:solidFill>
                  <a:schemeClr val="accent5"/>
                </a:solidFill>
              </a:rPr>
              <a:t>public class Termometro { // VERSIONE SINTETICA</a:t>
            </a:r>
          </a:p>
          <a:p>
            <a:r>
              <a:rPr lang="it-IT" sz="2400" dirty="0">
                <a:solidFill>
                  <a:schemeClr val="accent5"/>
                </a:solidFill>
              </a:rPr>
              <a:t>    public double </a:t>
            </a:r>
            <a:r>
              <a:rPr lang="it-IT" sz="2400" dirty="0" err="1">
                <a:solidFill>
                  <a:schemeClr val="accent5"/>
                </a:solidFill>
              </a:rPr>
              <a:t>temp</a:t>
            </a:r>
            <a:r>
              <a:rPr lang="it-IT" sz="2400" dirty="0">
                <a:solidFill>
                  <a:schemeClr val="accent5"/>
                </a:solidFill>
              </a:rPr>
              <a:t>;</a:t>
            </a:r>
          </a:p>
          <a:p>
            <a:r>
              <a:rPr lang="it-IT" sz="2400" dirty="0">
                <a:solidFill>
                  <a:schemeClr val="accent5"/>
                </a:solidFill>
              </a:rPr>
              <a:t>    </a:t>
            </a:r>
          </a:p>
          <a:p>
            <a:r>
              <a:rPr lang="it-IT" sz="2400" dirty="0">
                <a:solidFill>
                  <a:schemeClr val="accent5"/>
                </a:solidFill>
              </a:rPr>
              <a:t>    public void </a:t>
            </a:r>
            <a:r>
              <a:rPr lang="it-IT" sz="2400" dirty="0" err="1">
                <a:solidFill>
                  <a:schemeClr val="accent5"/>
                </a:solidFill>
              </a:rPr>
              <a:t>cambiaTemp</a:t>
            </a:r>
            <a:r>
              <a:rPr lang="it-IT" sz="2400" dirty="0">
                <a:solidFill>
                  <a:schemeClr val="accent5"/>
                </a:solidFill>
              </a:rPr>
              <a:t>(double diff) {</a:t>
            </a:r>
          </a:p>
          <a:p>
            <a:r>
              <a:rPr lang="it-IT" sz="2400" dirty="0">
                <a:solidFill>
                  <a:schemeClr val="accent5"/>
                </a:solidFill>
              </a:rPr>
              <a:t>        </a:t>
            </a:r>
            <a:r>
              <a:rPr lang="it-IT" sz="2400" dirty="0" err="1">
                <a:solidFill>
                  <a:schemeClr val="accent5"/>
                </a:solidFill>
              </a:rPr>
              <a:t>temp</a:t>
            </a:r>
            <a:r>
              <a:rPr lang="it-IT" sz="2400" dirty="0">
                <a:solidFill>
                  <a:schemeClr val="accent5"/>
                </a:solidFill>
              </a:rPr>
              <a:t> = </a:t>
            </a:r>
            <a:r>
              <a:rPr lang="it-IT" sz="2400" dirty="0" err="1">
                <a:solidFill>
                  <a:schemeClr val="accent5"/>
                </a:solidFill>
              </a:rPr>
              <a:t>temp</a:t>
            </a:r>
            <a:r>
              <a:rPr lang="it-IT" sz="2400" dirty="0">
                <a:solidFill>
                  <a:schemeClr val="accent5"/>
                </a:solidFill>
              </a:rPr>
              <a:t> + diff;</a:t>
            </a:r>
          </a:p>
          <a:p>
            <a:r>
              <a:rPr lang="it-IT" sz="2400" dirty="0">
                <a:solidFill>
                  <a:schemeClr val="accent5"/>
                </a:solidFill>
              </a:rPr>
              <a:t>    }</a:t>
            </a:r>
          </a:p>
          <a:p>
            <a:r>
              <a:rPr lang="it-IT" sz="2400" dirty="0">
                <a:solidFill>
                  <a:schemeClr val="accent5"/>
                </a:solidFill>
              </a:rPr>
              <a:t>}</a:t>
            </a:r>
          </a:p>
        </p:txBody>
      </p:sp>
      <p:sp>
        <p:nvSpPr>
          <p:cNvPr id="7" name="CasellaDiTesto 6">
            <a:extLst>
              <a:ext uri="{FF2B5EF4-FFF2-40B4-BE49-F238E27FC236}">
                <a16:creationId xmlns:a16="http://schemas.microsoft.com/office/drawing/2014/main" id="{03EB8C32-A00C-4AB0-8720-02FB54160877}"/>
              </a:ext>
            </a:extLst>
          </p:cNvPr>
          <p:cNvSpPr txBox="1"/>
          <p:nvPr/>
        </p:nvSpPr>
        <p:spPr>
          <a:xfrm>
            <a:off x="-26566" y="3407339"/>
            <a:ext cx="9361300" cy="3046988"/>
          </a:xfrm>
          <a:prstGeom prst="rect">
            <a:avLst/>
          </a:prstGeom>
          <a:noFill/>
        </p:spPr>
        <p:txBody>
          <a:bodyPr wrap="square">
            <a:spAutoFit/>
          </a:bodyPr>
          <a:lstStyle/>
          <a:p>
            <a:r>
              <a:rPr lang="it-IT" sz="2400" dirty="0">
                <a:solidFill>
                  <a:schemeClr val="accent5"/>
                </a:solidFill>
              </a:rPr>
              <a:t>public class Termometro { //VERSIONE LEGGIBILE</a:t>
            </a:r>
          </a:p>
          <a:p>
            <a:r>
              <a:rPr lang="it-IT" sz="2400" dirty="0">
                <a:solidFill>
                  <a:schemeClr val="accent5"/>
                </a:solidFill>
              </a:rPr>
              <a:t>    public double temperatura;</a:t>
            </a:r>
          </a:p>
          <a:p>
            <a:endParaRPr lang="it-IT" sz="2400" dirty="0">
              <a:solidFill>
                <a:schemeClr val="accent5"/>
              </a:solidFill>
            </a:endParaRPr>
          </a:p>
          <a:p>
            <a:r>
              <a:rPr lang="it-IT" sz="2400" dirty="0">
                <a:solidFill>
                  <a:schemeClr val="accent5"/>
                </a:solidFill>
              </a:rPr>
              <a:t>    public void </a:t>
            </a:r>
            <a:r>
              <a:rPr lang="it-IT" sz="2400" dirty="0" err="1">
                <a:solidFill>
                  <a:schemeClr val="accent5"/>
                </a:solidFill>
              </a:rPr>
              <a:t>cambiaTemperatura</a:t>
            </a:r>
            <a:r>
              <a:rPr lang="it-IT" sz="2400" dirty="0">
                <a:solidFill>
                  <a:schemeClr val="accent5"/>
                </a:solidFill>
              </a:rPr>
              <a:t>(double differenza) {</a:t>
            </a:r>
          </a:p>
          <a:p>
            <a:r>
              <a:rPr lang="it-IT" sz="2400" dirty="0">
                <a:solidFill>
                  <a:schemeClr val="accent5"/>
                </a:solidFill>
              </a:rPr>
              <a:t>        double </a:t>
            </a:r>
            <a:r>
              <a:rPr lang="it-IT" sz="2400" dirty="0" err="1">
                <a:solidFill>
                  <a:schemeClr val="accent5"/>
                </a:solidFill>
              </a:rPr>
              <a:t>nuovaTemperatura</a:t>
            </a:r>
            <a:r>
              <a:rPr lang="it-IT" sz="2400" dirty="0">
                <a:solidFill>
                  <a:schemeClr val="accent5"/>
                </a:solidFill>
              </a:rPr>
              <a:t> = temperatura + differenza;</a:t>
            </a:r>
          </a:p>
          <a:p>
            <a:r>
              <a:rPr lang="it-IT" sz="2400" dirty="0">
                <a:solidFill>
                  <a:schemeClr val="accent5"/>
                </a:solidFill>
              </a:rPr>
              <a:t>        temperatura = </a:t>
            </a:r>
            <a:r>
              <a:rPr lang="it-IT" sz="2400" dirty="0" err="1">
                <a:solidFill>
                  <a:schemeClr val="accent5"/>
                </a:solidFill>
              </a:rPr>
              <a:t>nuovaTemperatura</a:t>
            </a:r>
            <a:r>
              <a:rPr lang="it-IT" sz="2400" dirty="0">
                <a:solidFill>
                  <a:schemeClr val="accent5"/>
                </a:solidFill>
              </a:rPr>
              <a:t>;</a:t>
            </a:r>
          </a:p>
          <a:p>
            <a:r>
              <a:rPr lang="it-IT" sz="2400" dirty="0">
                <a:solidFill>
                  <a:schemeClr val="accent5"/>
                </a:solidFill>
              </a:rPr>
              <a:t>    }</a:t>
            </a:r>
          </a:p>
          <a:p>
            <a:r>
              <a:rPr lang="it-IT" sz="2400" dirty="0">
                <a:solidFill>
                  <a:schemeClr val="accent5"/>
                </a:solidFill>
              </a:rPr>
              <a:t>}</a:t>
            </a:r>
          </a:p>
        </p:txBody>
      </p:sp>
    </p:spTree>
    <p:extLst>
      <p:ext uri="{BB962C8B-B14F-4D97-AF65-F5344CB8AC3E}">
        <p14:creationId xmlns:p14="http://schemas.microsoft.com/office/powerpoint/2010/main" val="19444802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Metodi: invocazione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27</a:t>
            </a:fld>
            <a:endParaRPr lang="it-IT"/>
          </a:p>
        </p:txBody>
      </p:sp>
      <p:sp>
        <p:nvSpPr>
          <p:cNvPr id="7" name="CasellaDiTesto 6">
            <a:extLst>
              <a:ext uri="{FF2B5EF4-FFF2-40B4-BE49-F238E27FC236}">
                <a16:creationId xmlns:a16="http://schemas.microsoft.com/office/drawing/2014/main" id="{15193F24-61ED-407F-B987-9DD541CCE0CF}"/>
              </a:ext>
            </a:extLst>
          </p:cNvPr>
          <p:cNvSpPr txBox="1"/>
          <p:nvPr/>
        </p:nvSpPr>
        <p:spPr>
          <a:xfrm>
            <a:off x="-108650" y="936179"/>
            <a:ext cx="9577330" cy="5509200"/>
          </a:xfrm>
          <a:prstGeom prst="rect">
            <a:avLst/>
          </a:prstGeom>
          <a:noFill/>
        </p:spPr>
        <p:txBody>
          <a:bodyPr wrap="square">
            <a:spAutoFit/>
          </a:bodyPr>
          <a:lstStyle/>
          <a:p>
            <a:r>
              <a:rPr lang="it-IT" sz="1600" dirty="0">
                <a:solidFill>
                  <a:srgbClr val="FFFF00"/>
                </a:solidFill>
                <a:effectLst/>
                <a:latin typeface="Courier New" panose="02070309020205020404" pitchFamily="49" charset="0"/>
                <a:ea typeface="Times New Roman" panose="02020603050405020304" pitchFamily="18" charset="0"/>
              </a:rPr>
              <a:t>public class </a:t>
            </a:r>
            <a:r>
              <a:rPr lang="it-IT" sz="1600" dirty="0" err="1">
                <a:solidFill>
                  <a:srgbClr val="FFFF00"/>
                </a:solidFill>
                <a:effectLst/>
                <a:latin typeface="Courier New" panose="02070309020205020404" pitchFamily="49" charset="0"/>
                <a:ea typeface="Times New Roman" panose="02020603050405020304" pitchFamily="18" charset="0"/>
              </a:rPr>
              <a:t>GestioneTemperatura</a:t>
            </a:r>
            <a:r>
              <a:rPr lang="it-IT" sz="1600" dirty="0">
                <a:solidFill>
                  <a:srgbClr val="FFFF00"/>
                </a:solidFill>
                <a:effectLst/>
                <a:latin typeface="Courier New" panose="02070309020205020404" pitchFamily="49" charset="0"/>
                <a:ea typeface="Times New Roman" panose="02020603050405020304" pitchFamily="18" charset="0"/>
              </a:rPr>
              <a:t> {</a:t>
            </a:r>
          </a:p>
          <a:p>
            <a:r>
              <a:rPr lang="it-IT" sz="1600" dirty="0">
                <a:solidFill>
                  <a:srgbClr val="FFFF00"/>
                </a:solidFill>
                <a:effectLst/>
                <a:latin typeface="Courier New" panose="02070309020205020404" pitchFamily="49" charset="0"/>
                <a:ea typeface="Times New Roman" panose="02020603050405020304" pitchFamily="18" charset="0"/>
              </a:rPr>
              <a:t>  public static void main(String args[]) {</a:t>
            </a:r>
          </a:p>
          <a:p>
            <a:r>
              <a:rPr lang="it-IT" sz="1600" dirty="0">
                <a:solidFill>
                  <a:srgbClr val="FFFF00"/>
                </a:solidFill>
                <a:effectLst/>
                <a:latin typeface="Courier New" panose="02070309020205020404" pitchFamily="49" charset="0"/>
                <a:ea typeface="Times New Roman" panose="02020603050405020304" pitchFamily="18" charset="0"/>
              </a:rPr>
              <a:t>    //Oggetto termometro in cucina:</a:t>
            </a:r>
          </a:p>
          <a:p>
            <a:r>
              <a:rPr lang="it-IT" sz="1600" dirty="0">
                <a:solidFill>
                  <a:srgbClr val="FFFF00"/>
                </a:solidFill>
                <a:effectLst/>
                <a:latin typeface="Courier New" panose="02070309020205020404" pitchFamily="49" charset="0"/>
                <a:ea typeface="Times New Roman" panose="02020603050405020304" pitchFamily="18" charset="0"/>
              </a:rPr>
              <a:t>    Termometro </a:t>
            </a:r>
            <a:r>
              <a:rPr lang="it-IT" sz="1600" dirty="0" err="1">
                <a:solidFill>
                  <a:srgbClr val="FFFF00"/>
                </a:solidFill>
                <a:effectLst/>
                <a:latin typeface="Courier New" panose="02070309020205020404" pitchFamily="49" charset="0"/>
                <a:ea typeface="Times New Roman" panose="02020603050405020304" pitchFamily="18" charset="0"/>
              </a:rPr>
              <a:t>termometroCucina</a:t>
            </a:r>
            <a:r>
              <a:rPr lang="it-IT" sz="1600" dirty="0">
                <a:solidFill>
                  <a:srgbClr val="FFFF00"/>
                </a:solidFill>
                <a:effectLst/>
                <a:latin typeface="Courier New" panose="02070309020205020404" pitchFamily="49" charset="0"/>
                <a:ea typeface="Times New Roman" panose="02020603050405020304" pitchFamily="18" charset="0"/>
              </a:rPr>
              <a:t> = new Termometro();</a:t>
            </a:r>
          </a:p>
          <a:p>
            <a:r>
              <a:rPr lang="it-IT" sz="1600" dirty="0">
                <a:solidFill>
                  <a:srgbClr val="FFFF00"/>
                </a:solidFill>
                <a:effectLst/>
                <a:latin typeface="Courier New" panose="02070309020205020404" pitchFamily="49" charset="0"/>
                <a:ea typeface="Times New Roman" panose="02020603050405020304" pitchFamily="18" charset="0"/>
              </a:rPr>
              <a:t>    </a:t>
            </a:r>
            <a:r>
              <a:rPr lang="it-IT" sz="1600" dirty="0" err="1">
                <a:solidFill>
                  <a:srgbClr val="FFFF00"/>
                </a:solidFill>
                <a:effectLst/>
                <a:latin typeface="Courier New" panose="02070309020205020404" pitchFamily="49" charset="0"/>
                <a:ea typeface="Times New Roman" panose="02020603050405020304" pitchFamily="18" charset="0"/>
              </a:rPr>
              <a:t>termometroCucina.temperatura</a:t>
            </a:r>
            <a:r>
              <a:rPr lang="it-IT" sz="1600" dirty="0">
                <a:solidFill>
                  <a:srgbClr val="FFFF00"/>
                </a:solidFill>
                <a:effectLst/>
                <a:latin typeface="Courier New" panose="02070309020205020404" pitchFamily="49" charset="0"/>
                <a:ea typeface="Times New Roman" panose="02020603050405020304" pitchFamily="18" charset="0"/>
              </a:rPr>
              <a:t> = 22.2;</a:t>
            </a:r>
          </a:p>
          <a:p>
            <a:r>
              <a:rPr lang="it-IT" sz="1600" dirty="0">
                <a:solidFill>
                  <a:srgbClr val="FFFF00"/>
                </a:solidFill>
                <a:effectLst/>
                <a:latin typeface="Courier New" panose="02070309020205020404" pitchFamily="49" charset="0"/>
                <a:ea typeface="Times New Roman" panose="02020603050405020304" pitchFamily="18" charset="0"/>
              </a:rPr>
              <a:t>    System.out.println("Temperatura attuale del termometro in cucina: ");</a:t>
            </a:r>
          </a:p>
          <a:p>
            <a:r>
              <a:rPr lang="it-IT" sz="1600" dirty="0">
                <a:solidFill>
                  <a:srgbClr val="FFFF00"/>
                </a:solidFill>
                <a:effectLst/>
                <a:latin typeface="Courier New" panose="02070309020205020404" pitchFamily="49" charset="0"/>
                <a:ea typeface="Times New Roman" panose="02020603050405020304" pitchFamily="18" charset="0"/>
              </a:rPr>
              <a:t>    System.out.println(</a:t>
            </a:r>
            <a:r>
              <a:rPr lang="it-IT" sz="1600" dirty="0" err="1">
                <a:solidFill>
                  <a:srgbClr val="FFFF00"/>
                </a:solidFill>
                <a:effectLst/>
                <a:latin typeface="Courier New" panose="02070309020205020404" pitchFamily="49" charset="0"/>
                <a:ea typeface="Times New Roman" panose="02020603050405020304" pitchFamily="18" charset="0"/>
              </a:rPr>
              <a:t>termometroCucina.temperatura</a:t>
            </a:r>
            <a:r>
              <a:rPr lang="it-IT" sz="1600" dirty="0">
                <a:solidFill>
                  <a:srgbClr val="FFFF00"/>
                </a:solidFill>
                <a:effectLst/>
                <a:latin typeface="Courier New" panose="02070309020205020404" pitchFamily="49" charset="0"/>
                <a:ea typeface="Times New Roman" panose="02020603050405020304" pitchFamily="18" charset="0"/>
              </a:rPr>
              <a:t> + " gradi");</a:t>
            </a:r>
          </a:p>
          <a:p>
            <a:r>
              <a:rPr lang="it-IT" sz="1600" dirty="0">
                <a:solidFill>
                  <a:srgbClr val="FFFF00"/>
                </a:solidFill>
                <a:effectLst/>
                <a:latin typeface="Courier New" panose="02070309020205020404" pitchFamily="49" charset="0"/>
                <a:ea typeface="Times New Roman" panose="02020603050405020304" pitchFamily="18" charset="0"/>
              </a:rPr>
              <a:t>    System.out.println("Ho aperto la finestra della cucina");</a:t>
            </a:r>
          </a:p>
          <a:p>
            <a:r>
              <a:rPr lang="it-IT" sz="1600" dirty="0">
                <a:solidFill>
                  <a:srgbClr val="FFFF00"/>
                </a:solidFill>
                <a:effectLst/>
                <a:latin typeface="Courier New" panose="02070309020205020404" pitchFamily="49" charset="0"/>
                <a:ea typeface="Times New Roman" panose="02020603050405020304" pitchFamily="18" charset="0"/>
              </a:rPr>
              <a:t>    </a:t>
            </a:r>
            <a:r>
              <a:rPr lang="it-IT" sz="1600" dirty="0" err="1">
                <a:solidFill>
                  <a:srgbClr val="FFFF00"/>
                </a:solidFill>
                <a:effectLst/>
                <a:latin typeface="Courier New" panose="02070309020205020404" pitchFamily="49" charset="0"/>
                <a:ea typeface="Times New Roman" panose="02020603050405020304" pitchFamily="18" charset="0"/>
              </a:rPr>
              <a:t>termometroCucina.cambiaTemperatura</a:t>
            </a:r>
            <a:r>
              <a:rPr lang="it-IT" sz="1600" dirty="0">
                <a:solidFill>
                  <a:srgbClr val="FFFF00"/>
                </a:solidFill>
                <a:effectLst/>
                <a:latin typeface="Courier New" panose="02070309020205020404" pitchFamily="49" charset="0"/>
                <a:ea typeface="Times New Roman" panose="02020603050405020304" pitchFamily="18" charset="0"/>
              </a:rPr>
              <a:t>(-2.5);</a:t>
            </a:r>
          </a:p>
          <a:p>
            <a:r>
              <a:rPr lang="it-IT" sz="1600" dirty="0">
                <a:solidFill>
                  <a:srgbClr val="FFFF00"/>
                </a:solidFill>
                <a:effectLst/>
                <a:latin typeface="Courier New" panose="02070309020205020404" pitchFamily="49" charset="0"/>
                <a:ea typeface="Times New Roman" panose="02020603050405020304" pitchFamily="18" charset="0"/>
              </a:rPr>
              <a:t>    System.out.println("Temperatura attuale del termometro in cucina: ");</a:t>
            </a:r>
          </a:p>
          <a:p>
            <a:r>
              <a:rPr lang="it-IT" sz="1600" dirty="0">
                <a:solidFill>
                  <a:srgbClr val="FFFF00"/>
                </a:solidFill>
                <a:effectLst/>
                <a:latin typeface="Courier New" panose="02070309020205020404" pitchFamily="49" charset="0"/>
                <a:ea typeface="Times New Roman" panose="02020603050405020304" pitchFamily="18" charset="0"/>
              </a:rPr>
              <a:t>    System.out.println(</a:t>
            </a:r>
            <a:r>
              <a:rPr lang="it-IT" sz="1600" dirty="0" err="1">
                <a:solidFill>
                  <a:srgbClr val="FFFF00"/>
                </a:solidFill>
                <a:effectLst/>
                <a:latin typeface="Courier New" panose="02070309020205020404" pitchFamily="49" charset="0"/>
                <a:ea typeface="Times New Roman" panose="02020603050405020304" pitchFamily="18" charset="0"/>
              </a:rPr>
              <a:t>termometroCucina.temperatura</a:t>
            </a:r>
            <a:r>
              <a:rPr lang="it-IT" sz="1600" dirty="0">
                <a:solidFill>
                  <a:srgbClr val="FFFF00"/>
                </a:solidFill>
                <a:effectLst/>
                <a:latin typeface="Courier New" panose="02070309020205020404" pitchFamily="49" charset="0"/>
                <a:ea typeface="Times New Roman" panose="02020603050405020304" pitchFamily="18" charset="0"/>
              </a:rPr>
              <a:t> + " gradi");</a:t>
            </a:r>
          </a:p>
          <a:p>
            <a:r>
              <a:rPr lang="it-IT" sz="1600" dirty="0">
                <a:solidFill>
                  <a:srgbClr val="FFFF00"/>
                </a:solidFill>
                <a:effectLst/>
                <a:latin typeface="Courier New" panose="02070309020205020404" pitchFamily="49" charset="0"/>
                <a:ea typeface="Times New Roman" panose="02020603050405020304" pitchFamily="18" charset="0"/>
              </a:rPr>
              <a:t>    //Oggetto termometro in soggiorno:</a:t>
            </a:r>
          </a:p>
          <a:p>
            <a:r>
              <a:rPr lang="it-IT" sz="1600" dirty="0">
                <a:solidFill>
                  <a:srgbClr val="FFFF00"/>
                </a:solidFill>
                <a:effectLst/>
                <a:latin typeface="Courier New" panose="02070309020205020404" pitchFamily="49" charset="0"/>
                <a:ea typeface="Times New Roman" panose="02020603050405020304" pitchFamily="18" charset="0"/>
              </a:rPr>
              <a:t>    Termometro </a:t>
            </a:r>
            <a:r>
              <a:rPr lang="it-IT" sz="1600" dirty="0" err="1">
                <a:solidFill>
                  <a:srgbClr val="FFFF00"/>
                </a:solidFill>
                <a:effectLst/>
                <a:latin typeface="Courier New" panose="02070309020205020404" pitchFamily="49" charset="0"/>
                <a:ea typeface="Times New Roman" panose="02020603050405020304" pitchFamily="18" charset="0"/>
              </a:rPr>
              <a:t>termometroSoggiorno</a:t>
            </a:r>
            <a:r>
              <a:rPr lang="it-IT" sz="1600" dirty="0">
                <a:solidFill>
                  <a:srgbClr val="FFFF00"/>
                </a:solidFill>
                <a:effectLst/>
                <a:latin typeface="Courier New" panose="02070309020205020404" pitchFamily="49" charset="0"/>
                <a:ea typeface="Times New Roman" panose="02020603050405020304" pitchFamily="18" charset="0"/>
              </a:rPr>
              <a:t> = new Termometro();</a:t>
            </a:r>
          </a:p>
          <a:p>
            <a:r>
              <a:rPr lang="it-IT" sz="1600" dirty="0">
                <a:solidFill>
                  <a:srgbClr val="FFFF00"/>
                </a:solidFill>
                <a:effectLst/>
                <a:latin typeface="Courier New" panose="02070309020205020404" pitchFamily="49" charset="0"/>
                <a:ea typeface="Times New Roman" panose="02020603050405020304" pitchFamily="18" charset="0"/>
              </a:rPr>
              <a:t>    </a:t>
            </a:r>
            <a:r>
              <a:rPr lang="it-IT" sz="1600" dirty="0" err="1">
                <a:solidFill>
                  <a:srgbClr val="FFFF00"/>
                </a:solidFill>
                <a:effectLst/>
                <a:latin typeface="Courier New" panose="02070309020205020404" pitchFamily="49" charset="0"/>
                <a:ea typeface="Times New Roman" panose="02020603050405020304" pitchFamily="18" charset="0"/>
              </a:rPr>
              <a:t>termometroSoggiorno.temperatura</a:t>
            </a:r>
            <a:r>
              <a:rPr lang="it-IT" sz="1600" dirty="0">
                <a:solidFill>
                  <a:srgbClr val="FFFF00"/>
                </a:solidFill>
                <a:effectLst/>
                <a:latin typeface="Courier New" panose="02070309020205020404" pitchFamily="49" charset="0"/>
                <a:ea typeface="Times New Roman" panose="02020603050405020304" pitchFamily="18" charset="0"/>
              </a:rPr>
              <a:t> = 18.6;</a:t>
            </a:r>
          </a:p>
          <a:p>
            <a:r>
              <a:rPr lang="it-IT" sz="1600" dirty="0">
                <a:solidFill>
                  <a:srgbClr val="FFFF00"/>
                </a:solidFill>
                <a:effectLst/>
                <a:latin typeface="Courier New" panose="02070309020205020404" pitchFamily="49" charset="0"/>
                <a:ea typeface="Times New Roman" panose="02020603050405020304" pitchFamily="18" charset="0"/>
              </a:rPr>
              <a:t>    System.out.println("Temperatura attuale del termometro in soggiorno: ");</a:t>
            </a:r>
          </a:p>
          <a:p>
            <a:r>
              <a:rPr lang="it-IT" sz="1600" dirty="0">
                <a:solidFill>
                  <a:srgbClr val="FFFF00"/>
                </a:solidFill>
                <a:effectLst/>
                <a:latin typeface="Courier New" panose="02070309020205020404" pitchFamily="49" charset="0"/>
                <a:ea typeface="Times New Roman" panose="02020603050405020304" pitchFamily="18" charset="0"/>
              </a:rPr>
              <a:t>    System.out.println(</a:t>
            </a:r>
            <a:r>
              <a:rPr lang="it-IT" sz="1600" dirty="0" err="1">
                <a:solidFill>
                  <a:srgbClr val="FFFF00"/>
                </a:solidFill>
                <a:effectLst/>
                <a:latin typeface="Courier New" panose="02070309020205020404" pitchFamily="49" charset="0"/>
                <a:ea typeface="Times New Roman" panose="02020603050405020304" pitchFamily="18" charset="0"/>
              </a:rPr>
              <a:t>termometroSoggiorno.temperatura</a:t>
            </a:r>
            <a:r>
              <a:rPr lang="it-IT" sz="1600" dirty="0">
                <a:solidFill>
                  <a:srgbClr val="FFFF00"/>
                </a:solidFill>
                <a:effectLst/>
                <a:latin typeface="Courier New" panose="02070309020205020404" pitchFamily="49" charset="0"/>
                <a:ea typeface="Times New Roman" panose="02020603050405020304" pitchFamily="18" charset="0"/>
              </a:rPr>
              <a:t> + " gradi");</a:t>
            </a:r>
          </a:p>
          <a:p>
            <a:r>
              <a:rPr lang="it-IT" sz="1600" dirty="0">
                <a:solidFill>
                  <a:srgbClr val="FFFF00"/>
                </a:solidFill>
                <a:effectLst/>
                <a:latin typeface="Courier New" panose="02070309020205020404" pitchFamily="49" charset="0"/>
                <a:ea typeface="Times New Roman" panose="02020603050405020304" pitchFamily="18" charset="0"/>
              </a:rPr>
              <a:t>    System.out.println("Ho acceso il riscaldamento in soggiorno");</a:t>
            </a:r>
          </a:p>
          <a:p>
            <a:r>
              <a:rPr lang="it-IT" sz="1600" dirty="0">
                <a:solidFill>
                  <a:srgbClr val="FFFF00"/>
                </a:solidFill>
                <a:effectLst/>
                <a:latin typeface="Courier New" panose="02070309020205020404" pitchFamily="49" charset="0"/>
                <a:ea typeface="Times New Roman" panose="02020603050405020304" pitchFamily="18" charset="0"/>
              </a:rPr>
              <a:t>    </a:t>
            </a:r>
            <a:r>
              <a:rPr lang="it-IT" sz="1600" dirty="0" err="1">
                <a:solidFill>
                  <a:srgbClr val="FFFF00"/>
                </a:solidFill>
                <a:effectLst/>
                <a:latin typeface="Courier New" panose="02070309020205020404" pitchFamily="49" charset="0"/>
                <a:ea typeface="Times New Roman" panose="02020603050405020304" pitchFamily="18" charset="0"/>
              </a:rPr>
              <a:t>termometroSoggiorno.cambiaTemperatura</a:t>
            </a:r>
            <a:r>
              <a:rPr lang="it-IT" sz="1600" dirty="0">
                <a:solidFill>
                  <a:srgbClr val="FFFF00"/>
                </a:solidFill>
                <a:effectLst/>
                <a:latin typeface="Courier New" panose="02070309020205020404" pitchFamily="49" charset="0"/>
                <a:ea typeface="Times New Roman" panose="02020603050405020304" pitchFamily="18" charset="0"/>
              </a:rPr>
              <a:t>(1.7);</a:t>
            </a:r>
          </a:p>
          <a:p>
            <a:r>
              <a:rPr lang="it-IT" sz="1600" dirty="0">
                <a:solidFill>
                  <a:srgbClr val="FFFF00"/>
                </a:solidFill>
                <a:effectLst/>
                <a:latin typeface="Courier New" panose="02070309020205020404" pitchFamily="49" charset="0"/>
                <a:ea typeface="Times New Roman" panose="02020603050405020304" pitchFamily="18" charset="0"/>
              </a:rPr>
              <a:t>    System.out.println("Temperatura attuale del termometro in soggiorno:");</a:t>
            </a:r>
          </a:p>
          <a:p>
            <a:r>
              <a:rPr lang="it-IT" sz="1600" dirty="0">
                <a:solidFill>
                  <a:srgbClr val="FFFF00"/>
                </a:solidFill>
                <a:effectLst/>
                <a:latin typeface="Courier New" panose="02070309020205020404" pitchFamily="49" charset="0"/>
                <a:ea typeface="Times New Roman" panose="02020603050405020304" pitchFamily="18" charset="0"/>
              </a:rPr>
              <a:t>    System.out.println(</a:t>
            </a:r>
            <a:r>
              <a:rPr lang="it-IT" sz="1600" dirty="0" err="1">
                <a:solidFill>
                  <a:srgbClr val="FFFF00"/>
                </a:solidFill>
                <a:effectLst/>
                <a:latin typeface="Courier New" panose="02070309020205020404" pitchFamily="49" charset="0"/>
                <a:ea typeface="Times New Roman" panose="02020603050405020304" pitchFamily="18" charset="0"/>
              </a:rPr>
              <a:t>termometroSoggiorno.temperatura</a:t>
            </a:r>
            <a:r>
              <a:rPr lang="it-IT" sz="1600" dirty="0">
                <a:solidFill>
                  <a:srgbClr val="FFFF00"/>
                </a:solidFill>
                <a:effectLst/>
                <a:latin typeface="Courier New" panose="02070309020205020404" pitchFamily="49" charset="0"/>
                <a:ea typeface="Times New Roman" panose="02020603050405020304" pitchFamily="18" charset="0"/>
              </a:rPr>
              <a:t> + " gradi");</a:t>
            </a:r>
          </a:p>
          <a:p>
            <a:r>
              <a:rPr lang="it-IT" sz="1600" dirty="0">
                <a:solidFill>
                  <a:srgbClr val="FFFF00"/>
                </a:solidFill>
                <a:effectLst/>
                <a:latin typeface="Courier New" panose="02070309020205020404" pitchFamily="49" charset="0"/>
                <a:ea typeface="Times New Roman" panose="02020603050405020304" pitchFamily="18" charset="0"/>
              </a:rPr>
              <a:t>  }</a:t>
            </a:r>
          </a:p>
          <a:p>
            <a:r>
              <a:rPr lang="it-IT" sz="1600" dirty="0">
                <a:solidFill>
                  <a:srgbClr val="FFFF00"/>
                </a:solidFill>
                <a:effectLst/>
                <a:latin typeface="Courier New" panose="02070309020205020404" pitchFamily="49" charset="0"/>
                <a:ea typeface="Times New Roman" panose="02020603050405020304" pitchFamily="18" charset="0"/>
              </a:rPr>
              <a:t>}</a:t>
            </a:r>
          </a:p>
        </p:txBody>
      </p:sp>
    </p:spTree>
    <p:extLst>
      <p:ext uri="{BB962C8B-B14F-4D97-AF65-F5344CB8AC3E}">
        <p14:creationId xmlns:p14="http://schemas.microsoft.com/office/powerpoint/2010/main" val="516861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
            <a:ext cx="7886700" cy="980660"/>
          </a:xfrm>
        </p:spPr>
        <p:txBody>
          <a:bodyPr/>
          <a:lstStyle/>
          <a:p>
            <a:r>
              <a:rPr lang="it-IT" dirty="0"/>
              <a:t>Metodi: altri tipi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28</a:t>
            </a:fld>
            <a:endParaRPr lang="it-IT"/>
          </a:p>
        </p:txBody>
      </p:sp>
      <p:sp>
        <p:nvSpPr>
          <p:cNvPr id="7" name="CasellaDiTesto 6">
            <a:extLst>
              <a:ext uri="{FF2B5EF4-FFF2-40B4-BE49-F238E27FC236}">
                <a16:creationId xmlns:a16="http://schemas.microsoft.com/office/drawing/2014/main" id="{15193F24-61ED-407F-B987-9DD541CCE0CF}"/>
              </a:ext>
            </a:extLst>
          </p:cNvPr>
          <p:cNvSpPr txBox="1"/>
          <p:nvPr/>
        </p:nvSpPr>
        <p:spPr>
          <a:xfrm>
            <a:off x="-108650" y="936179"/>
            <a:ext cx="4464620" cy="1323439"/>
          </a:xfrm>
          <a:prstGeom prst="rect">
            <a:avLst/>
          </a:prstGeom>
          <a:noFill/>
        </p:spPr>
        <p:txBody>
          <a:bodyPr wrap="square">
            <a:spAutoFit/>
          </a:bodyPr>
          <a:lstStyle/>
          <a:p>
            <a:r>
              <a:rPr lang="en-US" sz="1600" dirty="0">
                <a:solidFill>
                  <a:srgbClr val="FFFF00"/>
                </a:solidFill>
                <a:effectLst/>
                <a:latin typeface="Courier New" panose="02070309020205020404" pitchFamily="49" charset="0"/>
                <a:ea typeface="Times New Roman" panose="02020603050405020304" pitchFamily="18" charset="0"/>
              </a:rPr>
              <a:t>public class </a:t>
            </a:r>
            <a:r>
              <a:rPr lang="en-US" sz="1600" dirty="0" err="1">
                <a:solidFill>
                  <a:srgbClr val="FFFF00"/>
                </a:solidFill>
                <a:effectLst/>
                <a:latin typeface="Courier New" panose="02070309020205020404" pitchFamily="49" charset="0"/>
                <a:ea typeface="Times New Roman" panose="02020603050405020304" pitchFamily="18" charset="0"/>
              </a:rPr>
              <a:t>Aritmetica</a:t>
            </a:r>
            <a:r>
              <a:rPr lang="en-US" sz="1600" dirty="0">
                <a:solidFill>
                  <a:srgbClr val="FFFF00"/>
                </a:solidFill>
                <a:effectLst/>
                <a:latin typeface="Courier New" panose="02070309020205020404" pitchFamily="49" charset="0"/>
                <a:ea typeface="Times New Roman" panose="02020603050405020304" pitchFamily="18" charset="0"/>
              </a:rPr>
              <a:t> {</a:t>
            </a:r>
          </a:p>
          <a:p>
            <a:r>
              <a:rPr lang="en-US" sz="1600" dirty="0">
                <a:solidFill>
                  <a:srgbClr val="FFFF00"/>
                </a:solidFill>
                <a:effectLst/>
                <a:latin typeface="Courier New" panose="02070309020205020404" pitchFamily="49" charset="0"/>
                <a:ea typeface="Times New Roman" panose="02020603050405020304" pitchFamily="18" charset="0"/>
              </a:rPr>
              <a:t>  public int somma(int a, int b) {</a:t>
            </a:r>
          </a:p>
          <a:p>
            <a:r>
              <a:rPr lang="en-US" sz="1600" dirty="0">
                <a:solidFill>
                  <a:srgbClr val="FFFF00"/>
                </a:solidFill>
                <a:effectLst/>
                <a:latin typeface="Courier New" panose="02070309020205020404" pitchFamily="49" charset="0"/>
                <a:ea typeface="Times New Roman" panose="02020603050405020304" pitchFamily="18" charset="0"/>
              </a:rPr>
              <a:t>    return (a + b);</a:t>
            </a:r>
          </a:p>
          <a:p>
            <a:r>
              <a:rPr lang="en-US" sz="1600" dirty="0">
                <a:solidFill>
                  <a:srgbClr val="FFFF00"/>
                </a:solidFill>
                <a:effectLst/>
                <a:latin typeface="Courier New" panose="02070309020205020404" pitchFamily="49" charset="0"/>
                <a:ea typeface="Times New Roman" panose="02020603050405020304" pitchFamily="18" charset="0"/>
              </a:rPr>
              <a:t>  }</a:t>
            </a:r>
          </a:p>
          <a:p>
            <a:r>
              <a:rPr lang="en-US" sz="1600" dirty="0">
                <a:solidFill>
                  <a:srgbClr val="FFFF00"/>
                </a:solidFill>
                <a:effectLst/>
                <a:latin typeface="Courier New" panose="02070309020205020404" pitchFamily="49" charset="0"/>
                <a:ea typeface="Times New Roman" panose="02020603050405020304" pitchFamily="18" charset="0"/>
              </a:rPr>
              <a:t>}</a:t>
            </a:r>
          </a:p>
        </p:txBody>
      </p:sp>
      <p:sp>
        <p:nvSpPr>
          <p:cNvPr id="6" name="CasellaDiTesto 5">
            <a:extLst>
              <a:ext uri="{FF2B5EF4-FFF2-40B4-BE49-F238E27FC236}">
                <a16:creationId xmlns:a16="http://schemas.microsoft.com/office/drawing/2014/main" id="{F0CB64B0-4C04-459D-A3A3-E80D6A4F0944}"/>
              </a:ext>
            </a:extLst>
          </p:cNvPr>
          <p:cNvSpPr txBox="1"/>
          <p:nvPr/>
        </p:nvSpPr>
        <p:spPr>
          <a:xfrm>
            <a:off x="2483710" y="1700760"/>
            <a:ext cx="6660290" cy="1815882"/>
          </a:xfrm>
          <a:prstGeom prst="rect">
            <a:avLst/>
          </a:prstGeom>
          <a:noFill/>
        </p:spPr>
        <p:txBody>
          <a:bodyPr wrap="square">
            <a:spAutoFit/>
          </a:bodyPr>
          <a:lstStyle/>
          <a:p>
            <a:r>
              <a:rPr lang="en-US" sz="1600" dirty="0">
                <a:solidFill>
                  <a:srgbClr val="FFC000"/>
                </a:solidFill>
                <a:effectLst/>
                <a:latin typeface="Courier New" panose="02070309020205020404" pitchFamily="49" charset="0"/>
                <a:ea typeface="Times New Roman" panose="02020603050405020304" pitchFamily="18" charset="0"/>
              </a:rPr>
              <a:t>public class </a:t>
            </a:r>
            <a:r>
              <a:rPr lang="en-US" sz="1600" dirty="0" err="1">
                <a:solidFill>
                  <a:srgbClr val="FFC000"/>
                </a:solidFill>
                <a:effectLst/>
                <a:latin typeface="Courier New" panose="02070309020205020404" pitchFamily="49" charset="0"/>
                <a:ea typeface="Times New Roman" panose="02020603050405020304" pitchFamily="18" charset="0"/>
              </a:rPr>
              <a:t>TestSomma</a:t>
            </a:r>
            <a:r>
              <a:rPr lang="en-US" sz="1600" dirty="0">
                <a:solidFill>
                  <a:srgbClr val="FFC000"/>
                </a:solidFill>
                <a:effectLst/>
                <a:latin typeface="Courier New" panose="02070309020205020404" pitchFamily="49" charset="0"/>
                <a:ea typeface="Times New Roman" panose="02020603050405020304" pitchFamily="18" charset="0"/>
              </a:rPr>
              <a:t>{</a:t>
            </a:r>
          </a:p>
          <a:p>
            <a:r>
              <a:rPr lang="en-US" sz="1600" dirty="0">
                <a:solidFill>
                  <a:srgbClr val="FFC000"/>
                </a:solidFill>
                <a:effectLst/>
                <a:latin typeface="Courier New" panose="02070309020205020404" pitchFamily="49" charset="0"/>
                <a:ea typeface="Times New Roman" panose="02020603050405020304" pitchFamily="18" charset="0"/>
              </a:rPr>
              <a:t>  public static void main(String args[]) {</a:t>
            </a:r>
          </a:p>
          <a:p>
            <a:r>
              <a:rPr lang="en-US" sz="1600" dirty="0">
                <a:solidFill>
                  <a:srgbClr val="FFC000"/>
                </a:solidFill>
                <a:effectLst/>
                <a:latin typeface="Courier New" panose="02070309020205020404" pitchFamily="49" charset="0"/>
                <a:ea typeface="Times New Roman" panose="02020603050405020304" pitchFamily="18" charset="0"/>
              </a:rPr>
              <a:t>    </a:t>
            </a:r>
            <a:r>
              <a:rPr lang="en-US" sz="1600" dirty="0" err="1">
                <a:solidFill>
                  <a:srgbClr val="FFC000"/>
                </a:solidFill>
                <a:effectLst/>
                <a:latin typeface="Courier New" panose="02070309020205020404" pitchFamily="49" charset="0"/>
                <a:ea typeface="Times New Roman" panose="02020603050405020304" pitchFamily="18" charset="0"/>
              </a:rPr>
              <a:t>Aritmetica</a:t>
            </a:r>
            <a:r>
              <a:rPr lang="en-US" sz="1600" dirty="0">
                <a:solidFill>
                  <a:srgbClr val="FFC000"/>
                </a:solidFill>
                <a:effectLst/>
                <a:latin typeface="Courier New" panose="02070309020205020404" pitchFamily="49" charset="0"/>
                <a:ea typeface="Times New Roman" panose="02020603050405020304" pitchFamily="18" charset="0"/>
              </a:rPr>
              <a:t> </a:t>
            </a:r>
            <a:r>
              <a:rPr lang="en-US" sz="1600" dirty="0" err="1">
                <a:solidFill>
                  <a:srgbClr val="FFC000"/>
                </a:solidFill>
                <a:effectLst/>
                <a:latin typeface="Courier New" panose="02070309020205020404" pitchFamily="49" charset="0"/>
                <a:ea typeface="Times New Roman" panose="02020603050405020304" pitchFamily="18" charset="0"/>
              </a:rPr>
              <a:t>oggettoAritmetica</a:t>
            </a:r>
            <a:r>
              <a:rPr lang="en-US" sz="1600" dirty="0">
                <a:solidFill>
                  <a:srgbClr val="FFC000"/>
                </a:solidFill>
                <a:effectLst/>
                <a:latin typeface="Courier New" panose="02070309020205020404" pitchFamily="49" charset="0"/>
                <a:ea typeface="Times New Roman" panose="02020603050405020304" pitchFamily="18" charset="0"/>
              </a:rPr>
              <a:t> = new </a:t>
            </a:r>
            <a:r>
              <a:rPr lang="en-US" sz="1600" dirty="0" err="1">
                <a:solidFill>
                  <a:srgbClr val="FFC000"/>
                </a:solidFill>
                <a:effectLst/>
                <a:latin typeface="Courier New" panose="02070309020205020404" pitchFamily="49" charset="0"/>
                <a:ea typeface="Times New Roman" panose="02020603050405020304" pitchFamily="18" charset="0"/>
              </a:rPr>
              <a:t>Aritmetica</a:t>
            </a:r>
            <a:r>
              <a:rPr lang="en-US" sz="1600" dirty="0">
                <a:solidFill>
                  <a:srgbClr val="FFC000"/>
                </a:solidFill>
                <a:effectLst/>
                <a:latin typeface="Courier New" panose="02070309020205020404" pitchFamily="49" charset="0"/>
                <a:ea typeface="Times New Roman" panose="02020603050405020304" pitchFamily="18" charset="0"/>
              </a:rPr>
              <a:t>();</a:t>
            </a:r>
          </a:p>
          <a:p>
            <a:r>
              <a:rPr lang="en-US" sz="1600" dirty="0">
                <a:solidFill>
                  <a:srgbClr val="FFC000"/>
                </a:solidFill>
                <a:effectLst/>
                <a:latin typeface="Courier New" panose="02070309020205020404" pitchFamily="49" charset="0"/>
                <a:ea typeface="Times New Roman" panose="02020603050405020304" pitchFamily="18" charset="0"/>
              </a:rPr>
              <a:t>    int </a:t>
            </a:r>
            <a:r>
              <a:rPr lang="en-US" sz="1600" dirty="0" err="1">
                <a:solidFill>
                  <a:srgbClr val="FFC000"/>
                </a:solidFill>
                <a:effectLst/>
                <a:latin typeface="Courier New" panose="02070309020205020404" pitchFamily="49" charset="0"/>
                <a:ea typeface="Times New Roman" panose="02020603050405020304" pitchFamily="18" charset="0"/>
              </a:rPr>
              <a:t>risultato</a:t>
            </a:r>
            <a:r>
              <a:rPr lang="en-US" sz="1600" dirty="0">
                <a:solidFill>
                  <a:srgbClr val="FFC000"/>
                </a:solidFill>
                <a:effectLst/>
                <a:latin typeface="Courier New" panose="02070309020205020404" pitchFamily="49" charset="0"/>
                <a:ea typeface="Times New Roman" panose="02020603050405020304" pitchFamily="18" charset="0"/>
              </a:rPr>
              <a:t> = </a:t>
            </a:r>
            <a:r>
              <a:rPr lang="en-US" sz="1600" dirty="0" err="1">
                <a:solidFill>
                  <a:srgbClr val="FFC000"/>
                </a:solidFill>
                <a:effectLst/>
                <a:latin typeface="Courier New" panose="02070309020205020404" pitchFamily="49" charset="0"/>
                <a:ea typeface="Times New Roman" panose="02020603050405020304" pitchFamily="18" charset="0"/>
              </a:rPr>
              <a:t>oggettoAritmetica.somma</a:t>
            </a:r>
            <a:r>
              <a:rPr lang="en-US" sz="1600" dirty="0">
                <a:solidFill>
                  <a:srgbClr val="FFC000"/>
                </a:solidFill>
                <a:effectLst/>
                <a:latin typeface="Courier New" panose="02070309020205020404" pitchFamily="49" charset="0"/>
                <a:ea typeface="Times New Roman" panose="02020603050405020304" pitchFamily="18" charset="0"/>
              </a:rPr>
              <a:t>(5, 6);</a:t>
            </a:r>
          </a:p>
          <a:p>
            <a:r>
              <a:rPr lang="en-US" sz="1600" dirty="0">
                <a:solidFill>
                  <a:srgbClr val="FFC000"/>
                </a:solidFill>
                <a:effectLst/>
                <a:latin typeface="Courier New" panose="02070309020205020404" pitchFamily="49" charset="0"/>
                <a:ea typeface="Times New Roman" panose="02020603050405020304" pitchFamily="18" charset="0"/>
              </a:rPr>
              <a:t>    System.out.println(</a:t>
            </a:r>
            <a:r>
              <a:rPr lang="en-US" sz="1600" dirty="0" err="1">
                <a:solidFill>
                  <a:srgbClr val="FFC000"/>
                </a:solidFill>
                <a:effectLst/>
                <a:latin typeface="Courier New" panose="02070309020205020404" pitchFamily="49" charset="0"/>
                <a:ea typeface="Times New Roman" panose="02020603050405020304" pitchFamily="18" charset="0"/>
              </a:rPr>
              <a:t>risultato</a:t>
            </a:r>
            <a:r>
              <a:rPr lang="en-US" sz="1600" dirty="0">
                <a:solidFill>
                  <a:srgbClr val="FFC000"/>
                </a:solidFill>
                <a:effectLst/>
                <a:latin typeface="Courier New" panose="02070309020205020404" pitchFamily="49" charset="0"/>
                <a:ea typeface="Times New Roman" panose="02020603050405020304" pitchFamily="18" charset="0"/>
              </a:rPr>
              <a:t>);</a:t>
            </a:r>
          </a:p>
          <a:p>
            <a:r>
              <a:rPr lang="en-US" sz="1600" dirty="0">
                <a:solidFill>
                  <a:srgbClr val="FFC000"/>
                </a:solidFill>
                <a:effectLst/>
                <a:latin typeface="Courier New" panose="02070309020205020404" pitchFamily="49" charset="0"/>
                <a:ea typeface="Times New Roman" panose="02020603050405020304" pitchFamily="18" charset="0"/>
              </a:rPr>
              <a:t>  }</a:t>
            </a:r>
          </a:p>
          <a:p>
            <a:r>
              <a:rPr lang="en-US" sz="1600" dirty="0">
                <a:solidFill>
                  <a:srgbClr val="FFC000"/>
                </a:solidFill>
                <a:effectLst/>
                <a:latin typeface="Courier New" panose="02070309020205020404" pitchFamily="49" charset="0"/>
                <a:ea typeface="Times New Roman" panose="02020603050405020304" pitchFamily="18" charset="0"/>
              </a:rPr>
              <a:t>}</a:t>
            </a:r>
          </a:p>
        </p:txBody>
      </p:sp>
      <p:sp>
        <p:nvSpPr>
          <p:cNvPr id="8" name="CasellaDiTesto 7">
            <a:extLst>
              <a:ext uri="{FF2B5EF4-FFF2-40B4-BE49-F238E27FC236}">
                <a16:creationId xmlns:a16="http://schemas.microsoft.com/office/drawing/2014/main" id="{50270E43-9A36-403F-AFAF-C4761BCFAAEA}"/>
              </a:ext>
            </a:extLst>
          </p:cNvPr>
          <p:cNvSpPr txBox="1"/>
          <p:nvPr/>
        </p:nvSpPr>
        <p:spPr>
          <a:xfrm>
            <a:off x="-14180" y="3580756"/>
            <a:ext cx="6129230" cy="1323439"/>
          </a:xfrm>
          <a:prstGeom prst="rect">
            <a:avLst/>
          </a:prstGeom>
          <a:noFill/>
        </p:spPr>
        <p:txBody>
          <a:bodyPr wrap="square">
            <a:spAutoFit/>
          </a:bodyPr>
          <a:lstStyle/>
          <a:p>
            <a:r>
              <a:rPr lang="en-US" sz="1600" dirty="0">
                <a:solidFill>
                  <a:srgbClr val="FFFF00"/>
                </a:solidFill>
                <a:effectLst/>
                <a:latin typeface="Courier New" panose="02070309020205020404" pitchFamily="49" charset="0"/>
                <a:ea typeface="Times New Roman" panose="02020603050405020304" pitchFamily="18" charset="0"/>
              </a:rPr>
              <a:t>public class </a:t>
            </a:r>
            <a:r>
              <a:rPr lang="en-US" sz="1600" dirty="0" err="1">
                <a:solidFill>
                  <a:srgbClr val="FFFF00"/>
                </a:solidFill>
                <a:effectLst/>
                <a:latin typeface="Courier New" panose="02070309020205020404" pitchFamily="49" charset="0"/>
                <a:ea typeface="Times New Roman" panose="02020603050405020304" pitchFamily="18" charset="0"/>
              </a:rPr>
              <a:t>AritmeticaFissa</a:t>
            </a:r>
            <a:r>
              <a:rPr lang="en-US" sz="1600" dirty="0">
                <a:solidFill>
                  <a:srgbClr val="FFFF00"/>
                </a:solidFill>
                <a:effectLst/>
                <a:latin typeface="Courier New" panose="02070309020205020404" pitchFamily="49" charset="0"/>
                <a:ea typeface="Times New Roman" panose="02020603050405020304" pitchFamily="18" charset="0"/>
              </a:rPr>
              <a:t> {</a:t>
            </a:r>
          </a:p>
          <a:p>
            <a:r>
              <a:rPr lang="en-US" sz="1600" dirty="0">
                <a:solidFill>
                  <a:srgbClr val="FFFF00"/>
                </a:solidFill>
                <a:effectLst/>
                <a:latin typeface="Courier New" panose="02070309020205020404" pitchFamily="49" charset="0"/>
                <a:ea typeface="Times New Roman" panose="02020603050405020304" pitchFamily="18" charset="0"/>
              </a:rPr>
              <a:t>    public int somma(){</a:t>
            </a:r>
          </a:p>
          <a:p>
            <a:r>
              <a:rPr lang="en-US" sz="1600" dirty="0">
                <a:solidFill>
                  <a:srgbClr val="FFFF00"/>
                </a:solidFill>
                <a:effectLst/>
                <a:latin typeface="Courier New" panose="02070309020205020404" pitchFamily="49" charset="0"/>
                <a:ea typeface="Times New Roman" panose="02020603050405020304" pitchFamily="18" charset="0"/>
              </a:rPr>
              <a:t>        return (5 + 6);</a:t>
            </a:r>
          </a:p>
          <a:p>
            <a:r>
              <a:rPr lang="en-US" sz="1600" dirty="0">
                <a:solidFill>
                  <a:srgbClr val="FFFF00"/>
                </a:solidFill>
                <a:effectLst/>
                <a:latin typeface="Courier New" panose="02070309020205020404" pitchFamily="49" charset="0"/>
                <a:ea typeface="Times New Roman" panose="02020603050405020304" pitchFamily="18" charset="0"/>
              </a:rPr>
              <a:t>    }</a:t>
            </a:r>
          </a:p>
          <a:p>
            <a:r>
              <a:rPr lang="en-US" sz="1600" dirty="0">
                <a:solidFill>
                  <a:srgbClr val="FFFF00"/>
                </a:solidFill>
                <a:effectLst/>
                <a:latin typeface="Courier New" panose="02070309020205020404" pitchFamily="49" charset="0"/>
                <a:ea typeface="Times New Roman" panose="02020603050405020304" pitchFamily="18" charset="0"/>
              </a:rPr>
              <a:t>}</a:t>
            </a:r>
          </a:p>
        </p:txBody>
      </p:sp>
      <p:sp>
        <p:nvSpPr>
          <p:cNvPr id="9" name="CasellaDiTesto 8">
            <a:extLst>
              <a:ext uri="{FF2B5EF4-FFF2-40B4-BE49-F238E27FC236}">
                <a16:creationId xmlns:a16="http://schemas.microsoft.com/office/drawing/2014/main" id="{EA2EA02B-156B-4A8D-926E-4D187E50C619}"/>
              </a:ext>
            </a:extLst>
          </p:cNvPr>
          <p:cNvSpPr txBox="1"/>
          <p:nvPr/>
        </p:nvSpPr>
        <p:spPr>
          <a:xfrm>
            <a:off x="4211950" y="3259879"/>
            <a:ext cx="4932050" cy="1323439"/>
          </a:xfrm>
          <a:prstGeom prst="rect">
            <a:avLst/>
          </a:prstGeom>
          <a:noFill/>
        </p:spPr>
        <p:txBody>
          <a:bodyPr wrap="square">
            <a:spAutoFit/>
          </a:bodyPr>
          <a:lstStyle/>
          <a:p>
            <a:r>
              <a:rPr lang="en-US" sz="1600" dirty="0">
                <a:solidFill>
                  <a:srgbClr val="FFFF00"/>
                </a:solidFill>
                <a:effectLst/>
                <a:latin typeface="Courier New" panose="02070309020205020404" pitchFamily="49" charset="0"/>
                <a:ea typeface="Times New Roman" panose="02020603050405020304" pitchFamily="18" charset="0"/>
              </a:rPr>
              <a:t>public class </a:t>
            </a:r>
            <a:r>
              <a:rPr lang="en-US" sz="1600" dirty="0" err="1">
                <a:solidFill>
                  <a:srgbClr val="FFFF00"/>
                </a:solidFill>
                <a:effectLst/>
                <a:latin typeface="Courier New" panose="02070309020205020404" pitchFamily="49" charset="0"/>
                <a:ea typeface="Times New Roman" panose="02020603050405020304" pitchFamily="18" charset="0"/>
              </a:rPr>
              <a:t>FabbricaPunti</a:t>
            </a:r>
            <a:r>
              <a:rPr lang="en-US" sz="1600" dirty="0">
                <a:solidFill>
                  <a:srgbClr val="FFFF00"/>
                </a:solidFill>
                <a:effectLst/>
                <a:latin typeface="Courier New" panose="02070309020205020404" pitchFamily="49" charset="0"/>
                <a:ea typeface="Times New Roman" panose="02020603050405020304" pitchFamily="18" charset="0"/>
              </a:rPr>
              <a:t> {</a:t>
            </a:r>
          </a:p>
          <a:p>
            <a:r>
              <a:rPr lang="en-US" sz="1600" dirty="0">
                <a:solidFill>
                  <a:srgbClr val="FFFF00"/>
                </a:solidFill>
                <a:effectLst/>
                <a:latin typeface="Courier New" panose="02070309020205020404" pitchFamily="49" charset="0"/>
                <a:ea typeface="Times New Roman" panose="02020603050405020304" pitchFamily="18" charset="0"/>
              </a:rPr>
              <a:t>    public Punto </a:t>
            </a:r>
            <a:r>
              <a:rPr lang="en-US" sz="1600" dirty="0" err="1">
                <a:solidFill>
                  <a:srgbClr val="FFFF00"/>
                </a:solidFill>
                <a:effectLst/>
                <a:latin typeface="Courier New" panose="02070309020205020404" pitchFamily="49" charset="0"/>
                <a:ea typeface="Times New Roman" panose="02020603050405020304" pitchFamily="18" charset="0"/>
              </a:rPr>
              <a:t>dammiUnPunto</a:t>
            </a:r>
            <a:r>
              <a:rPr lang="en-US" sz="1600" dirty="0">
                <a:solidFill>
                  <a:srgbClr val="FFFF00"/>
                </a:solidFill>
                <a:effectLst/>
                <a:latin typeface="Courier New" panose="02070309020205020404" pitchFamily="49" charset="0"/>
                <a:ea typeface="Times New Roman" panose="02020603050405020304" pitchFamily="18" charset="0"/>
              </a:rPr>
              <a:t>() {</a:t>
            </a:r>
          </a:p>
          <a:p>
            <a:r>
              <a:rPr lang="en-US" sz="1600" dirty="0">
                <a:solidFill>
                  <a:srgbClr val="FFFF00"/>
                </a:solidFill>
                <a:effectLst/>
                <a:latin typeface="Courier New" panose="02070309020205020404" pitchFamily="49" charset="0"/>
                <a:ea typeface="Times New Roman" panose="02020603050405020304" pitchFamily="18" charset="0"/>
              </a:rPr>
              <a:t>        return new Punto();</a:t>
            </a:r>
          </a:p>
          <a:p>
            <a:r>
              <a:rPr lang="en-US" sz="1600" dirty="0">
                <a:solidFill>
                  <a:srgbClr val="FFFF00"/>
                </a:solidFill>
                <a:effectLst/>
                <a:latin typeface="Courier New" panose="02070309020205020404" pitchFamily="49" charset="0"/>
                <a:ea typeface="Times New Roman" panose="02020603050405020304" pitchFamily="18" charset="0"/>
              </a:rPr>
              <a:t>    }</a:t>
            </a:r>
          </a:p>
          <a:p>
            <a:r>
              <a:rPr lang="en-US" sz="1600" dirty="0">
                <a:solidFill>
                  <a:srgbClr val="FFFF00"/>
                </a:solidFill>
                <a:effectLst/>
                <a:latin typeface="Courier New" panose="02070309020205020404" pitchFamily="49" charset="0"/>
                <a:ea typeface="Times New Roman" panose="02020603050405020304" pitchFamily="18" charset="0"/>
              </a:rPr>
              <a:t>}</a:t>
            </a:r>
          </a:p>
        </p:txBody>
      </p:sp>
      <p:sp>
        <p:nvSpPr>
          <p:cNvPr id="14" name="CasellaDiTesto 13">
            <a:extLst>
              <a:ext uri="{FF2B5EF4-FFF2-40B4-BE49-F238E27FC236}">
                <a16:creationId xmlns:a16="http://schemas.microsoft.com/office/drawing/2014/main" id="{2170D3D7-68CB-4560-895D-01B0D941C21C}"/>
              </a:ext>
            </a:extLst>
          </p:cNvPr>
          <p:cNvSpPr txBox="1"/>
          <p:nvPr/>
        </p:nvSpPr>
        <p:spPr>
          <a:xfrm>
            <a:off x="251400" y="4891609"/>
            <a:ext cx="3456480" cy="1477328"/>
          </a:xfrm>
          <a:prstGeom prst="rect">
            <a:avLst/>
          </a:prstGeom>
          <a:noFill/>
        </p:spPr>
        <p:txBody>
          <a:bodyPr wrap="square">
            <a:spAutoFit/>
          </a:bodyPr>
          <a:lstStyle/>
          <a:p>
            <a:r>
              <a:rPr lang="it-IT" dirty="0">
                <a:solidFill>
                  <a:srgbClr val="FFC000"/>
                </a:solidFill>
              </a:rPr>
              <a:t>public class Saluti {</a:t>
            </a:r>
          </a:p>
          <a:p>
            <a:r>
              <a:rPr lang="it-IT" dirty="0">
                <a:solidFill>
                  <a:srgbClr val="FFC000"/>
                </a:solidFill>
              </a:rPr>
              <a:t>    public void </a:t>
            </a:r>
            <a:r>
              <a:rPr lang="it-IT" dirty="0" err="1">
                <a:solidFill>
                  <a:srgbClr val="FFC000"/>
                </a:solidFill>
              </a:rPr>
              <a:t>stampaSaluto</a:t>
            </a:r>
            <a:r>
              <a:rPr lang="it-IT" dirty="0">
                <a:solidFill>
                  <a:srgbClr val="FFC000"/>
                </a:solidFill>
              </a:rPr>
              <a:t>() {</a:t>
            </a:r>
          </a:p>
          <a:p>
            <a:r>
              <a:rPr lang="it-IT" dirty="0">
                <a:solidFill>
                  <a:srgbClr val="FFC000"/>
                </a:solidFill>
              </a:rPr>
              <a:t>        System.out.println("Ciao");</a:t>
            </a:r>
          </a:p>
          <a:p>
            <a:r>
              <a:rPr lang="it-IT" dirty="0">
                <a:solidFill>
                  <a:srgbClr val="FFC000"/>
                </a:solidFill>
              </a:rPr>
              <a:t>    }</a:t>
            </a:r>
          </a:p>
          <a:p>
            <a:r>
              <a:rPr lang="it-IT" dirty="0">
                <a:solidFill>
                  <a:srgbClr val="FFC000"/>
                </a:solidFill>
              </a:rPr>
              <a:t>} </a:t>
            </a:r>
          </a:p>
        </p:txBody>
      </p:sp>
      <p:sp>
        <p:nvSpPr>
          <p:cNvPr id="15" name="CasellaDiTesto 14">
            <a:extLst>
              <a:ext uri="{FF2B5EF4-FFF2-40B4-BE49-F238E27FC236}">
                <a16:creationId xmlns:a16="http://schemas.microsoft.com/office/drawing/2014/main" id="{EBC54482-9FB8-4721-A66A-F6F37AC7C153}"/>
              </a:ext>
            </a:extLst>
          </p:cNvPr>
          <p:cNvSpPr txBox="1"/>
          <p:nvPr/>
        </p:nvSpPr>
        <p:spPr>
          <a:xfrm>
            <a:off x="5004060" y="4454172"/>
            <a:ext cx="4104570" cy="1754326"/>
          </a:xfrm>
          <a:prstGeom prst="rect">
            <a:avLst/>
          </a:prstGeom>
          <a:noFill/>
        </p:spPr>
        <p:txBody>
          <a:bodyPr wrap="square">
            <a:spAutoFit/>
          </a:bodyPr>
          <a:lstStyle/>
          <a:p>
            <a:r>
              <a:rPr lang="it-IT" dirty="0">
                <a:solidFill>
                  <a:schemeClr val="accent5"/>
                </a:solidFill>
              </a:rPr>
              <a:t>public class </a:t>
            </a:r>
            <a:r>
              <a:rPr lang="it-IT" dirty="0" err="1">
                <a:solidFill>
                  <a:schemeClr val="accent5"/>
                </a:solidFill>
              </a:rPr>
              <a:t>TestSaluti</a:t>
            </a:r>
            <a:r>
              <a:rPr lang="it-IT" dirty="0">
                <a:solidFill>
                  <a:schemeClr val="accent5"/>
                </a:solidFill>
              </a:rPr>
              <a:t> {</a:t>
            </a:r>
          </a:p>
          <a:p>
            <a:r>
              <a:rPr lang="it-IT" dirty="0">
                <a:solidFill>
                  <a:schemeClr val="accent5"/>
                </a:solidFill>
              </a:rPr>
              <a:t>    public static void main(String args[]) {</a:t>
            </a:r>
          </a:p>
          <a:p>
            <a:r>
              <a:rPr lang="it-IT" dirty="0">
                <a:solidFill>
                  <a:schemeClr val="accent5"/>
                </a:solidFill>
              </a:rPr>
              <a:t>        Saluti oggetto1 = new Saluti();</a:t>
            </a:r>
          </a:p>
          <a:p>
            <a:r>
              <a:rPr lang="it-IT" dirty="0">
                <a:solidFill>
                  <a:schemeClr val="accent5"/>
                </a:solidFill>
              </a:rPr>
              <a:t>        oggetto1.stampaSaluto();</a:t>
            </a:r>
          </a:p>
          <a:p>
            <a:r>
              <a:rPr lang="it-IT" dirty="0">
                <a:solidFill>
                  <a:schemeClr val="accent5"/>
                </a:solidFill>
              </a:rPr>
              <a:t>    }</a:t>
            </a:r>
          </a:p>
          <a:p>
            <a:r>
              <a:rPr lang="it-IT" dirty="0">
                <a:solidFill>
                  <a:schemeClr val="accent5"/>
                </a:solidFill>
              </a:rPr>
              <a:t>}</a:t>
            </a:r>
          </a:p>
        </p:txBody>
      </p:sp>
    </p:spTree>
    <p:extLst>
      <p:ext uri="{BB962C8B-B14F-4D97-AF65-F5344CB8AC3E}">
        <p14:creationId xmlns:p14="http://schemas.microsoft.com/office/powerpoint/2010/main" val="1923242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0"/>
            <a:ext cx="8119930" cy="1325563"/>
          </a:xfrm>
        </p:spPr>
        <p:txBody>
          <a:bodyPr/>
          <a:lstStyle/>
          <a:p>
            <a:r>
              <a:rPr lang="it-IT" dirty="0"/>
              <a:t>Costanti: il modificatore </a:t>
            </a:r>
            <a:r>
              <a:rPr lang="it-IT" i="1" dirty="0"/>
              <a:t>final</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840000" y="1484730"/>
            <a:ext cx="7675350" cy="4608640"/>
          </a:xfrm>
        </p:spPr>
        <p:txBody>
          <a:bodyPr>
            <a:normAutofit/>
          </a:bodyPr>
          <a:lstStyle/>
          <a:p>
            <a:pPr marL="0" indent="0">
              <a:buNone/>
            </a:pPr>
            <a:r>
              <a:rPr lang="it-IT" sz="3600" dirty="0">
                <a:solidFill>
                  <a:schemeClr val="accent5"/>
                </a:solidFill>
              </a:rPr>
              <a:t>public class Rettangolo {</a:t>
            </a:r>
          </a:p>
          <a:p>
            <a:pPr marL="0" indent="0">
              <a:buNone/>
            </a:pPr>
            <a:r>
              <a:rPr lang="it-IT" sz="3600" dirty="0">
                <a:solidFill>
                  <a:schemeClr val="accent5"/>
                </a:solidFill>
              </a:rPr>
              <a:t>    public </a:t>
            </a:r>
            <a:r>
              <a:rPr lang="it-IT" sz="3600" b="1" dirty="0">
                <a:solidFill>
                  <a:schemeClr val="accent5"/>
                </a:solidFill>
              </a:rPr>
              <a:t>final</a:t>
            </a:r>
            <a:r>
              <a:rPr lang="it-IT" sz="3600" dirty="0">
                <a:solidFill>
                  <a:schemeClr val="accent5"/>
                </a:solidFill>
              </a:rPr>
              <a:t> int NUMERO_LATI = 4;</a:t>
            </a:r>
          </a:p>
          <a:p>
            <a:pPr marL="0" indent="0">
              <a:buNone/>
            </a:pPr>
            <a:r>
              <a:rPr lang="it-IT" sz="3600" dirty="0">
                <a:solidFill>
                  <a:schemeClr val="accent5"/>
                </a:solidFill>
              </a:rPr>
              <a:t>    public int base;</a:t>
            </a:r>
          </a:p>
          <a:p>
            <a:pPr marL="0" indent="0">
              <a:buNone/>
            </a:pPr>
            <a:r>
              <a:rPr lang="it-IT" sz="3600" dirty="0">
                <a:solidFill>
                  <a:schemeClr val="accent5"/>
                </a:solidFill>
              </a:rPr>
              <a:t>    public int altezza;</a:t>
            </a:r>
          </a:p>
          <a:p>
            <a:pPr marL="0" indent="0">
              <a:buNone/>
            </a:pPr>
            <a:r>
              <a:rPr lang="it-IT" sz="3600" dirty="0">
                <a:solidFill>
                  <a:schemeClr val="accent5"/>
                </a:solidFill>
              </a:rPr>
              <a:t>}</a:t>
            </a:r>
          </a:p>
          <a:p>
            <a:pPr marL="0" indent="0">
              <a:buNone/>
            </a:pPr>
            <a:endParaRPr lang="it-IT" sz="2800"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29</a:t>
            </a:fld>
            <a:endParaRPr lang="it-IT"/>
          </a:p>
        </p:txBody>
      </p:sp>
    </p:spTree>
    <p:extLst>
      <p:ext uri="{BB962C8B-B14F-4D97-AF65-F5344CB8AC3E}">
        <p14:creationId xmlns:p14="http://schemas.microsoft.com/office/powerpoint/2010/main" val="26540199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0"/>
            <a:ext cx="8119930" cy="1325563"/>
          </a:xfrm>
        </p:spPr>
        <p:txBody>
          <a:bodyPr/>
          <a:lstStyle/>
          <a:p>
            <a:r>
              <a:rPr lang="it-IT" dirty="0"/>
              <a:t>Categorizzazione delle variabili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840000" y="1484730"/>
            <a:ext cx="7675350" cy="1944270"/>
          </a:xfrm>
        </p:spPr>
        <p:txBody>
          <a:bodyPr>
            <a:normAutofit/>
          </a:bodyPr>
          <a:lstStyle/>
          <a:p>
            <a:r>
              <a:rPr lang="it-IT" sz="4000" dirty="0"/>
              <a:t>Variabili d’istanza</a:t>
            </a:r>
          </a:p>
          <a:p>
            <a:r>
              <a:rPr lang="it-IT" sz="4000" dirty="0"/>
              <a:t>Variabili locali</a:t>
            </a:r>
          </a:p>
          <a:p>
            <a:pPr lvl="1"/>
            <a:r>
              <a:rPr lang="it-IT" sz="3600" dirty="0"/>
              <a:t>Parametri formali</a:t>
            </a:r>
          </a:p>
          <a:p>
            <a:endParaRPr lang="it-IT" sz="4000" dirty="0"/>
          </a:p>
          <a:p>
            <a:endParaRPr lang="it-IT" sz="4000" dirty="0"/>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30</a:t>
            </a:fld>
            <a:endParaRPr lang="it-IT"/>
          </a:p>
        </p:txBody>
      </p:sp>
      <p:sp>
        <p:nvSpPr>
          <p:cNvPr id="9" name="CasellaDiTesto 8">
            <a:extLst>
              <a:ext uri="{FF2B5EF4-FFF2-40B4-BE49-F238E27FC236}">
                <a16:creationId xmlns:a16="http://schemas.microsoft.com/office/drawing/2014/main" id="{08677F9C-4679-4349-8957-B43D0B114F6D}"/>
              </a:ext>
            </a:extLst>
          </p:cNvPr>
          <p:cNvSpPr txBox="1"/>
          <p:nvPr/>
        </p:nvSpPr>
        <p:spPr>
          <a:xfrm>
            <a:off x="840000" y="3284980"/>
            <a:ext cx="7779320" cy="3416320"/>
          </a:xfrm>
          <a:prstGeom prst="rect">
            <a:avLst/>
          </a:prstGeom>
          <a:noFill/>
        </p:spPr>
        <p:txBody>
          <a:bodyPr wrap="square">
            <a:spAutoFit/>
          </a:bodyPr>
          <a:lstStyle/>
          <a:p>
            <a:r>
              <a:rPr lang="it-IT" sz="2400" dirty="0">
                <a:solidFill>
                  <a:schemeClr val="accent5"/>
                </a:solidFill>
              </a:rPr>
              <a:t>// USO DI VARIABILI D’ISTANZA</a:t>
            </a:r>
          </a:p>
          <a:p>
            <a:r>
              <a:rPr lang="it-IT" sz="2400" dirty="0">
                <a:solidFill>
                  <a:schemeClr val="accent5"/>
                </a:solidFill>
              </a:rPr>
              <a:t>public class Test Rettangolo{</a:t>
            </a:r>
          </a:p>
          <a:p>
            <a:r>
              <a:rPr lang="it-IT" sz="2400" dirty="0">
                <a:solidFill>
                  <a:schemeClr val="accent5"/>
                </a:solidFill>
              </a:rPr>
              <a:t>    public static void main(String args[]) {</a:t>
            </a:r>
          </a:p>
          <a:p>
            <a:r>
              <a:rPr lang="it-IT" sz="2400" dirty="0">
                <a:solidFill>
                  <a:schemeClr val="accent5"/>
                </a:solidFill>
              </a:rPr>
              <a:t>        Rettangolo </a:t>
            </a:r>
            <a:r>
              <a:rPr lang="it-IT" sz="2400" dirty="0" err="1">
                <a:solidFill>
                  <a:schemeClr val="accent5"/>
                </a:solidFill>
              </a:rPr>
              <a:t>rettangolo</a:t>
            </a:r>
            <a:r>
              <a:rPr lang="it-IT" sz="2400" dirty="0">
                <a:solidFill>
                  <a:schemeClr val="accent5"/>
                </a:solidFill>
              </a:rPr>
              <a:t> = new Rettangolo();</a:t>
            </a:r>
            <a:br>
              <a:rPr lang="it-IT" sz="2400" dirty="0">
                <a:solidFill>
                  <a:schemeClr val="accent5"/>
                </a:solidFill>
              </a:rPr>
            </a:br>
            <a:r>
              <a:rPr lang="it-IT" sz="2400" dirty="0">
                <a:solidFill>
                  <a:schemeClr val="accent5"/>
                </a:solidFill>
              </a:rPr>
              <a:t>        </a:t>
            </a:r>
            <a:r>
              <a:rPr lang="it-IT" sz="2400" dirty="0" err="1">
                <a:solidFill>
                  <a:schemeClr val="accent5"/>
                </a:solidFill>
              </a:rPr>
              <a:t>rettangolo.base</a:t>
            </a:r>
            <a:r>
              <a:rPr lang="it-IT" sz="2400" dirty="0">
                <a:solidFill>
                  <a:schemeClr val="accent5"/>
                </a:solidFill>
              </a:rPr>
              <a:t> = 10;</a:t>
            </a:r>
          </a:p>
          <a:p>
            <a:r>
              <a:rPr lang="it-IT" sz="2400" dirty="0">
                <a:solidFill>
                  <a:schemeClr val="accent5"/>
                </a:solidFill>
              </a:rPr>
              <a:t>        </a:t>
            </a:r>
            <a:r>
              <a:rPr lang="it-IT" sz="2400" dirty="0" err="1">
                <a:solidFill>
                  <a:schemeClr val="accent5"/>
                </a:solidFill>
              </a:rPr>
              <a:t>rettangolo.altezza</a:t>
            </a:r>
            <a:r>
              <a:rPr lang="it-IT" sz="2400" dirty="0">
                <a:solidFill>
                  <a:schemeClr val="accent5"/>
                </a:solidFill>
              </a:rPr>
              <a:t> = 10;</a:t>
            </a:r>
          </a:p>
          <a:p>
            <a:r>
              <a:rPr lang="it-IT" sz="2400" dirty="0">
                <a:solidFill>
                  <a:schemeClr val="accent5"/>
                </a:solidFill>
              </a:rPr>
              <a:t>        System.out.println(</a:t>
            </a:r>
            <a:r>
              <a:rPr lang="it-IT" sz="2400" dirty="0" err="1">
                <a:solidFill>
                  <a:schemeClr val="accent5"/>
                </a:solidFill>
              </a:rPr>
              <a:t>rettangolo.NUMERO_LATI</a:t>
            </a:r>
            <a:r>
              <a:rPr lang="it-IT" sz="2400" dirty="0">
                <a:solidFill>
                  <a:schemeClr val="accent5"/>
                </a:solidFill>
              </a:rPr>
              <a:t>);</a:t>
            </a:r>
          </a:p>
          <a:p>
            <a:r>
              <a:rPr lang="it-IT" sz="2400" dirty="0">
                <a:solidFill>
                  <a:schemeClr val="accent5"/>
                </a:solidFill>
              </a:rPr>
              <a:t>    }</a:t>
            </a:r>
          </a:p>
          <a:p>
            <a:r>
              <a:rPr lang="it-IT" sz="2400" dirty="0">
                <a:solidFill>
                  <a:schemeClr val="accent5"/>
                </a:solidFill>
              </a:rPr>
              <a:t>}</a:t>
            </a:r>
          </a:p>
        </p:txBody>
      </p:sp>
    </p:spTree>
    <p:extLst>
      <p:ext uri="{BB962C8B-B14F-4D97-AF65-F5344CB8AC3E}">
        <p14:creationId xmlns:p14="http://schemas.microsoft.com/office/powerpoint/2010/main" val="934814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0"/>
            <a:ext cx="8119930" cy="1325563"/>
          </a:xfrm>
        </p:spPr>
        <p:txBody>
          <a:bodyPr/>
          <a:lstStyle/>
          <a:p>
            <a:r>
              <a:rPr lang="it-IT" dirty="0"/>
              <a:t>Variabili locali e parametri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31</a:t>
            </a:fld>
            <a:endParaRPr lang="it-IT"/>
          </a:p>
        </p:txBody>
      </p:sp>
      <p:sp>
        <p:nvSpPr>
          <p:cNvPr id="9" name="CasellaDiTesto 8">
            <a:extLst>
              <a:ext uri="{FF2B5EF4-FFF2-40B4-BE49-F238E27FC236}">
                <a16:creationId xmlns:a16="http://schemas.microsoft.com/office/drawing/2014/main" id="{08677F9C-4679-4349-8957-B43D0B114F6D}"/>
              </a:ext>
            </a:extLst>
          </p:cNvPr>
          <p:cNvSpPr txBox="1"/>
          <p:nvPr/>
        </p:nvSpPr>
        <p:spPr>
          <a:xfrm>
            <a:off x="322290" y="3305156"/>
            <a:ext cx="7779320" cy="3416320"/>
          </a:xfrm>
          <a:prstGeom prst="rect">
            <a:avLst/>
          </a:prstGeom>
          <a:noFill/>
        </p:spPr>
        <p:txBody>
          <a:bodyPr wrap="square">
            <a:spAutoFit/>
          </a:bodyPr>
          <a:lstStyle/>
          <a:p>
            <a:r>
              <a:rPr lang="it-IT" sz="2400" dirty="0">
                <a:solidFill>
                  <a:schemeClr val="accent5"/>
                </a:solidFill>
              </a:rPr>
              <a:t>public class </a:t>
            </a:r>
            <a:r>
              <a:rPr lang="it-IT" sz="2400" dirty="0" err="1">
                <a:solidFill>
                  <a:schemeClr val="accent5"/>
                </a:solidFill>
              </a:rPr>
              <a:t>TestSomma</a:t>
            </a:r>
            <a:r>
              <a:rPr lang="it-IT" sz="2400" dirty="0">
                <a:solidFill>
                  <a:schemeClr val="accent5"/>
                </a:solidFill>
              </a:rPr>
              <a:t>{</a:t>
            </a:r>
          </a:p>
          <a:p>
            <a:r>
              <a:rPr lang="it-IT" sz="2400" dirty="0">
                <a:solidFill>
                  <a:schemeClr val="accent5"/>
                </a:solidFill>
              </a:rPr>
              <a:t>    public static void main(String args[]) {</a:t>
            </a:r>
          </a:p>
          <a:p>
            <a:r>
              <a:rPr lang="it-IT" sz="2400" dirty="0">
                <a:solidFill>
                  <a:schemeClr val="accent5"/>
                </a:solidFill>
              </a:rPr>
              <a:t>        Aritmetica </a:t>
            </a:r>
            <a:r>
              <a:rPr lang="it-IT" sz="2400" b="1" dirty="0" err="1">
                <a:solidFill>
                  <a:schemeClr val="accent5"/>
                </a:solidFill>
              </a:rPr>
              <a:t>oggettoAritmetica</a:t>
            </a:r>
            <a:r>
              <a:rPr lang="it-IT" sz="2400" dirty="0">
                <a:solidFill>
                  <a:schemeClr val="accent5"/>
                </a:solidFill>
              </a:rPr>
              <a:t> = new Aritmetica();</a:t>
            </a:r>
          </a:p>
          <a:p>
            <a:r>
              <a:rPr lang="it-IT" sz="2400" dirty="0">
                <a:solidFill>
                  <a:schemeClr val="accent5"/>
                </a:solidFill>
              </a:rPr>
              <a:t>        int </a:t>
            </a:r>
            <a:r>
              <a:rPr lang="it-IT" sz="2400" b="1" dirty="0">
                <a:solidFill>
                  <a:schemeClr val="accent5"/>
                </a:solidFill>
              </a:rPr>
              <a:t>risultato</a:t>
            </a:r>
            <a:r>
              <a:rPr lang="it-IT" sz="2400" dirty="0">
                <a:solidFill>
                  <a:schemeClr val="accent5"/>
                </a:solidFill>
              </a:rPr>
              <a:t> = </a:t>
            </a:r>
            <a:r>
              <a:rPr lang="it-IT" sz="2400" dirty="0" err="1">
                <a:solidFill>
                  <a:schemeClr val="accent5"/>
                </a:solidFill>
              </a:rPr>
              <a:t>oggettoAritmetica.somma</a:t>
            </a:r>
            <a:r>
              <a:rPr lang="it-IT" sz="2400" dirty="0">
                <a:solidFill>
                  <a:schemeClr val="accent5"/>
                </a:solidFill>
              </a:rPr>
              <a:t>(5, 6);</a:t>
            </a:r>
          </a:p>
          <a:p>
            <a:r>
              <a:rPr lang="it-IT" sz="2400" dirty="0">
                <a:solidFill>
                  <a:schemeClr val="accent5"/>
                </a:solidFill>
              </a:rPr>
              <a:t>        int </a:t>
            </a:r>
            <a:r>
              <a:rPr lang="it-IT" sz="2400" b="1" dirty="0">
                <a:solidFill>
                  <a:schemeClr val="accent5"/>
                </a:solidFill>
              </a:rPr>
              <a:t>a</a:t>
            </a:r>
            <a:r>
              <a:rPr lang="it-IT" sz="2400" dirty="0">
                <a:solidFill>
                  <a:schemeClr val="accent5"/>
                </a:solidFill>
              </a:rPr>
              <a:t> = 5, </a:t>
            </a:r>
            <a:r>
              <a:rPr lang="it-IT" sz="2400" b="1" dirty="0">
                <a:solidFill>
                  <a:schemeClr val="accent5"/>
                </a:solidFill>
              </a:rPr>
              <a:t>b</a:t>
            </a:r>
            <a:r>
              <a:rPr lang="it-IT" sz="2400" dirty="0">
                <a:solidFill>
                  <a:schemeClr val="accent5"/>
                </a:solidFill>
              </a:rPr>
              <a:t> = 6;</a:t>
            </a:r>
          </a:p>
          <a:p>
            <a:r>
              <a:rPr lang="it-IT" sz="2400" dirty="0">
                <a:solidFill>
                  <a:schemeClr val="accent5"/>
                </a:solidFill>
              </a:rPr>
              <a:t>        risultato = </a:t>
            </a:r>
            <a:r>
              <a:rPr lang="it-IT" sz="2400" dirty="0" err="1">
                <a:solidFill>
                  <a:schemeClr val="accent5"/>
                </a:solidFill>
              </a:rPr>
              <a:t>oggettoAritmetica.somma</a:t>
            </a:r>
            <a:r>
              <a:rPr lang="it-IT" sz="2400" dirty="0">
                <a:solidFill>
                  <a:schemeClr val="accent5"/>
                </a:solidFill>
              </a:rPr>
              <a:t>(a, b);</a:t>
            </a:r>
          </a:p>
          <a:p>
            <a:r>
              <a:rPr lang="it-IT" sz="2400" dirty="0">
                <a:solidFill>
                  <a:schemeClr val="accent6"/>
                </a:solidFill>
              </a:rPr>
              <a:t>        </a:t>
            </a:r>
            <a:r>
              <a:rPr lang="it-IT" sz="2400" dirty="0">
                <a:solidFill>
                  <a:schemeClr val="accent5"/>
                </a:solidFill>
              </a:rPr>
              <a:t>System.out.println(risultato);</a:t>
            </a:r>
          </a:p>
          <a:p>
            <a:r>
              <a:rPr lang="it-IT" sz="2400" dirty="0">
                <a:solidFill>
                  <a:schemeClr val="accent5"/>
                </a:solidFill>
              </a:rPr>
              <a:t>    }</a:t>
            </a:r>
          </a:p>
          <a:p>
            <a:r>
              <a:rPr lang="it-IT" sz="2400" dirty="0">
                <a:solidFill>
                  <a:schemeClr val="accent5"/>
                </a:solidFill>
              </a:rPr>
              <a:t>}</a:t>
            </a:r>
          </a:p>
        </p:txBody>
      </p:sp>
      <p:sp>
        <p:nvSpPr>
          <p:cNvPr id="12" name="CasellaDiTesto 11">
            <a:extLst>
              <a:ext uri="{FF2B5EF4-FFF2-40B4-BE49-F238E27FC236}">
                <a16:creationId xmlns:a16="http://schemas.microsoft.com/office/drawing/2014/main" id="{C68CEE05-3202-4398-828F-3F670B1B9CEB}"/>
              </a:ext>
            </a:extLst>
          </p:cNvPr>
          <p:cNvSpPr txBox="1"/>
          <p:nvPr/>
        </p:nvSpPr>
        <p:spPr>
          <a:xfrm>
            <a:off x="4587437" y="1368268"/>
            <a:ext cx="6115051" cy="2308324"/>
          </a:xfrm>
          <a:prstGeom prst="rect">
            <a:avLst/>
          </a:prstGeom>
          <a:noFill/>
        </p:spPr>
        <p:txBody>
          <a:bodyPr wrap="square">
            <a:spAutoFit/>
          </a:bodyPr>
          <a:lstStyle/>
          <a:p>
            <a:r>
              <a:rPr lang="en-US" sz="2400" dirty="0">
                <a:solidFill>
                  <a:schemeClr val="accent6"/>
                </a:solidFill>
              </a:rPr>
              <a:t>public class </a:t>
            </a:r>
            <a:r>
              <a:rPr lang="en-US" sz="2400" dirty="0" err="1">
                <a:solidFill>
                  <a:schemeClr val="accent6"/>
                </a:solidFill>
              </a:rPr>
              <a:t>Aritmetica</a:t>
            </a:r>
            <a:r>
              <a:rPr lang="en-US" sz="2400" dirty="0">
                <a:solidFill>
                  <a:schemeClr val="accent6"/>
                </a:solidFill>
              </a:rPr>
              <a:t> {</a:t>
            </a:r>
          </a:p>
          <a:p>
            <a:r>
              <a:rPr lang="en-US" sz="2400" dirty="0">
                <a:solidFill>
                  <a:schemeClr val="accent6"/>
                </a:solidFill>
              </a:rPr>
              <a:t>    public int somma(int a, int b) {</a:t>
            </a:r>
          </a:p>
          <a:p>
            <a:r>
              <a:rPr lang="en-US" sz="2400" dirty="0">
                <a:solidFill>
                  <a:schemeClr val="accent6"/>
                </a:solidFill>
              </a:rPr>
              <a:t>        return (a + b);</a:t>
            </a:r>
          </a:p>
          <a:p>
            <a:r>
              <a:rPr lang="en-US" sz="2400" dirty="0">
                <a:solidFill>
                  <a:schemeClr val="accent6"/>
                </a:solidFill>
              </a:rPr>
              <a:t>    }</a:t>
            </a:r>
          </a:p>
          <a:p>
            <a:r>
              <a:rPr lang="en-US" sz="2400" dirty="0">
                <a:solidFill>
                  <a:schemeClr val="accent6"/>
                </a:solidFill>
              </a:rPr>
              <a:t>}</a:t>
            </a:r>
          </a:p>
          <a:p>
            <a:endParaRPr lang="it-IT" sz="2400" dirty="0">
              <a:solidFill>
                <a:schemeClr val="accent6"/>
              </a:solidFill>
            </a:endParaRPr>
          </a:p>
        </p:txBody>
      </p:sp>
    </p:spTree>
    <p:extLst>
      <p:ext uri="{BB962C8B-B14F-4D97-AF65-F5344CB8AC3E}">
        <p14:creationId xmlns:p14="http://schemas.microsoft.com/office/powerpoint/2010/main" val="2602944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0"/>
            <a:ext cx="8119930" cy="1325563"/>
          </a:xfrm>
        </p:spPr>
        <p:txBody>
          <a:bodyPr/>
          <a:lstStyle/>
          <a:p>
            <a:r>
              <a:rPr lang="it-IT" dirty="0"/>
              <a:t>Costruttori</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840000" y="1484730"/>
            <a:ext cx="7675350" cy="2304320"/>
          </a:xfrm>
        </p:spPr>
        <p:txBody>
          <a:bodyPr>
            <a:normAutofit fontScale="70000" lnSpcReduction="20000"/>
          </a:bodyPr>
          <a:lstStyle/>
          <a:p>
            <a:r>
              <a:rPr lang="it-IT" sz="4000" dirty="0"/>
              <a:t>Devono avere lo stesso nome della classe;</a:t>
            </a:r>
          </a:p>
          <a:p>
            <a:r>
              <a:rPr lang="it-IT" sz="4000" dirty="0"/>
              <a:t>Non dichiarano alcun tipo di ritorno;</a:t>
            </a:r>
          </a:p>
          <a:p>
            <a:r>
              <a:rPr lang="it-IT" sz="4000" dirty="0"/>
              <a:t>Sono invocati automaticamente (e solamente) ogni volta che è istanziato un oggetto, relativamente a quell’oggetto;</a:t>
            </a:r>
          </a:p>
          <a:p>
            <a:r>
              <a:rPr lang="it-IT" sz="4000" dirty="0"/>
              <a:t>Costruttore di default</a:t>
            </a:r>
          </a:p>
          <a:p>
            <a:endParaRPr lang="it-IT" sz="4000" dirty="0"/>
          </a:p>
          <a:p>
            <a:endParaRPr lang="it-IT" sz="4000" dirty="0"/>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32</a:t>
            </a:fld>
            <a:endParaRPr lang="it-IT"/>
          </a:p>
        </p:txBody>
      </p:sp>
      <p:sp>
        <p:nvSpPr>
          <p:cNvPr id="9" name="CasellaDiTesto 8">
            <a:extLst>
              <a:ext uri="{FF2B5EF4-FFF2-40B4-BE49-F238E27FC236}">
                <a16:creationId xmlns:a16="http://schemas.microsoft.com/office/drawing/2014/main" id="{08677F9C-4679-4349-8957-B43D0B114F6D}"/>
              </a:ext>
            </a:extLst>
          </p:cNvPr>
          <p:cNvSpPr txBox="1"/>
          <p:nvPr/>
        </p:nvSpPr>
        <p:spPr>
          <a:xfrm>
            <a:off x="683460" y="3775764"/>
            <a:ext cx="7779320" cy="2677656"/>
          </a:xfrm>
          <a:prstGeom prst="rect">
            <a:avLst/>
          </a:prstGeom>
          <a:noFill/>
        </p:spPr>
        <p:txBody>
          <a:bodyPr wrap="square">
            <a:spAutoFit/>
          </a:bodyPr>
          <a:lstStyle/>
          <a:p>
            <a:r>
              <a:rPr lang="it-IT" sz="2400" dirty="0">
                <a:solidFill>
                  <a:schemeClr val="accent5"/>
                </a:solidFill>
              </a:rPr>
              <a:t>public class Punto {</a:t>
            </a:r>
          </a:p>
          <a:p>
            <a:r>
              <a:rPr lang="it-IT" sz="2400" dirty="0">
                <a:solidFill>
                  <a:schemeClr val="accent5"/>
                </a:solidFill>
              </a:rPr>
              <a:t>    public int x;</a:t>
            </a:r>
          </a:p>
          <a:p>
            <a:r>
              <a:rPr lang="it-IT" sz="2400" dirty="0">
                <a:solidFill>
                  <a:schemeClr val="accent5"/>
                </a:solidFill>
              </a:rPr>
              <a:t>    public int y;</a:t>
            </a:r>
          </a:p>
          <a:p>
            <a:r>
              <a:rPr lang="it-IT" sz="2400" b="1" dirty="0">
                <a:solidFill>
                  <a:schemeClr val="accent5"/>
                </a:solidFill>
              </a:rPr>
              <a:t>    public Punto(){</a:t>
            </a:r>
          </a:p>
          <a:p>
            <a:r>
              <a:rPr lang="it-IT" sz="2400" b="1" dirty="0">
                <a:solidFill>
                  <a:schemeClr val="accent5"/>
                </a:solidFill>
              </a:rPr>
              <a:t>        System.out.println("Costruito un Punto!");</a:t>
            </a:r>
          </a:p>
          <a:p>
            <a:r>
              <a:rPr lang="it-IT" sz="2400" b="1" dirty="0">
                <a:solidFill>
                  <a:schemeClr val="accent5"/>
                </a:solidFill>
              </a:rPr>
              <a:t>    }</a:t>
            </a:r>
          </a:p>
          <a:p>
            <a:r>
              <a:rPr lang="it-IT" sz="2400" dirty="0">
                <a:solidFill>
                  <a:schemeClr val="accent5"/>
                </a:solidFill>
              </a:rPr>
              <a:t>}</a:t>
            </a:r>
          </a:p>
        </p:txBody>
      </p:sp>
    </p:spTree>
    <p:extLst>
      <p:ext uri="{BB962C8B-B14F-4D97-AF65-F5344CB8AC3E}">
        <p14:creationId xmlns:p14="http://schemas.microsoft.com/office/powerpoint/2010/main" val="5246181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0"/>
            <a:ext cx="8119930" cy="1325563"/>
          </a:xfrm>
        </p:spPr>
        <p:txBody>
          <a:bodyPr/>
          <a:lstStyle/>
          <a:p>
            <a:r>
              <a:rPr lang="it-IT" dirty="0"/>
              <a:t>Costruttori</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33</a:t>
            </a:fld>
            <a:endParaRPr lang="it-IT"/>
          </a:p>
        </p:txBody>
      </p:sp>
      <p:sp>
        <p:nvSpPr>
          <p:cNvPr id="9" name="CasellaDiTesto 8">
            <a:extLst>
              <a:ext uri="{FF2B5EF4-FFF2-40B4-BE49-F238E27FC236}">
                <a16:creationId xmlns:a16="http://schemas.microsoft.com/office/drawing/2014/main" id="{08677F9C-4679-4349-8957-B43D0B114F6D}"/>
              </a:ext>
            </a:extLst>
          </p:cNvPr>
          <p:cNvSpPr txBox="1"/>
          <p:nvPr/>
        </p:nvSpPr>
        <p:spPr>
          <a:xfrm>
            <a:off x="683460" y="1268700"/>
            <a:ext cx="7779320" cy="4154984"/>
          </a:xfrm>
          <a:prstGeom prst="rect">
            <a:avLst/>
          </a:prstGeom>
          <a:noFill/>
        </p:spPr>
        <p:txBody>
          <a:bodyPr wrap="square">
            <a:spAutoFit/>
          </a:bodyPr>
          <a:lstStyle/>
          <a:p>
            <a:r>
              <a:rPr lang="it-IT" sz="2400" dirty="0">
                <a:solidFill>
                  <a:schemeClr val="accent5"/>
                </a:solidFill>
              </a:rPr>
              <a:t>public class Punto {</a:t>
            </a:r>
          </a:p>
          <a:p>
            <a:r>
              <a:rPr lang="it-IT" sz="2400" dirty="0">
                <a:solidFill>
                  <a:schemeClr val="accent5"/>
                </a:solidFill>
              </a:rPr>
              <a:t>    public Punto() {</a:t>
            </a:r>
          </a:p>
          <a:p>
            <a:r>
              <a:rPr lang="it-IT" sz="2400" dirty="0">
                <a:solidFill>
                  <a:schemeClr val="accent5"/>
                </a:solidFill>
              </a:rPr>
              <a:t>    }</a:t>
            </a:r>
          </a:p>
          <a:p>
            <a:r>
              <a:rPr lang="it-IT" sz="2400" dirty="0">
                <a:solidFill>
                  <a:schemeClr val="accent5"/>
                </a:solidFill>
              </a:rPr>
              <a:t>    public Punto(int a, int b) {</a:t>
            </a:r>
          </a:p>
          <a:p>
            <a:r>
              <a:rPr lang="it-IT" sz="2400" dirty="0">
                <a:solidFill>
                  <a:schemeClr val="accent5"/>
                </a:solidFill>
              </a:rPr>
              <a:t>        x = a;</a:t>
            </a:r>
          </a:p>
          <a:p>
            <a:r>
              <a:rPr lang="it-IT" sz="2400" dirty="0">
                <a:solidFill>
                  <a:schemeClr val="accent5"/>
                </a:solidFill>
              </a:rPr>
              <a:t>        y = b;</a:t>
            </a:r>
          </a:p>
          <a:p>
            <a:r>
              <a:rPr lang="it-IT" sz="2400" dirty="0">
                <a:solidFill>
                  <a:schemeClr val="accent5"/>
                </a:solidFill>
              </a:rPr>
              <a:t>    }</a:t>
            </a:r>
          </a:p>
          <a:p>
            <a:r>
              <a:rPr lang="it-IT" sz="2400" dirty="0">
                <a:solidFill>
                  <a:schemeClr val="accent5"/>
                </a:solidFill>
              </a:rPr>
              <a:t>    public int x;</a:t>
            </a:r>
          </a:p>
          <a:p>
            <a:r>
              <a:rPr lang="it-IT" sz="2400" dirty="0">
                <a:solidFill>
                  <a:schemeClr val="accent5"/>
                </a:solidFill>
              </a:rPr>
              <a:t>    public int y;</a:t>
            </a:r>
          </a:p>
          <a:p>
            <a:r>
              <a:rPr lang="it-IT" sz="2400" dirty="0">
                <a:solidFill>
                  <a:schemeClr val="accent5"/>
                </a:solidFill>
              </a:rPr>
              <a:t>}</a:t>
            </a:r>
          </a:p>
          <a:p>
            <a:endParaRPr lang="it-IT" sz="2400" dirty="0">
              <a:solidFill>
                <a:schemeClr val="accent5"/>
              </a:solidFill>
            </a:endParaRPr>
          </a:p>
        </p:txBody>
      </p:sp>
      <p:sp>
        <p:nvSpPr>
          <p:cNvPr id="14" name="CasellaDiTesto 13">
            <a:extLst>
              <a:ext uri="{FF2B5EF4-FFF2-40B4-BE49-F238E27FC236}">
                <a16:creationId xmlns:a16="http://schemas.microsoft.com/office/drawing/2014/main" id="{148A96B1-1F9B-4166-BBB9-866EC4D7CD54}"/>
              </a:ext>
            </a:extLst>
          </p:cNvPr>
          <p:cNvSpPr txBox="1"/>
          <p:nvPr/>
        </p:nvSpPr>
        <p:spPr>
          <a:xfrm>
            <a:off x="4932050" y="3192736"/>
            <a:ext cx="6110495" cy="2215991"/>
          </a:xfrm>
          <a:prstGeom prst="rect">
            <a:avLst/>
          </a:prstGeom>
          <a:noFill/>
        </p:spPr>
        <p:txBody>
          <a:bodyPr wrap="square">
            <a:spAutoFit/>
          </a:bodyPr>
          <a:lstStyle/>
          <a:p>
            <a:r>
              <a:rPr lang="it-IT" sz="2400" dirty="0">
                <a:solidFill>
                  <a:srgbClr val="FFC000"/>
                </a:solidFill>
              </a:rPr>
              <a:t>Punto p1 = new Punto();</a:t>
            </a:r>
          </a:p>
          <a:p>
            <a:r>
              <a:rPr lang="it-IT" sz="2400" dirty="0">
                <a:solidFill>
                  <a:srgbClr val="FFC000"/>
                </a:solidFill>
              </a:rPr>
              <a:t>Punto p2 = new Punto(12,14);</a:t>
            </a:r>
          </a:p>
          <a:p>
            <a:r>
              <a:rPr lang="es-ES" sz="2400" dirty="0">
                <a:solidFill>
                  <a:srgbClr val="FFC000"/>
                </a:solidFill>
              </a:rPr>
              <a:t>Punto p3 = new Punto();</a:t>
            </a:r>
          </a:p>
          <a:p>
            <a:r>
              <a:rPr lang="es-ES" sz="2400" dirty="0">
                <a:solidFill>
                  <a:srgbClr val="FFC000"/>
                </a:solidFill>
              </a:rPr>
              <a:t>p3.x = 12;</a:t>
            </a:r>
          </a:p>
          <a:p>
            <a:r>
              <a:rPr lang="es-ES" sz="2400" dirty="0">
                <a:solidFill>
                  <a:srgbClr val="FFC000"/>
                </a:solidFill>
              </a:rPr>
              <a:t>p3.y = 14;</a:t>
            </a:r>
          </a:p>
          <a:p>
            <a:endParaRPr lang="it-IT" dirty="0">
              <a:solidFill>
                <a:srgbClr val="FFC000"/>
              </a:solidFill>
            </a:endParaRPr>
          </a:p>
        </p:txBody>
      </p:sp>
    </p:spTree>
    <p:extLst>
      <p:ext uri="{BB962C8B-B14F-4D97-AF65-F5344CB8AC3E}">
        <p14:creationId xmlns:p14="http://schemas.microsoft.com/office/powerpoint/2010/main" val="12843384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0"/>
            <a:ext cx="8119930" cy="1325563"/>
          </a:xfrm>
        </p:spPr>
        <p:txBody>
          <a:bodyPr/>
          <a:lstStyle/>
          <a:p>
            <a:r>
              <a:rPr lang="it-IT" dirty="0"/>
              <a:t>Package</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840000" y="1484730"/>
            <a:ext cx="7675350" cy="2304320"/>
          </a:xfrm>
        </p:spPr>
        <p:txBody>
          <a:bodyPr>
            <a:normAutofit fontScale="70000" lnSpcReduction="20000"/>
          </a:bodyPr>
          <a:lstStyle/>
          <a:p>
            <a:r>
              <a:rPr lang="it-IT" sz="4000" dirty="0"/>
              <a:t>Fisicamente è una cartella, ma è dichiarata come </a:t>
            </a:r>
            <a:r>
              <a:rPr lang="it-IT" sz="4000" i="1" dirty="0"/>
              <a:t>package</a:t>
            </a:r>
            <a:r>
              <a:rPr lang="it-IT" sz="4000" dirty="0"/>
              <a:t> all’interno del codice sorgente</a:t>
            </a:r>
          </a:p>
          <a:p>
            <a:r>
              <a:rPr lang="it-IT" sz="4000" dirty="0"/>
              <a:t>Permette di raggruppare in un’unica entità, classi Java logicamente correlate</a:t>
            </a:r>
          </a:p>
          <a:p>
            <a:r>
              <a:rPr lang="it-IT" sz="4000" dirty="0"/>
              <a:t>Contiene i file .class</a:t>
            </a:r>
          </a:p>
          <a:p>
            <a:r>
              <a:rPr lang="it-IT" sz="4000" dirty="0"/>
              <a:t>Ha impatto sulla visibilità (scope) delle classi</a:t>
            </a:r>
          </a:p>
          <a:p>
            <a:endParaRPr lang="it-IT" sz="4000" dirty="0"/>
          </a:p>
          <a:p>
            <a:endParaRPr lang="it-IT" sz="4000" dirty="0"/>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34</a:t>
            </a:fld>
            <a:endParaRPr lang="it-IT"/>
          </a:p>
        </p:txBody>
      </p:sp>
      <p:sp>
        <p:nvSpPr>
          <p:cNvPr id="9" name="CasellaDiTesto 8">
            <a:extLst>
              <a:ext uri="{FF2B5EF4-FFF2-40B4-BE49-F238E27FC236}">
                <a16:creationId xmlns:a16="http://schemas.microsoft.com/office/drawing/2014/main" id="{08677F9C-4679-4349-8957-B43D0B114F6D}"/>
              </a:ext>
            </a:extLst>
          </p:cNvPr>
          <p:cNvSpPr txBox="1"/>
          <p:nvPr/>
        </p:nvSpPr>
        <p:spPr>
          <a:xfrm>
            <a:off x="2771750" y="3754855"/>
            <a:ext cx="3816530" cy="2554545"/>
          </a:xfrm>
          <a:prstGeom prst="rect">
            <a:avLst/>
          </a:prstGeom>
          <a:noFill/>
        </p:spPr>
        <p:txBody>
          <a:bodyPr wrap="square">
            <a:spAutoFit/>
          </a:bodyPr>
          <a:lstStyle/>
          <a:p>
            <a:r>
              <a:rPr lang="en-US" sz="3200" b="1" dirty="0">
                <a:solidFill>
                  <a:schemeClr val="accent5"/>
                </a:solidFill>
              </a:rPr>
              <a:t>package </a:t>
            </a:r>
            <a:r>
              <a:rPr lang="en-US" sz="3200" b="1" dirty="0" err="1">
                <a:solidFill>
                  <a:schemeClr val="accent5"/>
                </a:solidFill>
              </a:rPr>
              <a:t>geometria</a:t>
            </a:r>
            <a:r>
              <a:rPr lang="en-US" sz="3200" b="1" dirty="0">
                <a:solidFill>
                  <a:schemeClr val="accent5"/>
                </a:solidFill>
              </a:rPr>
              <a:t>;</a:t>
            </a:r>
          </a:p>
          <a:p>
            <a:endParaRPr lang="en-US" sz="3200" dirty="0">
              <a:solidFill>
                <a:schemeClr val="accent5"/>
              </a:solidFill>
            </a:endParaRPr>
          </a:p>
          <a:p>
            <a:r>
              <a:rPr lang="en-US" sz="3200" dirty="0">
                <a:solidFill>
                  <a:schemeClr val="accent5"/>
                </a:solidFill>
              </a:rPr>
              <a:t>public class Punto {</a:t>
            </a:r>
          </a:p>
          <a:p>
            <a:r>
              <a:rPr lang="en-US" sz="3200" dirty="0">
                <a:solidFill>
                  <a:schemeClr val="accent5"/>
                </a:solidFill>
              </a:rPr>
              <a:t>    public int x, y;</a:t>
            </a:r>
          </a:p>
          <a:p>
            <a:r>
              <a:rPr lang="en-US" sz="3200" dirty="0">
                <a:solidFill>
                  <a:schemeClr val="accent5"/>
                </a:solidFill>
              </a:rPr>
              <a:t>}</a:t>
            </a:r>
          </a:p>
        </p:txBody>
      </p:sp>
    </p:spTree>
    <p:extLst>
      <p:ext uri="{BB962C8B-B14F-4D97-AF65-F5344CB8AC3E}">
        <p14:creationId xmlns:p14="http://schemas.microsoft.com/office/powerpoint/2010/main" val="28360038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1"/>
            <a:ext cx="8119930" cy="802126"/>
          </a:xfrm>
        </p:spPr>
        <p:txBody>
          <a:bodyPr/>
          <a:lstStyle/>
          <a:p>
            <a:r>
              <a:rPr lang="it-IT" dirty="0"/>
              <a:t>Package e import</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35</a:t>
            </a:fld>
            <a:endParaRPr lang="it-IT"/>
          </a:p>
        </p:txBody>
      </p:sp>
      <p:sp>
        <p:nvSpPr>
          <p:cNvPr id="9" name="CasellaDiTesto 8">
            <a:extLst>
              <a:ext uri="{FF2B5EF4-FFF2-40B4-BE49-F238E27FC236}">
                <a16:creationId xmlns:a16="http://schemas.microsoft.com/office/drawing/2014/main" id="{08677F9C-4679-4349-8957-B43D0B114F6D}"/>
              </a:ext>
            </a:extLst>
          </p:cNvPr>
          <p:cNvSpPr txBox="1"/>
          <p:nvPr/>
        </p:nvSpPr>
        <p:spPr>
          <a:xfrm>
            <a:off x="3888540" y="918666"/>
            <a:ext cx="5292100" cy="2308324"/>
          </a:xfrm>
          <a:prstGeom prst="rect">
            <a:avLst/>
          </a:prstGeom>
          <a:noFill/>
        </p:spPr>
        <p:txBody>
          <a:bodyPr wrap="square">
            <a:spAutoFit/>
          </a:bodyPr>
          <a:lstStyle/>
          <a:p>
            <a:r>
              <a:rPr lang="it-IT" sz="2400" dirty="0">
                <a:solidFill>
                  <a:schemeClr val="accent5"/>
                </a:solidFill>
              </a:rPr>
              <a:t>package </a:t>
            </a:r>
            <a:r>
              <a:rPr lang="it-IT" sz="2400" dirty="0" err="1">
                <a:solidFill>
                  <a:schemeClr val="accent5"/>
                </a:solidFill>
              </a:rPr>
              <a:t>studio.matematica.geometria</a:t>
            </a:r>
            <a:r>
              <a:rPr lang="it-IT" sz="2400" dirty="0">
                <a:solidFill>
                  <a:schemeClr val="accent5"/>
                </a:solidFill>
              </a:rPr>
              <a:t>;</a:t>
            </a:r>
          </a:p>
          <a:p>
            <a:endParaRPr lang="it-IT" sz="2400" dirty="0">
              <a:solidFill>
                <a:schemeClr val="accent5"/>
              </a:solidFill>
            </a:endParaRPr>
          </a:p>
          <a:p>
            <a:r>
              <a:rPr lang="it-IT" sz="2400" dirty="0">
                <a:solidFill>
                  <a:schemeClr val="accent5"/>
                </a:solidFill>
              </a:rPr>
              <a:t>public class Punto {</a:t>
            </a:r>
          </a:p>
          <a:p>
            <a:r>
              <a:rPr lang="it-IT" sz="2400" dirty="0">
                <a:solidFill>
                  <a:schemeClr val="accent5"/>
                </a:solidFill>
              </a:rPr>
              <a:t>    public int x, y;</a:t>
            </a:r>
          </a:p>
          <a:p>
            <a:r>
              <a:rPr lang="it-IT" sz="2400" dirty="0">
                <a:solidFill>
                  <a:schemeClr val="accent5"/>
                </a:solidFill>
              </a:rPr>
              <a:t>}</a:t>
            </a:r>
          </a:p>
          <a:p>
            <a:endParaRPr lang="it-IT" sz="2400" dirty="0">
              <a:solidFill>
                <a:schemeClr val="accent5"/>
              </a:solidFill>
            </a:endParaRPr>
          </a:p>
        </p:txBody>
      </p:sp>
      <p:sp>
        <p:nvSpPr>
          <p:cNvPr id="14" name="CasellaDiTesto 13">
            <a:extLst>
              <a:ext uri="{FF2B5EF4-FFF2-40B4-BE49-F238E27FC236}">
                <a16:creationId xmlns:a16="http://schemas.microsoft.com/office/drawing/2014/main" id="{148A96B1-1F9B-4166-BBB9-866EC4D7CD54}"/>
              </a:ext>
            </a:extLst>
          </p:cNvPr>
          <p:cNvSpPr txBox="1"/>
          <p:nvPr/>
        </p:nvSpPr>
        <p:spPr>
          <a:xfrm>
            <a:off x="3923911" y="3068950"/>
            <a:ext cx="5200154" cy="3877985"/>
          </a:xfrm>
          <a:prstGeom prst="rect">
            <a:avLst/>
          </a:prstGeom>
          <a:noFill/>
        </p:spPr>
        <p:txBody>
          <a:bodyPr wrap="square">
            <a:spAutoFit/>
          </a:bodyPr>
          <a:lstStyle/>
          <a:p>
            <a:r>
              <a:rPr lang="it-IT" sz="2000" dirty="0">
                <a:solidFill>
                  <a:srgbClr val="FFC000"/>
                </a:solidFill>
              </a:rPr>
              <a:t>package </a:t>
            </a:r>
            <a:r>
              <a:rPr lang="it-IT" sz="2000" dirty="0" err="1">
                <a:solidFill>
                  <a:srgbClr val="FFC000"/>
                </a:solidFill>
              </a:rPr>
              <a:t>studio.matematica.geometria.test</a:t>
            </a:r>
            <a:r>
              <a:rPr lang="it-IT" sz="2000" dirty="0">
                <a:solidFill>
                  <a:srgbClr val="FFC000"/>
                </a:solidFill>
              </a:rPr>
              <a:t>;</a:t>
            </a:r>
          </a:p>
          <a:p>
            <a:endParaRPr lang="it-IT" sz="2000" dirty="0">
              <a:solidFill>
                <a:srgbClr val="FFC000"/>
              </a:solidFill>
            </a:endParaRPr>
          </a:p>
          <a:p>
            <a:r>
              <a:rPr lang="it-IT" sz="2000" dirty="0">
                <a:solidFill>
                  <a:srgbClr val="FFC000"/>
                </a:solidFill>
              </a:rPr>
              <a:t>import </a:t>
            </a:r>
            <a:r>
              <a:rPr lang="it-IT" sz="2000" dirty="0" err="1">
                <a:solidFill>
                  <a:srgbClr val="FFC000"/>
                </a:solidFill>
              </a:rPr>
              <a:t>studio.matematica.geometria.Punto</a:t>
            </a:r>
            <a:r>
              <a:rPr lang="it-IT" sz="2000" dirty="0">
                <a:solidFill>
                  <a:srgbClr val="FFC000"/>
                </a:solidFill>
              </a:rPr>
              <a:t>;</a:t>
            </a:r>
          </a:p>
          <a:p>
            <a:endParaRPr lang="it-IT" sz="2000" dirty="0">
              <a:solidFill>
                <a:srgbClr val="FFC000"/>
              </a:solidFill>
            </a:endParaRPr>
          </a:p>
          <a:p>
            <a:r>
              <a:rPr lang="it-IT" sz="2000" dirty="0">
                <a:solidFill>
                  <a:srgbClr val="FFC000"/>
                </a:solidFill>
              </a:rPr>
              <a:t>public class </a:t>
            </a:r>
            <a:r>
              <a:rPr lang="it-IT" sz="2000" dirty="0" err="1">
                <a:solidFill>
                  <a:srgbClr val="FFC000"/>
                </a:solidFill>
              </a:rPr>
              <a:t>TestPunto</a:t>
            </a:r>
            <a:r>
              <a:rPr lang="it-IT" sz="2000" dirty="0">
                <a:solidFill>
                  <a:srgbClr val="FFC000"/>
                </a:solidFill>
              </a:rPr>
              <a:t> {</a:t>
            </a:r>
          </a:p>
          <a:p>
            <a:r>
              <a:rPr lang="it-IT" sz="2000" dirty="0">
                <a:solidFill>
                  <a:srgbClr val="FFC000"/>
                </a:solidFill>
              </a:rPr>
              <a:t>    public static void main (String args[])     {</a:t>
            </a:r>
          </a:p>
          <a:p>
            <a:r>
              <a:rPr lang="it-IT" sz="2000" dirty="0">
                <a:solidFill>
                  <a:srgbClr val="FFC000"/>
                </a:solidFill>
              </a:rPr>
              <a:t>        Punto p = new Punto();</a:t>
            </a:r>
          </a:p>
          <a:p>
            <a:r>
              <a:rPr lang="it-IT" sz="2000" dirty="0">
                <a:solidFill>
                  <a:srgbClr val="FFC000"/>
                </a:solidFill>
              </a:rPr>
              <a:t>        //altro codice omesso...</a:t>
            </a:r>
          </a:p>
          <a:p>
            <a:r>
              <a:rPr lang="it-IT" sz="2000" dirty="0">
                <a:solidFill>
                  <a:srgbClr val="FFC000"/>
                </a:solidFill>
              </a:rPr>
              <a:t>    }</a:t>
            </a:r>
          </a:p>
          <a:p>
            <a:r>
              <a:rPr lang="it-IT" sz="2400" dirty="0">
                <a:solidFill>
                  <a:srgbClr val="FFC000"/>
                </a:solidFill>
              </a:rPr>
              <a:t>}</a:t>
            </a:r>
          </a:p>
          <a:p>
            <a:endParaRPr lang="es-ES" sz="2400" dirty="0">
              <a:solidFill>
                <a:srgbClr val="FFC000"/>
              </a:solidFill>
            </a:endParaRPr>
          </a:p>
          <a:p>
            <a:endParaRPr lang="it-IT" dirty="0">
              <a:solidFill>
                <a:srgbClr val="FFC000"/>
              </a:solidFill>
            </a:endParaRPr>
          </a:p>
        </p:txBody>
      </p:sp>
      <p:pic>
        <p:nvPicPr>
          <p:cNvPr id="6" name="Immagine 5">
            <a:extLst>
              <a:ext uri="{FF2B5EF4-FFF2-40B4-BE49-F238E27FC236}">
                <a16:creationId xmlns:a16="http://schemas.microsoft.com/office/drawing/2014/main" id="{B2BBAFD1-9C63-4753-85BC-2EB0C17026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36" y="1484730"/>
            <a:ext cx="3903974" cy="4675008"/>
          </a:xfrm>
          <a:prstGeom prst="rect">
            <a:avLst/>
          </a:prstGeom>
        </p:spPr>
      </p:pic>
    </p:spTree>
    <p:extLst>
      <p:ext uri="{BB962C8B-B14F-4D97-AF65-F5344CB8AC3E}">
        <p14:creationId xmlns:p14="http://schemas.microsoft.com/office/powerpoint/2010/main" val="443014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116540"/>
            <a:ext cx="8119930" cy="1325563"/>
          </a:xfrm>
        </p:spPr>
        <p:txBody>
          <a:bodyPr/>
          <a:lstStyle/>
          <a:p>
            <a:r>
              <a:rPr lang="it-IT" dirty="0"/>
              <a:t>Package: gestione manuale</a:t>
            </a:r>
          </a:p>
        </p:txBody>
      </p:sp>
      <p:sp>
        <p:nvSpPr>
          <p:cNvPr id="3" name="Segnaposto contenuto 2">
            <a:extLst>
              <a:ext uri="{FF2B5EF4-FFF2-40B4-BE49-F238E27FC236}">
                <a16:creationId xmlns:a16="http://schemas.microsoft.com/office/drawing/2014/main" id="{2F9035A2-CFEB-4003-B637-44AE887E334F}"/>
              </a:ext>
            </a:extLst>
          </p:cNvPr>
          <p:cNvSpPr>
            <a:spLocks noGrp="1"/>
          </p:cNvSpPr>
          <p:nvPr>
            <p:ph idx="1"/>
          </p:nvPr>
        </p:nvSpPr>
        <p:spPr>
          <a:xfrm>
            <a:off x="840000" y="1484730"/>
            <a:ext cx="7675350" cy="1325563"/>
          </a:xfrm>
        </p:spPr>
        <p:txBody>
          <a:bodyPr>
            <a:normAutofit/>
          </a:bodyPr>
          <a:lstStyle/>
          <a:p>
            <a:r>
              <a:rPr lang="it-IT" sz="4000" dirty="0"/>
              <a:t>Complessa ed error-prone</a:t>
            </a:r>
          </a:p>
          <a:p>
            <a:r>
              <a:rPr lang="it-IT" sz="4000" dirty="0"/>
              <a:t>Necessità di IDE</a:t>
            </a:r>
          </a:p>
          <a:p>
            <a:endParaRPr lang="it-IT" dirty="0"/>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36</a:t>
            </a:fld>
            <a:endParaRPr lang="it-IT"/>
          </a:p>
        </p:txBody>
      </p:sp>
      <p:sp>
        <p:nvSpPr>
          <p:cNvPr id="9" name="CasellaDiTesto 8">
            <a:extLst>
              <a:ext uri="{FF2B5EF4-FFF2-40B4-BE49-F238E27FC236}">
                <a16:creationId xmlns:a16="http://schemas.microsoft.com/office/drawing/2014/main" id="{08677F9C-4679-4349-8957-B43D0B114F6D}"/>
              </a:ext>
            </a:extLst>
          </p:cNvPr>
          <p:cNvSpPr txBox="1"/>
          <p:nvPr/>
        </p:nvSpPr>
        <p:spPr>
          <a:xfrm>
            <a:off x="0" y="3755320"/>
            <a:ext cx="9144000" cy="1077218"/>
          </a:xfrm>
          <a:prstGeom prst="rect">
            <a:avLst/>
          </a:prstGeom>
          <a:noFill/>
        </p:spPr>
        <p:txBody>
          <a:bodyPr wrap="square">
            <a:spAutoFit/>
          </a:bodyPr>
          <a:lstStyle/>
          <a:p>
            <a:r>
              <a:rPr lang="en-US" sz="3200" b="1" dirty="0">
                <a:solidFill>
                  <a:schemeClr val="accent5"/>
                </a:solidFill>
              </a:rPr>
              <a:t>javac -d . Punto.java TestPunto.java</a:t>
            </a:r>
          </a:p>
          <a:p>
            <a:r>
              <a:rPr lang="en-US" sz="3200" b="1" dirty="0">
                <a:solidFill>
                  <a:schemeClr val="accent5"/>
                </a:solidFill>
              </a:rPr>
              <a:t>java </a:t>
            </a:r>
            <a:r>
              <a:rPr lang="en-US" sz="3200" b="1" dirty="0" err="1">
                <a:solidFill>
                  <a:schemeClr val="accent5"/>
                </a:solidFill>
              </a:rPr>
              <a:t>studio.matematica.geometria.test.TestPunto</a:t>
            </a:r>
            <a:endParaRPr lang="en-US" sz="3200" b="1" dirty="0">
              <a:solidFill>
                <a:schemeClr val="accent5"/>
              </a:solidFill>
            </a:endParaRPr>
          </a:p>
        </p:txBody>
      </p:sp>
    </p:spTree>
    <p:extLst>
      <p:ext uri="{BB962C8B-B14F-4D97-AF65-F5344CB8AC3E}">
        <p14:creationId xmlns:p14="http://schemas.microsoft.com/office/powerpoint/2010/main" val="36163977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628650" y="365126"/>
            <a:ext cx="7886700" cy="787061"/>
          </a:xfrm>
        </p:spPr>
        <p:txBody>
          <a:bodyPr/>
          <a:lstStyle/>
          <a:p>
            <a:r>
              <a:rPr lang="it-IT" dirty="0"/>
              <a:t>Schema file sorgente</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37</a:t>
            </a:fld>
            <a:endParaRPr lang="it-IT"/>
          </a:p>
        </p:txBody>
      </p:sp>
      <p:sp>
        <p:nvSpPr>
          <p:cNvPr id="9" name="CasellaDiTesto 8">
            <a:extLst>
              <a:ext uri="{FF2B5EF4-FFF2-40B4-BE49-F238E27FC236}">
                <a16:creationId xmlns:a16="http://schemas.microsoft.com/office/drawing/2014/main" id="{06ACE6F1-0675-4EE0-93F2-F9AB5F15CE8F}"/>
              </a:ext>
            </a:extLst>
          </p:cNvPr>
          <p:cNvSpPr txBox="1"/>
          <p:nvPr/>
        </p:nvSpPr>
        <p:spPr>
          <a:xfrm>
            <a:off x="323410" y="1305342"/>
            <a:ext cx="8497180" cy="5262979"/>
          </a:xfrm>
          <a:prstGeom prst="rect">
            <a:avLst/>
          </a:prstGeom>
          <a:noFill/>
        </p:spPr>
        <p:txBody>
          <a:bodyPr wrap="square">
            <a:spAutoFit/>
          </a:bodyPr>
          <a:lstStyle/>
          <a:p>
            <a:r>
              <a:rPr lang="it-IT" sz="2400" dirty="0" err="1">
                <a:solidFill>
                  <a:schemeClr val="accent5"/>
                </a:solidFill>
                <a:effectLst/>
                <a:latin typeface="Courier New" panose="02070309020205020404" pitchFamily="49" charset="0"/>
                <a:ea typeface="Times New Roman" panose="02020603050405020304" pitchFamily="18" charset="0"/>
              </a:rPr>
              <a:t>dichiarazione_di_package</a:t>
            </a:r>
            <a:r>
              <a:rPr lang="it-IT" sz="2400" dirty="0">
                <a:solidFill>
                  <a:schemeClr val="accent5"/>
                </a:solidFill>
                <a:effectLst/>
                <a:latin typeface="Courier New" panose="02070309020205020404" pitchFamily="49" charset="0"/>
                <a:ea typeface="Times New Roman" panose="02020603050405020304" pitchFamily="18" charset="0"/>
              </a:rPr>
              <a:t>;</a:t>
            </a:r>
          </a:p>
          <a:p>
            <a:r>
              <a:rPr lang="it-IT" sz="2400" dirty="0">
                <a:solidFill>
                  <a:schemeClr val="accent5"/>
                </a:solidFill>
                <a:effectLst/>
                <a:latin typeface="Courier New" panose="02070309020205020404" pitchFamily="49" charset="0"/>
                <a:ea typeface="Times New Roman" panose="02020603050405020304" pitchFamily="18" charset="0"/>
              </a:rPr>
              <a:t> </a:t>
            </a:r>
          </a:p>
          <a:p>
            <a:r>
              <a:rPr lang="it-IT" sz="2400" dirty="0" err="1">
                <a:solidFill>
                  <a:schemeClr val="accent5"/>
                </a:solidFill>
                <a:effectLst/>
                <a:latin typeface="Courier New" panose="02070309020205020404" pitchFamily="49" charset="0"/>
                <a:ea typeface="Times New Roman" panose="02020603050405020304" pitchFamily="18" charset="0"/>
              </a:rPr>
              <a:t>dichiarazione_di_import</a:t>
            </a:r>
            <a:r>
              <a:rPr lang="it-IT" sz="2400" dirty="0">
                <a:solidFill>
                  <a:schemeClr val="accent5"/>
                </a:solidFill>
                <a:effectLst/>
                <a:latin typeface="Courier New" panose="02070309020205020404" pitchFamily="49" charset="0"/>
                <a:ea typeface="Times New Roman" panose="02020603050405020304" pitchFamily="18" charset="0"/>
              </a:rPr>
              <a:t>;</a:t>
            </a:r>
          </a:p>
          <a:p>
            <a:r>
              <a:rPr lang="it-IT" sz="2400" dirty="0">
                <a:solidFill>
                  <a:schemeClr val="accent5"/>
                </a:solidFill>
                <a:effectLst/>
                <a:latin typeface="Courier New" panose="02070309020205020404" pitchFamily="49" charset="0"/>
                <a:ea typeface="Times New Roman" panose="02020603050405020304" pitchFamily="18" charset="0"/>
              </a:rPr>
              <a:t> </a:t>
            </a:r>
          </a:p>
          <a:p>
            <a:r>
              <a:rPr lang="it-IT" sz="2400" dirty="0" err="1">
                <a:solidFill>
                  <a:schemeClr val="accent5"/>
                </a:solidFill>
                <a:effectLst/>
                <a:latin typeface="Courier New" panose="02070309020205020404" pitchFamily="49" charset="0"/>
                <a:ea typeface="Times New Roman" panose="02020603050405020304" pitchFamily="18" charset="0"/>
              </a:rPr>
              <a:t>dichiarazione_di_classe</a:t>
            </a:r>
            <a:r>
              <a:rPr lang="it-IT" sz="2400" dirty="0">
                <a:solidFill>
                  <a:schemeClr val="accent5"/>
                </a:solidFill>
                <a:effectLst/>
                <a:latin typeface="Courier New" panose="02070309020205020404" pitchFamily="49" charset="0"/>
                <a:ea typeface="Times New Roman" panose="02020603050405020304" pitchFamily="18" charset="0"/>
              </a:rPr>
              <a:t> {</a:t>
            </a:r>
          </a:p>
          <a:p>
            <a:r>
              <a:rPr lang="it-IT" sz="2400" dirty="0">
                <a:solidFill>
                  <a:schemeClr val="accent5"/>
                </a:solidFill>
                <a:effectLst/>
                <a:latin typeface="Courier New" panose="02070309020205020404" pitchFamily="49" charset="0"/>
                <a:ea typeface="Times New Roman" panose="02020603050405020304" pitchFamily="18" charset="0"/>
              </a:rPr>
              <a:t>    </a:t>
            </a:r>
          </a:p>
          <a:p>
            <a:r>
              <a:rPr lang="it-IT" sz="2400" dirty="0">
                <a:solidFill>
                  <a:schemeClr val="accent5"/>
                </a:solidFill>
                <a:effectLst/>
                <a:latin typeface="Courier New" panose="02070309020205020404" pitchFamily="49" charset="0"/>
                <a:ea typeface="Times New Roman" panose="02020603050405020304" pitchFamily="18" charset="0"/>
              </a:rPr>
              <a:t>    </a:t>
            </a:r>
            <a:r>
              <a:rPr lang="it-IT" sz="2400" dirty="0" err="1">
                <a:solidFill>
                  <a:schemeClr val="accent5"/>
                </a:solidFill>
                <a:effectLst/>
                <a:latin typeface="Courier New" panose="02070309020205020404" pitchFamily="49" charset="0"/>
                <a:ea typeface="Times New Roman" panose="02020603050405020304" pitchFamily="18" charset="0"/>
              </a:rPr>
              <a:t>dichiarazioni_di_variabili</a:t>
            </a:r>
            <a:r>
              <a:rPr lang="it-IT" sz="2400" dirty="0">
                <a:solidFill>
                  <a:schemeClr val="accent5"/>
                </a:solidFill>
                <a:effectLst/>
                <a:latin typeface="Courier New" panose="02070309020205020404" pitchFamily="49" charset="0"/>
                <a:ea typeface="Times New Roman" panose="02020603050405020304" pitchFamily="18" charset="0"/>
              </a:rPr>
              <a:t>;</a:t>
            </a:r>
          </a:p>
          <a:p>
            <a:r>
              <a:rPr lang="it-IT" sz="2400" dirty="0">
                <a:solidFill>
                  <a:schemeClr val="accent5"/>
                </a:solidFill>
                <a:effectLst/>
                <a:latin typeface="Courier New" panose="02070309020205020404" pitchFamily="49" charset="0"/>
                <a:ea typeface="Times New Roman" panose="02020603050405020304" pitchFamily="18" charset="0"/>
              </a:rPr>
              <a:t>    </a:t>
            </a:r>
          </a:p>
          <a:p>
            <a:r>
              <a:rPr lang="it-IT" sz="2400" dirty="0">
                <a:solidFill>
                  <a:schemeClr val="accent5"/>
                </a:solidFill>
                <a:effectLst/>
                <a:latin typeface="Courier New" panose="02070309020205020404" pitchFamily="49" charset="0"/>
                <a:ea typeface="Times New Roman" panose="02020603050405020304" pitchFamily="18" charset="0"/>
              </a:rPr>
              <a:t>    </a:t>
            </a:r>
            <a:r>
              <a:rPr lang="it-IT" sz="2400" dirty="0" err="1">
                <a:solidFill>
                  <a:schemeClr val="accent5"/>
                </a:solidFill>
                <a:effectLst/>
                <a:latin typeface="Courier New" panose="02070309020205020404" pitchFamily="49" charset="0"/>
                <a:ea typeface="Times New Roman" panose="02020603050405020304" pitchFamily="18" charset="0"/>
              </a:rPr>
              <a:t>dichiarazioni_di_costruttori</a:t>
            </a:r>
            <a:r>
              <a:rPr lang="it-IT" sz="2400" dirty="0">
                <a:solidFill>
                  <a:schemeClr val="accent5"/>
                </a:solidFill>
                <a:effectLst/>
                <a:latin typeface="Courier New" panose="02070309020205020404" pitchFamily="49" charset="0"/>
                <a:ea typeface="Times New Roman" panose="02020603050405020304" pitchFamily="18" charset="0"/>
              </a:rPr>
              <a:t> {</a:t>
            </a:r>
          </a:p>
          <a:p>
            <a:r>
              <a:rPr lang="it-IT" sz="2400" dirty="0">
                <a:solidFill>
                  <a:schemeClr val="accent5"/>
                </a:solidFill>
                <a:effectLst/>
                <a:latin typeface="Courier New" panose="02070309020205020404" pitchFamily="49" charset="0"/>
                <a:ea typeface="Times New Roman" panose="02020603050405020304" pitchFamily="18" charset="0"/>
              </a:rPr>
              <a:t>    }</a:t>
            </a:r>
          </a:p>
          <a:p>
            <a:r>
              <a:rPr lang="it-IT" sz="2400" dirty="0">
                <a:solidFill>
                  <a:schemeClr val="accent5"/>
                </a:solidFill>
                <a:effectLst/>
                <a:latin typeface="Courier New" panose="02070309020205020404" pitchFamily="49" charset="0"/>
                <a:ea typeface="Times New Roman" panose="02020603050405020304" pitchFamily="18" charset="0"/>
              </a:rPr>
              <a:t>    </a:t>
            </a:r>
          </a:p>
          <a:p>
            <a:r>
              <a:rPr lang="it-IT" sz="2400" dirty="0">
                <a:solidFill>
                  <a:schemeClr val="accent5"/>
                </a:solidFill>
                <a:effectLst/>
                <a:latin typeface="Courier New" panose="02070309020205020404" pitchFamily="49" charset="0"/>
                <a:ea typeface="Times New Roman" panose="02020603050405020304" pitchFamily="18" charset="0"/>
              </a:rPr>
              <a:t>    </a:t>
            </a:r>
            <a:r>
              <a:rPr lang="it-IT" sz="2400" dirty="0" err="1">
                <a:solidFill>
                  <a:schemeClr val="accent5"/>
                </a:solidFill>
                <a:effectLst/>
                <a:latin typeface="Courier New" panose="02070309020205020404" pitchFamily="49" charset="0"/>
                <a:ea typeface="Times New Roman" panose="02020603050405020304" pitchFamily="18" charset="0"/>
              </a:rPr>
              <a:t>dichiarazioni_di_metodi</a:t>
            </a:r>
            <a:r>
              <a:rPr lang="it-IT" sz="2400" dirty="0">
                <a:solidFill>
                  <a:schemeClr val="accent5"/>
                </a:solidFill>
                <a:effectLst/>
                <a:latin typeface="Courier New" panose="02070309020205020404" pitchFamily="49" charset="0"/>
                <a:ea typeface="Times New Roman" panose="02020603050405020304" pitchFamily="18" charset="0"/>
              </a:rPr>
              <a:t>{</a:t>
            </a:r>
          </a:p>
          <a:p>
            <a:r>
              <a:rPr lang="it-IT" sz="2400" dirty="0">
                <a:solidFill>
                  <a:schemeClr val="accent5"/>
                </a:solidFill>
                <a:effectLst/>
                <a:latin typeface="Courier New" panose="02070309020205020404" pitchFamily="49" charset="0"/>
                <a:ea typeface="Times New Roman" panose="02020603050405020304" pitchFamily="18" charset="0"/>
              </a:rPr>
              <a:t>    }</a:t>
            </a:r>
          </a:p>
          <a:p>
            <a:r>
              <a:rPr lang="it-IT" sz="2400" dirty="0">
                <a:solidFill>
                  <a:schemeClr val="accent5"/>
                </a:solidFill>
                <a:effectLst/>
                <a:latin typeface="Courier New" panose="02070309020205020404" pitchFamily="49" charset="0"/>
                <a:ea typeface="Times New Roman" panose="02020603050405020304" pitchFamily="18" charset="0"/>
              </a:rPr>
              <a:t>}</a:t>
            </a:r>
          </a:p>
        </p:txBody>
      </p:sp>
    </p:spTree>
    <p:extLst>
      <p:ext uri="{BB962C8B-B14F-4D97-AF65-F5344CB8AC3E}">
        <p14:creationId xmlns:p14="http://schemas.microsoft.com/office/powerpoint/2010/main" val="38068572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976724-0419-453A-AB45-889B3773DB64}"/>
              </a:ext>
            </a:extLst>
          </p:cNvPr>
          <p:cNvSpPr>
            <a:spLocks noGrp="1"/>
          </p:cNvSpPr>
          <p:nvPr>
            <p:ph type="title"/>
          </p:nvPr>
        </p:nvSpPr>
        <p:spPr>
          <a:xfrm>
            <a:off x="0" y="72010"/>
            <a:ext cx="9144000" cy="1124680"/>
          </a:xfrm>
        </p:spPr>
        <p:txBody>
          <a:bodyPr>
            <a:normAutofit/>
          </a:bodyPr>
          <a:lstStyle/>
          <a:p>
            <a:pPr algn="ctr"/>
            <a:r>
              <a:rPr lang="it-IT" dirty="0"/>
              <a:t>Sommario</a:t>
            </a:r>
          </a:p>
        </p:txBody>
      </p:sp>
      <p:sp>
        <p:nvSpPr>
          <p:cNvPr id="4" name="Segnaposto piè di pagina 3">
            <a:extLst>
              <a:ext uri="{FF2B5EF4-FFF2-40B4-BE49-F238E27FC236}">
                <a16:creationId xmlns:a16="http://schemas.microsoft.com/office/drawing/2014/main" id="{C3702664-5F57-48C9-81BD-CDEE2BC110D3}"/>
              </a:ext>
            </a:extLst>
          </p:cNvPr>
          <p:cNvSpPr>
            <a:spLocks noGrp="1"/>
          </p:cNvSpPr>
          <p:nvPr>
            <p:ph type="ftr" sz="quarter" idx="11"/>
          </p:nvPr>
        </p:nvSpPr>
        <p:spPr/>
        <p:txBody>
          <a:bodyPr/>
          <a:lstStyle/>
          <a:p>
            <a:r>
              <a:rPr lang="it-IT"/>
              <a:t>Claudio De Sio Cesari: NJ-002</a:t>
            </a:r>
            <a:endParaRPr lang="it-IT" dirty="0"/>
          </a:p>
        </p:txBody>
      </p:sp>
      <p:sp>
        <p:nvSpPr>
          <p:cNvPr id="5" name="Segnaposto numero diapositiva 4">
            <a:extLst>
              <a:ext uri="{FF2B5EF4-FFF2-40B4-BE49-F238E27FC236}">
                <a16:creationId xmlns:a16="http://schemas.microsoft.com/office/drawing/2014/main" id="{0F7260F1-A163-4293-A30C-8710BD851084}"/>
              </a:ext>
            </a:extLst>
          </p:cNvPr>
          <p:cNvSpPr>
            <a:spLocks noGrp="1"/>
          </p:cNvSpPr>
          <p:nvPr>
            <p:ph type="sldNum" sz="quarter" idx="12"/>
          </p:nvPr>
        </p:nvSpPr>
        <p:spPr/>
        <p:txBody>
          <a:bodyPr/>
          <a:lstStyle/>
          <a:p>
            <a:fld id="{EA83E0A8-4958-4553-8C1A-CC59A6ABE123}" type="slidenum">
              <a:rPr lang="it-IT" smtClean="0"/>
              <a:t>38</a:t>
            </a:fld>
            <a:endParaRPr lang="it-IT"/>
          </a:p>
        </p:txBody>
      </p:sp>
      <p:sp>
        <p:nvSpPr>
          <p:cNvPr id="8" name="Segnaposto contenuto 2">
            <a:extLst>
              <a:ext uri="{FF2B5EF4-FFF2-40B4-BE49-F238E27FC236}">
                <a16:creationId xmlns:a16="http://schemas.microsoft.com/office/drawing/2014/main" id="{C0CC9B9D-479A-4F78-8DB1-FA2D02912239}"/>
              </a:ext>
            </a:extLst>
          </p:cNvPr>
          <p:cNvSpPr>
            <a:spLocks noGrp="1"/>
          </p:cNvSpPr>
          <p:nvPr>
            <p:ph idx="1"/>
          </p:nvPr>
        </p:nvSpPr>
        <p:spPr>
          <a:xfrm>
            <a:off x="0" y="980660"/>
            <a:ext cx="9144000" cy="5224173"/>
          </a:xfrm>
        </p:spPr>
        <p:txBody>
          <a:bodyPr>
            <a:noAutofit/>
          </a:bodyPr>
          <a:lstStyle/>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Comprendere cosa significa sviluppare un programma in Java, cosa sono i processi e i paradigmi di programmazione (unità 2.1).</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Saper definire i concetti di classe, oggetto, variabile, metodo e costruttore (unità 2.1,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Saper dichiarare una classe (unità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Istanziare oggetti da una classe (unità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Utilizzare i membri pubblici di un oggetto sfruttando l’operatore dot (unità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Dichiarare ed invocare un metodo (unità 2.1,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Saper dichiarare e assegnare un valore ad una variabile (unità 2.1,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Saper definire ed utilizzare i diversi tipi di variabili (d’istanza, locali e parametri) (unità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Dichiarare ed invocare un metodo costruttore (unità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Saper definire un costruttore di default (unità 2.2).</a:t>
            </a:r>
          </a:p>
          <a:p>
            <a:pPr marL="180340" indent="180340">
              <a:tabLst>
                <a:tab pos="457200" algn="l"/>
              </a:tabLst>
            </a:pPr>
            <a:r>
              <a:rPr lang="it-IT" sz="2000" dirty="0">
                <a:effectLst/>
                <a:latin typeface="Calibri" panose="020F0502020204030204" pitchFamily="34" charset="0"/>
                <a:ea typeface="Times New Roman" panose="02020603050405020304" pitchFamily="18" charset="0"/>
                <a:cs typeface="Calibri" panose="020F0502020204030204" pitchFamily="34" charset="0"/>
              </a:rPr>
              <a:t>Saper definire una classe appartenente ad un package e saper importare classi da altri package (unità 2.3).</a:t>
            </a:r>
          </a:p>
          <a:p>
            <a:pPr marL="180340" indent="180340">
              <a:tabLst>
                <a:tab pos="457200" algn="l"/>
              </a:tabLst>
            </a:pPr>
            <a:r>
              <a:rPr lang="it-IT" sz="2000" dirty="0">
                <a:latin typeface="Calibri" panose="020F0502020204030204" pitchFamily="34" charset="0"/>
                <a:cs typeface="Calibri" panose="020F0502020204030204" pitchFamily="34" charset="0"/>
              </a:rPr>
              <a:t>Approfondimento online  2.1</a:t>
            </a:r>
          </a:p>
        </p:txBody>
      </p:sp>
    </p:spTree>
    <p:extLst>
      <p:ext uri="{BB962C8B-B14F-4D97-AF65-F5344CB8AC3E}">
        <p14:creationId xmlns:p14="http://schemas.microsoft.com/office/powerpoint/2010/main" val="3691854465"/>
      </p:ext>
    </p:extLst>
  </p:cSld>
  <p:clrMapOvr>
    <a:masterClrMapping/>
  </p:clrMapOvr>
</p:sld>
</file>

<file path=ppt/theme/theme1.xml><?xml version="1.0" encoding="utf-8"?>
<a:theme xmlns:a="http://schemas.openxmlformats.org/drawingml/2006/main" name="Academy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ersonalizza struttur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Academy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Profondità">
  <a:themeElements>
    <a:clrScheme name="Profondità">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Profondità">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rofondità">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5.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AcademyTheme</Template>
  <TotalTime>17545</TotalTime>
  <Words>22514</Words>
  <Application>Microsoft Office PowerPoint</Application>
  <PresentationFormat>Presentazione su schermo (4:3)</PresentationFormat>
  <Paragraphs>1149</Paragraphs>
  <Slides>38</Slides>
  <Notes>38</Notes>
  <HiddenSlides>0</HiddenSlides>
  <MMClips>0</MMClips>
  <ScaleCrop>false</ScaleCrop>
  <HeadingPairs>
    <vt:vector size="6" baseType="variant">
      <vt:variant>
        <vt:lpstr>Caratteri utilizzati</vt:lpstr>
      </vt:variant>
      <vt:variant>
        <vt:i4>6</vt:i4>
      </vt:variant>
      <vt:variant>
        <vt:lpstr>Tema</vt:lpstr>
      </vt:variant>
      <vt:variant>
        <vt:i4>4</vt:i4>
      </vt:variant>
      <vt:variant>
        <vt:lpstr>Titoli diapositive</vt:lpstr>
      </vt:variant>
      <vt:variant>
        <vt:i4>38</vt:i4>
      </vt:variant>
    </vt:vector>
  </HeadingPairs>
  <TitlesOfParts>
    <vt:vector size="48" baseType="lpstr">
      <vt:lpstr>(Tipo di carattere testo asiati</vt:lpstr>
      <vt:lpstr>Arial</vt:lpstr>
      <vt:lpstr>Calibri</vt:lpstr>
      <vt:lpstr>Corbel</vt:lpstr>
      <vt:lpstr>Courier New</vt:lpstr>
      <vt:lpstr>Times New Roman</vt:lpstr>
      <vt:lpstr>AcademyTheme</vt:lpstr>
      <vt:lpstr>Personalizza struttura</vt:lpstr>
      <vt:lpstr>1_AcademyTheme</vt:lpstr>
      <vt:lpstr>Profondità</vt:lpstr>
      <vt:lpstr>Claudio De Sio Cesari   Il nuovo Java Componenti fondamentali  di un programma Java (NJ– 002)   https://www.nuovojava.it</vt:lpstr>
      <vt:lpstr>Componenti fondamentali di un programma Java</vt:lpstr>
      <vt:lpstr>Cosa significa creare un programma Java</vt:lpstr>
      <vt:lpstr>Software development (SD)</vt:lpstr>
      <vt:lpstr>Presentazione standard di PowerPoint</vt:lpstr>
      <vt:lpstr>SD: processo minimale</vt:lpstr>
      <vt:lpstr>Object Oriented Programming</vt:lpstr>
      <vt:lpstr>Paradigmi fondamentali</vt:lpstr>
      <vt:lpstr>Astrazione</vt:lpstr>
      <vt:lpstr>Concetti alla base della sintassi Java</vt:lpstr>
      <vt:lpstr>Concetti alla base della sintassi Java</vt:lpstr>
      <vt:lpstr>Concetti alla base della sintassi Java</vt:lpstr>
      <vt:lpstr>Variabili</vt:lpstr>
      <vt:lpstr>Variabili: dichiarazione</vt:lpstr>
      <vt:lpstr>Variabili: dichiarazione</vt:lpstr>
      <vt:lpstr>Variabili: assegnazione</vt:lpstr>
      <vt:lpstr>Variabili: esempio</vt:lpstr>
      <vt:lpstr>Metodi</vt:lpstr>
      <vt:lpstr>Metodi: dichiarazione</vt:lpstr>
      <vt:lpstr>Metodi: esempio di refactoring</vt:lpstr>
      <vt:lpstr>Metodi: esempio di refactoring</vt:lpstr>
      <vt:lpstr>Le basi della OOP</vt:lpstr>
      <vt:lpstr>Esempio</vt:lpstr>
      <vt:lpstr>Esempio (analisi)</vt:lpstr>
      <vt:lpstr>Astrazione</vt:lpstr>
      <vt:lpstr>Astrazione</vt:lpstr>
      <vt:lpstr>Metodi: invocazione</vt:lpstr>
      <vt:lpstr>Metodi: altri tipi</vt:lpstr>
      <vt:lpstr>Costanti: il modificatore final</vt:lpstr>
      <vt:lpstr>Categorizzazione delle variabili</vt:lpstr>
      <vt:lpstr>Variabili locali e parametri</vt:lpstr>
      <vt:lpstr>Costruttori</vt:lpstr>
      <vt:lpstr>Costruttori</vt:lpstr>
      <vt:lpstr>Package</vt:lpstr>
      <vt:lpstr>Package e import</vt:lpstr>
      <vt:lpstr>Package: gestione manuale</vt:lpstr>
      <vt:lpstr>Schema file sorgente</vt:lpstr>
      <vt:lpstr>Sommario</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cdsc</dc:creator>
  <cp:lastModifiedBy>Claudio De Sio Cesari</cp:lastModifiedBy>
  <cp:revision>255</cp:revision>
  <dcterms:created xsi:type="dcterms:W3CDTF">2012-03-20T22:57:36Z</dcterms:created>
  <dcterms:modified xsi:type="dcterms:W3CDTF">2021-03-09T16:24:52Z</dcterms:modified>
</cp:coreProperties>
</file>