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  <p:sldMasterId id="2147483664" r:id="rId2"/>
    <p:sldMasterId id="2147483670" r:id="rId3"/>
    <p:sldMasterId id="2147483677" r:id="rId4"/>
  </p:sldMasterIdLst>
  <p:notesMasterIdLst>
    <p:notesMasterId r:id="rId23"/>
  </p:notesMasterIdLst>
  <p:sldIdLst>
    <p:sldId id="257" r:id="rId5"/>
    <p:sldId id="258" r:id="rId6"/>
    <p:sldId id="259" r:id="rId7"/>
    <p:sldId id="719" r:id="rId8"/>
    <p:sldId id="718" r:id="rId9"/>
    <p:sldId id="262" r:id="rId10"/>
    <p:sldId id="720" r:id="rId11"/>
    <p:sldId id="721" r:id="rId12"/>
    <p:sldId id="722" r:id="rId13"/>
    <p:sldId id="724" r:id="rId14"/>
    <p:sldId id="723" r:id="rId15"/>
    <p:sldId id="725" r:id="rId16"/>
    <p:sldId id="726" r:id="rId17"/>
    <p:sldId id="727" r:id="rId18"/>
    <p:sldId id="728" r:id="rId19"/>
    <p:sldId id="729" r:id="rId20"/>
    <p:sldId id="730" r:id="rId21"/>
    <p:sldId id="731" r:id="rId22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senza titolo" id="{7EAEB438-8BB2-4472-9D6B-5E6DC54C0E6B}">
          <p14:sldIdLst>
            <p14:sldId id="257"/>
            <p14:sldId id="258"/>
            <p14:sldId id="259"/>
            <p14:sldId id="719"/>
            <p14:sldId id="718"/>
            <p14:sldId id="262"/>
            <p14:sldId id="720"/>
            <p14:sldId id="721"/>
            <p14:sldId id="722"/>
            <p14:sldId id="724"/>
            <p14:sldId id="723"/>
            <p14:sldId id="725"/>
            <p14:sldId id="726"/>
            <p14:sldId id="727"/>
            <p14:sldId id="728"/>
            <p14:sldId id="729"/>
            <p14:sldId id="730"/>
            <p14:sldId id="7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laudio De Sio Cesari" initials="CDSC" lastIdx="1" clrIdx="0">
    <p:extLst>
      <p:ext uri="{19B8F6BF-5375-455C-9EA6-DF929625EA0E}">
        <p15:presenceInfo xmlns:p15="http://schemas.microsoft.com/office/powerpoint/2012/main" userId="a29b13f1a3f3547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78622" autoAdjust="0"/>
  </p:normalViewPr>
  <p:slideViewPr>
    <p:cSldViewPr>
      <p:cViewPr varScale="1">
        <p:scale>
          <a:sx n="100" d="100"/>
          <a:sy n="100" d="100"/>
        </p:scale>
        <p:origin x="166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288"/>
    </p:cViewPr>
  </p:notesTextViewPr>
  <p:sorterViewPr>
    <p:cViewPr>
      <p:scale>
        <a:sx n="100" d="100"/>
        <a:sy n="100" d="100"/>
      </p:scale>
      <p:origin x="0" y="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o De Sio Cesari" userId="a29b13f1a3f35475" providerId="LiveId" clId="{866BA239-D177-451F-B243-FC65E6C19832}"/>
    <pc:docChg chg="undo custSel addSld modSld sldOrd modSection">
      <pc:chgData name="Claudio De Sio Cesari" userId="a29b13f1a3f35475" providerId="LiveId" clId="{866BA239-D177-451F-B243-FC65E6C19832}" dt="2021-02-12T14:34:59.515" v="3629"/>
      <pc:docMkLst>
        <pc:docMk/>
      </pc:docMkLst>
      <pc:sldChg chg="modSp mod">
        <pc:chgData name="Claudio De Sio Cesari" userId="a29b13f1a3f35475" providerId="LiveId" clId="{866BA239-D177-451F-B243-FC65E6C19832}" dt="2021-02-11T10:31:14.071" v="1965" actId="27636"/>
        <pc:sldMkLst>
          <pc:docMk/>
          <pc:sldMk cId="805334480" sldId="721"/>
        </pc:sldMkLst>
        <pc:spChg chg="mod">
          <ac:chgData name="Claudio De Sio Cesari" userId="a29b13f1a3f35475" providerId="LiveId" clId="{866BA239-D177-451F-B243-FC65E6C19832}" dt="2021-02-11T10:31:14.071" v="1965" actId="27636"/>
          <ac:spMkLst>
            <pc:docMk/>
            <pc:sldMk cId="805334480" sldId="721"/>
            <ac:spMk id="3" creationId="{2F9035A2-CFEB-4003-B637-44AE887E334F}"/>
          </ac:spMkLst>
        </pc:spChg>
      </pc:sldChg>
      <pc:sldChg chg="modSp mod">
        <pc:chgData name="Claudio De Sio Cesari" userId="a29b13f1a3f35475" providerId="LiveId" clId="{866BA239-D177-451F-B243-FC65E6C19832}" dt="2021-02-11T10:31:41.946" v="1969" actId="14100"/>
        <pc:sldMkLst>
          <pc:docMk/>
          <pc:sldMk cId="2845546892" sldId="722"/>
        </pc:sldMkLst>
        <pc:spChg chg="mod">
          <ac:chgData name="Claudio De Sio Cesari" userId="a29b13f1a3f35475" providerId="LiveId" clId="{866BA239-D177-451F-B243-FC65E6C19832}" dt="2021-02-11T10:31:41.946" v="1969" actId="14100"/>
          <ac:spMkLst>
            <pc:docMk/>
            <pc:sldMk cId="2845546892" sldId="722"/>
            <ac:spMk id="3" creationId="{2F9035A2-CFEB-4003-B637-44AE887E334F}"/>
          </ac:spMkLst>
        </pc:spChg>
      </pc:sldChg>
      <pc:sldChg chg="modSp mod modNotes modNotesTx">
        <pc:chgData name="Claudio De Sio Cesari" userId="a29b13f1a3f35475" providerId="LiveId" clId="{866BA239-D177-451F-B243-FC65E6C19832}" dt="2021-02-11T10:30:37.834" v="1942" actId="14"/>
        <pc:sldMkLst>
          <pc:docMk/>
          <pc:sldMk cId="4274646010" sldId="723"/>
        </pc:sldMkLst>
        <pc:spChg chg="mod">
          <ac:chgData name="Claudio De Sio Cesari" userId="a29b13f1a3f35475" providerId="LiveId" clId="{866BA239-D177-451F-B243-FC65E6C19832}" dt="2021-02-11T08:35:51.839" v="341" actId="20577"/>
          <ac:spMkLst>
            <pc:docMk/>
            <pc:sldMk cId="4274646010" sldId="723"/>
            <ac:spMk id="2" creationId="{4F976724-0419-453A-AB45-889B3773DB64}"/>
          </ac:spMkLst>
        </pc:spChg>
        <pc:spChg chg="mod">
          <ac:chgData name="Claudio De Sio Cesari" userId="a29b13f1a3f35475" providerId="LiveId" clId="{866BA239-D177-451F-B243-FC65E6C19832}" dt="2021-02-11T10:30:37.834" v="1942" actId="14"/>
          <ac:spMkLst>
            <pc:docMk/>
            <pc:sldMk cId="4274646010" sldId="723"/>
            <ac:spMk id="3" creationId="{2F9035A2-CFEB-4003-B637-44AE887E334F}"/>
          </ac:spMkLst>
        </pc:spChg>
      </pc:sldChg>
      <pc:sldChg chg="modSp add mod ord modNotesTx">
        <pc:chgData name="Claudio De Sio Cesari" userId="a29b13f1a3f35475" providerId="LiveId" clId="{866BA239-D177-451F-B243-FC65E6C19832}" dt="2021-02-11T10:30:46.016" v="1947" actId="14"/>
        <pc:sldMkLst>
          <pc:docMk/>
          <pc:sldMk cId="3304286371" sldId="724"/>
        </pc:sldMkLst>
        <pc:spChg chg="mod">
          <ac:chgData name="Claudio De Sio Cesari" userId="a29b13f1a3f35475" providerId="LiveId" clId="{866BA239-D177-451F-B243-FC65E6C19832}" dt="2021-02-11T08:17:37.991" v="238" actId="20577"/>
          <ac:spMkLst>
            <pc:docMk/>
            <pc:sldMk cId="3304286371" sldId="724"/>
            <ac:spMk id="2" creationId="{4F976724-0419-453A-AB45-889B3773DB64}"/>
          </ac:spMkLst>
        </pc:spChg>
        <pc:spChg chg="mod">
          <ac:chgData name="Claudio De Sio Cesari" userId="a29b13f1a3f35475" providerId="LiveId" clId="{866BA239-D177-451F-B243-FC65E6C19832}" dt="2021-02-11T10:30:46.016" v="1947" actId="14"/>
          <ac:spMkLst>
            <pc:docMk/>
            <pc:sldMk cId="3304286371" sldId="724"/>
            <ac:spMk id="3" creationId="{2F9035A2-CFEB-4003-B637-44AE887E334F}"/>
          </ac:spMkLst>
        </pc:spChg>
      </pc:sldChg>
      <pc:sldChg chg="modSp add mod modNotesTx">
        <pc:chgData name="Claudio De Sio Cesari" userId="a29b13f1a3f35475" providerId="LiveId" clId="{866BA239-D177-451F-B243-FC65E6C19832}" dt="2021-02-12T11:02:07.084" v="2751" actId="20577"/>
        <pc:sldMkLst>
          <pc:docMk/>
          <pc:sldMk cId="2404731878" sldId="725"/>
        </pc:sldMkLst>
        <pc:spChg chg="mod">
          <ac:chgData name="Claudio De Sio Cesari" userId="a29b13f1a3f35475" providerId="LiveId" clId="{866BA239-D177-451F-B243-FC65E6C19832}" dt="2021-02-11T08:35:41.459" v="332" actId="20577"/>
          <ac:spMkLst>
            <pc:docMk/>
            <pc:sldMk cId="2404731878" sldId="725"/>
            <ac:spMk id="2" creationId="{4F976724-0419-453A-AB45-889B3773DB64}"/>
          </ac:spMkLst>
        </pc:spChg>
        <pc:spChg chg="mod">
          <ac:chgData name="Claudio De Sio Cesari" userId="a29b13f1a3f35475" providerId="LiveId" clId="{866BA239-D177-451F-B243-FC65E6C19832}" dt="2021-02-12T10:54:20.346" v="2673" actId="20577"/>
          <ac:spMkLst>
            <pc:docMk/>
            <pc:sldMk cId="2404731878" sldId="725"/>
            <ac:spMk id="3" creationId="{2F9035A2-CFEB-4003-B637-44AE887E334F}"/>
          </ac:spMkLst>
        </pc:spChg>
      </pc:sldChg>
      <pc:sldChg chg="addSp modSp add mod addCm delCm modNotesTx">
        <pc:chgData name="Claudio De Sio Cesari" userId="a29b13f1a3f35475" providerId="LiveId" clId="{866BA239-D177-451F-B243-FC65E6C19832}" dt="2021-02-11T10:30:14.897" v="1932" actId="27636"/>
        <pc:sldMkLst>
          <pc:docMk/>
          <pc:sldMk cId="761887705" sldId="726"/>
        </pc:sldMkLst>
        <pc:spChg chg="mod">
          <ac:chgData name="Claudio De Sio Cesari" userId="a29b13f1a3f35475" providerId="LiveId" clId="{866BA239-D177-451F-B243-FC65E6C19832}" dt="2021-02-11T09:25:11.556" v="1000" actId="20577"/>
          <ac:spMkLst>
            <pc:docMk/>
            <pc:sldMk cId="761887705" sldId="726"/>
            <ac:spMk id="2" creationId="{4F976724-0419-453A-AB45-889B3773DB64}"/>
          </ac:spMkLst>
        </pc:spChg>
        <pc:spChg chg="mod">
          <ac:chgData name="Claudio De Sio Cesari" userId="a29b13f1a3f35475" providerId="LiveId" clId="{866BA239-D177-451F-B243-FC65E6C19832}" dt="2021-02-11T10:30:14.897" v="1932" actId="27636"/>
          <ac:spMkLst>
            <pc:docMk/>
            <pc:sldMk cId="761887705" sldId="726"/>
            <ac:spMk id="3" creationId="{2F9035A2-CFEB-4003-B637-44AE887E334F}"/>
          </ac:spMkLst>
        </pc:spChg>
        <pc:picChg chg="add mod modCrop">
          <ac:chgData name="Claudio De Sio Cesari" userId="a29b13f1a3f35475" providerId="LiveId" clId="{866BA239-D177-451F-B243-FC65E6C19832}" dt="2021-02-11T09:47:26.770" v="1361" actId="1035"/>
          <ac:picMkLst>
            <pc:docMk/>
            <pc:sldMk cId="761887705" sldId="726"/>
            <ac:picMk id="7" creationId="{BE303F7C-8A1F-4E2B-85BE-EF2CFE9EE073}"/>
          </ac:picMkLst>
        </pc:picChg>
      </pc:sldChg>
      <pc:sldChg chg="delSp modSp add mod modNotesTx">
        <pc:chgData name="Claudio De Sio Cesari" userId="a29b13f1a3f35475" providerId="LiveId" clId="{866BA239-D177-451F-B243-FC65E6C19832}" dt="2021-02-11T10:22:14.084" v="1871" actId="6549"/>
        <pc:sldMkLst>
          <pc:docMk/>
          <pc:sldMk cId="2594785291" sldId="727"/>
        </pc:sldMkLst>
        <pc:spChg chg="mod">
          <ac:chgData name="Claudio De Sio Cesari" userId="a29b13f1a3f35475" providerId="LiveId" clId="{866BA239-D177-451F-B243-FC65E6C19832}" dt="2021-02-11T10:06:00.831" v="1388" actId="20577"/>
          <ac:spMkLst>
            <pc:docMk/>
            <pc:sldMk cId="2594785291" sldId="727"/>
            <ac:spMk id="2" creationId="{4F976724-0419-453A-AB45-889B3773DB64}"/>
          </ac:spMkLst>
        </pc:spChg>
        <pc:spChg chg="mod">
          <ac:chgData name="Claudio De Sio Cesari" userId="a29b13f1a3f35475" providerId="LiveId" clId="{866BA239-D177-451F-B243-FC65E6C19832}" dt="2021-02-11T10:11:16.494" v="1675" actId="20577"/>
          <ac:spMkLst>
            <pc:docMk/>
            <pc:sldMk cId="2594785291" sldId="727"/>
            <ac:spMk id="3" creationId="{2F9035A2-CFEB-4003-B637-44AE887E334F}"/>
          </ac:spMkLst>
        </pc:spChg>
        <pc:picChg chg="del mod">
          <ac:chgData name="Claudio De Sio Cesari" userId="a29b13f1a3f35475" providerId="LiveId" clId="{866BA239-D177-451F-B243-FC65E6C19832}" dt="2021-02-11T10:09:29.083" v="1453" actId="478"/>
          <ac:picMkLst>
            <pc:docMk/>
            <pc:sldMk cId="2594785291" sldId="727"/>
            <ac:picMk id="7" creationId="{BE303F7C-8A1F-4E2B-85BE-EF2CFE9EE073}"/>
          </ac:picMkLst>
        </pc:picChg>
      </pc:sldChg>
      <pc:sldChg chg="modSp add mod modNotesTx">
        <pc:chgData name="Claudio De Sio Cesari" userId="a29b13f1a3f35475" providerId="LiveId" clId="{866BA239-D177-451F-B243-FC65E6C19832}" dt="2021-02-12T11:13:11.254" v="2837"/>
        <pc:sldMkLst>
          <pc:docMk/>
          <pc:sldMk cId="2654019919" sldId="728"/>
        </pc:sldMkLst>
        <pc:spChg chg="mod">
          <ac:chgData name="Claudio De Sio Cesari" userId="a29b13f1a3f35475" providerId="LiveId" clId="{866BA239-D177-451F-B243-FC65E6C19832}" dt="2021-02-11T10:42:10.296" v="2469" actId="20577"/>
          <ac:spMkLst>
            <pc:docMk/>
            <pc:sldMk cId="2654019919" sldId="728"/>
            <ac:spMk id="2" creationId="{4F976724-0419-453A-AB45-889B3773DB64}"/>
          </ac:spMkLst>
        </pc:spChg>
        <pc:spChg chg="mod">
          <ac:chgData name="Claudio De Sio Cesari" userId="a29b13f1a3f35475" providerId="LiveId" clId="{866BA239-D177-451F-B243-FC65E6C19832}" dt="2021-02-12T11:13:11.254" v="2837"/>
          <ac:spMkLst>
            <pc:docMk/>
            <pc:sldMk cId="2654019919" sldId="728"/>
            <ac:spMk id="3" creationId="{2F9035A2-CFEB-4003-B637-44AE887E334F}"/>
          </ac:spMkLst>
        </pc:spChg>
      </pc:sldChg>
      <pc:sldChg chg="modSp add mod modNotesTx">
        <pc:chgData name="Claudio De Sio Cesari" userId="a29b13f1a3f35475" providerId="LiveId" clId="{866BA239-D177-451F-B243-FC65E6C19832}" dt="2021-02-12T11:12:34.219" v="2811" actId="20577"/>
        <pc:sldMkLst>
          <pc:docMk/>
          <pc:sldMk cId="934814956" sldId="729"/>
        </pc:sldMkLst>
        <pc:spChg chg="mod">
          <ac:chgData name="Claudio De Sio Cesari" userId="a29b13f1a3f35475" providerId="LiveId" clId="{866BA239-D177-451F-B243-FC65E6C19832}" dt="2021-02-12T10:50:54.802" v="2625" actId="20577"/>
          <ac:spMkLst>
            <pc:docMk/>
            <pc:sldMk cId="934814956" sldId="729"/>
            <ac:spMk id="2" creationId="{4F976724-0419-453A-AB45-889B3773DB64}"/>
          </ac:spMkLst>
        </pc:spChg>
        <pc:spChg chg="mod">
          <ac:chgData name="Claudio De Sio Cesari" userId="a29b13f1a3f35475" providerId="LiveId" clId="{866BA239-D177-451F-B243-FC65E6C19832}" dt="2021-02-12T11:12:34.219" v="2811" actId="20577"/>
          <ac:spMkLst>
            <pc:docMk/>
            <pc:sldMk cId="934814956" sldId="729"/>
            <ac:spMk id="3" creationId="{2F9035A2-CFEB-4003-B637-44AE887E334F}"/>
          </ac:spMkLst>
        </pc:spChg>
      </pc:sldChg>
      <pc:sldChg chg="modSp add mod">
        <pc:chgData name="Claudio De Sio Cesari" userId="a29b13f1a3f35475" providerId="LiveId" clId="{866BA239-D177-451F-B243-FC65E6C19832}" dt="2021-02-12T12:09:13.982" v="3209" actId="27636"/>
        <pc:sldMkLst>
          <pc:docMk/>
          <pc:sldMk cId="3806857239" sldId="730"/>
        </pc:sldMkLst>
        <pc:spChg chg="mod">
          <ac:chgData name="Claudio De Sio Cesari" userId="a29b13f1a3f35475" providerId="LiveId" clId="{866BA239-D177-451F-B243-FC65E6C19832}" dt="2021-02-12T11:43:31.499" v="2852" actId="20577"/>
          <ac:spMkLst>
            <pc:docMk/>
            <pc:sldMk cId="3806857239" sldId="730"/>
            <ac:spMk id="2" creationId="{4F976724-0419-453A-AB45-889B3773DB64}"/>
          </ac:spMkLst>
        </pc:spChg>
        <pc:spChg chg="mod">
          <ac:chgData name="Claudio De Sio Cesari" userId="a29b13f1a3f35475" providerId="LiveId" clId="{866BA239-D177-451F-B243-FC65E6C19832}" dt="2021-02-12T12:09:13.982" v="3209" actId="27636"/>
          <ac:spMkLst>
            <pc:docMk/>
            <pc:sldMk cId="3806857239" sldId="730"/>
            <ac:spMk id="3" creationId="{2F9035A2-CFEB-4003-B637-44AE887E334F}"/>
          </ac:spMkLst>
        </pc:spChg>
      </pc:sldChg>
      <pc:sldChg chg="addSp delSp modSp add mod modNotesTx">
        <pc:chgData name="Claudio De Sio Cesari" userId="a29b13f1a3f35475" providerId="LiveId" clId="{866BA239-D177-451F-B243-FC65E6C19832}" dt="2021-02-12T14:34:59.515" v="3629"/>
        <pc:sldMkLst>
          <pc:docMk/>
          <pc:sldMk cId="825804106" sldId="731"/>
        </pc:sldMkLst>
        <pc:spChg chg="mod">
          <ac:chgData name="Claudio De Sio Cesari" userId="a29b13f1a3f35475" providerId="LiveId" clId="{866BA239-D177-451F-B243-FC65E6C19832}" dt="2021-02-12T12:42:53.821" v="3222" actId="20577"/>
          <ac:spMkLst>
            <pc:docMk/>
            <pc:sldMk cId="825804106" sldId="731"/>
            <ac:spMk id="2" creationId="{4F976724-0419-453A-AB45-889B3773DB64}"/>
          </ac:spMkLst>
        </pc:spChg>
        <pc:spChg chg="mod">
          <ac:chgData name="Claudio De Sio Cesari" userId="a29b13f1a3f35475" providerId="LiveId" clId="{866BA239-D177-451F-B243-FC65E6C19832}" dt="2021-02-12T12:50:23.824" v="3540" actId="20577"/>
          <ac:spMkLst>
            <pc:docMk/>
            <pc:sldMk cId="825804106" sldId="731"/>
            <ac:spMk id="3" creationId="{2F9035A2-CFEB-4003-B637-44AE887E334F}"/>
          </ac:spMkLst>
        </pc:spChg>
        <pc:picChg chg="add del">
          <ac:chgData name="Claudio De Sio Cesari" userId="a29b13f1a3f35475" providerId="LiveId" clId="{866BA239-D177-451F-B243-FC65E6C19832}" dt="2021-02-12T12:43:14.520" v="3230" actId="22"/>
          <ac:picMkLst>
            <pc:docMk/>
            <pc:sldMk cId="825804106" sldId="731"/>
            <ac:picMk id="7" creationId="{FDA5E97A-56FE-4A5B-AC6B-38A1C40BC3EC}"/>
          </ac:picMkLst>
        </pc:picChg>
        <pc:picChg chg="add mod">
          <ac:chgData name="Claudio De Sio Cesari" userId="a29b13f1a3f35475" providerId="LiveId" clId="{866BA239-D177-451F-B243-FC65E6C19832}" dt="2021-02-12T12:45:25.409" v="3462" actId="1076"/>
          <ac:picMkLst>
            <pc:docMk/>
            <pc:sldMk cId="825804106" sldId="731"/>
            <ac:picMk id="9" creationId="{03815038-66C6-47C4-9EC5-8366E19E71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33C31-D34E-4EBE-ABC4-2DAA5A26C937}" type="datetimeFigureOut">
              <a:rPr lang="it-IT" smtClean="0"/>
              <a:t>12/02/2021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D8BF2-49EE-4CE2-A2D7-61B744D1E4D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9352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D8BF2-49EE-4CE2-A2D7-61B744D1E4D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6463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D8BF2-49EE-4CE2-A2D7-61B744D1E4D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0490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Git</a:t>
            </a:r>
            <a:r>
              <a:rPr lang="it-IT" dirty="0"/>
              <a:t> rallenta per file vincoli molto grandi (sui 30mb, e i </a:t>
            </a:r>
            <a:r>
              <a:rPr lang="it-IT" dirty="0" err="1"/>
              <a:t>vri</a:t>
            </a:r>
            <a:r>
              <a:rPr lang="it-IT" dirty="0"/>
              <a:t> provider come GitHub (e </a:t>
            </a:r>
            <a:r>
              <a:rPr lang="it-IT" dirty="0" err="1"/>
              <a:t>Atlassian</a:t>
            </a:r>
            <a:r>
              <a:rPr lang="it-IT" dirty="0"/>
              <a:t> </a:t>
            </a:r>
            <a:r>
              <a:rPr lang="it-IT" dirty="0" err="1"/>
              <a:t>BitBucket</a:t>
            </a:r>
            <a:r>
              <a:rPr lang="it-IT" dirty="0"/>
              <a:t> con differenti limiti) limitano a 50 mega la massima grandezza di un file. GIT rallenta anche in locale. Esiste un’estensione di GIT chiamata Large File Storage (LFS)</a:t>
            </a:r>
          </a:p>
          <a:p>
            <a:r>
              <a:rPr lang="it-IT" dirty="0" err="1"/>
              <a:t>Mercurial</a:t>
            </a:r>
            <a:r>
              <a:rPr lang="it-IT" dirty="0"/>
              <a:t> supporta file più grandi (sembra fino a 1GB)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D8BF2-49EE-4CE2-A2D7-61B744D1E4D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2347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ote 1">
            <a:extLst>
              <a:ext uri="{FF2B5EF4-FFF2-40B4-BE49-F238E27FC236}">
                <a16:creationId xmlns:a16="http://schemas.microsoft.com/office/drawing/2014/main" id="{C040D6EA-1B8B-48B9-8F8E-77C62CF53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20 minuti</a:t>
            </a:r>
          </a:p>
        </p:txBody>
      </p:sp>
    </p:spTree>
    <p:extLst>
      <p:ext uri="{BB962C8B-B14F-4D97-AF65-F5344CB8AC3E}">
        <p14:creationId xmlns:p14="http://schemas.microsoft.com/office/powerpoint/2010/main" val="1854994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ote 1">
            <a:extLst>
              <a:ext uri="{FF2B5EF4-FFF2-40B4-BE49-F238E27FC236}">
                <a16:creationId xmlns:a16="http://schemas.microsoft.com/office/drawing/2014/main" id="{C040D6EA-1B8B-48B9-8F8E-77C62CF53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20 minuti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ote 1">
            <a:extLst>
              <a:ext uri="{FF2B5EF4-FFF2-40B4-BE49-F238E27FC236}">
                <a16:creationId xmlns:a16="http://schemas.microsoft.com/office/drawing/2014/main" id="{C040D6EA-1B8B-48B9-8F8E-77C62CF53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5 minuti</a:t>
            </a:r>
          </a:p>
          <a:p>
            <a:endParaRPr lang="it-IT" dirty="0"/>
          </a:p>
          <a:p>
            <a:r>
              <a:rPr lang="it-IT" dirty="0"/>
              <a:t>Esisteva anche «to a </a:t>
            </a:r>
            <a:r>
              <a:rPr lang="it-IT" dirty="0" err="1"/>
              <a:t>pending</a:t>
            </a:r>
            <a:r>
              <a:rPr lang="it-IT" dirty="0"/>
              <a:t> file» ma era equivalente a reset</a:t>
            </a:r>
          </a:p>
        </p:txBody>
      </p:sp>
    </p:spTree>
    <p:extLst>
      <p:ext uri="{BB962C8B-B14F-4D97-AF65-F5344CB8AC3E}">
        <p14:creationId xmlns:p14="http://schemas.microsoft.com/office/powerpoint/2010/main" val="796897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ote 1">
            <a:extLst>
              <a:ext uri="{FF2B5EF4-FFF2-40B4-BE49-F238E27FC236}">
                <a16:creationId xmlns:a16="http://schemas.microsoft.com/office/drawing/2014/main" id="{C040D6EA-1B8B-48B9-8F8E-77C62CF53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5 minuti</a:t>
            </a:r>
          </a:p>
        </p:txBody>
      </p:sp>
    </p:spTree>
    <p:extLst>
      <p:ext uri="{BB962C8B-B14F-4D97-AF65-F5344CB8AC3E}">
        <p14:creationId xmlns:p14="http://schemas.microsoft.com/office/powerpoint/2010/main" val="3326710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ote 1">
            <a:extLst>
              <a:ext uri="{FF2B5EF4-FFF2-40B4-BE49-F238E27FC236}">
                <a16:creationId xmlns:a16="http://schemas.microsoft.com/office/drawing/2014/main" id="{C040D6EA-1B8B-48B9-8F8E-77C62CF53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5 minuti</a:t>
            </a:r>
          </a:p>
          <a:p>
            <a:endParaRPr lang="it-IT" dirty="0"/>
          </a:p>
          <a:p>
            <a:r>
              <a:rPr lang="it-IT" dirty="0"/>
              <a:t>Per quanto riguarda le repository remote:</a:t>
            </a:r>
          </a:p>
          <a:p>
            <a:r>
              <a:rPr lang="it-IT" dirty="0"/>
              <a:t>Ritirare un commit</a:t>
            </a:r>
          </a:p>
          <a:p>
            <a:r>
              <a:rPr lang="it-IT" dirty="0"/>
              <a:t>Questo è il modo in cui esegui il </a:t>
            </a:r>
            <a:r>
              <a:rPr lang="it-IT" dirty="0" err="1"/>
              <a:t>backout</a:t>
            </a:r>
            <a:r>
              <a:rPr lang="it-IT" dirty="0"/>
              <a:t> di un commit prima di eseguirne il push, e quindi si applica solo ai repository remoti per quanto riguarda </a:t>
            </a:r>
            <a:r>
              <a:rPr lang="it-IT" dirty="0" err="1"/>
              <a:t>SourceTree</a:t>
            </a:r>
            <a:r>
              <a:rPr lang="it-IT" dirty="0"/>
              <a:t>, poiché Push non è disponibile nei repository locali come passaggio separato.</a:t>
            </a:r>
          </a:p>
          <a:p>
            <a:r>
              <a:rPr lang="it-IT" dirty="0"/>
              <a:t>Quindi vediamo un esempio di questo:</a:t>
            </a:r>
          </a:p>
          <a:p>
            <a:r>
              <a:rPr lang="it-IT" dirty="0"/>
              <a:t>1. Apportare modifiche a un repository remoto.</a:t>
            </a:r>
          </a:p>
          <a:p>
            <a:r>
              <a:rPr lang="it-IT" dirty="0"/>
              <a:t>2. Effettua il cambiamento ma senza eseguire push.</a:t>
            </a:r>
          </a:p>
          <a:p>
            <a:r>
              <a:rPr lang="it-IT" dirty="0"/>
              <a:t>3. Nel grafico selezionare il commit evidenziato in attesa di essere "</a:t>
            </a:r>
            <a:r>
              <a:rPr lang="it-IT" dirty="0" err="1"/>
              <a:t>pushato</a:t>
            </a:r>
            <a:r>
              <a:rPr lang="it-IT" dirty="0"/>
              <a:t>" e fare clic con il tasto destro su di esso. Seleziona l’opzione Reverse Commit ...</a:t>
            </a:r>
          </a:p>
          <a:p>
            <a:r>
              <a:rPr lang="it-IT" dirty="0"/>
              <a:t>4. Conferma di voler tornare indietro senza fare push.</a:t>
            </a:r>
          </a:p>
          <a:p>
            <a:r>
              <a:rPr lang="it-IT" dirty="0"/>
              <a:t>5. Notare che si verifica qualcosa di simile a un ripristino. Le ultime modifiche apportate ma non </a:t>
            </a:r>
            <a:r>
              <a:rPr lang="it-IT" dirty="0" err="1"/>
              <a:t>pushate</a:t>
            </a:r>
            <a:r>
              <a:rPr lang="it-IT" dirty="0"/>
              <a:t> vengono invertite e automaticamente </a:t>
            </a:r>
            <a:r>
              <a:rPr lang="it-IT" dirty="0" err="1"/>
              <a:t>committate</a:t>
            </a:r>
            <a:r>
              <a:rPr lang="it-IT" dirty="0"/>
              <a:t>, risultando ora in non uno ma due push da fare. Il primo applica le modifiche. Il secondo le inverte.</a:t>
            </a:r>
          </a:p>
          <a:p>
            <a:r>
              <a:rPr lang="it-IT" dirty="0"/>
              <a:t>6. Esegui le modifiche.</a:t>
            </a:r>
          </a:p>
        </p:txBody>
      </p:sp>
    </p:spTree>
    <p:extLst>
      <p:ext uri="{BB962C8B-B14F-4D97-AF65-F5344CB8AC3E}">
        <p14:creationId xmlns:p14="http://schemas.microsoft.com/office/powerpoint/2010/main" val="83243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ote 1">
            <a:extLst>
              <a:ext uri="{FF2B5EF4-FFF2-40B4-BE49-F238E27FC236}">
                <a16:creationId xmlns:a16="http://schemas.microsoft.com/office/drawing/2014/main" id="{C040D6EA-1B8B-48B9-8F8E-77C62CF53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 minuti</a:t>
            </a:r>
          </a:p>
          <a:p>
            <a:endParaRPr lang="it-IT" dirty="0"/>
          </a:p>
          <a:p>
            <a:r>
              <a:rPr lang="it-IT" dirty="0"/>
              <a:t>Quando usare cosa?</a:t>
            </a:r>
          </a:p>
          <a:p>
            <a:r>
              <a:rPr lang="it-IT" dirty="0"/>
              <a:t>Le modifiche apportate da un ripristino alla cronologia rendono un </a:t>
            </a:r>
            <a:r>
              <a:rPr lang="it-IT" dirty="0" err="1"/>
              <a:t>po</a:t>
            </a:r>
            <a:r>
              <a:rPr lang="it-IT" dirty="0"/>
              <a:t> 'più problematico quando si lavora in una squadra: tu</a:t>
            </a:r>
          </a:p>
          <a:p>
            <a:r>
              <a:rPr lang="it-IT" dirty="0"/>
              <a:t>dovresti cercare di limitarne l'uso ai tuoi rami e usarlo raramente su rami dove c'è collaborazione,</a:t>
            </a:r>
          </a:p>
          <a:p>
            <a:r>
              <a:rPr lang="it-IT" dirty="0"/>
              <a:t>un ramo a cui invia più di una persona o un ramo che hai già condiviso con altri.</a:t>
            </a:r>
          </a:p>
          <a:p>
            <a:r>
              <a:rPr lang="it-IT" dirty="0"/>
              <a:t>E il potenziale conflitto di Reverse lo rende troppo problematico quando si invertono più file. Sebbene</a:t>
            </a:r>
          </a:p>
          <a:p>
            <a:r>
              <a:rPr lang="it-IT" dirty="0"/>
              <a:t>è facile risolvere i conflitti generati dai commit inversi, come ho mostrato in precedenza.</a:t>
            </a:r>
          </a:p>
          <a:p>
            <a:r>
              <a:rPr lang="it-IT" dirty="0"/>
              <a:t>Quindi immaginiamo un esempio in cui hai una serie di commit A, B, C e D. con D come HEAD.</a:t>
            </a:r>
          </a:p>
          <a:p>
            <a:r>
              <a:rPr lang="it-IT" dirty="0"/>
              <a:t>Se desideri annullare più commit e conservare comunque una copia delle loro modifiche, usa Reverse.</a:t>
            </a:r>
          </a:p>
          <a:p>
            <a:r>
              <a:rPr lang="it-IT" dirty="0"/>
              <a:t>Nel nostro esempio, se vuoi tornare indietro per eseguire il commit A, inverti B. Probabilmente otterrai un conflitto, e tu</a:t>
            </a:r>
          </a:p>
          <a:p>
            <a:r>
              <a:rPr lang="it-IT" dirty="0"/>
              <a:t>puoi scegliere di risolverlo con l'opzione "Using </a:t>
            </a:r>
            <a:r>
              <a:rPr lang="it-IT" dirty="0" err="1"/>
              <a:t>Theirs</a:t>
            </a:r>
            <a:r>
              <a:rPr lang="it-IT" dirty="0"/>
              <a:t>" che restituirà lo stato del progetto ad A.</a:t>
            </a:r>
          </a:p>
          <a:p>
            <a:r>
              <a:rPr lang="it-IT" dirty="0"/>
              <a:t>Se stai lavorando sul tuo ramo e sai che non vuoi che B, C e D rimangano nel grafico,</a:t>
            </a:r>
          </a:p>
          <a:p>
            <a:r>
              <a:rPr lang="it-IT" dirty="0"/>
              <a:t>allora dovresti usare Reset per tornare ad A ed essenzialmente cancellare B, C e D. E se sai che non lo fai</a:t>
            </a:r>
          </a:p>
          <a:p>
            <a:r>
              <a:rPr lang="it-IT" dirty="0"/>
              <a:t>Se vuoi mantenere qualsiasi cosa fatta nel commit B, C e D, potresti anche usare Reset Hard.</a:t>
            </a:r>
          </a:p>
          <a:p>
            <a:r>
              <a:rPr lang="it-IT" dirty="0"/>
              <a:t>Se desideri annullare l'ultimo commit di un ramo, entrambe le soluzioni vanno bene e di nuovo dipenderà da ciò che hai</a:t>
            </a:r>
          </a:p>
          <a:p>
            <a:r>
              <a:rPr lang="it-IT" dirty="0"/>
              <a:t>voglio rimanere nel grafico.</a:t>
            </a:r>
          </a:p>
          <a:p>
            <a:r>
              <a:rPr lang="it-IT" dirty="0"/>
              <a:t>Sommario</a:t>
            </a:r>
          </a:p>
          <a:p>
            <a:r>
              <a:rPr lang="it-IT" dirty="0"/>
              <a:t>In </a:t>
            </a:r>
            <a:r>
              <a:rPr lang="it-IT" dirty="0" err="1"/>
              <a:t>SourceTree</a:t>
            </a:r>
            <a:r>
              <a:rPr lang="it-IT" dirty="0"/>
              <a:t> puoi eliminare le modifiche apportate a un file, invece di eseguire il commit di queste modifiche, essenzialmente</a:t>
            </a:r>
          </a:p>
          <a:p>
            <a:r>
              <a:rPr lang="it-IT" dirty="0"/>
              <a:t>annullare tutte le modifiche recenti e ripristinare il file all'ultimo stato di cui è stato eseguito il commit. Puoi anche reimpostare un commit</a:t>
            </a:r>
          </a:p>
          <a:p>
            <a:r>
              <a:rPr lang="it-IT" dirty="0"/>
              <a:t>o invertirlo. Con un reset si elimina essenzialmente un commit e tutte le modifiche che comprende. Con un rovescio</a:t>
            </a:r>
          </a:p>
          <a:p>
            <a:r>
              <a:rPr lang="it-IT" dirty="0"/>
              <a:t>crei un nuovo commit in cui le modifiche in un commit precedente vengono riprodotte all'indietro.</a:t>
            </a:r>
          </a:p>
        </p:txBody>
      </p:sp>
    </p:spTree>
    <p:extLst>
      <p:ext uri="{BB962C8B-B14F-4D97-AF65-F5344CB8AC3E}">
        <p14:creationId xmlns:p14="http://schemas.microsoft.com/office/powerpoint/2010/main" val="378942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ote 1">
            <a:extLst>
              <a:ext uri="{FF2B5EF4-FFF2-40B4-BE49-F238E27FC236}">
                <a16:creationId xmlns:a16="http://schemas.microsoft.com/office/drawing/2014/main" id="{C040D6EA-1B8B-48B9-8F8E-77C62CF53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 minuti</a:t>
            </a:r>
          </a:p>
        </p:txBody>
      </p:sp>
    </p:spTree>
    <p:extLst>
      <p:ext uri="{BB962C8B-B14F-4D97-AF65-F5344CB8AC3E}">
        <p14:creationId xmlns:p14="http://schemas.microsoft.com/office/powerpoint/2010/main" val="2191715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ote 1">
            <a:extLst>
              <a:ext uri="{FF2B5EF4-FFF2-40B4-BE49-F238E27FC236}">
                <a16:creationId xmlns:a16="http://schemas.microsoft.com/office/drawing/2014/main" id="{C040D6EA-1B8B-48B9-8F8E-77C62CF53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20 minuti</a:t>
            </a:r>
          </a:p>
        </p:txBody>
      </p:sp>
    </p:spTree>
    <p:extLst>
      <p:ext uri="{BB962C8B-B14F-4D97-AF65-F5344CB8AC3E}">
        <p14:creationId xmlns:p14="http://schemas.microsoft.com/office/powerpoint/2010/main" val="3904882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ote 1">
            <a:extLst>
              <a:ext uri="{FF2B5EF4-FFF2-40B4-BE49-F238E27FC236}">
                <a16:creationId xmlns:a16="http://schemas.microsoft.com/office/drawing/2014/main" id="{C040D6EA-1B8B-48B9-8F8E-77C62CF53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5 minuti</a:t>
            </a:r>
          </a:p>
          <a:p>
            <a:endParaRPr lang="it-IT" dirty="0"/>
          </a:p>
          <a:p>
            <a:r>
              <a:rPr lang="it-IT" dirty="0"/>
              <a:t>È possibile </a:t>
            </a:r>
            <a:r>
              <a:rPr lang="it-IT" dirty="0" err="1"/>
              <a:t>anhe</a:t>
            </a:r>
            <a:r>
              <a:rPr lang="it-IT" dirty="0"/>
              <a:t> editare direttamente il file .</a:t>
            </a:r>
            <a:r>
              <a:rPr lang="it-IT" dirty="0" err="1"/>
              <a:t>gitignore</a:t>
            </a:r>
            <a:r>
              <a:rPr lang="it-IT" dirty="0"/>
              <a:t>, ecco degli esempi: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LiberationSerif"/>
              </a:rPr>
              <a:t>Ignore all files with a certain extension, say 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LiberationSerif-Italic"/>
              </a:rPr>
              <a:t>html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LiberationSerif"/>
              </a:rPr>
              <a:t>, for example: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urierNewPSMT"/>
              </a:rPr>
              <a:t>*.html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CourierNewPSMT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LiberationSerif"/>
              </a:rPr>
              <a:t>- But not a file called 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LiberationSerif-Italic"/>
              </a:rPr>
              <a:t>myHomePage.html</a:t>
            </a:r>
            <a:br>
              <a:rPr lang="en-US" sz="1800" b="0" i="1" dirty="0">
                <a:solidFill>
                  <a:srgbClr val="000000"/>
                </a:solidFill>
                <a:effectLst/>
                <a:latin typeface="LiberationSerif-Italic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NewPSMT"/>
              </a:rPr>
              <a:t>!myHomePage.html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CourierNewPSMT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LiberationSerif"/>
              </a:rPr>
              <a:t>- Ignore everything! ( A bit drastic)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LiberationSerif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NewPSMT"/>
              </a:rPr>
              <a:t>/*</a:t>
            </a:r>
            <a:r>
              <a:rPr lang="en-US" dirty="0"/>
              <a:t> </a:t>
            </a:r>
            <a:br>
              <a:rPr lang="en-US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LiberationSerif"/>
              </a:rPr>
              <a:t>- Except a folder called </a:t>
            </a:r>
            <a:r>
              <a:rPr lang="en-US" sz="1800" b="0" i="1" dirty="0" err="1">
                <a:solidFill>
                  <a:srgbClr val="000000"/>
                </a:solidFill>
                <a:effectLst/>
                <a:latin typeface="LiberationSerif-Italic"/>
              </a:rPr>
              <a:t>myStuff</a:t>
            </a:r>
            <a:br>
              <a:rPr lang="en-US" sz="1800" b="0" i="1" dirty="0">
                <a:solidFill>
                  <a:srgbClr val="000000"/>
                </a:solidFill>
                <a:effectLst/>
                <a:latin typeface="LiberationSerif-Italic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NewPSMT"/>
              </a:rPr>
              <a:t>!/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urierNewPSMT"/>
              </a:rPr>
              <a:t>myStuff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CourierNewPSMT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LiberationSerif"/>
              </a:rPr>
              <a:t>- Ignore every directory called 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LiberationSerif-Italic"/>
              </a:rPr>
              <a:t>Temp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LiberationSerif"/>
              </a:rPr>
              <a:t>, wherever it happens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urierNewPSMT"/>
              </a:rPr>
              <a:t>**/Temp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CourierNewPSMT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LiberationSerif"/>
              </a:rPr>
              <a:t>- Ignore all files within a directory called 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LiberationSerif-Italic"/>
              </a:rPr>
              <a:t>draft</a:t>
            </a:r>
            <a:br>
              <a:rPr lang="en-US" sz="1800" b="0" i="1" dirty="0">
                <a:solidFill>
                  <a:srgbClr val="000000"/>
                </a:solidFill>
                <a:effectLst/>
                <a:latin typeface="LiberationSerif-Italic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NewPSMT"/>
              </a:rPr>
              <a:t>draft/**</a:t>
            </a:r>
            <a:r>
              <a:rPr lang="en-US" dirty="0"/>
              <a:t> </a:t>
            </a:r>
            <a:br>
              <a:rPr lang="en-US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66822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20/03/2012</a:t>
            </a:r>
          </a:p>
        </p:txBody>
      </p:sp>
      <p:sp>
        <p:nvSpPr>
          <p:cNvPr id="3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4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733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20/03/2012</a:t>
            </a:r>
          </a:p>
        </p:txBody>
      </p:sp>
      <p:sp>
        <p:nvSpPr>
          <p:cNvPr id="3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4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8091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Claudio De Sio Cesari: RC-194</a:t>
            </a: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6973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430" y="476590"/>
            <a:ext cx="8229600" cy="1252728"/>
          </a:xfrm>
        </p:spPr>
        <p:txBody>
          <a:bodyPr/>
          <a:lstStyle>
            <a:lvl1pPr algn="l">
              <a:defRPr sz="1800">
                <a:solidFill>
                  <a:srgbClr val="C00000"/>
                </a:solidFill>
              </a:defRPr>
            </a:lvl1pPr>
            <a:extLst/>
          </a:lstStyle>
          <a:p>
            <a:r>
              <a:rPr kumimoji="0" lang="it-IT" dirty="0"/>
              <a:t>Fare clic per modificare lo stile del titolo</a:t>
            </a:r>
            <a:endParaRPr kumimoji="0"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it-IT" dirty="0"/>
              <a:t>Fare clic per modificare stili del testo dello schema</a:t>
            </a:r>
          </a:p>
          <a:p>
            <a:pPr lvl="1" eaLnBrk="1" latinLnBrk="0" hangingPunct="1"/>
            <a:r>
              <a:rPr lang="it-IT" dirty="0"/>
              <a:t>Secondo livello</a:t>
            </a:r>
          </a:p>
          <a:p>
            <a:pPr lvl="2" eaLnBrk="1" latinLnBrk="0" hangingPunct="1"/>
            <a:r>
              <a:rPr lang="it-IT" dirty="0"/>
              <a:t>Terzo livello</a:t>
            </a:r>
          </a:p>
          <a:p>
            <a:pPr lvl="3" eaLnBrk="1" latinLnBrk="0" hangingPunct="1"/>
            <a:r>
              <a:rPr lang="it-IT" dirty="0"/>
              <a:t>Quarto livello</a:t>
            </a:r>
          </a:p>
          <a:p>
            <a:pPr lvl="4" eaLnBrk="1" latinLnBrk="0" hangingPunct="1"/>
            <a:r>
              <a:rPr lang="it-IT" dirty="0"/>
              <a:t>Quinto livello</a:t>
            </a:r>
            <a:endParaRPr kumimoji="0"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Claudio De Sio Cesari: RC-194</a:t>
            </a: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1523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44834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20/03/2012</a:t>
            </a:r>
          </a:p>
        </p:txBody>
      </p:sp>
      <p:sp>
        <p:nvSpPr>
          <p:cNvPr id="3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448345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4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44834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110DCC-F880-45A0-B38F-83BA2DDD42DF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3194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44834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20/03/2012</a:t>
            </a:r>
          </a:p>
        </p:txBody>
      </p:sp>
      <p:sp>
        <p:nvSpPr>
          <p:cNvPr id="4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448345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44834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DC1E0-E1FA-475B-A781-6647668C09E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4631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931951-706E-4828-A5DF-A5F618EB3661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4746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AB037-F906-4F18-AB42-E6112392815B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2030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20/03/2012</a:t>
            </a:r>
          </a:p>
        </p:txBody>
      </p:sp>
      <p:sp>
        <p:nvSpPr>
          <p:cNvPr id="6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333BF1-6409-4282-97C2-A463B03E8B60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7066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20/03/2012</a:t>
            </a:r>
          </a:p>
        </p:txBody>
      </p:sp>
      <p:sp>
        <p:nvSpPr>
          <p:cNvPr id="3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Claudio De Sio Cesari: RC-194</a:t>
            </a: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3E0A8-4958-4553-8C1A-CC59A6ABE123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658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20/03/2012</a:t>
            </a:r>
          </a:p>
        </p:txBody>
      </p:sp>
      <p:sp>
        <p:nvSpPr>
          <p:cNvPr id="3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Claudio De Sio Cesari: RC-194</a:t>
            </a: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3E0A8-4958-4553-8C1A-CC59A6ABE123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9824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Claudio De Sio Cesari: RC-194</a:t>
            </a: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6973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376022"/>
            <a:ext cx="8229600" cy="1252728"/>
          </a:xfrm>
        </p:spPr>
        <p:txBody>
          <a:bodyPr/>
          <a:lstStyle>
            <a:lvl1pPr algn="l">
              <a:defRPr sz="1800"/>
            </a:lvl1pPr>
            <a:extLst/>
          </a:lstStyle>
          <a:p>
            <a:r>
              <a:rPr kumimoji="0" lang="it-IT" dirty="0"/>
              <a:t>Fare clic per modificare lo stile del titolo</a:t>
            </a:r>
            <a:endParaRPr kumimoji="0"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it-IT" dirty="0"/>
              <a:t>Fare clic per modificare stili del testo dello schema</a:t>
            </a:r>
          </a:p>
          <a:p>
            <a:pPr lvl="1" eaLnBrk="1" latinLnBrk="0" hangingPunct="1"/>
            <a:r>
              <a:rPr lang="it-IT" dirty="0"/>
              <a:t>Secondo livello</a:t>
            </a:r>
          </a:p>
          <a:p>
            <a:pPr lvl="2" eaLnBrk="1" latinLnBrk="0" hangingPunct="1"/>
            <a:r>
              <a:rPr lang="it-IT" dirty="0"/>
              <a:t>Terzo livello</a:t>
            </a:r>
          </a:p>
          <a:p>
            <a:pPr lvl="3" eaLnBrk="1" latinLnBrk="0" hangingPunct="1"/>
            <a:r>
              <a:rPr lang="it-IT" dirty="0"/>
              <a:t>Quarto livello</a:t>
            </a:r>
          </a:p>
          <a:p>
            <a:pPr lvl="4" eaLnBrk="1" latinLnBrk="0" hangingPunct="1"/>
            <a:r>
              <a:rPr lang="it-IT" dirty="0"/>
              <a:t>Quinto livello</a:t>
            </a:r>
            <a:endParaRPr kumimoji="0"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Claudio De Sio Cesari: RC-194</a:t>
            </a: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1523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2980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3283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9286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87856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9445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5346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5113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3330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72349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77078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20467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73619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90677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49755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33497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92445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958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jpe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egnaposto titolo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stile</a:t>
            </a:r>
          </a:p>
        </p:txBody>
      </p:sp>
      <p:sp>
        <p:nvSpPr>
          <p:cNvPr id="1027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-111" charset="0"/>
                <a:ea typeface="ＭＳ Ｐゴシック" pitchFamily="-111" charset="-128"/>
                <a:cs typeface="+mn-cs"/>
              </a:defRPr>
            </a:lvl1pPr>
          </a:lstStyle>
          <a:p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1" charset="0"/>
                <a:ea typeface="ＭＳ Ｐゴシック" pitchFamily="-111" charset="-128"/>
                <a:cs typeface="+mn-cs"/>
              </a:defRPr>
            </a:lvl1pPr>
          </a:lstStyle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  <p:pic>
        <p:nvPicPr>
          <p:cNvPr id="1031" name="Immagine 3" descr="PPT_template-06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</p:sldLayoutIdLs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egnaposto titolo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</a:t>
            </a:r>
          </a:p>
        </p:txBody>
      </p:sp>
      <p:sp>
        <p:nvSpPr>
          <p:cNvPr id="2051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ea typeface="ＭＳ Ｐゴシック" pitchFamily="-111" charset="-128"/>
                <a:cs typeface="+mn-cs"/>
              </a:defRPr>
            </a:lvl1pPr>
          </a:lstStyle>
          <a:p>
            <a:pPr>
              <a:defRPr/>
            </a:pPr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pitchFamily="-111" charset="-128"/>
                <a:cs typeface="+mn-cs"/>
              </a:defRPr>
            </a:lvl1pPr>
          </a:lstStyle>
          <a:p>
            <a:pPr>
              <a:defRPr/>
            </a:pPr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ea typeface="ＭＳ Ｐゴシック" pitchFamily="-111" charset="-128"/>
                <a:cs typeface="+mn-cs"/>
              </a:defRPr>
            </a:lvl1pPr>
          </a:lstStyle>
          <a:p>
            <a:pPr>
              <a:defRPr/>
            </a:pPr>
            <a:fld id="{BF9AA21D-CBBF-4F18-852F-35D67877B6D0}" type="slidenum">
              <a:rPr lang="it-IT"/>
              <a:pPr>
                <a:defRPr/>
              </a:pPr>
              <a:t>‹N›</a:t>
            </a:fld>
            <a:endParaRPr lang="it-IT"/>
          </a:p>
        </p:txBody>
      </p:sp>
      <p:pic>
        <p:nvPicPr>
          <p:cNvPr id="2055" name="Immagine 3" descr="PPT_template-04-04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" y="0"/>
            <a:ext cx="91424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egnaposto titolo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stile</a:t>
            </a:r>
          </a:p>
        </p:txBody>
      </p:sp>
      <p:sp>
        <p:nvSpPr>
          <p:cNvPr id="1027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-111" charset="0"/>
                <a:ea typeface="ＭＳ Ｐゴシック" pitchFamily="-111" charset="-128"/>
                <a:cs typeface="+mn-cs"/>
              </a:defRPr>
            </a:lvl1pPr>
          </a:lstStyle>
          <a:p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Claudio De Sio Cesari: RC-194</a:t>
            </a: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1" charset="0"/>
                <a:ea typeface="ＭＳ Ｐゴシック" pitchFamily="-111" charset="-128"/>
                <a:cs typeface="+mn-cs"/>
              </a:defRPr>
            </a:lvl1pPr>
          </a:lstStyle>
          <a:p>
            <a:fld id="{EA83E0A8-4958-4553-8C1A-CC59A6ABE123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031" name="Immagine 3" descr="PPT_template-06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4333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</p:sldLayoutIdLs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it-IT"/>
              <a:t>20/03/2012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35336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laudiodesio.com/" TargetMode="External"/><Relationship Id="rId7" Type="http://schemas.openxmlformats.org/officeDocument/2006/relationships/hyperlink" Target="http://www.linkedin.com/in/claudiodesi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://twitter.com/cdesio" TargetMode="External"/><Relationship Id="rId5" Type="http://schemas.openxmlformats.org/officeDocument/2006/relationships/hyperlink" Target="http://www.facebook.com/claudiodesiocesari" TargetMode="External"/><Relationship Id="rId4" Type="http://schemas.openxmlformats.org/officeDocument/2006/relationships/hyperlink" Target="mailto:claudio@claudiodesio.com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27360" y="1052670"/>
            <a:ext cx="8077200" cy="3976530"/>
          </a:xfrm>
        </p:spPr>
        <p:txBody>
          <a:bodyPr>
            <a:normAutofit/>
          </a:bodyPr>
          <a:lstStyle/>
          <a:p>
            <a:pPr algn="ctr"/>
            <a:r>
              <a:rPr lang="it-IT" b="1" dirty="0"/>
              <a:t>Claudio De Sio Cesari</a:t>
            </a:r>
            <a:br>
              <a:rPr lang="it-IT" b="1" dirty="0"/>
            </a:br>
            <a:br>
              <a:rPr lang="it-IT" sz="32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it-IT" sz="32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it-IT" sz="5400" dirty="0">
                <a:solidFill>
                  <a:srgbClr val="000000"/>
                </a:solidFill>
                <a:latin typeface="Calibri" panose="020F0502020204030204" pitchFamily="34" charset="0"/>
              </a:rPr>
              <a:t>Introduzione a GIT</a:t>
            </a:r>
            <a:br>
              <a:rPr lang="it-IT" sz="54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it-IT" sz="5400" dirty="0">
                <a:solidFill>
                  <a:srgbClr val="000000"/>
                </a:solidFill>
                <a:latin typeface="Calibri" panose="020F0502020204030204" pitchFamily="34" charset="0"/>
              </a:rPr>
              <a:t>(T</a:t>
            </a:r>
            <a:r>
              <a:rPr lang="it-IT" sz="5400" b="1" dirty="0"/>
              <a:t>C– 212)</a:t>
            </a:r>
            <a:r>
              <a:rPr lang="it-IT" sz="5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it-IT" sz="5400" dirty="0"/>
          </a:p>
        </p:txBody>
      </p:sp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525430"/>
            <a:ext cx="2133600" cy="196048"/>
          </a:xfrm>
        </p:spPr>
        <p:txBody>
          <a:bodyPr/>
          <a:lstStyle/>
          <a:p>
            <a:fld id="{A47CFDED-9124-48F1-BBFC-49CD505FB6D3}" type="slidenum">
              <a:rPr lang="it-IT" smtClean="0"/>
              <a:pPr/>
              <a:t>1</a:t>
            </a:fld>
            <a:endParaRPr lang="it-IT"/>
          </a:p>
        </p:txBody>
      </p:sp>
      <p:sp>
        <p:nvSpPr>
          <p:cNvPr id="15" name="Segnaposto piè di pagina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88286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Presentazioni: Claudio De Sio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Claudio De Sio (Cesari)</a:t>
            </a:r>
          </a:p>
          <a:p>
            <a:r>
              <a:rPr lang="it-IT" dirty="0"/>
              <a:t>Dal 1999 consulente free lance in:</a:t>
            </a:r>
          </a:p>
          <a:p>
            <a:pPr lvl="1"/>
            <a:r>
              <a:rPr lang="it-IT" dirty="0"/>
              <a:t>Architettura, Analisi e Progettazione OO, Sviluppatore Open Source, Documentazione, Tutoring, </a:t>
            </a:r>
            <a:r>
              <a:rPr lang="it-IT" dirty="0" err="1"/>
              <a:t>Mentoring</a:t>
            </a:r>
            <a:endParaRPr lang="it-IT" dirty="0"/>
          </a:p>
          <a:p>
            <a:r>
              <a:rPr lang="it-IT" dirty="0"/>
              <a:t>Collaborazioni più importanti:</a:t>
            </a:r>
          </a:p>
          <a:p>
            <a:pPr lvl="1"/>
            <a:r>
              <a:rPr lang="it-IT" dirty="0"/>
              <a:t>Oracle, Sun Microsystems, IBM, EDS, HP, Hoepli, Federico II, Telecom, Min. Tesoro, Trasporti, Economia e Giustizia, Alenia, SOGEI, General Electric, Nortel Networks, Banca D’Italia…</a:t>
            </a:r>
          </a:p>
          <a:p>
            <a:r>
              <a:rPr lang="sv-SE" dirty="0"/>
              <a:t>Riferimenti:</a:t>
            </a:r>
          </a:p>
          <a:p>
            <a:pPr lvl="1"/>
            <a:r>
              <a:rPr lang="sv-SE" dirty="0"/>
              <a:t>Internet:   </a:t>
            </a:r>
            <a:r>
              <a:rPr lang="sv-SE" dirty="0">
                <a:hlinkClick r:id="rId3"/>
              </a:rPr>
              <a:t>http://www.claudiodesio.com</a:t>
            </a:r>
            <a:endParaRPr lang="sv-SE" dirty="0"/>
          </a:p>
          <a:p>
            <a:pPr lvl="1"/>
            <a:r>
              <a:rPr lang="sv-SE" dirty="0"/>
              <a:t>E-mail:     </a:t>
            </a:r>
            <a:r>
              <a:rPr lang="sv-SE" dirty="0">
                <a:hlinkClick r:id="rId4"/>
              </a:rPr>
              <a:t>claudio@claudiodesio.com</a:t>
            </a:r>
            <a:endParaRPr lang="sv-SE" dirty="0"/>
          </a:p>
          <a:p>
            <a:pPr lvl="1"/>
            <a:r>
              <a:rPr lang="sv-SE" dirty="0"/>
              <a:t>Facebook: </a:t>
            </a:r>
            <a:r>
              <a:rPr lang="sv-SE" dirty="0">
                <a:hlinkClick r:id="rId5"/>
              </a:rPr>
              <a:t>http://www.facebook.com/claudiodesiocesari</a:t>
            </a:r>
            <a:endParaRPr lang="sv-SE" dirty="0"/>
          </a:p>
          <a:p>
            <a:pPr lvl="1"/>
            <a:r>
              <a:rPr lang="sv-SE" dirty="0"/>
              <a:t>Twitter: </a:t>
            </a:r>
            <a:r>
              <a:rPr lang="sv-SE" dirty="0">
                <a:hlinkClick r:id="rId6"/>
              </a:rPr>
              <a:t>http://twitter.com/cdesio</a:t>
            </a:r>
            <a:endParaRPr lang="sv-SE" dirty="0"/>
          </a:p>
          <a:p>
            <a:pPr lvl="1"/>
            <a:r>
              <a:rPr lang="sv-SE" dirty="0"/>
              <a:t>LinkedIn: </a:t>
            </a:r>
            <a:r>
              <a:rPr lang="sv-SE" dirty="0">
                <a:hlinkClick r:id="rId7"/>
              </a:rPr>
              <a:t>http://www.linkedin.com/in/claudiodesio</a:t>
            </a:r>
            <a:endParaRPr lang="sv-SE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7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Claudio De Sio Cesari: RC-194</a:t>
            </a:r>
            <a:endParaRPr lang="it-IT" dirty="0"/>
          </a:p>
        </p:txBody>
      </p:sp>
      <p:sp>
        <p:nvSpPr>
          <p:cNvPr id="9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859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Presentazioni: Voi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Nome e cognome</a:t>
            </a:r>
          </a:p>
          <a:p>
            <a:r>
              <a:rPr lang="it-IT" dirty="0"/>
              <a:t>Esperienza</a:t>
            </a:r>
          </a:p>
          <a:p>
            <a:r>
              <a:rPr lang="it-IT" dirty="0"/>
              <a:t>Obiettivi e Difficoltà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Claudio De Sio Cesari: RC-194</a:t>
            </a:r>
            <a:endParaRPr lang="it-IT" dirty="0"/>
          </a:p>
        </p:txBody>
      </p:sp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2554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Programma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742032"/>
            <a:ext cx="9144000" cy="4351338"/>
          </a:xfrm>
        </p:spPr>
        <p:txBody>
          <a:bodyPr>
            <a:noAutofit/>
          </a:bodyPr>
          <a:lstStyle/>
          <a:p>
            <a:r>
              <a:rPr lang="it-IT" dirty="0"/>
              <a:t>Obiettivi del Corso</a:t>
            </a:r>
          </a:p>
          <a:p>
            <a:pPr lvl="1"/>
            <a:r>
              <a:rPr lang="it-IT" sz="2400" dirty="0"/>
              <a:t>Ai partecipanti saranno date tutte le nozioni necessarie per poter iniziare a lavorare in maniera professionale nel campo della programmazione. Il linguaggio di programmazione presentato sarà Java.</a:t>
            </a:r>
          </a:p>
          <a:p>
            <a:r>
              <a:rPr lang="it-IT" dirty="0"/>
              <a:t>Prerequisiti</a:t>
            </a:r>
          </a:p>
          <a:p>
            <a:pPr lvl="1"/>
            <a:r>
              <a:rPr lang="it-IT" sz="2400" dirty="0"/>
              <a:t>Conoscenza di base di un PC con sistema operativo Windows.</a:t>
            </a:r>
          </a:p>
          <a:p>
            <a:r>
              <a:rPr lang="it-IT" dirty="0"/>
              <a:t>Durata e Orari</a:t>
            </a:r>
          </a:p>
          <a:p>
            <a:pPr lvl="1"/>
            <a:r>
              <a:rPr lang="it-IT" sz="2400" dirty="0"/>
              <a:t>10 giornate da 7 ore circa, inizio ore 8:30, fine ore 16:30. Due brevi pause da 10 minuti una al mattino e una al pomeriggio, più pausa pranzo di 60 minuti</a:t>
            </a:r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Claudio De Sio Cesari: RC-194</a:t>
            </a:r>
            <a:endParaRPr lang="it-IT" dirty="0"/>
          </a:p>
        </p:txBody>
      </p:sp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4448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Programma Settimana 1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412720"/>
            <a:ext cx="9144000" cy="4351338"/>
          </a:xfrm>
        </p:spPr>
        <p:txBody>
          <a:bodyPr>
            <a:noAutofit/>
          </a:bodyPr>
          <a:lstStyle/>
          <a:p>
            <a:r>
              <a:rPr lang="it-IT" sz="1600" dirty="0"/>
              <a:t>Presentazioni, descrizione corso, concetti di informatica di base, introduzione a Java, installazione e descrizione del JDK, primo programma con Java, compilazione ed esecuzione, gestione errori</a:t>
            </a:r>
          </a:p>
          <a:p>
            <a:r>
              <a:rPr lang="it-IT" sz="1600" dirty="0"/>
              <a:t>Componenti fondamentali del linguaggio: classi, oggetti, variabili, metodi, costruttori, package</a:t>
            </a:r>
          </a:p>
          <a:p>
            <a:r>
              <a:rPr lang="it-IT" sz="1600" dirty="0"/>
              <a:t>Stile di codifica, gestione della memoria, tipi di dati primitivi,  esercitazioni</a:t>
            </a:r>
          </a:p>
          <a:p>
            <a:r>
              <a:rPr lang="it-IT" sz="1600" dirty="0"/>
              <a:t>Tipi di dati complessi (reference), libreria standard, array, operatori semplici, esercitazioni</a:t>
            </a:r>
          </a:p>
          <a:p>
            <a:r>
              <a:rPr lang="it-IT" sz="1600" dirty="0"/>
              <a:t>Cicli e condizioni, esercitazioni</a:t>
            </a:r>
          </a:p>
          <a:p>
            <a:r>
              <a:rPr lang="it-IT" sz="1600" dirty="0"/>
              <a:t>Strumenti ausiliari (IDE, JShell), esercitazioni</a:t>
            </a:r>
          </a:p>
          <a:p>
            <a:r>
              <a:rPr lang="it-IT" sz="1600" dirty="0"/>
              <a:t>Programmazione ad oggetti, astrazione, riuso, incapsulamento, esercitazioni</a:t>
            </a:r>
          </a:p>
          <a:p>
            <a:r>
              <a:rPr lang="it-IT" sz="1600" dirty="0"/>
              <a:t>Ereditarietà. polimorfismo, modificatori, classi astratte, interfacce</a:t>
            </a:r>
          </a:p>
          <a:p>
            <a:r>
              <a:rPr lang="it-IT" sz="1600" dirty="0"/>
              <a:t>Esercitazioni e chiarimenti</a:t>
            </a:r>
          </a:p>
          <a:p>
            <a:r>
              <a:rPr lang="it-IT" sz="1600" dirty="0"/>
              <a:t>Gestione delle eccezioni, esercitazioni</a:t>
            </a:r>
          </a:p>
          <a:p>
            <a:r>
              <a:rPr lang="it-IT" sz="1600" dirty="0"/>
              <a:t>Enumerazioni, tipi innestati ed anonimi, annotazioni</a:t>
            </a:r>
          </a:p>
          <a:p>
            <a:r>
              <a:rPr lang="it-IT" sz="1600" dirty="0"/>
              <a:t>Tipi Generici e collezioni, esercitazioni</a:t>
            </a:r>
          </a:p>
          <a:p>
            <a:r>
              <a:rPr lang="it-IT" sz="1600" dirty="0"/>
              <a:t>Librerie java.lang, Reflection API, java.util </a:t>
            </a:r>
          </a:p>
          <a:p>
            <a:r>
              <a:rPr lang="it-IT" sz="1600" dirty="0"/>
              <a:t>Introduzione ad architettura e moduli</a:t>
            </a:r>
          </a:p>
          <a:p>
            <a:r>
              <a:rPr lang="it-IT" sz="1600" dirty="0"/>
              <a:t>Esercitazioni e chiarimenti</a:t>
            </a:r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Claudio De Sio Cesari: RC-194</a:t>
            </a:r>
            <a:endParaRPr lang="it-IT" dirty="0"/>
          </a:p>
        </p:txBody>
      </p:sp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3082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Programma Settimana 2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340710"/>
            <a:ext cx="9144000" cy="4836253"/>
          </a:xfrm>
        </p:spPr>
        <p:txBody>
          <a:bodyPr>
            <a:noAutofit/>
          </a:bodyPr>
          <a:lstStyle/>
          <a:p>
            <a:r>
              <a:rPr lang="it-IT" sz="1800" dirty="0"/>
              <a:t>Riepilogo, Thread &amp; </a:t>
            </a:r>
            <a:r>
              <a:rPr lang="it-IT" sz="1800" dirty="0" err="1"/>
              <a:t>Concurrency</a:t>
            </a:r>
            <a:endParaRPr lang="it-IT" sz="1800" dirty="0"/>
          </a:p>
          <a:p>
            <a:r>
              <a:rPr lang="it-IT" sz="1800" dirty="0"/>
              <a:t>Lambda, esercitazioni</a:t>
            </a:r>
          </a:p>
          <a:p>
            <a:r>
              <a:rPr lang="it-IT" sz="1800" dirty="0"/>
              <a:t>Stream, esercitazioni e chiarimenti</a:t>
            </a:r>
          </a:p>
          <a:p>
            <a:r>
              <a:rPr lang="it-IT" sz="1800" dirty="0"/>
              <a:t>Librerie input-output, esercitazioni</a:t>
            </a:r>
          </a:p>
          <a:p>
            <a:r>
              <a:rPr lang="it-IT" sz="1800" dirty="0"/>
              <a:t>Librerie XML,  esercitazioni</a:t>
            </a:r>
          </a:p>
          <a:p>
            <a:r>
              <a:rPr lang="it-IT" sz="1800" dirty="0"/>
              <a:t>AWT, esercitazioni</a:t>
            </a:r>
          </a:p>
          <a:p>
            <a:r>
              <a:rPr lang="it-IT" sz="1800" dirty="0"/>
              <a:t>Swing, esercitazioni</a:t>
            </a:r>
          </a:p>
          <a:p>
            <a:r>
              <a:rPr lang="it-IT" sz="1800" dirty="0"/>
              <a:t>JavaFX e esercitazioni</a:t>
            </a:r>
          </a:p>
          <a:p>
            <a:r>
              <a:rPr lang="it-IT" sz="1800" dirty="0"/>
              <a:t>Database, installazione ed esercitazioni</a:t>
            </a:r>
          </a:p>
          <a:p>
            <a:r>
              <a:rPr lang="it-IT" sz="1800" dirty="0"/>
              <a:t>JDBC esercitazioni</a:t>
            </a:r>
          </a:p>
          <a:p>
            <a:r>
              <a:rPr lang="it-IT" sz="1800" dirty="0"/>
              <a:t>Esercitazioni</a:t>
            </a:r>
          </a:p>
          <a:p>
            <a:r>
              <a:rPr lang="it-IT" sz="1800" dirty="0"/>
              <a:t>Introduzione a Java EE, Installazione ambiente enterprise, esercitazioni e chiarimenti</a:t>
            </a:r>
          </a:p>
          <a:p>
            <a:r>
              <a:rPr lang="it-IT" sz="1800" dirty="0"/>
              <a:t>Java EE ed esercitazioni</a:t>
            </a:r>
          </a:p>
          <a:p>
            <a:r>
              <a:rPr lang="it-IT" sz="1800" dirty="0"/>
              <a:t>Java EE ed esercitazioni</a:t>
            </a:r>
          </a:p>
          <a:p>
            <a:r>
              <a:rPr lang="it-IT" sz="1800" dirty="0"/>
              <a:t>Esercitazioni e chiarimenti</a:t>
            </a:r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Claudio De Sio Cesari: RC-194</a:t>
            </a:r>
            <a:endParaRPr lang="it-IT" dirty="0"/>
          </a:p>
        </p:txBody>
      </p:sp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5225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76724-0419-453A-AB45-889B3773D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Cos’è GIT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9035A2-CFEB-4003-B637-44AE887E3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80" y="1825625"/>
            <a:ext cx="7675350" cy="4351338"/>
          </a:xfrm>
        </p:spPr>
        <p:txBody>
          <a:bodyPr/>
          <a:lstStyle/>
          <a:p>
            <a:r>
              <a:rPr lang="it-IT" dirty="0"/>
              <a:t>Distributed Version Control System (VCS)</a:t>
            </a:r>
          </a:p>
          <a:p>
            <a:r>
              <a:rPr lang="it-IT" dirty="0"/>
              <a:t>Creato nel 2005 da Linus </a:t>
            </a:r>
            <a:r>
              <a:rPr lang="it-IT" dirty="0" err="1"/>
              <a:t>Torvalds</a:t>
            </a:r>
            <a:r>
              <a:rPr lang="it-IT" dirty="0"/>
              <a:t> per supportare lo sviluppo del kernel Linux in maniera free e performante</a:t>
            </a:r>
          </a:p>
          <a:p>
            <a:r>
              <a:rPr lang="it-IT" dirty="0"/>
              <a:t>Oggi è senza dubbio il più utilizzato tra tutti i  VCS </a:t>
            </a:r>
          </a:p>
          <a:p>
            <a:r>
              <a:rPr lang="it-IT" dirty="0"/>
              <a:t>Altri VCS </a:t>
            </a:r>
          </a:p>
          <a:p>
            <a:pPr lvl="1"/>
            <a:r>
              <a:rPr lang="it-IT" dirty="0"/>
              <a:t>CVS</a:t>
            </a:r>
          </a:p>
          <a:p>
            <a:pPr lvl="1"/>
            <a:r>
              <a:rPr lang="it-IT" dirty="0" err="1"/>
              <a:t>SubVersion</a:t>
            </a:r>
            <a:endParaRPr lang="it-IT" dirty="0"/>
          </a:p>
          <a:p>
            <a:pPr lvl="1"/>
            <a:r>
              <a:rPr lang="it-IT" dirty="0" err="1"/>
              <a:t>Mercurial</a:t>
            </a:r>
            <a:endParaRPr lang="it-IT" dirty="0"/>
          </a:p>
          <a:p>
            <a:pPr lvl="1"/>
            <a:r>
              <a:rPr lang="it-IT" dirty="0" err="1"/>
              <a:t>BitKeeper</a:t>
            </a:r>
            <a:endParaRPr lang="it-IT" dirty="0"/>
          </a:p>
          <a:p>
            <a:pPr lvl="1"/>
            <a:r>
              <a:rPr lang="it-IT" dirty="0"/>
              <a:t>Bazaar</a:t>
            </a:r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702664-5F57-48C9-81BD-CDEE2BC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7260F1-A163-4293-A30C-8710BD85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4847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76724-0419-453A-AB45-889B3773D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cosa serve?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9035A2-CFEB-4003-B637-44AE887E3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t-IT" dirty="0"/>
              <a:t>Permette di creare versioni di ogni file di un progetto software (ma è applicabile anche ad altri contesti)</a:t>
            </a:r>
            <a:endParaRPr lang="it-IT" b="1" dirty="0"/>
          </a:p>
          <a:p>
            <a:r>
              <a:rPr lang="it-IT" dirty="0"/>
              <a:t>Permette di esaminare, usare e ripristinare ogni versione di ogni file</a:t>
            </a:r>
          </a:p>
          <a:p>
            <a:r>
              <a:rPr lang="it-IT" dirty="0"/>
              <a:t>Permette di confrontare le differenze tra versioni diverse dello stesso file.</a:t>
            </a:r>
          </a:p>
          <a:p>
            <a:r>
              <a:rPr lang="it-IT" dirty="0"/>
              <a:t>Permette di dividere il progetto in rami indipendenti (</a:t>
            </a:r>
            <a:r>
              <a:rPr lang="it-IT" b="1" dirty="0"/>
              <a:t>branch</a:t>
            </a:r>
            <a:r>
              <a:rPr lang="it-IT" dirty="0"/>
              <a:t>), che si possono evolvere separatamente</a:t>
            </a:r>
          </a:p>
          <a:p>
            <a:r>
              <a:rPr lang="it-IT" dirty="0"/>
              <a:t>Permette di ricongiungere i branch tramite un processo di riconciliazione (automatico o manuale) chiamato </a:t>
            </a:r>
            <a:r>
              <a:rPr lang="it-IT" b="1" dirty="0"/>
              <a:t>merge</a:t>
            </a:r>
          </a:p>
          <a:p>
            <a:r>
              <a:rPr lang="it-IT" dirty="0"/>
              <a:t>Permette a più persone di lavorare in contemporanea su un progetto, combinando i loro lavori quando ce n’è bisogno</a:t>
            </a:r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702664-5F57-48C9-81BD-CDEE2BC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7260F1-A163-4293-A30C-8710BD85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334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76724-0419-453A-AB45-889B3773D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Come funziona GIT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9035A2-CFEB-4003-B637-44AE887E3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70" y="1484730"/>
            <a:ext cx="7759880" cy="4871621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Ogni versione si ottiene con un </a:t>
            </a:r>
            <a:r>
              <a:rPr lang="it-IT" b="1" dirty="0"/>
              <a:t>commit</a:t>
            </a:r>
            <a:r>
              <a:rPr lang="it-IT" dirty="0"/>
              <a:t> in una </a:t>
            </a:r>
            <a:r>
              <a:rPr lang="it-IT" b="1" dirty="0"/>
              <a:t>repository</a:t>
            </a:r>
          </a:p>
          <a:p>
            <a:r>
              <a:rPr lang="it-IT" dirty="0"/>
              <a:t>Ogni commit contiene </a:t>
            </a:r>
            <a:r>
              <a:rPr lang="it-IT" b="1" dirty="0"/>
              <a:t>metadati</a:t>
            </a:r>
            <a:r>
              <a:rPr lang="it-IT" dirty="0"/>
              <a:t> come il nome e l’email dell’autore, la data e l’orario di esecuzione</a:t>
            </a:r>
          </a:p>
          <a:p>
            <a:r>
              <a:rPr lang="it-IT" dirty="0"/>
              <a:t>I commit vengono fatti su vari </a:t>
            </a:r>
            <a:r>
              <a:rPr lang="it-IT" b="1" dirty="0"/>
              <a:t>branch</a:t>
            </a:r>
            <a:r>
              <a:rPr lang="it-IT" dirty="0"/>
              <a:t> (rami) che rappresentano versioni dell’intero progetto software</a:t>
            </a:r>
          </a:p>
          <a:p>
            <a:r>
              <a:rPr lang="it-IT" dirty="0"/>
              <a:t>Il </a:t>
            </a:r>
            <a:r>
              <a:rPr lang="it-IT" b="1" dirty="0"/>
              <a:t>master branch</a:t>
            </a:r>
            <a:r>
              <a:rPr lang="it-IT" dirty="0"/>
              <a:t> (ramo principale) viene anche detto  </a:t>
            </a:r>
            <a:r>
              <a:rPr lang="it-IT" b="1" dirty="0" err="1"/>
              <a:t>trunk</a:t>
            </a:r>
            <a:r>
              <a:rPr lang="it-IT" dirty="0"/>
              <a:t> (tronco). Da esso possono essere creati altri branch</a:t>
            </a:r>
          </a:p>
          <a:p>
            <a:r>
              <a:rPr lang="it-IT" dirty="0"/>
              <a:t>Per lavorare in totale sicurezza, GIT ci fa scaricare  una </a:t>
            </a:r>
            <a:r>
              <a:rPr lang="it-IT" b="1" dirty="0"/>
              <a:t>working copy</a:t>
            </a:r>
            <a:r>
              <a:rPr lang="it-IT" dirty="0"/>
              <a:t> (copia funzionante) sulla nostra macchina. Qui possiamo apportare  le nostre modifiche al software, per poi eventualmente creare una nuova versione del software nella repository con un commit.</a:t>
            </a:r>
          </a:p>
          <a:p>
            <a:r>
              <a:rPr lang="it-IT" dirty="0"/>
              <a:t>La maggior parte delle volte esiste anche una repository remoto (spesso si portali come GitHub o </a:t>
            </a:r>
            <a:r>
              <a:rPr lang="it-IT" dirty="0" err="1"/>
              <a:t>BitBucket</a:t>
            </a:r>
            <a:r>
              <a:rPr lang="it-IT" dirty="0"/>
              <a:t>), dove tutti gli sviluppatori possono condividere li progetto</a:t>
            </a:r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702664-5F57-48C9-81BD-CDEE2BC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7260F1-A163-4293-A30C-8710BD85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5546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76724-0419-453A-AB45-889B3773D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tool </a:t>
            </a:r>
            <a:r>
              <a:rPr lang="it-IT" dirty="0" err="1"/>
              <a:t>SourceTree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9035A2-CFEB-4003-B637-44AE887E3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4400" dirty="0"/>
              <a:t>Introduzione</a:t>
            </a:r>
          </a:p>
          <a:p>
            <a:r>
              <a:rPr lang="it-IT" sz="4400" dirty="0"/>
              <a:t>Download</a:t>
            </a:r>
          </a:p>
          <a:p>
            <a:r>
              <a:rPr lang="it-IT" sz="4400" dirty="0"/>
              <a:t>Installazione</a:t>
            </a:r>
            <a:endParaRPr lang="it-IT" sz="4400" b="1" dirty="0"/>
          </a:p>
          <a:p>
            <a:r>
              <a:rPr lang="it-IT" sz="4400" dirty="0"/>
              <a:t>Registrazione</a:t>
            </a:r>
          </a:p>
          <a:p>
            <a:r>
              <a:rPr lang="it-IT" sz="4400" dirty="0"/>
              <a:t>Settare la lingua inglese (Strumenti/Opzioni)</a:t>
            </a:r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702664-5F57-48C9-81BD-CDEE2BC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7260F1-A163-4293-A30C-8710BD85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4286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76724-0419-453A-AB45-889B3773D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1 «Basi»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9035A2-CFEB-4003-B637-44AE887E3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t-IT" sz="4000" dirty="0"/>
              <a:t>Creazione repository locale e remota</a:t>
            </a:r>
          </a:p>
          <a:p>
            <a:r>
              <a:rPr lang="it-IT" sz="4000" dirty="0"/>
              <a:t>Creare/clonare repository corso</a:t>
            </a:r>
          </a:p>
          <a:p>
            <a:r>
              <a:rPr lang="it-IT" sz="4000" dirty="0"/>
              <a:t>Primo commit e </a:t>
            </a:r>
            <a:r>
              <a:rPr lang="it-IT" sz="4000" dirty="0" err="1"/>
              <a:t>staging</a:t>
            </a:r>
            <a:r>
              <a:rPr lang="it-IT" sz="4000" dirty="0"/>
              <a:t> area</a:t>
            </a:r>
          </a:p>
          <a:p>
            <a:r>
              <a:rPr lang="it-IT" sz="4000" dirty="0"/>
              <a:t>Altri commit (aggiunte e modifiche)</a:t>
            </a:r>
          </a:p>
          <a:p>
            <a:r>
              <a:rPr lang="it-IT" sz="4000" dirty="0"/>
              <a:t>Push (remote commit) sulla repository remota (push count)</a:t>
            </a:r>
          </a:p>
          <a:p>
            <a:r>
              <a:rPr lang="it-IT" sz="4000" dirty="0"/>
              <a:t>Considerazioni</a:t>
            </a:r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702664-5F57-48C9-81BD-CDEE2BC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7260F1-A163-4293-A30C-8710BD85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4646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76724-0419-453A-AB45-889B3773D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2 «Tornare indietro»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9035A2-CFEB-4003-B637-44AE887E3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sz="4000" dirty="0" err="1"/>
              <a:t>Discard</a:t>
            </a:r>
            <a:r>
              <a:rPr lang="it-IT" sz="4000" dirty="0"/>
              <a:t> di una modifica locale</a:t>
            </a:r>
          </a:p>
          <a:p>
            <a:r>
              <a:rPr lang="it-IT" sz="4000" dirty="0"/>
              <a:t>Reset (to a commit)</a:t>
            </a:r>
          </a:p>
          <a:p>
            <a:pPr lvl="1"/>
            <a:r>
              <a:rPr lang="it-IT" sz="3600" dirty="0"/>
              <a:t>muove l’HEAD del branch al commit selezionato</a:t>
            </a:r>
          </a:p>
          <a:p>
            <a:r>
              <a:rPr lang="it-IT" sz="4000" dirty="0"/>
              <a:t>Tre tipi</a:t>
            </a:r>
          </a:p>
          <a:p>
            <a:pPr lvl="1"/>
            <a:r>
              <a:rPr lang="it-IT" sz="3600" dirty="0"/>
              <a:t>Soft: non modifica indici -&gt; "</a:t>
            </a:r>
            <a:r>
              <a:rPr lang="it-IT" sz="3600" dirty="0" err="1"/>
              <a:t>uncommitted</a:t>
            </a:r>
            <a:r>
              <a:rPr lang="it-IT" sz="3600" dirty="0"/>
              <a:t> </a:t>
            </a:r>
            <a:r>
              <a:rPr lang="it-IT" sz="3600" dirty="0" err="1"/>
              <a:t>changes</a:t>
            </a:r>
            <a:r>
              <a:rPr lang="it-IT" sz="3600" dirty="0"/>
              <a:t> "  + files in </a:t>
            </a:r>
            <a:r>
              <a:rPr lang="it-IT" sz="3600" dirty="0" err="1"/>
              <a:t>staging</a:t>
            </a:r>
            <a:r>
              <a:rPr lang="it-IT" sz="3600" dirty="0"/>
              <a:t> area </a:t>
            </a:r>
          </a:p>
          <a:p>
            <a:pPr lvl="1"/>
            <a:r>
              <a:rPr lang="it-IT" sz="3600" dirty="0"/>
              <a:t>Mixed: resetta gli indici -&gt;"</a:t>
            </a:r>
            <a:r>
              <a:rPr lang="it-IT" sz="3600" dirty="0" err="1"/>
              <a:t>uncommitted</a:t>
            </a:r>
            <a:r>
              <a:rPr lang="it-IT" sz="3600" dirty="0"/>
              <a:t> </a:t>
            </a:r>
            <a:r>
              <a:rPr lang="it-IT" sz="3600" dirty="0" err="1"/>
              <a:t>changes</a:t>
            </a:r>
            <a:r>
              <a:rPr lang="it-IT" sz="3600" dirty="0"/>
              <a:t>" (DEFAULT)</a:t>
            </a:r>
          </a:p>
          <a:p>
            <a:pPr lvl="1"/>
            <a:r>
              <a:rPr lang="it-IT" sz="3600" dirty="0"/>
              <a:t>Hard: cancella da GIT le modifiche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702664-5F57-48C9-81BD-CDEE2BC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7260F1-A163-4293-A30C-8710BD85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4731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76724-0419-453A-AB45-889B3773D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3 «Tornare indietro»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9035A2-CFEB-4003-B637-44AE887E3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00" y="1825625"/>
            <a:ext cx="7675350" cy="2095905"/>
          </a:xfrm>
        </p:spPr>
        <p:txBody>
          <a:bodyPr>
            <a:normAutofit fontScale="85000" lnSpcReduction="20000"/>
          </a:bodyPr>
          <a:lstStyle/>
          <a:p>
            <a:r>
              <a:rPr lang="it-IT" sz="4000" dirty="0"/>
              <a:t>Reverse: produce un nuovo commit</a:t>
            </a:r>
          </a:p>
          <a:p>
            <a:r>
              <a:rPr lang="it-IT" sz="4000" dirty="0"/>
              <a:t>Altra differenza con reset è che produce un conflitto se voglio tornare ad A facendo reverse su B (il reset si farebbe su A e avrebbe lasciato inalterato A)</a:t>
            </a:r>
          </a:p>
          <a:p>
            <a:pPr lvl="2"/>
            <a:endParaRPr lang="it-IT" sz="3200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702664-5F57-48C9-81BD-CDEE2BC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7260F1-A163-4293-A30C-8710BD85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13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E303F7C-8A1F-4E2B-85BE-EF2CFE9EE0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9237" b="14928"/>
          <a:stretch/>
        </p:blipFill>
        <p:spPr>
          <a:xfrm>
            <a:off x="1904849" y="4005080"/>
            <a:ext cx="5331521" cy="206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887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76724-0419-453A-AB45-889B3773D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«Risolvere il conflitto»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9035A2-CFEB-4003-B637-44AE887E3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00" y="1825625"/>
            <a:ext cx="7675350" cy="3907695"/>
          </a:xfrm>
        </p:spPr>
        <p:txBody>
          <a:bodyPr>
            <a:normAutofit/>
          </a:bodyPr>
          <a:lstStyle/>
          <a:p>
            <a:r>
              <a:rPr lang="it-IT" sz="4000" dirty="0" err="1"/>
              <a:t>Resolve</a:t>
            </a:r>
            <a:r>
              <a:rPr lang="it-IT" sz="4000" dirty="0"/>
              <a:t> with:</a:t>
            </a:r>
          </a:p>
          <a:p>
            <a:pPr lvl="1"/>
            <a:r>
              <a:rPr lang="it-IT" sz="3600" dirty="0"/>
              <a:t>Mine: i file selezionati tornano alla situazione dell’ultimo commit fatto (ABC)</a:t>
            </a:r>
          </a:p>
          <a:p>
            <a:pPr lvl="1"/>
            <a:r>
              <a:rPr lang="it-IT" sz="3600" dirty="0" err="1"/>
              <a:t>Theirs</a:t>
            </a:r>
            <a:r>
              <a:rPr lang="it-IT" sz="3600" dirty="0"/>
              <a:t>: i file selezionati vengono cambiati nella nuova versione (A)</a:t>
            </a:r>
          </a:p>
          <a:p>
            <a:pPr lvl="2"/>
            <a:endParaRPr lang="it-IT" sz="3200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702664-5F57-48C9-81BD-CDEE2BC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7260F1-A163-4293-A30C-8710BD85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4785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76724-0419-453A-AB45-889B3773D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6540"/>
            <a:ext cx="8119930" cy="1325563"/>
          </a:xfrm>
        </p:spPr>
        <p:txBody>
          <a:bodyPr/>
          <a:lstStyle/>
          <a:p>
            <a:r>
              <a:rPr lang="it-IT"/>
              <a:t>Quando </a:t>
            </a:r>
            <a:r>
              <a:rPr lang="it-IT" dirty="0"/>
              <a:t>usare </a:t>
            </a:r>
            <a:r>
              <a:rPr lang="it-IT"/>
              <a:t>cosa?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9035A2-CFEB-4003-B637-44AE887E3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00" y="1484730"/>
            <a:ext cx="7675350" cy="4608640"/>
          </a:xfrm>
        </p:spPr>
        <p:txBody>
          <a:bodyPr>
            <a:normAutofit fontScale="92500" lnSpcReduction="10000"/>
          </a:bodyPr>
          <a:lstStyle/>
          <a:p>
            <a:r>
              <a:rPr lang="it-IT" sz="4000" dirty="0" err="1"/>
              <a:t>Discard</a:t>
            </a:r>
            <a:r>
              <a:rPr lang="it-IT" sz="4000" dirty="0"/>
              <a:t> è il comando più  utilizzato</a:t>
            </a:r>
          </a:p>
          <a:p>
            <a:r>
              <a:rPr lang="it-IT" sz="4000" dirty="0"/>
              <a:t>Reset è consigliato per i branch dove non c’è collaborazione</a:t>
            </a:r>
          </a:p>
          <a:p>
            <a:r>
              <a:rPr lang="it-IT" sz="4000" dirty="0"/>
              <a:t>Reverse potrebbe creare conflitti spesso sono facilmente risolvibili</a:t>
            </a:r>
          </a:p>
          <a:p>
            <a:r>
              <a:rPr lang="it-IT" sz="4000" dirty="0"/>
              <a:t>Per fare </a:t>
            </a:r>
            <a:r>
              <a:rPr lang="it-IT" sz="4000" dirty="0" err="1"/>
              <a:t>undo</a:t>
            </a:r>
            <a:r>
              <a:rPr lang="it-IT" sz="4000" dirty="0"/>
              <a:t> dell’ultimo commit, Reset o Reverse producono lo stesso risultato, dipende da cosa vogliamo lasciare sul grafico della history</a:t>
            </a:r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702664-5F57-48C9-81BD-CDEE2BC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7260F1-A163-4293-A30C-8710BD85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4019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76724-0419-453A-AB45-889B3773D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6540"/>
            <a:ext cx="8119930" cy="1325563"/>
          </a:xfrm>
        </p:spPr>
        <p:txBody>
          <a:bodyPr/>
          <a:lstStyle/>
          <a:p>
            <a:r>
              <a:rPr lang="it-IT" dirty="0"/>
              <a:t>Riepilogo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9035A2-CFEB-4003-B637-44AE887E3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00" y="1484730"/>
            <a:ext cx="7675350" cy="4608640"/>
          </a:xfrm>
        </p:spPr>
        <p:txBody>
          <a:bodyPr>
            <a:normAutofit fontScale="85000" lnSpcReduction="20000"/>
          </a:bodyPr>
          <a:lstStyle/>
          <a:p>
            <a:r>
              <a:rPr lang="it-IT" sz="4000" dirty="0"/>
              <a:t>Comando </a:t>
            </a:r>
            <a:r>
              <a:rPr lang="it-IT" sz="4000" b="1" dirty="0" err="1"/>
              <a:t>discard</a:t>
            </a:r>
            <a:r>
              <a:rPr lang="it-IT" sz="4000" b="1" dirty="0"/>
              <a:t>: </a:t>
            </a:r>
            <a:r>
              <a:rPr lang="it-IT" sz="4000" dirty="0"/>
              <a:t>elimina le modifiche apportate a un file che viene ripristina all'ultimo stato di cui è stato eseguito il commit. </a:t>
            </a:r>
          </a:p>
          <a:p>
            <a:r>
              <a:rPr lang="it-IT" sz="4000" dirty="0"/>
              <a:t>Comando </a:t>
            </a:r>
            <a:r>
              <a:rPr lang="it-IT" sz="4000" b="1" dirty="0"/>
              <a:t>reset</a:t>
            </a:r>
            <a:r>
              <a:rPr lang="it-IT" sz="4000" dirty="0"/>
              <a:t>: elimina essenzialmente un commit e tutte le modifiche che comprende. </a:t>
            </a:r>
          </a:p>
          <a:p>
            <a:r>
              <a:rPr lang="it-IT" sz="4000" dirty="0"/>
              <a:t>Con un </a:t>
            </a:r>
            <a:r>
              <a:rPr lang="it-IT" sz="4000" b="1" dirty="0"/>
              <a:t>reverse</a:t>
            </a:r>
            <a:r>
              <a:rPr lang="it-IT" sz="4000" dirty="0"/>
              <a:t>: crea un nuovo commit in cui le modifiche in un commit precedente vengono riprodotte sull’ultimo commit (potrebbe causare un conflitto).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702664-5F57-48C9-81BD-CDEE2BC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7260F1-A163-4293-A30C-8710BD85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4814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76724-0419-453A-AB45-889B3773D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5 «Remove»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9035A2-CFEB-4003-B637-44AE887E3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sz="4000" dirty="0"/>
              <a:t>Due scenari:</a:t>
            </a:r>
          </a:p>
          <a:p>
            <a:pPr lvl="1"/>
            <a:r>
              <a:rPr lang="it-IT" sz="3600" dirty="0"/>
              <a:t>File non </a:t>
            </a:r>
            <a:r>
              <a:rPr lang="it-IT" sz="3600" dirty="0" err="1"/>
              <a:t>committato</a:t>
            </a:r>
            <a:r>
              <a:rPr lang="it-IT" sz="3600" dirty="0"/>
              <a:t>, sposta nel cestino il file che non è ancora gestito</a:t>
            </a:r>
          </a:p>
          <a:p>
            <a:pPr lvl="1"/>
            <a:r>
              <a:rPr lang="it-IT" sz="3600" dirty="0"/>
              <a:t>File </a:t>
            </a:r>
            <a:r>
              <a:rPr lang="it-IT" sz="3600" dirty="0" err="1"/>
              <a:t>commitato</a:t>
            </a:r>
            <a:r>
              <a:rPr lang="it-IT" sz="3600" dirty="0"/>
              <a:t>, dopo la modifica possiamo prima modificarlo per poi rimuoverlo. Rimarrà comunque visibile in </a:t>
            </a:r>
            <a:r>
              <a:rPr lang="it-IT" sz="3600" dirty="0" err="1"/>
              <a:t>SourceTree</a:t>
            </a:r>
            <a:r>
              <a:rPr lang="it-IT" sz="3600" dirty="0"/>
              <a:t> sino a quando non viene </a:t>
            </a:r>
            <a:r>
              <a:rPr lang="it-IT" sz="3600" dirty="0" err="1"/>
              <a:t>committato</a:t>
            </a:r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702664-5F57-48C9-81BD-CDEE2BC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7260F1-A163-4293-A30C-8710BD85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6857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76724-0419-453A-AB45-889B3773D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6 «</a:t>
            </a:r>
            <a:r>
              <a:rPr lang="it-IT" dirty="0" err="1"/>
              <a:t>Ignore</a:t>
            </a:r>
            <a:r>
              <a:rPr lang="it-IT" dirty="0"/>
              <a:t>»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9035A2-CFEB-4003-B637-44AE887E3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00" y="1556740"/>
            <a:ext cx="7675350" cy="2323475"/>
          </a:xfrm>
        </p:spPr>
        <p:txBody>
          <a:bodyPr>
            <a:normAutofit/>
          </a:bodyPr>
          <a:lstStyle/>
          <a:p>
            <a:r>
              <a:rPr lang="it-IT" dirty="0"/>
              <a:t>Con il comando </a:t>
            </a:r>
            <a:r>
              <a:rPr lang="it-IT" dirty="0" err="1"/>
              <a:t>ignore</a:t>
            </a:r>
            <a:r>
              <a:rPr lang="it-IT" dirty="0"/>
              <a:t> possiamo far sì che GIT ignori alcuni file della repository (crea un file .</a:t>
            </a:r>
            <a:r>
              <a:rPr lang="it-IT" dirty="0" err="1"/>
              <a:t>gitignore</a:t>
            </a:r>
            <a:r>
              <a:rPr lang="it-IT" dirty="0"/>
              <a:t>)</a:t>
            </a:r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702664-5F57-48C9-81BD-CDEE2BC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RC-194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7260F1-A163-4293-A30C-8710BD85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18</a:t>
            </a:fld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3815038-66C6-47C4-9EC5-8366E19E7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630" y="2412239"/>
            <a:ext cx="5070395" cy="350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804106"/>
      </p:ext>
    </p:extLst>
  </p:cSld>
  <p:clrMapOvr>
    <a:masterClrMapping/>
  </p:clrMapOvr>
</p:sld>
</file>

<file path=ppt/theme/theme1.xml><?xml version="1.0" encoding="utf-8"?>
<a:theme xmlns:a="http://schemas.openxmlformats.org/drawingml/2006/main" name="Academy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Academy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Profondità">
  <a:themeElements>
    <a:clrScheme name="Profondità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ondità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ondità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AcademyTheme</Template>
  <TotalTime>12177</TotalTime>
  <Words>1973</Words>
  <Application>Microsoft Office PowerPoint</Application>
  <PresentationFormat>Presentazione su schermo (4:3)</PresentationFormat>
  <Paragraphs>246</Paragraphs>
  <Slides>18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18</vt:i4>
      </vt:variant>
    </vt:vector>
  </HeadingPairs>
  <TitlesOfParts>
    <vt:vector size="28" baseType="lpstr">
      <vt:lpstr>Arial</vt:lpstr>
      <vt:lpstr>Calibri</vt:lpstr>
      <vt:lpstr>Corbel</vt:lpstr>
      <vt:lpstr>CourierNewPSMT</vt:lpstr>
      <vt:lpstr>LiberationSerif</vt:lpstr>
      <vt:lpstr>LiberationSerif-Italic</vt:lpstr>
      <vt:lpstr>AcademyTheme</vt:lpstr>
      <vt:lpstr>Personalizza struttura</vt:lpstr>
      <vt:lpstr>1_AcademyTheme</vt:lpstr>
      <vt:lpstr>Profondità</vt:lpstr>
      <vt:lpstr>Claudio De Sio Cesari   Introduzione a GIT (TC– 212) </vt:lpstr>
      <vt:lpstr>Presentazioni: Claudio De Sio</vt:lpstr>
      <vt:lpstr>Presentazioni: Voi</vt:lpstr>
      <vt:lpstr>Programma</vt:lpstr>
      <vt:lpstr>Programma Settimana 1</vt:lpstr>
      <vt:lpstr>Programma Settimana 2</vt:lpstr>
      <vt:lpstr>Cos’è GIT</vt:lpstr>
      <vt:lpstr>A cosa serve?</vt:lpstr>
      <vt:lpstr>Come funziona GIT</vt:lpstr>
      <vt:lpstr>Il tool SourceTree</vt:lpstr>
      <vt:lpstr>Esercizio 1 «Basi»</vt:lpstr>
      <vt:lpstr>Esercizio 2 «Tornare indietro»</vt:lpstr>
      <vt:lpstr>Esercizio 3 «Tornare indietro»</vt:lpstr>
      <vt:lpstr>Esercizio 4 «Risolvere il conflitto»</vt:lpstr>
      <vt:lpstr>Quando usare cosa?</vt:lpstr>
      <vt:lpstr>Riepilogo</vt:lpstr>
      <vt:lpstr>Esercizio 5 «Remove»</vt:lpstr>
      <vt:lpstr>Esercizio 6 «Ignore»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cdsc</dc:creator>
  <cp:lastModifiedBy>Claudio De Sio Cesari</cp:lastModifiedBy>
  <cp:revision>198</cp:revision>
  <dcterms:created xsi:type="dcterms:W3CDTF">2012-03-20T22:57:36Z</dcterms:created>
  <dcterms:modified xsi:type="dcterms:W3CDTF">2021-02-12T14:38:45Z</dcterms:modified>
</cp:coreProperties>
</file>