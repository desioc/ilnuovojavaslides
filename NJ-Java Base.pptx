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0" r:id="rId1"/>
    <p:sldMasterId id="2147483664" r:id="rId2"/>
    <p:sldMasterId id="2147483670" r:id="rId3"/>
    <p:sldMasterId id="2147483677" r:id="rId4"/>
  </p:sldMasterIdLst>
  <p:notesMasterIdLst>
    <p:notesMasterId r:id="rId17"/>
  </p:notesMasterIdLst>
  <p:sldIdLst>
    <p:sldId id="257" r:id="rId5"/>
    <p:sldId id="258" r:id="rId6"/>
    <p:sldId id="259" r:id="rId7"/>
    <p:sldId id="719" r:id="rId8"/>
    <p:sldId id="718" r:id="rId9"/>
    <p:sldId id="748" r:id="rId10"/>
    <p:sldId id="262" r:id="rId11"/>
    <p:sldId id="747" r:id="rId12"/>
    <p:sldId id="749" r:id="rId13"/>
    <p:sldId id="750" r:id="rId14"/>
    <p:sldId id="745" r:id="rId15"/>
    <p:sldId id="746" r:id="rId16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senza titolo" id="{7EAEB438-8BB2-4472-9D6B-5E6DC54C0E6B}">
          <p14:sldIdLst>
            <p14:sldId id="257"/>
            <p14:sldId id="258"/>
            <p14:sldId id="259"/>
            <p14:sldId id="719"/>
            <p14:sldId id="718"/>
            <p14:sldId id="748"/>
            <p14:sldId id="262"/>
            <p14:sldId id="747"/>
            <p14:sldId id="749"/>
            <p14:sldId id="750"/>
            <p14:sldId id="745"/>
            <p14:sldId id="7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laudio De Sio Cesari" initials="CDSC" lastIdx="1" clrIdx="0">
    <p:extLst>
      <p:ext uri="{19B8F6BF-5375-455C-9EA6-DF929625EA0E}">
        <p15:presenceInfo xmlns:p15="http://schemas.microsoft.com/office/powerpoint/2012/main" userId="a29b13f1a3f3547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9" autoAdjust="0"/>
    <p:restoredTop sz="78622" autoAdjust="0"/>
  </p:normalViewPr>
  <p:slideViewPr>
    <p:cSldViewPr>
      <p:cViewPr varScale="1">
        <p:scale>
          <a:sx n="90" d="100"/>
          <a:sy n="90" d="100"/>
        </p:scale>
        <p:origin x="1968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33C31-D34E-4EBE-ABC4-2DAA5A26C937}" type="datetimeFigureOut">
              <a:rPr lang="it-IT" smtClean="0"/>
              <a:t>06/03/2021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5D8BF2-49EE-4CE2-A2D7-61B744D1E4D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9352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5D8BF2-49EE-4CE2-A2D7-61B744D1E4D9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564639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5D8BF2-49EE-4CE2-A2D7-61B744D1E4D9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0490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ote 1">
            <a:extLst>
              <a:ext uri="{FF2B5EF4-FFF2-40B4-BE49-F238E27FC236}">
                <a16:creationId xmlns:a16="http://schemas.microsoft.com/office/drawing/2014/main" id="{C040D6EA-1B8B-48B9-8F8E-77C62CF53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1190"/>
              </a:spcAft>
            </a:pPr>
            <a:endParaRPr lang="it-IT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18258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ote 1">
            <a:extLst>
              <a:ext uri="{FF2B5EF4-FFF2-40B4-BE49-F238E27FC236}">
                <a16:creationId xmlns:a16="http://schemas.microsoft.com/office/drawing/2014/main" id="{C040D6EA-1B8B-48B9-8F8E-77C62CF53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1190"/>
              </a:spcAft>
            </a:pPr>
            <a:endParaRPr lang="it-IT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19528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20/03/2012</a:t>
            </a:r>
          </a:p>
        </p:txBody>
      </p:sp>
      <p:sp>
        <p:nvSpPr>
          <p:cNvPr id="3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Claudio De Sio Cesari: NJB - 031</a:t>
            </a:r>
            <a:endParaRPr lang="it-IT" dirty="0"/>
          </a:p>
        </p:txBody>
      </p:sp>
      <p:sp>
        <p:nvSpPr>
          <p:cNvPr id="4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83E0A8-4958-4553-8C1A-CC59A6ABE1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733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20/03/2012</a:t>
            </a:r>
          </a:p>
        </p:txBody>
      </p:sp>
      <p:sp>
        <p:nvSpPr>
          <p:cNvPr id="3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Claudio De Sio Cesari: NJB - 031</a:t>
            </a:r>
            <a:endParaRPr lang="it-IT" dirty="0"/>
          </a:p>
        </p:txBody>
      </p:sp>
      <p:sp>
        <p:nvSpPr>
          <p:cNvPr id="4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83E0A8-4958-4553-8C1A-CC59A6ABE1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8091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20/03/2012</a:t>
            </a: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Claudio De Sio Cesari: NJB - 031</a:t>
            </a: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36973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67430" y="476590"/>
            <a:ext cx="8229600" cy="1252728"/>
          </a:xfrm>
        </p:spPr>
        <p:txBody>
          <a:bodyPr/>
          <a:lstStyle>
            <a:lvl1pPr algn="l">
              <a:defRPr sz="1800">
                <a:solidFill>
                  <a:srgbClr val="C00000"/>
                </a:solidFill>
              </a:defRPr>
            </a:lvl1pPr>
            <a:extLst/>
          </a:lstStyle>
          <a:p>
            <a:r>
              <a:rPr kumimoji="0" lang="it-IT" dirty="0"/>
              <a:t>Fare clic per modificare lo stile del titolo</a:t>
            </a:r>
            <a:endParaRPr kumimoji="0"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it-IT" dirty="0"/>
              <a:t>Fare clic per modificare stili del testo dello schema</a:t>
            </a:r>
          </a:p>
          <a:p>
            <a:pPr lvl="1" eaLnBrk="1" latinLnBrk="0" hangingPunct="1"/>
            <a:r>
              <a:rPr lang="it-IT" dirty="0"/>
              <a:t>Secondo livello</a:t>
            </a:r>
          </a:p>
          <a:p>
            <a:pPr lvl="2" eaLnBrk="1" latinLnBrk="0" hangingPunct="1"/>
            <a:r>
              <a:rPr lang="it-IT" dirty="0"/>
              <a:t>Terzo livello</a:t>
            </a:r>
          </a:p>
          <a:p>
            <a:pPr lvl="3" eaLnBrk="1" latinLnBrk="0" hangingPunct="1"/>
            <a:r>
              <a:rPr lang="it-IT" dirty="0"/>
              <a:t>Quarto livello</a:t>
            </a:r>
          </a:p>
          <a:p>
            <a:pPr lvl="4" eaLnBrk="1" latinLnBrk="0" hangingPunct="1"/>
            <a:r>
              <a:rPr lang="it-IT" dirty="0"/>
              <a:t>Quinto livello</a:t>
            </a:r>
            <a:endParaRPr kumimoji="0" lang="en-US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20/03/2012</a:t>
            </a: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Claudio De Sio Cesari: NJB - 031</a:t>
            </a: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FDED-9124-48F1-BBFC-49CD505FB6D3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1523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448345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20/03/2012</a:t>
            </a:r>
          </a:p>
        </p:txBody>
      </p:sp>
      <p:sp>
        <p:nvSpPr>
          <p:cNvPr id="3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448345"/>
            <a:ext cx="2895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Claudio De Sio Cesari: NJB - 031</a:t>
            </a:r>
            <a:endParaRPr lang="it-IT" dirty="0"/>
          </a:p>
        </p:txBody>
      </p:sp>
      <p:sp>
        <p:nvSpPr>
          <p:cNvPr id="4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448345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110DCC-F880-45A0-B38F-83BA2DDD42DF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3194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448345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20/03/2012</a:t>
            </a:r>
          </a:p>
        </p:txBody>
      </p:sp>
      <p:sp>
        <p:nvSpPr>
          <p:cNvPr id="4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448345"/>
            <a:ext cx="2895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Claudio De Sio Cesari: NJB - 031</a:t>
            </a:r>
            <a:endParaRPr lang="it-IT" dirty="0"/>
          </a:p>
        </p:txBody>
      </p:sp>
      <p:sp>
        <p:nvSpPr>
          <p:cNvPr id="5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448345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FDC1E0-E1FA-475B-A781-6647668C09E3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4631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20/03/2012</a:t>
            </a: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Claudio De Sio Cesari: NJB - 031</a:t>
            </a:r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931951-706E-4828-A5DF-A5F618EB3661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4746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20/03/2012</a:t>
            </a: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Claudio De Sio Cesari: NJB - 031</a:t>
            </a:r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8AB037-F906-4F18-AB42-E6112392815B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2030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20/03/2012</a:t>
            </a:r>
          </a:p>
        </p:txBody>
      </p:sp>
      <p:sp>
        <p:nvSpPr>
          <p:cNvPr id="6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Claudio De Sio Cesari: NJB - 031</a:t>
            </a:r>
            <a:endParaRPr lang="it-IT" dirty="0"/>
          </a:p>
        </p:txBody>
      </p:sp>
      <p:sp>
        <p:nvSpPr>
          <p:cNvPr id="7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333BF1-6409-4282-97C2-A463B03E8B60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77066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20/03/2012</a:t>
            </a:r>
          </a:p>
        </p:txBody>
      </p:sp>
      <p:sp>
        <p:nvSpPr>
          <p:cNvPr id="3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Claudio De Sio Cesari: NJB - 031</a:t>
            </a: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83E0A8-4958-4553-8C1A-CC59A6ABE123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6589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20/03/2012</a:t>
            </a:r>
          </a:p>
        </p:txBody>
      </p:sp>
      <p:sp>
        <p:nvSpPr>
          <p:cNvPr id="3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Claudio De Sio Cesari: NJB - 031</a:t>
            </a: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83E0A8-4958-4553-8C1A-CC59A6ABE123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98248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20/03/2012</a:t>
            </a: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Claudio De Sio Cesari: NJB - 031</a:t>
            </a: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369738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376022"/>
            <a:ext cx="8229600" cy="1252728"/>
          </a:xfrm>
        </p:spPr>
        <p:txBody>
          <a:bodyPr/>
          <a:lstStyle>
            <a:lvl1pPr algn="l">
              <a:defRPr sz="1800"/>
            </a:lvl1pPr>
            <a:extLst/>
          </a:lstStyle>
          <a:p>
            <a:r>
              <a:rPr kumimoji="0" lang="it-IT" dirty="0"/>
              <a:t>Fare clic per modificare lo stile del titolo</a:t>
            </a:r>
            <a:endParaRPr kumimoji="0"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it-IT" dirty="0"/>
              <a:t>Fare clic per modificare stili del testo dello schema</a:t>
            </a:r>
          </a:p>
          <a:p>
            <a:pPr lvl="1" eaLnBrk="1" latinLnBrk="0" hangingPunct="1"/>
            <a:r>
              <a:rPr lang="it-IT" dirty="0"/>
              <a:t>Secondo livello</a:t>
            </a:r>
          </a:p>
          <a:p>
            <a:pPr lvl="2" eaLnBrk="1" latinLnBrk="0" hangingPunct="1"/>
            <a:r>
              <a:rPr lang="it-IT" dirty="0"/>
              <a:t>Terzo livello</a:t>
            </a:r>
          </a:p>
          <a:p>
            <a:pPr lvl="3" eaLnBrk="1" latinLnBrk="0" hangingPunct="1"/>
            <a:r>
              <a:rPr lang="it-IT" dirty="0"/>
              <a:t>Quarto livello</a:t>
            </a:r>
          </a:p>
          <a:p>
            <a:pPr lvl="4" eaLnBrk="1" latinLnBrk="0" hangingPunct="1"/>
            <a:r>
              <a:rPr lang="it-IT" dirty="0"/>
              <a:t>Quinto livello</a:t>
            </a:r>
            <a:endParaRPr kumimoji="0" lang="en-US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20/03/2012</a:t>
            </a: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Claudio De Sio Cesari: NJB - 031</a:t>
            </a: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FDED-9124-48F1-BBFC-49CD505FB6D3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1523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7350" y="4464028"/>
            <a:ext cx="6858000" cy="1194650"/>
          </a:xfrm>
        </p:spPr>
        <p:txBody>
          <a:bodyPr wrap="none" anchor="t">
            <a:normAutofit/>
          </a:bodyPr>
          <a:lstStyle>
            <a:lvl1pPr algn="r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100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7349" y="3829878"/>
            <a:ext cx="6858000" cy="618523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20/03/2012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NJB - 031</a:t>
            </a:r>
            <a:endParaRPr lang="it-IT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29801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20/03/2012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NJB - 031</a:t>
            </a:r>
            <a:endParaRPr lang="it-I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32838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640899" y="4464028"/>
            <a:ext cx="6858000" cy="1194650"/>
          </a:xfrm>
        </p:spPr>
        <p:txBody>
          <a:bodyPr wrap="none" anchor="t">
            <a:normAutofit/>
          </a:bodyPr>
          <a:lstStyle>
            <a:lvl1pPr algn="l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640899" y="3829878"/>
            <a:ext cx="6858000" cy="617822"/>
          </a:xfrm>
        </p:spPr>
        <p:txBody>
          <a:bodyPr anchor="b">
            <a:normAutofit/>
          </a:bodyPr>
          <a:lstStyle>
            <a:lvl1pPr marL="0" indent="0" algn="l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20/03/2012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NJB - 031</a:t>
            </a:r>
            <a:endParaRPr lang="it-I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92862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0000" y="1825625"/>
            <a:ext cx="3768912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9880" y="1825625"/>
            <a:ext cx="377547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20/03/2012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NJB - 031</a:t>
            </a:r>
            <a:endParaRPr lang="it-I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87856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681163"/>
            <a:ext cx="3768912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000" y="2505075"/>
            <a:ext cx="3768912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9880" y="1681163"/>
            <a:ext cx="3776661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9880" y="2505075"/>
            <a:ext cx="3776661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20/03/2012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NJB - 031</a:t>
            </a:r>
            <a:endParaRPr lang="it-IT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294451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20/03/2012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NJB - 031</a:t>
            </a:r>
            <a:endParaRPr lang="it-I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53460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20/03/2012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NJB - 031</a:t>
            </a:r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851136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2057400"/>
            <a:ext cx="2739019" cy="38115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20/03/2012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NJB - 031</a:t>
            </a:r>
            <a:endParaRPr lang="it-I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93330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2057400"/>
            <a:ext cx="2739019" cy="38115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20/03/2012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NJB - 031</a:t>
            </a:r>
            <a:endParaRPr lang="it-I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72349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367161"/>
            <a:ext cx="7886700" cy="81935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9841" y="987426"/>
            <a:ext cx="7886700" cy="337973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5186516"/>
            <a:ext cx="7885509" cy="682472"/>
          </a:xfrm>
        </p:spPr>
        <p:txBody>
          <a:bodyPr/>
          <a:lstStyle>
            <a:lvl1pPr marL="0" indent="0">
              <a:buNone/>
              <a:defRPr sz="1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20/03/2012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NJB - 031</a:t>
            </a:r>
            <a:endParaRPr lang="it-I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77078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3534344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489399"/>
            <a:ext cx="7885509" cy="1501826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20/03/2012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NJB - 031</a:t>
            </a:r>
            <a:endParaRPr lang="it-I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20467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365125"/>
            <a:ext cx="6977064" cy="2992904"/>
          </a:xfrm>
        </p:spPr>
        <p:txBody>
          <a:bodyPr anchor="ctr"/>
          <a:lstStyle>
            <a:lvl1pPr>
              <a:defRPr sz="330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8650" y="4501729"/>
            <a:ext cx="7884318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20/03/2012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NJB - 031</a:t>
            </a:r>
            <a:endParaRPr lang="it-I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‹N›</a:t>
            </a:fld>
            <a:endParaRPr lang="it-IT"/>
          </a:p>
        </p:txBody>
      </p:sp>
      <p:sp>
        <p:nvSpPr>
          <p:cNvPr id="9" name="TextBox 8"/>
          <p:cNvSpPr txBox="1"/>
          <p:nvPr/>
        </p:nvSpPr>
        <p:spPr>
          <a:xfrm>
            <a:off x="833283" y="786824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8359" y="2743200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973619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326968"/>
            <a:ext cx="7886700" cy="2511835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850581"/>
            <a:ext cx="7885509" cy="1140644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20/03/2012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NJB - 031</a:t>
            </a:r>
            <a:endParaRPr lang="it-I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90677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002961" y="1885950"/>
            <a:ext cx="221015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17598" y="2571750"/>
            <a:ext cx="21955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40996" y="1885950"/>
            <a:ext cx="220218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33081" y="2571750"/>
            <a:ext cx="2210096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71777" y="1885950"/>
            <a:ext cx="2199085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stili del testo dello schema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71777" y="2571750"/>
            <a:ext cx="2199085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20/03/2012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NJB - 031</a:t>
            </a:r>
            <a:endParaRPr lang="it-I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049755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99064" y="4297503"/>
            <a:ext cx="2205038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99064" y="2256354"/>
            <a:ext cx="220503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99064" y="4873766"/>
            <a:ext cx="2205038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748" y="4297503"/>
            <a:ext cx="2197894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256354"/>
            <a:ext cx="2197894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5733" y="4873765"/>
            <a:ext cx="2200805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53242" y="4297503"/>
            <a:ext cx="219908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53241" y="2256354"/>
            <a:ext cx="219908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53148" y="4873763"/>
            <a:ext cx="2201998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20/03/2012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NJB - 031</a:t>
            </a:r>
            <a:endParaRPr lang="it-I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334978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20/03/2012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NJB - 031</a:t>
            </a:r>
            <a:endParaRPr lang="it-I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92445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20/03/2012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NJB - 031</a:t>
            </a:r>
            <a:endParaRPr lang="it-I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9587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.jpe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Segnaposto titolo 1"/>
          <p:cNvSpPr>
            <a:spLocks noGrp="1"/>
          </p:cNvSpPr>
          <p:nvPr>
            <p:ph type="title"/>
          </p:nvPr>
        </p:nvSpPr>
        <p:spPr bwMode="auto"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stile</a:t>
            </a:r>
          </a:p>
        </p:txBody>
      </p:sp>
      <p:sp>
        <p:nvSpPr>
          <p:cNvPr id="1027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-111" charset="0"/>
                <a:ea typeface="ＭＳ Ｐゴシック" pitchFamily="-111" charset="-128"/>
                <a:cs typeface="+mn-cs"/>
              </a:defRPr>
            </a:lvl1pPr>
          </a:lstStyle>
          <a:p>
            <a:r>
              <a:rPr lang="it-IT"/>
              <a:t>20/03/2012</a:t>
            </a: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it-IT"/>
              <a:t>Claudio De Sio Cesari: NJB - 031</a:t>
            </a:r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-111" charset="0"/>
                <a:ea typeface="ＭＳ Ｐゴシック" pitchFamily="-111" charset="-128"/>
                <a:cs typeface="+mn-cs"/>
              </a:defRPr>
            </a:lvl1pPr>
          </a:lstStyle>
          <a:p>
            <a:fld id="{EA83E0A8-4958-4553-8C1A-CC59A6ABE123}" type="slidenum">
              <a:rPr lang="it-IT" smtClean="0"/>
              <a:t>‹N›</a:t>
            </a:fld>
            <a:endParaRPr lang="it-IT"/>
          </a:p>
        </p:txBody>
      </p:sp>
      <p:pic>
        <p:nvPicPr>
          <p:cNvPr id="1031" name="Immagine 3" descr="PPT_template-06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5" r:id="rId3"/>
    <p:sldLayoutId id="2147483676" r:id="rId4"/>
  </p:sldLayoutIdLst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Segnaposto titolo 1"/>
          <p:cNvSpPr>
            <a:spLocks noGrp="1"/>
          </p:cNvSpPr>
          <p:nvPr>
            <p:ph type="title"/>
          </p:nvPr>
        </p:nvSpPr>
        <p:spPr bwMode="auto"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lo stile del titolo</a:t>
            </a:r>
          </a:p>
        </p:txBody>
      </p:sp>
      <p:sp>
        <p:nvSpPr>
          <p:cNvPr id="2051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  <a:ea typeface="ＭＳ Ｐゴシック" pitchFamily="-111" charset="-128"/>
                <a:cs typeface="+mn-cs"/>
              </a:defRPr>
            </a:lvl1pPr>
          </a:lstStyle>
          <a:p>
            <a:pPr>
              <a:defRPr/>
            </a:pPr>
            <a:r>
              <a:rPr lang="it-IT"/>
              <a:t>20/03/2012</a:t>
            </a: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ＭＳ Ｐゴシック" pitchFamily="-111" charset="-128"/>
                <a:cs typeface="+mn-cs"/>
              </a:defRPr>
            </a:lvl1pPr>
          </a:lstStyle>
          <a:p>
            <a:pPr>
              <a:defRPr/>
            </a:pPr>
            <a:r>
              <a:rPr lang="it-IT"/>
              <a:t>Claudio De Sio Cesari: NJB - 031</a:t>
            </a:r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  <a:ea typeface="ＭＳ Ｐゴシック" pitchFamily="-111" charset="-128"/>
                <a:cs typeface="+mn-cs"/>
              </a:defRPr>
            </a:lvl1pPr>
          </a:lstStyle>
          <a:p>
            <a:pPr>
              <a:defRPr/>
            </a:pPr>
            <a:fld id="{BF9AA21D-CBBF-4F18-852F-35D67877B6D0}" type="slidenum">
              <a:rPr lang="it-IT"/>
              <a:pPr>
                <a:defRPr/>
              </a:pPr>
              <a:t>‹N›</a:t>
            </a:fld>
            <a:endParaRPr lang="it-IT"/>
          </a:p>
        </p:txBody>
      </p:sp>
      <p:pic>
        <p:nvPicPr>
          <p:cNvPr id="2055" name="Immagine 3" descr="PPT_template-04-04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" y="0"/>
            <a:ext cx="91424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Segnaposto titolo 1"/>
          <p:cNvSpPr>
            <a:spLocks noGrp="1"/>
          </p:cNvSpPr>
          <p:nvPr>
            <p:ph type="title"/>
          </p:nvPr>
        </p:nvSpPr>
        <p:spPr bwMode="auto"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stile</a:t>
            </a:r>
          </a:p>
        </p:txBody>
      </p:sp>
      <p:sp>
        <p:nvSpPr>
          <p:cNvPr id="1027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3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-111" charset="0"/>
                <a:ea typeface="ＭＳ Ｐゴシック" pitchFamily="-111" charset="-128"/>
                <a:cs typeface="+mn-cs"/>
              </a:defRPr>
            </a:lvl1pPr>
          </a:lstStyle>
          <a:p>
            <a:r>
              <a:rPr lang="it-IT"/>
              <a:t>20/03/2012</a:t>
            </a: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3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Claudio De Sio Cesari: NJB - 031</a:t>
            </a: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3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-111" charset="0"/>
                <a:ea typeface="ＭＳ Ｐゴシック" pitchFamily="-111" charset="-128"/>
                <a:cs typeface="+mn-cs"/>
              </a:defRPr>
            </a:lvl1pPr>
          </a:lstStyle>
          <a:p>
            <a:fld id="{EA83E0A8-4958-4553-8C1A-CC59A6ABE123}" type="slidenum">
              <a:rPr lang="it-IT" smtClean="0"/>
              <a:pPr/>
              <a:t>‹N›</a:t>
            </a:fld>
            <a:endParaRPr lang="it-IT"/>
          </a:p>
        </p:txBody>
      </p:sp>
      <p:pic>
        <p:nvPicPr>
          <p:cNvPr id="1031" name="Immagine 3" descr="PPT_template-06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4333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</p:sldLayoutIdLst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825625"/>
            <a:ext cx="767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r>
              <a:rPr lang="it-IT"/>
              <a:t>20/03/2012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r>
              <a:rPr lang="it-IT"/>
              <a:t>Claudio De Sio Cesari: NJB - 031</a:t>
            </a:r>
            <a:endParaRPr lang="it-I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EA83E0A8-4958-4553-8C1A-CC59A6ABE1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35336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claudiodesiocesari" TargetMode="External"/><Relationship Id="rId3" Type="http://schemas.openxmlformats.org/officeDocument/2006/relationships/hyperlink" Target="https://www.claudiodesio.com/" TargetMode="External"/><Relationship Id="rId7" Type="http://schemas.openxmlformats.org/officeDocument/2006/relationships/hyperlink" Target="https://twitter.com/cdesio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hyperlink" Target="https://www.facebook.com/claudiodesiocesari" TargetMode="External"/><Relationship Id="rId5" Type="http://schemas.openxmlformats.org/officeDocument/2006/relationships/hyperlink" Target="https://www.linkedin.com/in/claudiodesio" TargetMode="External"/><Relationship Id="rId4" Type="http://schemas.openxmlformats.org/officeDocument/2006/relationships/hyperlink" Target="mailto:claudio@claudiodesio.com" TargetMode="External"/><Relationship Id="rId9" Type="http://schemas.openxmlformats.org/officeDocument/2006/relationships/hyperlink" Target="https://www.instagram.com/cdesio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527360" y="1052670"/>
            <a:ext cx="8077200" cy="3976530"/>
          </a:xfrm>
        </p:spPr>
        <p:txBody>
          <a:bodyPr>
            <a:normAutofit/>
          </a:bodyPr>
          <a:lstStyle/>
          <a:p>
            <a:pPr algn="ctr"/>
            <a:r>
              <a:rPr lang="it-IT" b="1" dirty="0"/>
              <a:t>Claudio De Sio Cesari</a:t>
            </a:r>
            <a:br>
              <a:rPr lang="it-IT" b="1" dirty="0"/>
            </a:br>
            <a:br>
              <a:rPr lang="it-IT" sz="3200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it-IT" sz="32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it-IT" sz="6600" dirty="0">
                <a:solidFill>
                  <a:srgbClr val="000000"/>
                </a:solidFill>
                <a:latin typeface="Calibri" panose="020F0502020204030204" pitchFamily="34" charset="0"/>
              </a:rPr>
              <a:t>Il nuovo Java</a:t>
            </a:r>
            <a:br>
              <a:rPr lang="it-IT" sz="5400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it-IT" sz="5400" dirty="0">
                <a:solidFill>
                  <a:srgbClr val="000000"/>
                </a:solidFill>
                <a:latin typeface="Calibri" panose="020F0502020204030204" pitchFamily="34" charset="0"/>
              </a:rPr>
              <a:t>Corso Base</a:t>
            </a:r>
            <a:br>
              <a:rPr lang="it-IT" sz="5400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it-IT" sz="5400" b="1" dirty="0"/>
              <a:t>(NJB– 031) </a:t>
            </a:r>
          </a:p>
        </p:txBody>
      </p:sp>
      <p:sp>
        <p:nvSpPr>
          <p:cNvPr id="8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525430"/>
            <a:ext cx="2133600" cy="196048"/>
          </a:xfrm>
        </p:spPr>
        <p:txBody>
          <a:bodyPr/>
          <a:lstStyle/>
          <a:p>
            <a:fld id="{A47CFDED-9124-48F1-BBFC-49CD505FB6D3}" type="slidenum">
              <a:rPr lang="it-IT" smtClean="0"/>
              <a:pPr/>
              <a:t>1</a:t>
            </a:fld>
            <a:endParaRPr lang="it-IT"/>
          </a:p>
        </p:txBody>
      </p:sp>
      <p:sp>
        <p:nvSpPr>
          <p:cNvPr id="15" name="Segnaposto piè di pagina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NJB - 031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882864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0" y="365127"/>
            <a:ext cx="9144000" cy="868206"/>
          </a:xfrm>
        </p:spPr>
        <p:txBody>
          <a:bodyPr/>
          <a:lstStyle/>
          <a:p>
            <a:pPr algn="ctr"/>
            <a:r>
              <a:rPr lang="it-IT" dirty="0"/>
              <a:t>Presentazioni: Claudio De Sio Cesari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1412720"/>
            <a:ext cx="9144000" cy="4764243"/>
          </a:xfrm>
        </p:spPr>
        <p:txBody>
          <a:bodyPr>
            <a:normAutofit fontScale="92500" lnSpcReduction="10000"/>
          </a:bodyPr>
          <a:lstStyle/>
          <a:p>
            <a:r>
              <a:rPr lang="it-IT" dirty="0"/>
              <a:t>Claudio De Sio (Cesari)</a:t>
            </a:r>
          </a:p>
          <a:p>
            <a:r>
              <a:rPr lang="it-IT" dirty="0"/>
              <a:t>Dal 1999 consulente free lance in:</a:t>
            </a:r>
          </a:p>
          <a:p>
            <a:pPr lvl="1"/>
            <a:r>
              <a:rPr lang="it-IT" dirty="0"/>
              <a:t>Architettura, Analisi e Progettazione OO, Sviluppatore Open Source, Documentazione, Tutoring, </a:t>
            </a:r>
            <a:r>
              <a:rPr lang="it-IT" dirty="0" err="1"/>
              <a:t>Mentoring</a:t>
            </a:r>
            <a:endParaRPr lang="it-IT" dirty="0"/>
          </a:p>
          <a:p>
            <a:r>
              <a:rPr lang="it-IT" dirty="0"/>
              <a:t>Collaborazioni più importanti:</a:t>
            </a:r>
          </a:p>
          <a:p>
            <a:pPr lvl="1"/>
            <a:r>
              <a:rPr lang="it-IT" dirty="0"/>
              <a:t>Hoepli, Oracle, Sun Microsystems, IBM, EDS, HP, Hoepli, Federico II, Telecom, Min. Tesoro, Trasporti, Economia e Giustizia, Alenia, SOGEI, General Electric, Nortel Networks, Banca D’Italia…</a:t>
            </a:r>
          </a:p>
          <a:p>
            <a:r>
              <a:rPr lang="sv-SE" dirty="0"/>
              <a:t>Riferimenti:</a:t>
            </a:r>
          </a:p>
          <a:p>
            <a:pPr lvl="1"/>
            <a:r>
              <a:rPr lang="sv-SE" dirty="0"/>
              <a:t>Internet:   </a:t>
            </a:r>
            <a:r>
              <a:rPr lang="sv-SE" dirty="0">
                <a:hlinkClick r:id="rId3"/>
              </a:rPr>
              <a:t>https://www.claudiodesio.com</a:t>
            </a:r>
            <a:endParaRPr lang="sv-SE" dirty="0"/>
          </a:p>
          <a:p>
            <a:pPr lvl="1"/>
            <a:r>
              <a:rPr lang="sv-SE" dirty="0"/>
              <a:t>E-mail:     </a:t>
            </a:r>
            <a:r>
              <a:rPr lang="sv-SE" dirty="0">
                <a:hlinkClick r:id="rId4"/>
              </a:rPr>
              <a:t>claudio@claudiodesio.com</a:t>
            </a:r>
            <a:endParaRPr lang="sv-SE" dirty="0"/>
          </a:p>
          <a:p>
            <a:pPr lvl="1"/>
            <a:r>
              <a:rPr lang="sv-SE" dirty="0"/>
              <a:t>LinkedIn: </a:t>
            </a:r>
            <a:r>
              <a:rPr lang="sv-SE" dirty="0">
                <a:hlinkClick r:id="rId5"/>
              </a:rPr>
              <a:t>https://www.linkedin.com/in/claudiodesio</a:t>
            </a:r>
            <a:endParaRPr lang="sv-SE" dirty="0"/>
          </a:p>
          <a:p>
            <a:pPr lvl="1"/>
            <a:r>
              <a:rPr lang="sv-SE" dirty="0"/>
              <a:t>Facebook: </a:t>
            </a:r>
            <a:r>
              <a:rPr lang="sv-SE" dirty="0">
                <a:hlinkClick r:id="rId6"/>
              </a:rPr>
              <a:t>https://www.facebook.com/claudiodesiocesari</a:t>
            </a:r>
            <a:endParaRPr lang="sv-SE" dirty="0"/>
          </a:p>
          <a:p>
            <a:pPr lvl="1"/>
            <a:r>
              <a:rPr lang="sv-SE" dirty="0"/>
              <a:t>Twitter: </a:t>
            </a:r>
            <a:r>
              <a:rPr lang="sv-SE" dirty="0">
                <a:hlinkClick r:id="rId7"/>
              </a:rPr>
              <a:t>https://twitter.com/cdesio</a:t>
            </a:r>
            <a:endParaRPr lang="sv-SE" dirty="0"/>
          </a:p>
          <a:p>
            <a:pPr lvl="1"/>
            <a:r>
              <a:rPr lang="sv-SE" sz="2100" dirty="0"/>
              <a:t>YouTube</a:t>
            </a:r>
            <a:r>
              <a:rPr lang="sv-SE" dirty="0"/>
              <a:t>: </a:t>
            </a:r>
            <a:r>
              <a:rPr lang="sv-SE" dirty="0">
                <a:hlinkClick r:id="rId8"/>
              </a:rPr>
              <a:t>https://www.youtube.com/claudiodesiocesari</a:t>
            </a:r>
            <a:endParaRPr lang="sv-SE" dirty="0"/>
          </a:p>
          <a:p>
            <a:pPr lvl="1"/>
            <a:r>
              <a:rPr lang="sv-SE" dirty="0"/>
              <a:t>Instagram: </a:t>
            </a:r>
            <a:r>
              <a:rPr lang="sv-SE" dirty="0">
                <a:hlinkClick r:id="rId9"/>
              </a:rPr>
              <a:t>https://www.instagram.com/cdesio/</a:t>
            </a:r>
            <a:endParaRPr lang="sv-SE" dirty="0"/>
          </a:p>
          <a:p>
            <a:pPr lvl="1"/>
            <a:endParaRPr lang="sv-SE" dirty="0"/>
          </a:p>
          <a:p>
            <a:pPr lvl="1"/>
            <a:endParaRPr lang="sv-SE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7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Claudio De Sio Cesari: NJB - 031</a:t>
            </a:r>
            <a:endParaRPr lang="it-IT" dirty="0"/>
          </a:p>
        </p:txBody>
      </p:sp>
      <p:sp>
        <p:nvSpPr>
          <p:cNvPr id="9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FDED-9124-48F1-BBFC-49CD505FB6D3}" type="slidenum">
              <a:rPr lang="it-IT" smtClean="0"/>
              <a:pPr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8594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Presentazioni: Voi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3600" dirty="0"/>
              <a:t>Nome e cognome</a:t>
            </a:r>
          </a:p>
          <a:p>
            <a:r>
              <a:rPr lang="it-IT" sz="3600" dirty="0"/>
              <a:t>Esperienza</a:t>
            </a:r>
          </a:p>
          <a:p>
            <a:r>
              <a:rPr lang="it-IT" sz="3600" dirty="0"/>
              <a:t>Obiettivi e difficoltà</a:t>
            </a:r>
          </a:p>
          <a:p>
            <a:r>
              <a:rPr lang="it-IT" sz="3600" dirty="0"/>
              <a:t>Hobby</a:t>
            </a:r>
          </a:p>
          <a:p>
            <a:pPr marL="0" indent="0">
              <a:buNone/>
            </a:pPr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6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Claudio De Sio Cesari: NJB - 031</a:t>
            </a:r>
            <a:endParaRPr lang="it-IT" dirty="0"/>
          </a:p>
        </p:txBody>
      </p:sp>
      <p:sp>
        <p:nvSpPr>
          <p:cNvPr id="8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FDED-9124-48F1-BBFC-49CD505FB6D3}" type="slidenum">
              <a:rPr lang="it-IT" smtClean="0"/>
              <a:pPr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2554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28650" y="1"/>
            <a:ext cx="7886700" cy="1268700"/>
          </a:xfrm>
        </p:spPr>
        <p:txBody>
          <a:bodyPr/>
          <a:lstStyle/>
          <a:p>
            <a:r>
              <a:rPr lang="it-IT" dirty="0"/>
              <a:t>Descrizione del corso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908650"/>
            <a:ext cx="9144000" cy="4567368"/>
          </a:xfrm>
        </p:spPr>
        <p:txBody>
          <a:bodyPr>
            <a:noAutofit/>
          </a:bodyPr>
          <a:lstStyle/>
          <a:p>
            <a:r>
              <a:rPr lang="it-IT" dirty="0"/>
              <a:t>Obiettivi del Corso</a:t>
            </a:r>
          </a:p>
          <a:p>
            <a:pPr lvl="1"/>
            <a:r>
              <a:rPr lang="it-IT" sz="2400" dirty="0"/>
              <a:t>Ai partecipanti saranno date le nozioni base per poter iniziare a programmare in Java.</a:t>
            </a:r>
          </a:p>
          <a:p>
            <a:r>
              <a:rPr lang="it-IT" dirty="0"/>
              <a:t>Prerequisiti</a:t>
            </a:r>
          </a:p>
          <a:p>
            <a:pPr lvl="1"/>
            <a:r>
              <a:rPr lang="it-IT" sz="2400" dirty="0"/>
              <a:t>Conoscenza di base di un PC con sistema operativo Windows.</a:t>
            </a:r>
          </a:p>
          <a:p>
            <a:pPr lvl="1"/>
            <a:r>
              <a:rPr lang="it-IT" sz="2400" dirty="0"/>
              <a:t>Aver scaricato le appendici e il materiale extra de «Il nuovo Java» (libro di riferimento, ma non è necessario acquistarlo), potete usare «OO &amp;&amp; Java 5».</a:t>
            </a:r>
          </a:p>
          <a:p>
            <a:r>
              <a:rPr lang="it-IT" dirty="0"/>
              <a:t>Durata e Orari</a:t>
            </a:r>
          </a:p>
          <a:p>
            <a:pPr lvl="1"/>
            <a:r>
              <a:rPr lang="it-IT" sz="2400" dirty="0"/>
              <a:t>9 Lezioni da 2-3 ore, la distribuzione settimanale delle lezioni sarà distribuita secondo la necessità della classe</a:t>
            </a:r>
          </a:p>
          <a:p>
            <a:pPr lvl="1"/>
            <a:r>
              <a:rPr lang="it-IT" sz="2400" dirty="0"/>
              <a:t>Gli intervalli tra lezione e lezione richiedono lo svolgimento di apposite esercitazioni</a:t>
            </a:r>
          </a:p>
          <a:p>
            <a:pPr lvl="1"/>
            <a:r>
              <a:rPr lang="it-IT" sz="2400" dirty="0"/>
              <a:t>Le lezioni saranno registrate per poter essere riviste su un gruppo privato creato appositamente su Facebook</a:t>
            </a:r>
          </a:p>
        </p:txBody>
      </p:sp>
      <p:sp>
        <p:nvSpPr>
          <p:cNvPr id="6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Claudio De Sio Cesari: NJB - 031</a:t>
            </a:r>
            <a:endParaRPr lang="it-IT" dirty="0"/>
          </a:p>
        </p:txBody>
      </p:sp>
      <p:sp>
        <p:nvSpPr>
          <p:cNvPr id="8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FDED-9124-48F1-BBFC-49CD505FB6D3}" type="slidenum">
              <a:rPr lang="it-IT" smtClean="0"/>
              <a:pPr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84448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Programma: lezioni</a:t>
            </a:r>
          </a:p>
        </p:txBody>
      </p:sp>
      <p:sp>
        <p:nvSpPr>
          <p:cNvPr id="6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Claudio De Sio Cesari: NJB - 031</a:t>
            </a:r>
            <a:endParaRPr lang="it-IT" dirty="0"/>
          </a:p>
        </p:txBody>
      </p:sp>
      <p:sp>
        <p:nvSpPr>
          <p:cNvPr id="8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FDED-9124-48F1-BBFC-49CD505FB6D3}" type="slidenum">
              <a:rPr lang="it-IT" smtClean="0"/>
              <a:pPr/>
              <a:t>5</a:t>
            </a:fld>
            <a:endParaRPr lang="it-IT"/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37DE5840-5767-4468-8D7A-9CC0D4527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42032"/>
            <a:ext cx="9144000" cy="4351338"/>
          </a:xfrm>
        </p:spPr>
        <p:txBody>
          <a:bodyPr>
            <a:noAutofit/>
          </a:bodyPr>
          <a:lstStyle/>
          <a:p>
            <a:r>
              <a:rPr lang="it-IT" dirty="0"/>
              <a:t>Ogni lezione corrisponde ad uno dei primi 8 capitoli de «Il nuovo Java»</a:t>
            </a:r>
          </a:p>
          <a:p>
            <a:r>
              <a:rPr lang="it-IT" dirty="0"/>
              <a:t>L’ultima lezione servirà (a seconda delle necessità) per consolidare alcuni concetti, preparare per i prossimi passi e forse per spiegare altri fondamentali concetti</a:t>
            </a:r>
          </a:p>
          <a:p>
            <a:r>
              <a:rPr lang="it-IT" dirty="0"/>
              <a:t>Come sarà (probabilmente) organizzata una lezione</a:t>
            </a:r>
          </a:p>
          <a:p>
            <a:pPr lvl="1"/>
            <a:r>
              <a:rPr lang="it-IT" sz="2400" dirty="0"/>
              <a:t>Il primo quarto d’ora può opzionalmente essere dedicato a chiarimenti della lezione precedente.</a:t>
            </a:r>
          </a:p>
          <a:p>
            <a:pPr lvl="1"/>
            <a:r>
              <a:rPr lang="it-IT" sz="2400" dirty="0"/>
              <a:t>Almeno un’ora (probabilmente un’ora e mezza) sarà dedicata alla spiegazione della teoria</a:t>
            </a:r>
          </a:p>
          <a:p>
            <a:pPr lvl="1"/>
            <a:r>
              <a:rPr lang="it-IT" sz="2400" dirty="0"/>
              <a:t>L’ultimo quarto d’ora a eventuali spiegazioni supplementari, imprevisti o preparazione alle esercitazioni</a:t>
            </a:r>
          </a:p>
          <a:p>
            <a:pPr lvl="1"/>
            <a:r>
              <a:rPr lang="it-IT" sz="2400" dirty="0"/>
              <a:t>Tra una lezione ed un’altra ci sarà un assegno (gli esercizi di fine capitolo de «Il nuovo Java»)</a:t>
            </a:r>
          </a:p>
        </p:txBody>
      </p:sp>
    </p:spTree>
    <p:extLst>
      <p:ext uri="{BB962C8B-B14F-4D97-AF65-F5344CB8AC3E}">
        <p14:creationId xmlns:p14="http://schemas.microsoft.com/office/powerpoint/2010/main" val="1533082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Programma: lezioni</a:t>
            </a:r>
          </a:p>
        </p:txBody>
      </p:sp>
      <p:sp>
        <p:nvSpPr>
          <p:cNvPr id="6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Claudio De Sio Cesari: NJB - 031</a:t>
            </a:r>
            <a:endParaRPr lang="it-IT" dirty="0"/>
          </a:p>
        </p:txBody>
      </p:sp>
      <p:sp>
        <p:nvSpPr>
          <p:cNvPr id="8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FDED-9124-48F1-BBFC-49CD505FB6D3}" type="slidenum">
              <a:rPr lang="it-IT" smtClean="0"/>
              <a:pPr/>
              <a:t>6</a:t>
            </a:fld>
            <a:endParaRPr lang="it-IT"/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37DE5840-5767-4468-8D7A-9CC0D4527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42032"/>
            <a:ext cx="9144000" cy="4351338"/>
          </a:xfrm>
        </p:spPr>
        <p:txBody>
          <a:bodyPr>
            <a:noAutofit/>
          </a:bodyPr>
          <a:lstStyle/>
          <a:p>
            <a:r>
              <a:rPr lang="it-IT" sz="2400" dirty="0"/>
              <a:t>Faremo brevissime pause ogni 25 minuti (ma non sempre)</a:t>
            </a:r>
          </a:p>
          <a:p>
            <a:r>
              <a:rPr lang="it-IT" dirty="0"/>
              <a:t>Potete richiedere pause all’occorrenza in anticipo o in ritardo</a:t>
            </a:r>
          </a:p>
          <a:p>
            <a:r>
              <a:rPr lang="it-IT" dirty="0"/>
              <a:t>Ci saranno tantissimi concetti che imparerete e dovrete padroneggiare in un tempo relativamente breve</a:t>
            </a:r>
          </a:p>
          <a:p>
            <a:r>
              <a:rPr lang="it-IT" dirty="0"/>
              <a:t>Non restate indietro! Se qualcosa non è chiaro della spiegazione non è chiaro, dovete interrompermi e lo rispiegherò. Nel caso non sia ancora chiaro, o se il concetto non è fondamentale, per non fare annoiare gli rimanderemo la spiegazione in privato.</a:t>
            </a:r>
          </a:p>
          <a:p>
            <a:endParaRPr lang="it-IT" dirty="0"/>
          </a:p>
          <a:p>
            <a:endParaRPr lang="it-IT" sz="2400" dirty="0"/>
          </a:p>
          <a:p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4199627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-108650" y="365127"/>
            <a:ext cx="9252650" cy="796196"/>
          </a:xfrm>
        </p:spPr>
        <p:txBody>
          <a:bodyPr/>
          <a:lstStyle/>
          <a:p>
            <a:pPr algn="ctr"/>
            <a:r>
              <a:rPr lang="it-IT" dirty="0"/>
              <a:t>Programma: argomenti probabili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1340710"/>
            <a:ext cx="9144000" cy="4836253"/>
          </a:xfrm>
        </p:spPr>
        <p:txBody>
          <a:bodyPr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sz="2800" dirty="0"/>
              <a:t>Introduzione a Java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2800" dirty="0"/>
              <a:t>Componenti fondamentali di un programma Java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2800" dirty="0"/>
              <a:t>Stile di codifica, tipi di dati ed array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2800" dirty="0"/>
              <a:t>Operatori e gestione del flusso di esecuzione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2800" dirty="0"/>
              <a:t>Incapsulamento e visibilità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2800" dirty="0"/>
              <a:t>Ereditarietà ed interfacce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2800" dirty="0"/>
              <a:t>Polimorfismo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2800" dirty="0"/>
              <a:t>Eccezioni ed asserzioni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2800" dirty="0"/>
              <a:t>Intro a record, enumerazioni, tipi generici, annotazioni, reflection, thread, lambda, stream</a:t>
            </a:r>
          </a:p>
          <a:p>
            <a:endParaRPr lang="it-IT" sz="2800" dirty="0"/>
          </a:p>
        </p:txBody>
      </p:sp>
      <p:sp>
        <p:nvSpPr>
          <p:cNvPr id="6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Claudio De Sio Cesari: NJB - 031</a:t>
            </a:r>
            <a:endParaRPr lang="it-IT" dirty="0"/>
          </a:p>
        </p:txBody>
      </p:sp>
      <p:sp>
        <p:nvSpPr>
          <p:cNvPr id="7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FDED-9124-48F1-BBFC-49CD505FB6D3}" type="slidenum">
              <a:rPr lang="it-IT" smtClean="0"/>
              <a:pPr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5225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87544"/>
          </a:xfrm>
        </p:spPr>
        <p:txBody>
          <a:bodyPr>
            <a:normAutofit fontScale="90000"/>
          </a:bodyPr>
          <a:lstStyle/>
          <a:p>
            <a:r>
              <a:rPr lang="it-IT" dirty="0"/>
              <a:t>Raccomandazioni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1340710"/>
            <a:ext cx="9144000" cy="4836253"/>
          </a:xfrm>
        </p:spPr>
        <p:txBody>
          <a:bodyPr>
            <a:noAutofit/>
          </a:bodyPr>
          <a:lstStyle/>
          <a:p>
            <a:r>
              <a:rPr lang="it-IT" sz="2800" dirty="0"/>
              <a:t>Zero distrazioni</a:t>
            </a:r>
          </a:p>
          <a:p>
            <a:pPr lvl="1"/>
            <a:r>
              <a:rPr lang="it-IT" sz="2400" dirty="0"/>
              <a:t>Fare un corso online è molto faticoso, perché ci sono troppe distrazioni in casa, e non dobbiamo buttare via il tempo</a:t>
            </a:r>
          </a:p>
          <a:p>
            <a:pPr lvl="1"/>
            <a:r>
              <a:rPr lang="it-IT" sz="2400" dirty="0"/>
              <a:t>Telefoni in modalità aereo, in un’altra stanza, senza suoneria e notifiche… spenti ancora meglio (eh sì, si può fare).</a:t>
            </a:r>
          </a:p>
          <a:p>
            <a:pPr lvl="1"/>
            <a:r>
              <a:rPr lang="it-IT" sz="2400" dirty="0"/>
              <a:t>Sul computer dovete aprire solamente le schermate che ci servono per lavorare (no posta, no social, WhatsApp, etc.)</a:t>
            </a:r>
          </a:p>
          <a:p>
            <a:pPr lvl="1"/>
            <a:r>
              <a:rPr lang="it-IT" sz="2400" dirty="0"/>
              <a:t>Se potete chiudete la porta della vostra stanza ed avvertite le altre persone in casa di non disturbarvi per un paio d’ore</a:t>
            </a:r>
          </a:p>
          <a:p>
            <a:pPr lvl="1"/>
            <a:r>
              <a:rPr lang="it-IT" sz="2400" dirty="0"/>
              <a:t>Siamo tanti e con esperienze eterogenee, e ripetere i concetti non chiari va benissimo, ma evitando le ripetizioni causa distrazione renderà il corso sarà più utile (e meno noioso) per tutti</a:t>
            </a:r>
          </a:p>
          <a:p>
            <a:pPr lvl="1"/>
            <a:r>
              <a:rPr lang="it-IT" sz="2400" dirty="0"/>
              <a:t>Parteciperete ad un corso che, fatto con Oracle, sarebbe costato circa 2800 euro a persona, cercate di sfruttare ogni minuto</a:t>
            </a:r>
          </a:p>
        </p:txBody>
      </p:sp>
      <p:sp>
        <p:nvSpPr>
          <p:cNvPr id="6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Claudio De Sio Cesari: NJB - 031</a:t>
            </a:r>
            <a:endParaRPr lang="it-IT" dirty="0"/>
          </a:p>
        </p:txBody>
      </p:sp>
      <p:sp>
        <p:nvSpPr>
          <p:cNvPr id="7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FDED-9124-48F1-BBFC-49CD505FB6D3}" type="slidenum">
              <a:rPr lang="it-IT" smtClean="0"/>
              <a:pPr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9853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87544"/>
          </a:xfrm>
        </p:spPr>
        <p:txBody>
          <a:bodyPr>
            <a:normAutofit fontScale="90000"/>
          </a:bodyPr>
          <a:lstStyle/>
          <a:p>
            <a:r>
              <a:rPr lang="it-IT" dirty="0"/>
              <a:t>Raccomandazioni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1340710"/>
            <a:ext cx="9144000" cy="4836253"/>
          </a:xfrm>
        </p:spPr>
        <p:txBody>
          <a:bodyPr>
            <a:noAutofit/>
          </a:bodyPr>
          <a:lstStyle/>
          <a:p>
            <a:r>
              <a:rPr lang="it-IT" sz="2800" dirty="0"/>
              <a:t>Partecipazione</a:t>
            </a:r>
          </a:p>
          <a:p>
            <a:pPr lvl="1"/>
            <a:r>
              <a:rPr lang="it-IT" sz="2400" dirty="0"/>
              <a:t>Niente timidezza, non ha senso, fate le domande che volete anche se possono sembrare banali</a:t>
            </a:r>
          </a:p>
          <a:p>
            <a:pPr lvl="1"/>
            <a:r>
              <a:rPr lang="it-IT" sz="2400" dirty="0"/>
              <a:t>Sollevate critiche costruttive, fate proposte, aprite discussioni nel gruppo Facebook</a:t>
            </a:r>
          </a:p>
          <a:p>
            <a:pPr lvl="1"/>
            <a:r>
              <a:rPr lang="it-IT" sz="2400" dirty="0"/>
              <a:t>Se ci riuscite, fate tutti gli esercizi assegnati: sono fondamentali. Se non ci riuscite scrivete nel gruppo le vostre difficoltà, tra voi ci sono persone più esperte che possono rispondere, e prima o poi interverrò io</a:t>
            </a:r>
          </a:p>
          <a:p>
            <a:pPr lvl="1"/>
            <a:r>
              <a:rPr lang="it-IT" sz="2400" dirty="0"/>
              <a:t>Presentatevi alle lezioni concentrati e riposati. </a:t>
            </a:r>
          </a:p>
          <a:p>
            <a:pPr lvl="1"/>
            <a:r>
              <a:rPr lang="it-IT" sz="2400" dirty="0"/>
              <a:t>Cercate di seguire ogni lezione, ma se non potete, guardatela in differita sul gruppo, non restate indietro</a:t>
            </a:r>
          </a:p>
          <a:p>
            <a:pPr lvl="1"/>
            <a:r>
              <a:rPr lang="it-IT" sz="2400" dirty="0"/>
              <a:t>Nelle pause, sono sempre a vostra disposizione per domande brevi</a:t>
            </a:r>
          </a:p>
          <a:p>
            <a:pPr lvl="1"/>
            <a:endParaRPr lang="it-IT" sz="2400" dirty="0"/>
          </a:p>
          <a:p>
            <a:pPr lvl="1"/>
            <a:endParaRPr lang="it-IT" sz="2400" dirty="0"/>
          </a:p>
          <a:p>
            <a:pPr lvl="1"/>
            <a:endParaRPr lang="it-IT" sz="2400" dirty="0"/>
          </a:p>
          <a:p>
            <a:pPr lvl="1"/>
            <a:endParaRPr lang="it-IT" sz="2400" dirty="0"/>
          </a:p>
        </p:txBody>
      </p:sp>
      <p:sp>
        <p:nvSpPr>
          <p:cNvPr id="6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Claudio De Sio Cesari: NJB - 031</a:t>
            </a:r>
            <a:endParaRPr lang="it-IT" dirty="0"/>
          </a:p>
        </p:txBody>
      </p:sp>
      <p:sp>
        <p:nvSpPr>
          <p:cNvPr id="7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FDED-9124-48F1-BBFC-49CD505FB6D3}" type="slidenum">
              <a:rPr lang="it-IT" smtClean="0"/>
              <a:pPr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24822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87544"/>
          </a:xfrm>
        </p:spPr>
        <p:txBody>
          <a:bodyPr>
            <a:normAutofit fontScale="90000"/>
          </a:bodyPr>
          <a:lstStyle/>
          <a:p>
            <a:r>
              <a:rPr lang="it-IT" dirty="0"/>
              <a:t>Raccomandazioni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1340710"/>
            <a:ext cx="9144000" cy="4836253"/>
          </a:xfrm>
        </p:spPr>
        <p:txBody>
          <a:bodyPr>
            <a:noAutofit/>
          </a:bodyPr>
          <a:lstStyle/>
          <a:p>
            <a:pPr lvl="1"/>
            <a:r>
              <a:rPr lang="it-IT" sz="2400" dirty="0"/>
              <a:t>Uso di Google Meet:</a:t>
            </a:r>
          </a:p>
          <a:p>
            <a:pPr lvl="2"/>
            <a:r>
              <a:rPr lang="it-IT" sz="2400" dirty="0"/>
              <a:t>Il microfono accendetelo solo quando volete parlare, altrimenti ci sarà confusione</a:t>
            </a:r>
          </a:p>
          <a:p>
            <a:pPr lvl="2"/>
            <a:r>
              <a:rPr lang="it-IT" sz="2400" dirty="0"/>
              <a:t>La webcam aperta favorirà la nostra conoscenza, ma ovviamente non siete obbligati</a:t>
            </a:r>
          </a:p>
          <a:p>
            <a:pPr lvl="2"/>
            <a:r>
              <a:rPr lang="it-IT" sz="2400" dirty="0"/>
              <a:t>Quando partecipate, fate in modo che io legga il vostro nome e non un nickname.</a:t>
            </a:r>
          </a:p>
          <a:p>
            <a:pPr lvl="1"/>
            <a:r>
              <a:rPr lang="it-IT" sz="2400" dirty="0"/>
              <a:t>Uso del gruppo Facebook</a:t>
            </a:r>
          </a:p>
          <a:p>
            <a:pPr lvl="2"/>
            <a:r>
              <a:rPr lang="it-IT" sz="2400" dirty="0"/>
              <a:t>Ci sono le regole che potete consultare</a:t>
            </a:r>
          </a:p>
          <a:p>
            <a:pPr lvl="1"/>
            <a:r>
              <a:rPr lang="it-IT" sz="2400" dirty="0"/>
              <a:t>La cosa più importante</a:t>
            </a:r>
          </a:p>
          <a:p>
            <a:pPr lvl="2"/>
            <a:r>
              <a:rPr lang="it-IT" sz="2400" dirty="0"/>
              <a:t>Datemi del tu!</a:t>
            </a:r>
          </a:p>
          <a:p>
            <a:pPr lvl="2"/>
            <a:r>
              <a:rPr lang="it-IT" sz="2400" dirty="0"/>
              <a:t>Chiamatemi Claudio, non "professore", gli informatici sono informali</a:t>
            </a:r>
          </a:p>
          <a:p>
            <a:pPr lvl="2"/>
            <a:endParaRPr lang="it-IT" sz="2000" dirty="0"/>
          </a:p>
          <a:p>
            <a:pPr lvl="2"/>
            <a:endParaRPr lang="it-IT" sz="2000" dirty="0"/>
          </a:p>
          <a:p>
            <a:pPr lvl="1"/>
            <a:endParaRPr lang="it-IT" sz="2400" dirty="0"/>
          </a:p>
          <a:p>
            <a:pPr lvl="1"/>
            <a:endParaRPr lang="it-IT" sz="2400" dirty="0"/>
          </a:p>
        </p:txBody>
      </p:sp>
      <p:sp>
        <p:nvSpPr>
          <p:cNvPr id="6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Claudio De Sio Cesari: NJB - 031</a:t>
            </a:r>
            <a:endParaRPr lang="it-IT" dirty="0"/>
          </a:p>
        </p:txBody>
      </p:sp>
      <p:sp>
        <p:nvSpPr>
          <p:cNvPr id="7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FDED-9124-48F1-BBFC-49CD505FB6D3}" type="slidenum">
              <a:rPr lang="it-IT" smtClean="0"/>
              <a:pPr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3831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976724-0419-453A-AB45-889B3773D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124680"/>
          </a:xfrm>
        </p:spPr>
        <p:txBody>
          <a:bodyPr>
            <a:normAutofit/>
          </a:bodyPr>
          <a:lstStyle/>
          <a:p>
            <a:pPr algn="ctr"/>
            <a:r>
              <a:rPr lang="it-IT" dirty="0"/>
              <a:t>Domande?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3702664-5F57-48C9-81BD-CDEE2BC11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NJB - 031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F7260F1-A163-4293-A30C-8710BD851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11</a:t>
            </a:fld>
            <a:endParaRPr lang="it-IT"/>
          </a:p>
        </p:txBody>
      </p:sp>
      <p:sp>
        <p:nvSpPr>
          <p:cNvPr id="11" name="Segnaposto contenuto 10">
            <a:extLst>
              <a:ext uri="{FF2B5EF4-FFF2-40B4-BE49-F238E27FC236}">
                <a16:creationId xmlns:a16="http://schemas.microsoft.com/office/drawing/2014/main" id="{9B76E6E8-AAD6-45A5-8342-72C4E7B4E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430" y="1196690"/>
            <a:ext cx="8047920" cy="4980273"/>
          </a:xfrm>
        </p:spPr>
        <p:txBody>
          <a:bodyPr>
            <a:normAutofit lnSpcReduction="10000"/>
          </a:bodyPr>
          <a:lstStyle/>
          <a:p>
            <a:r>
              <a:rPr lang="it-IT" sz="2800" dirty="0"/>
              <a:t>Ora tutte quelle che volete (più o meno…)</a:t>
            </a:r>
          </a:p>
          <a:p>
            <a:r>
              <a:rPr lang="it-IT" sz="2800" dirty="0"/>
              <a:t>Durante le lezioni</a:t>
            </a:r>
          </a:p>
          <a:p>
            <a:pPr lvl="1"/>
            <a:r>
              <a:rPr lang="it-IT" sz="2800" dirty="0"/>
              <a:t>Importanti e veloci: al momento</a:t>
            </a:r>
          </a:p>
          <a:p>
            <a:pPr lvl="1"/>
            <a:r>
              <a:rPr lang="it-IT" sz="2800" dirty="0"/>
              <a:t>Se possono aspettare la pausa: durante la pausa</a:t>
            </a:r>
          </a:p>
          <a:p>
            <a:pPr lvl="1"/>
            <a:r>
              <a:rPr lang="it-IT" sz="2800" dirty="0"/>
              <a:t>Complesse: tramite gruppo Facebook</a:t>
            </a:r>
          </a:p>
          <a:p>
            <a:pPr lvl="1"/>
            <a:r>
              <a:rPr lang="it-IT" sz="2800" dirty="0"/>
              <a:t>Sul gruppo Facebook (può rispondere chiunque ne faccia parte). </a:t>
            </a:r>
          </a:p>
          <a:p>
            <a:pPr lvl="1"/>
            <a:r>
              <a:rPr lang="it-IT" sz="2800" dirty="0"/>
              <a:t>In qualsiasi caso le risposte possono essere date anche all’inizio della prossima lezione (meglio se me le anticipate sul gruppo Facebook)</a:t>
            </a:r>
          </a:p>
          <a:p>
            <a:pPr lvl="1"/>
            <a:r>
              <a:rPr lang="it-IT" sz="2800" dirty="0"/>
              <a:t>Via email quelle molto complesse </a:t>
            </a:r>
          </a:p>
          <a:p>
            <a:pPr lvl="1"/>
            <a:r>
              <a:rPr lang="it-IT" sz="2800" dirty="0"/>
              <a:t>Meglio </a:t>
            </a:r>
            <a:r>
              <a:rPr lang="it-IT" sz="2800" u="sng" dirty="0"/>
              <a:t>non</a:t>
            </a:r>
            <a:r>
              <a:rPr lang="it-IT" sz="2800" dirty="0"/>
              <a:t> tramite social </a:t>
            </a:r>
          </a:p>
          <a:p>
            <a:pPr lvl="1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64702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976724-0419-453A-AB45-889B3773D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124680"/>
          </a:xfrm>
        </p:spPr>
        <p:txBody>
          <a:bodyPr>
            <a:normAutofit/>
          </a:bodyPr>
          <a:lstStyle/>
          <a:p>
            <a:pPr algn="ctr"/>
            <a:r>
              <a:rPr lang="it-IT" dirty="0"/>
              <a:t>Altre domande?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3702664-5F57-48C9-81BD-CDEE2BC11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De Sio Cesari: NJB - 031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F7260F1-A163-4293-A30C-8710BD851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0A8-4958-4553-8C1A-CC59A6ABE123}" type="slidenum">
              <a:rPr lang="it-IT" smtClean="0"/>
              <a:t>12</a:t>
            </a:fld>
            <a:endParaRPr lang="it-IT"/>
          </a:p>
        </p:txBody>
      </p:sp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918602BF-51C5-4312-A679-CFD0E99025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4665" y="1825625"/>
            <a:ext cx="4845808" cy="4351338"/>
          </a:xfrm>
        </p:spPr>
      </p:pic>
    </p:spTree>
    <p:extLst>
      <p:ext uri="{BB962C8B-B14F-4D97-AF65-F5344CB8AC3E}">
        <p14:creationId xmlns:p14="http://schemas.microsoft.com/office/powerpoint/2010/main" val="2822491963"/>
      </p:ext>
    </p:extLst>
  </p:cSld>
  <p:clrMapOvr>
    <a:masterClrMapping/>
  </p:clrMapOvr>
</p:sld>
</file>

<file path=ppt/theme/theme1.xml><?xml version="1.0" encoding="utf-8"?>
<a:theme xmlns:a="http://schemas.openxmlformats.org/drawingml/2006/main" name="Academy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Academy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Profondità">
  <a:themeElements>
    <a:clrScheme name="Profondità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Profondità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fondità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5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AcademyTheme</Template>
  <TotalTime>16447</TotalTime>
  <Words>1089</Words>
  <Application>Microsoft Office PowerPoint</Application>
  <PresentationFormat>Presentazione su schermo (4:3)</PresentationFormat>
  <Paragraphs>127</Paragraphs>
  <Slides>12</Slides>
  <Notes>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4</vt:i4>
      </vt:variant>
      <vt:variant>
        <vt:lpstr>Titoli diapositive</vt:lpstr>
      </vt:variant>
      <vt:variant>
        <vt:i4>12</vt:i4>
      </vt:variant>
    </vt:vector>
  </HeadingPairs>
  <TitlesOfParts>
    <vt:vector size="20" baseType="lpstr">
      <vt:lpstr>Arial</vt:lpstr>
      <vt:lpstr>Calibri</vt:lpstr>
      <vt:lpstr>Corbel</vt:lpstr>
      <vt:lpstr>Times New Roman</vt:lpstr>
      <vt:lpstr>AcademyTheme</vt:lpstr>
      <vt:lpstr>Personalizza struttura</vt:lpstr>
      <vt:lpstr>1_AcademyTheme</vt:lpstr>
      <vt:lpstr>Profondità</vt:lpstr>
      <vt:lpstr>Claudio De Sio Cesari   Il nuovo Java Corso Base (NJB– 031) </vt:lpstr>
      <vt:lpstr>Presentazioni: Claudio De Sio Cesari</vt:lpstr>
      <vt:lpstr>Presentazioni: Voi</vt:lpstr>
      <vt:lpstr>Descrizione del corso</vt:lpstr>
      <vt:lpstr>Programma: lezioni</vt:lpstr>
      <vt:lpstr>Programma: lezioni</vt:lpstr>
      <vt:lpstr>Programma: argomenti probabili</vt:lpstr>
      <vt:lpstr>Raccomandazioni</vt:lpstr>
      <vt:lpstr>Raccomandazioni</vt:lpstr>
      <vt:lpstr>Raccomandazioni</vt:lpstr>
      <vt:lpstr>Domande?</vt:lpstr>
      <vt:lpstr>Altre domande?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cdsc</dc:creator>
  <cp:lastModifiedBy>Claudio De Sio Cesari</cp:lastModifiedBy>
  <cp:revision>232</cp:revision>
  <dcterms:created xsi:type="dcterms:W3CDTF">2012-03-20T22:57:36Z</dcterms:created>
  <dcterms:modified xsi:type="dcterms:W3CDTF">2021-03-07T10:00:42Z</dcterms:modified>
</cp:coreProperties>
</file>