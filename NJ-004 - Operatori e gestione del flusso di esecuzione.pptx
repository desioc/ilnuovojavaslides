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2">
  <p:sldMasterIdLst>
    <p:sldMasterId id="2147483660" r:id="rId1"/>
    <p:sldMasterId id="2147483664" r:id="rId2"/>
    <p:sldMasterId id="2147483670" r:id="rId3"/>
    <p:sldMasterId id="2147483677" r:id="rId4"/>
  </p:sldMasterIdLst>
  <p:notesMasterIdLst>
    <p:notesMasterId r:id="rId73"/>
  </p:notesMasterIdLst>
  <p:sldIdLst>
    <p:sldId id="257" r:id="rId5"/>
    <p:sldId id="721" r:id="rId6"/>
    <p:sldId id="722" r:id="rId7"/>
    <p:sldId id="803" r:id="rId8"/>
    <p:sldId id="804" r:id="rId9"/>
    <p:sldId id="769" r:id="rId10"/>
    <p:sldId id="805" r:id="rId11"/>
    <p:sldId id="806" r:id="rId12"/>
    <p:sldId id="746" r:id="rId13"/>
    <p:sldId id="807" r:id="rId14"/>
    <p:sldId id="770" r:id="rId15"/>
    <p:sldId id="724" r:id="rId16"/>
    <p:sldId id="723" r:id="rId17"/>
    <p:sldId id="771" r:id="rId18"/>
    <p:sldId id="808" r:id="rId19"/>
    <p:sldId id="809" r:id="rId20"/>
    <p:sldId id="810" r:id="rId21"/>
    <p:sldId id="811" r:id="rId22"/>
    <p:sldId id="812" r:id="rId23"/>
    <p:sldId id="813" r:id="rId24"/>
    <p:sldId id="772" r:id="rId25"/>
    <p:sldId id="748" r:id="rId26"/>
    <p:sldId id="814" r:id="rId27"/>
    <p:sldId id="815" r:id="rId28"/>
    <p:sldId id="816" r:id="rId29"/>
    <p:sldId id="817" r:id="rId30"/>
    <p:sldId id="818" r:id="rId31"/>
    <p:sldId id="819" r:id="rId32"/>
    <p:sldId id="820" r:id="rId33"/>
    <p:sldId id="821" r:id="rId34"/>
    <p:sldId id="822" r:id="rId35"/>
    <p:sldId id="823" r:id="rId36"/>
    <p:sldId id="824" r:id="rId37"/>
    <p:sldId id="825" r:id="rId38"/>
    <p:sldId id="826" r:id="rId39"/>
    <p:sldId id="827" r:id="rId40"/>
    <p:sldId id="828" r:id="rId41"/>
    <p:sldId id="829" r:id="rId42"/>
    <p:sldId id="830" r:id="rId43"/>
    <p:sldId id="831" r:id="rId44"/>
    <p:sldId id="832" r:id="rId45"/>
    <p:sldId id="833" r:id="rId46"/>
    <p:sldId id="834" r:id="rId47"/>
    <p:sldId id="835" r:id="rId48"/>
    <p:sldId id="836" r:id="rId49"/>
    <p:sldId id="837" r:id="rId50"/>
    <p:sldId id="838" r:id="rId51"/>
    <p:sldId id="839" r:id="rId52"/>
    <p:sldId id="840" r:id="rId53"/>
    <p:sldId id="841" r:id="rId54"/>
    <p:sldId id="842" r:id="rId55"/>
    <p:sldId id="843" r:id="rId56"/>
    <p:sldId id="844" r:id="rId57"/>
    <p:sldId id="845" r:id="rId58"/>
    <p:sldId id="846" r:id="rId59"/>
    <p:sldId id="847" r:id="rId60"/>
    <p:sldId id="848" r:id="rId61"/>
    <p:sldId id="849" r:id="rId62"/>
    <p:sldId id="850" r:id="rId63"/>
    <p:sldId id="851" r:id="rId64"/>
    <p:sldId id="852" r:id="rId65"/>
    <p:sldId id="853" r:id="rId66"/>
    <p:sldId id="854" r:id="rId67"/>
    <p:sldId id="855" r:id="rId68"/>
    <p:sldId id="856" r:id="rId69"/>
    <p:sldId id="857" r:id="rId70"/>
    <p:sldId id="858" r:id="rId71"/>
    <p:sldId id="743" r:id="rId72"/>
  </p:sldIdLst>
  <p:sldSz cx="9144000" cy="6858000" type="screen4x3"/>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zione senza titolo" id="{7EAEB438-8BB2-4472-9D6B-5E6DC54C0E6B}">
          <p14:sldIdLst>
            <p14:sldId id="257"/>
            <p14:sldId id="721"/>
            <p14:sldId id="722"/>
            <p14:sldId id="803"/>
            <p14:sldId id="804"/>
            <p14:sldId id="769"/>
            <p14:sldId id="805"/>
            <p14:sldId id="806"/>
            <p14:sldId id="746"/>
            <p14:sldId id="807"/>
            <p14:sldId id="770"/>
            <p14:sldId id="724"/>
            <p14:sldId id="723"/>
            <p14:sldId id="771"/>
            <p14:sldId id="808"/>
            <p14:sldId id="809"/>
            <p14:sldId id="810"/>
            <p14:sldId id="811"/>
            <p14:sldId id="812"/>
            <p14:sldId id="813"/>
            <p14:sldId id="772"/>
            <p14:sldId id="748"/>
            <p14:sldId id="814"/>
            <p14:sldId id="815"/>
            <p14:sldId id="816"/>
            <p14:sldId id="817"/>
            <p14:sldId id="818"/>
            <p14:sldId id="819"/>
            <p14:sldId id="820"/>
            <p14:sldId id="821"/>
            <p14:sldId id="822"/>
            <p14:sldId id="823"/>
            <p14:sldId id="824"/>
            <p14:sldId id="825"/>
            <p14:sldId id="826"/>
            <p14:sldId id="827"/>
            <p14:sldId id="828"/>
            <p14:sldId id="829"/>
            <p14:sldId id="830"/>
            <p14:sldId id="831"/>
            <p14:sldId id="832"/>
            <p14:sldId id="833"/>
            <p14:sldId id="834"/>
            <p14:sldId id="835"/>
            <p14:sldId id="836"/>
            <p14:sldId id="837"/>
            <p14:sldId id="838"/>
            <p14:sldId id="839"/>
            <p14:sldId id="840"/>
            <p14:sldId id="841"/>
            <p14:sldId id="842"/>
            <p14:sldId id="843"/>
            <p14:sldId id="844"/>
            <p14:sldId id="845"/>
            <p14:sldId id="846"/>
            <p14:sldId id="847"/>
            <p14:sldId id="848"/>
            <p14:sldId id="849"/>
            <p14:sldId id="850"/>
            <p14:sldId id="851"/>
            <p14:sldId id="852"/>
            <p14:sldId id="853"/>
            <p14:sldId id="854"/>
            <p14:sldId id="855"/>
            <p14:sldId id="856"/>
            <p14:sldId id="857"/>
            <p14:sldId id="858"/>
            <p14:sldId id="74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laudio De Sio Cesari" initials="CDSC" lastIdx="1" clrIdx="0">
    <p:extLst>
      <p:ext uri="{19B8F6BF-5375-455C-9EA6-DF929625EA0E}">
        <p15:presenceInfo xmlns:p15="http://schemas.microsoft.com/office/powerpoint/2012/main" userId="a29b13f1a3f3547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652" autoAdjust="0"/>
    <p:restoredTop sz="74737" autoAdjust="0"/>
  </p:normalViewPr>
  <p:slideViewPr>
    <p:cSldViewPr>
      <p:cViewPr varScale="1">
        <p:scale>
          <a:sx n="89" d="100"/>
          <a:sy n="89" d="100"/>
        </p:scale>
        <p:origin x="2070" y="120"/>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10" cy="7201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commentAuthors" Target="commentAuthor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notesMaster" Target="notesMasters/notesMaster1.xml"/><Relationship Id="rId78"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slideMaster" Target="slideMasters/slideMaster2.xml"/><Relationship Id="rId29"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9133C31-D34E-4EBE-ABC4-2DAA5A26C937}" type="datetimeFigureOut">
              <a:rPr lang="it-IT" smtClean="0"/>
              <a:t>13/03/2021</a:t>
            </a:fld>
            <a:endParaRPr lang="it-IT"/>
          </a:p>
        </p:txBody>
      </p:sp>
      <p:sp>
        <p:nvSpPr>
          <p:cNvPr id="4" name="Segnaposto immagin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45D8BF2-49EE-4CE2-A2D7-61B744D1E4D9}" type="slidenum">
              <a:rPr lang="it-IT" smtClean="0"/>
              <a:t>‹N›</a:t>
            </a:fld>
            <a:endParaRPr lang="it-IT"/>
          </a:p>
        </p:txBody>
      </p:sp>
    </p:spTree>
    <p:extLst>
      <p:ext uri="{BB962C8B-B14F-4D97-AF65-F5344CB8AC3E}">
        <p14:creationId xmlns:p14="http://schemas.microsoft.com/office/powerpoint/2010/main" val="1789352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545D8BF2-49EE-4CE2-A2D7-61B744D1E4D9}" type="slidenum">
              <a:rPr lang="it-IT" smtClean="0"/>
              <a:t>1</a:t>
            </a:fld>
            <a:endParaRPr lang="it-IT"/>
          </a:p>
        </p:txBody>
      </p:sp>
    </p:spTree>
    <p:extLst>
      <p:ext uri="{BB962C8B-B14F-4D97-AF65-F5344CB8AC3E}">
        <p14:creationId xmlns:p14="http://schemas.microsoft.com/office/powerpoint/2010/main" val="36564639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Come si può già intuire dal titolo, Anche questo capitolo è diviso in tre parti. Nella prima parte, breve e poco impegnativa, saranno presentate alcune regole e strumenti per sviluppare in Java. Si tratta essenzialmente di </a:t>
            </a:r>
            <a:r>
              <a:rPr lang="it-IT" sz="1800" i="1" dirty="0">
                <a:effectLst/>
                <a:latin typeface="Times New Roman" panose="02020603050405020304" pitchFamily="18" charset="0"/>
                <a:ea typeface="Times New Roman" panose="02020603050405020304" pitchFamily="18" charset="0"/>
              </a:rPr>
              <a:t>best practices</a:t>
            </a:r>
            <a:r>
              <a:rPr lang="it-IT" sz="1800" dirty="0">
                <a:effectLst/>
                <a:latin typeface="Times New Roman" panose="02020603050405020304" pitchFamily="18" charset="0"/>
                <a:ea typeface="Times New Roman" panose="02020603050405020304" pitchFamily="18" charset="0"/>
              </a:rPr>
              <a:t> (termine utilizzato nell’informatica per definire le </a:t>
            </a:r>
            <a:r>
              <a:rPr lang="it-IT" sz="1800" i="1" dirty="0">
                <a:effectLst/>
                <a:latin typeface="Times New Roman" panose="02020603050405020304" pitchFamily="18" charset="0"/>
                <a:ea typeface="Times New Roman" panose="02020603050405020304" pitchFamily="18" charset="0"/>
              </a:rPr>
              <a:t>buone abitudini</a:t>
            </a:r>
            <a:r>
              <a:rPr lang="it-IT" sz="1800" dirty="0">
                <a:effectLst/>
                <a:latin typeface="Times New Roman" panose="02020603050405020304" pitchFamily="18" charset="0"/>
                <a:ea typeface="Times New Roman" panose="02020603050405020304" pitchFamily="18" charset="0"/>
              </a:rPr>
              <a:t>, quelle che possono considerarsi standard da seguire), ma sono fondamentali per programmare. Utilizzare uno stile standard semplifica la vita al programmatore e renderà più leggibile il suo codice per tutti.</a:t>
            </a:r>
          </a:p>
          <a:p>
            <a:r>
              <a:rPr lang="it-IT" sz="1800" dirty="0">
                <a:effectLst/>
                <a:latin typeface="Times New Roman" panose="02020603050405020304" pitchFamily="18" charset="0"/>
                <a:ea typeface="Times New Roman" panose="02020603050405020304" pitchFamily="18" charset="0"/>
              </a:rPr>
              <a:t>La seconda parte inizia con alcuni paragrafi propedeutici alla comprensione dei tipi di dati del linguaggio. Verranno anche introdotti alcuni concetti di base sulla gestione della memoria, nozioni fondamentali per il neofita.</a:t>
            </a:r>
          </a:p>
          <a:p>
            <a:r>
              <a:rPr lang="it-IT" sz="1800" dirty="0">
                <a:effectLst/>
                <a:latin typeface="Times New Roman" panose="02020603050405020304" pitchFamily="18" charset="0"/>
                <a:ea typeface="Times New Roman" panose="02020603050405020304" pitchFamily="18" charset="0"/>
              </a:rPr>
              <a:t>Successivamente saranno presentati i tipi di dati definiti dal linguaggio e le relative problematiche. Sino ad ora abbiamo quasi sempre utilizzato il tipo di dato intero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 dopo lo studio di questo capitolo potremo finalmente padroneggiare tutti i tipi di dato che definisce Java. Inoltre faremo la conoscenza del fondamentale concetto di reference. Sarà introdotta anche la libreria standard di Java, che ci permetterà di utilizzare oggetti di alto livello e sfruttarli come tipi di dati complessi all’interno dei nostri programmi. </a:t>
            </a:r>
          </a:p>
          <a:p>
            <a:r>
              <a:rPr lang="it-IT" sz="1800" dirty="0">
                <a:effectLst/>
                <a:latin typeface="Times New Roman" panose="02020603050405020304" pitchFamily="18" charset="0"/>
                <a:ea typeface="Times New Roman" panose="02020603050405020304" pitchFamily="18" charset="0"/>
              </a:rPr>
              <a:t>Infine, saranno presentati li array, un argomento che risulta piuttosto ostico a molti programmatori. </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Un array rappresenta un tipo di dato complesso che definisce una collezione di elementi indicizzati di un certo tipo. Con un solo nome potremo accedere agli elementi della collezione mediante un indice.</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Infine per completare il discorso verrà introdotta una interessante caratteristica introdotta nella versione 10, che rende il codice Java meno verboso: la deduzione del tipo per le variabili locali, argomento meglio conosciuto come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var</a:t>
            </a:r>
            <a:r>
              <a:rPr lang="it-IT" sz="1800" dirty="0">
                <a:effectLst/>
                <a:latin typeface="Times New Roman" panose="02020603050405020304" pitchFamily="18" charset="0"/>
                <a:ea typeface="Times New Roman" panose="02020603050405020304" pitchFamily="18" charset="0"/>
              </a:rPr>
              <a:t>, dal nome della parola utilizzata per l’implementazione.</a:t>
            </a:r>
          </a:p>
        </p:txBody>
      </p:sp>
      <p:sp>
        <p:nvSpPr>
          <p:cNvPr id="4" name="Segnaposto numero diapositiva 3"/>
          <p:cNvSpPr>
            <a:spLocks noGrp="1"/>
          </p:cNvSpPr>
          <p:nvPr>
            <p:ph type="sldNum" sz="quarter" idx="5"/>
          </p:nvPr>
        </p:nvSpPr>
        <p:spPr/>
        <p:txBody>
          <a:bodyPr/>
          <a:lstStyle/>
          <a:p>
            <a:fld id="{545D8BF2-49EE-4CE2-A2D7-61B744D1E4D9}" type="slidenum">
              <a:rPr lang="it-IT" smtClean="0"/>
              <a:t>2</a:t>
            </a:fld>
            <a:endParaRPr lang="it-IT"/>
          </a:p>
        </p:txBody>
      </p:sp>
    </p:spTree>
    <p:extLst>
      <p:ext uri="{BB962C8B-B14F-4D97-AF65-F5344CB8AC3E}">
        <p14:creationId xmlns:p14="http://schemas.microsoft.com/office/powerpoint/2010/main" val="11240159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In questa prima parte, andremo a presentare la lista degli </a:t>
            </a:r>
            <a:r>
              <a:rPr lang="it-IT" sz="1800" b="1" dirty="0">
                <a:effectLst/>
                <a:latin typeface="Times New Roman" panose="02020603050405020304" pitchFamily="18" charset="0"/>
                <a:ea typeface="Times New Roman" panose="02020603050405020304" pitchFamily="18" charset="0"/>
              </a:rPr>
              <a:t>operatori</a:t>
            </a:r>
            <a:r>
              <a:rPr lang="it-IT" sz="1800" dirty="0">
                <a:effectLst/>
                <a:latin typeface="Times New Roman" panose="02020603050405020304" pitchFamily="18" charset="0"/>
                <a:ea typeface="Times New Roman" panose="02020603050405020304" pitchFamily="18" charset="0"/>
              </a:rPr>
              <a:t> </a:t>
            </a:r>
            <a:r>
              <a:rPr lang="it-IT" sz="1800" b="1" dirty="0">
                <a:effectLst/>
                <a:latin typeface="Times New Roman" panose="02020603050405020304" pitchFamily="18" charset="0"/>
                <a:ea typeface="Times New Roman" panose="02020603050405020304" pitchFamily="18" charset="0"/>
              </a:rPr>
              <a:t>di base</a:t>
            </a:r>
            <a:r>
              <a:rPr lang="it-IT" sz="1800" dirty="0">
                <a:effectLst/>
                <a:latin typeface="Times New Roman" panose="02020603050405020304" pitchFamily="18" charset="0"/>
                <a:ea typeface="Times New Roman" panose="02020603050405020304" pitchFamily="18" charset="0"/>
              </a:rPr>
              <a:t> che Java mette a disposizione. Solitamente, gli operatori vengono definiti mediante simboli, ma in Java, sono considerati operatori anche alcuni parole chiave costituite da caratteri, per esempio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new</a:t>
            </a:r>
            <a:r>
              <a:rPr lang="it-IT" sz="1800" dirty="0">
                <a:effectLst/>
                <a:latin typeface="Times New Roman" panose="02020603050405020304" pitchFamily="18" charset="0"/>
                <a:ea typeface="Times New Roman" panose="02020603050405020304" pitchFamily="18" charset="0"/>
              </a:rPr>
              <a:t>. In questa sezione del libro, ci concentreremo solo sugli operatori principali rappresentati con simboli, altri saranno trattati a momento debito in altri capitoli. </a:t>
            </a:r>
          </a:p>
          <a:p>
            <a:r>
              <a:rPr lang="it-IT" sz="1800" dirty="0">
                <a:effectLst/>
                <a:latin typeface="Times New Roman" panose="02020603050405020304" pitchFamily="18" charset="0"/>
                <a:ea typeface="Times New Roman" panose="02020603050405020304" pitchFamily="18" charset="0"/>
              </a:rPr>
              <a:t>Gli operatori si dividono in </a:t>
            </a:r>
            <a:r>
              <a:rPr lang="it-IT" sz="1800" b="1" dirty="0">
                <a:effectLst/>
                <a:latin typeface="Times New Roman" panose="02020603050405020304" pitchFamily="18" charset="0"/>
                <a:ea typeface="Times New Roman" panose="02020603050405020304" pitchFamily="18" charset="0"/>
              </a:rPr>
              <a:t>binari</a:t>
            </a:r>
            <a:r>
              <a:rPr lang="it-IT" sz="1800" dirty="0">
                <a:effectLst/>
                <a:latin typeface="Times New Roman" panose="02020603050405020304" pitchFamily="18" charset="0"/>
                <a:ea typeface="Times New Roman" panose="02020603050405020304" pitchFamily="18" charset="0"/>
              </a:rPr>
              <a:t> (ovvero che fanno operazioni con due operandi) ed </a:t>
            </a:r>
            <a:r>
              <a:rPr lang="it-IT" sz="1800" b="1" dirty="0">
                <a:effectLst/>
                <a:latin typeface="Times New Roman" panose="02020603050405020304" pitchFamily="18" charset="0"/>
                <a:ea typeface="Times New Roman" panose="02020603050405020304" pitchFamily="18" charset="0"/>
              </a:rPr>
              <a:t>unari</a:t>
            </a:r>
            <a:r>
              <a:rPr lang="it-IT" sz="1800" dirty="0">
                <a:effectLst/>
                <a:latin typeface="Times New Roman" panose="02020603050405020304" pitchFamily="18" charset="0"/>
                <a:ea typeface="Times New Roman" panose="02020603050405020304" pitchFamily="18" charset="0"/>
              </a:rPr>
              <a:t> (ovvero che fanno operazioni con un solo operando). Esiste anche un unico operatore ternario che vedremo nel paragrafo 4.3.4.</a:t>
            </a:r>
          </a:p>
          <a:p>
            <a:r>
              <a:rPr lang="it-IT" sz="1800" b="1" dirty="0">
                <a:effectLst/>
                <a:latin typeface="Times New Roman" panose="02020603050405020304" pitchFamily="18" charset="0"/>
                <a:ea typeface="Times New Roman" panose="02020603050405020304" pitchFamily="18" charset="0"/>
              </a:rPr>
              <a:t>(ICONA BEST PRACTICE)</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 whitespace che dividono un operatore da un operando, sono opzionali. Solitamente però, si preferisce usare un unico spazio bianco per separare operatori ed operandi. </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Ovviamente almeno un whitespace è necessario nel caso di operatori letterali come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new</a:t>
            </a:r>
            <a:r>
              <a:rPr lang="it-IT" sz="1800" b="1" dirty="0">
                <a:solidFill>
                  <a:srgbClr val="000000"/>
                </a:solidFill>
                <a:effectLst/>
                <a:latin typeface="Times New Roman" panose="02020603050405020304" pitchFamily="18" charset="0"/>
                <a:ea typeface="Times New Roman" panose="02020603050405020304" pitchFamily="18" charset="0"/>
              </a:rPr>
              <a:t>.</a:t>
            </a:r>
          </a:p>
          <a:p>
            <a:r>
              <a:rPr lang="it-IT" sz="1800" b="1" dirty="0">
                <a:effectLst/>
                <a:latin typeface="Times New Roman" panose="02020603050405020304" pitchFamily="18" charset="0"/>
                <a:ea typeface="Times New Roman" panose="02020603050405020304" pitchFamily="18" charset="0"/>
              </a:rPr>
              <a:t>(ICONA CURIOSITÀ)</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È lecito utilizzare gli operatori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anche con il numero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a:t>
            </a:r>
          </a:p>
          <a:p>
            <a:r>
              <a:rPr lang="it-IT" sz="1800" dirty="0">
                <a:solidFill>
                  <a:srgbClr val="000000"/>
                </a:solidFill>
                <a:effectLst/>
                <a:latin typeface="Courier New" panose="02070309020205020404" pitchFamily="49" charset="0"/>
                <a:ea typeface="Times New Roman" panose="02020603050405020304" pitchFamily="18" charset="0"/>
              </a:rPr>
              <a:t>int </a:t>
            </a:r>
            <a:r>
              <a:rPr lang="it-IT" sz="1800" dirty="0" err="1">
                <a:solidFill>
                  <a:srgbClr val="000000"/>
                </a:solidFill>
                <a:effectLst/>
                <a:latin typeface="Courier New" panose="02070309020205020404" pitchFamily="49" charset="0"/>
                <a:ea typeface="Times New Roman" panose="02020603050405020304" pitchFamily="18" charset="0"/>
              </a:rPr>
              <a:t>negativeZero</a:t>
            </a:r>
            <a:r>
              <a:rPr lang="it-IT" sz="1800" dirty="0">
                <a:solidFill>
                  <a:srgbClr val="000000"/>
                </a:solidFill>
                <a:effectLst/>
                <a:latin typeface="Courier New" panose="02070309020205020404" pitchFamily="49" charset="0"/>
                <a:ea typeface="Times New Roman" panose="02020603050405020304" pitchFamily="18" charset="0"/>
              </a:rPr>
              <a:t> = -0;</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int </a:t>
            </a:r>
            <a:r>
              <a:rPr lang="it-IT" sz="1800" dirty="0" err="1">
                <a:solidFill>
                  <a:srgbClr val="000000"/>
                </a:solidFill>
                <a:effectLst/>
                <a:latin typeface="Courier New" panose="02070309020205020404" pitchFamily="49" charset="0"/>
                <a:ea typeface="Times New Roman" panose="02020603050405020304" pitchFamily="18" charset="0"/>
              </a:rPr>
              <a:t>positiveZero</a:t>
            </a:r>
            <a:r>
              <a:rPr lang="it-IT" sz="1800" dirty="0">
                <a:solidFill>
                  <a:srgbClr val="000000"/>
                </a:solidFill>
                <a:effectLst/>
                <a:latin typeface="Courier New" panose="02070309020205020404" pitchFamily="49" charset="0"/>
                <a:ea typeface="Times New Roman" panose="02020603050405020304" pitchFamily="18" charset="0"/>
              </a:rPr>
              <a:t> = +0;</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ovviamente il valore di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non cambia!</a:t>
            </a:r>
          </a:p>
          <a:p>
            <a:pPr marL="914400"/>
            <a:endParaRPr lang="it-IT" sz="1800" b="1"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3</a:t>
            </a:fld>
            <a:endParaRPr lang="it-IT"/>
          </a:p>
        </p:txBody>
      </p:sp>
    </p:spTree>
    <p:extLst>
      <p:ext uri="{BB962C8B-B14F-4D97-AF65-F5344CB8AC3E}">
        <p14:creationId xmlns:p14="http://schemas.microsoft.com/office/powerpoint/2010/main" val="5723473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914400"/>
            <a:r>
              <a:rPr lang="it-IT" sz="1800" b="1" dirty="0">
                <a:solidFill>
                  <a:srgbClr val="000000"/>
                </a:solidFill>
                <a:effectLst/>
                <a:latin typeface="Times New Roman" panose="02020603050405020304" pitchFamily="18" charset="0"/>
                <a:ea typeface="Times New Roman" panose="02020603050405020304" pitchFamily="18" charset="0"/>
              </a:rPr>
              <a:t>Si noti, che le parentesi tonde che abbiamo specificato nell’ultimo caso, anche se ridondanti, non sono casuali (vedi paragrafo 4.1.7).</a:t>
            </a:r>
            <a:endParaRPr lang="it-IT" sz="1800" b="1" dirty="0">
              <a:effectLst/>
              <a:latin typeface="Times New Roman" panose="02020603050405020304" pitchFamily="18" charset="0"/>
              <a:ea typeface="Times New Roman" panose="02020603050405020304" pitchFamily="18" charset="0"/>
            </a:endParaRPr>
          </a:p>
          <a:p>
            <a:r>
              <a:rPr lang="it-IT" sz="1800" b="1" dirty="0">
                <a:effectLst/>
                <a:latin typeface="Times New Roman" panose="02020603050405020304" pitchFamily="18" charset="0"/>
                <a:ea typeface="Times New Roman" panose="02020603050405020304" pitchFamily="18" charset="0"/>
              </a:rPr>
              <a:t>(ICONA USATO RARAMENTE)</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Esistono anche altri operatori di assegnazione composti, che però riguardano operazioni sui bit della rappresentazione di un numero intero (operatori bitwise), a cui è dedicato l’approfondimento 4.2. L’utilizzo di questi operatori è rarissimo. </a:t>
            </a:r>
            <a:r>
              <a:rPr lang="it-IT" sz="1800" b="1" dirty="0">
                <a:effectLst/>
                <a:latin typeface="Times New Roman" panose="02020603050405020304" pitchFamily="18" charset="0"/>
                <a:ea typeface="Times New Roman" panose="02020603050405020304" pitchFamily="18" charset="0"/>
              </a:rPr>
              <a:t>[ICONA APPROFONDIMENTO 4.2]</a:t>
            </a:r>
          </a:p>
          <a:p>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Notiamo che nei casi in cui ce n’è bisogno, questo operatore esegue un cast implicitamente. Per esempio se consideriamo la seguente dichiarazione di una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b</a:t>
            </a:r>
            <a:r>
              <a:rPr lang="it-IT" sz="1800" dirty="0">
                <a:effectLst/>
                <a:latin typeface="Times New Roman" panose="02020603050405020304" pitchFamily="18" charset="0"/>
                <a:ea typeface="Times New Roman" panose="02020603050405020304" pitchFamily="18" charset="0"/>
              </a:rPr>
              <a:t> di tipo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byte</a:t>
            </a:r>
            <a:r>
              <a:rPr lang="it-IT" sz="1800" dirty="0">
                <a:effectLst/>
                <a:latin typeface="Times New Roman" panose="02020603050405020304" pitchFamily="18" charset="0"/>
                <a:ea typeface="Times New Roman" panose="02020603050405020304" pitchFamily="18" charset="0"/>
              </a:rPr>
              <a:t>:</a:t>
            </a:r>
          </a:p>
          <a:p>
            <a:r>
              <a:rPr lang="it-IT" sz="1800" dirty="0">
                <a:solidFill>
                  <a:srgbClr val="000000"/>
                </a:solidFill>
                <a:effectLst/>
                <a:latin typeface="Courier New" panose="02070309020205020404" pitchFamily="49" charset="0"/>
                <a:ea typeface="Times New Roman" panose="02020603050405020304" pitchFamily="18" charset="0"/>
              </a:rPr>
              <a:t>byte b = 0;</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la seguente istruzione:</a:t>
            </a:r>
          </a:p>
          <a:p>
            <a:r>
              <a:rPr lang="it-IT" sz="1800" dirty="0">
                <a:solidFill>
                  <a:srgbClr val="000000"/>
                </a:solidFill>
                <a:effectLst/>
                <a:latin typeface="Courier New" panose="02070309020205020404" pitchFamily="49" charset="0"/>
                <a:ea typeface="Times New Roman" panose="02020603050405020304" pitchFamily="18" charset="0"/>
              </a:rPr>
              <a:t>b += 8;</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verrà implicitamente tradotta in:</a:t>
            </a:r>
          </a:p>
          <a:p>
            <a:r>
              <a:rPr lang="it-IT" sz="1800" dirty="0">
                <a:solidFill>
                  <a:srgbClr val="000000"/>
                </a:solidFill>
                <a:effectLst/>
                <a:latin typeface="Courier New" panose="02070309020205020404" pitchFamily="49" charset="0"/>
                <a:ea typeface="Times New Roman" panose="02020603050405020304" pitchFamily="18" charset="0"/>
              </a:rPr>
              <a:t>b = (byte)(b+8);</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Infatti, per quanto visto nel capitolo precedente, la somma tra il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byte</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b</a:t>
            </a:r>
            <a:r>
              <a:rPr lang="it-IT" sz="1800" dirty="0">
                <a:effectLst/>
                <a:latin typeface="Times New Roman" panose="02020603050405020304" pitchFamily="18" charset="0"/>
                <a:ea typeface="Times New Roman" panose="02020603050405020304" pitchFamily="18" charset="0"/>
              </a:rPr>
              <a:t> e l’intero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8</a:t>
            </a:r>
            <a:r>
              <a:rPr lang="it-IT" sz="1800" dirty="0">
                <a:effectLst/>
                <a:latin typeface="Times New Roman" panose="02020603050405020304" pitchFamily="18" charset="0"/>
                <a:ea typeface="Times New Roman" panose="02020603050405020304" pitchFamily="18" charset="0"/>
              </a:rPr>
              <a:t>, darebbe luogo al fenomeno della </a:t>
            </a:r>
            <a:r>
              <a:rPr lang="it-IT" sz="1800" i="1" dirty="0">
                <a:effectLst/>
                <a:latin typeface="Times New Roman" panose="02020603050405020304" pitchFamily="18" charset="0"/>
                <a:ea typeface="Times New Roman" panose="02020603050405020304" pitchFamily="18" charset="0"/>
              </a:rPr>
              <a:t>promozione automatica nelle espressioni</a:t>
            </a:r>
            <a:r>
              <a:rPr lang="it-IT" sz="1800" dirty="0">
                <a:effectLst/>
                <a:latin typeface="Times New Roman" panose="02020603050405020304" pitchFamily="18" charset="0"/>
                <a:ea typeface="Times New Roman" panose="02020603050405020304" pitchFamily="18" charset="0"/>
              </a:rPr>
              <a:t>, che avrebbe promosso il risultato dell’operazione ad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 che non avrebbe potuto essere immagazzinato in un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byte</a:t>
            </a:r>
            <a:r>
              <a:rPr lang="it-IT" sz="1800" dirty="0">
                <a:effectLst/>
                <a:latin typeface="Times New Roman" panose="02020603050405020304" pitchFamily="18" charset="0"/>
                <a:ea typeface="Times New Roman" panose="02020603050405020304" pitchFamily="18" charset="0"/>
              </a:rPr>
              <a:t> senza un cast. Quindi, un operatore composto, applicando il cast implicitamente, potrebbe impattare sul risultato dell’operazione. Infatti, come abbiamo visto nel capitolo precedente, il seguente snippet:</a:t>
            </a:r>
          </a:p>
          <a:p>
            <a:r>
              <a:rPr lang="it-IT" sz="1800" dirty="0">
                <a:solidFill>
                  <a:srgbClr val="000000"/>
                </a:solidFill>
                <a:effectLst/>
                <a:latin typeface="Courier New" panose="02070309020205020404" pitchFamily="49" charset="0"/>
                <a:ea typeface="Times New Roman" panose="02020603050405020304" pitchFamily="18" charset="0"/>
              </a:rPr>
              <a:t>byte b = 127;</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b += 1;</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System.out.println(b);</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stamperà il risultato scorretto:</a:t>
            </a:r>
          </a:p>
          <a:p>
            <a:pPr marL="457200" algn="just"/>
            <a:r>
              <a:rPr lang="it-IT" sz="1800" dirty="0">
                <a:solidFill>
                  <a:srgbClr val="FFFFFF"/>
                </a:solidFill>
                <a:effectLst/>
                <a:latin typeface="Courier New" panose="02070309020205020404" pitchFamily="49" charset="0"/>
                <a:ea typeface="MS Mincho" panose="02020609040205080304" pitchFamily="49" charset="-128"/>
              </a:rPr>
              <a:t>-128</a:t>
            </a:r>
            <a:endParaRPr lang="it-IT" sz="1800" dirty="0">
              <a:solidFill>
                <a:srgbClr val="008000"/>
              </a:solidFill>
              <a:effectLst/>
              <a:latin typeface="Times New Roman" panose="02020603050405020304" pitchFamily="18" charset="0"/>
              <a:ea typeface="Times New Roman" panose="02020603050405020304" pitchFamily="18" charset="0"/>
            </a:endParaRPr>
          </a:p>
          <a:p>
            <a:endParaRPr lang="it-IT" sz="1800"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4</a:t>
            </a:fld>
            <a:endParaRPr lang="it-IT"/>
          </a:p>
        </p:txBody>
      </p:sp>
    </p:spTree>
    <p:extLst>
      <p:ext uri="{BB962C8B-B14F-4D97-AF65-F5344CB8AC3E}">
        <p14:creationId xmlns:p14="http://schemas.microsoft.com/office/powerpoint/2010/main" val="40892276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Se vogliamo incrementare di una sola unità una variabile numerica, possiamo scrivere equivalentemente:</a:t>
            </a:r>
          </a:p>
          <a:p>
            <a:r>
              <a:rPr lang="it-IT" sz="1800" dirty="0">
                <a:solidFill>
                  <a:srgbClr val="000000"/>
                </a:solidFill>
                <a:effectLst/>
                <a:latin typeface="Courier New" panose="02070309020205020404" pitchFamily="49" charset="0"/>
                <a:ea typeface="Times New Roman" panose="02020603050405020304" pitchFamily="18" charset="0"/>
              </a:rPr>
              <a:t>i = i + 1;</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oppure:</a:t>
            </a:r>
          </a:p>
          <a:p>
            <a:r>
              <a:rPr lang="it-IT" sz="1800" dirty="0">
                <a:solidFill>
                  <a:srgbClr val="000000"/>
                </a:solidFill>
                <a:effectLst/>
                <a:latin typeface="Courier New" panose="02070309020205020404" pitchFamily="49" charset="0"/>
                <a:ea typeface="Times New Roman" panose="02020603050405020304" pitchFamily="18" charset="0"/>
              </a:rPr>
              <a:t>i += 1;</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ma anche:</a:t>
            </a:r>
          </a:p>
          <a:p>
            <a:r>
              <a:rPr lang="it-IT" sz="1800" dirty="0">
                <a:solidFill>
                  <a:srgbClr val="000000"/>
                </a:solidFill>
                <a:effectLst/>
                <a:latin typeface="Courier New" panose="02070309020205020404" pitchFamily="49" charset="0"/>
                <a:ea typeface="Times New Roman" panose="02020603050405020304" pitchFamily="18" charset="0"/>
              </a:rPr>
              <a:t>i++;</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oppure:</a:t>
            </a:r>
          </a:p>
          <a:p>
            <a:r>
              <a:rPr lang="it-IT" sz="1800" dirty="0">
                <a:solidFill>
                  <a:srgbClr val="000000"/>
                </a:solidFill>
                <a:effectLst/>
                <a:latin typeface="Courier New" panose="02070309020205020404" pitchFamily="49" charset="0"/>
                <a:ea typeface="Times New Roman" panose="02020603050405020304" pitchFamily="18" charset="0"/>
              </a:rPr>
              <a:t>++i;</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ottenendo comunque lo stesso risultato. Infatti, in tutti i casi, otterremo che il valore della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a:t>
            </a:r>
            <a:r>
              <a:rPr lang="it-IT" sz="1800" dirty="0">
                <a:effectLst/>
                <a:latin typeface="Times New Roman" panose="02020603050405020304" pitchFamily="18" charset="0"/>
                <a:ea typeface="Times New Roman" panose="02020603050405020304" pitchFamily="18" charset="0"/>
              </a:rPr>
              <a:t>, è stato incrementato di un’unità, ed assegnato nuovamente alla variabile stessa. Quindi, anche questi operatori svolgono due compiti (incremento ed assegnazione). Parleremo di </a:t>
            </a:r>
            <a:r>
              <a:rPr lang="it-IT" sz="1800" b="1" dirty="0">
                <a:effectLst/>
                <a:latin typeface="Times New Roman" panose="02020603050405020304" pitchFamily="18" charset="0"/>
                <a:ea typeface="Times New Roman" panose="02020603050405020304" pitchFamily="18" charset="0"/>
              </a:rPr>
              <a:t>operatore di pre-incremento</a:t>
            </a:r>
            <a:r>
              <a:rPr lang="it-IT" sz="1800" dirty="0">
                <a:effectLst/>
                <a:latin typeface="Times New Roman" panose="02020603050405020304" pitchFamily="18" charset="0"/>
                <a:ea typeface="Times New Roman" panose="02020603050405020304" pitchFamily="18" charset="0"/>
              </a:rPr>
              <a:t>, quando anteponiamo l’operatore d’incremento ++ alla variabile. Parleremo invece di </a:t>
            </a:r>
            <a:r>
              <a:rPr lang="it-IT" sz="1800" b="1" dirty="0">
                <a:effectLst/>
                <a:latin typeface="Times New Roman" panose="02020603050405020304" pitchFamily="18" charset="0"/>
                <a:ea typeface="Times New Roman" panose="02020603050405020304" pitchFamily="18" charset="0"/>
              </a:rPr>
              <a:t>operatore di post-incremento</a:t>
            </a:r>
            <a:r>
              <a:rPr lang="it-IT" sz="1800" dirty="0">
                <a:effectLst/>
                <a:latin typeface="Times New Roman" panose="02020603050405020304" pitchFamily="18" charset="0"/>
                <a:ea typeface="Times New Roman" panose="02020603050405020304" pitchFamily="18" charset="0"/>
              </a:rPr>
              <a:t> quando posponiamo l’operatore di incremento alla variabile. La differenza tra questi due operatori composti, consiste essenzialmente nelle priorità che essi hanno rispetto all’operatore di assegnazione. L’operatore di pre-incremento ha maggiore priorità dell’operatore di assegnazione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L’operatore di post-incremento ha minor priorità rispetto all’operatore di assegnazione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Ovviamente le stesse regole valgono per gli </a:t>
            </a:r>
            <a:r>
              <a:rPr lang="it-IT" sz="1800" b="1" dirty="0">
                <a:effectLst/>
                <a:latin typeface="Times New Roman" panose="02020603050405020304" pitchFamily="18" charset="0"/>
                <a:ea typeface="Times New Roman" panose="02020603050405020304" pitchFamily="18" charset="0"/>
              </a:rPr>
              <a:t>operatori di pre-decremento</a:t>
            </a:r>
            <a:r>
              <a:rPr lang="it-IT" sz="1800" dirty="0">
                <a:effectLst/>
                <a:latin typeface="Times New Roman" panose="02020603050405020304" pitchFamily="18" charset="0"/>
                <a:ea typeface="Times New Roman" panose="02020603050405020304" pitchFamily="18" charset="0"/>
              </a:rPr>
              <a:t> e </a:t>
            </a:r>
            <a:r>
              <a:rPr lang="it-IT" sz="1800" b="1" dirty="0">
                <a:effectLst/>
                <a:latin typeface="Times New Roman" panose="02020603050405020304" pitchFamily="18" charset="0"/>
                <a:ea typeface="Times New Roman" panose="02020603050405020304" pitchFamily="18" charset="0"/>
              </a:rPr>
              <a:t>post-decremento</a:t>
            </a:r>
            <a:r>
              <a:rPr lang="it-IT" sz="1800" dirty="0">
                <a:effectLst/>
                <a:latin typeface="Times New Roman" panose="02020603050405020304" pitchFamily="18" charset="0"/>
                <a:ea typeface="Times New Roman" panose="02020603050405020304" pitchFamily="18" charset="0"/>
              </a:rPr>
              <a:t>. La differenza quindi, è percettibile solo quando tali operatori sono presenti nello stesso statement dove è presente un’assegnazione.</a:t>
            </a:r>
          </a:p>
          <a:p>
            <a:r>
              <a:rPr lang="it-IT" sz="1800" dirty="0">
                <a:effectLst/>
                <a:latin typeface="Times New Roman" panose="02020603050405020304" pitchFamily="18" charset="0"/>
                <a:ea typeface="Times New Roman" panose="02020603050405020304" pitchFamily="18" charset="0"/>
              </a:rPr>
              <a:t>Presentiamo un paio di esempi per rendere evidente la differenza tra i due operatori. Il seguente codice utilizza l’operatore di pre-incremento:</a:t>
            </a:r>
          </a:p>
          <a:p>
            <a:r>
              <a:rPr lang="it-IT" sz="1800" dirty="0">
                <a:solidFill>
                  <a:srgbClr val="000000"/>
                </a:solidFill>
                <a:effectLst/>
                <a:latin typeface="Courier New" panose="02070309020205020404" pitchFamily="49" charset="0"/>
                <a:ea typeface="Times New Roman" panose="02020603050405020304" pitchFamily="18" charset="0"/>
              </a:rPr>
              <a:t>int x = 5;</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int y = ++x;</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Dopo l’esecuzione delle precedenti istruzioni avremo che:</a:t>
            </a:r>
          </a:p>
          <a:p>
            <a:r>
              <a:rPr lang="it-IT" sz="1800" dirty="0">
                <a:solidFill>
                  <a:srgbClr val="000000"/>
                </a:solidFill>
                <a:effectLst/>
                <a:latin typeface="Courier New" panose="02070309020205020404" pitchFamily="49" charset="0"/>
                <a:ea typeface="Times New Roman" panose="02020603050405020304" pitchFamily="18" charset="0"/>
              </a:rPr>
              <a:t>x = 6</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y = 6</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Infatti, nella seconda istruzione, verrà prima eseguita l’operazione di pre-incremento che cambierà il valore della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x</a:t>
            </a:r>
            <a:r>
              <a:rPr lang="it-IT" sz="1800" dirty="0">
                <a:effectLst/>
                <a:latin typeface="Times New Roman" panose="02020603050405020304" pitchFamily="18" charset="0"/>
                <a:ea typeface="Times New Roman" panose="02020603050405020304" pitchFamily="18" charset="0"/>
              </a:rPr>
              <a:t>, e poi tale valore verrà assegnato ad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y</a:t>
            </a:r>
            <a:r>
              <a:rPr lang="it-IT" sz="1800" dirty="0">
                <a:effectLst/>
                <a:latin typeface="Times New Roman" panose="02020603050405020304" pitchFamily="18" charset="0"/>
                <a:ea typeface="Times New Roman" panose="02020603050405020304" pitchFamily="18" charset="0"/>
              </a:rPr>
              <a:t>. </a:t>
            </a:r>
          </a:p>
          <a:p>
            <a:r>
              <a:rPr lang="it-IT" sz="1800" dirty="0">
                <a:effectLst/>
                <a:latin typeface="Times New Roman" panose="02020603050405020304" pitchFamily="18" charset="0"/>
                <a:ea typeface="Times New Roman" panose="02020603050405020304" pitchFamily="18" charset="0"/>
              </a:rPr>
              <a:t>Il seguente codice invece utilizza l’operatore di post-incremento:</a:t>
            </a:r>
          </a:p>
          <a:p>
            <a:r>
              <a:rPr lang="it-IT" sz="1800" dirty="0">
                <a:solidFill>
                  <a:srgbClr val="000000"/>
                </a:solidFill>
                <a:effectLst/>
                <a:latin typeface="Courier New" panose="02070309020205020404" pitchFamily="49" charset="0"/>
                <a:ea typeface="Times New Roman" panose="02020603050405020304" pitchFamily="18" charset="0"/>
              </a:rPr>
              <a:t>x = 5;</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y = x++;</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 questo caso avremo che:</a:t>
            </a:r>
          </a:p>
          <a:p>
            <a:r>
              <a:rPr lang="it-IT" sz="1800" dirty="0">
                <a:solidFill>
                  <a:srgbClr val="000000"/>
                </a:solidFill>
                <a:effectLst/>
                <a:latin typeface="Courier New" panose="02070309020205020404" pitchFamily="49" charset="0"/>
                <a:ea typeface="Times New Roman" panose="02020603050405020304" pitchFamily="18" charset="0"/>
              </a:rPr>
              <a:t>x = 6</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y = 5</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 questo caso infatti, l’operatore di assegnazione ha maggiore priorità rispetto all’operatore di post-incremento, e quindi nella seconda istruzione, verrà prima assegnato il valore della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x</a:t>
            </a:r>
            <a:r>
              <a:rPr lang="it-IT" sz="1800" dirty="0">
                <a:effectLst/>
                <a:latin typeface="Times New Roman" panose="02020603050405020304" pitchFamily="18" charset="0"/>
                <a:ea typeface="Times New Roman" panose="02020603050405020304" pitchFamily="18" charset="0"/>
              </a:rPr>
              <a:t> ad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y</a:t>
            </a:r>
            <a:r>
              <a:rPr lang="it-IT" sz="1800" dirty="0">
                <a:effectLst/>
                <a:latin typeface="Times New Roman" panose="02020603050405020304" pitchFamily="18" charset="0"/>
                <a:ea typeface="Times New Roman" panose="02020603050405020304" pitchFamily="18" charset="0"/>
              </a:rPr>
              <a:t> (ovvero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5</a:t>
            </a:r>
            <a:r>
              <a:rPr lang="it-IT" sz="1800" dirty="0">
                <a:effectLst/>
                <a:latin typeface="Times New Roman" panose="02020603050405020304" pitchFamily="18" charset="0"/>
                <a:ea typeface="Times New Roman" panose="02020603050405020304" pitchFamily="18" charset="0"/>
              </a:rPr>
              <a:t>), e poi il valore di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x</a:t>
            </a:r>
            <a:r>
              <a:rPr lang="it-IT" sz="1800" dirty="0">
                <a:effectLst/>
                <a:latin typeface="Times New Roman" panose="02020603050405020304" pitchFamily="18" charset="0"/>
                <a:ea typeface="Times New Roman" panose="02020603050405020304" pitchFamily="18" charset="0"/>
              </a:rPr>
              <a:t> verrà incrementato 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6</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Anche questi operatori sono </a:t>
            </a:r>
            <a:r>
              <a:rPr lang="it-IT" sz="1800" i="1" dirty="0">
                <a:effectLst/>
                <a:latin typeface="Times New Roman" panose="02020603050405020304" pitchFamily="18" charset="0"/>
                <a:ea typeface="Times New Roman" panose="02020603050405020304" pitchFamily="18" charset="0"/>
              </a:rPr>
              <a:t>operatori di assegnazione composti</a:t>
            </a:r>
            <a:r>
              <a:rPr lang="it-IT" sz="1800" dirty="0">
                <a:effectLst/>
                <a:latin typeface="Times New Roman" panose="02020603050405020304" pitchFamily="18" charset="0"/>
                <a:ea typeface="Times New Roman" panose="02020603050405020304" pitchFamily="18" charset="0"/>
              </a:rPr>
              <a:t> come quelli che abbiamo visto nel paragrafo precedente. Quindi anche per questi operatori, nei casi in cui ce ne fosse bisogno, avverrà un cast implicito al tipo su cui è stata eseguita l’operazione. Per esempio il seguente snippet viene compilato ed eseguito correttamente (eludendo un’eventuale promozione automatica ad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a:t>
            </a:r>
          </a:p>
          <a:p>
            <a:r>
              <a:rPr lang="it-IT" sz="1800" dirty="0">
                <a:solidFill>
                  <a:srgbClr val="000000"/>
                </a:solidFill>
                <a:effectLst/>
                <a:latin typeface="Courier New" panose="02070309020205020404" pitchFamily="49" charset="0"/>
                <a:ea typeface="Times New Roman" panose="02020603050405020304" pitchFamily="18" charset="0"/>
              </a:rPr>
              <a:t>byte b = 1;</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b++; //equivalente a b += 1 che è equivalente a b = (byte)(b+1)</a:t>
            </a:r>
            <a:endParaRPr lang="it-IT" sz="1800" dirty="0">
              <a:effectLst/>
              <a:latin typeface="Courier New" panose="02070309020205020404" pitchFamily="49"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5</a:t>
            </a:fld>
            <a:endParaRPr lang="it-IT"/>
          </a:p>
        </p:txBody>
      </p:sp>
    </p:spTree>
    <p:extLst>
      <p:ext uri="{BB962C8B-B14F-4D97-AF65-F5344CB8AC3E}">
        <p14:creationId xmlns:p14="http://schemas.microsoft.com/office/powerpoint/2010/main" val="15638861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Il loro funzionamento è molto intuitivo, tuttavia la loro importanza sarà evidente solo dopo aver studiato la seconda parte di questo capitolo. Con qualche esempio dovremmo chiarire il loro funzionamento. Consideriamo il seguente statement:</a:t>
            </a:r>
          </a:p>
          <a:p>
            <a:r>
              <a:rPr lang="it-IT" sz="1800" dirty="0">
                <a:solidFill>
                  <a:srgbClr val="000000"/>
                </a:solidFill>
                <a:effectLst/>
                <a:latin typeface="Courier New" panose="02070309020205020404" pitchFamily="49" charset="0"/>
                <a:ea typeface="Times New Roman" panose="02020603050405020304" pitchFamily="18" charset="0"/>
              </a:rPr>
              <a:t>boolean b = (9 == 9); // b vale true</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Questa istruzione contiene due operatori, un operatore di assegnazione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ed un operatore di confronto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a:t>
            </a:r>
          </a:p>
          <a:p>
            <a:r>
              <a:rPr lang="it-IT" sz="1800" b="1" dirty="0">
                <a:effectLst/>
                <a:latin typeface="Times New Roman" panose="02020603050405020304" pitchFamily="18" charset="0"/>
                <a:ea typeface="Times New Roman" panose="02020603050405020304" pitchFamily="18" charset="0"/>
              </a:rPr>
              <a:t>(COMMON ERROR ICON)</a:t>
            </a:r>
            <a:endParaRPr lang="it-IT" sz="1800" dirty="0">
              <a:effectLst/>
              <a:latin typeface="Times New Roman" panose="02020603050405020304" pitchFamily="18"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Un classico errore dell’aspirante programmatore è confondere l’operatore di assegnazione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r>
              <a:rPr lang="it-IT" sz="1800" b="1" dirty="0">
                <a:solidFill>
                  <a:srgbClr val="000000"/>
                </a:solidFill>
                <a:effectLst/>
                <a:latin typeface="Times New Roman" panose="02020603050405020304" pitchFamily="18" charset="0"/>
                <a:ea typeface="Times New Roman" panose="02020603050405020304" pitchFamily="18" charset="0"/>
              </a:rPr>
              <a:t> e l’operatore di confronto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r>
              <a:rPr lang="it-IT" sz="1800" b="1" dirty="0">
                <a:solidFill>
                  <a:srgbClr val="000000"/>
                </a:solidFill>
                <a:effectLst/>
                <a:latin typeface="Times New Roman" panose="02020603050405020304" pitchFamily="18" charset="0"/>
                <a:ea typeface="Times New Roman" panose="02020603050405020304" pitchFamily="18" charset="0"/>
              </a:rPr>
              <a:t>.</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Si noti che le parentesi servono solo a migliorare la leggibilità del codice. Dal punto di vista della funzionalità sono superflue, perché l’operatore di assegnazione ha sempre minore priorità rispetto agli altri operatori, quindi verrà eseguito per ultimo. </a:t>
            </a:r>
          </a:p>
          <a:p>
            <a:r>
              <a:rPr lang="it-IT" sz="1800" dirty="0">
                <a:effectLst/>
                <a:latin typeface="Times New Roman" panose="02020603050405020304" pitchFamily="18" charset="0"/>
                <a:ea typeface="Times New Roman" panose="02020603050405020304" pitchFamily="18" charset="0"/>
              </a:rPr>
              <a:t>Se consideriamo il seguente snippet:</a:t>
            </a:r>
          </a:p>
          <a:p>
            <a:r>
              <a:rPr lang="it-IT" sz="1800" dirty="0">
                <a:solidFill>
                  <a:srgbClr val="000000"/>
                </a:solidFill>
                <a:effectLst/>
                <a:latin typeface="Courier New" panose="02070309020205020404" pitchFamily="49" charset="0"/>
                <a:ea typeface="Times New Roman" panose="02020603050405020304" pitchFamily="18" charset="0"/>
              </a:rPr>
              <a:t>int i = 10;</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double d = 10.0;</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boolean </a:t>
            </a:r>
            <a:r>
              <a:rPr lang="it-IT" sz="1800" dirty="0">
                <a:solidFill>
                  <a:srgbClr val="000000"/>
                </a:solidFill>
                <a:effectLst/>
                <a:latin typeface="Courier New" panose="02070309020205020404" pitchFamily="49" charset="0"/>
                <a:ea typeface="Times New Roman" panose="02020603050405020304" pitchFamily="18" charset="0"/>
              </a:rPr>
              <a:t>b</a:t>
            </a:r>
            <a:r>
              <a:rPr lang="en-GB" sz="1800" dirty="0">
                <a:solidFill>
                  <a:srgbClr val="000000"/>
                </a:solidFill>
                <a:effectLst/>
                <a:latin typeface="Courier New" panose="02070309020205020404" pitchFamily="49" charset="0"/>
                <a:ea typeface="Times New Roman" panose="02020603050405020304" pitchFamily="18" charset="0"/>
              </a:rPr>
              <a:t>1</a:t>
            </a:r>
            <a:r>
              <a:rPr lang="it-IT" sz="1800" dirty="0">
                <a:solidFill>
                  <a:srgbClr val="000000"/>
                </a:solidFill>
                <a:effectLst/>
                <a:latin typeface="Courier New" panose="02070309020205020404" pitchFamily="49" charset="0"/>
                <a:ea typeface="Times New Roman" panose="02020603050405020304" pitchFamily="18" charset="0"/>
              </a:rPr>
              <a:t> = (i != d)</a:t>
            </a:r>
            <a:r>
              <a:rPr lang="en-GB" sz="1800" dirty="0">
                <a:solidFill>
                  <a:srgbClr val="000000"/>
                </a:solidFill>
                <a:effectLst/>
                <a:latin typeface="Courier New" panose="02070309020205020404" pitchFamily="49" charset="0"/>
                <a:ea typeface="Times New Roman" panose="02020603050405020304" pitchFamily="18" charset="0"/>
              </a:rPr>
              <a:t>;</a:t>
            </a:r>
            <a:r>
              <a:rPr lang="it-IT" sz="1800" dirty="0">
                <a:solidFill>
                  <a:srgbClr val="000000"/>
                </a:solidFill>
                <a:effectLst/>
                <a:latin typeface="Courier New" panose="02070309020205020404" pitchFamily="49" charset="0"/>
                <a:ea typeface="Times New Roman" panose="02020603050405020304" pitchFamily="18" charset="0"/>
              </a:rPr>
              <a:t> // b</a:t>
            </a:r>
            <a:r>
              <a:rPr lang="en-GB" sz="1800" dirty="0">
                <a:solidFill>
                  <a:srgbClr val="000000"/>
                </a:solidFill>
                <a:effectLst/>
                <a:latin typeface="Courier New" panose="02070309020205020404" pitchFamily="49" charset="0"/>
                <a:ea typeface="Times New Roman" panose="02020603050405020304" pitchFamily="18" charset="0"/>
              </a:rPr>
              <a:t>1</a:t>
            </a:r>
            <a:r>
              <a:rPr lang="it-IT" sz="1800" dirty="0">
                <a:solidFill>
                  <a:srgbClr val="000000"/>
                </a:solidFill>
                <a:effectLst/>
                <a:latin typeface="Courier New" panose="02070309020205020404" pitchFamily="49" charset="0"/>
                <a:ea typeface="Times New Roman" panose="02020603050405020304" pitchFamily="18" charset="0"/>
              </a:rPr>
              <a:t> vale false</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la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b1</a:t>
            </a:r>
            <a:r>
              <a:rPr lang="it-IT" sz="1800" dirty="0">
                <a:effectLst/>
                <a:latin typeface="Times New Roman" panose="02020603050405020304" pitchFamily="18" charset="0"/>
                <a:ea typeface="Times New Roman" panose="02020603050405020304" pitchFamily="18" charset="0"/>
              </a:rPr>
              <a:t> vale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false</a:t>
            </a:r>
            <a:r>
              <a:rPr lang="it-IT" sz="1800" dirty="0">
                <a:effectLst/>
                <a:latin typeface="Times New Roman" panose="02020603050405020304" pitchFamily="18" charset="0"/>
                <a:ea typeface="Times New Roman" panose="02020603050405020304" pitchFamily="18" charset="0"/>
              </a:rPr>
              <a:t>, perché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a:t>
            </a:r>
            <a:r>
              <a:rPr lang="it-IT" sz="1800" dirty="0">
                <a:effectLst/>
                <a:latin typeface="Times New Roman" panose="02020603050405020304" pitchFamily="18" charset="0"/>
                <a:ea typeface="Times New Roman" panose="02020603050405020304" pitchFamily="18" charset="0"/>
              </a:rPr>
              <a:t> non è diverso da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a:t>
            </a:r>
            <a:r>
              <a:rPr lang="it-IT" sz="1800" dirty="0">
                <a:effectLst/>
                <a:latin typeface="Times New Roman" panose="02020603050405020304" pitchFamily="18" charset="0"/>
                <a:ea typeface="Times New Roman" panose="02020603050405020304" pitchFamily="18" charset="0"/>
              </a:rPr>
              <a:t> (hanno lo stesso valore nonostante siano di tipo diverso). Quindi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 != d</a:t>
            </a:r>
            <a:r>
              <a:rPr lang="it-IT" sz="1800" dirty="0">
                <a:effectLst/>
                <a:latin typeface="Times New Roman" panose="02020603050405020304" pitchFamily="18" charset="0"/>
                <a:ea typeface="Times New Roman" panose="02020603050405020304" pitchFamily="18" charset="0"/>
              </a:rPr>
              <a:t> vale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false</a:t>
            </a:r>
            <a:r>
              <a:rPr lang="it-IT" sz="1800" dirty="0">
                <a:effectLst/>
                <a:latin typeface="Times New Roman" panose="02020603050405020304" pitchFamily="18" charset="0"/>
                <a:ea typeface="Times New Roman" panose="02020603050405020304" pitchFamily="18" charset="0"/>
              </a:rPr>
              <a:t>, e questo valore viene assegnato 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b1</a:t>
            </a:r>
            <a:r>
              <a:rPr lang="it-IT" sz="1800" dirty="0">
                <a:effectLst/>
                <a:latin typeface="Times New Roman" panose="02020603050405020304" pitchFamily="18" charset="0"/>
                <a:ea typeface="Times New Roman" panose="02020603050405020304" pitchFamily="18" charset="0"/>
              </a:rPr>
              <a:t>. Aggiungiamo alle precedenti, un’istruzione leggermente più complessa, contente due operatori di confronto (che verranno eseguiti prima) e uno di assegnazione:</a:t>
            </a:r>
          </a:p>
          <a:p>
            <a:r>
              <a:rPr lang="en-GB" sz="1800" dirty="0">
                <a:solidFill>
                  <a:srgbClr val="000000"/>
                </a:solidFill>
                <a:effectLst/>
                <a:latin typeface="Courier New" panose="02070309020205020404" pitchFamily="49" charset="0"/>
                <a:ea typeface="Times New Roman" panose="02020603050405020304" pitchFamily="18" charset="0"/>
              </a:rPr>
              <a:t>boolean b2 = b1 == (i &gt;= 11); // b2 vale true</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avremo che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b2</a:t>
            </a:r>
            <a:r>
              <a:rPr lang="it-IT" sz="1800" dirty="0">
                <a:effectLst/>
                <a:latin typeface="Times New Roman" panose="02020603050405020304" pitchFamily="18" charset="0"/>
                <a:ea typeface="Times New Roman" panose="02020603050405020304" pitchFamily="18" charset="0"/>
              </a:rPr>
              <a:t> invece vale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true</a:t>
            </a:r>
            <a:r>
              <a:rPr lang="it-IT" sz="1800" dirty="0">
                <a:effectLst/>
                <a:latin typeface="Times New Roman" panose="02020603050405020304" pitchFamily="18" charset="0"/>
                <a:ea typeface="Times New Roman" panose="02020603050405020304" pitchFamily="18" charset="0"/>
              </a:rPr>
              <a:t>. Infatti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 &gt;= 11</a:t>
            </a:r>
            <a:r>
              <a:rPr lang="it-IT" sz="1800" dirty="0">
                <a:effectLst/>
                <a:latin typeface="Times New Roman" panose="02020603050405020304" pitchFamily="18" charset="0"/>
                <a:ea typeface="Times New Roman" panose="02020603050405020304" pitchFamily="18" charset="0"/>
              </a:rPr>
              <a:t> è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false</a:t>
            </a:r>
            <a:r>
              <a:rPr lang="it-IT" sz="1800" dirty="0">
                <a:effectLst/>
                <a:latin typeface="Times New Roman" panose="02020603050405020304" pitchFamily="18" charset="0"/>
                <a:ea typeface="Times New Roman" panose="02020603050405020304" pitchFamily="18" charset="0"/>
              </a:rPr>
              <a:t>, come lo è anche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b1</a:t>
            </a:r>
            <a:r>
              <a:rPr lang="it-IT" sz="1800" dirty="0">
                <a:effectLst/>
                <a:latin typeface="Times New Roman" panose="02020603050405020304" pitchFamily="18" charset="0"/>
                <a:ea typeface="Times New Roman" panose="02020603050405020304" pitchFamily="18" charset="0"/>
              </a:rPr>
              <a:t> per quanto appena osservato. Quindi l’ultimo statement equivale al seguente:</a:t>
            </a:r>
          </a:p>
          <a:p>
            <a:r>
              <a:rPr lang="it-IT" sz="1800" dirty="0">
                <a:solidFill>
                  <a:srgbClr val="000000"/>
                </a:solidFill>
                <a:effectLst/>
                <a:latin typeface="Courier New" panose="02070309020205020404" pitchFamily="49" charset="0"/>
                <a:ea typeface="Times New Roman" panose="02020603050405020304" pitchFamily="18" charset="0"/>
              </a:rPr>
              <a:t>boolean b2 = false == (false)</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Ma l’ultima operazione della istruzione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false == false</a:t>
            </a:r>
            <a:r>
              <a:rPr lang="it-IT" sz="1800" dirty="0">
                <a:effectLst/>
                <a:latin typeface="Times New Roman" panose="02020603050405020304" pitchFamily="18" charset="0"/>
                <a:ea typeface="Times New Roman" panose="02020603050405020304" pitchFamily="18" charset="0"/>
              </a:rPr>
              <a:t> vale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true</a:t>
            </a:r>
            <a:r>
              <a:rPr lang="it-IT" sz="1800" dirty="0">
                <a:effectLst/>
                <a:latin typeface="Times New Roman" panose="02020603050405020304" pitchFamily="18" charset="0"/>
                <a:ea typeface="Times New Roman" panose="02020603050405020304" pitchFamily="18" charset="0"/>
              </a:rPr>
              <a:t>, e quindi 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b2</a:t>
            </a:r>
            <a:r>
              <a:rPr lang="it-IT" sz="1800" dirty="0">
                <a:effectLst/>
                <a:latin typeface="Times New Roman" panose="02020603050405020304" pitchFamily="18" charset="0"/>
                <a:ea typeface="Times New Roman" panose="02020603050405020304" pitchFamily="18" charset="0"/>
              </a:rPr>
              <a:t> verrà assegnato il valore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true</a:t>
            </a:r>
            <a:r>
              <a:rPr lang="it-IT" sz="1800" dirty="0">
                <a:effectLst/>
                <a:latin typeface="Times New Roman" panose="02020603050405020304" pitchFamily="18" charset="0"/>
                <a:ea typeface="Times New Roman" panose="02020603050405020304" pitchFamily="18" charset="0"/>
              </a:rPr>
              <a:t>.</a:t>
            </a:r>
          </a:p>
          <a:p>
            <a:r>
              <a:rPr lang="it-IT" sz="1800" b="1" dirty="0">
                <a:effectLst/>
                <a:latin typeface="Times New Roman" panose="02020603050405020304" pitchFamily="18" charset="0"/>
                <a:ea typeface="Times New Roman" panose="02020603050405020304" pitchFamily="18" charset="0"/>
              </a:rPr>
              <a:t>(ICONA IMPORTANTE)</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Se confrontiamo due reference con l’operatore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il risultato risulterà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true</a:t>
            </a:r>
            <a:r>
              <a:rPr lang="it-IT" sz="1800" dirty="0">
                <a:effectLst/>
                <a:latin typeface="Times New Roman" panose="02020603050405020304" pitchFamily="18" charset="0"/>
                <a:ea typeface="Times New Roman" panose="02020603050405020304" pitchFamily="18" charset="0"/>
              </a:rPr>
              <a:t> se e solo se i due reference puntano allo stesso oggetto, altrimenti risulterà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false</a:t>
            </a:r>
            <a:r>
              <a:rPr lang="it-IT" sz="1800" dirty="0">
                <a:effectLst/>
                <a:latin typeface="Times New Roman" panose="02020603050405020304" pitchFamily="18" charset="0"/>
                <a:ea typeface="Times New Roman" panose="02020603050405020304" pitchFamily="18" charset="0"/>
              </a:rPr>
              <a:t>. Infatti viene confrontato sempre il valore delle variabili in gioco. Il valore di una variabile reference, come abbiamo visto nel capitolo precedente, è l’indirizzo in memoria dell’oggetto a cui punta. </a:t>
            </a:r>
          </a:p>
          <a:p>
            <a:r>
              <a:rPr lang="it-IT" sz="1800" dirty="0">
                <a:effectLst/>
                <a:latin typeface="Times New Roman" panose="02020603050405020304" pitchFamily="18" charset="0"/>
                <a:ea typeface="Times New Roman" panose="02020603050405020304" pitchFamily="18" charset="0"/>
              </a:rPr>
              <a:t>Quindi se consideriamo la seguente classe:</a:t>
            </a:r>
          </a:p>
          <a:p>
            <a:r>
              <a:rPr lang="en-GB" sz="1800" dirty="0">
                <a:solidFill>
                  <a:srgbClr val="000000"/>
                </a:solidFill>
                <a:effectLst/>
                <a:latin typeface="Courier New" panose="02070309020205020404" pitchFamily="49" charset="0"/>
                <a:ea typeface="Times New Roman" panose="02020603050405020304" pitchFamily="18" charset="0"/>
              </a:rPr>
              <a:t>public class </a:t>
            </a:r>
            <a:r>
              <a:rPr lang="en-GB" sz="1800" dirty="0" err="1">
                <a:solidFill>
                  <a:srgbClr val="000000"/>
                </a:solidFill>
                <a:effectLst/>
                <a:latin typeface="Courier New" panose="02070309020205020404" pitchFamily="49" charset="0"/>
                <a:ea typeface="Times New Roman" panose="02020603050405020304" pitchFamily="18" charset="0"/>
              </a:rPr>
              <a:t>Alunno</a:t>
            </a:r>
            <a:r>
              <a:rPr lang="en-GB"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public String </a:t>
            </a:r>
            <a:r>
              <a:rPr lang="en-GB" sz="1800" dirty="0" err="1">
                <a:solidFill>
                  <a:srgbClr val="000000"/>
                </a:solidFill>
                <a:effectLst/>
                <a:latin typeface="Courier New" panose="02070309020205020404" pitchFamily="49" charset="0"/>
                <a:ea typeface="Times New Roman" panose="02020603050405020304" pitchFamily="18" charset="0"/>
              </a:rPr>
              <a:t>nome</a:t>
            </a:r>
            <a:r>
              <a:rPr lang="en-GB"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a:t>
            </a:r>
            <a:r>
              <a:rPr lang="it-IT" sz="1800" dirty="0">
                <a:solidFill>
                  <a:srgbClr val="000000"/>
                </a:solidFill>
                <a:effectLst/>
                <a:latin typeface="Courier New" panose="02070309020205020404" pitchFamily="49" charset="0"/>
                <a:ea typeface="Times New Roman" panose="02020603050405020304" pitchFamily="18" charset="0"/>
              </a:rPr>
              <a:t>public Alunno(String n)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nome = n;</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il seguente snippet:</a:t>
            </a:r>
          </a:p>
          <a:p>
            <a:r>
              <a:rPr lang="it-IT" sz="1800" dirty="0">
                <a:solidFill>
                  <a:srgbClr val="000000"/>
                </a:solidFill>
                <a:effectLst/>
                <a:latin typeface="Courier New" panose="02070309020205020404" pitchFamily="49" charset="0"/>
                <a:ea typeface="Times New Roman" panose="02020603050405020304" pitchFamily="18" charset="0"/>
              </a:rPr>
              <a:t>Alunno alunno1 = new Alunno("Simone");</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Alunno alunno2 = new Alunno("Simone");</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System.out.println(alunno1 == alunno2);</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Stamperà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false</a:t>
            </a:r>
            <a:r>
              <a:rPr lang="it-IT" sz="1800" dirty="0">
                <a:effectLst/>
                <a:latin typeface="Times New Roman" panose="02020603050405020304" pitchFamily="18" charset="0"/>
                <a:ea typeface="Times New Roman" panose="02020603050405020304" pitchFamily="18" charset="0"/>
              </a:rPr>
              <a:t>. Infatti, il confronto booleano verrà fatto sull’indirizzo dei due oggetti creati, che puntano evidentemente a due oggetti diversi (anche se contengono lo stesso valore per la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nome</a:t>
            </a:r>
            <a:r>
              <a:rPr lang="it-IT" sz="1800" dirty="0">
                <a:effectLst/>
                <a:latin typeface="Times New Roman" panose="02020603050405020304" pitchFamily="18" charset="0"/>
                <a:ea typeface="Times New Roman" panose="02020603050405020304" pitchFamily="18" charset="0"/>
              </a:rPr>
              <a:t>).</a:t>
            </a:r>
          </a:p>
        </p:txBody>
      </p:sp>
      <p:sp>
        <p:nvSpPr>
          <p:cNvPr id="4" name="Segnaposto numero diapositiva 3"/>
          <p:cNvSpPr>
            <a:spLocks noGrp="1"/>
          </p:cNvSpPr>
          <p:nvPr>
            <p:ph type="sldNum" sz="quarter" idx="5"/>
          </p:nvPr>
        </p:nvSpPr>
        <p:spPr/>
        <p:txBody>
          <a:bodyPr/>
          <a:lstStyle/>
          <a:p>
            <a:fld id="{545D8BF2-49EE-4CE2-A2D7-61B744D1E4D9}" type="slidenum">
              <a:rPr lang="it-IT" smtClean="0"/>
              <a:t>6</a:t>
            </a:fld>
            <a:endParaRPr lang="it-IT"/>
          </a:p>
        </p:txBody>
      </p:sp>
    </p:spTree>
    <p:extLst>
      <p:ext uri="{BB962C8B-B14F-4D97-AF65-F5344CB8AC3E}">
        <p14:creationId xmlns:p14="http://schemas.microsoft.com/office/powerpoint/2010/main" val="36137839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Il loro funzionamento è molto intuitivo, tuttavia la loro importanza sarà evidente solo dopo aver studiato la seconda parte di questo capitolo. Con qualche esempio dovremmo chiarire il loro funzionamento. Consideriamo il seguente statement:</a:t>
            </a:r>
          </a:p>
          <a:p>
            <a:r>
              <a:rPr lang="it-IT" sz="1800" dirty="0">
                <a:solidFill>
                  <a:srgbClr val="000000"/>
                </a:solidFill>
                <a:effectLst/>
                <a:latin typeface="Courier New" panose="02070309020205020404" pitchFamily="49" charset="0"/>
                <a:ea typeface="Times New Roman" panose="02020603050405020304" pitchFamily="18" charset="0"/>
              </a:rPr>
              <a:t>boolean b = (9 == 9); // b vale true</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Questa istruzione contiene due operatori, un operatore di assegnazione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ed un operatore di confronto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a:t>
            </a:r>
          </a:p>
          <a:p>
            <a:r>
              <a:rPr lang="it-IT" sz="1800" b="1" dirty="0">
                <a:effectLst/>
                <a:latin typeface="Times New Roman" panose="02020603050405020304" pitchFamily="18" charset="0"/>
                <a:ea typeface="Times New Roman" panose="02020603050405020304" pitchFamily="18" charset="0"/>
              </a:rPr>
              <a:t>(COMMON ERROR ICON)</a:t>
            </a:r>
            <a:endParaRPr lang="it-IT" sz="1800" dirty="0">
              <a:effectLst/>
              <a:latin typeface="Times New Roman" panose="02020603050405020304" pitchFamily="18"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Un classico errore dell’aspirante programmatore è confondere l’operatore di assegnazione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r>
              <a:rPr lang="it-IT" sz="1800" b="1" dirty="0">
                <a:solidFill>
                  <a:srgbClr val="000000"/>
                </a:solidFill>
                <a:effectLst/>
                <a:latin typeface="Times New Roman" panose="02020603050405020304" pitchFamily="18" charset="0"/>
                <a:ea typeface="Times New Roman" panose="02020603050405020304" pitchFamily="18" charset="0"/>
              </a:rPr>
              <a:t> e l’operatore di confronto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r>
              <a:rPr lang="it-IT" sz="1800" b="1" dirty="0">
                <a:solidFill>
                  <a:srgbClr val="000000"/>
                </a:solidFill>
                <a:effectLst/>
                <a:latin typeface="Times New Roman" panose="02020603050405020304" pitchFamily="18" charset="0"/>
                <a:ea typeface="Times New Roman" panose="02020603050405020304" pitchFamily="18" charset="0"/>
              </a:rPr>
              <a:t>.</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Si noti che le parentesi servono solo a migliorare la leggibilità del codice. Dal punto di vista della funzionalità sono superflue, perché l’operatore di assegnazione ha sempre minore priorità rispetto agli altri operatori, quindi verrà eseguito per ultimo. </a:t>
            </a:r>
          </a:p>
          <a:p>
            <a:r>
              <a:rPr lang="it-IT" sz="1800" dirty="0">
                <a:effectLst/>
                <a:latin typeface="Times New Roman" panose="02020603050405020304" pitchFamily="18" charset="0"/>
                <a:ea typeface="Times New Roman" panose="02020603050405020304" pitchFamily="18" charset="0"/>
              </a:rPr>
              <a:t>Se consideriamo il seguente snippet:</a:t>
            </a:r>
          </a:p>
          <a:p>
            <a:r>
              <a:rPr lang="it-IT" sz="1800" dirty="0">
                <a:solidFill>
                  <a:srgbClr val="000000"/>
                </a:solidFill>
                <a:effectLst/>
                <a:latin typeface="Courier New" panose="02070309020205020404" pitchFamily="49" charset="0"/>
                <a:ea typeface="Times New Roman" panose="02020603050405020304" pitchFamily="18" charset="0"/>
              </a:rPr>
              <a:t>int i = 10;</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double d = 10.0;</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boolean </a:t>
            </a:r>
            <a:r>
              <a:rPr lang="it-IT" sz="1800" dirty="0">
                <a:solidFill>
                  <a:srgbClr val="000000"/>
                </a:solidFill>
                <a:effectLst/>
                <a:latin typeface="Courier New" panose="02070309020205020404" pitchFamily="49" charset="0"/>
                <a:ea typeface="Times New Roman" panose="02020603050405020304" pitchFamily="18" charset="0"/>
              </a:rPr>
              <a:t>b</a:t>
            </a:r>
            <a:r>
              <a:rPr lang="en-GB" sz="1800" dirty="0">
                <a:solidFill>
                  <a:srgbClr val="000000"/>
                </a:solidFill>
                <a:effectLst/>
                <a:latin typeface="Courier New" panose="02070309020205020404" pitchFamily="49" charset="0"/>
                <a:ea typeface="Times New Roman" panose="02020603050405020304" pitchFamily="18" charset="0"/>
              </a:rPr>
              <a:t>1</a:t>
            </a:r>
            <a:r>
              <a:rPr lang="it-IT" sz="1800" dirty="0">
                <a:solidFill>
                  <a:srgbClr val="000000"/>
                </a:solidFill>
                <a:effectLst/>
                <a:latin typeface="Courier New" panose="02070309020205020404" pitchFamily="49" charset="0"/>
                <a:ea typeface="Times New Roman" panose="02020603050405020304" pitchFamily="18" charset="0"/>
              </a:rPr>
              <a:t> = (i != d)</a:t>
            </a:r>
            <a:r>
              <a:rPr lang="en-GB" sz="1800" dirty="0">
                <a:solidFill>
                  <a:srgbClr val="000000"/>
                </a:solidFill>
                <a:effectLst/>
                <a:latin typeface="Courier New" panose="02070309020205020404" pitchFamily="49" charset="0"/>
                <a:ea typeface="Times New Roman" panose="02020603050405020304" pitchFamily="18" charset="0"/>
              </a:rPr>
              <a:t>;</a:t>
            </a:r>
            <a:r>
              <a:rPr lang="it-IT" sz="1800" dirty="0">
                <a:solidFill>
                  <a:srgbClr val="000000"/>
                </a:solidFill>
                <a:effectLst/>
                <a:latin typeface="Courier New" panose="02070309020205020404" pitchFamily="49" charset="0"/>
                <a:ea typeface="Times New Roman" panose="02020603050405020304" pitchFamily="18" charset="0"/>
              </a:rPr>
              <a:t> // b</a:t>
            </a:r>
            <a:r>
              <a:rPr lang="en-GB" sz="1800" dirty="0">
                <a:solidFill>
                  <a:srgbClr val="000000"/>
                </a:solidFill>
                <a:effectLst/>
                <a:latin typeface="Courier New" panose="02070309020205020404" pitchFamily="49" charset="0"/>
                <a:ea typeface="Times New Roman" panose="02020603050405020304" pitchFamily="18" charset="0"/>
              </a:rPr>
              <a:t>1</a:t>
            </a:r>
            <a:r>
              <a:rPr lang="it-IT" sz="1800" dirty="0">
                <a:solidFill>
                  <a:srgbClr val="000000"/>
                </a:solidFill>
                <a:effectLst/>
                <a:latin typeface="Courier New" panose="02070309020205020404" pitchFamily="49" charset="0"/>
                <a:ea typeface="Times New Roman" panose="02020603050405020304" pitchFamily="18" charset="0"/>
              </a:rPr>
              <a:t> vale false</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la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b1</a:t>
            </a:r>
            <a:r>
              <a:rPr lang="it-IT" sz="1800" dirty="0">
                <a:effectLst/>
                <a:latin typeface="Times New Roman" panose="02020603050405020304" pitchFamily="18" charset="0"/>
                <a:ea typeface="Times New Roman" panose="02020603050405020304" pitchFamily="18" charset="0"/>
              </a:rPr>
              <a:t> vale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false</a:t>
            </a:r>
            <a:r>
              <a:rPr lang="it-IT" sz="1800" dirty="0">
                <a:effectLst/>
                <a:latin typeface="Times New Roman" panose="02020603050405020304" pitchFamily="18" charset="0"/>
                <a:ea typeface="Times New Roman" panose="02020603050405020304" pitchFamily="18" charset="0"/>
              </a:rPr>
              <a:t>, perché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a:t>
            </a:r>
            <a:r>
              <a:rPr lang="it-IT" sz="1800" dirty="0">
                <a:effectLst/>
                <a:latin typeface="Times New Roman" panose="02020603050405020304" pitchFamily="18" charset="0"/>
                <a:ea typeface="Times New Roman" panose="02020603050405020304" pitchFamily="18" charset="0"/>
              </a:rPr>
              <a:t> non è diverso da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a:t>
            </a:r>
            <a:r>
              <a:rPr lang="it-IT" sz="1800" dirty="0">
                <a:effectLst/>
                <a:latin typeface="Times New Roman" panose="02020603050405020304" pitchFamily="18" charset="0"/>
                <a:ea typeface="Times New Roman" panose="02020603050405020304" pitchFamily="18" charset="0"/>
              </a:rPr>
              <a:t> (hanno lo stesso valore nonostante siano di tipo diverso). Quindi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 != d</a:t>
            </a:r>
            <a:r>
              <a:rPr lang="it-IT" sz="1800" dirty="0">
                <a:effectLst/>
                <a:latin typeface="Times New Roman" panose="02020603050405020304" pitchFamily="18" charset="0"/>
                <a:ea typeface="Times New Roman" panose="02020603050405020304" pitchFamily="18" charset="0"/>
              </a:rPr>
              <a:t> vale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false</a:t>
            </a:r>
            <a:r>
              <a:rPr lang="it-IT" sz="1800" dirty="0">
                <a:effectLst/>
                <a:latin typeface="Times New Roman" panose="02020603050405020304" pitchFamily="18" charset="0"/>
                <a:ea typeface="Times New Roman" panose="02020603050405020304" pitchFamily="18" charset="0"/>
              </a:rPr>
              <a:t>, e questo valore viene assegnato 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b1</a:t>
            </a:r>
            <a:r>
              <a:rPr lang="it-IT" sz="1800" dirty="0">
                <a:effectLst/>
                <a:latin typeface="Times New Roman" panose="02020603050405020304" pitchFamily="18" charset="0"/>
                <a:ea typeface="Times New Roman" panose="02020603050405020304" pitchFamily="18" charset="0"/>
              </a:rPr>
              <a:t>. Aggiungiamo alle precedenti, un’istruzione leggermente più complessa, contente due operatori di confronto (che verranno eseguiti prima) e uno di assegnazione:</a:t>
            </a:r>
          </a:p>
          <a:p>
            <a:r>
              <a:rPr lang="en-GB" sz="1800" dirty="0">
                <a:solidFill>
                  <a:srgbClr val="000000"/>
                </a:solidFill>
                <a:effectLst/>
                <a:latin typeface="Courier New" panose="02070309020205020404" pitchFamily="49" charset="0"/>
                <a:ea typeface="Times New Roman" panose="02020603050405020304" pitchFamily="18" charset="0"/>
              </a:rPr>
              <a:t>boolean b2 = b1 == (i &gt;= 11); // b2 vale true</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avremo che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b2</a:t>
            </a:r>
            <a:r>
              <a:rPr lang="it-IT" sz="1800" dirty="0">
                <a:effectLst/>
                <a:latin typeface="Times New Roman" panose="02020603050405020304" pitchFamily="18" charset="0"/>
                <a:ea typeface="Times New Roman" panose="02020603050405020304" pitchFamily="18" charset="0"/>
              </a:rPr>
              <a:t> invece vale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true</a:t>
            </a:r>
            <a:r>
              <a:rPr lang="it-IT" sz="1800" dirty="0">
                <a:effectLst/>
                <a:latin typeface="Times New Roman" panose="02020603050405020304" pitchFamily="18" charset="0"/>
                <a:ea typeface="Times New Roman" panose="02020603050405020304" pitchFamily="18" charset="0"/>
              </a:rPr>
              <a:t>. Infatti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 &gt;= 11</a:t>
            </a:r>
            <a:r>
              <a:rPr lang="it-IT" sz="1800" dirty="0">
                <a:effectLst/>
                <a:latin typeface="Times New Roman" panose="02020603050405020304" pitchFamily="18" charset="0"/>
                <a:ea typeface="Times New Roman" panose="02020603050405020304" pitchFamily="18" charset="0"/>
              </a:rPr>
              <a:t> è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false</a:t>
            </a:r>
            <a:r>
              <a:rPr lang="it-IT" sz="1800" dirty="0">
                <a:effectLst/>
                <a:latin typeface="Times New Roman" panose="02020603050405020304" pitchFamily="18" charset="0"/>
                <a:ea typeface="Times New Roman" panose="02020603050405020304" pitchFamily="18" charset="0"/>
              </a:rPr>
              <a:t>, come lo è anche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b1</a:t>
            </a:r>
            <a:r>
              <a:rPr lang="it-IT" sz="1800" dirty="0">
                <a:effectLst/>
                <a:latin typeface="Times New Roman" panose="02020603050405020304" pitchFamily="18" charset="0"/>
                <a:ea typeface="Times New Roman" panose="02020603050405020304" pitchFamily="18" charset="0"/>
              </a:rPr>
              <a:t> per quanto appena osservato. Quindi l’ultimo statement equivale al seguente:</a:t>
            </a:r>
          </a:p>
          <a:p>
            <a:r>
              <a:rPr lang="it-IT" sz="1800" dirty="0">
                <a:solidFill>
                  <a:srgbClr val="000000"/>
                </a:solidFill>
                <a:effectLst/>
                <a:latin typeface="Courier New" panose="02070309020205020404" pitchFamily="49" charset="0"/>
                <a:ea typeface="Times New Roman" panose="02020603050405020304" pitchFamily="18" charset="0"/>
              </a:rPr>
              <a:t>boolean b2 = false == (false)</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Ma l’ultima operazione della istruzione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false == false</a:t>
            </a:r>
            <a:r>
              <a:rPr lang="it-IT" sz="1800" dirty="0">
                <a:effectLst/>
                <a:latin typeface="Times New Roman" panose="02020603050405020304" pitchFamily="18" charset="0"/>
                <a:ea typeface="Times New Roman" panose="02020603050405020304" pitchFamily="18" charset="0"/>
              </a:rPr>
              <a:t> vale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true</a:t>
            </a:r>
            <a:r>
              <a:rPr lang="it-IT" sz="1800" dirty="0">
                <a:effectLst/>
                <a:latin typeface="Times New Roman" panose="02020603050405020304" pitchFamily="18" charset="0"/>
                <a:ea typeface="Times New Roman" panose="02020603050405020304" pitchFamily="18" charset="0"/>
              </a:rPr>
              <a:t>, e quindi 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b2</a:t>
            </a:r>
            <a:r>
              <a:rPr lang="it-IT" sz="1800" dirty="0">
                <a:effectLst/>
                <a:latin typeface="Times New Roman" panose="02020603050405020304" pitchFamily="18" charset="0"/>
                <a:ea typeface="Times New Roman" panose="02020603050405020304" pitchFamily="18" charset="0"/>
              </a:rPr>
              <a:t> verrà assegnato il valore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true</a:t>
            </a:r>
            <a:r>
              <a:rPr lang="it-IT" sz="1800" dirty="0">
                <a:effectLst/>
                <a:latin typeface="Times New Roman" panose="02020603050405020304" pitchFamily="18" charset="0"/>
                <a:ea typeface="Times New Roman" panose="02020603050405020304" pitchFamily="18" charset="0"/>
              </a:rPr>
              <a:t>.</a:t>
            </a:r>
          </a:p>
          <a:p>
            <a:r>
              <a:rPr lang="it-IT" sz="1800" b="1" dirty="0">
                <a:effectLst/>
                <a:latin typeface="Times New Roman" panose="02020603050405020304" pitchFamily="18" charset="0"/>
                <a:ea typeface="Times New Roman" panose="02020603050405020304" pitchFamily="18" charset="0"/>
              </a:rPr>
              <a:t>(ICONA IMPORTANTE)</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Se confrontiamo due reference con l’operatore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il risultato risulterà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true</a:t>
            </a:r>
            <a:r>
              <a:rPr lang="it-IT" sz="1800" dirty="0">
                <a:effectLst/>
                <a:latin typeface="Times New Roman" panose="02020603050405020304" pitchFamily="18" charset="0"/>
                <a:ea typeface="Times New Roman" panose="02020603050405020304" pitchFamily="18" charset="0"/>
              </a:rPr>
              <a:t> se e solo se i due reference puntano allo stesso oggetto, altrimenti risulterà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false</a:t>
            </a:r>
            <a:r>
              <a:rPr lang="it-IT" sz="1800" dirty="0">
                <a:effectLst/>
                <a:latin typeface="Times New Roman" panose="02020603050405020304" pitchFamily="18" charset="0"/>
                <a:ea typeface="Times New Roman" panose="02020603050405020304" pitchFamily="18" charset="0"/>
              </a:rPr>
              <a:t>. Infatti viene confrontato sempre il valore delle variabili in gioco. Il valore di una variabile reference, come abbiamo visto nel capitolo precedente, è l’indirizzo in memoria dell’oggetto a cui punta. </a:t>
            </a:r>
          </a:p>
          <a:p>
            <a:r>
              <a:rPr lang="it-IT" sz="1800" dirty="0">
                <a:effectLst/>
                <a:latin typeface="Times New Roman" panose="02020603050405020304" pitchFamily="18" charset="0"/>
                <a:ea typeface="Times New Roman" panose="02020603050405020304" pitchFamily="18" charset="0"/>
              </a:rPr>
              <a:t>Quindi se consideriamo la seguente classe:</a:t>
            </a:r>
          </a:p>
          <a:p>
            <a:r>
              <a:rPr lang="en-GB" sz="1800" dirty="0">
                <a:solidFill>
                  <a:srgbClr val="000000"/>
                </a:solidFill>
                <a:effectLst/>
                <a:latin typeface="Courier New" panose="02070309020205020404" pitchFamily="49" charset="0"/>
                <a:ea typeface="Times New Roman" panose="02020603050405020304" pitchFamily="18" charset="0"/>
              </a:rPr>
              <a:t>public class </a:t>
            </a:r>
            <a:r>
              <a:rPr lang="en-GB" sz="1800" dirty="0" err="1">
                <a:solidFill>
                  <a:srgbClr val="000000"/>
                </a:solidFill>
                <a:effectLst/>
                <a:latin typeface="Courier New" panose="02070309020205020404" pitchFamily="49" charset="0"/>
                <a:ea typeface="Times New Roman" panose="02020603050405020304" pitchFamily="18" charset="0"/>
              </a:rPr>
              <a:t>Alunno</a:t>
            </a:r>
            <a:r>
              <a:rPr lang="en-GB"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public String </a:t>
            </a:r>
            <a:r>
              <a:rPr lang="en-GB" sz="1800" dirty="0" err="1">
                <a:solidFill>
                  <a:srgbClr val="000000"/>
                </a:solidFill>
                <a:effectLst/>
                <a:latin typeface="Courier New" panose="02070309020205020404" pitchFamily="49" charset="0"/>
                <a:ea typeface="Times New Roman" panose="02020603050405020304" pitchFamily="18" charset="0"/>
              </a:rPr>
              <a:t>nome</a:t>
            </a:r>
            <a:r>
              <a:rPr lang="en-GB"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a:t>
            </a:r>
            <a:r>
              <a:rPr lang="it-IT" sz="1800" dirty="0">
                <a:solidFill>
                  <a:srgbClr val="000000"/>
                </a:solidFill>
                <a:effectLst/>
                <a:latin typeface="Courier New" panose="02070309020205020404" pitchFamily="49" charset="0"/>
                <a:ea typeface="Times New Roman" panose="02020603050405020304" pitchFamily="18" charset="0"/>
              </a:rPr>
              <a:t>public Alunno(String n)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nome = n;</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il seguente snippet:</a:t>
            </a:r>
          </a:p>
          <a:p>
            <a:r>
              <a:rPr lang="it-IT" sz="1800" dirty="0">
                <a:solidFill>
                  <a:srgbClr val="000000"/>
                </a:solidFill>
                <a:effectLst/>
                <a:latin typeface="Courier New" panose="02070309020205020404" pitchFamily="49" charset="0"/>
                <a:ea typeface="Times New Roman" panose="02020603050405020304" pitchFamily="18" charset="0"/>
              </a:rPr>
              <a:t>Alunno alunno1 = new Alunno("Simone");</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Alunno alunno2 = new Alunno("Simone");</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System.out.println(alunno1 == alunno2);</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Stamperà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false</a:t>
            </a:r>
            <a:r>
              <a:rPr lang="it-IT" sz="1800" dirty="0">
                <a:effectLst/>
                <a:latin typeface="Times New Roman" panose="02020603050405020304" pitchFamily="18" charset="0"/>
                <a:ea typeface="Times New Roman" panose="02020603050405020304" pitchFamily="18" charset="0"/>
              </a:rPr>
              <a:t>. Infatti, il confronto booleano verrà fatto sull’indirizzo dei due oggetti creati, che puntano evidentemente a due oggetti diversi (anche se contengono lo stesso valore per la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nome</a:t>
            </a:r>
            <a:r>
              <a:rPr lang="it-IT" sz="1800" dirty="0">
                <a:effectLst/>
                <a:latin typeface="Times New Roman" panose="02020603050405020304" pitchFamily="18" charset="0"/>
                <a:ea typeface="Times New Roman" panose="02020603050405020304" pitchFamily="18" charset="0"/>
              </a:rPr>
              <a:t>).</a:t>
            </a:r>
          </a:p>
        </p:txBody>
      </p:sp>
      <p:sp>
        <p:nvSpPr>
          <p:cNvPr id="4" name="Segnaposto numero diapositiva 3"/>
          <p:cNvSpPr>
            <a:spLocks noGrp="1"/>
          </p:cNvSpPr>
          <p:nvPr>
            <p:ph type="sldNum" sz="quarter" idx="5"/>
          </p:nvPr>
        </p:nvSpPr>
        <p:spPr/>
        <p:txBody>
          <a:bodyPr/>
          <a:lstStyle/>
          <a:p>
            <a:fld id="{545D8BF2-49EE-4CE2-A2D7-61B744D1E4D9}" type="slidenum">
              <a:rPr lang="it-IT" smtClean="0"/>
              <a:t>7</a:t>
            </a:fld>
            <a:endParaRPr lang="it-IT"/>
          </a:p>
        </p:txBody>
      </p:sp>
    </p:spTree>
    <p:extLst>
      <p:ext uri="{BB962C8B-B14F-4D97-AF65-F5344CB8AC3E}">
        <p14:creationId xmlns:p14="http://schemas.microsoft.com/office/powerpoint/2010/main" val="17790103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sz="1800"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8</a:t>
            </a:fld>
            <a:endParaRPr lang="it-IT"/>
          </a:p>
        </p:txBody>
      </p:sp>
    </p:spTree>
    <p:extLst>
      <p:ext uri="{BB962C8B-B14F-4D97-AF65-F5344CB8AC3E}">
        <p14:creationId xmlns:p14="http://schemas.microsoft.com/office/powerpoint/2010/main" val="15042064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dirty="0">
                <a:effectLst/>
                <a:latin typeface="Times New Roman" panose="02020603050405020304" pitchFamily="18" charset="0"/>
                <a:ea typeface="Times New Roman" panose="02020603050405020304" pitchFamily="18" charset="0"/>
              </a:rPr>
              <a:t>In realtà, solo 3 operatori logico-booleani sono utilizzati spesso: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&amp;&amp;</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Per tutti gli altri l’utilizzo è alquanto raro. </a:t>
            </a:r>
          </a:p>
          <a:p>
            <a:endParaRPr lang="it-IT" dirty="0"/>
          </a:p>
        </p:txBody>
      </p:sp>
      <p:sp>
        <p:nvSpPr>
          <p:cNvPr id="4" name="Segnaposto numero diapositiva 3"/>
          <p:cNvSpPr>
            <a:spLocks noGrp="1"/>
          </p:cNvSpPr>
          <p:nvPr>
            <p:ph type="sldNum" sz="quarter" idx="5"/>
          </p:nvPr>
        </p:nvSpPr>
        <p:spPr/>
        <p:txBody>
          <a:bodyPr/>
          <a:lstStyle/>
          <a:p>
            <a:fld id="{545D8BF2-49EE-4CE2-A2D7-61B744D1E4D9}" type="slidenum">
              <a:rPr lang="it-IT" smtClean="0"/>
              <a:t>9</a:t>
            </a:fld>
            <a:endParaRPr lang="it-IT"/>
          </a:p>
        </p:txBody>
      </p:sp>
    </p:spTree>
    <p:extLst>
      <p:ext uri="{BB962C8B-B14F-4D97-AF65-F5344CB8AC3E}">
        <p14:creationId xmlns:p14="http://schemas.microsoft.com/office/powerpoint/2010/main" val="24477410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dirty="0">
                <a:effectLst/>
                <a:latin typeface="Times New Roman" panose="02020603050405020304" pitchFamily="18" charset="0"/>
                <a:ea typeface="Times New Roman" panose="02020603050405020304" pitchFamily="18" charset="0"/>
              </a:rPr>
              <a:t>In realtà, solo 3 operatori logico-booleani sono utilizzati spesso: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&amp;&amp;</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Per tutti gli altri l’utilizzo è alquanto raro. </a:t>
            </a:r>
          </a:p>
          <a:p>
            <a:r>
              <a:rPr lang="it-IT" sz="1800" dirty="0">
                <a:effectLst/>
                <a:latin typeface="Times New Roman" panose="02020603050405020304" pitchFamily="18" charset="0"/>
                <a:ea typeface="Times New Roman" panose="02020603050405020304" pitchFamily="18" charset="0"/>
              </a:rPr>
              <a:t>Come abbiamo già asserito però, questi operatori vengono usati molto raramente, ed alcuni programmatori Java ne ignorano persino l’esistenza. Infatti, è consuetudine utilizzare le versioni </a:t>
            </a:r>
            <a:r>
              <a:rPr lang="it-IT" sz="1800" b="1" dirty="0">
                <a:effectLst/>
                <a:latin typeface="Times New Roman" panose="02020603050405020304" pitchFamily="18" charset="0"/>
                <a:ea typeface="Times New Roman" panose="02020603050405020304" pitchFamily="18" charset="0"/>
              </a:rPr>
              <a:t>short circuit</a:t>
            </a:r>
            <a:r>
              <a:rPr lang="it-IT" sz="1800" dirty="0">
                <a:effectLst/>
                <a:latin typeface="Times New Roman" panose="02020603050405020304" pitchFamily="18" charset="0"/>
                <a:ea typeface="Times New Roman" panose="02020603050405020304" pitchFamily="18" charset="0"/>
              </a:rPr>
              <a:t> (letteralmente </a:t>
            </a:r>
            <a:r>
              <a:rPr lang="it-IT" sz="1800" b="1" dirty="0">
                <a:effectLst/>
                <a:latin typeface="Times New Roman" panose="02020603050405020304" pitchFamily="18" charset="0"/>
                <a:ea typeface="Times New Roman" panose="02020603050405020304" pitchFamily="18" charset="0"/>
              </a:rPr>
              <a:t>corto circuito</a:t>
            </a:r>
            <a:r>
              <a:rPr lang="it-IT" sz="1800" dirty="0">
                <a:effectLst/>
                <a:latin typeface="Times New Roman" panose="02020603050405020304" pitchFamily="18" charset="0"/>
                <a:ea typeface="Times New Roman" panose="02020603050405020304" pitchFamily="18" charset="0"/>
              </a:rPr>
              <a:t>) di </a:t>
            </a:r>
            <a:r>
              <a:rPr lang="it-IT" sz="1800" dirty="0">
                <a:effectLst/>
                <a:latin typeface="Times New Roman" panose="02020603050405020304" pitchFamily="18" charset="0"/>
                <a:ea typeface="Times New Roman" panose="02020603050405020304" pitchFamily="18" charset="0"/>
                <a:cs typeface="Courier New" panose="02070309020205020404" pitchFamily="49" charset="0"/>
              </a:rPr>
              <a:t>AND</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Times New Roman" panose="02020603050405020304" pitchFamily="18" charset="0"/>
                <a:ea typeface="Times New Roman" panose="02020603050405020304" pitchFamily="18" charset="0"/>
                <a:cs typeface="Courier New" panose="02070309020205020404" pitchFamily="49" charset="0"/>
              </a:rPr>
              <a:t>OR, mentre XOR non è praticamente mai usato</a:t>
            </a:r>
            <a:r>
              <a:rPr lang="it-IT" sz="1800" dirty="0">
                <a:effectLst/>
                <a:latin typeface="Times New Roman" panose="02020603050405020304" pitchFamily="18" charset="0"/>
                <a:ea typeface="Times New Roman" panose="02020603050405020304" pitchFamily="18" charset="0"/>
              </a:rPr>
              <a:t>. Le versioni short circuit hanno la caratteristica di non valutare il secondo operando nel caso il primo sia sufficiente a determinare il risultato della operazione. Questo significa che se in un operazione di AND con corto circuito, il primo operando è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false</a:t>
            </a:r>
            <a:r>
              <a:rPr lang="it-IT" sz="1800" dirty="0">
                <a:effectLst/>
                <a:latin typeface="Times New Roman" panose="02020603050405020304" pitchFamily="18" charset="0"/>
                <a:ea typeface="Times New Roman" panose="02020603050405020304" pitchFamily="18" charset="0"/>
              </a:rPr>
              <a:t>, non verrà valutato il secondo operando. Infatti qualsiasi sia il suo valore, il risultato dell’operazione sarà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false</a:t>
            </a:r>
            <a:r>
              <a:rPr lang="it-IT" sz="1800" dirty="0">
                <a:effectLst/>
                <a:latin typeface="Times New Roman" panose="02020603050405020304" pitchFamily="18" charset="0"/>
                <a:ea typeface="Times New Roman" panose="02020603050405020304" pitchFamily="18" charset="0"/>
              </a:rPr>
              <a:t>. Allo stesso modo, se in un operazione di OR con corto circuito, il primo operando risulta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true</a:t>
            </a:r>
            <a:r>
              <a:rPr lang="it-IT" sz="1800" dirty="0">
                <a:effectLst/>
                <a:latin typeface="Times New Roman" panose="02020603050405020304" pitchFamily="18" charset="0"/>
                <a:ea typeface="Times New Roman" panose="02020603050405020304" pitchFamily="18" charset="0"/>
              </a:rPr>
              <a:t>, non verrà valutato il secondo operando, in quanto il risultato dell’operazione sarà comunque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true</a:t>
            </a:r>
            <a:r>
              <a:rPr lang="it-IT" sz="1800" dirty="0">
                <a:effectLst/>
                <a:latin typeface="Times New Roman" panose="02020603050405020304" pitchFamily="18" charset="0"/>
                <a:ea typeface="Times New Roman" panose="02020603050405020304" pitchFamily="18" charset="0"/>
              </a:rPr>
              <a:t>.  Il seguente esempio mostra come avvantaggiarsi della valutazione logica di corto circuito:</a:t>
            </a:r>
          </a:p>
          <a:p>
            <a:r>
              <a:rPr lang="it-IT" sz="1800" dirty="0">
                <a:solidFill>
                  <a:srgbClr val="000000"/>
                </a:solidFill>
                <a:effectLst/>
                <a:latin typeface="Courier New" panose="02070309020205020404" pitchFamily="49" charset="0"/>
                <a:ea typeface="Times New Roman" panose="02020603050405020304" pitchFamily="18" charset="0"/>
              </a:rPr>
              <a:t>boolean flag = ( (a != 0) &amp;&amp; (b/a &gt; 10) )</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Affinché l’espressione tra parentesi sia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true</a:t>
            </a:r>
            <a:r>
              <a:rPr lang="it-IT" sz="1800" dirty="0">
                <a:effectLst/>
                <a:latin typeface="Times New Roman" panose="02020603050405020304" pitchFamily="18" charset="0"/>
                <a:ea typeface="Times New Roman" panose="02020603050405020304" pitchFamily="18" charset="0"/>
              </a:rPr>
              <a:t>, bisogna che entrambi gli operandi dell’AND siano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true</a:t>
            </a:r>
            <a:r>
              <a:rPr lang="it-IT" sz="1800" dirty="0">
                <a:effectLst/>
                <a:latin typeface="Times New Roman" panose="02020603050405020304" pitchFamily="18" charset="0"/>
                <a:ea typeface="Times New Roman" panose="02020603050405020304" pitchFamily="18" charset="0"/>
              </a:rPr>
              <a:t>. Se il primo tra loro è in partenza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false</a:t>
            </a:r>
            <a:r>
              <a:rPr lang="it-IT" sz="1800" dirty="0">
                <a:effectLst/>
                <a:latin typeface="Times New Roman" panose="02020603050405020304" pitchFamily="18" charset="0"/>
                <a:ea typeface="Times New Roman" panose="02020603050405020304" pitchFamily="18" charset="0"/>
              </a:rPr>
              <a:t>, risulterebbe superfluo andare a controllare il valore dell’altro operando. In questo caso sarebbe addirittura dannoso, perché l’espressione che rappresenta il secondo operando, porterebbe ad una divisione per zero (errore riscontrabile solo al runtime e non in fase di compilazione). </a:t>
            </a:r>
          </a:p>
          <a:p>
            <a:r>
              <a:rPr lang="it-IT" sz="1800" dirty="0">
                <a:effectLst/>
                <a:latin typeface="Times New Roman" panose="02020603050405020304" pitchFamily="18" charset="0"/>
                <a:ea typeface="Times New Roman" panose="02020603050405020304" pitchFamily="18" charset="0"/>
              </a:rPr>
              <a:t>Quindi, abbiamo visto che l’operatore short circuit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&amp;&amp;</a:t>
            </a:r>
            <a:r>
              <a:rPr lang="it-IT" sz="1800" dirty="0">
                <a:effectLst/>
                <a:latin typeface="Times New Roman" panose="02020603050405020304" pitchFamily="18" charset="0"/>
                <a:ea typeface="Times New Roman" panose="02020603050405020304" pitchFamily="18" charset="0"/>
              </a:rPr>
              <a:t>, a differenza della sua versione ordinaria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&amp;</a:t>
            </a:r>
            <a:r>
              <a:rPr lang="it-IT" sz="1800" dirty="0">
                <a:effectLst/>
                <a:latin typeface="Times New Roman" panose="02020603050405020304" pitchFamily="18" charset="0"/>
                <a:ea typeface="Times New Roman" panose="02020603050405020304" pitchFamily="18" charset="0"/>
              </a:rPr>
              <a:t>, permette di evitare la valutazione del secondo operando se il primo è già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false</a:t>
            </a:r>
            <a:r>
              <a:rPr lang="it-IT" sz="1800" dirty="0">
                <a:effectLst/>
                <a:latin typeface="Times New Roman" panose="02020603050405020304" pitchFamily="18" charset="0"/>
                <a:ea typeface="Times New Roman" panose="02020603050405020304" pitchFamily="18" charset="0"/>
              </a:rPr>
              <a:t>. Equivalentemente, l'operatore short circuit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nel caso la prima espressione risultasse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true</a:t>
            </a:r>
            <a:r>
              <a:rPr lang="it-IT" sz="1800" dirty="0">
                <a:effectLst/>
                <a:latin typeface="Times New Roman" panose="02020603050405020304" pitchFamily="18" charset="0"/>
                <a:ea typeface="Times New Roman" panose="02020603050405020304" pitchFamily="18" charset="0"/>
              </a:rPr>
              <a:t>, restituisce immediatamente il valore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true</a:t>
            </a:r>
            <a:r>
              <a:rPr lang="it-IT" sz="1800" dirty="0">
                <a:effectLst/>
                <a:latin typeface="Times New Roman" panose="02020603050405020304" pitchFamily="18" charset="0"/>
                <a:ea typeface="Times New Roman" panose="02020603050405020304" pitchFamily="18" charset="0"/>
              </a:rPr>
              <a:t>, senza valutare il secondo operando. Per esempio anche con questo codice:</a:t>
            </a:r>
          </a:p>
          <a:p>
            <a:r>
              <a:rPr lang="it-IT" sz="1800" dirty="0">
                <a:solidFill>
                  <a:srgbClr val="000000"/>
                </a:solidFill>
                <a:effectLst/>
                <a:latin typeface="Courier New" panose="02070309020205020404" pitchFamily="49" charset="0"/>
                <a:ea typeface="Times New Roman" panose="02020603050405020304" pitchFamily="18" charset="0"/>
              </a:rPr>
              <a:t>boolean flag = ( (a == 0) || (b/a &gt; 10) )</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la divisione contenuta nell’espressione che rappresenta il secondo operando, non verrà eseguita</a:t>
            </a:r>
            <a:endParaRPr lang="it-IT" dirty="0"/>
          </a:p>
        </p:txBody>
      </p:sp>
      <p:sp>
        <p:nvSpPr>
          <p:cNvPr id="4" name="Segnaposto numero diapositiva 3"/>
          <p:cNvSpPr>
            <a:spLocks noGrp="1"/>
          </p:cNvSpPr>
          <p:nvPr>
            <p:ph type="sldNum" sz="quarter" idx="5"/>
          </p:nvPr>
        </p:nvSpPr>
        <p:spPr/>
        <p:txBody>
          <a:bodyPr/>
          <a:lstStyle/>
          <a:p>
            <a:fld id="{545D8BF2-49EE-4CE2-A2D7-61B744D1E4D9}" type="slidenum">
              <a:rPr lang="it-IT" smtClean="0"/>
              <a:t>10</a:t>
            </a:fld>
            <a:endParaRPr lang="it-IT"/>
          </a:p>
        </p:txBody>
      </p:sp>
    </p:spTree>
    <p:extLst>
      <p:ext uri="{BB962C8B-B14F-4D97-AF65-F5344CB8AC3E}">
        <p14:creationId xmlns:p14="http://schemas.microsoft.com/office/powerpoint/2010/main" val="25035138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ea typeface="Times New Roman" panose="02020603050405020304" pitchFamily="18" charset="0"/>
              </a:rPr>
              <a:t>Infatti, prima viene eseguita la somma tra due interi 1 + 1 che ritorna 2, ma quest’ultimo valore viene sommato alla stringa "3", e quindi viene tramutato anch’esso nella stringa "23". Anche l’ultimo operatore è da considerarsi un operatore di concatenazione. Infatti somma la stringa "23" all’intero 7 che viene tramutato nella stringa finale "237". </a:t>
            </a:r>
          </a:p>
          <a:p>
            <a:pPr marL="0" indent="0">
              <a:buNone/>
            </a:pPr>
            <a:endParaRPr lang="it-IT" sz="1800" dirty="0">
              <a:solidFill>
                <a:schemeClr val="accent5"/>
              </a:solidFill>
              <a:effectLst/>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11</a:t>
            </a:fld>
            <a:endParaRPr lang="it-IT"/>
          </a:p>
        </p:txBody>
      </p:sp>
    </p:spTree>
    <p:extLst>
      <p:ext uri="{BB962C8B-B14F-4D97-AF65-F5344CB8AC3E}">
        <p14:creationId xmlns:p14="http://schemas.microsoft.com/office/powerpoint/2010/main" val="40960544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Potrebbe essere importante imparare a memoria le priorità degli operatori, se dovete prepararvi ad affrontare un esame di certificazione Oracle. Fortunatamente però, non è necessario conoscere a memoria tutte le priorità per programmare. Nell'incertezza infatti, è sempre possibile utilizzare le parentesi tonde così come faremmo nell’aritmetica tradizionale. Non potendo usufruire di parentesi quadre e graffe (poiché in Java queste sono adoperate per altri scopi), sostituiremo il loro utilizzo sempre con parentesi tonde. Quindi, se abbiamo le seguenti istruzioni:</a:t>
            </a:r>
          </a:p>
          <a:p>
            <a:r>
              <a:rPr lang="it-IT" sz="1800" dirty="0">
                <a:solidFill>
                  <a:srgbClr val="000000"/>
                </a:solidFill>
                <a:effectLst/>
                <a:latin typeface="Courier New" panose="02070309020205020404" pitchFamily="49" charset="0"/>
                <a:ea typeface="Times New Roman" panose="02020603050405020304" pitchFamily="18" charset="0"/>
              </a:rPr>
              <a:t>int a = 5 + 6 * 2 - 3;</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int b = (5 + 6) * (2 - 3);</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int c = 5 + (6 * (2 - 3));</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le variabili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b</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a:t>
            </a:r>
            <a:r>
              <a:rPr lang="it-IT" sz="1800" dirty="0">
                <a:effectLst/>
                <a:latin typeface="Times New Roman" panose="02020603050405020304" pitchFamily="18" charset="0"/>
                <a:ea typeface="Times New Roman" panose="02020603050405020304" pitchFamily="18" charset="0"/>
              </a:rPr>
              <a:t> varranno rispettivamente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14</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-11</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a:t>
            </a:r>
          </a:p>
          <a:p>
            <a:r>
              <a:rPr lang="it-IT" sz="1800" b="1" dirty="0">
                <a:effectLst/>
                <a:latin typeface="Times New Roman" panose="02020603050405020304" pitchFamily="18" charset="0"/>
                <a:ea typeface="Times New Roman" panose="02020603050405020304" pitchFamily="18" charset="0"/>
              </a:rPr>
              <a:t>(ICONA MOLTO COMPLESSO)</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Come abbiamo già notato che tutti gli operatori di assegnazione composti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&lt;&lt;=</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&gt;&gt;=</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&gt;&gt;&gt;=</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&amp;=</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vengono in realtà trasformati in due operazioni, di cui una è l’assegnazione. Per esempio, date le seguenti variabili:</a:t>
            </a:r>
          </a:p>
          <a:p>
            <a:r>
              <a:rPr lang="it-IT" sz="1800" dirty="0">
                <a:solidFill>
                  <a:srgbClr val="000000"/>
                </a:solidFill>
                <a:effectLst/>
                <a:latin typeface="Courier New" panose="02070309020205020404" pitchFamily="49" charset="0"/>
                <a:ea typeface="Times New Roman" panose="02020603050405020304" pitchFamily="18" charset="0"/>
              </a:rPr>
              <a:t>int a = 2;</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int b = 10;</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l’istruzione:</a:t>
            </a:r>
          </a:p>
          <a:p>
            <a:r>
              <a:rPr lang="it-IT" sz="1800" dirty="0">
                <a:solidFill>
                  <a:srgbClr val="000000"/>
                </a:solidFill>
                <a:effectLst/>
                <a:latin typeface="Courier New" panose="02070309020205020404" pitchFamily="49" charset="0"/>
                <a:ea typeface="Times New Roman" panose="02020603050405020304" pitchFamily="18" charset="0"/>
              </a:rPr>
              <a:t>a *= a + b;</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viene trasformato dal compilatore nell’istruzione:</a:t>
            </a:r>
          </a:p>
          <a:p>
            <a:r>
              <a:rPr lang="it-IT" sz="1800" dirty="0">
                <a:solidFill>
                  <a:srgbClr val="000000"/>
                </a:solidFill>
                <a:effectLst/>
                <a:latin typeface="Courier New" panose="02070309020205020404" pitchFamily="49" charset="0"/>
                <a:ea typeface="Times New Roman" panose="02020603050405020304" pitchFamily="18" charset="0"/>
              </a:rPr>
              <a:t>a = a * (a + b);</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Si noti che le parentesi tonde che abbiamo specificato sono fondamentali, perché modificano le priorità, e quindi come si calcola il valore finale. Infatti, prima bisogna eseguire la somma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 + b)</a:t>
            </a:r>
            <a:r>
              <a:rPr lang="it-IT" sz="1800" dirty="0">
                <a:effectLst/>
                <a:latin typeface="Times New Roman" panose="02020603050405020304" pitchFamily="18" charset="0"/>
                <a:ea typeface="Times New Roman" panose="02020603050405020304" pitchFamily="18" charset="0"/>
              </a:rPr>
              <a:t>, che dà come risultato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12</a:t>
            </a:r>
            <a:r>
              <a:rPr lang="it-IT" sz="1800" dirty="0">
                <a:effectLst/>
                <a:latin typeface="Times New Roman" panose="02020603050405020304" pitchFamily="18" charset="0"/>
                <a:ea typeface="Times New Roman" panose="02020603050405020304" pitchFamily="18" charset="0"/>
              </a:rPr>
              <a:t>, per poi moltiplicare questo risultato con il valore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2</a:t>
            </a:r>
            <a:r>
              <a:rPr lang="it-IT" sz="1800" dirty="0">
                <a:effectLst/>
                <a:latin typeface="Times New Roman" panose="02020603050405020304" pitchFamily="18" charset="0"/>
                <a:ea typeface="Times New Roman" panose="02020603050405020304" pitchFamily="18" charset="0"/>
              </a:rPr>
              <a:t> contenuto nella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a:t>
            </a:r>
            <a:r>
              <a:rPr lang="it-IT" sz="1800" dirty="0">
                <a:effectLst/>
                <a:latin typeface="Times New Roman" panose="02020603050405020304" pitchFamily="18" charset="0"/>
                <a:ea typeface="Times New Roman" panose="02020603050405020304" pitchFamily="18" charset="0"/>
              </a:rPr>
              <a:t>, e infine assegnare il risultato finale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24</a:t>
            </a:r>
            <a:r>
              <a:rPr lang="it-IT" sz="1800" dirty="0">
                <a:effectLst/>
                <a:latin typeface="Times New Roman" panose="02020603050405020304" pitchFamily="18" charset="0"/>
                <a:ea typeface="Times New Roman" panose="02020603050405020304" pitchFamily="18" charset="0"/>
              </a:rPr>
              <a:t>, alla stessa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Se non avessimo specificato le parentesi tonde, avremmo avuto un risultato diverso. Infatti:</a:t>
            </a:r>
          </a:p>
          <a:p>
            <a:r>
              <a:rPr lang="it-IT" sz="1800" dirty="0">
                <a:solidFill>
                  <a:srgbClr val="000000"/>
                </a:solidFill>
                <a:effectLst/>
                <a:latin typeface="Courier New" panose="02070309020205020404" pitchFamily="49" charset="0"/>
                <a:ea typeface="Times New Roman" panose="02020603050405020304" pitchFamily="18" charset="0"/>
              </a:rPr>
              <a:t>a = a * a + b;</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assegnerebbe il risultato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14</a:t>
            </a:r>
            <a:r>
              <a:rPr lang="it-IT" sz="1800" dirty="0">
                <a:effectLst/>
                <a:latin typeface="Times New Roman" panose="02020603050405020304" pitchFamily="18" charset="0"/>
                <a:ea typeface="Times New Roman" panose="02020603050405020304" pitchFamily="18" charset="0"/>
              </a:rPr>
              <a:t> alla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a:t>
            </a:r>
            <a:endParaRPr lang="it-IT" sz="1800" dirty="0">
              <a:effectLst/>
              <a:latin typeface="Courier New" panose="02070309020205020404" pitchFamily="49" charset="0"/>
              <a:ea typeface="Times New Roman" panose="02020603050405020304" pitchFamily="18" charset="0"/>
            </a:endParaRPr>
          </a:p>
        </p:txBody>
      </p:sp>
    </p:spTree>
    <p:extLst>
      <p:ext uri="{BB962C8B-B14F-4D97-AF65-F5344CB8AC3E}">
        <p14:creationId xmlns:p14="http://schemas.microsoft.com/office/powerpoint/2010/main" val="18549942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In ogni linguaggio di programmazione esistono costrutti che permettono al programmatore di controllare la sequenza di esecuzione delle istruzioni. Questo significa che tali costrutti verranno utilizzati essenzialmente all’interno di metodi, costruttori, o altre componenti fondamentali del linguaggio che eseguono istruzioni come i blocchi di inizializzazione (di cui abbiamo accennato nell’approfondimento 2.1, e che approfondiremo nel capitolo 5). Possiamo dividere questi costrutti in due categorie principali:</a:t>
            </a:r>
          </a:p>
          <a:p>
            <a:pPr marL="180340" indent="180340"/>
            <a:r>
              <a:rPr lang="it-IT" sz="1800" b="1" dirty="0">
                <a:effectLst/>
                <a:latin typeface="Times New Roman" panose="02020603050405020304" pitchFamily="18" charset="0"/>
                <a:ea typeface="MS Mincho" panose="02020609040205080304" pitchFamily="49" charset="-128"/>
              </a:rPr>
              <a:t>Condizioni</a:t>
            </a:r>
            <a:r>
              <a:rPr lang="it-IT" sz="1800" dirty="0">
                <a:effectLst/>
                <a:latin typeface="Times New Roman" panose="02020603050405020304" pitchFamily="18" charset="0"/>
                <a:ea typeface="MS Mincho" panose="02020609040205080304" pitchFamily="49" charset="-128"/>
              </a:rPr>
              <a:t> (o </a:t>
            </a:r>
            <a:r>
              <a:rPr lang="it-IT" sz="1800" b="1" dirty="0">
                <a:effectLst/>
                <a:latin typeface="Times New Roman" panose="02020603050405020304" pitchFamily="18" charset="0"/>
                <a:ea typeface="MS Mincho" panose="02020609040205080304" pitchFamily="49" charset="-128"/>
              </a:rPr>
              <a:t>strutture di controllo decisionali</a:t>
            </a:r>
            <a:r>
              <a:rPr lang="it-IT" sz="1800" dirty="0">
                <a:effectLst/>
                <a:latin typeface="Times New Roman" panose="02020603050405020304" pitchFamily="18" charset="0"/>
                <a:ea typeface="MS Mincho" panose="02020609040205080304" pitchFamily="49" charset="-128"/>
              </a:rPr>
              <a:t>): permettono, durante la fase di runtime, una scelta tra l’esecuzione di istruzioni diverse, a seconda che sia verificata o meno una specificata condizione. Tale condizione, coincide con il risultato di un’operazione booleana.</a:t>
            </a:r>
          </a:p>
          <a:p>
            <a:pPr marL="180340" indent="180340"/>
            <a:r>
              <a:rPr lang="it-IT" sz="1800" b="1" dirty="0">
                <a:effectLst/>
                <a:latin typeface="Times New Roman" panose="02020603050405020304" pitchFamily="18" charset="0"/>
                <a:ea typeface="MS Mincho" panose="02020609040205080304" pitchFamily="49" charset="-128"/>
              </a:rPr>
              <a:t>Cicli</a:t>
            </a:r>
            <a:r>
              <a:rPr lang="it-IT" sz="1800" dirty="0">
                <a:effectLst/>
                <a:latin typeface="Times New Roman" panose="02020603050405020304" pitchFamily="18" charset="0"/>
                <a:ea typeface="MS Mincho" panose="02020609040205080304" pitchFamily="49" charset="-128"/>
              </a:rPr>
              <a:t> (o </a:t>
            </a:r>
            <a:r>
              <a:rPr lang="it-IT" sz="1800" b="1" dirty="0">
                <a:effectLst/>
                <a:latin typeface="Times New Roman" panose="02020603050405020304" pitchFamily="18" charset="0"/>
                <a:ea typeface="MS Mincho" panose="02020609040205080304" pitchFamily="49" charset="-128"/>
              </a:rPr>
              <a:t>strutture di controllo iterative</a:t>
            </a:r>
            <a:r>
              <a:rPr lang="it-IT" sz="1800" dirty="0">
                <a:effectLst/>
                <a:latin typeface="Times New Roman" panose="02020603050405020304" pitchFamily="18" charset="0"/>
                <a:ea typeface="MS Mincho" panose="02020609040205080304" pitchFamily="49" charset="-128"/>
              </a:rPr>
              <a:t>): consentono, in fase di runtime, di decidere il numero di esecuzioni di determinate istruzioni. </a:t>
            </a:r>
          </a:p>
          <a:p>
            <a:r>
              <a:rPr lang="it-IT" sz="1800" dirty="0">
                <a:effectLst/>
                <a:latin typeface="Times New Roman" panose="02020603050405020304" pitchFamily="18" charset="0"/>
                <a:ea typeface="Times New Roman" panose="02020603050405020304" pitchFamily="18" charset="0"/>
              </a:rPr>
              <a:t>Java, definisce essenzialmente due </a:t>
            </a:r>
            <a:r>
              <a:rPr lang="it-IT" sz="1800" i="1" dirty="0">
                <a:effectLst/>
                <a:latin typeface="Times New Roman" panose="02020603050405020304" pitchFamily="18" charset="0"/>
                <a:ea typeface="Times New Roman" panose="02020603050405020304" pitchFamily="18" charset="0"/>
              </a:rPr>
              <a:t>condizioni</a:t>
            </a:r>
            <a:r>
              <a:rPr lang="it-IT" sz="1800" dirty="0">
                <a:effectLst/>
                <a:latin typeface="Times New Roman" panose="02020603050405020304" pitchFamily="18" charset="0"/>
                <a:ea typeface="Times New Roman" panose="02020603050405020304" pitchFamily="18" charset="0"/>
              </a:rPr>
              <a:t>: il costrutto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if</a:t>
            </a:r>
            <a:r>
              <a:rPr lang="it-IT" sz="1800" dirty="0">
                <a:effectLst/>
                <a:latin typeface="Times New Roman" panose="02020603050405020304" pitchFamily="18" charset="0"/>
                <a:ea typeface="Times New Roman" panose="02020603050405020304" pitchFamily="18" charset="0"/>
              </a:rPr>
              <a:t> ed il costrutto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switch</a:t>
            </a:r>
            <a:r>
              <a:rPr lang="it-IT" sz="1800" dirty="0">
                <a:effectLst/>
                <a:latin typeface="Times New Roman" panose="02020603050405020304" pitchFamily="18" charset="0"/>
                <a:ea typeface="Times New Roman" panose="02020603050405020304" pitchFamily="18" charset="0"/>
              </a:rPr>
              <a:t> (che però tratteremo nel paragrafo 4.4), cui si aggiunge l’operatore ternario. I costrutti di tipo </a:t>
            </a:r>
            <a:r>
              <a:rPr lang="it-IT" sz="1800" i="1" dirty="0">
                <a:effectLst/>
                <a:latin typeface="Times New Roman" panose="02020603050405020304" pitchFamily="18" charset="0"/>
                <a:ea typeface="Times New Roman" panose="02020603050405020304" pitchFamily="18" charset="0"/>
              </a:rPr>
              <a:t>ciclo</a:t>
            </a:r>
            <a:r>
              <a:rPr lang="it-IT" sz="1800" dirty="0">
                <a:effectLst/>
                <a:latin typeface="Times New Roman" panose="02020603050405020304" pitchFamily="18" charset="0"/>
                <a:ea typeface="Times New Roman" panose="02020603050405020304" pitchFamily="18" charset="0"/>
              </a:rPr>
              <a:t> invece sono quattro: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while</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for</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do </a:t>
            </a:r>
            <a:r>
              <a:rPr lang="it-IT" sz="1800" dirty="0">
                <a:effectLst/>
                <a:latin typeface="Times New Roman" panose="02020603050405020304" pitchFamily="18" charset="0"/>
                <a:ea typeface="Times New Roman" panose="02020603050405020304" pitchFamily="18" charset="0"/>
              </a:rPr>
              <a:t>(detto anche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do-while</a:t>
            </a:r>
            <a:r>
              <a:rPr lang="it-IT" sz="1800" dirty="0">
                <a:effectLst/>
                <a:latin typeface="Times New Roman" panose="02020603050405020304" pitchFamily="18" charset="0"/>
                <a:ea typeface="Times New Roman" panose="02020603050405020304" pitchFamily="18" charset="0"/>
              </a:rPr>
              <a:t>) e il </a:t>
            </a:r>
            <a:r>
              <a:rPr lang="it-IT" sz="1800" i="1" dirty="0">
                <a:effectLst/>
                <a:latin typeface="Times New Roman" panose="02020603050405020304" pitchFamily="18" charset="0"/>
                <a:ea typeface="Times New Roman" panose="02020603050405020304" pitchFamily="18" charset="0"/>
              </a:rPr>
              <a:t>ciclo for migliorato</a:t>
            </a:r>
            <a:r>
              <a:rPr lang="it-IT" sz="1800" dirty="0">
                <a:effectLst/>
                <a:latin typeface="Times New Roman" panose="02020603050405020304" pitchFamily="18" charset="0"/>
                <a:ea typeface="Times New Roman" panose="02020603050405020304" pitchFamily="18" charset="0"/>
              </a:rPr>
              <a:t> (detto anche </a:t>
            </a:r>
            <a:r>
              <a:rPr lang="it-IT" sz="1800" i="1" dirty="0">
                <a:effectLst/>
                <a:latin typeface="Times New Roman" panose="02020603050405020304" pitchFamily="18" charset="0"/>
                <a:ea typeface="Times New Roman" panose="02020603050405020304" pitchFamily="18" charset="0"/>
              </a:rPr>
              <a:t>foreach</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I costrutti principali (almeno da un punto di vista storico) possono essere considerati la condizione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if</a:t>
            </a:r>
            <a:r>
              <a:rPr lang="it-IT" sz="1800" dirty="0">
                <a:effectLst/>
                <a:latin typeface="Times New Roman" panose="02020603050405020304" pitchFamily="18" charset="0"/>
                <a:ea typeface="Times New Roman" panose="02020603050405020304" pitchFamily="18" charset="0"/>
              </a:rPr>
              <a:t> ed il ciclo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while</a:t>
            </a:r>
            <a:r>
              <a:rPr lang="it-IT" sz="1800" dirty="0">
                <a:effectLst/>
                <a:latin typeface="Times New Roman" panose="02020603050405020304" pitchFamily="18" charset="0"/>
                <a:ea typeface="Times New Roman" panose="02020603050405020304" pitchFamily="18" charset="0"/>
              </a:rPr>
              <a:t> (e quindi inizieremo dalla loro descrizione). Un programmatore in grado di utilizzare questi due costrutti, sarà in grado di codificare un qualsiasi tipo di istruzione. La sintassi di questi due costrutti è molto semplice, e per questo vengono anche detti </a:t>
            </a:r>
            <a:r>
              <a:rPr lang="it-IT" sz="1800" b="1" dirty="0">
                <a:effectLst/>
                <a:latin typeface="Times New Roman" panose="02020603050405020304" pitchFamily="18" charset="0"/>
                <a:ea typeface="Times New Roman" panose="02020603050405020304" pitchFamily="18" charset="0"/>
              </a:rPr>
              <a:t>costrutti di programmazione semplici</a:t>
            </a:r>
            <a:r>
              <a:rPr lang="it-IT" sz="1800" dirty="0">
                <a:effectLst/>
                <a:latin typeface="Times New Roman" panose="02020603050405020304" pitchFamily="18" charset="0"/>
                <a:ea typeface="Times New Roman" panose="02020603050405020304" pitchFamily="18" charset="0"/>
              </a:rPr>
              <a:t>.</a:t>
            </a:r>
          </a:p>
          <a:p>
            <a:r>
              <a:rPr lang="it-IT" sz="1800" b="1" dirty="0">
                <a:effectLst/>
                <a:latin typeface="Times New Roman" panose="02020603050405020304" pitchFamily="18" charset="0"/>
                <a:ea typeface="Times New Roman" panose="02020603050405020304" pitchFamily="18" charset="0"/>
              </a:rPr>
              <a:t>(ICONA JAVA 11)</a:t>
            </a:r>
            <a:endParaRPr lang="it-IT" sz="1800" dirty="0">
              <a:effectLst/>
              <a:latin typeface="Times New Roman" panose="02020603050405020304" pitchFamily="18"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È probabile, che per scrivere molti degli esempi e degli esercizi per studiare i prossimi paragrafi, preferiate creare comunque semplici classi con un metodo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main</a:t>
            </a:r>
            <a:r>
              <a:rPr lang="it-IT" sz="1800" b="1" dirty="0">
                <a:solidFill>
                  <a:srgbClr val="000000"/>
                </a:solidFill>
                <a:effectLst/>
                <a:latin typeface="Times New Roman" panose="02020603050405020304" pitchFamily="18" charset="0"/>
                <a:ea typeface="Times New Roman" panose="02020603050405020304" pitchFamily="18" charset="0"/>
              </a:rPr>
              <a:t>, piuttosto che utilizzare lo strumento </a:t>
            </a:r>
            <a:r>
              <a:rPr lang="it-IT" sz="18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JShell</a:t>
            </a:r>
            <a:r>
              <a:rPr lang="it-IT" sz="1800" b="1" dirty="0">
                <a:solidFill>
                  <a:srgbClr val="000000"/>
                </a:solidFill>
                <a:effectLst/>
                <a:latin typeface="Times New Roman" panose="02020603050405020304" pitchFamily="18" charset="0"/>
                <a:ea typeface="Times New Roman" panose="02020603050405020304" pitchFamily="18" charset="0"/>
              </a:rPr>
              <a:t> introdotto con l’approfondimento 4.1. Per accelerare il vostro ciclo di sviluppo, soprattutto se avete scelto di scrivere i vostri esercizi tramite riga di comando e JDK, potreste essere interessati alla possibilità che è stata introdotta con Java 11, di poter lanciare file sorgente (suffisso </a:t>
            </a:r>
            <a:r>
              <a:rPr lang="it-IT" sz="18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.java</a:t>
            </a:r>
            <a:r>
              <a:rPr lang="it-IT" sz="1800" b="1" dirty="0">
                <a:solidFill>
                  <a:srgbClr val="000000"/>
                </a:solidFill>
                <a:effectLst/>
                <a:latin typeface="Times New Roman" panose="02020603050405020304" pitchFamily="18" charset="0"/>
                <a:ea typeface="Times New Roman" panose="02020603050405020304" pitchFamily="18" charset="0"/>
              </a:rPr>
              <a:t>), direttamente, senza compilare. Uno specifico tutorial, che spiega questa caratteristica e anche come creare lanciare </a:t>
            </a:r>
            <a:r>
              <a:rPr lang="it-IT" sz="1800" b="1" i="1" dirty="0">
                <a:solidFill>
                  <a:srgbClr val="000000"/>
                </a:solidFill>
                <a:effectLst/>
                <a:latin typeface="Times New Roman" panose="02020603050405020304" pitchFamily="18" charset="0"/>
                <a:ea typeface="Times New Roman" panose="02020603050405020304" pitchFamily="18" charset="0"/>
              </a:rPr>
              <a:t>file shebang</a:t>
            </a:r>
            <a:r>
              <a:rPr lang="it-IT" sz="1800" b="1" dirty="0">
                <a:solidFill>
                  <a:srgbClr val="000000"/>
                </a:solidFill>
                <a:effectLst/>
                <a:latin typeface="Times New Roman" panose="02020603050405020304" pitchFamily="18" charset="0"/>
                <a:ea typeface="Times New Roman" panose="02020603050405020304" pitchFamily="18" charset="0"/>
              </a:rPr>
              <a:t> tramite Java su piattaforme che supportano questo specifico tipo di file, è costituito dall’approfondimento 4.3 che trovate online. Tale approfondimento, può risultare interessante anche a chi ha scelto di lavorare con un IDE come Eclipse, che di default, non ha bisogno di compilare i file che vengono compilati al volo. Infatti, Eclipse e gli altri IDE, comunque richiedono la creazione di un progetto prima di creare una classe. </a:t>
            </a:r>
            <a:endParaRPr lang="it-IT" sz="1800" b="1" dirty="0">
              <a:effectLst/>
              <a:latin typeface="Times New Roman" panose="02020603050405020304" pitchFamily="18" charset="0"/>
              <a:ea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pPr marL="914400"/>
            <a:r>
              <a:rPr lang="it-IT" sz="1800" b="1" dirty="0">
                <a:solidFill>
                  <a:srgbClr val="000000"/>
                </a:solidFill>
                <a:effectLst/>
                <a:latin typeface="Times New Roman" panose="02020603050405020304" pitchFamily="18" charset="0"/>
                <a:ea typeface="Times New Roman" panose="02020603050405020304" pitchFamily="18" charset="0"/>
              </a:rPr>
              <a:t>Questa regola vale per tutti i costrutti di programmazione. Si consiglia comunque di utilizzare un blocco di codice (mediante l'utilizzo di parentesi graffe) anche per circondare un’unica istruzione. Infatti, questa pratica aggiunge leggibilità e favorisce l’evoluzione del codice. </a:t>
            </a:r>
            <a:endParaRPr lang="it-IT" sz="18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4584777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endParaRPr lang="it-IT"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9914044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endParaRPr lang="it-IT"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8427774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endParaRPr lang="it-IT"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5271543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Il funzionamento dovrebbe essere abbastanza intuitivo. 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espressione-booleana1</a:t>
            </a:r>
            <a:r>
              <a:rPr lang="it-IT" sz="1800" dirty="0">
                <a:effectLst/>
                <a:latin typeface="Times New Roman" panose="02020603050405020304" pitchFamily="18" charset="0"/>
                <a:ea typeface="Times New Roman" panose="02020603050405020304" pitchFamily="18" charset="0"/>
              </a:rPr>
              <a:t> vale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true</a:t>
            </a:r>
            <a:r>
              <a:rPr lang="it-IT" sz="1800" dirty="0">
                <a:effectLst/>
                <a:latin typeface="Times New Roman" panose="02020603050405020304" pitchFamily="18" charset="0"/>
                <a:ea typeface="Times New Roman" panose="02020603050405020304" pitchFamily="18" charset="0"/>
              </a:rPr>
              <a:t>, allora verranno eseguite le istruzioni del primo blocco di codice, e di sicuro non verranno eseguite tutte le altre istruzioni in tutti gli altri blocchi di codice. Infatti le altre condizioni booleane verranno ignorate, e il flusso di esecuzione del codice si sposterà fuori dall’intero costrutto (dopo l’ultima parentesi graffa che definisce il blocco di codice della clausola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else</a:t>
            </a:r>
            <a:r>
              <a:rPr lang="it-IT" sz="1800" dirty="0">
                <a:effectLst/>
                <a:latin typeface="Times New Roman" panose="02020603050405020304" pitchFamily="18" charset="0"/>
                <a:ea typeface="Times New Roman" panose="02020603050405020304" pitchFamily="18" charset="0"/>
              </a:rPr>
              <a:t>). È scontato dire che 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espressione-booleana1</a:t>
            </a:r>
            <a:r>
              <a:rPr lang="it-IT" sz="1800" dirty="0">
                <a:effectLst/>
                <a:latin typeface="Times New Roman" panose="02020603050405020304" pitchFamily="18" charset="0"/>
                <a:ea typeface="Times New Roman" panose="02020603050405020304" pitchFamily="18" charset="0"/>
              </a:rPr>
              <a:t> vale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false</a:t>
            </a:r>
            <a:r>
              <a:rPr lang="it-IT" sz="1800" dirty="0">
                <a:effectLst/>
                <a:latin typeface="Times New Roman" panose="02020603050405020304" pitchFamily="18" charset="0"/>
                <a:ea typeface="Times New Roman" panose="02020603050405020304" pitchFamily="18" charset="0"/>
              </a:rPr>
              <a:t>, allora si andrebbe a valutare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espressione-booleana2</a:t>
            </a:r>
            <a:r>
              <a:rPr lang="it-IT" sz="1800" dirty="0">
                <a:effectLst/>
                <a:latin typeface="Times New Roman" panose="02020603050405020304" pitchFamily="18" charset="0"/>
                <a:ea typeface="Times New Roman" panose="02020603050405020304" pitchFamily="18" charset="0"/>
              </a:rPr>
              <a:t> , e se questa fosse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true</a:t>
            </a:r>
            <a:r>
              <a:rPr lang="it-IT" sz="1800" dirty="0">
                <a:effectLst/>
                <a:latin typeface="Times New Roman" panose="02020603050405020304" pitchFamily="18" charset="0"/>
                <a:ea typeface="Times New Roman" panose="02020603050405020304" pitchFamily="18" charset="0"/>
              </a:rPr>
              <a:t> si eseguirebbero i relativi statement e si ignorerebbero tutte le altre linee di codice che abbiamo scritto. Ovviamente, se anche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espressione-booleana2</a:t>
            </a:r>
            <a:r>
              <a:rPr lang="it-IT" sz="1800" dirty="0">
                <a:effectLst/>
                <a:latin typeface="Times New Roman" panose="02020603050405020304" pitchFamily="18" charset="0"/>
                <a:ea typeface="Times New Roman" panose="02020603050405020304" pitchFamily="18" charset="0"/>
              </a:rPr>
              <a:t> valesse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false</a:t>
            </a:r>
            <a:r>
              <a:rPr lang="it-IT" sz="1800" dirty="0">
                <a:effectLst/>
                <a:latin typeface="Times New Roman" panose="02020603050405020304" pitchFamily="18" charset="0"/>
                <a:ea typeface="Times New Roman" panose="02020603050405020304" pitchFamily="18" charset="0"/>
              </a:rPr>
              <a:t>, allora si andrebbe a valutare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espressione-booleana3</a:t>
            </a:r>
            <a:r>
              <a:rPr lang="it-IT" sz="1800" dirty="0">
                <a:effectLst/>
                <a:latin typeface="Times New Roman" panose="02020603050405020304" pitchFamily="18" charset="0"/>
                <a:ea typeface="Times New Roman" panose="02020603050405020304" pitchFamily="18" charset="0"/>
              </a:rPr>
              <a:t>, e se questa fosse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true</a:t>
            </a:r>
            <a:r>
              <a:rPr lang="it-IT" sz="1800" dirty="0">
                <a:effectLst/>
                <a:latin typeface="Times New Roman" panose="02020603050405020304" pitchFamily="18" charset="0"/>
                <a:ea typeface="Times New Roman" panose="02020603050405020304" pitchFamily="18" charset="0"/>
              </a:rPr>
              <a:t> si eseguirebbero i relativi statement e si ignorerebbe il resto del codice. Infine, se tutte e tre le espressioni booleane risultassero non verificate (ovvero valessero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false</a:t>
            </a:r>
            <a:r>
              <a:rPr lang="it-IT" sz="1800" dirty="0">
                <a:effectLst/>
                <a:latin typeface="Times New Roman" panose="02020603050405020304" pitchFamily="18" charset="0"/>
                <a:ea typeface="Times New Roman" panose="02020603050405020304" pitchFamily="18" charset="0"/>
              </a:rPr>
              <a:t>), allora verrebbero eseguiti tutti gli statement contenuti nel blocco di codice relativo alla clausola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else</a:t>
            </a:r>
            <a:r>
              <a:rPr lang="it-IT" sz="1800" dirty="0">
                <a:effectLst/>
                <a:latin typeface="Times New Roman" panose="02020603050405020304" pitchFamily="18" charset="0"/>
                <a:ea typeface="Times New Roman" panose="02020603050405020304" pitchFamily="18" charset="0"/>
              </a:rPr>
              <a:t>.</a:t>
            </a:r>
          </a:p>
          <a:p>
            <a:r>
              <a:rPr lang="it-IT" sz="1800" b="1" dirty="0">
                <a:effectLst/>
                <a:latin typeface="Times New Roman" panose="02020603050405020304" pitchFamily="18" charset="0"/>
                <a:ea typeface="Times New Roman" panose="02020603050405020304" pitchFamily="18" charset="0"/>
              </a:rPr>
              <a:t>(ICONA IMPORTANTE)</a:t>
            </a:r>
            <a:endParaRPr lang="it-IT" sz="1800" dirty="0">
              <a:effectLst/>
              <a:latin typeface="Times New Roman" panose="02020603050405020304" pitchFamily="18"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Ricordiamo che una variabile condivide il suo ciclo di vita con il blocco di codice in cui è definita. Quindi. una variabile locale dichiarata all’interno di un blocco di codice di una clausola </a:t>
            </a:r>
            <a:r>
              <a:rPr lang="it-IT" sz="1800" b="1" dirty="0">
                <a:solidFill>
                  <a:srgbClr val="000000"/>
                </a:solidFill>
                <a:effectLst/>
                <a:latin typeface="Courier New" panose="02070309020205020404" pitchFamily="49" charset="0"/>
                <a:ea typeface="MS Mincho" panose="02020609040205080304" pitchFamily="49" charset="-128"/>
                <a:cs typeface="Courier New" panose="02070309020205020404" pitchFamily="49" charset="0"/>
              </a:rPr>
              <a:t>if</a:t>
            </a:r>
            <a:r>
              <a:rPr lang="it-IT" sz="1800" b="1" dirty="0">
                <a:solidFill>
                  <a:srgbClr val="000000"/>
                </a:solidFill>
                <a:effectLst/>
                <a:latin typeface="Times New Roman" panose="02020603050405020304" pitchFamily="18" charset="0"/>
                <a:ea typeface="Times New Roman" panose="02020603050405020304" pitchFamily="18" charset="0"/>
              </a:rPr>
              <a:t>, non sarà visibile al di fuori di esso.</a:t>
            </a:r>
            <a:endParaRPr lang="it-IT" sz="1800" b="1" dirty="0">
              <a:effectLst/>
              <a:latin typeface="Times New Roman" panose="02020603050405020304" pitchFamily="18" charset="0"/>
              <a:ea typeface="Times New Roman" panose="02020603050405020304" pitchFamily="18" charset="0"/>
            </a:endParaRPr>
          </a:p>
          <a:p>
            <a:r>
              <a:rPr lang="it-IT" sz="1800" b="1" dirty="0">
                <a:effectLst/>
                <a:latin typeface="Times New Roman" panose="02020603050405020304" pitchFamily="18" charset="0"/>
                <a:ea typeface="Times New Roman" panose="02020603050405020304" pitchFamily="18" charset="0"/>
              </a:rPr>
              <a:t>(ICONA ERRORE COMUNE)</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Possiamo anche annidare più costrutti, ed ogni volta che lo facciamo il codice diventa più complesso. I due seguenti frammenti di codice possono sembrare equivalenti.</a:t>
            </a:r>
          </a:p>
          <a:p>
            <a:r>
              <a:rPr lang="en-GB" sz="1800" dirty="0">
                <a:solidFill>
                  <a:srgbClr val="000000"/>
                </a:solidFill>
                <a:effectLst/>
                <a:latin typeface="Courier New" panose="02070309020205020404" pitchFamily="49" charset="0"/>
                <a:ea typeface="Times New Roman" panose="02020603050405020304" pitchFamily="18" charset="0"/>
              </a:rPr>
              <a:t>. . .</a:t>
            </a:r>
            <a:endParaRPr lang="it-IT" sz="1800" dirty="0">
              <a:effectLst/>
              <a:latin typeface="Courier New" panose="02070309020205020404" pitchFamily="49" charset="0"/>
              <a:ea typeface="Times New Roman" panose="02020603050405020304" pitchFamily="18" charset="0"/>
            </a:endParaRPr>
          </a:p>
          <a:p>
            <a:r>
              <a:rPr lang="en-GB" sz="1800" b="1" dirty="0">
                <a:solidFill>
                  <a:srgbClr val="000000"/>
                </a:solidFill>
                <a:effectLst/>
                <a:latin typeface="Courier New" panose="02070309020205020404" pitchFamily="49" charset="0"/>
                <a:ea typeface="Times New Roman" panose="02020603050405020304" pitchFamily="18" charset="0"/>
              </a:rPr>
              <a:t>if</a:t>
            </a:r>
            <a:r>
              <a:rPr lang="en-GB" sz="1800" dirty="0">
                <a:solidFill>
                  <a:srgbClr val="000000"/>
                </a:solidFill>
                <a:effectLst/>
                <a:latin typeface="Courier New" panose="02070309020205020404" pitchFamily="49" charset="0"/>
                <a:ea typeface="Times New Roman" panose="02020603050405020304" pitchFamily="18" charset="0"/>
              </a:rPr>
              <a:t> (x != 0)</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a:t>
            </a:r>
            <a:r>
              <a:rPr lang="en-GB" sz="1800" b="1" dirty="0">
                <a:solidFill>
                  <a:srgbClr val="000000"/>
                </a:solidFill>
                <a:effectLst/>
                <a:latin typeface="Courier New" panose="02070309020205020404" pitchFamily="49" charset="0"/>
                <a:ea typeface="Times New Roman" panose="02020603050405020304" pitchFamily="18" charset="0"/>
              </a:rPr>
              <a:t>if</a:t>
            </a:r>
            <a:r>
              <a:rPr lang="en-GB" sz="1800" dirty="0">
                <a:solidFill>
                  <a:srgbClr val="000000"/>
                </a:solidFill>
                <a:effectLst/>
                <a:latin typeface="Courier New" panose="02070309020205020404" pitchFamily="49" charset="0"/>
                <a:ea typeface="Times New Roman" panose="02020603050405020304" pitchFamily="18" charset="0"/>
              </a:rPr>
              <a:t> (y &lt; 10)</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z = 5;</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a:t>
            </a:r>
            <a:r>
              <a:rPr lang="en-GB" sz="1800" b="1" dirty="0">
                <a:solidFill>
                  <a:srgbClr val="000000"/>
                </a:solidFill>
                <a:effectLst/>
                <a:latin typeface="Courier New" panose="02070309020205020404" pitchFamily="49" charset="0"/>
                <a:ea typeface="Times New Roman" panose="02020603050405020304" pitchFamily="18" charset="0"/>
              </a:rPr>
              <a:t>else	</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z = 7;</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 .</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 .</a:t>
            </a:r>
            <a:endParaRPr lang="it-IT" sz="1800" dirty="0">
              <a:effectLst/>
              <a:latin typeface="Courier New" panose="02070309020205020404" pitchFamily="49" charset="0"/>
              <a:ea typeface="Times New Roman" panose="02020603050405020304" pitchFamily="18" charset="0"/>
            </a:endParaRPr>
          </a:p>
          <a:p>
            <a:r>
              <a:rPr lang="en-GB" sz="1800" b="1" dirty="0">
                <a:solidFill>
                  <a:srgbClr val="000000"/>
                </a:solidFill>
                <a:effectLst/>
                <a:latin typeface="Courier New" panose="02070309020205020404" pitchFamily="49" charset="0"/>
                <a:ea typeface="Times New Roman" panose="02020603050405020304" pitchFamily="18" charset="0"/>
              </a:rPr>
              <a:t>if</a:t>
            </a:r>
            <a:r>
              <a:rPr lang="en-GB" sz="1800" dirty="0">
                <a:solidFill>
                  <a:srgbClr val="000000"/>
                </a:solidFill>
                <a:effectLst/>
                <a:latin typeface="Courier New" panose="02070309020205020404" pitchFamily="49" charset="0"/>
                <a:ea typeface="Times New Roman" panose="02020603050405020304" pitchFamily="18" charset="0"/>
              </a:rPr>
              <a:t> (x != 0) {</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a:t>
            </a:r>
            <a:r>
              <a:rPr lang="en-GB" sz="1800" b="1" dirty="0">
                <a:solidFill>
                  <a:srgbClr val="000000"/>
                </a:solidFill>
                <a:effectLst/>
                <a:latin typeface="Courier New" panose="02070309020205020404" pitchFamily="49" charset="0"/>
                <a:ea typeface="Times New Roman" panose="02020603050405020304" pitchFamily="18" charset="0"/>
              </a:rPr>
              <a:t>if</a:t>
            </a:r>
            <a:r>
              <a:rPr lang="en-GB" sz="1800" dirty="0">
                <a:solidFill>
                  <a:srgbClr val="000000"/>
                </a:solidFill>
                <a:effectLst/>
                <a:latin typeface="Courier New" panose="02070309020205020404" pitchFamily="49" charset="0"/>
                <a:ea typeface="Times New Roman" panose="02020603050405020304" pitchFamily="18" charset="0"/>
              </a:rPr>
              <a:t> (y &lt; 10)</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z = 5;</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a:t>
            </a:r>
            <a:r>
              <a:rPr lang="en-GB" sz="1800" b="1" dirty="0">
                <a:solidFill>
                  <a:srgbClr val="000000"/>
                </a:solidFill>
                <a:effectLst/>
                <a:latin typeface="Courier New" panose="02070309020205020404" pitchFamily="49" charset="0"/>
                <a:ea typeface="Times New Roman" panose="02020603050405020304" pitchFamily="18" charset="0"/>
              </a:rPr>
              <a:t>else</a:t>
            </a:r>
            <a:r>
              <a:rPr lang="en-GB"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z = 7;</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 .	</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 realtà, il frammento di codice a sinistra mostra un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if</a:t>
            </a:r>
            <a:r>
              <a:rPr lang="it-IT" sz="1800" dirty="0">
                <a:effectLst/>
                <a:latin typeface="Times New Roman" panose="02020603050405020304" pitchFamily="18" charset="0"/>
                <a:ea typeface="Times New Roman" panose="02020603050405020304" pitchFamily="18" charset="0"/>
              </a:rPr>
              <a:t> che annida un costrutto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if - else</a:t>
            </a:r>
            <a:r>
              <a:rPr lang="it-IT" sz="1800" dirty="0">
                <a:effectLst/>
                <a:latin typeface="Times New Roman" panose="02020603050405020304" pitchFamily="18" charset="0"/>
                <a:ea typeface="Times New Roman" panose="02020603050405020304" pitchFamily="18" charset="0"/>
              </a:rPr>
              <a:t>. Il frammento di codice a destra invece mostra un costrutto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if – else</a:t>
            </a:r>
            <a:r>
              <a:rPr lang="it-IT" sz="1800" dirty="0">
                <a:effectLst/>
                <a:latin typeface="Times New Roman" panose="02020603050405020304" pitchFamily="18" charset="0"/>
                <a:ea typeface="Times New Roman" panose="02020603050405020304" pitchFamily="18" charset="0"/>
              </a:rPr>
              <a:t> che annida un costrutto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if</a:t>
            </a:r>
            <a:r>
              <a:rPr lang="it-IT" sz="1800" dirty="0">
                <a:effectLst/>
                <a:latin typeface="Times New Roman" panose="02020603050405020304" pitchFamily="18" charset="0"/>
                <a:ea typeface="Times New Roman" panose="02020603050405020304" pitchFamily="18" charset="0"/>
              </a:rPr>
              <a:t>.</a:t>
            </a:r>
          </a:p>
          <a:p>
            <a:r>
              <a:rPr lang="it-IT" sz="1800" b="1" dirty="0">
                <a:effectLst/>
                <a:latin typeface="Times New Roman" panose="02020603050405020304" pitchFamily="18" charset="0"/>
                <a:ea typeface="Times New Roman" panose="02020603050405020304" pitchFamily="18" charset="0"/>
              </a:rPr>
              <a:t>(ICONA CURIOSITÀ)</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Le istruzioni all’interno di uno blocco di codice di una clausola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if</a:t>
            </a:r>
            <a:r>
              <a:rPr lang="it-IT" sz="1800" dirty="0">
                <a:effectLst/>
                <a:latin typeface="Times New Roman" panose="02020603050405020304" pitchFamily="18" charset="0"/>
                <a:ea typeface="Times New Roman" panose="02020603050405020304" pitchFamily="18" charset="0"/>
              </a:rPr>
              <a:t>, sono opzionali. È legale per esempio dichiarare costrutti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if</a:t>
            </a:r>
            <a:r>
              <a:rPr lang="it-IT" sz="1800" dirty="0">
                <a:effectLst/>
                <a:latin typeface="Times New Roman" panose="02020603050405020304" pitchFamily="18" charset="0"/>
                <a:ea typeface="Times New Roman" panose="02020603050405020304" pitchFamily="18" charset="0"/>
              </a:rPr>
              <a:t> che non eseguono codice, come i seguenti:</a:t>
            </a:r>
          </a:p>
          <a:p>
            <a:r>
              <a:rPr lang="en-GB" sz="1800" dirty="0">
                <a:solidFill>
                  <a:srgbClr val="000000"/>
                </a:solidFill>
                <a:effectLst/>
                <a:latin typeface="Courier New" panose="02070309020205020404" pitchFamily="49" charset="0"/>
                <a:ea typeface="Times New Roman" panose="02020603050405020304" pitchFamily="18" charset="0"/>
              </a:rPr>
              <a:t>if</a:t>
            </a:r>
            <a:r>
              <a:rPr lang="it-IT" sz="1800" dirty="0">
                <a:solidFill>
                  <a:srgbClr val="000000"/>
                </a:solidFill>
                <a:effectLst/>
                <a:latin typeface="Courier New" panose="02070309020205020404" pitchFamily="49" charset="0"/>
                <a:ea typeface="Times New Roman" panose="02020603050405020304" pitchFamily="18" charset="0"/>
              </a:rPr>
              <a:t>(</a:t>
            </a:r>
            <a:r>
              <a:rPr lang="en-GB" sz="1800" dirty="0">
                <a:solidFill>
                  <a:srgbClr val="000000"/>
                </a:solidFill>
                <a:effectLst/>
                <a:latin typeface="Courier New" panose="02070309020205020404" pitchFamily="49" charset="0"/>
                <a:ea typeface="Times New Roman" panose="02020603050405020304" pitchFamily="18" charset="0"/>
              </a:rPr>
              <a:t>true</a:t>
            </a:r>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if</a:t>
            </a:r>
            <a:r>
              <a:rPr lang="it-IT" sz="1800" dirty="0">
                <a:solidFill>
                  <a:srgbClr val="000000"/>
                </a:solidFill>
                <a:effectLst/>
                <a:latin typeface="Courier New" panose="02070309020205020404" pitchFamily="49" charset="0"/>
                <a:ea typeface="Times New Roman" panose="02020603050405020304" pitchFamily="18" charset="0"/>
              </a:rPr>
              <a:t>(</a:t>
            </a:r>
            <a:r>
              <a:rPr lang="en-GB" sz="1800" dirty="0">
                <a:solidFill>
                  <a:srgbClr val="000000"/>
                </a:solidFill>
                <a:effectLst/>
                <a:latin typeface="Courier New" panose="02070309020205020404" pitchFamily="49" charset="0"/>
                <a:ea typeface="Times New Roman" panose="02020603050405020304" pitchFamily="18" charset="0"/>
              </a:rPr>
              <a:t>false</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if</a:t>
            </a:r>
            <a:r>
              <a:rPr lang="it-IT" sz="1800" dirty="0">
                <a:solidFill>
                  <a:srgbClr val="000000"/>
                </a:solidFill>
                <a:effectLst/>
                <a:latin typeface="Courier New" panose="02070309020205020404" pitchFamily="49" charset="0"/>
                <a:ea typeface="Times New Roman" panose="02020603050405020304" pitchFamily="18" charset="0"/>
              </a:rPr>
              <a:t>(</a:t>
            </a:r>
            <a:r>
              <a:rPr lang="en-GB" sz="1800" dirty="0">
                <a:solidFill>
                  <a:srgbClr val="000000"/>
                </a:solidFill>
                <a:effectLst/>
                <a:latin typeface="Courier New" panose="02070309020205020404" pitchFamily="49" charset="0"/>
                <a:ea typeface="Times New Roman" panose="02020603050405020304" pitchFamily="18" charset="0"/>
              </a:rPr>
              <a:t>true</a:t>
            </a:r>
            <a:r>
              <a:rPr lang="it-IT" sz="1800" dirty="0">
                <a:solidFill>
                  <a:srgbClr val="000000"/>
                </a:solidFill>
                <a:effectLst/>
                <a:latin typeface="Courier New" panose="02070309020205020404" pitchFamily="49" charset="0"/>
                <a:ea typeface="Times New Roman" panose="02020603050405020304" pitchFamily="18" charset="0"/>
              </a:rPr>
              <a:t>) {}</a:t>
            </a:r>
            <a:r>
              <a:rPr lang="en-GB" sz="1800" dirty="0">
                <a:solidFill>
                  <a:srgbClr val="000000"/>
                </a:solidFill>
                <a:effectLst/>
                <a:latin typeface="Courier New" panose="02070309020205020404" pitchFamily="49" charset="0"/>
                <a:ea typeface="Times New Roman" panose="02020603050405020304" pitchFamily="18" charset="0"/>
              </a:rPr>
              <a:t> else if(true) {} else if(false) {} else {}</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Ovviamente istruzioni del genere non hanno alcuna utilità.</a:t>
            </a:r>
          </a:p>
          <a:p>
            <a:r>
              <a:rPr lang="it-IT" sz="1800" b="1" dirty="0">
                <a:effectLst/>
                <a:latin typeface="Times New Roman" panose="02020603050405020304" pitchFamily="18" charset="0"/>
                <a:ea typeface="Times New Roman" panose="02020603050405020304" pitchFamily="18" charset="0"/>
              </a:rPr>
              <a:t>(ICONA ERRORE COMUNE)</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Il seguente frammento di codice, contiene un errore subdolo e difficile da scovare, che viene commesso spesso da chi inizia a programmare:</a:t>
            </a:r>
          </a:p>
          <a:p>
            <a:r>
              <a:rPr lang="en-US" sz="1800" dirty="0">
                <a:solidFill>
                  <a:srgbClr val="000000"/>
                </a:solidFill>
                <a:effectLst/>
                <a:latin typeface="Courier New" panose="02070309020205020404" pitchFamily="49" charset="0"/>
                <a:ea typeface="Times New Roman" panose="02020603050405020304" pitchFamily="18" charset="0"/>
              </a:rPr>
              <a:t>int number = 0;</a:t>
            </a:r>
            <a:endParaRPr lang="it-IT" sz="1800" dirty="0">
              <a:effectLst/>
              <a:latin typeface="Courier New" panose="02070309020205020404" pitchFamily="49" charset="0"/>
              <a:ea typeface="Times New Roman" panose="02020603050405020304" pitchFamily="18" charset="0"/>
            </a:endParaRPr>
          </a:p>
          <a:p>
            <a:r>
              <a:rPr lang="en-US" sz="1800" dirty="0">
                <a:solidFill>
                  <a:srgbClr val="000000"/>
                </a:solidFill>
                <a:effectLst/>
                <a:latin typeface="Courier New" panose="02070309020205020404" pitchFamily="49" charset="0"/>
                <a:ea typeface="Times New Roman" panose="02020603050405020304" pitchFamily="18" charset="0"/>
              </a:rPr>
              <a:t>if (number != 0); {</a:t>
            </a:r>
            <a:endParaRPr lang="it-IT" sz="1800" dirty="0">
              <a:effectLst/>
              <a:latin typeface="Courier New" panose="02070309020205020404" pitchFamily="49" charset="0"/>
              <a:ea typeface="Times New Roman" panose="02020603050405020304" pitchFamily="18" charset="0"/>
            </a:endParaRPr>
          </a:p>
          <a:p>
            <a:r>
              <a:rPr lang="en-US" sz="1800" dirty="0">
                <a:solidFill>
                  <a:srgbClr val="000000"/>
                </a:solidFill>
                <a:effectLst/>
                <a:latin typeface="Courier New" panose="02070309020205020404" pitchFamily="49" charset="0"/>
                <a:ea typeface="Times New Roman" panose="02020603050405020304" pitchFamily="18" charset="0"/>
              </a:rPr>
              <a:t>    System.out.println("The number is " + number);</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L’intenzione sarebbe quello di stampare la frase nel caso la variabile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number</a:t>
            </a:r>
            <a:r>
              <a:rPr lang="it-IT" sz="1800" dirty="0">
                <a:effectLst/>
                <a:latin typeface="Times New Roman" panose="02020603050405020304" pitchFamily="18" charset="0"/>
                <a:ea typeface="Times New Roman" panose="02020603050405020304" pitchFamily="18" charset="0"/>
              </a:rPr>
              <a:t> sia diversa da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Invece, questo snippet stamperà:</a:t>
            </a:r>
          </a:p>
          <a:p>
            <a:pPr marL="457200"/>
            <a:r>
              <a:rPr lang="it-IT" sz="1800" dirty="0">
                <a:solidFill>
                  <a:srgbClr val="FFFFFF"/>
                </a:solidFill>
                <a:effectLst/>
                <a:latin typeface="Courier New" panose="02070309020205020404" pitchFamily="49" charset="0"/>
                <a:ea typeface="MS Mincho" panose="02020609040205080304" pitchFamily="49" charset="-128"/>
              </a:rPr>
              <a:t>The </a:t>
            </a:r>
            <a:r>
              <a:rPr lang="it-IT" sz="1800" dirty="0" err="1">
                <a:solidFill>
                  <a:srgbClr val="FFFFFF"/>
                </a:solidFill>
                <a:effectLst/>
                <a:latin typeface="Courier New" panose="02070309020205020404" pitchFamily="49" charset="0"/>
                <a:ea typeface="MS Mincho" panose="02020609040205080304" pitchFamily="49" charset="-128"/>
              </a:rPr>
              <a:t>number</a:t>
            </a:r>
            <a:r>
              <a:rPr lang="it-IT" sz="1800" dirty="0">
                <a:solidFill>
                  <a:srgbClr val="FFFFFF"/>
                </a:solidFill>
                <a:effectLst/>
                <a:latin typeface="Courier New" panose="02070309020205020404" pitchFamily="49" charset="0"/>
                <a:ea typeface="MS Mincho" panose="02020609040205080304" pitchFamily="49" charset="-128"/>
              </a:rPr>
              <a:t> is 0</a:t>
            </a:r>
            <a:endParaRPr lang="it-IT" sz="1800" dirty="0">
              <a:solidFill>
                <a:srgbClr val="008000"/>
              </a:solidFill>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Infatti, l’errore è quello di aver aggiunto il simbolo di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dopo la condizione dell’</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if</a:t>
            </a:r>
            <a:r>
              <a:rPr lang="it-IT" sz="1800" dirty="0">
                <a:effectLst/>
                <a:latin typeface="Times New Roman" panose="02020603050405020304" pitchFamily="18" charset="0"/>
                <a:ea typeface="Times New Roman" panose="02020603050405020304" pitchFamily="18" charset="0"/>
              </a:rPr>
              <a:t> e prima della parentesi graffa aperta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Questa piccola distrazione ha cambiato il significato del nostro codice, che ora verrà interpretato in maniera diversa da come ci aspettiamo. Per poter rendere leggibile il risultato del nostro problema, riformattiamo il codice:</a:t>
            </a:r>
          </a:p>
          <a:p>
            <a:r>
              <a:rPr lang="en-US" sz="1800" dirty="0">
                <a:solidFill>
                  <a:srgbClr val="000000"/>
                </a:solidFill>
                <a:effectLst/>
                <a:latin typeface="Courier New" panose="02070309020205020404" pitchFamily="49" charset="0"/>
                <a:ea typeface="Times New Roman" panose="02020603050405020304" pitchFamily="18" charset="0"/>
              </a:rPr>
              <a:t>int number = 0;</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if (</a:t>
            </a:r>
            <a:r>
              <a:rPr lang="it-IT" sz="1800" dirty="0" err="1">
                <a:solidFill>
                  <a:srgbClr val="000000"/>
                </a:solidFill>
                <a:effectLst/>
                <a:latin typeface="Courier New" panose="02070309020205020404" pitchFamily="49" charset="0"/>
                <a:ea typeface="Times New Roman" panose="02020603050405020304" pitchFamily="18" charset="0"/>
              </a:rPr>
              <a:t>number</a:t>
            </a:r>
            <a:r>
              <a:rPr lang="it-IT" sz="1800" dirty="0">
                <a:solidFill>
                  <a:srgbClr val="000000"/>
                </a:solidFill>
                <a:effectLst/>
                <a:latin typeface="Courier New" panose="02070309020205020404" pitchFamily="49" charset="0"/>
                <a:ea typeface="Times New Roman" panose="02020603050405020304" pitchFamily="18" charset="0"/>
              </a:rPr>
              <a:t> != 0);</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r>
              <a:rPr lang="en-US" sz="1800" dirty="0">
                <a:solidFill>
                  <a:srgbClr val="000000"/>
                </a:solidFill>
                <a:effectLst/>
                <a:latin typeface="Courier New" panose="02070309020205020404" pitchFamily="49" charset="0"/>
                <a:ea typeface="Times New Roman" panose="02020603050405020304" pitchFamily="18" charset="0"/>
              </a:rPr>
              <a:t>System.out.println("The number is " + number);</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 pratica viene prima eseguita l’istruzione </a:t>
            </a:r>
          </a:p>
          <a:p>
            <a:r>
              <a:rPr lang="en-US" sz="1800" dirty="0">
                <a:solidFill>
                  <a:srgbClr val="000000"/>
                </a:solidFill>
                <a:effectLst/>
                <a:latin typeface="Courier New" panose="02070309020205020404" pitchFamily="49" charset="0"/>
                <a:ea typeface="Times New Roman" panose="02020603050405020304" pitchFamily="18" charset="0"/>
              </a:rPr>
              <a:t>if (number != 0);</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che come abbiamo appena visto, esegue il controllo della condizione, e se è verificato non fa nulla (esegue uno statement vuoto). Subito dopo però, c’è un blocco di codice che viene eseguito in qualsiasi caso, non essendo soggetto alla condizione dell’</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if</a:t>
            </a:r>
            <a:r>
              <a:rPr lang="it-IT" sz="1800" dirty="0">
                <a:effectLst/>
                <a:latin typeface="Times New Roman" panose="02020603050405020304" pitchFamily="18" charset="0"/>
                <a:ea typeface="Times New Roman" panose="02020603050405020304" pitchFamily="18" charset="0"/>
              </a:rPr>
              <a:t>. Questa è la spiegazione per cui, anche se la condizione dell’</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if</a:t>
            </a:r>
            <a:r>
              <a:rPr lang="it-IT" sz="1800" dirty="0">
                <a:effectLst/>
                <a:latin typeface="Times New Roman" panose="02020603050405020304" pitchFamily="18" charset="0"/>
                <a:ea typeface="Times New Roman" panose="02020603050405020304" pitchFamily="18" charset="0"/>
              </a:rPr>
              <a:t> non è verificata, il messaggio viene stampato ugualmente.</a:t>
            </a:r>
          </a:p>
          <a:p>
            <a:endParaRPr lang="it-IT"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0891879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endParaRPr lang="it-IT"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7179138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Analizziamo in sequenza le istruzioni che verrebbero eseguite in fase di runtime (quindi ci limitiamo a considerare le istruzioni all’interno del metodo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main</a:t>
            </a:r>
            <a:r>
              <a:rPr lang="it-IT" sz="1800" dirty="0">
                <a:effectLst/>
                <a:latin typeface="Times New Roman" panose="02020603050405020304" pitchFamily="18" charset="0"/>
                <a:ea typeface="Times New Roman" panose="02020603050405020304" pitchFamily="18" charset="0"/>
              </a:rPr>
              <a:t>). In primo luogo, viene dichiarata ed inizializzata ad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una variabile intera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a:t>
            </a:r>
            <a:r>
              <a:rPr lang="it-IT" sz="1800" dirty="0">
                <a:effectLst/>
                <a:latin typeface="Times New Roman" panose="02020603050405020304" pitchFamily="18" charset="0"/>
                <a:ea typeface="Times New Roman" panose="02020603050405020304" pitchFamily="18" charset="0"/>
              </a:rPr>
              <a:t>. Poi, inizia il ciclo in cui è esaminato il valore booleano dell’espressione in parentesi. Siccome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a:t>
            </a:r>
            <a:r>
              <a:rPr lang="it-IT" sz="1800" dirty="0">
                <a:effectLst/>
                <a:latin typeface="Times New Roman" panose="02020603050405020304" pitchFamily="18" charset="0"/>
                <a:ea typeface="Times New Roman" panose="02020603050405020304" pitchFamily="18" charset="0"/>
              </a:rPr>
              <a:t> è uguale ad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a:t>
            </a:r>
            <a:r>
              <a:rPr lang="it-IT" sz="1800" dirty="0">
                <a:effectLst/>
                <a:latin typeface="Times New Roman" panose="02020603050405020304" pitchFamily="18" charset="0"/>
                <a:ea typeface="Times New Roman" panose="02020603050405020304" pitchFamily="18" charset="0"/>
              </a:rPr>
              <a:t> è anche minore di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10</a:t>
            </a:r>
            <a:r>
              <a:rPr lang="it-IT" sz="1800" dirty="0">
                <a:effectLst/>
                <a:latin typeface="Times New Roman" panose="02020603050405020304" pitchFamily="18" charset="0"/>
                <a:ea typeface="Times New Roman" panose="02020603050405020304" pitchFamily="18" charset="0"/>
              </a:rPr>
              <a:t> e la condizione è verificata. Quindi viene eseguito il blocco di codice, nel quale prima sarà stampato il valore della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a:t>
            </a:r>
            <a:r>
              <a:rPr lang="it-IT" sz="1800" dirty="0">
                <a:effectLst/>
                <a:latin typeface="Times New Roman" panose="02020603050405020304" pitchFamily="18" charset="0"/>
                <a:ea typeface="Times New Roman" panose="02020603050405020304" pitchFamily="18" charset="0"/>
              </a:rPr>
              <a:t> (ovvero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e poi verrà incrementata la variabile stessa di un’unità. Terminato il blocco di codice, verrà nuovamente testato il valore dell’espressione booleana. Durante questo secondo tentativo la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a:t>
            </a:r>
            <a:r>
              <a:rPr lang="it-IT" sz="1800" dirty="0">
                <a:effectLst/>
                <a:latin typeface="Times New Roman" panose="02020603050405020304" pitchFamily="18" charset="0"/>
                <a:ea typeface="Times New Roman" panose="02020603050405020304" pitchFamily="18" charset="0"/>
              </a:rPr>
              <a:t> varrà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2</a:t>
            </a:r>
            <a:r>
              <a:rPr lang="it-IT" sz="1800" dirty="0">
                <a:effectLst/>
                <a:latin typeface="Times New Roman" panose="02020603050405020304" pitchFamily="18" charset="0"/>
                <a:ea typeface="Times New Roman" panose="02020603050405020304" pitchFamily="18" charset="0"/>
              </a:rPr>
              <a:t>. Quindi, anche in questo caso, sarà eseguito di nuovo il blocco di codice. Verrà allora stampato il valore della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a:t>
            </a:r>
            <a:r>
              <a:rPr lang="it-IT" sz="1800" dirty="0">
                <a:effectLst/>
                <a:latin typeface="Times New Roman" panose="02020603050405020304" pitchFamily="18" charset="0"/>
                <a:ea typeface="Times New Roman" panose="02020603050405020304" pitchFamily="18" charset="0"/>
              </a:rPr>
              <a:t> (ovvero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2</a:t>
            </a:r>
            <a:r>
              <a:rPr lang="it-IT" sz="1800" dirty="0">
                <a:effectLst/>
                <a:latin typeface="Times New Roman" panose="02020603050405020304" pitchFamily="18" charset="0"/>
                <a:ea typeface="Times New Roman" panose="02020603050405020304" pitchFamily="18" charset="0"/>
              </a:rPr>
              <a:t>), ed incrementata nuovamente di una unità la variabile stessa. Questo ragionamento si ripete fino a quando la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a:t>
            </a:r>
            <a:r>
              <a:rPr lang="it-IT" sz="1800" dirty="0">
                <a:effectLst/>
                <a:latin typeface="Times New Roman" panose="02020603050405020304" pitchFamily="18" charset="0"/>
                <a:ea typeface="Times New Roman" panose="02020603050405020304" pitchFamily="18" charset="0"/>
              </a:rPr>
              <a:t> non assume il valore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11</a:t>
            </a:r>
            <a:r>
              <a:rPr lang="it-IT" sz="1800" dirty="0">
                <a:effectLst/>
                <a:latin typeface="Times New Roman" panose="02020603050405020304" pitchFamily="18" charset="0"/>
                <a:ea typeface="Times New Roman" panose="02020603050405020304" pitchFamily="18" charset="0"/>
              </a:rPr>
              <a:t>. Quando ciò accadrà, il blocco di codice non verrà eseguito, dal momento che l’espressione booleana non sarà verificata. Il programma quindi eseguirà le istruzioni successive al blocco di codice, ma in questo esempio non ce ne sono, e quindi terminerà.</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Anche per il costrutto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while</a:t>
            </a:r>
            <a:r>
              <a:rPr lang="it-IT" sz="1800" b="1" dirty="0">
                <a:solidFill>
                  <a:srgbClr val="000000"/>
                </a:solidFill>
                <a:effectLst/>
                <a:latin typeface="Times New Roman" panose="02020603050405020304" pitchFamily="18" charset="0"/>
                <a:ea typeface="Times New Roman" panose="02020603050405020304" pitchFamily="18" charset="0"/>
              </a:rPr>
              <a:t>, è possibile evitare l’uso delle parentesi graffe nel caso il codice da iterare sia costituito da un unico statement. Tuttavia è preferibile utilizzare le parentesi graffe in ogni caso.</a:t>
            </a:r>
            <a:endParaRPr lang="it-IT" sz="18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7263317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endParaRPr lang="it-IT"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0141403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sz="1800"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22</a:t>
            </a:fld>
            <a:endParaRPr lang="it-IT"/>
          </a:p>
        </p:txBody>
      </p:sp>
    </p:spTree>
    <p:extLst>
      <p:ext uri="{BB962C8B-B14F-4D97-AF65-F5344CB8AC3E}">
        <p14:creationId xmlns:p14="http://schemas.microsoft.com/office/powerpoint/2010/main" val="27107734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In questo caso, notiamo che la sintassi è più compatta rispetto a quella relativa al ciclo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while</a:t>
            </a:r>
            <a:r>
              <a:rPr lang="it-IT" sz="1800" dirty="0">
                <a:effectLst/>
                <a:latin typeface="Times New Roman" panose="02020603050405020304" pitchFamily="18" charset="0"/>
                <a:ea typeface="Times New Roman" panose="02020603050405020304" pitchFamily="18" charset="0"/>
              </a:rPr>
              <a:t>. Le parentesi tonde di un ciclo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for</a:t>
            </a:r>
            <a:r>
              <a:rPr lang="it-IT" sz="1800" dirty="0">
                <a:effectLst/>
                <a:latin typeface="Times New Roman" panose="02020603050405020304" pitchFamily="18" charset="0"/>
                <a:ea typeface="Times New Roman" panose="02020603050405020304" pitchFamily="18" charset="0"/>
              </a:rPr>
              <a:t> contengono parti separate da punti e virgola. Nella prima parte è dedicata alla inizializzazione delle </a:t>
            </a:r>
            <a:r>
              <a:rPr lang="it-IT" sz="1800" i="1" dirty="0">
                <a:effectLst/>
                <a:latin typeface="Times New Roman" panose="02020603050405020304" pitchFamily="18" charset="0"/>
                <a:ea typeface="Times New Roman" panose="02020603050405020304" pitchFamily="18" charset="0"/>
              </a:rPr>
              <a:t>variabili locali al ciclo</a:t>
            </a:r>
            <a:r>
              <a:rPr lang="it-IT" sz="1800" dirty="0">
                <a:effectLst/>
                <a:latin typeface="Times New Roman" panose="02020603050405020304" pitchFamily="18" charset="0"/>
                <a:ea typeface="Times New Roman" panose="02020603050405020304" pitchFamily="18" charset="0"/>
              </a:rPr>
              <a:t>. Nell’esempio dichiariamo una variabile locale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n</a:t>
            </a:r>
            <a:r>
              <a:rPr lang="it-IT" sz="1800" dirty="0">
                <a:effectLst/>
                <a:latin typeface="Times New Roman" panose="02020603050405020304" pitchFamily="18" charset="0"/>
                <a:ea typeface="Times New Roman" panose="02020603050405020304" pitchFamily="18" charset="0"/>
              </a:rPr>
              <a:t> che smetterà di esistere al termine del ciclo. Nella seconda parte invece, bisogna specificare la </a:t>
            </a:r>
            <a:r>
              <a:rPr lang="it-IT" sz="1800" i="1" dirty="0">
                <a:effectLst/>
                <a:latin typeface="Times New Roman" panose="02020603050405020304" pitchFamily="18" charset="0"/>
                <a:ea typeface="Times New Roman" panose="02020603050405020304" pitchFamily="18" charset="0"/>
              </a:rPr>
              <a:t>condizione</a:t>
            </a:r>
            <a:r>
              <a:rPr lang="it-IT" sz="1800" dirty="0">
                <a:effectLst/>
                <a:latin typeface="Times New Roman" panose="02020603050405020304" pitchFamily="18" charset="0"/>
                <a:ea typeface="Times New Roman" panose="02020603050405020304" pitchFamily="18" charset="0"/>
              </a:rPr>
              <a:t> che deve essere verificata affinché sia eseguita l’iterazione. Nell’esempio, è specificato che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n</a:t>
            </a:r>
            <a:r>
              <a:rPr lang="it-IT" sz="1800" dirty="0">
                <a:effectLst/>
                <a:latin typeface="Times New Roman" panose="02020603050405020304" pitchFamily="18" charset="0"/>
                <a:ea typeface="Times New Roman" panose="02020603050405020304" pitchFamily="18" charset="0"/>
              </a:rPr>
              <a:t> deve essere maggiore di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Infine la terza parte, è dedicata ad istruzioni (solitamente costituite dall’</a:t>
            </a:r>
            <a:r>
              <a:rPr lang="it-IT" sz="1800" i="1" dirty="0">
                <a:effectLst/>
                <a:latin typeface="Times New Roman" panose="02020603050405020304" pitchFamily="18" charset="0"/>
                <a:ea typeface="Times New Roman" panose="02020603050405020304" pitchFamily="18" charset="0"/>
              </a:rPr>
              <a:t>aggiornamento</a:t>
            </a:r>
            <a:r>
              <a:rPr lang="it-IT" sz="1800" dirty="0">
                <a:effectLst/>
                <a:latin typeface="Times New Roman" panose="02020603050405020304" pitchFamily="18" charset="0"/>
                <a:ea typeface="Times New Roman" panose="02020603050405020304" pitchFamily="18" charset="0"/>
              </a:rPr>
              <a:t> della variabile inizializzata nella prima parte), che verrà eseguito automaticamente dopo ogni iterazione.</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Si noti che l’aggiornamento di un ciclo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for</a:t>
            </a:r>
            <a:r>
              <a:rPr lang="it-IT" sz="1800" b="1" dirty="0">
                <a:solidFill>
                  <a:srgbClr val="000000"/>
                </a:solidFill>
                <a:effectLst/>
                <a:latin typeface="Times New Roman" panose="02020603050405020304" pitchFamily="18" charset="0"/>
                <a:ea typeface="Times New Roman" panose="02020603050405020304" pitchFamily="18" charset="0"/>
              </a:rPr>
              <a:t> (che in questo caso era definito dal decremento della variabile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a:t>
            </a:r>
            <a:r>
              <a:rPr lang="it-IT" sz="1800" b="1" dirty="0">
                <a:solidFill>
                  <a:srgbClr val="000000"/>
                </a:solidFill>
                <a:effectLst/>
                <a:latin typeface="Times New Roman" panose="02020603050405020304" pitchFamily="18" charset="0"/>
                <a:ea typeface="Times New Roman" panose="02020603050405020304" pitchFamily="18" charset="0"/>
              </a:rPr>
              <a:t>), avverrà solo dopo la prima iterazione. Ecco perché il codice precedente stampa i numeri da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10</a:t>
            </a:r>
            <a:r>
              <a:rPr lang="it-IT" sz="1800" b="1" dirty="0">
                <a:solidFill>
                  <a:srgbClr val="000000"/>
                </a:solidFill>
                <a:effectLst/>
                <a:latin typeface="Times New Roman" panose="02020603050405020304" pitchFamily="18" charset="0"/>
                <a:ea typeface="Times New Roman" panose="02020603050405020304" pitchFamily="18" charset="0"/>
              </a:rPr>
              <a:t> a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1</a:t>
            </a:r>
            <a:r>
              <a:rPr lang="it-IT" sz="1800" b="1" dirty="0">
                <a:solidFill>
                  <a:srgbClr val="000000"/>
                </a:solidFill>
                <a:effectLst/>
                <a:latin typeface="Times New Roman" panose="02020603050405020304" pitchFamily="18" charset="0"/>
                <a:ea typeface="Times New Roman" panose="02020603050405020304" pitchFamily="18" charset="0"/>
              </a:rPr>
              <a:t>, e non i numeri che vanno da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9</a:t>
            </a:r>
            <a:r>
              <a:rPr lang="it-IT" sz="1800" b="1" dirty="0">
                <a:solidFill>
                  <a:srgbClr val="000000"/>
                </a:solidFill>
                <a:effectLst/>
                <a:latin typeface="Times New Roman" panose="02020603050405020304" pitchFamily="18" charset="0"/>
                <a:ea typeface="Times New Roman" panose="02020603050405020304" pitchFamily="18" charset="0"/>
              </a:rPr>
              <a:t> a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0</a:t>
            </a:r>
            <a:r>
              <a:rPr lang="it-IT" sz="1800" b="1" dirty="0">
                <a:solidFill>
                  <a:srgbClr val="000000"/>
                </a:solidFill>
                <a:effectLst/>
                <a:latin typeface="Times New Roman" panose="02020603050405020304" pitchFamily="18" charset="0"/>
                <a:ea typeface="Times New Roman" panose="02020603050405020304" pitchFamily="18" charset="0"/>
              </a:rPr>
              <a:t>.</a:t>
            </a:r>
            <a:endParaRPr lang="it-IT" sz="1800" b="1" dirty="0">
              <a:effectLst/>
              <a:latin typeface="Times New Roman" panose="02020603050405020304" pitchFamily="18" charset="0"/>
              <a:ea typeface="Times New Roman" panose="02020603050405020304" pitchFamily="18" charset="0"/>
            </a:endParaRPr>
          </a:p>
          <a:p>
            <a:endParaRPr lang="it-IT" sz="1800"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23</a:t>
            </a:fld>
            <a:endParaRPr lang="it-IT"/>
          </a:p>
        </p:txBody>
      </p:sp>
    </p:spTree>
    <p:extLst>
      <p:ext uri="{BB962C8B-B14F-4D97-AF65-F5344CB8AC3E}">
        <p14:creationId xmlns:p14="http://schemas.microsoft.com/office/powerpoint/2010/main" val="4784561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È possibile anche dichiarare la variabile prima del ciclo, nel caso fosse stata nostra intenzione utilizzarla anche al di fuori da esso. Per esempio, il seguente codice definisce un metodo che prende come parametro di input un intero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j</a:t>
            </a:r>
            <a:r>
              <a:rPr lang="it-IT" sz="1800" dirty="0">
                <a:effectLst/>
                <a:latin typeface="Times New Roman" panose="02020603050405020304" pitchFamily="18" charset="0"/>
                <a:ea typeface="Times New Roman" panose="02020603050405020304" pitchFamily="18" charset="0"/>
              </a:rPr>
              <a:t>, che viene utilizzato nell’espressione booleana: </a:t>
            </a:r>
          </a:p>
          <a:p>
            <a:pPr algn="just"/>
            <a:r>
              <a:rPr lang="it-IT" sz="1800" dirty="0">
                <a:solidFill>
                  <a:srgbClr val="000000"/>
                </a:solidFill>
                <a:effectLst/>
                <a:latin typeface="Courier New" panose="02070309020205020404" pitchFamily="49" charset="0"/>
                <a:ea typeface="Times New Roman" panose="02020603050405020304" pitchFamily="18" charset="0"/>
              </a:rPr>
              <a:t>public void </a:t>
            </a:r>
            <a:r>
              <a:rPr lang="it-IT" sz="1800" dirty="0" err="1">
                <a:solidFill>
                  <a:srgbClr val="000000"/>
                </a:solidFill>
                <a:effectLst/>
                <a:latin typeface="Courier New" panose="02070309020205020404" pitchFamily="49" charset="0"/>
                <a:ea typeface="Times New Roman" panose="02020603050405020304" pitchFamily="18" charset="0"/>
              </a:rPr>
              <a:t>forMethod</a:t>
            </a:r>
            <a:r>
              <a:rPr lang="it-IT" sz="1800" dirty="0">
                <a:solidFill>
                  <a:srgbClr val="000000"/>
                </a:solidFill>
                <a:effectLst/>
                <a:latin typeface="Courier New" panose="02070309020205020404" pitchFamily="49" charset="0"/>
                <a:ea typeface="Times New Roman" panose="02020603050405020304" pitchFamily="18" charset="0"/>
              </a:rPr>
              <a:t>(int j)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int i;</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a:t>
            </a:r>
            <a:r>
              <a:rPr lang="it-IT" sz="1800" dirty="0">
                <a:solidFill>
                  <a:srgbClr val="000000"/>
                </a:solidFill>
                <a:effectLst/>
                <a:latin typeface="Courier New" panose="02070309020205020404" pitchFamily="49" charset="0"/>
                <a:ea typeface="Times New Roman" panose="02020603050405020304" pitchFamily="18" charset="0"/>
              </a:rPr>
              <a:t>for (i = </a:t>
            </a:r>
            <a:r>
              <a:rPr lang="en-GB" sz="1800" dirty="0">
                <a:solidFill>
                  <a:srgbClr val="000000"/>
                </a:solidFill>
                <a:effectLst/>
                <a:latin typeface="Courier New" panose="02070309020205020404" pitchFamily="49" charset="0"/>
                <a:ea typeface="Times New Roman" panose="02020603050405020304" pitchFamily="18" charset="0"/>
              </a:rPr>
              <a:t>0</a:t>
            </a:r>
            <a:r>
              <a:rPr lang="it-IT" sz="1800" dirty="0">
                <a:solidFill>
                  <a:srgbClr val="000000"/>
                </a:solidFill>
                <a:effectLst/>
                <a:latin typeface="Courier New" panose="02070309020205020404" pitchFamily="49" charset="0"/>
                <a:ea typeface="Times New Roman" panose="02020603050405020304" pitchFamily="18" charset="0"/>
              </a:rPr>
              <a:t>; i &lt; j; ++i) {</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a:t>
            </a:r>
            <a:r>
              <a:rPr lang="it-IT" sz="1800" dirty="0">
                <a:solidFill>
                  <a:srgbClr val="000000"/>
                </a:solidFill>
                <a:effectLst/>
                <a:latin typeface="Courier New" panose="02070309020205020404" pitchFamily="49" charset="0"/>
                <a:ea typeface="Times New Roman" panose="02020603050405020304" pitchFamily="18" charset="0"/>
              </a:rPr>
              <a:t>System.out.println(i);</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System.out.println("Numero iterazioni = " + i);</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Quando verrà chiamato questo metodo, verranno stampati tutti i numeri partendo da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sino al valore di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j-1</a:t>
            </a:r>
            <a:r>
              <a:rPr lang="it-IT" sz="1800" dirty="0">
                <a:effectLst/>
                <a:latin typeface="Times New Roman" panose="02020603050405020304" pitchFamily="18" charset="0"/>
                <a:ea typeface="Times New Roman" panose="02020603050405020304" pitchFamily="18" charset="0"/>
              </a:rPr>
              <a:t>. Infine verrà stampato il numero di iterazioni che è uguale al valore della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j</a:t>
            </a:r>
            <a:r>
              <a:rPr lang="it-IT" sz="1800" dirty="0">
                <a:effectLst/>
                <a:latin typeface="Times New Roman" panose="02020603050405020304" pitchFamily="18" charset="0"/>
                <a:ea typeface="Times New Roman" panose="02020603050405020304" pitchFamily="18" charset="0"/>
              </a:rPr>
              <a:t>. Si può notare come invece la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a:t>
            </a:r>
            <a:r>
              <a:rPr lang="it-IT" sz="1800" dirty="0">
                <a:effectLst/>
                <a:latin typeface="Times New Roman" panose="02020603050405020304" pitchFamily="18" charset="0"/>
                <a:ea typeface="Times New Roman" panose="02020603050405020304" pitchFamily="18" charset="0"/>
              </a:rPr>
              <a:t> sia dichiarata esternamente al ciclo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for</a:t>
            </a:r>
            <a:r>
              <a:rPr lang="it-IT" sz="1800" dirty="0">
                <a:effectLst/>
                <a:latin typeface="Times New Roman" panose="02020603050405020304" pitchFamily="18" charset="0"/>
                <a:ea typeface="Times New Roman" panose="02020603050405020304" pitchFamily="18" charset="0"/>
              </a:rPr>
              <a:t>, visto che viene utilizzata anche dopo di esso per essere stampata.</a:t>
            </a:r>
          </a:p>
          <a:p>
            <a:r>
              <a:rPr lang="it-IT" sz="1800" dirty="0">
                <a:effectLst/>
                <a:latin typeface="Times New Roman" panose="02020603050405020304" pitchFamily="18" charset="0"/>
                <a:ea typeface="Times New Roman" panose="02020603050405020304" pitchFamily="18" charset="0"/>
              </a:rPr>
              <a:t>La sintassi del ciclo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for</a:t>
            </a:r>
            <a:r>
              <a:rPr lang="it-IT" sz="1800" dirty="0">
                <a:effectLst/>
                <a:latin typeface="Times New Roman" panose="02020603050405020304" pitchFamily="18" charset="0"/>
                <a:ea typeface="Times New Roman" panose="02020603050405020304" pitchFamily="18" charset="0"/>
              </a:rPr>
              <a:t> è quindi molto flessibile e compatta. Infatti, se nel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while</a:t>
            </a:r>
            <a:r>
              <a:rPr lang="it-IT" sz="1800" dirty="0">
                <a:effectLst/>
                <a:latin typeface="Times New Roman" panose="02020603050405020304" pitchFamily="18" charset="0"/>
                <a:ea typeface="Times New Roman" panose="02020603050405020304" pitchFamily="18" charset="0"/>
              </a:rPr>
              <a:t> utilizziamo le parentesi tonde solo per l’espressione booleana, nel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for</a:t>
            </a:r>
            <a:r>
              <a:rPr lang="it-IT" sz="1800" dirty="0">
                <a:effectLst/>
                <a:latin typeface="Times New Roman" panose="02020603050405020304" pitchFamily="18" charset="0"/>
                <a:ea typeface="Times New Roman" panose="02020603050405020304" pitchFamily="18" charset="0"/>
              </a:rPr>
              <a:t> le utilizziamo per inserirci rispettivamente prima l’inizializzazione di una variabile, poi l’espressione booleana ed infine l’aggiornamento che sarà eseguito ad ogni iterazione successiva alla prima. Si noti che queste tre istruzioni possono anche essere completamente indipendenti tra loro.</a:t>
            </a:r>
          </a:p>
          <a:p>
            <a:r>
              <a:rPr lang="it-IT" sz="1800" b="1" dirty="0">
                <a:effectLst/>
                <a:latin typeface="Times New Roman" panose="02020603050405020304" pitchFamily="18" charset="0"/>
                <a:ea typeface="Times New Roman" panose="02020603050405020304" pitchFamily="18" charset="0"/>
              </a:rPr>
              <a:t>(ICONA JAVA 10)</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Come tipo dell’indice nell’inizializzazione del ciclo, è possibile anche utilizzare il </a:t>
            </a:r>
            <a:r>
              <a:rPr lang="it-IT" sz="1800" i="1" dirty="0">
                <a:effectLst/>
                <a:latin typeface="Times New Roman" panose="02020603050405020304" pitchFamily="18" charset="0"/>
                <a:ea typeface="Times New Roman" panose="02020603050405020304" pitchFamily="18" charset="0"/>
              </a:rPr>
              <a:t>nome di tipo riservata</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var</a:t>
            </a:r>
            <a:r>
              <a:rPr lang="it-IT" sz="1800" dirty="0">
                <a:effectLst/>
                <a:latin typeface="Times New Roman" panose="02020603050405020304" pitchFamily="18" charset="0"/>
                <a:ea typeface="Times New Roman" panose="02020603050405020304" pitchFamily="18" charset="0"/>
              </a:rPr>
              <a:t> che abbiamo studiato alla fine del capitolo precedente. Per esempio possiamo scrivere:</a:t>
            </a:r>
          </a:p>
          <a:p>
            <a:r>
              <a:rPr lang="it-IT" sz="1800" dirty="0">
                <a:solidFill>
                  <a:srgbClr val="000000"/>
                </a:solidFill>
                <a:effectLst/>
                <a:latin typeface="Courier New" panose="02070309020205020404" pitchFamily="49" charset="0"/>
                <a:ea typeface="Times New Roman" panose="02020603050405020304" pitchFamily="18" charset="0"/>
              </a:rPr>
              <a:t>String [] strings  = {"Antonio", "Ludwig", "Johann Sebastian", "Piotr"};</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for (var i = 0; i &lt; </a:t>
            </a:r>
            <a:r>
              <a:rPr lang="en-GB" sz="1800" dirty="0" err="1">
                <a:solidFill>
                  <a:srgbClr val="000000"/>
                </a:solidFill>
                <a:effectLst/>
                <a:latin typeface="Courier New" panose="02070309020205020404" pitchFamily="49" charset="0"/>
                <a:ea typeface="Times New Roman" panose="02020603050405020304" pitchFamily="18" charset="0"/>
              </a:rPr>
              <a:t>strings.length</a:t>
            </a:r>
            <a:r>
              <a:rPr lang="en-GB" sz="1800" dirty="0">
                <a:solidFill>
                  <a:srgbClr val="000000"/>
                </a:solidFill>
                <a:effectLst/>
                <a:latin typeface="Courier New" panose="02070309020205020404" pitchFamily="49" charset="0"/>
                <a:ea typeface="Times New Roman" panose="02020603050405020304" pitchFamily="18" charset="0"/>
              </a:rPr>
              <a:t>; i++) {</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System.out.println(strings[i]);</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Infatti, il tipo verrà dedotto dal tipo del valore della parte destra della assegnazione, nel nostro caso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è considerato un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a:t>
            </a:r>
          </a:p>
          <a:p>
            <a:endParaRPr lang="it-IT" sz="1800"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24</a:t>
            </a:fld>
            <a:endParaRPr lang="it-IT"/>
          </a:p>
        </p:txBody>
      </p:sp>
    </p:spTree>
    <p:extLst>
      <p:ext uri="{BB962C8B-B14F-4D97-AF65-F5344CB8AC3E}">
        <p14:creationId xmlns:p14="http://schemas.microsoft.com/office/powerpoint/2010/main" val="38096026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dirty="0">
                <a:effectLst/>
                <a:latin typeface="Times New Roman" panose="02020603050405020304" pitchFamily="18" charset="0"/>
                <a:ea typeface="Times New Roman" panose="02020603050405020304" pitchFamily="18" charset="0"/>
              </a:rPr>
              <a:t>Più in generale il ciclo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while</a:t>
            </a:r>
            <a:r>
              <a:rPr lang="it-IT" sz="1800" dirty="0">
                <a:effectLst/>
                <a:latin typeface="Times New Roman" panose="02020603050405020304" pitchFamily="18" charset="0"/>
                <a:ea typeface="Times New Roman" panose="02020603050405020304" pitchFamily="18" charset="0"/>
              </a:rPr>
              <a:t> è adatto a dichiarare espressioni booleani con una </a:t>
            </a:r>
            <a:r>
              <a:rPr lang="it-IT" sz="1800" i="1" dirty="0">
                <a:effectLst/>
                <a:latin typeface="Times New Roman" panose="02020603050405020304" pitchFamily="18" charset="0"/>
                <a:ea typeface="Times New Roman" panose="02020603050405020304" pitchFamily="18" charset="0"/>
              </a:rPr>
              <a:t>logica basata sullo stato</a:t>
            </a:r>
            <a:r>
              <a:rPr lang="it-IT" sz="1800" dirty="0">
                <a:effectLst/>
                <a:latin typeface="Times New Roman" panose="02020603050405020304" pitchFamily="18" charset="0"/>
                <a:ea typeface="Times New Roman" panose="02020603050405020304" pitchFamily="18" charset="0"/>
              </a:rPr>
              <a:t> (</a:t>
            </a:r>
            <a:r>
              <a:rPr lang="it-IT" sz="1800" i="1" dirty="0">
                <a:effectLst/>
                <a:latin typeface="Times New Roman" panose="02020603050405020304" pitchFamily="18" charset="0"/>
                <a:ea typeface="Times New Roman" panose="02020603050405020304" pitchFamily="18" charset="0"/>
              </a:rPr>
              <a:t>state </a:t>
            </a:r>
            <a:r>
              <a:rPr lang="it-IT" sz="1800" i="1" dirty="0" err="1">
                <a:effectLst/>
                <a:latin typeface="Times New Roman" panose="02020603050405020304" pitchFamily="18" charset="0"/>
                <a:ea typeface="Times New Roman" panose="02020603050405020304" pitchFamily="18" charset="0"/>
              </a:rPr>
              <a:t>based</a:t>
            </a:r>
            <a:r>
              <a:rPr lang="it-IT" sz="1800" i="1" dirty="0">
                <a:effectLst/>
                <a:latin typeface="Times New Roman" panose="02020603050405020304" pitchFamily="18" charset="0"/>
                <a:ea typeface="Times New Roman" panose="02020603050405020304" pitchFamily="18" charset="0"/>
              </a:rPr>
              <a:t> </a:t>
            </a:r>
            <a:r>
              <a:rPr lang="it-IT" sz="1800" i="1" dirty="0" err="1">
                <a:effectLst/>
                <a:latin typeface="Times New Roman" panose="02020603050405020304" pitchFamily="18" charset="0"/>
                <a:ea typeface="Times New Roman" panose="02020603050405020304" pitchFamily="18" charset="0"/>
              </a:rPr>
              <a:t>logic</a:t>
            </a:r>
            <a:r>
              <a:rPr lang="it-IT" sz="1800" dirty="0">
                <a:effectLst/>
                <a:latin typeface="Times New Roman" panose="02020603050405020304" pitchFamily="18" charset="0"/>
                <a:ea typeface="Times New Roman" panose="02020603050405020304" pitchFamily="18" charset="0"/>
              </a:rPr>
              <a:t>). In particolare, si dice che lo </a:t>
            </a:r>
            <a:r>
              <a:rPr lang="it-IT" sz="1800" b="1" dirty="0">
                <a:effectLst/>
                <a:latin typeface="Times New Roman" panose="02020603050405020304" pitchFamily="18" charset="0"/>
                <a:ea typeface="Times New Roman" panose="02020603050405020304" pitchFamily="18" charset="0"/>
              </a:rPr>
              <a:t>stato di un oggetto</a:t>
            </a:r>
            <a:r>
              <a:rPr lang="it-IT" sz="1800" dirty="0">
                <a:effectLst/>
                <a:latin typeface="Times New Roman" panose="02020603050405020304" pitchFamily="18" charset="0"/>
                <a:ea typeface="Times New Roman" panose="02020603050405020304" pitchFamily="18" charset="0"/>
              </a:rPr>
              <a:t> è definito dal valore delle sue variabili d’istanza. Un oggetto quindi, durante il runtime, può assumere vari stati a seconda del cambiamento dei valori delle sue variabili d’istanza. Il ciclo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while</a:t>
            </a:r>
            <a:r>
              <a:rPr lang="it-IT" sz="1800" dirty="0">
                <a:effectLst/>
                <a:latin typeface="Times New Roman" panose="02020603050405020304" pitchFamily="18" charset="0"/>
                <a:ea typeface="Times New Roman" panose="02020603050405020304" pitchFamily="18" charset="0"/>
              </a:rPr>
              <a:t> ben si adatta a gestire gli stati di un oggetto. Come esempio, possiamo considerare il ciclo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while</a:t>
            </a:r>
            <a:r>
              <a:rPr lang="it-IT" sz="1800" dirty="0">
                <a:effectLst/>
                <a:latin typeface="Times New Roman" panose="02020603050405020304" pitchFamily="18" charset="0"/>
                <a:ea typeface="Times New Roman" panose="02020603050405020304" pitchFamily="18" charset="0"/>
              </a:rPr>
              <a:t> interno al metodo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accendiLampadina</a:t>
            </a:r>
            <a:r>
              <a:rPr lang="it-IT" sz="1800" dirty="0">
                <a:effectLst/>
                <a:latin typeface="Times New Roman" panose="02020603050405020304" pitchFamily="18" charset="0"/>
                <a:ea typeface="Times New Roman" panose="02020603050405020304" pitchFamily="18" charset="0"/>
              </a:rPr>
              <a:t> della seguente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Interruttore</a:t>
            </a:r>
            <a:r>
              <a:rPr lang="it-IT" sz="1800" dirty="0">
                <a:effectLst/>
                <a:latin typeface="Times New Roman" panose="02020603050405020304" pitchFamily="18" charset="0"/>
                <a:ea typeface="Times New Roman" panose="02020603050405020304" pitchFamily="18" charset="0"/>
              </a:rPr>
              <a:t>:</a:t>
            </a:r>
          </a:p>
          <a:p>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Il ciclo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while</a:t>
            </a:r>
            <a:r>
              <a:rPr lang="it-IT" sz="1800" dirty="0">
                <a:effectLst/>
                <a:latin typeface="Times New Roman" panose="02020603050405020304" pitchFamily="18" charset="0"/>
                <a:ea typeface="Times New Roman" panose="02020603050405020304" pitchFamily="18" charset="0"/>
              </a:rPr>
              <a:t> è utilizzato soprattutto quando non si sa quanto a lungo verranno eseguite le istruzioni da iterare, e non c’è un indice da aggiornare ad ogni iterazione. Per esempio nei cicli infiniti, dove la sintassi è banale:</a:t>
            </a:r>
          </a:p>
          <a:p>
            <a:r>
              <a:rPr lang="it-IT" sz="1800" dirty="0">
                <a:solidFill>
                  <a:srgbClr val="000000"/>
                </a:solidFill>
                <a:effectLst/>
                <a:latin typeface="Courier New" panose="02070309020205020404" pitchFamily="49" charset="0"/>
                <a:ea typeface="Times New Roman" panose="02020603050405020304" pitchFamily="18" charset="0"/>
              </a:rPr>
              <a:t>while (true)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Mentre la sintassi equivalente per un ciclo infinito è sicuramente meno elegante:</a:t>
            </a:r>
          </a:p>
          <a:p>
            <a:r>
              <a:rPr lang="it-IT" sz="1800" dirty="0">
                <a:solidFill>
                  <a:srgbClr val="000000"/>
                </a:solidFill>
                <a:effectLst/>
                <a:latin typeface="Courier New" panose="02070309020205020404" pitchFamily="49" charset="0"/>
                <a:ea typeface="Times New Roman" panose="02020603050405020304" pitchFamily="18" charset="0"/>
              </a:rPr>
              <a:t>for (;true;)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che è equivalente a:</a:t>
            </a:r>
          </a:p>
          <a:p>
            <a:r>
              <a:rPr lang="it-IT" sz="1800" dirty="0">
                <a:solidFill>
                  <a:srgbClr val="000000"/>
                </a:solidFill>
                <a:effectLst/>
                <a:latin typeface="Courier New" panose="02070309020205020404" pitchFamily="49" charset="0"/>
                <a:ea typeface="Times New Roman" panose="02020603050405020304" pitchFamily="18" charset="0"/>
              </a:rPr>
              <a:t>for (;;)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Attenzione che dichiarazioni come le seguenti:</a:t>
            </a:r>
            <a:endParaRPr lang="it-IT" sz="1800" b="1" dirty="0">
              <a:effectLst/>
              <a:latin typeface="Times New Roman" panose="02020603050405020304" pitchFamily="18" charset="0"/>
              <a:ea typeface="Times New Roman" panose="02020603050405020304" pitchFamily="18" charset="0"/>
            </a:endParaRPr>
          </a:p>
          <a:p>
            <a:pPr marL="914400"/>
            <a:r>
              <a:rPr lang="en-GB"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for (;false;) {</a:t>
            </a:r>
            <a:endParaRPr lang="it-IT" sz="1800" b="1" dirty="0">
              <a:effectLst/>
              <a:latin typeface="Times New Roman" panose="02020603050405020304" pitchFamily="18" charset="0"/>
              <a:ea typeface="Times New Roman" panose="02020603050405020304" pitchFamily="18" charset="0"/>
            </a:endParaRPr>
          </a:p>
          <a:p>
            <a:pPr marL="914400"/>
            <a:r>
              <a:rPr lang="en-GB"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endParaRPr lang="it-IT" sz="1800" b="1" dirty="0">
              <a:effectLst/>
              <a:latin typeface="Times New Roman" panose="02020603050405020304" pitchFamily="18" charset="0"/>
              <a:ea typeface="Times New Roman" panose="02020603050405020304" pitchFamily="18" charset="0"/>
            </a:endParaRPr>
          </a:p>
          <a:p>
            <a:pPr marL="914400"/>
            <a:r>
              <a:rPr lang="en-GB"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endParaRPr lang="it-IT" sz="1800" b="1" dirty="0">
              <a:effectLst/>
              <a:latin typeface="Times New Roman" panose="02020603050405020304" pitchFamily="18" charset="0"/>
              <a:ea typeface="Times New Roman" panose="02020603050405020304" pitchFamily="18" charset="0"/>
            </a:endParaRPr>
          </a:p>
          <a:p>
            <a:pPr marL="914400"/>
            <a:r>
              <a:rPr lang="en-GB" sz="1800" b="1" dirty="0" err="1">
                <a:solidFill>
                  <a:srgbClr val="000000"/>
                </a:solidFill>
                <a:effectLst/>
                <a:latin typeface="Times New Roman" panose="02020603050405020304" pitchFamily="18" charset="0"/>
                <a:ea typeface="Times New Roman" panose="02020603050405020304" pitchFamily="18" charset="0"/>
              </a:rPr>
              <a:t>oppure</a:t>
            </a:r>
            <a:r>
              <a:rPr lang="en-GB" sz="1800" b="1" dirty="0">
                <a:solidFill>
                  <a:srgbClr val="000000"/>
                </a:solidFill>
                <a:effectLst/>
                <a:latin typeface="Times New Roman" panose="02020603050405020304" pitchFamily="18" charset="0"/>
                <a:ea typeface="Times New Roman" panose="02020603050405020304" pitchFamily="18" charset="0"/>
              </a:rPr>
              <a:t>:</a:t>
            </a:r>
            <a:endParaRPr lang="it-IT" sz="1800" b="1" dirty="0">
              <a:effectLst/>
              <a:latin typeface="Times New Roman" panose="02020603050405020304" pitchFamily="18" charset="0"/>
              <a:ea typeface="Times New Roman" panose="02020603050405020304" pitchFamily="18" charset="0"/>
            </a:endParaRPr>
          </a:p>
          <a:p>
            <a:pPr marL="914400"/>
            <a:r>
              <a:rPr lang="en-GB"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while (false) {</a:t>
            </a:r>
            <a:endParaRPr lang="it-IT" sz="1800" b="1" dirty="0">
              <a:effectLst/>
              <a:latin typeface="Times New Roman" panose="02020603050405020304" pitchFamily="18" charset="0"/>
              <a:ea typeface="Times New Roman" panose="02020603050405020304" pitchFamily="18" charset="0"/>
            </a:endParaRPr>
          </a:p>
          <a:p>
            <a:pPr marL="914400"/>
            <a:r>
              <a:rPr lang="en-GB"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endParaRPr lang="it-IT" sz="1800" b="1" dirty="0">
              <a:effectLst/>
              <a:latin typeface="Times New Roman" panose="02020603050405020304" pitchFamily="18" charset="0"/>
              <a:ea typeface="Times New Roman" panose="02020603050405020304" pitchFamily="18" charset="0"/>
            </a:endParaRPr>
          </a:p>
          <a:p>
            <a:pPr marL="914400"/>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endParaRPr lang="it-IT" sz="1800" b="1" dirty="0">
              <a:effectLst/>
              <a:latin typeface="Times New Roman" panose="02020603050405020304" pitchFamily="18"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produrranno errori in compilazione! Infatti le eventuali istruzioni all’interno del blocco di codice non potrebbero mai essere eseguite.</a:t>
            </a:r>
            <a:endParaRPr lang="it-IT" sz="1800" b="1"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25</a:t>
            </a:fld>
            <a:endParaRPr lang="it-IT"/>
          </a:p>
        </p:txBody>
      </p:sp>
    </p:spTree>
    <p:extLst>
      <p:ext uri="{BB962C8B-B14F-4D97-AF65-F5344CB8AC3E}">
        <p14:creationId xmlns:p14="http://schemas.microsoft.com/office/powerpoint/2010/main" val="24942566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Si noti che viene eseguito prima il blocco di codice e poi viene valutata l’espressione booleana (condizione di terminazione) che si trova a destra della parola chiave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while</a:t>
            </a:r>
            <a:r>
              <a:rPr lang="it-IT" sz="1800" dirty="0">
                <a:effectLst/>
                <a:latin typeface="Times New Roman" panose="02020603050405020304" pitchFamily="18" charset="0"/>
                <a:ea typeface="Times New Roman" panose="02020603050405020304" pitchFamily="18" charset="0"/>
              </a:rPr>
              <a:t>. Se l’espressione booleana è verificata viene rieseguito il blocco di codice altrimenti esso termina. </a:t>
            </a:r>
          </a:p>
          <a:p>
            <a:r>
              <a:rPr lang="it-IT" sz="1800" b="1" dirty="0">
                <a:effectLst/>
                <a:latin typeface="Times New Roman" panose="02020603050405020304" pitchFamily="18" charset="0"/>
                <a:ea typeface="Times New Roman" panose="02020603050405020304" pitchFamily="18" charset="0"/>
              </a:rPr>
              <a:t>(ICONA ERRORE COMUNE)</a:t>
            </a:r>
            <a:endParaRPr lang="it-IT" sz="1800" dirty="0">
              <a:effectLst/>
              <a:latin typeface="Times New Roman" panose="02020603050405020304" pitchFamily="18"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Un classico errore quando si usa questo costrutto, è quello di dimenticare il punto e virgola finale. Infatti abbiamo detto che le istruzioni in Java terminano o con una parentesi graffa di chiusura (e non è il caso del ciclo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do</a:t>
            </a:r>
            <a:r>
              <a:rPr lang="it-IT" sz="1800" b="1" dirty="0">
                <a:solidFill>
                  <a:srgbClr val="000000"/>
                </a:solidFill>
                <a:effectLst/>
                <a:latin typeface="Times New Roman" panose="02020603050405020304" pitchFamily="18" charset="0"/>
                <a:ea typeface="Times New Roman" panose="02020603050405020304" pitchFamily="18" charset="0"/>
              </a:rPr>
              <a:t>-</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while</a:t>
            </a:r>
            <a:r>
              <a:rPr lang="it-IT" sz="1800" b="1" dirty="0">
                <a:solidFill>
                  <a:srgbClr val="000000"/>
                </a:solidFill>
                <a:effectLst/>
                <a:latin typeface="Times New Roman" panose="02020603050405020304" pitchFamily="18" charset="0"/>
                <a:ea typeface="Times New Roman" panose="02020603050405020304" pitchFamily="18" charset="0"/>
              </a:rPr>
              <a:t>), o con un punto e virgola.</a:t>
            </a:r>
            <a:endParaRPr lang="it-IT" sz="1800" b="1" dirty="0">
              <a:effectLst/>
              <a:latin typeface="Times New Roman" panose="02020603050405020304" pitchFamily="18" charset="0"/>
              <a:ea typeface="Times New Roman" panose="02020603050405020304" pitchFamily="18" charset="0"/>
            </a:endParaRPr>
          </a:p>
          <a:p>
            <a:endParaRPr lang="it-IT" sz="1800"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26</a:t>
            </a:fld>
            <a:endParaRPr lang="it-IT"/>
          </a:p>
        </p:txBody>
      </p:sp>
    </p:spTree>
    <p:extLst>
      <p:ext uri="{BB962C8B-B14F-4D97-AF65-F5344CB8AC3E}">
        <p14:creationId xmlns:p14="http://schemas.microsoft.com/office/powerpoint/2010/main" val="9312152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Si noti che viene eseguito prima il blocco di codice e poi viene valutata l’espressione booleana (condizione di terminazione) che si trova a destra della parola chiave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while</a:t>
            </a:r>
            <a:r>
              <a:rPr lang="it-IT" sz="1800" dirty="0">
                <a:effectLst/>
                <a:latin typeface="Times New Roman" panose="02020603050405020304" pitchFamily="18" charset="0"/>
                <a:ea typeface="Times New Roman" panose="02020603050405020304" pitchFamily="18" charset="0"/>
              </a:rPr>
              <a:t>. Se l’espressione booleana è verificata viene rieseguito il blocco di codice altrimenti esso termina. </a:t>
            </a:r>
          </a:p>
          <a:p>
            <a:r>
              <a:rPr lang="it-IT" sz="1800" b="1" dirty="0">
                <a:effectLst/>
                <a:latin typeface="Times New Roman" panose="02020603050405020304" pitchFamily="18" charset="0"/>
                <a:ea typeface="Times New Roman" panose="02020603050405020304" pitchFamily="18" charset="0"/>
              </a:rPr>
              <a:t>(ICONA ERRORE COMUNE)</a:t>
            </a:r>
            <a:endParaRPr lang="it-IT" sz="1800" dirty="0">
              <a:effectLst/>
              <a:latin typeface="Times New Roman" panose="02020603050405020304" pitchFamily="18"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Un classico errore quando si usa questo costrutto, è quello di dimenticare il punto e virgola finale. Infatti abbiamo detto che le istruzioni in Java terminano o con una parentesi graffa di chiusura (e non è il caso del ciclo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do</a:t>
            </a:r>
            <a:r>
              <a:rPr lang="it-IT" sz="1800" b="1" dirty="0">
                <a:solidFill>
                  <a:srgbClr val="000000"/>
                </a:solidFill>
                <a:effectLst/>
                <a:latin typeface="Times New Roman" panose="02020603050405020304" pitchFamily="18" charset="0"/>
                <a:ea typeface="Times New Roman" panose="02020603050405020304" pitchFamily="18" charset="0"/>
              </a:rPr>
              <a:t>-</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while</a:t>
            </a:r>
            <a:r>
              <a:rPr lang="it-IT" sz="1800" b="1" dirty="0">
                <a:solidFill>
                  <a:srgbClr val="000000"/>
                </a:solidFill>
                <a:effectLst/>
                <a:latin typeface="Times New Roman" panose="02020603050405020304" pitchFamily="18" charset="0"/>
                <a:ea typeface="Times New Roman" panose="02020603050405020304" pitchFamily="18" charset="0"/>
              </a:rPr>
              <a:t>), o con un punto e virgola.</a:t>
            </a:r>
            <a:endParaRPr lang="it-IT" sz="1800" b="1" dirty="0">
              <a:effectLst/>
              <a:latin typeface="Times New Roman" panose="02020603050405020304" pitchFamily="18" charset="0"/>
              <a:ea typeface="Times New Roman" panose="02020603050405020304" pitchFamily="18" charset="0"/>
            </a:endParaRPr>
          </a:p>
          <a:p>
            <a:endParaRPr lang="it-IT" sz="1800"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27</a:t>
            </a:fld>
            <a:endParaRPr lang="it-IT"/>
          </a:p>
        </p:txBody>
      </p:sp>
    </p:spTree>
    <p:extLst>
      <p:ext uri="{BB962C8B-B14F-4D97-AF65-F5344CB8AC3E}">
        <p14:creationId xmlns:p14="http://schemas.microsoft.com/office/powerpoint/2010/main" val="39517578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Il precedente frammento di codice, stampa a video tutti gli elementi dell’array.</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Sembra superfluo aggiungere che anche con questo costrutto è possibile evitare l’uso delle parentesi graffe quando è presente un’unica istruzione su cui iterare.</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Il ciclo foreach, ha diversi limiti rispetto al ciclo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for</a:t>
            </a:r>
            <a:r>
              <a:rPr lang="it-IT" sz="1800" dirty="0">
                <a:effectLst/>
                <a:latin typeface="Times New Roman" panose="02020603050405020304" pitchFamily="18" charset="0"/>
                <a:ea typeface="Times New Roman" panose="02020603050405020304" pitchFamily="18" charset="0"/>
              </a:rPr>
              <a:t> tradizionale. Per esempio non è possibile eseguire cicli all’indietro, e nemmeno è possibile ciclare su più oggetti contemporaneamente. Infine non è possibile accedere all’indice dell’array dell’elemento corrente. In realtà è sempre possibile dichiarare un contatore all’esterno del ciclo e incrementarlo all’interno, ma in casi come questo sarebbe forse opportuno utilizzare un semplice ciclo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while</a:t>
            </a:r>
            <a:r>
              <a:rPr lang="it-IT" sz="1800" dirty="0">
                <a:effectLst/>
                <a:latin typeface="Times New Roman" panose="02020603050405020304" pitchFamily="18" charset="0"/>
                <a:ea typeface="Times New Roman" panose="02020603050405020304" pitchFamily="18" charset="0"/>
              </a:rPr>
              <a:t>.</a:t>
            </a:r>
          </a:p>
          <a:p>
            <a:r>
              <a:rPr lang="it-IT" sz="1800" b="1" dirty="0">
                <a:effectLst/>
                <a:latin typeface="Times New Roman" panose="02020603050405020304" pitchFamily="18" charset="0"/>
                <a:ea typeface="Times New Roman" panose="02020603050405020304" pitchFamily="18" charset="0"/>
              </a:rPr>
              <a:t>(ICONA UTILIZZO NON COMUNE)</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La variabile temporanea si può anche marcare come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final</a:t>
            </a:r>
            <a:r>
              <a:rPr lang="it-IT" sz="1800" dirty="0">
                <a:effectLst/>
                <a:latin typeface="Times New Roman" panose="02020603050405020304" pitchFamily="18" charset="0"/>
                <a:ea typeface="Times New Roman" panose="02020603050405020304" pitchFamily="18" charset="0"/>
              </a:rPr>
              <a:t>. Quindi potremmo riscrivere il costrutto precedente così:</a:t>
            </a:r>
          </a:p>
          <a:p>
            <a:r>
              <a:rPr lang="en-GB" sz="1800" dirty="0">
                <a:solidFill>
                  <a:srgbClr val="000000"/>
                </a:solidFill>
                <a:effectLst/>
                <a:latin typeface="Courier New" panose="02070309020205020404" pitchFamily="49" charset="0"/>
                <a:ea typeface="Times New Roman" panose="02020603050405020304" pitchFamily="18" charset="0"/>
              </a:rPr>
              <a:t>for (final int tmp : </a:t>
            </a:r>
            <a:r>
              <a:rPr lang="en-GB" sz="1800" dirty="0" err="1">
                <a:solidFill>
                  <a:srgbClr val="000000"/>
                </a:solidFill>
                <a:effectLst/>
                <a:latin typeface="Courier New" panose="02070309020205020404" pitchFamily="49" charset="0"/>
                <a:ea typeface="Times New Roman" panose="02020603050405020304" pitchFamily="18" charset="0"/>
              </a:rPr>
              <a:t>arr</a:t>
            </a:r>
            <a:r>
              <a:rPr lang="en-GB"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a:t>
            </a:r>
            <a:r>
              <a:rPr lang="it-IT" sz="1800" dirty="0">
                <a:solidFill>
                  <a:srgbClr val="000000"/>
                </a:solidFill>
                <a:effectLst/>
                <a:latin typeface="Courier New" panose="02070309020205020404" pitchFamily="49" charset="0"/>
                <a:ea typeface="Times New Roman" panose="02020603050405020304" pitchFamily="18" charset="0"/>
              </a:rPr>
              <a:t>System.out.println(tmp);</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Alcuni sviluppatori ritengono utile questa pratica per sottolineare che la variabile temporanea non deve essere modificata all’interno del blocco di codice del costrutto. </a:t>
            </a:r>
          </a:p>
          <a:p>
            <a:r>
              <a:rPr lang="it-IT" sz="1800" b="1" dirty="0">
                <a:effectLst/>
                <a:latin typeface="Times New Roman" panose="02020603050405020304" pitchFamily="18" charset="0"/>
                <a:ea typeface="Times New Roman" panose="02020603050405020304" pitchFamily="18" charset="0"/>
              </a:rPr>
              <a:t>(ICONA CURIOSITÀ)</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Notare che la variabile temporanea è locale rispetto all’iterazione corrente del ciclo costrutto (essendo dichiarata al suo interno), e viene ridichiarata ad ogni iterazione. Se non fosse così, allora il modificatore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final</a:t>
            </a:r>
            <a:r>
              <a:rPr lang="it-IT" sz="1800" dirty="0">
                <a:effectLst/>
                <a:latin typeface="Times New Roman" panose="02020603050405020304" pitchFamily="18" charset="0"/>
                <a:ea typeface="Times New Roman" panose="02020603050405020304" pitchFamily="18" charset="0"/>
              </a:rPr>
              <a:t> impedirebbe la riassegnazione di un secondo valore (quindi il ciclo non potrebbe essere eseguito). Questo comportamento è diverso rispetto a quella della variabile che di solito inizializziamo in un ciclo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for</a:t>
            </a:r>
            <a:r>
              <a:rPr lang="it-IT" sz="1800" dirty="0">
                <a:effectLst/>
                <a:latin typeface="Times New Roman" panose="02020603050405020304" pitchFamily="18" charset="0"/>
                <a:ea typeface="Times New Roman" panose="02020603050405020304" pitchFamily="18" charset="0"/>
              </a:rPr>
              <a:t>, che ha visibilità a livello di ciclo e non di iterazione.</a:t>
            </a:r>
          </a:p>
          <a:p>
            <a:r>
              <a:rPr lang="it-IT" sz="1800" b="1" dirty="0">
                <a:effectLst/>
                <a:latin typeface="Times New Roman" panose="02020603050405020304" pitchFamily="18" charset="0"/>
                <a:ea typeface="Times New Roman" panose="02020603050405020304" pitchFamily="18" charset="0"/>
              </a:rPr>
              <a:t>(ICONA JAVA 10)</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È possibile anche utilizzare la parola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var</a:t>
            </a:r>
            <a:r>
              <a:rPr lang="it-IT" sz="1800" dirty="0">
                <a:effectLst/>
                <a:latin typeface="Times New Roman" panose="02020603050405020304" pitchFamily="18" charset="0"/>
                <a:ea typeface="Times New Roman" panose="02020603050405020304" pitchFamily="18" charset="0"/>
              </a:rPr>
              <a:t>, in luogo del tipo di dato della variabile temporanea. Quindi possiamo riscrivere il precedente ciclo nel seguente modo:</a:t>
            </a:r>
          </a:p>
          <a:p>
            <a:r>
              <a:rPr lang="it-IT" sz="1800" dirty="0">
                <a:solidFill>
                  <a:srgbClr val="000000"/>
                </a:solidFill>
                <a:effectLst/>
                <a:latin typeface="Courier New" panose="02070309020205020404" pitchFamily="49" charset="0"/>
                <a:ea typeface="Times New Roman" panose="02020603050405020304" pitchFamily="18" charset="0"/>
              </a:rPr>
              <a:t>for (var tmp : </a:t>
            </a:r>
            <a:r>
              <a:rPr lang="it-IT" sz="1800" dirty="0" err="1">
                <a:solidFill>
                  <a:srgbClr val="000000"/>
                </a:solidFill>
                <a:effectLst/>
                <a:latin typeface="Courier New" panose="02070309020205020404" pitchFamily="49" charset="0"/>
                <a:ea typeface="Times New Roman" panose="02020603050405020304" pitchFamily="18" charset="0"/>
              </a:rPr>
              <a:t>arr</a:t>
            </a:r>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System.out.println(tmp);</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endParaRPr lang="it-IT" sz="1800"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28</a:t>
            </a:fld>
            <a:endParaRPr lang="it-IT"/>
          </a:p>
        </p:txBody>
      </p:sp>
    </p:spTree>
    <p:extLst>
      <p:ext uri="{BB962C8B-B14F-4D97-AF65-F5344CB8AC3E}">
        <p14:creationId xmlns:p14="http://schemas.microsoft.com/office/powerpoint/2010/main" val="9826770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Esiste un operatore non ancora trattato fin qui, che qualche volta può sostituire il costrutto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if</a:t>
            </a:r>
            <a:r>
              <a:rPr lang="it-IT" sz="1800" dirty="0">
                <a:effectLst/>
                <a:latin typeface="Times New Roman" panose="02020603050405020304" pitchFamily="18" charset="0"/>
                <a:ea typeface="Times New Roman" panose="02020603050405020304" pitchFamily="18" charset="0"/>
              </a:rPr>
              <a:t>. Si tratta del cosiddetto </a:t>
            </a:r>
            <a:r>
              <a:rPr lang="it-IT" sz="1800" b="1" dirty="0">
                <a:effectLst/>
                <a:latin typeface="Times New Roman" panose="02020603050405020304" pitchFamily="18" charset="0"/>
                <a:ea typeface="Times New Roman" panose="02020603050405020304" pitchFamily="18" charset="0"/>
              </a:rPr>
              <a:t>operatore ternario</a:t>
            </a:r>
            <a:r>
              <a:rPr lang="it-IT" sz="1800" dirty="0">
                <a:effectLst/>
                <a:latin typeface="Times New Roman" panose="02020603050405020304" pitchFamily="18" charset="0"/>
                <a:ea typeface="Times New Roman" panose="02020603050405020304" pitchFamily="18" charset="0"/>
              </a:rPr>
              <a:t> (detto anche </a:t>
            </a:r>
            <a:r>
              <a:rPr lang="it-IT" sz="1800" b="1" dirty="0">
                <a:effectLst/>
                <a:latin typeface="Times New Roman" panose="02020603050405020304" pitchFamily="18" charset="0"/>
                <a:ea typeface="Times New Roman" panose="02020603050405020304" pitchFamily="18" charset="0"/>
              </a:rPr>
              <a:t>operatore condizionale</a:t>
            </a:r>
            <a:r>
              <a:rPr lang="it-IT" sz="1800" dirty="0">
                <a:effectLst/>
                <a:latin typeface="Times New Roman" panose="02020603050405020304" pitchFamily="18" charset="0"/>
                <a:ea typeface="Times New Roman" panose="02020603050405020304" pitchFamily="18" charset="0"/>
              </a:rPr>
              <a:t>), che può regolare il flusso di esecuzione come una condizione. L’operatore è costituito dai simboli punto interrogativo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e  due punti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che vengono utilizzati all’interno di una sintassi molto particolare:</a:t>
            </a:r>
          </a:p>
          <a:p>
            <a:r>
              <a:rPr lang="it-IT" sz="1800" dirty="0">
                <a:solidFill>
                  <a:srgbClr val="000000"/>
                </a:solidFill>
                <a:effectLst/>
                <a:latin typeface="Courier New" panose="02070309020205020404" pitchFamily="49" charset="0"/>
                <a:ea typeface="Times New Roman" panose="02020603050405020304" pitchFamily="18" charset="0"/>
              </a:rPr>
              <a:t>variabile = (espressione-booleana) </a:t>
            </a:r>
            <a:r>
              <a:rPr lang="it-IT" sz="1800" b="1" dirty="0">
                <a:solidFill>
                  <a:srgbClr val="000000"/>
                </a:solidFill>
                <a:effectLst/>
                <a:latin typeface="Courier New" panose="02070309020205020404" pitchFamily="49" charset="0"/>
                <a:ea typeface="Times New Roman" panose="02020603050405020304" pitchFamily="18" charset="0"/>
              </a:rPr>
              <a:t>?</a:t>
            </a:r>
            <a:r>
              <a:rPr lang="it-IT" sz="1800" dirty="0">
                <a:solidFill>
                  <a:srgbClr val="000000"/>
                </a:solidFill>
                <a:effectLst/>
                <a:latin typeface="Courier New" panose="02070309020205020404" pitchFamily="49" charset="0"/>
                <a:ea typeface="Times New Roman" panose="02020603050405020304" pitchFamily="18" charset="0"/>
              </a:rPr>
              <a:t> espr1 </a:t>
            </a:r>
            <a:r>
              <a:rPr lang="it-IT" sz="1800" b="1" dirty="0">
                <a:solidFill>
                  <a:srgbClr val="000000"/>
                </a:solidFill>
                <a:effectLst/>
                <a:latin typeface="Courier New" panose="02070309020205020404" pitchFamily="49" charset="0"/>
                <a:ea typeface="Times New Roman" panose="02020603050405020304" pitchFamily="18" charset="0"/>
              </a:rPr>
              <a:t>:</a:t>
            </a:r>
            <a:r>
              <a:rPr lang="it-IT" sz="1800" dirty="0">
                <a:solidFill>
                  <a:srgbClr val="000000"/>
                </a:solidFill>
                <a:effectLst/>
                <a:latin typeface="Courier New" panose="02070309020205020404" pitchFamily="49" charset="0"/>
                <a:ea typeface="Times New Roman" panose="02020603050405020304" pitchFamily="18" charset="0"/>
              </a:rPr>
              <a:t> espr2</a:t>
            </a:r>
            <a:r>
              <a:rPr lang="it-IT" sz="1800" b="1"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È un operatore ternario perché agisce su tre operandi, e come tutti gli operatori ritorna un valore. Facendo riferimento alla sintassi, se il valore della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espressione-booleana</a:t>
            </a:r>
            <a:r>
              <a:rPr lang="it-IT" sz="1800" dirty="0">
                <a:effectLst/>
                <a:latin typeface="Times New Roman" panose="02020603050405020304" pitchFamily="18" charset="0"/>
                <a:ea typeface="Times New Roman" panose="02020603050405020304" pitchFamily="18" charset="0"/>
              </a:rPr>
              <a:t> è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true</a:t>
            </a:r>
            <a:r>
              <a:rPr lang="it-IT" sz="1800" dirty="0">
                <a:effectLst/>
                <a:latin typeface="Times New Roman" panose="02020603050405020304" pitchFamily="18" charset="0"/>
                <a:ea typeface="Times New Roman" panose="02020603050405020304" pitchFamily="18" charset="0"/>
              </a:rPr>
              <a:t>, l’operatore ritorna il valore dell’operando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espr1</a:t>
            </a:r>
            <a:r>
              <a:rPr lang="it-IT" sz="1800" dirty="0">
                <a:effectLst/>
                <a:latin typeface="Times New Roman" panose="02020603050405020304" pitchFamily="18" charset="0"/>
                <a:ea typeface="Times New Roman" panose="02020603050405020304" pitchFamily="18" charset="0"/>
              </a:rPr>
              <a:t> assegnandolo 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variabile</a:t>
            </a:r>
            <a:r>
              <a:rPr lang="it-IT" sz="1800" dirty="0">
                <a:effectLst/>
                <a:latin typeface="Times New Roman" panose="02020603050405020304" pitchFamily="18" charset="0"/>
                <a:ea typeface="Times New Roman" panose="02020603050405020304" pitchFamily="18" charset="0"/>
              </a:rPr>
              <a:t>; altrimenti assegna 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variabile</a:t>
            </a:r>
            <a:r>
              <a:rPr lang="it-IT" sz="1800" dirty="0">
                <a:effectLst/>
                <a:latin typeface="Times New Roman" panose="02020603050405020304" pitchFamily="18" charset="0"/>
                <a:ea typeface="Times New Roman" panose="02020603050405020304" pitchFamily="18" charset="0"/>
              </a:rPr>
              <a:t> il valore dell’operando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espr2</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Requisito indispensabile per l’uso di un operatore ternario, è che il tipo della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variabile</a:t>
            </a:r>
            <a:r>
              <a:rPr lang="it-IT" sz="1800" dirty="0">
                <a:effectLst/>
                <a:latin typeface="Times New Roman" panose="02020603050405020304" pitchFamily="18" charset="0"/>
                <a:ea typeface="Times New Roman" panose="02020603050405020304" pitchFamily="18" charset="0"/>
              </a:rPr>
              <a:t> e quello restituito da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espr1</a:t>
            </a:r>
            <a:r>
              <a:rPr lang="it-IT" sz="1800" dirty="0">
                <a:effectLst/>
                <a:latin typeface="Times New Roman" panose="02020603050405020304" pitchFamily="18" charset="0"/>
                <a:ea typeface="Times New Roman" panose="02020603050405020304" pitchFamily="18" charset="0"/>
              </a:rPr>
              <a:t> ed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espr2</a:t>
            </a:r>
            <a:r>
              <a:rPr lang="it-IT" sz="1800" dirty="0">
                <a:effectLst/>
                <a:latin typeface="Times New Roman" panose="02020603050405020304" pitchFamily="18" charset="0"/>
                <a:ea typeface="Times New Roman" panose="02020603050405020304" pitchFamily="18" charset="0"/>
              </a:rPr>
              <a:t> siano compatibili. È escluso il tipo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void</a:t>
            </a:r>
            <a:r>
              <a:rPr lang="it-IT" sz="1800" dirty="0">
                <a:effectLst/>
                <a:latin typeface="Times New Roman" panose="02020603050405020304" pitchFamily="18" charset="0"/>
                <a:ea typeface="Times New Roman" panose="02020603050405020304" pitchFamily="18" charset="0"/>
              </a:rPr>
              <a:t>. Inoltre, il valore ritornato da questo operatore deve per forza essere catturato, o appunto con una variabile, oppure passando il suo risultato ad un metodo come parametro in input, o restituendo il suo valore in output tramite un comando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return</a:t>
            </a:r>
            <a:r>
              <a:rPr lang="it-IT" sz="1800" dirty="0">
                <a:effectLst/>
                <a:latin typeface="Times New Roman" panose="02020603050405020304" pitchFamily="18" charset="0"/>
                <a:ea typeface="Times New Roman" panose="02020603050405020304" pitchFamily="18" charset="0"/>
              </a:rPr>
              <a:t> di un metodo, o in una espressione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switch</a:t>
            </a:r>
            <a:r>
              <a:rPr lang="it-IT" sz="1800" dirty="0">
                <a:effectLst/>
                <a:latin typeface="Times New Roman" panose="02020603050405020304" pitchFamily="18" charset="0"/>
                <a:ea typeface="Times New Roman" panose="02020603050405020304" pitchFamily="18" charset="0"/>
              </a:rPr>
              <a:t> (che tratteremo tra poco). Non è possibile ritornare un valore senza usarlo perché il compilatore se ne accorgerà e ci segnalerà un errore.</a:t>
            </a:r>
          </a:p>
          <a:p>
            <a:r>
              <a:rPr lang="it-IT" sz="1800" dirty="0">
                <a:effectLst/>
                <a:latin typeface="Times New Roman" panose="02020603050405020304" pitchFamily="18" charset="0"/>
                <a:ea typeface="Times New Roman" panose="02020603050405020304" pitchFamily="18" charset="0"/>
              </a:rPr>
              <a:t>L’operatore ternario non può essere considerato un sostituto del costrutto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if</a:t>
            </a:r>
            <a:r>
              <a:rPr lang="it-IT" sz="1800" dirty="0">
                <a:effectLst/>
                <a:latin typeface="Times New Roman" panose="02020603050405020304" pitchFamily="18" charset="0"/>
                <a:ea typeface="Times New Roman" panose="02020603050405020304" pitchFamily="18" charset="0"/>
              </a:rPr>
              <a:t>, ma è molto comodo in alcune situazioni perché definisce un’espressione, e che quindi si può utilizzare al volo all’interno di istruzioni complesse. Un esempio pratico che può risultare familiare a chi ha già lavorato con i linguaggio SQL, è il seguente:</a:t>
            </a:r>
          </a:p>
          <a:p>
            <a:r>
              <a:rPr lang="en-GB" sz="1800" dirty="0">
                <a:solidFill>
                  <a:srgbClr val="000000"/>
                </a:solidFill>
                <a:effectLst/>
                <a:latin typeface="Courier New" panose="02070309020205020404" pitchFamily="49" charset="0"/>
                <a:ea typeface="Times New Roman" panose="02020603050405020304" pitchFamily="18" charset="0"/>
              </a:rPr>
              <a:t>String query = "select * from table" + </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a:t>
            </a:r>
            <a:r>
              <a:rPr lang="it-IT" sz="1800" dirty="0">
                <a:solidFill>
                  <a:srgbClr val="000000"/>
                </a:solidFill>
                <a:effectLst/>
                <a:latin typeface="Courier New" panose="02070309020205020404" pitchFamily="49" charset="0"/>
                <a:ea typeface="Times New Roman" panose="02020603050405020304" pitchFamily="18" charset="0"/>
              </a:rPr>
              <a:t>(condition != null ? " </a:t>
            </a:r>
            <a:r>
              <a:rPr lang="it-IT" sz="1800" dirty="0" err="1">
                <a:solidFill>
                  <a:srgbClr val="000000"/>
                </a:solidFill>
                <a:effectLst/>
                <a:latin typeface="Courier New" panose="02070309020205020404" pitchFamily="49" charset="0"/>
                <a:ea typeface="Times New Roman" panose="02020603050405020304" pitchFamily="18" charset="0"/>
              </a:rPr>
              <a:t>where</a:t>
            </a:r>
            <a:r>
              <a:rPr lang="it-IT" sz="1800" dirty="0">
                <a:solidFill>
                  <a:srgbClr val="000000"/>
                </a:solidFill>
                <a:effectLst/>
                <a:latin typeface="Courier New" panose="02070309020205020404" pitchFamily="49" charset="0"/>
                <a:ea typeface="Times New Roman" panose="02020603050405020304" pitchFamily="18" charset="0"/>
              </a:rPr>
              <a:t> " + condition : "");</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Dando per scontato, che la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condition</a:t>
            </a:r>
            <a:r>
              <a:rPr lang="it-IT" sz="1800" dirty="0">
                <a:effectLst/>
                <a:latin typeface="Times New Roman" panose="02020603050405020304" pitchFamily="18" charset="0"/>
                <a:ea typeface="Times New Roman" panose="02020603050405020304" pitchFamily="18" charset="0"/>
              </a:rPr>
              <a:t> sia una stringa, nello snippet precedente abbiamo creato una stringa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query</a:t>
            </a:r>
            <a:r>
              <a:rPr lang="it-IT" sz="1800" dirty="0">
                <a:effectLst/>
                <a:latin typeface="Times New Roman" panose="02020603050405020304" pitchFamily="18" charset="0"/>
                <a:ea typeface="Times New Roman" panose="02020603050405020304" pitchFamily="18" charset="0"/>
              </a:rPr>
              <a:t> contenente una istruzione SQL. Con l’operatore ternario, abbiamo modificato al volo questa istruzione. Infatti, se la stringa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condition</a:t>
            </a:r>
            <a:r>
              <a:rPr lang="it-IT" sz="1800" dirty="0">
                <a:effectLst/>
                <a:latin typeface="Times New Roman" panose="02020603050405020304" pitchFamily="18" charset="0"/>
                <a:ea typeface="Times New Roman" panose="02020603050405020304" pitchFamily="18" charset="0"/>
              </a:rPr>
              <a:t> è diversa da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null</a:t>
            </a:r>
            <a:r>
              <a:rPr lang="it-IT" sz="1800" dirty="0">
                <a:effectLst/>
                <a:latin typeface="Times New Roman" panose="02020603050405020304" pitchFamily="18" charset="0"/>
                <a:ea typeface="Times New Roman" panose="02020603050405020304" pitchFamily="18" charset="0"/>
              </a:rPr>
              <a:t>, l’operatore aggiunge alla query proprio la stringa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condition</a:t>
            </a:r>
            <a:r>
              <a:rPr lang="it-IT" sz="1800" dirty="0">
                <a:effectLst/>
                <a:latin typeface="Times New Roman" panose="02020603050405020304" pitchFamily="18" charset="0"/>
                <a:ea typeface="Times New Roman" panose="02020603050405020304" pitchFamily="18" charset="0"/>
              </a:rPr>
              <a:t>, altrimenti aggiunge una stringa vuota.</a:t>
            </a:r>
          </a:p>
        </p:txBody>
      </p:sp>
      <p:sp>
        <p:nvSpPr>
          <p:cNvPr id="4" name="Segnaposto numero diapositiva 3"/>
          <p:cNvSpPr>
            <a:spLocks noGrp="1"/>
          </p:cNvSpPr>
          <p:nvPr>
            <p:ph type="sldNum" sz="quarter" idx="5"/>
          </p:nvPr>
        </p:nvSpPr>
        <p:spPr/>
        <p:txBody>
          <a:bodyPr/>
          <a:lstStyle/>
          <a:p>
            <a:fld id="{545D8BF2-49EE-4CE2-A2D7-61B744D1E4D9}" type="slidenum">
              <a:rPr lang="it-IT" smtClean="0"/>
              <a:t>29</a:t>
            </a:fld>
            <a:endParaRPr lang="it-IT"/>
          </a:p>
        </p:txBody>
      </p:sp>
    </p:spTree>
    <p:extLst>
      <p:ext uri="{BB962C8B-B14F-4D97-AF65-F5344CB8AC3E}">
        <p14:creationId xmlns:p14="http://schemas.microsoft.com/office/powerpoint/2010/main" val="33281851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sz="1800"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30</a:t>
            </a:fld>
            <a:endParaRPr lang="it-IT"/>
          </a:p>
        </p:txBody>
      </p:sp>
    </p:spTree>
    <p:extLst>
      <p:ext uri="{BB962C8B-B14F-4D97-AF65-F5344CB8AC3E}">
        <p14:creationId xmlns:p14="http://schemas.microsoft.com/office/powerpoint/2010/main" val="2613209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sz="1800"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31</a:t>
            </a:fld>
            <a:endParaRPr lang="it-IT"/>
          </a:p>
        </p:txBody>
      </p:sp>
    </p:spTree>
    <p:extLst>
      <p:ext uri="{BB962C8B-B14F-4D97-AF65-F5344CB8AC3E}">
        <p14:creationId xmlns:p14="http://schemas.microsoft.com/office/powerpoint/2010/main" val="109313284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Una label ha quindi la seguente sintassi:</a:t>
            </a:r>
          </a:p>
          <a:p>
            <a:r>
              <a:rPr lang="it-IT" sz="1800" dirty="0" err="1">
                <a:solidFill>
                  <a:srgbClr val="000000"/>
                </a:solidFill>
                <a:effectLst/>
                <a:latin typeface="Courier New" panose="02070309020205020404" pitchFamily="49" charset="0"/>
                <a:ea typeface="Times New Roman" panose="02020603050405020304" pitchFamily="18" charset="0"/>
              </a:rPr>
              <a:t>nomeLabel</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Una label può essere posizionata solo prima di un statement, probabilmente un blocco di codice che di solito è definito da un ciclo (come nell’esempio precedente); ma potremmo anche posizionare una label al di fuori di un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if</a:t>
            </a:r>
            <a:r>
              <a:rPr lang="it-IT" sz="1800" dirty="0">
                <a:effectLst/>
                <a:latin typeface="Times New Roman" panose="02020603050405020304" pitchFamily="18" charset="0"/>
                <a:ea typeface="Times New Roman" panose="02020603050405020304" pitchFamily="18" charset="0"/>
              </a:rPr>
              <a:t> o di un blocco di codice qualsiasi come nel seguente esempio:</a:t>
            </a:r>
          </a:p>
          <a:p>
            <a:r>
              <a:rPr lang="it-IT" sz="1800" dirty="0">
                <a:solidFill>
                  <a:srgbClr val="000000"/>
                </a:solidFill>
                <a:effectLst/>
                <a:latin typeface="Courier New" panose="02070309020205020404" pitchFamily="49" charset="0"/>
                <a:ea typeface="Times New Roman" panose="02020603050405020304" pitchFamily="18" charset="0"/>
              </a:rPr>
              <a:t>int j = 1;</a:t>
            </a:r>
            <a:endParaRPr lang="it-IT" sz="1800" dirty="0">
              <a:effectLst/>
              <a:latin typeface="Courier New" panose="02070309020205020404" pitchFamily="49" charset="0"/>
              <a:ea typeface="Times New Roman" panose="02020603050405020304" pitchFamily="18" charset="0"/>
            </a:endParaRPr>
          </a:p>
          <a:p>
            <a:r>
              <a:rPr lang="it-IT" sz="1800" dirty="0" err="1">
                <a:solidFill>
                  <a:srgbClr val="000000"/>
                </a:solidFill>
                <a:effectLst/>
                <a:latin typeface="Courier New" panose="02070309020205020404" pitchFamily="49" charset="0"/>
                <a:ea typeface="Times New Roman" panose="02020603050405020304" pitchFamily="18" charset="0"/>
              </a:rPr>
              <a:t>labelPerBloccoDiCodice</a:t>
            </a:r>
            <a:r>
              <a:rPr lang="it-IT" sz="1800" dirty="0">
                <a:solidFill>
                  <a:srgbClr val="000000"/>
                </a:solidFill>
                <a:effectLst/>
                <a:latin typeface="Courier New" panose="02070309020205020404" pitchFamily="49" charset="0"/>
                <a:ea typeface="Times New Roman" panose="02020603050405020304" pitchFamily="18" charset="0"/>
              </a:rPr>
              <a:t>: //possiamo dare un qualsiasi nome ad una label</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while (true)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if (j &gt; 10)</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break </a:t>
            </a:r>
            <a:r>
              <a:rPr lang="en-GB" sz="1800" dirty="0" err="1">
                <a:solidFill>
                  <a:srgbClr val="000000"/>
                </a:solidFill>
                <a:effectLst/>
                <a:latin typeface="Courier New" panose="02070309020205020404" pitchFamily="49" charset="0"/>
                <a:ea typeface="Times New Roman" panose="02020603050405020304" pitchFamily="18" charset="0"/>
              </a:rPr>
              <a:t>labelPerBloccoDiCodice</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System.out.println(j);</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r>
              <a:rPr lang="it-IT" sz="1800" dirty="0" err="1">
                <a:solidFill>
                  <a:srgbClr val="000000"/>
                </a:solidFill>
                <a:effectLst/>
                <a:latin typeface="Courier New" panose="02070309020205020404" pitchFamily="49" charset="0"/>
                <a:ea typeface="Times New Roman" panose="02020603050405020304" pitchFamily="18" charset="0"/>
              </a:rPr>
              <a:t>j++</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System.out.println("Questo non verrà mai stampato!");</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Nell’esempio precedente non potremmo usare il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continue</a:t>
            </a:r>
            <a:r>
              <a:rPr lang="it-IT" sz="1800" dirty="0">
                <a:effectLst/>
                <a:latin typeface="Times New Roman" panose="02020603050405020304" pitchFamily="18" charset="0"/>
                <a:ea typeface="Times New Roman" panose="02020603050405020304" pitchFamily="18" charset="0"/>
              </a:rPr>
              <a:t> visto che la label non è relativa a un ciclo. Inoltre è chiaro che il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break</a:t>
            </a:r>
            <a:r>
              <a:rPr lang="it-IT" sz="1800" dirty="0">
                <a:effectLst/>
                <a:latin typeface="Times New Roman" panose="02020603050405020304" pitchFamily="18" charset="0"/>
                <a:ea typeface="Times New Roman" panose="02020603050405020304" pitchFamily="18" charset="0"/>
              </a:rPr>
              <a:t> e il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continue</a:t>
            </a:r>
            <a:r>
              <a:rPr lang="it-IT" sz="1800" dirty="0">
                <a:effectLst/>
                <a:latin typeface="Times New Roman" panose="02020603050405020304" pitchFamily="18" charset="0"/>
                <a:ea typeface="Times New Roman" panose="02020603050405020304" pitchFamily="18" charset="0"/>
              </a:rPr>
              <a:t> usati con label, devono trovarsi all’interno del blocco di codice “etichettato”.</a:t>
            </a:r>
          </a:p>
          <a:p>
            <a:r>
              <a:rPr lang="it-IT" sz="1800" b="1" dirty="0">
                <a:effectLst/>
                <a:latin typeface="Times New Roman" panose="02020603050405020304" pitchFamily="18" charset="0"/>
                <a:ea typeface="Times New Roman" panose="02020603050405020304" pitchFamily="18" charset="0"/>
              </a:rPr>
              <a:t>(ICONA CURIOSITÀ)</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Una label può in realtà etichettare qualsiasi statement, e non per forza un costrutto o un blocco di codice. Possiamo scrivere per esempio:</a:t>
            </a:r>
          </a:p>
          <a:p>
            <a:r>
              <a:rPr lang="it-IT" sz="1800" dirty="0" err="1">
                <a:solidFill>
                  <a:srgbClr val="000000"/>
                </a:solidFill>
                <a:effectLst/>
                <a:latin typeface="Courier New" panose="02070309020205020404" pitchFamily="49" charset="0"/>
                <a:ea typeface="Times New Roman" panose="02020603050405020304" pitchFamily="18" charset="0"/>
              </a:rPr>
              <a:t>labelPerStatement</a:t>
            </a:r>
            <a:r>
              <a:rPr lang="it-IT" sz="1800" dirty="0">
                <a:solidFill>
                  <a:srgbClr val="000000"/>
                </a:solidFill>
                <a:effectLst/>
                <a:latin typeface="Courier New" panose="02070309020205020404" pitchFamily="49" charset="0"/>
                <a:ea typeface="Times New Roman" panose="02020603050405020304" pitchFamily="18" charset="0"/>
              </a:rPr>
              <a:t>: </a:t>
            </a:r>
            <a:r>
              <a:rPr lang="it-IT" sz="1800" dirty="0" err="1">
                <a:solidFill>
                  <a:srgbClr val="000000"/>
                </a:solidFill>
                <a:effectLst/>
                <a:latin typeface="Courier New" panose="02070309020205020404" pitchFamily="49" charset="0"/>
                <a:ea typeface="Times New Roman" panose="02020603050405020304" pitchFamily="18" charset="0"/>
              </a:rPr>
              <a:t>System.out.pri</a:t>
            </a:r>
            <a:r>
              <a:rPr lang="en-GB" sz="1800" dirty="0">
                <a:solidFill>
                  <a:srgbClr val="000000"/>
                </a:solidFill>
                <a:effectLst/>
                <a:latin typeface="Courier New" panose="02070309020205020404" pitchFamily="49" charset="0"/>
                <a:ea typeface="Times New Roman" panose="02020603050405020304" pitchFamily="18" charset="0"/>
              </a:rPr>
              <a:t>n</a:t>
            </a:r>
            <a:r>
              <a:rPr lang="it-IT" sz="1800" dirty="0" err="1">
                <a:solidFill>
                  <a:srgbClr val="000000"/>
                </a:solidFill>
                <a:effectLst/>
                <a:latin typeface="Courier New" panose="02070309020205020404" pitchFamily="49" charset="0"/>
                <a:ea typeface="Times New Roman" panose="02020603050405020304" pitchFamily="18" charset="0"/>
              </a:rPr>
              <a:t>tln</a:t>
            </a:r>
            <a:r>
              <a:rPr lang="it-IT" sz="1800" dirty="0">
                <a:solidFill>
                  <a:srgbClr val="000000"/>
                </a:solidFill>
                <a:effectLst/>
                <a:latin typeface="Courier New" panose="02070309020205020404" pitchFamily="49" charset="0"/>
                <a:ea typeface="Times New Roman" panose="02020603050405020304" pitchFamily="18" charset="0"/>
              </a:rPr>
              <a:t>("label");</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o </a:t>
            </a:r>
          </a:p>
          <a:p>
            <a:r>
              <a:rPr lang="it-IT" sz="1800" dirty="0" err="1">
                <a:solidFill>
                  <a:srgbClr val="000000"/>
                </a:solidFill>
                <a:effectLst/>
                <a:latin typeface="Courier New" panose="02070309020205020404" pitchFamily="49" charset="0"/>
                <a:ea typeface="Times New Roman" panose="02020603050405020304" pitchFamily="18" charset="0"/>
              </a:rPr>
              <a:t>labelPerStatement</a:t>
            </a:r>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o addirittura</a:t>
            </a:r>
          </a:p>
          <a:p>
            <a:r>
              <a:rPr lang="it-IT" sz="1800" dirty="0" err="1">
                <a:solidFill>
                  <a:srgbClr val="000000"/>
                </a:solidFill>
                <a:effectLst/>
                <a:latin typeface="Courier New" panose="02070309020205020404" pitchFamily="49" charset="0"/>
                <a:ea typeface="Times New Roman" panose="02020603050405020304" pitchFamily="18" charset="0"/>
              </a:rPr>
              <a:t>labelPerStatement</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visto che un punto e virgola isolato, o una coppia di parentesi graffe, rappresentano essi stessi statement.</a:t>
            </a:r>
          </a:p>
          <a:p>
            <a:r>
              <a:rPr lang="it-IT" sz="1800" dirty="0">
                <a:effectLst/>
                <a:latin typeface="Times New Roman" panose="02020603050405020304" pitchFamily="18" charset="0"/>
                <a:ea typeface="Times New Roman" panose="02020603050405020304" pitchFamily="18" charset="0"/>
              </a:rPr>
              <a:t>Ovviamente, se tale statement non coincide un con un blocco di codice o un costrutto, allora l’utilità pratica si annulla. Infatti, non è facile trovare spazio per utilizzare correttamente un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break</a:t>
            </a:r>
            <a:r>
              <a:rPr lang="it-IT" sz="1800" dirty="0">
                <a:effectLst/>
                <a:latin typeface="Times New Roman" panose="02020603050405020304" pitchFamily="18" charset="0"/>
                <a:ea typeface="Times New Roman" panose="02020603050405020304" pitchFamily="18" charset="0"/>
              </a:rPr>
              <a:t> all’interno di un’unica riga di codice.</a:t>
            </a:r>
          </a:p>
          <a:p>
            <a:endParaRPr lang="it-IT" sz="1800"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32</a:t>
            </a:fld>
            <a:endParaRPr lang="it-IT"/>
          </a:p>
        </p:txBody>
      </p:sp>
    </p:spTree>
    <p:extLst>
      <p:ext uri="{BB962C8B-B14F-4D97-AF65-F5344CB8AC3E}">
        <p14:creationId xmlns:p14="http://schemas.microsoft.com/office/powerpoint/2010/main" val="26532185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Abbiamo deciso di creare questa sezione a parte solo per descrivere il nuovo costrutto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switch</a:t>
            </a:r>
            <a:r>
              <a:rPr lang="it-IT" sz="1800" dirty="0">
                <a:effectLst/>
                <a:latin typeface="Times New Roman" panose="02020603050405020304" pitchFamily="18" charset="0"/>
                <a:ea typeface="Times New Roman" panose="02020603050405020304" pitchFamily="18" charset="0"/>
              </a:rPr>
              <a:t>. Esso infatti, è stato aggiornato recentemente con alcune nuove caratteristiche che richiedono una discussione più ampia. Oracle presenta la novità introdotta, sotto il nome </a:t>
            </a:r>
            <a:r>
              <a:rPr lang="it-IT" sz="1800" b="1" dirty="0">
                <a:effectLst/>
                <a:latin typeface="Courier New" panose="02070309020205020404" pitchFamily="49" charset="0"/>
                <a:ea typeface="Times New Roman" panose="02020603050405020304" pitchFamily="18" charset="0"/>
                <a:cs typeface="Courier New" panose="02070309020205020404" pitchFamily="49" charset="0"/>
              </a:rPr>
              <a:t>switch</a:t>
            </a:r>
            <a:r>
              <a:rPr lang="it-IT" sz="1800" b="1" dirty="0">
                <a:effectLst/>
                <a:latin typeface="Times New Roman" panose="02020603050405020304" pitchFamily="18" charset="0"/>
                <a:ea typeface="Times New Roman" panose="02020603050405020304" pitchFamily="18" charset="0"/>
              </a:rPr>
              <a:t> expression</a:t>
            </a:r>
            <a:r>
              <a:rPr lang="it-IT" sz="1800" dirty="0">
                <a:effectLst/>
                <a:latin typeface="Times New Roman" panose="02020603050405020304" pitchFamily="18" charset="0"/>
                <a:ea typeface="Times New Roman" panose="02020603050405020304" pitchFamily="18" charset="0"/>
              </a:rPr>
              <a:t> (</a:t>
            </a:r>
            <a:r>
              <a:rPr lang="it-IT" sz="1800" b="1" dirty="0">
                <a:effectLst/>
                <a:latin typeface="Times New Roman" panose="02020603050405020304" pitchFamily="18" charset="0"/>
                <a:ea typeface="Times New Roman" panose="02020603050405020304" pitchFamily="18" charset="0"/>
              </a:rPr>
              <a:t>espressione </a:t>
            </a:r>
            <a:r>
              <a:rPr lang="it-IT" sz="1800" b="1" dirty="0">
                <a:effectLst/>
                <a:latin typeface="Courier New" panose="02070309020205020404" pitchFamily="49" charset="0"/>
                <a:ea typeface="Times New Roman" panose="02020603050405020304" pitchFamily="18" charset="0"/>
                <a:cs typeface="Courier New" panose="02070309020205020404" pitchFamily="49" charset="0"/>
              </a:rPr>
              <a:t>switch</a:t>
            </a:r>
            <a:r>
              <a:rPr lang="it-IT" sz="1800" dirty="0">
                <a:effectLst/>
                <a:latin typeface="Times New Roman" panose="02020603050405020304" pitchFamily="18" charset="0"/>
                <a:ea typeface="Times New Roman" panose="02020603050405020304" pitchFamily="18" charset="0"/>
              </a:rPr>
              <a:t>), che permette ai costrutti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switch</a:t>
            </a:r>
            <a:r>
              <a:rPr lang="it-IT" sz="1800" dirty="0">
                <a:effectLst/>
                <a:latin typeface="Times New Roman" panose="02020603050405020304" pitchFamily="18" charset="0"/>
                <a:ea typeface="Times New Roman" panose="02020603050405020304" pitchFamily="18" charset="0"/>
              </a:rPr>
              <a:t> di essere utilizzati come espressioni, ovvero come istruzioni che ritornano un valore. Prima di Java 12, lo </a:t>
            </a:r>
            <a:r>
              <a:rPr lang="it-IT" sz="1800" dirty="0">
                <a:effectLst/>
                <a:latin typeface="Courier New" panose="02070309020205020404" pitchFamily="49" charset="0"/>
                <a:ea typeface="Times New Roman" panose="02020603050405020304" pitchFamily="18" charset="0"/>
              </a:rPr>
              <a:t>switch</a:t>
            </a:r>
            <a:r>
              <a:rPr lang="it-IT" sz="1800" dirty="0">
                <a:effectLst/>
                <a:latin typeface="Times New Roman" panose="02020603050405020304" pitchFamily="18" charset="0"/>
                <a:ea typeface="Times New Roman" panose="02020603050405020304" pitchFamily="18" charset="0"/>
              </a:rPr>
              <a:t> è stato sempre utilizzato come </a:t>
            </a:r>
            <a:r>
              <a:rPr lang="it-IT" sz="1800" i="1" dirty="0">
                <a:effectLst/>
                <a:latin typeface="Times New Roman" panose="02020603050405020304" pitchFamily="18" charset="0"/>
                <a:ea typeface="Times New Roman" panose="02020603050405020304" pitchFamily="18" charset="0"/>
              </a:rPr>
              <a:t>statement</a:t>
            </a:r>
            <a:r>
              <a:rPr lang="it-IT" sz="1800" dirty="0">
                <a:effectLst/>
                <a:latin typeface="Times New Roman" panose="02020603050405020304" pitchFamily="18" charset="0"/>
                <a:ea typeface="Times New Roman" panose="02020603050405020304" pitchFamily="18" charset="0"/>
              </a:rPr>
              <a:t>, ovvero come un’istruzione che non ritorna un valore. Vedremo però, che in realtà la definizione delle espressioni </a:t>
            </a:r>
            <a:r>
              <a:rPr lang="it-IT" sz="1800" dirty="0">
                <a:effectLst/>
                <a:latin typeface="Courier New" panose="02070309020205020404" pitchFamily="49" charset="0"/>
                <a:ea typeface="Times New Roman" panose="02020603050405020304" pitchFamily="18" charset="0"/>
              </a:rPr>
              <a:t>switch</a:t>
            </a:r>
            <a:r>
              <a:rPr lang="it-IT" sz="1800" dirty="0">
                <a:effectLst/>
                <a:latin typeface="Times New Roman" panose="02020603050405020304" pitchFamily="18" charset="0"/>
                <a:ea typeface="Times New Roman" panose="02020603050405020304" pitchFamily="18" charset="0"/>
              </a:rPr>
              <a:t> non è l’unica novità. Anche il costrutto originario ha subito delle modifiche, e quindi abbiamo chiamato questo paragrafo più genericamente </a:t>
            </a:r>
            <a:r>
              <a:rPr lang="it-IT" sz="1800" i="1" dirty="0">
                <a:effectLst/>
                <a:latin typeface="Times New Roman" panose="02020603050405020304" pitchFamily="18" charset="0"/>
                <a:ea typeface="Times New Roman" panose="02020603050405020304" pitchFamily="18" charset="0"/>
              </a:rPr>
              <a:t>il nuovo </a:t>
            </a:r>
            <a:r>
              <a:rPr lang="it-IT" sz="1800" i="1" dirty="0">
                <a:effectLst/>
                <a:latin typeface="Courier New" panose="02070309020205020404" pitchFamily="49" charset="0"/>
                <a:ea typeface="Times New Roman" panose="02020603050405020304" pitchFamily="18" charset="0"/>
              </a:rPr>
              <a:t>switch</a:t>
            </a:r>
            <a:r>
              <a:rPr lang="it-IT" sz="1800" dirty="0">
                <a:effectLst/>
                <a:latin typeface="Times New Roman" panose="02020603050405020304" pitchFamily="18" charset="0"/>
                <a:ea typeface="Times New Roman" panose="02020603050405020304" pitchFamily="18" charset="0"/>
              </a:rPr>
              <a:t>. In particolare, l’introduzione delle espressioni </a:t>
            </a:r>
            <a:r>
              <a:rPr lang="it-IT" sz="1800" dirty="0">
                <a:effectLst/>
                <a:latin typeface="Courier New" panose="02070309020205020404" pitchFamily="49" charset="0"/>
                <a:ea typeface="Times New Roman" panose="02020603050405020304" pitchFamily="18" charset="0"/>
              </a:rPr>
              <a:t>switch</a:t>
            </a:r>
            <a:r>
              <a:rPr lang="it-IT" sz="1800" dirty="0">
                <a:effectLst/>
                <a:latin typeface="Times New Roman" panose="02020603050405020304" pitchFamily="18" charset="0"/>
                <a:ea typeface="Times New Roman" panose="02020603050405020304" pitchFamily="18" charset="0"/>
              </a:rPr>
              <a:t>, ha causato anche l’introduzione di una nuova parola definita dal linguaggio (</a:t>
            </a:r>
            <a:r>
              <a:rPr lang="it-IT" sz="1800" dirty="0">
                <a:effectLst/>
                <a:latin typeface="Courier New" panose="02070309020205020404" pitchFamily="49" charset="0"/>
                <a:ea typeface="Times New Roman" panose="02020603050405020304" pitchFamily="18" charset="0"/>
              </a:rPr>
              <a:t>yield</a:t>
            </a:r>
            <a:r>
              <a:rPr lang="it-IT" sz="1800" dirty="0">
                <a:effectLst/>
                <a:latin typeface="Times New Roman" panose="02020603050405020304" pitchFamily="18" charset="0"/>
                <a:ea typeface="Times New Roman" panose="02020603050405020304" pitchFamily="18" charset="0"/>
              </a:rPr>
              <a:t>), è la possibilità di usare una nuova sintassi che chiameremo </a:t>
            </a:r>
            <a:r>
              <a:rPr lang="it-IT" sz="1800" i="1" dirty="0">
                <a:effectLst/>
                <a:latin typeface="Times New Roman" panose="02020603050405020304" pitchFamily="18" charset="0"/>
                <a:ea typeface="Times New Roman" panose="02020603050405020304" pitchFamily="18" charset="0"/>
              </a:rPr>
              <a:t>notazione freccia</a:t>
            </a:r>
            <a:r>
              <a:rPr lang="it-IT" sz="1800" dirty="0">
                <a:effectLst/>
                <a:latin typeface="Times New Roman" panose="02020603050405020304" pitchFamily="18" charset="0"/>
                <a:ea typeface="Times New Roman" panose="02020603050405020304" pitchFamily="18" charset="0"/>
              </a:rPr>
              <a:t>. Quest’ultima può essere utilizzata anche all’interno di uno </a:t>
            </a:r>
            <a:r>
              <a:rPr lang="it-IT" sz="1800" dirty="0">
                <a:effectLst/>
                <a:latin typeface="Courier New" panose="02070309020205020404" pitchFamily="49" charset="0"/>
                <a:ea typeface="Times New Roman" panose="02020603050405020304" pitchFamily="18" charset="0"/>
              </a:rPr>
              <a:t>switch</a:t>
            </a:r>
            <a:r>
              <a:rPr lang="it-IT" sz="1800" dirty="0">
                <a:effectLst/>
                <a:latin typeface="Times New Roman" panose="02020603050405020304" pitchFamily="18" charset="0"/>
                <a:ea typeface="Times New Roman" panose="02020603050405020304" pitchFamily="18" charset="0"/>
              </a:rPr>
              <a:t> come statement, e non solo nelle espressioni </a:t>
            </a:r>
            <a:r>
              <a:rPr lang="it-IT" sz="1800" dirty="0">
                <a:effectLst/>
                <a:latin typeface="Courier New" panose="02070309020205020404" pitchFamily="49" charset="0"/>
                <a:ea typeface="Times New Roman" panose="02020603050405020304" pitchFamily="18" charset="0"/>
              </a:rPr>
              <a:t>switch</a:t>
            </a:r>
            <a:r>
              <a:rPr lang="it-IT" sz="1800" dirty="0">
                <a:effectLst/>
                <a:latin typeface="Times New Roman" panose="02020603050405020304" pitchFamily="18" charset="0"/>
                <a:ea typeface="Times New Roman" panose="02020603050405020304" pitchFamily="18" charset="0"/>
              </a:rPr>
              <a:t>. Distingueremo quindi, </a:t>
            </a:r>
            <a:r>
              <a:rPr lang="it-IT" sz="1800" i="1" dirty="0">
                <a:effectLst/>
                <a:latin typeface="Times New Roman" panose="02020603050405020304" pitchFamily="18" charset="0"/>
                <a:ea typeface="Times New Roman" panose="02020603050405020304" pitchFamily="18" charset="0"/>
              </a:rPr>
              <a:t>il nuovo </a:t>
            </a:r>
            <a:r>
              <a:rPr lang="it-IT" sz="1800" i="1" dirty="0">
                <a:effectLst/>
                <a:latin typeface="Courier New" panose="02070309020205020404" pitchFamily="49" charset="0"/>
                <a:ea typeface="Times New Roman" panose="02020603050405020304" pitchFamily="18" charset="0"/>
              </a:rPr>
              <a:t>switch</a:t>
            </a:r>
            <a:r>
              <a:rPr lang="it-IT" sz="1800" dirty="0">
                <a:effectLst/>
                <a:latin typeface="Times New Roman" panose="02020603050405020304" pitchFamily="18" charset="0"/>
                <a:ea typeface="Times New Roman" panose="02020603050405020304" pitchFamily="18" charset="0"/>
              </a:rPr>
              <a:t> utilizzato come statement e come espressione.</a:t>
            </a:r>
          </a:p>
          <a:p>
            <a:r>
              <a:rPr lang="it-IT" sz="1800" dirty="0">
                <a:effectLst/>
                <a:latin typeface="Times New Roman" panose="02020603050405020304" pitchFamily="18" charset="0"/>
                <a:ea typeface="Times New Roman" panose="02020603050405020304" pitchFamily="18" charset="0"/>
              </a:rPr>
              <a:t>Per avere un quadro della situazione più chiaro, descriviamo anche brevemente la storia del costrutto.</a:t>
            </a:r>
          </a:p>
          <a:p>
            <a:pPr>
              <a:spcAft>
                <a:spcPts val="1200"/>
              </a:spcAft>
            </a:pPr>
            <a:r>
              <a:rPr lang="it-IT" sz="1800" b="1" dirty="0">
                <a:effectLst/>
                <a:latin typeface="Arial" panose="020B0604020202020204" pitchFamily="34" charset="0"/>
              </a:rPr>
              <a:t>4.4.1 Perché </a:t>
            </a:r>
            <a:r>
              <a:rPr lang="it-IT" sz="1800" b="1" dirty="0">
                <a:effectLst/>
                <a:latin typeface="Courier New" panose="02070309020205020404" pitchFamily="49" charset="0"/>
                <a:cs typeface="Courier New" panose="02070309020205020404" pitchFamily="49" charset="0"/>
              </a:rPr>
              <a:t>switch</a:t>
            </a:r>
            <a:r>
              <a:rPr lang="it-IT" sz="1800" b="1" dirty="0">
                <a:effectLst/>
                <a:latin typeface="Arial" panose="020B0604020202020204" pitchFamily="34" charset="0"/>
              </a:rPr>
              <a:t> è stato aggiornato</a:t>
            </a:r>
          </a:p>
          <a:p>
            <a:r>
              <a:rPr lang="it-IT" sz="1800" dirty="0">
                <a:effectLst/>
                <a:latin typeface="Times New Roman" panose="02020603050405020304" pitchFamily="18" charset="0"/>
                <a:ea typeface="Times New Roman" panose="02020603050405020304" pitchFamily="18" charset="0"/>
              </a:rPr>
              <a:t>Il costrutto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switch</a:t>
            </a:r>
            <a:r>
              <a:rPr lang="it-IT" sz="1800" dirty="0">
                <a:effectLst/>
                <a:latin typeface="Times New Roman" panose="02020603050405020304" pitchFamily="18" charset="0"/>
                <a:ea typeface="Times New Roman" panose="02020603050405020304" pitchFamily="18" charset="0"/>
              </a:rPr>
              <a:t>, come tutti i costrutti di Java e l’operatore ternario, è stato ereditato dal linguaggio C sin dalla prima versione di Java.</a:t>
            </a:r>
          </a:p>
          <a:p>
            <a:pPr marL="914400" algn="just"/>
            <a:r>
              <a:rPr lang="it-IT" sz="1800" b="1" dirty="0">
                <a:solidFill>
                  <a:srgbClr val="000000"/>
                </a:solidFill>
                <a:effectLst/>
                <a:latin typeface="Times New Roman" panose="02020603050405020304" pitchFamily="18" charset="0"/>
                <a:ea typeface="Times New Roman" panose="02020603050405020304" pitchFamily="18" charset="0"/>
              </a:rPr>
              <a:t>Fa eccezione il ciclo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for</a:t>
            </a:r>
            <a:r>
              <a:rPr lang="it-IT" sz="1800" b="1" dirty="0">
                <a:solidFill>
                  <a:srgbClr val="000000"/>
                </a:solidFill>
                <a:effectLst/>
                <a:latin typeface="Times New Roman" panose="02020603050405020304" pitchFamily="18" charset="0"/>
                <a:ea typeface="Times New Roman" panose="02020603050405020304" pitchFamily="18" charset="0"/>
              </a:rPr>
              <a:t> migliorato che è stato introdotto con Java 5. </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Tale costrutto, ha delle caratteristiche che ben si adattavano alla creazione dei tipici programmi che venivano sviluppati una volta con questo linguaggio, per esempio i parser e codificatori binari. Portato all’interno della programmazione Java però, è sempre stato visto dai programmatori come un costrutto secondario. Con l’avvento delle enumerazioni in Java, </a:t>
            </a:r>
            <a:r>
              <a:rPr lang="it-IT" sz="1800" dirty="0">
                <a:effectLst/>
                <a:latin typeface="Courier New" panose="02070309020205020404" pitchFamily="49" charset="0"/>
                <a:ea typeface="Times New Roman" panose="02020603050405020304" pitchFamily="18" charset="0"/>
              </a:rPr>
              <a:t>switch</a:t>
            </a:r>
            <a:r>
              <a:rPr lang="it-IT" sz="1800" dirty="0">
                <a:effectLst/>
                <a:latin typeface="Times New Roman" panose="02020603050405020304" pitchFamily="18" charset="0"/>
                <a:ea typeface="Times New Roman" panose="02020603050405020304" pitchFamily="18" charset="0"/>
              </a:rPr>
              <a:t> ha assunto maggiore rilevanza, ma non abbastanza per essere considerato uno dei costrutti preferiti dagli sviluppatori. La sintassi è rimasta verbosa, complessa e molto diversa dagli altri costrutti. La tecnica del fall through è sempre complicata da gestire, e spesso è involontariamente causa di bug. Lo scope delle variabili locali a livello di costrutto risulta continua ad essere scomodo. Per queste ed altre ragioni, dopo oltre 20 anni, si è sentita l’esigenza di aggiornare il costrutto con nuove caratteristiche, basandosi sulle proposte e i suggerimenti da parte degli sviluppatori. Infatti, la scelta di Oracle di accelerare il processo di sviluppo di Java attraverso il rilascio semestrale delle nuove versioni, ben si adatta al processo di aggiornamento del linguaggio, basato sui feedback e le richieste degli sviluppatori. La piattaforma si sta arricchendo velocemente di nuove caratteristiche molto interessanti, dopo alcuni anni in cui il suo sviluppo aveva subito un evidente rallentamento, dovuto in parte al passaggio di consegne, e conseguenti necessità di prendere nuove direzioni tra Sun Microsystems e Oracle. Il nuovo ciclo di sviluppo di Java basato sulle proposte degli sviluppatori, sta dando linfa vitale ad un linguaggio che è sempre più moderno. In particolare, con la versione 12, è stata anche inaugurato un nuovo modo di introdurre una nuova caratteristica nel linguaggio: le </a:t>
            </a:r>
            <a:r>
              <a:rPr lang="it-IT" sz="1800" b="1" dirty="0">
                <a:effectLst/>
                <a:latin typeface="Times New Roman" panose="02020603050405020304" pitchFamily="18" charset="0"/>
                <a:ea typeface="Times New Roman" panose="02020603050405020304" pitchFamily="18" charset="0"/>
              </a:rPr>
              <a:t>feature preview</a:t>
            </a:r>
            <a:r>
              <a:rPr lang="it-IT" sz="1800" dirty="0">
                <a:effectLst/>
                <a:latin typeface="Times New Roman" panose="02020603050405020304" pitchFamily="18" charset="0"/>
                <a:ea typeface="Times New Roman" panose="02020603050405020304" pitchFamily="18" charset="0"/>
              </a:rPr>
              <a:t> (in italiano </a:t>
            </a:r>
            <a:r>
              <a:rPr lang="it-IT" sz="1800" b="1" dirty="0">
                <a:effectLst/>
                <a:latin typeface="Times New Roman" panose="02020603050405020304" pitchFamily="18" charset="0"/>
                <a:ea typeface="Times New Roman" panose="02020603050405020304" pitchFamily="18" charset="0"/>
              </a:rPr>
              <a:t>caratteristica in anteprima</a:t>
            </a:r>
            <a:r>
              <a:rPr lang="it-IT" sz="1800" dirty="0">
                <a:effectLst/>
                <a:latin typeface="Times New Roman" panose="02020603050405020304" pitchFamily="18" charset="0"/>
                <a:ea typeface="Times New Roman" panose="02020603050405020304" pitchFamily="18" charset="0"/>
              </a:rPr>
              <a:t>). In pratica, un nuovo costrutto (l’espressione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switch</a:t>
            </a:r>
            <a:r>
              <a:rPr lang="it-IT" sz="1800" dirty="0">
                <a:effectLst/>
                <a:latin typeface="Times New Roman" panose="02020603050405020304" pitchFamily="18" charset="0"/>
                <a:ea typeface="Times New Roman" panose="02020603050405020304" pitchFamily="18" charset="0"/>
              </a:rPr>
              <a:t>), è diventato utilizzabile in anteprima nel JDK 12. Per poter usufruire del nuovo costrutto, bisognava specificare durante la compilazione e al runtime delle particolari opzioni. In questo modo, gli sviluppatori hanno avuto la possibilità di testare le espressioni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switch</a:t>
            </a:r>
            <a:r>
              <a:rPr lang="it-IT" sz="1800" dirty="0">
                <a:effectLst/>
                <a:latin typeface="Times New Roman" panose="02020603050405020304" pitchFamily="18" charset="0"/>
                <a:ea typeface="Times New Roman" panose="02020603050405020304" pitchFamily="18" charset="0"/>
              </a:rPr>
              <a:t>, e di restituire ad Oracle fondamentali feedback. </a:t>
            </a:r>
          </a:p>
          <a:p>
            <a:r>
              <a:rPr lang="it-IT" sz="1800" b="1" dirty="0">
                <a:effectLst/>
                <a:latin typeface="Times New Roman" panose="02020603050405020304" pitchFamily="18" charset="0"/>
                <a:ea typeface="Times New Roman" panose="02020603050405020304" pitchFamily="18" charset="0"/>
              </a:rPr>
              <a:t>[ICONA APPROFONDIMENTO 4.4]</a:t>
            </a:r>
            <a:endParaRPr lang="it-IT" sz="1800" dirty="0">
              <a:effectLst/>
              <a:latin typeface="Times New Roman" panose="02020603050405020304" pitchFamily="18" charset="0"/>
              <a:ea typeface="Times New Roman" panose="02020603050405020304" pitchFamily="18" charset="0"/>
            </a:endParaRPr>
          </a:p>
          <a:p>
            <a:pPr marL="914400" algn="just"/>
            <a:r>
              <a:rPr lang="it-IT" sz="1800" b="1" dirty="0">
                <a:solidFill>
                  <a:srgbClr val="000000"/>
                </a:solidFill>
                <a:effectLst/>
                <a:latin typeface="Times New Roman" panose="02020603050405020304" pitchFamily="18" charset="0"/>
                <a:ea typeface="Times New Roman" panose="02020603050405020304" pitchFamily="18" charset="0"/>
              </a:rPr>
              <a:t>Nell’approfondimento 4.4, troverete i dettagli di come utilizzare le feature preview, anche se vi serviranno più avanti.</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Infatti, nella versione 13 di Java, l’implementazione dell’espressioni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switch</a:t>
            </a:r>
            <a:r>
              <a:rPr lang="it-IT" sz="1800" dirty="0">
                <a:effectLst/>
                <a:latin typeface="Times New Roman" panose="02020603050405020304" pitchFamily="18" charset="0"/>
                <a:ea typeface="Times New Roman" panose="02020603050405020304" pitchFamily="18" charset="0"/>
              </a:rPr>
              <a:t> è stata riproposta con delle modifiche. In particolare, è stata introdotta la parola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yield</a:t>
            </a:r>
            <a:r>
              <a:rPr lang="it-IT" sz="1800" dirty="0">
                <a:effectLst/>
                <a:latin typeface="Times New Roman" panose="02020603050405020304" pitchFamily="18" charset="0"/>
                <a:ea typeface="Times New Roman" panose="02020603050405020304" pitchFamily="18" charset="0"/>
              </a:rPr>
              <a:t>, proprio grazie ai feedback degli sviluppatori. Nella versione 14 quindi, le espressioni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switch</a:t>
            </a:r>
            <a:r>
              <a:rPr lang="it-IT" sz="1800" dirty="0">
                <a:effectLst/>
                <a:latin typeface="Times New Roman" panose="02020603050405020304" pitchFamily="18" charset="0"/>
                <a:ea typeface="Times New Roman" panose="02020603050405020304" pitchFamily="18" charset="0"/>
              </a:rPr>
              <a:t> sono state confermate senza ulteriori modifiche, e sono state ufficialmente dichiarate nuove caratteristiche del linguaggio. Quindi oggi, non è più necessario specificare le opzioni per abilitare le feature preview per utilizzare le espressioni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switch</a:t>
            </a:r>
            <a:r>
              <a:rPr lang="it-IT" sz="1800" dirty="0">
                <a:effectLst/>
                <a:latin typeface="Times New Roman" panose="02020603050405020304" pitchFamily="18" charset="0"/>
                <a:ea typeface="Times New Roman" panose="02020603050405020304" pitchFamily="18" charset="0"/>
              </a:rPr>
              <a:t>, sono a tutti gli effetti un nuovo costrutto della programmazione Java.</a:t>
            </a:r>
          </a:p>
        </p:txBody>
      </p:sp>
      <p:sp>
        <p:nvSpPr>
          <p:cNvPr id="4" name="Segnaposto numero diapositiva 3"/>
          <p:cNvSpPr>
            <a:spLocks noGrp="1"/>
          </p:cNvSpPr>
          <p:nvPr>
            <p:ph type="sldNum" sz="quarter" idx="5"/>
          </p:nvPr>
        </p:nvSpPr>
        <p:spPr/>
        <p:txBody>
          <a:bodyPr/>
          <a:lstStyle/>
          <a:p>
            <a:fld id="{545D8BF2-49EE-4CE2-A2D7-61B744D1E4D9}" type="slidenum">
              <a:rPr lang="it-IT" smtClean="0"/>
              <a:t>33</a:t>
            </a:fld>
            <a:endParaRPr lang="it-IT"/>
          </a:p>
        </p:txBody>
      </p:sp>
    </p:spTree>
    <p:extLst>
      <p:ext uri="{BB962C8B-B14F-4D97-AF65-F5344CB8AC3E}">
        <p14:creationId xmlns:p14="http://schemas.microsoft.com/office/powerpoint/2010/main" val="33688853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Abbiamo deciso di creare questa sezione a parte solo per descrivere il nuovo costrutto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switch</a:t>
            </a:r>
            <a:r>
              <a:rPr lang="it-IT" sz="1800" dirty="0">
                <a:effectLst/>
                <a:latin typeface="Times New Roman" panose="02020603050405020304" pitchFamily="18" charset="0"/>
                <a:ea typeface="Times New Roman" panose="02020603050405020304" pitchFamily="18" charset="0"/>
              </a:rPr>
              <a:t>. Esso infatti, è stato aggiornato recentemente con alcune nuove caratteristiche che richiedono una discussione più ampia. Oracle presenta la novità introdotta, sotto il nome </a:t>
            </a:r>
            <a:r>
              <a:rPr lang="it-IT" sz="1800" b="1" dirty="0">
                <a:effectLst/>
                <a:latin typeface="Courier New" panose="02070309020205020404" pitchFamily="49" charset="0"/>
                <a:ea typeface="Times New Roman" panose="02020603050405020304" pitchFamily="18" charset="0"/>
                <a:cs typeface="Courier New" panose="02070309020205020404" pitchFamily="49" charset="0"/>
              </a:rPr>
              <a:t>switch</a:t>
            </a:r>
            <a:r>
              <a:rPr lang="it-IT" sz="1800" b="1" dirty="0">
                <a:effectLst/>
                <a:latin typeface="Times New Roman" panose="02020603050405020304" pitchFamily="18" charset="0"/>
                <a:ea typeface="Times New Roman" panose="02020603050405020304" pitchFamily="18" charset="0"/>
              </a:rPr>
              <a:t> expression</a:t>
            </a:r>
            <a:r>
              <a:rPr lang="it-IT" sz="1800" dirty="0">
                <a:effectLst/>
                <a:latin typeface="Times New Roman" panose="02020603050405020304" pitchFamily="18" charset="0"/>
                <a:ea typeface="Times New Roman" panose="02020603050405020304" pitchFamily="18" charset="0"/>
              </a:rPr>
              <a:t> (</a:t>
            </a:r>
            <a:r>
              <a:rPr lang="it-IT" sz="1800" b="1" dirty="0">
                <a:effectLst/>
                <a:latin typeface="Times New Roman" panose="02020603050405020304" pitchFamily="18" charset="0"/>
                <a:ea typeface="Times New Roman" panose="02020603050405020304" pitchFamily="18" charset="0"/>
              </a:rPr>
              <a:t>espressione </a:t>
            </a:r>
            <a:r>
              <a:rPr lang="it-IT" sz="1800" b="1" dirty="0">
                <a:effectLst/>
                <a:latin typeface="Courier New" panose="02070309020205020404" pitchFamily="49" charset="0"/>
                <a:ea typeface="Times New Roman" panose="02020603050405020304" pitchFamily="18" charset="0"/>
                <a:cs typeface="Courier New" panose="02070309020205020404" pitchFamily="49" charset="0"/>
              </a:rPr>
              <a:t>switch</a:t>
            </a:r>
            <a:r>
              <a:rPr lang="it-IT" sz="1800" dirty="0">
                <a:effectLst/>
                <a:latin typeface="Times New Roman" panose="02020603050405020304" pitchFamily="18" charset="0"/>
                <a:ea typeface="Times New Roman" panose="02020603050405020304" pitchFamily="18" charset="0"/>
              </a:rPr>
              <a:t>), che permette ai costrutti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switch</a:t>
            </a:r>
            <a:r>
              <a:rPr lang="it-IT" sz="1800" dirty="0">
                <a:effectLst/>
                <a:latin typeface="Times New Roman" panose="02020603050405020304" pitchFamily="18" charset="0"/>
                <a:ea typeface="Times New Roman" panose="02020603050405020304" pitchFamily="18" charset="0"/>
              </a:rPr>
              <a:t> di essere utilizzati come espressioni, ovvero come istruzioni che ritornano un valore. Prima di Java 12, lo </a:t>
            </a:r>
            <a:r>
              <a:rPr lang="it-IT" sz="1800" dirty="0">
                <a:effectLst/>
                <a:latin typeface="Courier New" panose="02070309020205020404" pitchFamily="49" charset="0"/>
                <a:ea typeface="Times New Roman" panose="02020603050405020304" pitchFamily="18" charset="0"/>
              </a:rPr>
              <a:t>switch</a:t>
            </a:r>
            <a:r>
              <a:rPr lang="it-IT" sz="1800" dirty="0">
                <a:effectLst/>
                <a:latin typeface="Times New Roman" panose="02020603050405020304" pitchFamily="18" charset="0"/>
                <a:ea typeface="Times New Roman" panose="02020603050405020304" pitchFamily="18" charset="0"/>
              </a:rPr>
              <a:t> è stato sempre utilizzato come </a:t>
            </a:r>
            <a:r>
              <a:rPr lang="it-IT" sz="1800" i="1" dirty="0">
                <a:effectLst/>
                <a:latin typeface="Times New Roman" panose="02020603050405020304" pitchFamily="18" charset="0"/>
                <a:ea typeface="Times New Roman" panose="02020603050405020304" pitchFamily="18" charset="0"/>
              </a:rPr>
              <a:t>statement</a:t>
            </a:r>
            <a:r>
              <a:rPr lang="it-IT" sz="1800" dirty="0">
                <a:effectLst/>
                <a:latin typeface="Times New Roman" panose="02020603050405020304" pitchFamily="18" charset="0"/>
                <a:ea typeface="Times New Roman" panose="02020603050405020304" pitchFamily="18" charset="0"/>
              </a:rPr>
              <a:t>, ovvero come un’istruzione che non ritorna un valore. Vedremo però, che in realtà la definizione delle espressioni </a:t>
            </a:r>
            <a:r>
              <a:rPr lang="it-IT" sz="1800" dirty="0">
                <a:effectLst/>
                <a:latin typeface="Courier New" panose="02070309020205020404" pitchFamily="49" charset="0"/>
                <a:ea typeface="Times New Roman" panose="02020603050405020304" pitchFamily="18" charset="0"/>
              </a:rPr>
              <a:t>switch</a:t>
            </a:r>
            <a:r>
              <a:rPr lang="it-IT" sz="1800" dirty="0">
                <a:effectLst/>
                <a:latin typeface="Times New Roman" panose="02020603050405020304" pitchFamily="18" charset="0"/>
                <a:ea typeface="Times New Roman" panose="02020603050405020304" pitchFamily="18" charset="0"/>
              </a:rPr>
              <a:t> non è l’unica novità. Anche il costrutto originario ha subito delle modifiche, e quindi abbiamo chiamato questo paragrafo più genericamente </a:t>
            </a:r>
            <a:r>
              <a:rPr lang="it-IT" sz="1800" i="1" dirty="0">
                <a:effectLst/>
                <a:latin typeface="Times New Roman" panose="02020603050405020304" pitchFamily="18" charset="0"/>
                <a:ea typeface="Times New Roman" panose="02020603050405020304" pitchFamily="18" charset="0"/>
              </a:rPr>
              <a:t>il nuovo </a:t>
            </a:r>
            <a:r>
              <a:rPr lang="it-IT" sz="1800" i="1" dirty="0">
                <a:effectLst/>
                <a:latin typeface="Courier New" panose="02070309020205020404" pitchFamily="49" charset="0"/>
                <a:ea typeface="Times New Roman" panose="02020603050405020304" pitchFamily="18" charset="0"/>
              </a:rPr>
              <a:t>switch</a:t>
            </a:r>
            <a:r>
              <a:rPr lang="it-IT" sz="1800" dirty="0">
                <a:effectLst/>
                <a:latin typeface="Times New Roman" panose="02020603050405020304" pitchFamily="18" charset="0"/>
                <a:ea typeface="Times New Roman" panose="02020603050405020304" pitchFamily="18" charset="0"/>
              </a:rPr>
              <a:t>. In particolare, l’introduzione delle espressioni </a:t>
            </a:r>
            <a:r>
              <a:rPr lang="it-IT" sz="1800" dirty="0">
                <a:effectLst/>
                <a:latin typeface="Courier New" panose="02070309020205020404" pitchFamily="49" charset="0"/>
                <a:ea typeface="Times New Roman" panose="02020603050405020304" pitchFamily="18" charset="0"/>
              </a:rPr>
              <a:t>switch</a:t>
            </a:r>
            <a:r>
              <a:rPr lang="it-IT" sz="1800" dirty="0">
                <a:effectLst/>
                <a:latin typeface="Times New Roman" panose="02020603050405020304" pitchFamily="18" charset="0"/>
                <a:ea typeface="Times New Roman" panose="02020603050405020304" pitchFamily="18" charset="0"/>
              </a:rPr>
              <a:t>, ha causato anche l’introduzione di una nuova parola definita dal linguaggio (</a:t>
            </a:r>
            <a:r>
              <a:rPr lang="it-IT" sz="1800" dirty="0">
                <a:effectLst/>
                <a:latin typeface="Courier New" panose="02070309020205020404" pitchFamily="49" charset="0"/>
                <a:ea typeface="Times New Roman" panose="02020603050405020304" pitchFamily="18" charset="0"/>
              </a:rPr>
              <a:t>yield</a:t>
            </a:r>
            <a:r>
              <a:rPr lang="it-IT" sz="1800" dirty="0">
                <a:effectLst/>
                <a:latin typeface="Times New Roman" panose="02020603050405020304" pitchFamily="18" charset="0"/>
                <a:ea typeface="Times New Roman" panose="02020603050405020304" pitchFamily="18" charset="0"/>
              </a:rPr>
              <a:t>), è la possibilità di usare una nuova sintassi che chiameremo </a:t>
            </a:r>
            <a:r>
              <a:rPr lang="it-IT" sz="1800" i="1" dirty="0">
                <a:effectLst/>
                <a:latin typeface="Times New Roman" panose="02020603050405020304" pitchFamily="18" charset="0"/>
                <a:ea typeface="Times New Roman" panose="02020603050405020304" pitchFamily="18" charset="0"/>
              </a:rPr>
              <a:t>notazione freccia</a:t>
            </a:r>
            <a:r>
              <a:rPr lang="it-IT" sz="1800" dirty="0">
                <a:effectLst/>
                <a:latin typeface="Times New Roman" panose="02020603050405020304" pitchFamily="18" charset="0"/>
                <a:ea typeface="Times New Roman" panose="02020603050405020304" pitchFamily="18" charset="0"/>
              </a:rPr>
              <a:t>. Quest’ultima può essere utilizzata anche all’interno di uno </a:t>
            </a:r>
            <a:r>
              <a:rPr lang="it-IT" sz="1800" dirty="0">
                <a:effectLst/>
                <a:latin typeface="Courier New" panose="02070309020205020404" pitchFamily="49" charset="0"/>
                <a:ea typeface="Times New Roman" panose="02020603050405020304" pitchFamily="18" charset="0"/>
              </a:rPr>
              <a:t>switch</a:t>
            </a:r>
            <a:r>
              <a:rPr lang="it-IT" sz="1800" dirty="0">
                <a:effectLst/>
                <a:latin typeface="Times New Roman" panose="02020603050405020304" pitchFamily="18" charset="0"/>
                <a:ea typeface="Times New Roman" panose="02020603050405020304" pitchFamily="18" charset="0"/>
              </a:rPr>
              <a:t> come statement, e non solo nelle espressioni </a:t>
            </a:r>
            <a:r>
              <a:rPr lang="it-IT" sz="1800" dirty="0">
                <a:effectLst/>
                <a:latin typeface="Courier New" panose="02070309020205020404" pitchFamily="49" charset="0"/>
                <a:ea typeface="Times New Roman" panose="02020603050405020304" pitchFamily="18" charset="0"/>
              </a:rPr>
              <a:t>switch</a:t>
            </a:r>
            <a:r>
              <a:rPr lang="it-IT" sz="1800" dirty="0">
                <a:effectLst/>
                <a:latin typeface="Times New Roman" panose="02020603050405020304" pitchFamily="18" charset="0"/>
                <a:ea typeface="Times New Roman" panose="02020603050405020304" pitchFamily="18" charset="0"/>
              </a:rPr>
              <a:t>. Distingueremo quindi, </a:t>
            </a:r>
            <a:r>
              <a:rPr lang="it-IT" sz="1800" i="1" dirty="0">
                <a:effectLst/>
                <a:latin typeface="Times New Roman" panose="02020603050405020304" pitchFamily="18" charset="0"/>
                <a:ea typeface="Times New Roman" panose="02020603050405020304" pitchFamily="18" charset="0"/>
              </a:rPr>
              <a:t>il nuovo </a:t>
            </a:r>
            <a:r>
              <a:rPr lang="it-IT" sz="1800" i="1" dirty="0">
                <a:effectLst/>
                <a:latin typeface="Courier New" panose="02070309020205020404" pitchFamily="49" charset="0"/>
                <a:ea typeface="Times New Roman" panose="02020603050405020304" pitchFamily="18" charset="0"/>
              </a:rPr>
              <a:t>switch</a:t>
            </a:r>
            <a:r>
              <a:rPr lang="it-IT" sz="1800" dirty="0">
                <a:effectLst/>
                <a:latin typeface="Times New Roman" panose="02020603050405020304" pitchFamily="18" charset="0"/>
                <a:ea typeface="Times New Roman" panose="02020603050405020304" pitchFamily="18" charset="0"/>
              </a:rPr>
              <a:t> utilizzato come statement e come espressione.</a:t>
            </a:r>
          </a:p>
          <a:p>
            <a:r>
              <a:rPr lang="it-IT" sz="1800" dirty="0">
                <a:effectLst/>
                <a:latin typeface="Times New Roman" panose="02020603050405020304" pitchFamily="18" charset="0"/>
                <a:ea typeface="Times New Roman" panose="02020603050405020304" pitchFamily="18" charset="0"/>
              </a:rPr>
              <a:t>Per avere un quadro della situazione più chiaro, descriviamo anche brevemente la storia del costrutto.</a:t>
            </a:r>
          </a:p>
          <a:p>
            <a:pPr>
              <a:spcAft>
                <a:spcPts val="1200"/>
              </a:spcAft>
            </a:pPr>
            <a:r>
              <a:rPr lang="it-IT" sz="1800" b="1" dirty="0">
                <a:effectLst/>
                <a:latin typeface="Arial" panose="020B0604020202020204" pitchFamily="34" charset="0"/>
              </a:rPr>
              <a:t>4.4.1 Perché </a:t>
            </a:r>
            <a:r>
              <a:rPr lang="it-IT" sz="1800" b="1" dirty="0">
                <a:effectLst/>
                <a:latin typeface="Courier New" panose="02070309020205020404" pitchFamily="49" charset="0"/>
                <a:cs typeface="Courier New" panose="02070309020205020404" pitchFamily="49" charset="0"/>
              </a:rPr>
              <a:t>switch</a:t>
            </a:r>
            <a:r>
              <a:rPr lang="it-IT" sz="1800" b="1" dirty="0">
                <a:effectLst/>
                <a:latin typeface="Arial" panose="020B0604020202020204" pitchFamily="34" charset="0"/>
              </a:rPr>
              <a:t> è stato aggiornato</a:t>
            </a:r>
          </a:p>
          <a:p>
            <a:r>
              <a:rPr lang="it-IT" sz="1800" dirty="0">
                <a:effectLst/>
                <a:latin typeface="Times New Roman" panose="02020603050405020304" pitchFamily="18" charset="0"/>
                <a:ea typeface="Times New Roman" panose="02020603050405020304" pitchFamily="18" charset="0"/>
              </a:rPr>
              <a:t>Il costrutto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switch</a:t>
            </a:r>
            <a:r>
              <a:rPr lang="it-IT" sz="1800" dirty="0">
                <a:effectLst/>
                <a:latin typeface="Times New Roman" panose="02020603050405020304" pitchFamily="18" charset="0"/>
                <a:ea typeface="Times New Roman" panose="02020603050405020304" pitchFamily="18" charset="0"/>
              </a:rPr>
              <a:t>, come tutti i costrutti di Java e l’operatore ternario, è stato ereditato dal linguaggio C sin dalla prima versione di Java.</a:t>
            </a:r>
          </a:p>
          <a:p>
            <a:pPr marL="914400" algn="just"/>
            <a:r>
              <a:rPr lang="it-IT" sz="1800" b="1" dirty="0">
                <a:solidFill>
                  <a:srgbClr val="000000"/>
                </a:solidFill>
                <a:effectLst/>
                <a:latin typeface="Times New Roman" panose="02020603050405020304" pitchFamily="18" charset="0"/>
                <a:ea typeface="Times New Roman" panose="02020603050405020304" pitchFamily="18" charset="0"/>
              </a:rPr>
              <a:t>Fa eccezione il ciclo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for</a:t>
            </a:r>
            <a:r>
              <a:rPr lang="it-IT" sz="1800" b="1" dirty="0">
                <a:solidFill>
                  <a:srgbClr val="000000"/>
                </a:solidFill>
                <a:effectLst/>
                <a:latin typeface="Times New Roman" panose="02020603050405020304" pitchFamily="18" charset="0"/>
                <a:ea typeface="Times New Roman" panose="02020603050405020304" pitchFamily="18" charset="0"/>
              </a:rPr>
              <a:t> migliorato che è stato introdotto con Java 5. </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Tale costrutto, ha delle caratteristiche che ben si adattavano alla creazione dei tipici programmi che venivano sviluppati una volta con questo linguaggio, per esempio i parser e codificatori binari. Portato all’interno della programmazione Java però, è sempre stato visto dai programmatori come un costrutto secondario. Con l’avvento delle enumerazioni in Java, </a:t>
            </a:r>
            <a:r>
              <a:rPr lang="it-IT" sz="1800" dirty="0">
                <a:effectLst/>
                <a:latin typeface="Courier New" panose="02070309020205020404" pitchFamily="49" charset="0"/>
                <a:ea typeface="Times New Roman" panose="02020603050405020304" pitchFamily="18" charset="0"/>
              </a:rPr>
              <a:t>switch</a:t>
            </a:r>
            <a:r>
              <a:rPr lang="it-IT" sz="1800" dirty="0">
                <a:effectLst/>
                <a:latin typeface="Times New Roman" panose="02020603050405020304" pitchFamily="18" charset="0"/>
                <a:ea typeface="Times New Roman" panose="02020603050405020304" pitchFamily="18" charset="0"/>
              </a:rPr>
              <a:t> ha assunto maggiore rilevanza, ma non abbastanza per essere considerato uno dei costrutti preferiti dagli sviluppatori. La sintassi è rimasta verbosa, complessa e molto diversa dagli altri costrutti. La tecnica del fall through è sempre complicata da gestire, e spesso è involontariamente causa di bug. Lo scope delle variabili locali a livello di costrutto risulta continua ad essere scomodo. Per queste ed altre ragioni, dopo oltre 20 anni, si è sentita l’esigenza di aggiornare il costrutto con nuove caratteristiche, basandosi sulle proposte e i suggerimenti da parte degli sviluppatori. Infatti, la scelta di Oracle di accelerare il processo di sviluppo di Java attraverso il rilascio semestrale delle nuove versioni, ben si adatta al processo di aggiornamento del linguaggio, basato sui feedback e le richieste degli sviluppatori. La piattaforma si sta arricchendo velocemente di nuove caratteristiche molto interessanti, dopo alcuni anni in cui il suo sviluppo aveva subito un evidente rallentamento, dovuto in parte al passaggio di consegne, e conseguenti necessità di prendere nuove direzioni tra Sun Microsystems e Oracle. Il nuovo ciclo di sviluppo di Java basato sulle proposte degli sviluppatori, sta dando linfa vitale ad un linguaggio che è sempre più moderno. In particolare, con la versione 12, è stata anche inaugurato un nuovo modo di introdurre una nuova caratteristica nel linguaggio: le </a:t>
            </a:r>
            <a:r>
              <a:rPr lang="it-IT" sz="1800" b="1" dirty="0">
                <a:effectLst/>
                <a:latin typeface="Times New Roman" panose="02020603050405020304" pitchFamily="18" charset="0"/>
                <a:ea typeface="Times New Roman" panose="02020603050405020304" pitchFamily="18" charset="0"/>
              </a:rPr>
              <a:t>feature preview</a:t>
            </a:r>
            <a:r>
              <a:rPr lang="it-IT" sz="1800" dirty="0">
                <a:effectLst/>
                <a:latin typeface="Times New Roman" panose="02020603050405020304" pitchFamily="18" charset="0"/>
                <a:ea typeface="Times New Roman" panose="02020603050405020304" pitchFamily="18" charset="0"/>
              </a:rPr>
              <a:t> (in italiano </a:t>
            </a:r>
            <a:r>
              <a:rPr lang="it-IT" sz="1800" b="1" dirty="0">
                <a:effectLst/>
                <a:latin typeface="Times New Roman" panose="02020603050405020304" pitchFamily="18" charset="0"/>
                <a:ea typeface="Times New Roman" panose="02020603050405020304" pitchFamily="18" charset="0"/>
              </a:rPr>
              <a:t>caratteristica in anteprima</a:t>
            </a:r>
            <a:r>
              <a:rPr lang="it-IT" sz="1800" dirty="0">
                <a:effectLst/>
                <a:latin typeface="Times New Roman" panose="02020603050405020304" pitchFamily="18" charset="0"/>
                <a:ea typeface="Times New Roman" panose="02020603050405020304" pitchFamily="18" charset="0"/>
              </a:rPr>
              <a:t>). In pratica, un nuovo costrutto (l’espressione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switch</a:t>
            </a:r>
            <a:r>
              <a:rPr lang="it-IT" sz="1800" dirty="0">
                <a:effectLst/>
                <a:latin typeface="Times New Roman" panose="02020603050405020304" pitchFamily="18" charset="0"/>
                <a:ea typeface="Times New Roman" panose="02020603050405020304" pitchFamily="18" charset="0"/>
              </a:rPr>
              <a:t>), è diventato utilizzabile in anteprima nel JDK 12. Per poter usufruire del nuovo costrutto, bisognava specificare durante la compilazione e al runtime delle particolari opzioni. In questo modo, gli sviluppatori hanno avuto la possibilità di testare le espressioni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switch</a:t>
            </a:r>
            <a:r>
              <a:rPr lang="it-IT" sz="1800" dirty="0">
                <a:effectLst/>
                <a:latin typeface="Times New Roman" panose="02020603050405020304" pitchFamily="18" charset="0"/>
                <a:ea typeface="Times New Roman" panose="02020603050405020304" pitchFamily="18" charset="0"/>
              </a:rPr>
              <a:t>, e di restituire ad Oracle fondamentali feedback. </a:t>
            </a:r>
          </a:p>
          <a:p>
            <a:r>
              <a:rPr lang="it-IT" sz="1800" b="1" dirty="0">
                <a:effectLst/>
                <a:latin typeface="Times New Roman" panose="02020603050405020304" pitchFamily="18" charset="0"/>
                <a:ea typeface="Times New Roman" panose="02020603050405020304" pitchFamily="18" charset="0"/>
              </a:rPr>
              <a:t>[ICONA APPROFONDIMENTO 4.4]</a:t>
            </a:r>
            <a:endParaRPr lang="it-IT" sz="1800" dirty="0">
              <a:effectLst/>
              <a:latin typeface="Times New Roman" panose="02020603050405020304" pitchFamily="18" charset="0"/>
              <a:ea typeface="Times New Roman" panose="02020603050405020304" pitchFamily="18" charset="0"/>
            </a:endParaRPr>
          </a:p>
          <a:p>
            <a:pPr marL="914400" algn="just"/>
            <a:r>
              <a:rPr lang="it-IT" sz="1800" b="1" dirty="0">
                <a:solidFill>
                  <a:srgbClr val="000000"/>
                </a:solidFill>
                <a:effectLst/>
                <a:latin typeface="Times New Roman" panose="02020603050405020304" pitchFamily="18" charset="0"/>
                <a:ea typeface="Times New Roman" panose="02020603050405020304" pitchFamily="18" charset="0"/>
              </a:rPr>
              <a:t>Nell’approfondimento 4.4, troverete i dettagli di come utilizzare le feature preview, anche se vi serviranno più avanti.</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Infatti, nella versione 13 di Java, l’implementazione dell’espressioni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switch</a:t>
            </a:r>
            <a:r>
              <a:rPr lang="it-IT" sz="1800" dirty="0">
                <a:effectLst/>
                <a:latin typeface="Times New Roman" panose="02020603050405020304" pitchFamily="18" charset="0"/>
                <a:ea typeface="Times New Roman" panose="02020603050405020304" pitchFamily="18" charset="0"/>
              </a:rPr>
              <a:t> è stata riproposta con delle modifiche. In particolare, è stata introdotta la parola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yield</a:t>
            </a:r>
            <a:r>
              <a:rPr lang="it-IT" sz="1800" dirty="0">
                <a:effectLst/>
                <a:latin typeface="Times New Roman" panose="02020603050405020304" pitchFamily="18" charset="0"/>
                <a:ea typeface="Times New Roman" panose="02020603050405020304" pitchFamily="18" charset="0"/>
              </a:rPr>
              <a:t>, proprio grazie ai feedback degli sviluppatori. Nella versione 14 quindi, le espressioni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switch</a:t>
            </a:r>
            <a:r>
              <a:rPr lang="it-IT" sz="1800" dirty="0">
                <a:effectLst/>
                <a:latin typeface="Times New Roman" panose="02020603050405020304" pitchFamily="18" charset="0"/>
                <a:ea typeface="Times New Roman" panose="02020603050405020304" pitchFamily="18" charset="0"/>
              </a:rPr>
              <a:t> sono state confermate senza ulteriori modifiche, e sono state ufficialmente dichiarate nuove caratteristiche del linguaggio. Quindi oggi, non è più necessario specificare le opzioni per abilitare le feature preview per utilizzare le espressioni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switch</a:t>
            </a:r>
            <a:r>
              <a:rPr lang="it-IT" sz="1800" dirty="0">
                <a:effectLst/>
                <a:latin typeface="Times New Roman" panose="02020603050405020304" pitchFamily="18" charset="0"/>
                <a:ea typeface="Times New Roman" panose="02020603050405020304" pitchFamily="18" charset="0"/>
              </a:rPr>
              <a:t>, sono a tutti gli effetti un nuovo costrutto della programmazione Java.</a:t>
            </a:r>
          </a:p>
        </p:txBody>
      </p:sp>
      <p:sp>
        <p:nvSpPr>
          <p:cNvPr id="4" name="Segnaposto numero diapositiva 3"/>
          <p:cNvSpPr>
            <a:spLocks noGrp="1"/>
          </p:cNvSpPr>
          <p:nvPr>
            <p:ph type="sldNum" sz="quarter" idx="5"/>
          </p:nvPr>
        </p:nvSpPr>
        <p:spPr/>
        <p:txBody>
          <a:bodyPr/>
          <a:lstStyle/>
          <a:p>
            <a:fld id="{545D8BF2-49EE-4CE2-A2D7-61B744D1E4D9}" type="slidenum">
              <a:rPr lang="it-IT" smtClean="0"/>
              <a:t>34</a:t>
            </a:fld>
            <a:endParaRPr lang="it-IT"/>
          </a:p>
        </p:txBody>
      </p:sp>
    </p:spTree>
    <p:extLst>
      <p:ext uri="{BB962C8B-B14F-4D97-AF65-F5344CB8AC3E}">
        <p14:creationId xmlns:p14="http://schemas.microsoft.com/office/powerpoint/2010/main" val="211951162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Se al runtime chiamassimo questo metodo passandogli il valore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otterremmo in output:</a:t>
            </a:r>
          </a:p>
          <a:p>
            <a:pPr marL="457200"/>
            <a:r>
              <a:rPr lang="it-IT" sz="1800" b="1" dirty="0">
                <a:solidFill>
                  <a:srgbClr val="FFFFFF"/>
                </a:solidFill>
                <a:effectLst/>
                <a:latin typeface="Courier New" panose="02070309020205020404" pitchFamily="49" charset="0"/>
                <a:ea typeface="MS Mincho" panose="02020609040205080304" pitchFamily="49" charset="-128"/>
              </a:rPr>
              <a:t>case 1</a:t>
            </a:r>
            <a:endParaRPr lang="it-IT" sz="1800" b="1" dirty="0">
              <a:solidFill>
                <a:srgbClr val="008000"/>
              </a:solidFill>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se avessimo passato al metodo un qualsiasi altro valore diverso da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allora sarebbe stata stampato in output:</a:t>
            </a:r>
          </a:p>
          <a:p>
            <a:pPr marL="457200"/>
            <a:r>
              <a:rPr lang="it-IT" sz="1800" b="1" dirty="0">
                <a:solidFill>
                  <a:srgbClr val="FFFFFF"/>
                </a:solidFill>
                <a:effectLst/>
                <a:latin typeface="Courier New" panose="02070309020205020404" pitchFamily="49" charset="0"/>
                <a:ea typeface="MS Mincho" panose="02020609040205080304" pitchFamily="49" charset="-128"/>
              </a:rPr>
              <a:t>default</a:t>
            </a:r>
            <a:endParaRPr lang="it-IT" sz="1800" b="1" dirty="0">
              <a:solidFill>
                <a:srgbClr val="008000"/>
              </a:solidFill>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Al runtime, vengono quindi eseguite le istruzioni che seguono la parola chiave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case</a:t>
            </a:r>
            <a:r>
              <a:rPr lang="it-IT" sz="1800" dirty="0">
                <a:effectLst/>
                <a:latin typeface="Times New Roman" panose="02020603050405020304" pitchFamily="18" charset="0"/>
                <a:ea typeface="Times New Roman" panose="02020603050405020304" pitchFamily="18" charset="0"/>
              </a:rPr>
              <a:t> che definisce lo stesso valore che assume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test</a:t>
            </a:r>
            <a:r>
              <a:rPr lang="it-IT" sz="1800" dirty="0">
                <a:effectLst/>
                <a:latin typeface="Times New Roman" panose="02020603050405020304" pitchFamily="18" charset="0"/>
                <a:ea typeface="Times New Roman" panose="02020603050405020304" pitchFamily="18" charset="0"/>
              </a:rPr>
              <a:t>. Se il valore di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test</a:t>
            </a:r>
            <a:r>
              <a:rPr lang="it-IT" sz="1800" dirty="0">
                <a:effectLst/>
                <a:latin typeface="Times New Roman" panose="02020603050405020304" pitchFamily="18" charset="0"/>
                <a:ea typeface="Times New Roman" panose="02020603050405020304" pitchFamily="18" charset="0"/>
              </a:rPr>
              <a:t> non coincide con nessuno dei valori dei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case</a:t>
            </a:r>
            <a:r>
              <a:rPr lang="it-IT" sz="1800" dirty="0">
                <a:effectLst/>
                <a:latin typeface="Times New Roman" panose="02020603050405020304" pitchFamily="18" charset="0"/>
                <a:ea typeface="Times New Roman" panose="02020603050405020304" pitchFamily="18" charset="0"/>
              </a:rPr>
              <a:t> dichiarati, allora vengono eseguite le istruzioni che seguono la clausola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default</a:t>
            </a:r>
            <a:r>
              <a:rPr lang="it-IT" sz="1800" dirty="0">
                <a:effectLst/>
                <a:latin typeface="Times New Roman" panose="02020603050405020304" pitchFamily="18" charset="0"/>
                <a:ea typeface="Times New Roman" panose="02020603050405020304" pitchFamily="18" charset="0"/>
              </a:rPr>
              <a:t> (se essa è presente, visto che è opzionale). </a:t>
            </a:r>
          </a:p>
        </p:txBody>
      </p:sp>
      <p:sp>
        <p:nvSpPr>
          <p:cNvPr id="4" name="Segnaposto numero diapositiva 3"/>
          <p:cNvSpPr>
            <a:spLocks noGrp="1"/>
          </p:cNvSpPr>
          <p:nvPr>
            <p:ph type="sldNum" sz="quarter" idx="5"/>
          </p:nvPr>
        </p:nvSpPr>
        <p:spPr/>
        <p:txBody>
          <a:bodyPr/>
          <a:lstStyle/>
          <a:p>
            <a:fld id="{545D8BF2-49EE-4CE2-A2D7-61B744D1E4D9}" type="slidenum">
              <a:rPr lang="it-IT" smtClean="0"/>
              <a:t>35</a:t>
            </a:fld>
            <a:endParaRPr lang="it-IT"/>
          </a:p>
        </p:txBody>
      </p:sp>
    </p:spTree>
    <p:extLst>
      <p:ext uri="{BB962C8B-B14F-4D97-AF65-F5344CB8AC3E}">
        <p14:creationId xmlns:p14="http://schemas.microsoft.com/office/powerpoint/2010/main" val="23310128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La parola chiave </a:t>
            </a:r>
            <a:r>
              <a:rPr lang="it-IT" sz="1800" b="1" dirty="0">
                <a:effectLst/>
                <a:latin typeface="Courier New" panose="02070309020205020404" pitchFamily="49" charset="0"/>
                <a:ea typeface="Times New Roman" panose="02020603050405020304" pitchFamily="18" charset="0"/>
                <a:cs typeface="Courier New" panose="02070309020205020404" pitchFamily="49" charset="0"/>
              </a:rPr>
              <a:t>switch</a:t>
            </a:r>
            <a:r>
              <a:rPr lang="it-IT" sz="1800" dirty="0">
                <a:effectLst/>
                <a:latin typeface="Times New Roman" panose="02020603050405020304" pitchFamily="18" charset="0"/>
                <a:ea typeface="Times New Roman" panose="02020603050405020304" pitchFamily="18" charset="0"/>
              </a:rPr>
              <a:t> definisce il costrutto stesso, ed è delimitata ad un blocco di codice. Tra parentesi tonde dichiara una variabile o un’espressione (ovvero un’istruzione che ritorna un valore, come potrebbe essere un metodo), che svolge lo stesso ruolo che svolgeva l’</a:t>
            </a:r>
            <a:r>
              <a:rPr lang="it-IT" sz="1800" i="1" dirty="0">
                <a:effectLst/>
                <a:latin typeface="Times New Roman" panose="02020603050405020304" pitchFamily="18" charset="0"/>
                <a:ea typeface="Times New Roman" panose="02020603050405020304" pitchFamily="18" charset="0"/>
              </a:rPr>
              <a:t>espressione booleana</a:t>
            </a:r>
            <a:r>
              <a:rPr lang="it-IT" sz="1800" dirty="0">
                <a:effectLst/>
                <a:latin typeface="Times New Roman" panose="02020603050405020304" pitchFamily="18" charset="0"/>
                <a:ea typeface="Times New Roman" panose="02020603050405020304" pitchFamily="18" charset="0"/>
              </a:rPr>
              <a:t> per il costrutto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if</a:t>
            </a:r>
            <a:r>
              <a:rPr lang="it-IT" sz="1800" dirty="0">
                <a:effectLst/>
                <a:latin typeface="Times New Roman" panose="02020603050405020304" pitchFamily="18" charset="0"/>
                <a:ea typeface="Times New Roman" panose="02020603050405020304" pitchFamily="18" charset="0"/>
              </a:rPr>
              <a:t>. La differenza è che con l’espressione booleana dell’</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if</a:t>
            </a:r>
            <a:r>
              <a:rPr lang="it-IT" sz="1800" dirty="0">
                <a:effectLst/>
                <a:latin typeface="Times New Roman" panose="02020603050405020304" pitchFamily="18" charset="0"/>
                <a:ea typeface="Times New Roman" panose="02020603050405020304" pitchFamily="18" charset="0"/>
              </a:rPr>
              <a:t>, si potevano definire espressioni come per esempio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 &lt; 10</a:t>
            </a:r>
            <a:r>
              <a:rPr lang="it-IT" sz="1800" dirty="0">
                <a:effectLst/>
                <a:latin typeface="Times New Roman" panose="02020603050405020304" pitchFamily="18" charset="0"/>
                <a:ea typeface="Times New Roman" panose="02020603050405020304" pitchFamily="18" charset="0"/>
              </a:rPr>
              <a:t>, mentre per lo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switch</a:t>
            </a:r>
            <a:r>
              <a:rPr lang="it-IT" sz="1800" dirty="0">
                <a:effectLst/>
                <a:latin typeface="Times New Roman" panose="02020603050405020304" pitchFamily="18" charset="0"/>
                <a:ea typeface="Times New Roman" panose="02020603050405020304" pitchFamily="18" charset="0"/>
              </a:rPr>
              <a:t>, si tratta solo di un valore, e non di un’espressione booleana. Tale valore, dovrebbe coincidere con uno dei valori specificate nelle varie clausole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case</a:t>
            </a:r>
            <a:r>
              <a:rPr lang="it-IT" sz="1800" dirty="0">
                <a:effectLst/>
                <a:latin typeface="Times New Roman" panose="02020603050405020304" pitchFamily="18" charset="0"/>
                <a:ea typeface="Times New Roman" panose="02020603050405020304" pitchFamily="18" charset="0"/>
              </a:rPr>
              <a:t>. Nella versione 15 di Java, tale valore deve essere di uno dei seguenti tipi:</a:t>
            </a:r>
          </a:p>
          <a:p>
            <a:pPr marL="180340" indent="180340"/>
            <a:r>
              <a:rPr lang="it-IT" sz="1800" dirty="0">
                <a:effectLst/>
                <a:latin typeface="Times New Roman" panose="02020603050405020304" pitchFamily="18" charset="0"/>
                <a:ea typeface="MS Mincho" panose="02020609040205080304" pitchFamily="49" charset="-128"/>
              </a:rPr>
              <a:t>Un tipo intero primitivo come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byte</a:t>
            </a:r>
            <a:r>
              <a:rPr lang="it-IT" sz="1800" dirty="0">
                <a:effectLst/>
                <a:latin typeface="Times New Roman" panose="02020603050405020304" pitchFamily="18" charset="0"/>
                <a:ea typeface="MS Mincho" panose="02020609040205080304" pitchFamily="49" charset="-128"/>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short</a:t>
            </a:r>
            <a:r>
              <a:rPr lang="it-IT" sz="1800" dirty="0">
                <a:effectLst/>
                <a:latin typeface="Times New Roman" panose="02020603050405020304" pitchFamily="18" charset="0"/>
                <a:ea typeface="MS Mincho" panose="02020609040205080304" pitchFamily="49" charset="-128"/>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char</a:t>
            </a:r>
            <a:r>
              <a:rPr lang="it-IT" sz="1800" dirty="0">
                <a:effectLst/>
                <a:latin typeface="Times New Roman" panose="02020603050405020304" pitchFamily="18" charset="0"/>
                <a:ea typeface="MS Mincho" panose="02020609040205080304" pitchFamily="49" charset="-128"/>
              </a:rPr>
              <a:t> 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int</a:t>
            </a:r>
            <a:r>
              <a:rPr lang="it-IT" sz="1800" dirty="0">
                <a:effectLst/>
                <a:latin typeface="Times New Roman" panose="02020603050405020304" pitchFamily="18" charset="0"/>
                <a:ea typeface="MS Mincho" panose="02020609040205080304" pitchFamily="49" charset="-128"/>
              </a:rPr>
              <a:t> , mentre il tipo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long</a:t>
            </a:r>
            <a:r>
              <a:rPr lang="it-IT" sz="1800" dirty="0">
                <a:effectLst/>
                <a:latin typeface="Times New Roman" panose="02020603050405020304" pitchFamily="18" charset="0"/>
                <a:ea typeface="MS Mincho" panose="02020609040205080304" pitchFamily="49" charset="-128"/>
              </a:rPr>
              <a:t> non è ammesso .</a:t>
            </a:r>
          </a:p>
          <a:p>
            <a:pPr marL="180340" indent="180340"/>
            <a:r>
              <a:rPr lang="it-IT" sz="1800" dirty="0">
                <a:effectLst/>
                <a:latin typeface="Times New Roman" panose="02020603050405020304" pitchFamily="18" charset="0"/>
                <a:ea typeface="MS Mincho" panose="02020609040205080304" pitchFamily="49" charset="-128"/>
              </a:rPr>
              <a:t>Una classe wrapper come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Integer</a:t>
            </a:r>
            <a:r>
              <a:rPr lang="it-IT" sz="1800" dirty="0">
                <a:effectLst/>
                <a:latin typeface="Times New Roman" panose="02020603050405020304" pitchFamily="18" charset="0"/>
                <a:ea typeface="MS Mincho" panose="02020609040205080304" pitchFamily="49" charset="-128"/>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Short</a:t>
            </a:r>
            <a:r>
              <a:rPr lang="it-IT" sz="1800" dirty="0">
                <a:effectLst/>
                <a:latin typeface="Times New Roman" panose="02020603050405020304" pitchFamily="18" charset="0"/>
                <a:ea typeface="MS Mincho" panose="02020609040205080304" pitchFamily="49" charset="-128"/>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Byte</a:t>
            </a:r>
            <a:r>
              <a:rPr lang="it-IT" sz="1800" dirty="0">
                <a:effectLst/>
                <a:latin typeface="Times New Roman" panose="02020603050405020304" pitchFamily="18" charset="0"/>
                <a:ea typeface="MS Mincho" panose="02020609040205080304" pitchFamily="49" charset="-128"/>
              </a:rPr>
              <a:t> 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Character</a:t>
            </a:r>
            <a:r>
              <a:rPr lang="it-IT" sz="1800" dirty="0">
                <a:effectLst/>
                <a:latin typeface="Times New Roman" panose="02020603050405020304" pitchFamily="18" charset="0"/>
                <a:ea typeface="MS Mincho" panose="02020609040205080304" pitchFamily="49" charset="-128"/>
              </a:rPr>
              <a:t>, a cui abbiamo già accennato nel paragrafo 3.3.2. Infatti, queste classi possono essere utilizzate al posto dei rispettivi tipi primitivi grazie alla caratteristica di Java nota come </a:t>
            </a:r>
            <a:r>
              <a:rPr lang="it-IT" sz="1800" i="1" dirty="0">
                <a:effectLst/>
                <a:latin typeface="Times New Roman" panose="02020603050405020304" pitchFamily="18" charset="0"/>
                <a:ea typeface="MS Mincho" panose="02020609040205080304" pitchFamily="49" charset="-128"/>
              </a:rPr>
              <a:t>autoboxing-unboxing</a:t>
            </a:r>
            <a:r>
              <a:rPr lang="it-IT" sz="1800" dirty="0">
                <a:effectLst/>
                <a:latin typeface="Times New Roman" panose="02020603050405020304" pitchFamily="18" charset="0"/>
                <a:ea typeface="MS Mincho" panose="02020609040205080304" pitchFamily="49" charset="-128"/>
              </a:rPr>
              <a:t>. Quest’ultima consente di </a:t>
            </a:r>
            <a:r>
              <a:rPr lang="it-IT" sz="1800" dirty="0" err="1">
                <a:effectLst/>
                <a:latin typeface="Times New Roman" panose="02020603050405020304" pitchFamily="18" charset="0"/>
                <a:ea typeface="MS Mincho" panose="02020609040205080304" pitchFamily="49" charset="-128"/>
              </a:rPr>
              <a:t>interscambiare</a:t>
            </a:r>
            <a:r>
              <a:rPr lang="it-IT" sz="1800" dirty="0">
                <a:effectLst/>
                <a:latin typeface="Times New Roman" panose="02020603050405020304" pitchFamily="18" charset="0"/>
                <a:ea typeface="MS Mincho" panose="02020609040205080304" pitchFamily="49" charset="-128"/>
              </a:rPr>
              <a:t> il tipo primitivo con un oggetto della classe wrapper relativa o viceversa.</a:t>
            </a:r>
          </a:p>
          <a:p>
            <a:pPr marL="180340" indent="180340"/>
            <a:r>
              <a:rPr lang="it-IT" sz="1800" dirty="0">
                <a:effectLst/>
                <a:latin typeface="Times New Roman" panose="02020603050405020304" pitchFamily="18" charset="0"/>
                <a:ea typeface="MS Mincho" panose="02020609040205080304" pitchFamily="49" charset="-128"/>
              </a:rPr>
              <a:t>Una classe di tipo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String</a:t>
            </a:r>
            <a:r>
              <a:rPr lang="it-IT" sz="1800" dirty="0">
                <a:effectLst/>
                <a:latin typeface="Times New Roman" panose="02020603050405020304" pitchFamily="18" charset="0"/>
                <a:ea typeface="MS Mincho" panose="02020609040205080304" pitchFamily="49" charset="-128"/>
              </a:rPr>
              <a:t>. Bisogna però stare attenti quando si usano le stringhe per fare controlli di uguaglianza, perché esse sono case sensitive e possono contenere spazi, e quindi sarà più facile introdurre bachi.</a:t>
            </a:r>
          </a:p>
          <a:p>
            <a:pPr marL="180340" indent="180340"/>
            <a:r>
              <a:rPr lang="it-IT" sz="1800" dirty="0">
                <a:effectLst/>
                <a:latin typeface="Times New Roman" panose="02020603050405020304" pitchFamily="18" charset="0"/>
                <a:ea typeface="MS Mincho" panose="02020609040205080304" pitchFamily="49" charset="-128"/>
              </a:rPr>
              <a:t>Un qualsiasi tipo di enumerazione. (concetto che abbiamo solo accennato nell’approfondimento 2.1, che tra poco useremo e che approfondiremo in un capitolo dedicato). </a:t>
            </a:r>
          </a:p>
          <a:p>
            <a:r>
              <a:rPr lang="it-IT" sz="1800" dirty="0">
                <a:effectLst/>
                <a:latin typeface="Times New Roman" panose="02020603050405020304" pitchFamily="18" charset="0"/>
                <a:ea typeface="Times New Roman" panose="02020603050405020304" pitchFamily="18" charset="0"/>
              </a:rPr>
              <a:t>La parola chiave </a:t>
            </a:r>
            <a:r>
              <a:rPr lang="it-IT" sz="1800" b="1" dirty="0">
                <a:effectLst/>
                <a:latin typeface="Courier New" panose="02070309020205020404" pitchFamily="49" charset="0"/>
                <a:ea typeface="Times New Roman" panose="02020603050405020304" pitchFamily="18" charset="0"/>
                <a:cs typeface="Courier New" panose="02070309020205020404" pitchFamily="49" charset="0"/>
              </a:rPr>
              <a:t>case</a:t>
            </a:r>
            <a:r>
              <a:rPr lang="it-IT" sz="1800" dirty="0">
                <a:effectLst/>
                <a:latin typeface="Times New Roman" panose="02020603050405020304" pitchFamily="18" charset="0"/>
                <a:ea typeface="Times New Roman" panose="02020603050405020304" pitchFamily="18" charset="0"/>
              </a:rPr>
              <a:t> invece, viene seguita da un valore univoco costante che lo identifica (viene detta </a:t>
            </a:r>
            <a:r>
              <a:rPr lang="it-IT" sz="1800" b="1" dirty="0">
                <a:effectLst/>
                <a:latin typeface="Times New Roman" panose="02020603050405020304" pitchFamily="18" charset="0"/>
                <a:ea typeface="Times New Roman" panose="02020603050405020304" pitchFamily="18" charset="0"/>
              </a:rPr>
              <a:t>label</a:t>
            </a:r>
            <a:r>
              <a:rPr lang="it-IT" sz="1800" dirty="0">
                <a:effectLst/>
                <a:latin typeface="Times New Roman" panose="02020603050405020304" pitchFamily="18" charset="0"/>
                <a:ea typeface="Times New Roman" panose="02020603050405020304" pitchFamily="18" charset="0"/>
              </a:rPr>
              <a:t>, ovvero </a:t>
            </a:r>
            <a:r>
              <a:rPr lang="it-IT" sz="1800" b="1" dirty="0">
                <a:effectLst/>
                <a:latin typeface="Times New Roman" panose="02020603050405020304" pitchFamily="18" charset="0"/>
                <a:ea typeface="Times New Roman" panose="02020603050405020304" pitchFamily="18" charset="0"/>
              </a:rPr>
              <a:t>etichetta</a:t>
            </a:r>
            <a:r>
              <a:rPr lang="it-IT" sz="1800" dirty="0">
                <a:effectLst/>
                <a:latin typeface="Times New Roman" panose="02020603050405020304" pitchFamily="18" charset="0"/>
                <a:ea typeface="Times New Roman" panose="02020603050405020304" pitchFamily="18" charset="0"/>
              </a:rPr>
              <a:t>), e dopo il simbolo dei due punti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vengono specificate le istruzioni che verranno eseguite se il valore di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test</a:t>
            </a:r>
            <a:r>
              <a:rPr lang="it-IT" sz="1800" dirty="0">
                <a:effectLst/>
                <a:latin typeface="Times New Roman" panose="02020603050405020304" pitchFamily="18" charset="0"/>
                <a:ea typeface="Times New Roman" panose="02020603050405020304" pitchFamily="18" charset="0"/>
              </a:rPr>
              <a:t> coincide con il valore del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case</a:t>
            </a:r>
            <a:r>
              <a:rPr lang="it-IT" sz="1800" dirty="0">
                <a:effectLst/>
                <a:latin typeface="Times New Roman" panose="02020603050405020304" pitchFamily="18" charset="0"/>
                <a:ea typeface="Times New Roman" panose="02020603050405020304" pitchFamily="18" charset="0"/>
              </a:rPr>
              <a:t>. </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Ovviamente non è possibile dichiarare due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case</a:t>
            </a:r>
            <a:r>
              <a:rPr lang="it-IT" sz="1800" b="1" dirty="0">
                <a:solidFill>
                  <a:srgbClr val="000000"/>
                </a:solidFill>
                <a:effectLst/>
                <a:latin typeface="Times New Roman" panose="02020603050405020304" pitchFamily="18" charset="0"/>
                <a:ea typeface="Times New Roman" panose="02020603050405020304" pitchFamily="18" charset="0"/>
              </a:rPr>
              <a:t> con la stessa label.</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La parola chiave </a:t>
            </a:r>
            <a:r>
              <a:rPr lang="it-IT" sz="1800" b="1" dirty="0">
                <a:effectLst/>
                <a:latin typeface="Courier New" panose="02070309020205020404" pitchFamily="49" charset="0"/>
                <a:ea typeface="Times New Roman" panose="02020603050405020304" pitchFamily="18" charset="0"/>
                <a:cs typeface="Courier New" panose="02070309020205020404" pitchFamily="49" charset="0"/>
              </a:rPr>
              <a:t>default</a:t>
            </a:r>
            <a:r>
              <a:rPr lang="it-IT" sz="1800" dirty="0">
                <a:effectLst/>
                <a:latin typeface="Times New Roman" panose="02020603050405020304" pitchFamily="18" charset="0"/>
                <a:ea typeface="Times New Roman" panose="02020603050405020304" pitchFamily="18" charset="0"/>
              </a:rPr>
              <a:t>, svolge il ruolo che </a:t>
            </a:r>
            <a:r>
              <a:rPr lang="it-IT" sz="1800" dirty="0" err="1">
                <a:effectLst/>
                <a:latin typeface="Times New Roman" panose="02020603050405020304" pitchFamily="18" charset="0"/>
                <a:ea typeface="Times New Roman" panose="02020603050405020304" pitchFamily="18" charset="0"/>
              </a:rPr>
              <a:t>l’</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else</a:t>
            </a:r>
            <a:r>
              <a:rPr lang="it-IT" sz="1800" dirty="0">
                <a:effectLst/>
                <a:latin typeface="Times New Roman" panose="02020603050405020304" pitchFamily="18" charset="0"/>
                <a:ea typeface="Times New Roman" panose="02020603050405020304" pitchFamily="18" charset="0"/>
              </a:rPr>
              <a:t> svolge nel costrutto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if</a:t>
            </a:r>
            <a:r>
              <a:rPr lang="it-IT" sz="1800" dirty="0">
                <a:effectLst/>
                <a:latin typeface="Times New Roman" panose="02020603050405020304" pitchFamily="18" charset="0"/>
                <a:ea typeface="Times New Roman" panose="02020603050405020304" pitchFamily="18" charset="0"/>
              </a:rPr>
              <a:t>. In pratica è l’equivalente di una clausola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case</a:t>
            </a:r>
            <a:r>
              <a:rPr lang="it-IT" sz="1800" dirty="0">
                <a:effectLst/>
                <a:latin typeface="Times New Roman" panose="02020603050405020304" pitchFamily="18" charset="0"/>
                <a:ea typeface="Times New Roman" panose="02020603050405020304" pitchFamily="18" charset="0"/>
              </a:rPr>
              <a:t> che definisce le istruzioni che verranno eseguite, se il valore del parametro di test dello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switch</a:t>
            </a:r>
            <a:r>
              <a:rPr lang="it-IT" sz="1800" dirty="0">
                <a:effectLst/>
                <a:latin typeface="Times New Roman" panose="02020603050405020304" pitchFamily="18" charset="0"/>
                <a:ea typeface="Times New Roman" panose="02020603050405020304" pitchFamily="18" charset="0"/>
              </a:rPr>
              <a:t> non coincide ad alcuna label dei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case</a:t>
            </a:r>
            <a:r>
              <a:rPr lang="it-IT" sz="1800" dirty="0">
                <a:effectLst/>
                <a:latin typeface="Times New Roman" panose="02020603050405020304" pitchFamily="18" charset="0"/>
                <a:ea typeface="Times New Roman" panose="02020603050405020304" pitchFamily="18" charset="0"/>
              </a:rPr>
              <a:t> definiti.</a:t>
            </a:r>
          </a:p>
          <a:p>
            <a:r>
              <a:rPr lang="it-IT" sz="1800" b="1" dirty="0">
                <a:effectLst/>
                <a:latin typeface="Times New Roman" panose="02020603050405020304" pitchFamily="18" charset="0"/>
                <a:ea typeface="Times New Roman" panose="02020603050405020304" pitchFamily="18" charset="0"/>
              </a:rPr>
              <a:t>(ICONA CURIOSITÀ)</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Le clausole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case</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default</a:t>
            </a:r>
            <a:r>
              <a:rPr lang="it-IT" sz="1800" dirty="0">
                <a:effectLst/>
                <a:latin typeface="Times New Roman" panose="02020603050405020304" pitchFamily="18" charset="0"/>
                <a:ea typeface="Times New Roman" panose="02020603050405020304" pitchFamily="18" charset="0"/>
              </a:rPr>
              <a:t> sono in teoria opzionali. È legale per esempio dichiarare un costrutto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switch</a:t>
            </a:r>
            <a:r>
              <a:rPr lang="it-IT" sz="1800" dirty="0">
                <a:effectLst/>
                <a:latin typeface="Times New Roman" panose="02020603050405020304" pitchFamily="18" charset="0"/>
                <a:ea typeface="Times New Roman" panose="02020603050405020304" pitchFamily="18" charset="0"/>
              </a:rPr>
              <a:t> vuoto come il seguente:</a:t>
            </a:r>
          </a:p>
          <a:p>
            <a:r>
              <a:rPr lang="it-IT" sz="1800" dirty="0">
                <a:solidFill>
                  <a:srgbClr val="000000"/>
                </a:solidFill>
                <a:effectLst/>
                <a:latin typeface="Courier New" panose="02070309020205020404" pitchFamily="49" charset="0"/>
                <a:ea typeface="Times New Roman" panose="02020603050405020304" pitchFamily="18" charset="0"/>
              </a:rPr>
              <a:t>switch(test) {}</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ovviamente un’istruzione del genere non ha alcuna utilità.</a:t>
            </a:r>
          </a:p>
          <a:p>
            <a:r>
              <a:rPr lang="it-IT" sz="1800" dirty="0">
                <a:effectLst/>
                <a:latin typeface="Times New Roman" panose="02020603050405020304" pitchFamily="18" charset="0"/>
                <a:ea typeface="Times New Roman" panose="02020603050405020304" pitchFamily="18" charset="0"/>
              </a:rPr>
              <a:t>La parola chiave </a:t>
            </a:r>
            <a:r>
              <a:rPr lang="it-IT" sz="1800" b="1" dirty="0">
                <a:effectLst/>
                <a:latin typeface="Courier New" panose="02070309020205020404" pitchFamily="49" charset="0"/>
                <a:ea typeface="Times New Roman" panose="02020603050405020304" pitchFamily="18" charset="0"/>
                <a:cs typeface="Courier New" panose="02070309020205020404" pitchFamily="49" charset="0"/>
              </a:rPr>
              <a:t>break</a:t>
            </a:r>
            <a:r>
              <a:rPr lang="it-IT" sz="1800" dirty="0">
                <a:effectLst/>
                <a:latin typeface="Times New Roman" panose="02020603050405020304" pitchFamily="18" charset="0"/>
                <a:ea typeface="Times New Roman" panose="02020603050405020304" pitchFamily="18" charset="0"/>
              </a:rPr>
              <a:t> provoca l’immediata uscita dal costrutto, ma anch’essa è opzionale. </a:t>
            </a:r>
          </a:p>
        </p:txBody>
      </p:sp>
      <p:sp>
        <p:nvSpPr>
          <p:cNvPr id="4" name="Segnaposto numero diapositiva 3"/>
          <p:cNvSpPr>
            <a:spLocks noGrp="1"/>
          </p:cNvSpPr>
          <p:nvPr>
            <p:ph type="sldNum" sz="quarter" idx="5"/>
          </p:nvPr>
        </p:nvSpPr>
        <p:spPr/>
        <p:txBody>
          <a:bodyPr/>
          <a:lstStyle/>
          <a:p>
            <a:fld id="{545D8BF2-49EE-4CE2-A2D7-61B744D1E4D9}" type="slidenum">
              <a:rPr lang="it-IT" smtClean="0"/>
              <a:t>36</a:t>
            </a:fld>
            <a:endParaRPr lang="it-IT"/>
          </a:p>
        </p:txBody>
      </p:sp>
    </p:spTree>
    <p:extLst>
      <p:ext uri="{BB962C8B-B14F-4D97-AF65-F5344CB8AC3E}">
        <p14:creationId xmlns:p14="http://schemas.microsoft.com/office/powerpoint/2010/main" val="24173565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914400"/>
            <a:r>
              <a:rPr lang="it-IT" sz="1800" b="1" dirty="0">
                <a:solidFill>
                  <a:srgbClr val="000000"/>
                </a:solidFill>
                <a:effectLst/>
                <a:latin typeface="Times New Roman" panose="02020603050405020304" pitchFamily="18" charset="0"/>
                <a:ea typeface="Times New Roman" panose="02020603050405020304" pitchFamily="18" charset="0"/>
              </a:rPr>
              <a:t>Si noti come abbiamo assegnato un valore primitivo al reference </a:t>
            </a:r>
            <a:r>
              <a:rPr lang="it-IT" sz="1800" b="1" dirty="0" err="1">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month</a:t>
            </a:r>
            <a:r>
              <a:rPr lang="it-IT" sz="1800" b="1" dirty="0">
                <a:solidFill>
                  <a:srgbClr val="000000"/>
                </a:solidFill>
                <a:effectLst/>
                <a:latin typeface="Times New Roman" panose="02020603050405020304" pitchFamily="18" charset="0"/>
                <a:ea typeface="Times New Roman" panose="02020603050405020304" pitchFamily="18" charset="0"/>
              </a:rPr>
              <a:t> della classe wrapper </a:t>
            </a:r>
            <a:r>
              <a:rPr lang="it-IT" sz="1800" b="1" dirty="0">
                <a:solidFill>
                  <a:srgbClr val="000000"/>
                </a:solidFill>
                <a:effectLst/>
                <a:latin typeface="Courier New" panose="02070309020205020404" pitchFamily="49" charset="0"/>
                <a:ea typeface="Times New Roman" panose="02020603050405020304" pitchFamily="18" charset="0"/>
              </a:rPr>
              <a:t>Integer</a:t>
            </a:r>
            <a:r>
              <a:rPr lang="it-IT" sz="1800" b="1" dirty="0">
                <a:solidFill>
                  <a:srgbClr val="000000"/>
                </a:solidFill>
                <a:effectLst/>
                <a:latin typeface="Times New Roman" panose="02020603050405020304" pitchFamily="18" charset="0"/>
                <a:ea typeface="Times New Roman" panose="02020603050405020304" pitchFamily="18" charset="0"/>
              </a:rPr>
              <a:t>. È possibile farlo perché la caratteristiche nota come </a:t>
            </a:r>
            <a:r>
              <a:rPr lang="it-IT" sz="1800" b="1" i="1" dirty="0">
                <a:solidFill>
                  <a:srgbClr val="000000"/>
                </a:solidFill>
                <a:effectLst/>
                <a:latin typeface="Times New Roman" panose="02020603050405020304" pitchFamily="18" charset="0"/>
                <a:ea typeface="Times New Roman" panose="02020603050405020304" pitchFamily="18" charset="0"/>
              </a:rPr>
              <a:t>autoboxing-unboxing</a:t>
            </a:r>
            <a:r>
              <a:rPr lang="it-IT" sz="1800" b="1" dirty="0">
                <a:solidFill>
                  <a:srgbClr val="000000"/>
                </a:solidFill>
                <a:effectLst/>
                <a:latin typeface="Times New Roman" panose="02020603050405020304" pitchFamily="18" charset="0"/>
                <a:ea typeface="Times New Roman" panose="02020603050405020304" pitchFamily="18" charset="0"/>
              </a:rPr>
              <a:t>, permette di assegnare un valore di tipo </a:t>
            </a:r>
            <a:r>
              <a:rPr lang="it-IT" sz="1800" b="1" dirty="0" err="1">
                <a:solidFill>
                  <a:srgbClr val="000000"/>
                </a:solidFill>
                <a:effectLst/>
                <a:latin typeface="Times New Roman" panose="02020603050405020304" pitchFamily="18" charset="0"/>
                <a:ea typeface="Times New Roman" panose="02020603050405020304" pitchFamily="18" charset="0"/>
              </a:rPr>
              <a:t>primitvo</a:t>
            </a:r>
            <a:r>
              <a:rPr lang="it-IT" sz="1800" b="1" dirty="0">
                <a:solidFill>
                  <a:srgbClr val="000000"/>
                </a:solidFill>
                <a:effectLst/>
                <a:latin typeface="Times New Roman" panose="02020603050405020304" pitchFamily="18" charset="0"/>
                <a:ea typeface="Times New Roman" panose="02020603050405020304" pitchFamily="18" charset="0"/>
              </a:rPr>
              <a:t>, ad un reference del relativo tipo wrapper (in questo caso un </a:t>
            </a:r>
            <a:r>
              <a:rPr lang="it-IT" sz="1800" b="0" dirty="0">
                <a:solidFill>
                  <a:srgbClr val="000000"/>
                </a:solidFill>
                <a:effectLst/>
                <a:latin typeface="Courier New" panose="02070309020205020404" pitchFamily="49" charset="0"/>
                <a:ea typeface="Times New Roman" panose="02020603050405020304" pitchFamily="18" charset="0"/>
              </a:rPr>
              <a:t>int</a:t>
            </a:r>
            <a:r>
              <a:rPr lang="it-IT" sz="1800" b="1" dirty="0">
                <a:solidFill>
                  <a:srgbClr val="000000"/>
                </a:solidFill>
                <a:effectLst/>
                <a:latin typeface="Times New Roman" panose="02020603050405020304" pitchFamily="18" charset="0"/>
                <a:ea typeface="Times New Roman" panose="02020603050405020304" pitchFamily="18" charset="0"/>
              </a:rPr>
              <a:t> ad un </a:t>
            </a:r>
            <a:r>
              <a:rPr lang="it-IT" sz="1800" b="0" dirty="0">
                <a:solidFill>
                  <a:srgbClr val="000000"/>
                </a:solidFill>
                <a:effectLst/>
                <a:latin typeface="Courier New" panose="02070309020205020404" pitchFamily="49" charset="0"/>
                <a:ea typeface="Times New Roman" panose="02020603050405020304" pitchFamily="18" charset="0"/>
              </a:rPr>
              <a:t>Integer</a:t>
            </a:r>
            <a:r>
              <a:rPr lang="it-IT" sz="1800" b="1" dirty="0">
                <a:solidFill>
                  <a:srgbClr val="000000"/>
                </a:solidFill>
                <a:effectLst/>
                <a:latin typeface="Times New Roman" panose="02020603050405020304" pitchFamily="18" charset="0"/>
                <a:ea typeface="Times New Roman" panose="02020603050405020304" pitchFamily="18" charset="0"/>
              </a:rPr>
              <a:t>), e viceversa. Quindi il tipo della variabile di test </a:t>
            </a:r>
            <a:r>
              <a:rPr lang="it-IT" sz="1800" b="1" dirty="0" err="1">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month</a:t>
            </a:r>
            <a:r>
              <a:rPr lang="it-IT" sz="1800" b="1" dirty="0">
                <a:solidFill>
                  <a:srgbClr val="000000"/>
                </a:solidFill>
                <a:effectLst/>
                <a:latin typeface="Times New Roman" panose="02020603050405020304" pitchFamily="18" charset="0"/>
                <a:ea typeface="Times New Roman" panose="02020603050405020304" pitchFamily="18" charset="0"/>
              </a:rPr>
              <a:t>, potrebbe anche essere dichiarato con il tipo primitivo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b="1" dirty="0">
                <a:solidFill>
                  <a:srgbClr val="000000"/>
                </a:solidFill>
                <a:effectLst/>
                <a:latin typeface="Times New Roman" panose="02020603050405020304" pitchFamily="18" charset="0"/>
                <a:ea typeface="Times New Roman" panose="02020603050405020304" pitchFamily="18" charset="0"/>
              </a:rPr>
              <a:t>, non cambierebbe nulla.</a:t>
            </a:r>
            <a:endParaRPr lang="it-IT" sz="1800" b="1"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37</a:t>
            </a:fld>
            <a:endParaRPr lang="it-IT"/>
          </a:p>
        </p:txBody>
      </p:sp>
    </p:spTree>
    <p:extLst>
      <p:ext uri="{BB962C8B-B14F-4D97-AF65-F5344CB8AC3E}">
        <p14:creationId xmlns:p14="http://schemas.microsoft.com/office/powerpoint/2010/main" val="10496869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914400"/>
            <a:r>
              <a:rPr lang="it-IT" sz="1800" b="1" dirty="0">
                <a:solidFill>
                  <a:srgbClr val="000000"/>
                </a:solidFill>
                <a:effectLst/>
                <a:latin typeface="Times New Roman" panose="02020603050405020304" pitchFamily="18" charset="0"/>
                <a:ea typeface="Times New Roman" panose="02020603050405020304" pitchFamily="18" charset="0"/>
              </a:rPr>
              <a:t>Si noti come abbiamo assegnato un valore primitivo al reference </a:t>
            </a:r>
            <a:r>
              <a:rPr lang="it-IT" sz="1800" b="1" dirty="0" err="1">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month</a:t>
            </a:r>
            <a:r>
              <a:rPr lang="it-IT" sz="1800" b="1" dirty="0">
                <a:solidFill>
                  <a:srgbClr val="000000"/>
                </a:solidFill>
                <a:effectLst/>
                <a:latin typeface="Times New Roman" panose="02020603050405020304" pitchFamily="18" charset="0"/>
                <a:ea typeface="Times New Roman" panose="02020603050405020304" pitchFamily="18" charset="0"/>
              </a:rPr>
              <a:t> della classe wrapper </a:t>
            </a:r>
            <a:r>
              <a:rPr lang="it-IT" sz="1800" b="1" dirty="0">
                <a:solidFill>
                  <a:srgbClr val="000000"/>
                </a:solidFill>
                <a:effectLst/>
                <a:latin typeface="Courier New" panose="02070309020205020404" pitchFamily="49" charset="0"/>
                <a:ea typeface="Times New Roman" panose="02020603050405020304" pitchFamily="18" charset="0"/>
              </a:rPr>
              <a:t>Integer</a:t>
            </a:r>
            <a:r>
              <a:rPr lang="it-IT" sz="1800" b="1" dirty="0">
                <a:solidFill>
                  <a:srgbClr val="000000"/>
                </a:solidFill>
                <a:effectLst/>
                <a:latin typeface="Times New Roman" panose="02020603050405020304" pitchFamily="18" charset="0"/>
                <a:ea typeface="Times New Roman" panose="02020603050405020304" pitchFamily="18" charset="0"/>
              </a:rPr>
              <a:t>. È possibile farlo perché la caratteristiche nota come </a:t>
            </a:r>
            <a:r>
              <a:rPr lang="it-IT" sz="1800" b="1" i="1" dirty="0">
                <a:solidFill>
                  <a:srgbClr val="000000"/>
                </a:solidFill>
                <a:effectLst/>
                <a:latin typeface="Times New Roman" panose="02020603050405020304" pitchFamily="18" charset="0"/>
                <a:ea typeface="Times New Roman" panose="02020603050405020304" pitchFamily="18" charset="0"/>
              </a:rPr>
              <a:t>autoboxing-unboxing</a:t>
            </a:r>
            <a:r>
              <a:rPr lang="it-IT" sz="1800" b="1" dirty="0">
                <a:solidFill>
                  <a:srgbClr val="000000"/>
                </a:solidFill>
                <a:effectLst/>
                <a:latin typeface="Times New Roman" panose="02020603050405020304" pitchFamily="18" charset="0"/>
                <a:ea typeface="Times New Roman" panose="02020603050405020304" pitchFamily="18" charset="0"/>
              </a:rPr>
              <a:t>, permette di assegnare un valore di tipo </a:t>
            </a:r>
            <a:r>
              <a:rPr lang="it-IT" sz="1800" b="1" dirty="0" err="1">
                <a:solidFill>
                  <a:srgbClr val="000000"/>
                </a:solidFill>
                <a:effectLst/>
                <a:latin typeface="Times New Roman" panose="02020603050405020304" pitchFamily="18" charset="0"/>
                <a:ea typeface="Times New Roman" panose="02020603050405020304" pitchFamily="18" charset="0"/>
              </a:rPr>
              <a:t>primitvo</a:t>
            </a:r>
            <a:r>
              <a:rPr lang="it-IT" sz="1800" b="1" dirty="0">
                <a:solidFill>
                  <a:srgbClr val="000000"/>
                </a:solidFill>
                <a:effectLst/>
                <a:latin typeface="Times New Roman" panose="02020603050405020304" pitchFamily="18" charset="0"/>
                <a:ea typeface="Times New Roman" panose="02020603050405020304" pitchFamily="18" charset="0"/>
              </a:rPr>
              <a:t>, ad un reference del relativo tipo wrapper (in questo caso un </a:t>
            </a:r>
            <a:r>
              <a:rPr lang="it-IT" sz="1800" b="0" dirty="0">
                <a:solidFill>
                  <a:srgbClr val="000000"/>
                </a:solidFill>
                <a:effectLst/>
                <a:latin typeface="Courier New" panose="02070309020205020404" pitchFamily="49" charset="0"/>
                <a:ea typeface="Times New Roman" panose="02020603050405020304" pitchFamily="18" charset="0"/>
              </a:rPr>
              <a:t>int</a:t>
            </a:r>
            <a:r>
              <a:rPr lang="it-IT" sz="1800" b="1" dirty="0">
                <a:solidFill>
                  <a:srgbClr val="000000"/>
                </a:solidFill>
                <a:effectLst/>
                <a:latin typeface="Times New Roman" panose="02020603050405020304" pitchFamily="18" charset="0"/>
                <a:ea typeface="Times New Roman" panose="02020603050405020304" pitchFamily="18" charset="0"/>
              </a:rPr>
              <a:t> ad un </a:t>
            </a:r>
            <a:r>
              <a:rPr lang="it-IT" sz="1800" b="0" dirty="0">
                <a:solidFill>
                  <a:srgbClr val="000000"/>
                </a:solidFill>
                <a:effectLst/>
                <a:latin typeface="Courier New" panose="02070309020205020404" pitchFamily="49" charset="0"/>
                <a:ea typeface="Times New Roman" panose="02020603050405020304" pitchFamily="18" charset="0"/>
              </a:rPr>
              <a:t>Integer</a:t>
            </a:r>
            <a:r>
              <a:rPr lang="it-IT" sz="1800" b="1" dirty="0">
                <a:solidFill>
                  <a:srgbClr val="000000"/>
                </a:solidFill>
                <a:effectLst/>
                <a:latin typeface="Times New Roman" panose="02020603050405020304" pitchFamily="18" charset="0"/>
                <a:ea typeface="Times New Roman" panose="02020603050405020304" pitchFamily="18" charset="0"/>
              </a:rPr>
              <a:t>), e viceversa. Quindi il tipo della variabile di test </a:t>
            </a:r>
            <a:r>
              <a:rPr lang="it-IT" sz="1800" b="1" dirty="0" err="1">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month</a:t>
            </a:r>
            <a:r>
              <a:rPr lang="it-IT" sz="1800" b="1" dirty="0">
                <a:solidFill>
                  <a:srgbClr val="000000"/>
                </a:solidFill>
                <a:effectLst/>
                <a:latin typeface="Times New Roman" panose="02020603050405020304" pitchFamily="18" charset="0"/>
                <a:ea typeface="Times New Roman" panose="02020603050405020304" pitchFamily="18" charset="0"/>
              </a:rPr>
              <a:t>, potrebbe anche essere dichiarato con il tipo primitivo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b="1" dirty="0">
                <a:solidFill>
                  <a:srgbClr val="000000"/>
                </a:solidFill>
                <a:effectLst/>
                <a:latin typeface="Times New Roman" panose="02020603050405020304" pitchFamily="18" charset="0"/>
                <a:ea typeface="Times New Roman" panose="02020603050405020304" pitchFamily="18" charset="0"/>
              </a:rPr>
              <a:t>, non cambierebbe nulla.</a:t>
            </a:r>
            <a:endParaRPr lang="it-IT" sz="1800" b="1"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38</a:t>
            </a:fld>
            <a:endParaRPr lang="it-IT"/>
          </a:p>
        </p:txBody>
      </p:sp>
    </p:spTree>
    <p:extLst>
      <p:ext uri="{BB962C8B-B14F-4D97-AF65-F5344CB8AC3E}">
        <p14:creationId xmlns:p14="http://schemas.microsoft.com/office/powerpoint/2010/main" val="319682418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914400"/>
            <a:r>
              <a:rPr lang="it-IT" sz="1800" b="1" dirty="0">
                <a:solidFill>
                  <a:srgbClr val="000000"/>
                </a:solidFill>
                <a:effectLst/>
                <a:latin typeface="Times New Roman" panose="02020603050405020304" pitchFamily="18" charset="0"/>
                <a:ea typeface="Times New Roman" panose="02020603050405020304" pitchFamily="18" charset="0"/>
              </a:rPr>
              <a:t>Si ricorda che le stringhe sono case sensitive e possono contenere spazi. Quindi un banale errore di battitura causerà un bug non sempre facile da trovare.</a:t>
            </a:r>
            <a:endParaRPr lang="it-IT" sz="1800" b="1"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39</a:t>
            </a:fld>
            <a:endParaRPr lang="it-IT"/>
          </a:p>
        </p:txBody>
      </p:sp>
    </p:spTree>
    <p:extLst>
      <p:ext uri="{BB962C8B-B14F-4D97-AF65-F5344CB8AC3E}">
        <p14:creationId xmlns:p14="http://schemas.microsoft.com/office/powerpoint/2010/main" val="157686163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L’introduzione del costrutto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switch</a:t>
            </a:r>
            <a:r>
              <a:rPr lang="it-IT" sz="1800" dirty="0">
                <a:effectLst/>
                <a:latin typeface="Times New Roman" panose="02020603050405020304" pitchFamily="18" charset="0"/>
                <a:ea typeface="Times New Roman" panose="02020603050405020304" pitchFamily="18" charset="0"/>
              </a:rPr>
              <a:t> come espressione, ha portato una novità anche per il tradizionale costrutto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switch</a:t>
            </a:r>
            <a:r>
              <a:rPr lang="it-IT" sz="1800" dirty="0">
                <a:effectLst/>
                <a:latin typeface="Times New Roman" panose="02020603050405020304" pitchFamily="18" charset="0"/>
                <a:ea typeface="Times New Roman" panose="02020603050405020304" pitchFamily="18" charset="0"/>
              </a:rPr>
              <a:t>, inteso come statement. È possibile utilizzare la </a:t>
            </a:r>
            <a:r>
              <a:rPr lang="it-IT" sz="1800" b="1" dirty="0">
                <a:effectLst/>
                <a:latin typeface="Times New Roman" panose="02020603050405020304" pitchFamily="18" charset="0"/>
                <a:ea typeface="Times New Roman" panose="02020603050405020304" pitchFamily="18" charset="0"/>
              </a:rPr>
              <a:t>notazione freccia</a:t>
            </a:r>
            <a:r>
              <a:rPr lang="it-IT" sz="1800" dirty="0">
                <a:effectLst/>
                <a:latin typeface="Times New Roman" panose="02020603050405020304" pitchFamily="18" charset="0"/>
                <a:ea typeface="Times New Roman" panose="02020603050405020304" pitchFamily="18" charset="0"/>
              </a:rPr>
              <a:t> (in inglese </a:t>
            </a:r>
            <a:r>
              <a:rPr lang="it-IT" sz="1800" b="1" dirty="0" err="1">
                <a:effectLst/>
                <a:latin typeface="Times New Roman" panose="02020603050405020304" pitchFamily="18" charset="0"/>
                <a:ea typeface="Times New Roman" panose="02020603050405020304" pitchFamily="18" charset="0"/>
              </a:rPr>
              <a:t>arrow</a:t>
            </a:r>
            <a:r>
              <a:rPr lang="it-IT" sz="1800" dirty="0">
                <a:effectLst/>
                <a:latin typeface="Times New Roman" panose="02020603050405020304" pitchFamily="18" charset="0"/>
                <a:ea typeface="Times New Roman" panose="02020603050405020304" pitchFamily="18" charset="0"/>
              </a:rPr>
              <a:t>), ovvero il simbolo costituito dai caratteri </a:t>
            </a:r>
            <a:r>
              <a:rPr lang="it-IT" sz="1800" b="1" dirty="0">
                <a:effectLst/>
                <a:latin typeface="Courier New" panose="02070309020205020404" pitchFamily="49" charset="0"/>
                <a:ea typeface="Times New Roman" panose="02020603050405020304" pitchFamily="18" charset="0"/>
                <a:cs typeface="Courier New" panose="02070309020205020404" pitchFamily="49" charset="0"/>
              </a:rPr>
              <a:t>-&gt;</a:t>
            </a:r>
            <a:r>
              <a:rPr lang="it-IT" sz="1800" dirty="0">
                <a:effectLst/>
                <a:latin typeface="Times New Roman" panose="02020603050405020304" pitchFamily="18" charset="0"/>
                <a:ea typeface="Times New Roman" panose="02020603050405020304" pitchFamily="18" charset="0"/>
              </a:rPr>
              <a:t>, che verrà posto accanto alla parola chiave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case</a:t>
            </a:r>
            <a:r>
              <a:rPr lang="it-IT" sz="1800" dirty="0">
                <a:effectLst/>
                <a:latin typeface="Times New Roman" panose="02020603050405020304" pitchFamily="18" charset="0"/>
                <a:ea typeface="Times New Roman" panose="02020603050405020304" pitchFamily="18" charset="0"/>
              </a:rPr>
              <a:t> al posto del simbolo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Inoltre la notazione freccia viene utilizzata anche nelle espressioni lambda (a cui abbiamo accennato nell’approfondimento 2.1, e che approfondiremo in un capitolo dedicato).</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Con questa notazione andiamo a riscrivere la classe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SeasonSwitchEnumTest</a:t>
            </a:r>
            <a:r>
              <a:rPr lang="it-IT" sz="1800" dirty="0">
                <a:effectLst/>
                <a:latin typeface="Times New Roman" panose="02020603050405020304" pitchFamily="18" charset="0"/>
                <a:ea typeface="Times New Roman" panose="02020603050405020304" pitchFamily="18" charset="0"/>
              </a:rPr>
              <a:t>:</a:t>
            </a:r>
          </a:p>
          <a:p>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Si noti innanzitutto che </a:t>
            </a:r>
            <a:r>
              <a:rPr lang="it-IT" sz="1800" b="1" dirty="0">
                <a:effectLst/>
                <a:latin typeface="Times New Roman" panose="02020603050405020304" pitchFamily="18" charset="0"/>
                <a:ea typeface="Times New Roman" panose="02020603050405020304" pitchFamily="18" charset="0"/>
              </a:rPr>
              <a:t>i vari </a:t>
            </a:r>
            <a:r>
              <a:rPr lang="it-IT" sz="1800" b="1" dirty="0">
                <a:effectLst/>
                <a:latin typeface="Courier New" panose="02070309020205020404" pitchFamily="49" charset="0"/>
                <a:ea typeface="MS Mincho" panose="02020609040205080304" pitchFamily="49" charset="-128"/>
                <a:cs typeface="Courier New" panose="02070309020205020404" pitchFamily="49" charset="0"/>
              </a:rPr>
              <a:t>case</a:t>
            </a:r>
            <a:r>
              <a:rPr lang="it-IT" sz="1800" b="1" dirty="0">
                <a:effectLst/>
                <a:latin typeface="Times New Roman" panose="02020603050405020304" pitchFamily="18" charset="0"/>
                <a:ea typeface="Times New Roman" panose="02020603050405020304" pitchFamily="18" charset="0"/>
              </a:rPr>
              <a:t> possono dichiarare più label separate da virgole</a:t>
            </a:r>
            <a:r>
              <a:rPr lang="it-IT" sz="1800" dirty="0">
                <a:effectLst/>
                <a:latin typeface="Times New Roman" panose="02020603050405020304" pitchFamily="18" charset="0"/>
                <a:ea typeface="Times New Roman" panose="02020603050405020304" pitchFamily="18" charset="0"/>
              </a:rPr>
              <a:t>. In questo modo non c’è necessità di utilizzare il fall through per far eseguire le stesse istruzioni a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case</a:t>
            </a:r>
            <a:r>
              <a:rPr lang="it-IT" sz="1800" dirty="0">
                <a:effectLst/>
                <a:latin typeface="Times New Roman" panose="02020603050405020304" pitchFamily="18" charset="0"/>
                <a:ea typeface="Times New Roman" panose="02020603050405020304" pitchFamily="18" charset="0"/>
              </a:rPr>
              <a:t> diversi, anzi, questa sintassi ci impedisce di utilizzare il fall through. Infine </a:t>
            </a:r>
            <a:r>
              <a:rPr lang="it-IT" sz="1800" b="1" dirty="0">
                <a:effectLst/>
                <a:latin typeface="Times New Roman" panose="02020603050405020304" pitchFamily="18" charset="0"/>
                <a:ea typeface="Times New Roman" panose="02020603050405020304" pitchFamily="18" charset="0"/>
              </a:rPr>
              <a:t>non c’è stato bisogno di utilizzare la parola chiave </a:t>
            </a:r>
            <a:r>
              <a:rPr lang="it-IT" sz="1800" b="1" dirty="0">
                <a:effectLst/>
                <a:latin typeface="Courier New" panose="02070309020205020404" pitchFamily="49" charset="0"/>
                <a:ea typeface="MS Mincho" panose="02020609040205080304" pitchFamily="49" charset="-128"/>
                <a:cs typeface="Courier New" panose="02070309020205020404" pitchFamily="49" charset="0"/>
              </a:rPr>
              <a:t>break</a:t>
            </a:r>
            <a:r>
              <a:rPr lang="it-IT" sz="1800" dirty="0">
                <a:effectLst/>
                <a:latin typeface="Times New Roman" panose="02020603050405020304" pitchFamily="18" charset="0"/>
                <a:ea typeface="Times New Roman" panose="02020603050405020304" pitchFamily="18" charset="0"/>
              </a:rPr>
              <a:t>. Quindi la sintassi basata sulla notazione freccia, rende il nostro codice meno verboso, più chiaro, ed eliminando la possibilità di eseguire il fall through, anche più facile da gestire.</a:t>
            </a:r>
          </a:p>
        </p:txBody>
      </p:sp>
      <p:sp>
        <p:nvSpPr>
          <p:cNvPr id="4" name="Segnaposto numero diapositiva 3"/>
          <p:cNvSpPr>
            <a:spLocks noGrp="1"/>
          </p:cNvSpPr>
          <p:nvPr>
            <p:ph type="sldNum" sz="quarter" idx="5"/>
          </p:nvPr>
        </p:nvSpPr>
        <p:spPr/>
        <p:txBody>
          <a:bodyPr/>
          <a:lstStyle/>
          <a:p>
            <a:fld id="{545D8BF2-49EE-4CE2-A2D7-61B744D1E4D9}" type="slidenum">
              <a:rPr lang="it-IT" smtClean="0"/>
              <a:t>40</a:t>
            </a:fld>
            <a:endParaRPr lang="it-IT"/>
          </a:p>
        </p:txBody>
      </p:sp>
    </p:spTree>
    <p:extLst>
      <p:ext uri="{BB962C8B-B14F-4D97-AF65-F5344CB8AC3E}">
        <p14:creationId xmlns:p14="http://schemas.microsoft.com/office/powerpoint/2010/main" val="399413758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L’introduzione del costrutto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switch</a:t>
            </a:r>
            <a:r>
              <a:rPr lang="it-IT" sz="1800" dirty="0">
                <a:effectLst/>
                <a:latin typeface="Times New Roman" panose="02020603050405020304" pitchFamily="18" charset="0"/>
                <a:ea typeface="Times New Roman" panose="02020603050405020304" pitchFamily="18" charset="0"/>
              </a:rPr>
              <a:t> come espressione, ha portato una novità anche per il tradizionale costrutto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switch</a:t>
            </a:r>
            <a:r>
              <a:rPr lang="it-IT" sz="1800" dirty="0">
                <a:effectLst/>
                <a:latin typeface="Times New Roman" panose="02020603050405020304" pitchFamily="18" charset="0"/>
                <a:ea typeface="Times New Roman" panose="02020603050405020304" pitchFamily="18" charset="0"/>
              </a:rPr>
              <a:t>, inteso come statement. È possibile utilizzare la </a:t>
            </a:r>
            <a:r>
              <a:rPr lang="it-IT" sz="1800" b="1" dirty="0">
                <a:effectLst/>
                <a:latin typeface="Times New Roman" panose="02020603050405020304" pitchFamily="18" charset="0"/>
                <a:ea typeface="Times New Roman" panose="02020603050405020304" pitchFamily="18" charset="0"/>
              </a:rPr>
              <a:t>notazione freccia</a:t>
            </a:r>
            <a:r>
              <a:rPr lang="it-IT" sz="1800" dirty="0">
                <a:effectLst/>
                <a:latin typeface="Times New Roman" panose="02020603050405020304" pitchFamily="18" charset="0"/>
                <a:ea typeface="Times New Roman" panose="02020603050405020304" pitchFamily="18" charset="0"/>
              </a:rPr>
              <a:t> (in inglese </a:t>
            </a:r>
            <a:r>
              <a:rPr lang="it-IT" sz="1800" b="1" dirty="0" err="1">
                <a:effectLst/>
                <a:latin typeface="Times New Roman" panose="02020603050405020304" pitchFamily="18" charset="0"/>
                <a:ea typeface="Times New Roman" panose="02020603050405020304" pitchFamily="18" charset="0"/>
              </a:rPr>
              <a:t>arrow</a:t>
            </a:r>
            <a:r>
              <a:rPr lang="it-IT" sz="1800" dirty="0">
                <a:effectLst/>
                <a:latin typeface="Times New Roman" panose="02020603050405020304" pitchFamily="18" charset="0"/>
                <a:ea typeface="Times New Roman" panose="02020603050405020304" pitchFamily="18" charset="0"/>
              </a:rPr>
              <a:t>), ovvero il simbolo costituito dai caratteri </a:t>
            </a:r>
            <a:r>
              <a:rPr lang="it-IT" sz="1800" b="1" dirty="0">
                <a:effectLst/>
                <a:latin typeface="Courier New" panose="02070309020205020404" pitchFamily="49" charset="0"/>
                <a:ea typeface="Times New Roman" panose="02020603050405020304" pitchFamily="18" charset="0"/>
                <a:cs typeface="Courier New" panose="02070309020205020404" pitchFamily="49" charset="0"/>
              </a:rPr>
              <a:t>-&gt;</a:t>
            </a:r>
            <a:r>
              <a:rPr lang="it-IT" sz="1800" dirty="0">
                <a:effectLst/>
                <a:latin typeface="Times New Roman" panose="02020603050405020304" pitchFamily="18" charset="0"/>
                <a:ea typeface="Times New Roman" panose="02020603050405020304" pitchFamily="18" charset="0"/>
              </a:rPr>
              <a:t>, che verrà posto accanto alla parola chiave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case</a:t>
            </a:r>
            <a:r>
              <a:rPr lang="it-IT" sz="1800" dirty="0">
                <a:effectLst/>
                <a:latin typeface="Times New Roman" panose="02020603050405020304" pitchFamily="18" charset="0"/>
                <a:ea typeface="Times New Roman" panose="02020603050405020304" pitchFamily="18" charset="0"/>
              </a:rPr>
              <a:t> al posto del simbolo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Inoltre la notazione freccia viene utilizzata anche nelle espressioni lambda (a cui abbiamo accennato nell’approfondimento 2.1, e che approfondiremo in un capitolo dedicato).</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Con questa notazione andiamo a riscrivere la classe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SeasonSwitchEnumTest</a:t>
            </a:r>
            <a:r>
              <a:rPr lang="it-IT" sz="1800" dirty="0">
                <a:effectLst/>
                <a:latin typeface="Times New Roman" panose="02020603050405020304" pitchFamily="18" charset="0"/>
                <a:ea typeface="Times New Roman" panose="02020603050405020304" pitchFamily="18" charset="0"/>
              </a:rPr>
              <a:t>:</a:t>
            </a:r>
          </a:p>
          <a:p>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Si noti innanzitutto che </a:t>
            </a:r>
            <a:r>
              <a:rPr lang="it-IT" sz="1800" b="1" dirty="0">
                <a:effectLst/>
                <a:latin typeface="Times New Roman" panose="02020603050405020304" pitchFamily="18" charset="0"/>
                <a:ea typeface="Times New Roman" panose="02020603050405020304" pitchFamily="18" charset="0"/>
              </a:rPr>
              <a:t>i vari </a:t>
            </a:r>
            <a:r>
              <a:rPr lang="it-IT" sz="1800" b="1" dirty="0">
                <a:effectLst/>
                <a:latin typeface="Courier New" panose="02070309020205020404" pitchFamily="49" charset="0"/>
                <a:ea typeface="MS Mincho" panose="02020609040205080304" pitchFamily="49" charset="-128"/>
                <a:cs typeface="Courier New" panose="02070309020205020404" pitchFamily="49" charset="0"/>
              </a:rPr>
              <a:t>case</a:t>
            </a:r>
            <a:r>
              <a:rPr lang="it-IT" sz="1800" b="1" dirty="0">
                <a:effectLst/>
                <a:latin typeface="Times New Roman" panose="02020603050405020304" pitchFamily="18" charset="0"/>
                <a:ea typeface="Times New Roman" panose="02020603050405020304" pitchFamily="18" charset="0"/>
              </a:rPr>
              <a:t> possono dichiarare più label separate da virgole</a:t>
            </a:r>
            <a:r>
              <a:rPr lang="it-IT" sz="1800" dirty="0">
                <a:effectLst/>
                <a:latin typeface="Times New Roman" panose="02020603050405020304" pitchFamily="18" charset="0"/>
                <a:ea typeface="Times New Roman" panose="02020603050405020304" pitchFamily="18" charset="0"/>
              </a:rPr>
              <a:t>. In questo modo non c’è necessità di utilizzare il fall through per far eseguire le stesse istruzioni a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case</a:t>
            </a:r>
            <a:r>
              <a:rPr lang="it-IT" sz="1800" dirty="0">
                <a:effectLst/>
                <a:latin typeface="Times New Roman" panose="02020603050405020304" pitchFamily="18" charset="0"/>
                <a:ea typeface="Times New Roman" panose="02020603050405020304" pitchFamily="18" charset="0"/>
              </a:rPr>
              <a:t> diversi, anzi, questa sintassi ci impedisce di utilizzare il fall through. Infine </a:t>
            </a:r>
            <a:r>
              <a:rPr lang="it-IT" sz="1800" b="1" dirty="0">
                <a:effectLst/>
                <a:latin typeface="Times New Roman" panose="02020603050405020304" pitchFamily="18" charset="0"/>
                <a:ea typeface="Times New Roman" panose="02020603050405020304" pitchFamily="18" charset="0"/>
              </a:rPr>
              <a:t>non c’è stato bisogno di utilizzare la parola chiave </a:t>
            </a:r>
            <a:r>
              <a:rPr lang="it-IT" sz="1800" b="1" dirty="0">
                <a:effectLst/>
                <a:latin typeface="Courier New" panose="02070309020205020404" pitchFamily="49" charset="0"/>
                <a:ea typeface="MS Mincho" panose="02020609040205080304" pitchFamily="49" charset="-128"/>
                <a:cs typeface="Courier New" panose="02070309020205020404" pitchFamily="49" charset="0"/>
              </a:rPr>
              <a:t>break</a:t>
            </a:r>
            <a:r>
              <a:rPr lang="it-IT" sz="1800" dirty="0">
                <a:effectLst/>
                <a:latin typeface="Times New Roman" panose="02020603050405020304" pitchFamily="18" charset="0"/>
                <a:ea typeface="Times New Roman" panose="02020603050405020304" pitchFamily="18" charset="0"/>
              </a:rPr>
              <a:t>. Quindi la sintassi basata sulla notazione freccia, rende il nostro codice meno verboso, più chiaro, ed eliminando la possibilità di eseguire il fall through, anche più facile da gestire.</a:t>
            </a:r>
          </a:p>
        </p:txBody>
      </p:sp>
      <p:sp>
        <p:nvSpPr>
          <p:cNvPr id="4" name="Segnaposto numero diapositiva 3"/>
          <p:cNvSpPr>
            <a:spLocks noGrp="1"/>
          </p:cNvSpPr>
          <p:nvPr>
            <p:ph type="sldNum" sz="quarter" idx="5"/>
          </p:nvPr>
        </p:nvSpPr>
        <p:spPr/>
        <p:txBody>
          <a:bodyPr/>
          <a:lstStyle/>
          <a:p>
            <a:fld id="{545D8BF2-49EE-4CE2-A2D7-61B744D1E4D9}" type="slidenum">
              <a:rPr lang="it-IT" smtClean="0"/>
              <a:t>41</a:t>
            </a:fld>
            <a:endParaRPr lang="it-IT"/>
          </a:p>
        </p:txBody>
      </p:sp>
    </p:spTree>
    <p:extLst>
      <p:ext uri="{BB962C8B-B14F-4D97-AF65-F5344CB8AC3E}">
        <p14:creationId xmlns:p14="http://schemas.microsoft.com/office/powerpoint/2010/main" val="90631492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914400"/>
            <a:r>
              <a:rPr lang="it-IT" sz="1800" b="1" dirty="0">
                <a:solidFill>
                  <a:srgbClr val="000000"/>
                </a:solidFill>
                <a:effectLst/>
                <a:latin typeface="Times New Roman" panose="02020603050405020304" pitchFamily="18" charset="0"/>
                <a:ea typeface="Times New Roman" panose="02020603050405020304" pitchFamily="18" charset="0"/>
              </a:rPr>
              <a:t>Il concetto di enumerazione è stato solo accennato nell’approfondimento 2.1, e verrà approfondito in un capitolo dedicato. Si noti che dichiarare un’enumerazione, è simile a dichiarare una classe. Infatti, sia le enumerazioni che le classi sono state definiti come </a:t>
            </a:r>
            <a:r>
              <a:rPr lang="it-IT" sz="1800" b="1" i="1" dirty="0">
                <a:solidFill>
                  <a:srgbClr val="000000"/>
                </a:solidFill>
                <a:effectLst/>
                <a:latin typeface="Times New Roman" panose="02020603050405020304" pitchFamily="18" charset="0"/>
                <a:ea typeface="Times New Roman" panose="02020603050405020304" pitchFamily="18" charset="0"/>
              </a:rPr>
              <a:t>tipi di Java</a:t>
            </a:r>
            <a:r>
              <a:rPr lang="it-IT" sz="1800" b="1" dirty="0">
                <a:solidFill>
                  <a:srgbClr val="000000"/>
                </a:solidFill>
                <a:effectLst/>
                <a:latin typeface="Times New Roman" panose="02020603050405020304" pitchFamily="18" charset="0"/>
                <a:ea typeface="Times New Roman" panose="02020603050405020304" pitchFamily="18" charset="0"/>
              </a:rPr>
              <a:t>. La differenza evidente, è che all’interno di un’enumerazione si dichiarano gli </a:t>
            </a:r>
            <a:r>
              <a:rPr lang="it-IT" sz="1800" b="1" i="1" dirty="0">
                <a:solidFill>
                  <a:srgbClr val="000000"/>
                </a:solidFill>
                <a:effectLst/>
                <a:latin typeface="Times New Roman" panose="02020603050405020304" pitchFamily="18" charset="0"/>
                <a:ea typeface="Times New Roman" panose="02020603050405020304" pitchFamily="18" charset="0"/>
              </a:rPr>
              <a:t>elementi</a:t>
            </a:r>
            <a:r>
              <a:rPr lang="it-IT" sz="1800" b="1" dirty="0">
                <a:solidFill>
                  <a:srgbClr val="000000"/>
                </a:solidFill>
                <a:effectLst/>
                <a:latin typeface="Times New Roman" panose="02020603050405020304" pitchFamily="18" charset="0"/>
                <a:ea typeface="Times New Roman" panose="02020603050405020304" pitchFamily="18" charset="0"/>
              </a:rPr>
              <a:t> dell’enumerazione. Tali elementi (nel nostro caso </a:t>
            </a:r>
            <a:r>
              <a:rPr lang="it-IT" sz="1800" b="1" dirty="0">
                <a:solidFill>
                  <a:srgbClr val="000000"/>
                </a:solidFill>
                <a:effectLst/>
                <a:latin typeface="Courier New" panose="02070309020205020404" pitchFamily="49" charset="0"/>
                <a:ea typeface="MS Mincho" panose="02020609040205080304" pitchFamily="49" charset="-128"/>
                <a:cs typeface="Courier New" panose="02070309020205020404" pitchFamily="49" charset="0"/>
              </a:rPr>
              <a:t>VERDE</a:t>
            </a:r>
            <a:r>
              <a:rPr lang="it-IT" sz="1800" b="1" dirty="0">
                <a:solidFill>
                  <a:srgbClr val="000000"/>
                </a:solidFill>
                <a:effectLst/>
                <a:latin typeface="Times New Roman" panose="02020603050405020304" pitchFamily="18" charset="0"/>
                <a:ea typeface="Times New Roman" panose="02020603050405020304" pitchFamily="18" charset="0"/>
              </a:rPr>
              <a:t>, </a:t>
            </a:r>
            <a:r>
              <a:rPr lang="it-IT" sz="1800" b="1" dirty="0">
                <a:solidFill>
                  <a:srgbClr val="000000"/>
                </a:solidFill>
                <a:effectLst/>
                <a:latin typeface="Courier New" panose="02070309020205020404" pitchFamily="49" charset="0"/>
                <a:ea typeface="MS Mincho" panose="02020609040205080304" pitchFamily="49" charset="-128"/>
                <a:cs typeface="Courier New" panose="02070309020205020404" pitchFamily="49" charset="0"/>
              </a:rPr>
              <a:t>GIALLO</a:t>
            </a:r>
            <a:r>
              <a:rPr lang="it-IT" sz="1800" b="1" dirty="0">
                <a:solidFill>
                  <a:srgbClr val="000000"/>
                </a:solidFill>
                <a:effectLst/>
                <a:latin typeface="Times New Roman" panose="02020603050405020304" pitchFamily="18" charset="0"/>
                <a:ea typeface="Times New Roman" panose="02020603050405020304" pitchFamily="18" charset="0"/>
              </a:rPr>
              <a:t> e </a:t>
            </a:r>
            <a:r>
              <a:rPr lang="it-IT" sz="1800" b="1" dirty="0">
                <a:solidFill>
                  <a:srgbClr val="000000"/>
                </a:solidFill>
                <a:effectLst/>
                <a:latin typeface="Courier New" panose="02070309020205020404" pitchFamily="49" charset="0"/>
                <a:ea typeface="MS Mincho" panose="02020609040205080304" pitchFamily="49" charset="-128"/>
                <a:cs typeface="Courier New" panose="02070309020205020404" pitchFamily="49" charset="0"/>
              </a:rPr>
              <a:t>ROSSO</a:t>
            </a:r>
            <a:r>
              <a:rPr lang="it-IT" sz="1800" b="1" dirty="0">
                <a:solidFill>
                  <a:srgbClr val="000000"/>
                </a:solidFill>
                <a:effectLst/>
                <a:latin typeface="Times New Roman" panose="02020603050405020304" pitchFamily="18" charset="0"/>
                <a:ea typeface="Times New Roman" panose="02020603050405020304" pitchFamily="18" charset="0"/>
              </a:rPr>
              <a:t>) sono praticamente oggetti del tipo dell’enumerazione. Più precisamente, sono gli </a:t>
            </a:r>
            <a:r>
              <a:rPr lang="it-IT" sz="1800" b="1" u="sng" dirty="0">
                <a:solidFill>
                  <a:srgbClr val="000000"/>
                </a:solidFill>
                <a:effectLst/>
                <a:latin typeface="Times New Roman" panose="02020603050405020304" pitchFamily="18" charset="0"/>
                <a:ea typeface="Times New Roman" panose="02020603050405020304" pitchFamily="18" charset="0"/>
              </a:rPr>
              <a:t>unici</a:t>
            </a:r>
            <a:r>
              <a:rPr lang="it-IT" sz="1800" b="1" dirty="0">
                <a:solidFill>
                  <a:srgbClr val="000000"/>
                </a:solidFill>
                <a:effectLst/>
                <a:latin typeface="Times New Roman" panose="02020603050405020304" pitchFamily="18" charset="0"/>
                <a:ea typeface="Times New Roman" panose="02020603050405020304" pitchFamily="18" charset="0"/>
              </a:rPr>
              <a:t> oggetti del tipo dell’enumerazione, non se ne possono creare altri. Questo è importante, perché quando si dichiara un’enumerazione, si dichiarano anche tutti suoi elementi.</a:t>
            </a:r>
            <a:endParaRPr lang="it-IT" sz="1800" b="1"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42</a:t>
            </a:fld>
            <a:endParaRPr lang="it-IT"/>
          </a:p>
        </p:txBody>
      </p:sp>
    </p:spTree>
    <p:extLst>
      <p:ext uri="{BB962C8B-B14F-4D97-AF65-F5344CB8AC3E}">
        <p14:creationId xmlns:p14="http://schemas.microsoft.com/office/powerpoint/2010/main" val="167119104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solidFill>
                  <a:schemeClr val="tx1"/>
                </a:solidFill>
              </a:rPr>
              <a:t>Usare il costrutto switch nella maniera più semplice e completa possibile (meglio utilizzare tutte le quattro parole chiave quando possibile), infatti:</a:t>
            </a:r>
          </a:p>
          <a:p>
            <a:pPr lvl="1"/>
            <a:r>
              <a:rPr lang="it-IT" dirty="0">
                <a:solidFill>
                  <a:schemeClr val="tx1"/>
                </a:solidFill>
              </a:rPr>
              <a:t>Evitare il fall through (per la sua scarsa leggibilità e la difficoltà di gestione)</a:t>
            </a:r>
          </a:p>
          <a:p>
            <a:pPr lvl="1"/>
            <a:r>
              <a:rPr lang="it-IT" dirty="0">
                <a:solidFill>
                  <a:schemeClr val="tx1"/>
                </a:solidFill>
              </a:rPr>
              <a:t>Per ogni case usare sempre il relativo </a:t>
            </a:r>
            <a:r>
              <a:rPr lang="it-IT" i="1" dirty="0">
                <a:solidFill>
                  <a:schemeClr val="tx1"/>
                </a:solidFill>
              </a:rPr>
              <a:t>break</a:t>
            </a:r>
            <a:r>
              <a:rPr lang="it-IT" dirty="0">
                <a:solidFill>
                  <a:schemeClr val="tx1"/>
                </a:solidFill>
              </a:rPr>
              <a:t>. Ancora meglio è utilizzare la notazione freccia ottenere lo stesso risultato in maniera più chiara e semplice. </a:t>
            </a:r>
          </a:p>
          <a:p>
            <a:pPr lvl="1"/>
            <a:r>
              <a:rPr lang="it-IT" dirty="0">
                <a:solidFill>
                  <a:schemeClr val="tx1"/>
                </a:solidFill>
              </a:rPr>
              <a:t>È sempre consigliabile usare una clausola </a:t>
            </a:r>
            <a:r>
              <a:rPr lang="it-IT" i="1" dirty="0">
                <a:solidFill>
                  <a:schemeClr val="tx1"/>
                </a:solidFill>
              </a:rPr>
              <a:t>default</a:t>
            </a:r>
            <a:r>
              <a:rPr lang="it-IT" dirty="0">
                <a:solidFill>
                  <a:schemeClr val="tx1"/>
                </a:solidFill>
              </a:rPr>
              <a:t> anche quando sembra non essercene bisogno. Infatti a priori non sappiamo se il nostro switch si evolverà ampliando il numero di case. La clausola default potrebbe servire sia per gestire i nuovi case, con un comportamento standard, sia per scoprire che il costrutto switch deve essere modificato per accomodare i nuovi case. Come abbiamo già asserito, la clausola default nel costrutto switch è l’equivalente della clausola else nel costrutto if.</a:t>
            </a:r>
          </a:p>
          <a:p>
            <a:pPr lvl="1"/>
            <a:r>
              <a:rPr lang="it-IT" dirty="0">
                <a:solidFill>
                  <a:schemeClr val="tx1"/>
                </a:solidFill>
              </a:rPr>
              <a:t>Anche se è possibile ordinare le varie clausole in modo casuale (per esempio spostando la clausola default in cima alla lista) senza alterare il funzionamento del costrutto, è sempre consigliabile mantenere un ordine logico dei vari case per non incorrere in dimenticanze e peggiorare la leggibilità. </a:t>
            </a:r>
          </a:p>
          <a:p>
            <a:pPr lvl="1"/>
            <a:r>
              <a:rPr lang="it-IT" dirty="0">
                <a:solidFill>
                  <a:schemeClr val="tx1"/>
                </a:solidFill>
              </a:rPr>
              <a:t>Anche per la clausola default, è consigliato utilizzare il break, pure se posizionata come ultima clausola di un costrutto switch. Infatti, è possibile che in un aggiornamento del codice futuro (magari eseguito da una persona diversa), si possa aggiungere un nuovo case, dopo la clausola default. In casi come questo potremmo incorrere in un fall through involontario.</a:t>
            </a:r>
          </a:p>
          <a:p>
            <a:pPr lvl="1"/>
            <a:r>
              <a:rPr lang="it-IT" dirty="0">
                <a:solidFill>
                  <a:schemeClr val="tx1"/>
                </a:solidFill>
              </a:rPr>
              <a:t>Ricordiamo che le variabili locali, condividono il ciclo di vita con il blocco di codice in cui sono definite. Se definiamo una variabile locale all’interno di un case di uno switch, questa sarà visibile all’interno di tutti i case dello stesso costrutto dichiarati successivamente. Se si vuole evitare questo comportamento, è possibile utilizzare blocchi di codice in maniera arbitraria all’interno di un case. </a:t>
            </a:r>
          </a:p>
        </p:txBody>
      </p:sp>
      <p:sp>
        <p:nvSpPr>
          <p:cNvPr id="4" name="Segnaposto numero diapositiva 3"/>
          <p:cNvSpPr>
            <a:spLocks noGrp="1"/>
          </p:cNvSpPr>
          <p:nvPr>
            <p:ph type="sldNum" sz="quarter" idx="5"/>
          </p:nvPr>
        </p:nvSpPr>
        <p:spPr/>
        <p:txBody>
          <a:bodyPr/>
          <a:lstStyle/>
          <a:p>
            <a:fld id="{545D8BF2-49EE-4CE2-A2D7-61B744D1E4D9}" type="slidenum">
              <a:rPr lang="it-IT" smtClean="0"/>
              <a:t>43</a:t>
            </a:fld>
            <a:endParaRPr lang="it-IT"/>
          </a:p>
        </p:txBody>
      </p:sp>
    </p:spTree>
    <p:extLst>
      <p:ext uri="{BB962C8B-B14F-4D97-AF65-F5344CB8AC3E}">
        <p14:creationId xmlns:p14="http://schemas.microsoft.com/office/powerpoint/2010/main" val="270565186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200" dirty="0">
                <a:solidFill>
                  <a:schemeClr val="tx1"/>
                </a:solidFill>
              </a:rPr>
              <a:t>L’</a:t>
            </a:r>
            <a:r>
              <a:rPr lang="it-IT" sz="1200" b="1" dirty="0">
                <a:solidFill>
                  <a:schemeClr val="tx1"/>
                </a:solidFill>
              </a:rPr>
              <a:t>espressione </a:t>
            </a:r>
            <a:r>
              <a:rPr lang="it-IT" sz="1200" b="1" i="1" dirty="0">
                <a:solidFill>
                  <a:schemeClr val="tx1"/>
                </a:solidFill>
              </a:rPr>
              <a:t>switch</a:t>
            </a:r>
            <a:r>
              <a:rPr lang="it-IT" sz="1200" dirty="0">
                <a:solidFill>
                  <a:schemeClr val="tx1"/>
                </a:solidFill>
              </a:rPr>
              <a:t> evolve il costrutto </a:t>
            </a:r>
            <a:r>
              <a:rPr lang="it-IT" sz="1200" i="1" dirty="0">
                <a:solidFill>
                  <a:schemeClr val="tx1"/>
                </a:solidFill>
              </a:rPr>
              <a:t>switch</a:t>
            </a:r>
            <a:r>
              <a:rPr lang="it-IT" sz="1200" dirty="0">
                <a:solidFill>
                  <a:schemeClr val="tx1"/>
                </a:solidFill>
              </a:rPr>
              <a:t>, che in effetti soffre di diversi difetti. Per esempio, dimenticare un </a:t>
            </a:r>
            <a:r>
              <a:rPr lang="it-IT" sz="1200" i="1" dirty="0">
                <a:solidFill>
                  <a:schemeClr val="tx1"/>
                </a:solidFill>
              </a:rPr>
              <a:t>break</a:t>
            </a:r>
            <a:r>
              <a:rPr lang="it-IT" sz="1200" dirty="0">
                <a:solidFill>
                  <a:schemeClr val="tx1"/>
                </a:solidFill>
              </a:rPr>
              <a:t> significa causare un fall through involontario. Inoltre gli scenari di applicabilità sono limitati rispetto ad un classico </a:t>
            </a:r>
            <a:r>
              <a:rPr lang="it-IT" sz="1200" i="1" dirty="0">
                <a:solidFill>
                  <a:schemeClr val="tx1"/>
                </a:solidFill>
              </a:rPr>
              <a:t>if</a:t>
            </a:r>
            <a:r>
              <a:rPr lang="it-IT" sz="1200" dirty="0">
                <a:solidFill>
                  <a:schemeClr val="tx1"/>
                </a:solidFill>
              </a:rPr>
              <a:t>, e la sintassi risulta piuttosto verbosa. Per queste ed altre ragioni lo </a:t>
            </a:r>
            <a:r>
              <a:rPr lang="it-IT" sz="1200" i="1" dirty="0">
                <a:solidFill>
                  <a:schemeClr val="tx1"/>
                </a:solidFill>
              </a:rPr>
              <a:t>switch</a:t>
            </a:r>
            <a:r>
              <a:rPr lang="it-IT" sz="1200" dirty="0">
                <a:solidFill>
                  <a:schemeClr val="tx1"/>
                </a:solidFill>
              </a:rPr>
              <a:t> è un costrutto relativamente poco utilizzato.</a:t>
            </a:r>
          </a:p>
          <a:p>
            <a:pPr marL="0" marR="0" lvl="0" indent="0" algn="l" defTabSz="914400" rtl="0" eaLnBrk="1" fontAlgn="auto" latinLnBrk="0" hangingPunct="1">
              <a:lnSpc>
                <a:spcPct val="100000"/>
              </a:lnSpc>
              <a:spcBef>
                <a:spcPts val="0"/>
              </a:spcBef>
              <a:spcAft>
                <a:spcPts val="0"/>
              </a:spcAft>
              <a:buClrTx/>
              <a:buSzTx/>
              <a:buFontTx/>
              <a:buNone/>
              <a:tabLst/>
              <a:defRPr/>
            </a:pPr>
            <a:r>
              <a:rPr lang="it-IT" sz="1800" dirty="0">
                <a:effectLst/>
                <a:latin typeface="Times New Roman" panose="02020603050405020304" pitchFamily="18" charset="0"/>
                <a:ea typeface="Times New Roman" panose="02020603050405020304" pitchFamily="18" charset="0"/>
              </a:rPr>
              <a:t>Ci sono piccole ma importanti differenze con la classe, che abbiamo riportato in grassetto. La differenza principale, riguarda il fatto che questa espressione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switch</a:t>
            </a:r>
            <a:r>
              <a:rPr lang="it-IT" sz="1800" dirty="0">
                <a:effectLst/>
                <a:latin typeface="Times New Roman" panose="02020603050405020304" pitchFamily="18" charset="0"/>
                <a:ea typeface="Times New Roman" panose="02020603050405020304" pitchFamily="18" charset="0"/>
              </a:rPr>
              <a:t>, ritorna un valore che viene assegnato direttamente alla variabile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season</a:t>
            </a:r>
            <a:r>
              <a:rPr lang="it-IT" sz="1800" dirty="0">
                <a:effectLst/>
                <a:latin typeface="Times New Roman" panose="02020603050405020304" pitchFamily="18" charset="0"/>
                <a:ea typeface="Times New Roman" panose="02020603050405020304" pitchFamily="18" charset="0"/>
              </a:rPr>
              <a:t>. Il valore ritornato, è il literal </a:t>
            </a:r>
            <a:r>
              <a:rPr lang="it-IT" sz="1800" i="1" dirty="0">
                <a:effectLst/>
                <a:latin typeface="Times New Roman" panose="02020603050405020304" pitchFamily="18" charset="0"/>
                <a:ea typeface="Times New Roman" panose="02020603050405020304" pitchFamily="18" charset="0"/>
              </a:rPr>
              <a:t>puntato</a:t>
            </a:r>
            <a:r>
              <a:rPr lang="it-IT" sz="1800" dirty="0">
                <a:effectLst/>
                <a:latin typeface="Times New Roman" panose="02020603050405020304" pitchFamily="18" charset="0"/>
                <a:ea typeface="Times New Roman" panose="02020603050405020304" pitchFamily="18" charset="0"/>
              </a:rPr>
              <a:t> dalla notazione freccia. Ricordiamo che nell’altro esempio </a:t>
            </a:r>
            <a:r>
              <a:rPr lang="it-IT" sz="1800" dirty="0" err="1">
                <a:effectLst/>
                <a:latin typeface="Courier New" panose="02070309020205020404" pitchFamily="49" charset="0"/>
                <a:ea typeface="Times New Roman" panose="02020603050405020304" pitchFamily="18" charset="0"/>
              </a:rPr>
              <a:t>SeasonSwitchStatementEnumTest</a:t>
            </a:r>
            <a:r>
              <a:rPr lang="it-IT" sz="1800" dirty="0">
                <a:effectLst/>
                <a:latin typeface="Times New Roman" panose="02020603050405020304" pitchFamily="18" charset="0"/>
                <a:ea typeface="Times New Roman" panose="02020603050405020304" pitchFamily="18" charset="0"/>
              </a:rPr>
              <a:t>, alla notazione freccia, ogni volta seguiva l’assegnazione del literal alla variabile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season</a:t>
            </a:r>
            <a:r>
              <a:rPr lang="it-IT" sz="1800" dirty="0">
                <a:effectLst/>
                <a:latin typeface="Times New Roman" panose="02020603050405020304" pitchFamily="18" charset="0"/>
                <a:ea typeface="Times New Roman" panose="02020603050405020304" pitchFamily="18" charset="0"/>
              </a:rPr>
              <a:t>. In questo caso invece, notiamo una sintassi è meno verbosa. Infine notiamo che, trattandosi di un’espressione, deve terminare con un simbolo di punto e virgola. </a:t>
            </a:r>
          </a:p>
          <a:p>
            <a:endParaRPr lang="it-IT" sz="1200" dirty="0">
              <a:solidFill>
                <a:schemeClr val="tx1"/>
              </a:solidFill>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44</a:t>
            </a:fld>
            <a:endParaRPr lang="it-IT"/>
          </a:p>
        </p:txBody>
      </p:sp>
    </p:spTree>
    <p:extLst>
      <p:ext uri="{BB962C8B-B14F-4D97-AF65-F5344CB8AC3E}">
        <p14:creationId xmlns:p14="http://schemas.microsoft.com/office/powerpoint/2010/main" val="286714000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La notazione freccia quindi può puntare ad un’espressione (nel nostro esempio era un literal), ma può puntare anche ad un blocco di codice che magari contiene diverse istruzioni. </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In realtà, la notazione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-&gt;</a:t>
            </a:r>
            <a:r>
              <a:rPr lang="it-IT" sz="1800" b="1" dirty="0">
                <a:solidFill>
                  <a:srgbClr val="000000"/>
                </a:solidFill>
                <a:effectLst/>
                <a:latin typeface="Times New Roman" panose="02020603050405020304" pitchFamily="18" charset="0"/>
                <a:ea typeface="Times New Roman" panose="02020603050405020304" pitchFamily="18" charset="0"/>
              </a:rPr>
              <a:t> può puntare anche ad un’istruzione che lancia un’eccezione, argomento che però preferiamo rimandare al capitolo 8.</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 questo caso, per ritornare un valore dal blocco di codice, possiamo riutilizzare la parola </a:t>
            </a:r>
            <a:r>
              <a:rPr lang="it-IT" sz="1800" b="1" dirty="0">
                <a:effectLst/>
                <a:latin typeface="Courier New" panose="02070309020205020404" pitchFamily="49" charset="0"/>
                <a:ea typeface="MS Mincho" panose="02020609040205080304" pitchFamily="49" charset="-128"/>
                <a:cs typeface="Courier New" panose="02070309020205020404" pitchFamily="49" charset="0"/>
              </a:rPr>
              <a:t>yield</a:t>
            </a:r>
            <a:r>
              <a:rPr lang="it-IT" sz="1800" dirty="0">
                <a:effectLst/>
                <a:latin typeface="Times New Roman" panose="02020603050405020304" pitchFamily="18" charset="0"/>
                <a:ea typeface="Times New Roman" panose="02020603050405020304" pitchFamily="18" charset="0"/>
              </a:rPr>
              <a:t> introdotta nella versione 13. Essa può specificare un valore da restituire. Facciamo subito un esempio.</a:t>
            </a:r>
          </a:p>
          <a:p>
            <a:r>
              <a:rPr lang="it-IT" sz="1800" dirty="0">
                <a:effectLst/>
                <a:latin typeface="Times New Roman" panose="02020603050405020304" pitchFamily="18" charset="0"/>
                <a:ea typeface="Times New Roman" panose="02020603050405020304" pitchFamily="18" charset="0"/>
              </a:rPr>
              <a:t>Si noti, che come espressioni abbiamo usato dei semplici literals (</a:t>
            </a:r>
            <a:r>
              <a:rPr lang="it-IT" sz="1800" dirty="0">
                <a:effectLst/>
                <a:latin typeface="Courier New" panose="02070309020205020404" pitchFamily="49" charset="0"/>
                <a:ea typeface="Times New Roman" panose="02020603050405020304" pitchFamily="18" charset="0"/>
              </a:rPr>
              <a:t>spring</a:t>
            </a:r>
            <a:r>
              <a:rPr lang="it-IT" sz="1800" dirty="0">
                <a:effectLst/>
                <a:latin typeface="Times New Roman" panose="02020603050405020304" pitchFamily="18" charset="0"/>
                <a:ea typeface="Times New Roman" panose="02020603050405020304" pitchFamily="18" charset="0"/>
              </a:rPr>
              <a:t> e </a:t>
            </a:r>
            <a:r>
              <a:rPr lang="it-IT" sz="1800" dirty="0" err="1">
                <a:effectLst/>
                <a:latin typeface="Courier New" panose="02070309020205020404" pitchFamily="49" charset="0"/>
                <a:ea typeface="Times New Roman" panose="02020603050405020304" pitchFamily="18" charset="0"/>
              </a:rPr>
              <a:t>autumn</a:t>
            </a:r>
            <a:r>
              <a:rPr lang="it-IT" sz="1800" dirty="0">
                <a:effectLst/>
                <a:latin typeface="Times New Roman" panose="02020603050405020304" pitchFamily="18" charset="0"/>
                <a:ea typeface="Times New Roman" panose="02020603050405020304" pitchFamily="18" charset="0"/>
              </a:rPr>
              <a:t>), mentre nei blocchi di codice abbiamo usato la nuova sintassi che fa uso dell’istruzione </a:t>
            </a:r>
            <a:r>
              <a:rPr lang="it-IT" sz="1800" dirty="0">
                <a:effectLst/>
                <a:latin typeface="Courier New" panose="02070309020205020404" pitchFamily="49" charset="0"/>
                <a:ea typeface="Times New Roman" panose="02020603050405020304" pitchFamily="18" charset="0"/>
              </a:rPr>
              <a:t>yield</a:t>
            </a:r>
            <a:r>
              <a:rPr lang="it-IT" sz="1800" dirty="0">
                <a:effectLst/>
                <a:latin typeface="Times New Roman" panose="02020603050405020304" pitchFamily="18" charset="0"/>
                <a:ea typeface="Times New Roman" panose="02020603050405020304" pitchFamily="18" charset="0"/>
              </a:rPr>
              <a:t>, che ci permette di restituire un valore. In pratica, un’istruzione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yield</a:t>
            </a:r>
            <a:r>
              <a:rPr lang="it-IT" sz="1800" dirty="0">
                <a:effectLst/>
                <a:latin typeface="Times New Roman" panose="02020603050405020304" pitchFamily="18" charset="0"/>
                <a:ea typeface="Times New Roman" panose="02020603050405020304" pitchFamily="18" charset="0"/>
              </a:rPr>
              <a:t> in un’espressione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switch</a:t>
            </a:r>
            <a:r>
              <a:rPr lang="it-IT" sz="1800" dirty="0">
                <a:effectLst/>
                <a:latin typeface="Times New Roman" panose="02020603050405020304" pitchFamily="18" charset="0"/>
                <a:ea typeface="Times New Roman" panose="02020603050405020304" pitchFamily="18" charset="0"/>
              </a:rPr>
              <a:t>, ha lo stesso ruolo che un’istruzione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return</a:t>
            </a:r>
            <a:r>
              <a:rPr lang="it-IT" sz="1800" dirty="0">
                <a:effectLst/>
                <a:latin typeface="Times New Roman" panose="02020603050405020304" pitchFamily="18" charset="0"/>
                <a:ea typeface="Times New Roman" panose="02020603050405020304" pitchFamily="18" charset="0"/>
              </a:rPr>
              <a:t> in un metodo.</a:t>
            </a:r>
          </a:p>
          <a:p>
            <a:r>
              <a:rPr lang="it-IT" sz="1800" b="1" dirty="0">
                <a:effectLst/>
                <a:latin typeface="Times New Roman" panose="02020603050405020304" pitchFamily="18" charset="0"/>
                <a:ea typeface="Times New Roman" panose="02020603050405020304" pitchFamily="18" charset="0"/>
              </a:rPr>
              <a:t>(ICONA MOLTO IMPORTANTE)</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Da un’espressione switch, è possibile uscire solo con un valore, oppure lanciando un’eccezione (come vedremo nel capitolo 8). Questo significa che all’interno di un’espressione </a:t>
            </a:r>
            <a:r>
              <a:rPr lang="it-IT" sz="1800" dirty="0">
                <a:effectLst/>
                <a:latin typeface="Courier New" panose="02070309020205020404" pitchFamily="49" charset="0"/>
                <a:ea typeface="Times New Roman" panose="02020603050405020304" pitchFamily="18" charset="0"/>
              </a:rPr>
              <a:t>switch</a:t>
            </a:r>
            <a:r>
              <a:rPr lang="it-IT" sz="1800" dirty="0">
                <a:effectLst/>
                <a:latin typeface="Times New Roman" panose="02020603050405020304" pitchFamily="18" charset="0"/>
                <a:ea typeface="Times New Roman" panose="02020603050405020304" pitchFamily="18" charset="0"/>
              </a:rPr>
              <a:t> non è possibile utilizzare i comandi </a:t>
            </a:r>
            <a:r>
              <a:rPr lang="it-IT" sz="1800" dirty="0">
                <a:effectLst/>
                <a:latin typeface="Courier New" panose="02070309020205020404" pitchFamily="49" charset="0"/>
                <a:ea typeface="Times New Roman" panose="02020603050405020304" pitchFamily="18" charset="0"/>
              </a:rPr>
              <a:t>return</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rPr>
              <a:t>break</a:t>
            </a:r>
            <a:r>
              <a:rPr lang="it-IT" sz="1800" dirty="0">
                <a:effectLst/>
                <a:latin typeface="Times New Roman" panose="02020603050405020304" pitchFamily="18" charset="0"/>
                <a:ea typeface="Times New Roman" panose="02020603050405020304" pitchFamily="18" charset="0"/>
              </a:rPr>
              <a:t> o </a:t>
            </a:r>
            <a:r>
              <a:rPr lang="it-IT" sz="1800" dirty="0">
                <a:effectLst/>
                <a:latin typeface="Courier New" panose="02070309020205020404" pitchFamily="49" charset="0"/>
                <a:ea typeface="Times New Roman" panose="02020603050405020304" pitchFamily="18" charset="0"/>
              </a:rPr>
              <a:t>continue</a:t>
            </a:r>
            <a:r>
              <a:rPr lang="it-IT" sz="1800" dirty="0">
                <a:effectLst/>
                <a:latin typeface="Times New Roman" panose="02020603050405020304" pitchFamily="18" charset="0"/>
                <a:ea typeface="Times New Roman" panose="02020603050405020304" pitchFamily="18" charset="0"/>
              </a:rPr>
              <a:t>.</a:t>
            </a:r>
          </a:p>
          <a:p>
            <a:r>
              <a:rPr lang="it-IT" sz="1800" b="1" dirty="0">
                <a:effectLst/>
                <a:latin typeface="Times New Roman" panose="02020603050405020304" pitchFamily="18" charset="0"/>
                <a:ea typeface="Times New Roman" panose="02020603050405020304" pitchFamily="18" charset="0"/>
              </a:rPr>
              <a:t>(ICONA CURIOSITÀ)</a:t>
            </a:r>
            <a:endParaRPr lang="it-IT" sz="1800" dirty="0">
              <a:effectLst/>
              <a:latin typeface="Times New Roman" panose="02020603050405020304" pitchFamily="18"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Nella versione 12 di Java, quando le espressioni </a:t>
            </a:r>
            <a:r>
              <a:rPr lang="it-IT" sz="1800" b="1" dirty="0">
                <a:solidFill>
                  <a:srgbClr val="000000"/>
                </a:solidFill>
                <a:effectLst/>
                <a:latin typeface="Courier New" panose="02070309020205020404" pitchFamily="49" charset="0"/>
                <a:ea typeface="Times New Roman" panose="02020603050405020304" pitchFamily="18" charset="0"/>
              </a:rPr>
              <a:t>switch</a:t>
            </a:r>
            <a:r>
              <a:rPr lang="it-IT" sz="1800" b="1" dirty="0">
                <a:solidFill>
                  <a:srgbClr val="000000"/>
                </a:solidFill>
                <a:effectLst/>
                <a:latin typeface="Times New Roman" panose="02020603050405020304" pitchFamily="18" charset="0"/>
                <a:ea typeface="Times New Roman" panose="02020603050405020304" pitchFamily="18" charset="0"/>
              </a:rPr>
              <a:t> furono introdotte come feature preview, al posto della parola </a:t>
            </a:r>
            <a:r>
              <a:rPr lang="it-IT" sz="1800" b="1" dirty="0">
                <a:solidFill>
                  <a:srgbClr val="000000"/>
                </a:solidFill>
                <a:effectLst/>
                <a:latin typeface="Courier New" panose="02070309020205020404" pitchFamily="49" charset="0"/>
                <a:ea typeface="Times New Roman" panose="02020603050405020304" pitchFamily="18" charset="0"/>
              </a:rPr>
              <a:t>yield</a:t>
            </a:r>
            <a:r>
              <a:rPr lang="it-IT" sz="1800" b="1" dirty="0">
                <a:solidFill>
                  <a:srgbClr val="000000"/>
                </a:solidFill>
                <a:effectLst/>
                <a:latin typeface="Times New Roman" panose="02020603050405020304" pitchFamily="18" charset="0"/>
                <a:ea typeface="Times New Roman" panose="02020603050405020304" pitchFamily="18" charset="0"/>
              </a:rPr>
              <a:t>, si utilizzava la parola </a:t>
            </a:r>
            <a:r>
              <a:rPr lang="it-IT" sz="1800" b="1" dirty="0">
                <a:solidFill>
                  <a:srgbClr val="000000"/>
                </a:solidFill>
                <a:effectLst/>
                <a:latin typeface="Courier New" panose="02070309020205020404" pitchFamily="49" charset="0"/>
                <a:ea typeface="Times New Roman" panose="02020603050405020304" pitchFamily="18" charset="0"/>
              </a:rPr>
              <a:t>break</a:t>
            </a:r>
            <a:r>
              <a:rPr lang="it-IT" sz="1800" b="1" dirty="0">
                <a:solidFill>
                  <a:srgbClr val="000000"/>
                </a:solidFill>
                <a:effectLst/>
                <a:latin typeface="Times New Roman" panose="02020603050405020304" pitchFamily="18" charset="0"/>
                <a:ea typeface="Times New Roman" panose="02020603050405020304" pitchFamily="18" charset="0"/>
              </a:rPr>
              <a:t>. Solo nella versione 13 quest’ultima fu sostituita dalla parola </a:t>
            </a:r>
            <a:r>
              <a:rPr lang="it-IT" sz="1800" b="1" dirty="0">
                <a:solidFill>
                  <a:srgbClr val="000000"/>
                </a:solidFill>
                <a:effectLst/>
                <a:latin typeface="Courier New" panose="02070309020205020404" pitchFamily="49" charset="0"/>
                <a:ea typeface="Times New Roman" panose="02020603050405020304" pitchFamily="18" charset="0"/>
              </a:rPr>
              <a:t>yield</a:t>
            </a:r>
            <a:r>
              <a:rPr lang="it-IT" sz="1800" b="1" dirty="0">
                <a:solidFill>
                  <a:srgbClr val="000000"/>
                </a:solidFill>
                <a:effectLst/>
                <a:latin typeface="Times New Roman" panose="02020603050405020304" pitchFamily="18" charset="0"/>
                <a:ea typeface="Times New Roman" panose="02020603050405020304" pitchFamily="18" charset="0"/>
              </a:rPr>
              <a:t>. Infatti, i feedback per questa feature preview giudicarono l’utilizzo del </a:t>
            </a:r>
            <a:r>
              <a:rPr lang="it-IT" sz="1800" b="1" dirty="0">
                <a:solidFill>
                  <a:srgbClr val="000000"/>
                </a:solidFill>
                <a:effectLst/>
                <a:latin typeface="Courier New" panose="02070309020205020404" pitchFamily="49" charset="0"/>
                <a:ea typeface="Times New Roman" panose="02020603050405020304" pitchFamily="18" charset="0"/>
              </a:rPr>
              <a:t>break</a:t>
            </a:r>
            <a:r>
              <a:rPr lang="it-IT" sz="1800" b="1" dirty="0">
                <a:solidFill>
                  <a:srgbClr val="000000"/>
                </a:solidFill>
                <a:effectLst/>
                <a:latin typeface="Times New Roman" panose="02020603050405020304" pitchFamily="18" charset="0"/>
                <a:ea typeface="Times New Roman" panose="02020603050405020304" pitchFamily="18" charset="0"/>
              </a:rPr>
              <a:t> fuorviante, in quanto già usato in altri contesti. </a:t>
            </a:r>
            <a:endParaRPr lang="it-IT" sz="1800" b="1" dirty="0">
              <a:effectLst/>
              <a:latin typeface="Times New Roman" panose="02020603050405020304" pitchFamily="18" charset="0"/>
              <a:ea typeface="Times New Roman" panose="02020603050405020304" pitchFamily="18" charset="0"/>
            </a:endParaRPr>
          </a:p>
          <a:p>
            <a:endParaRPr lang="it-IT" sz="1200" dirty="0">
              <a:solidFill>
                <a:schemeClr val="tx1"/>
              </a:solidFill>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45</a:t>
            </a:fld>
            <a:endParaRPr lang="it-IT"/>
          </a:p>
        </p:txBody>
      </p:sp>
    </p:spTree>
    <p:extLst>
      <p:ext uri="{BB962C8B-B14F-4D97-AF65-F5344CB8AC3E}">
        <p14:creationId xmlns:p14="http://schemas.microsoft.com/office/powerpoint/2010/main" val="108927473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Anche con lo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switch</a:t>
            </a:r>
            <a:r>
              <a:rPr lang="it-IT" sz="1800" dirty="0">
                <a:effectLst/>
                <a:latin typeface="Times New Roman" panose="02020603050405020304" pitchFamily="18" charset="0"/>
                <a:ea typeface="Times New Roman" panose="02020603050405020304" pitchFamily="18" charset="0"/>
              </a:rPr>
              <a:t> usato come espressione, in realtà è ancora possibile utilizzare il fall through. Infatti, esiste una sintassi alternativa a quella che abbiamo visto nel primo esempio, dove la notazione freccia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-&gt;</a:t>
            </a:r>
            <a:r>
              <a:rPr lang="it-IT" sz="1800" dirty="0">
                <a:effectLst/>
                <a:latin typeface="Times New Roman" panose="02020603050405020304" pitchFamily="18" charset="0"/>
                <a:ea typeface="Times New Roman" panose="02020603050405020304" pitchFamily="18" charset="0"/>
              </a:rPr>
              <a:t> “indicava” il valore da restituire (che può essere definito da un’espressione, o da un blocco di codice). In realtà, possiamo ancora sostituire la notazione di freccia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-&gt;</a:t>
            </a:r>
            <a:r>
              <a:rPr lang="it-IT" sz="1800" dirty="0">
                <a:effectLst/>
                <a:latin typeface="Times New Roman" panose="02020603050405020304" pitchFamily="18" charset="0"/>
                <a:ea typeface="Times New Roman" panose="02020603050405020304" pitchFamily="18" charset="0"/>
              </a:rPr>
              <a:t>, con la notazione che si usava con lo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switch</a:t>
            </a:r>
            <a:r>
              <a:rPr lang="it-IT" sz="1800" dirty="0">
                <a:effectLst/>
                <a:latin typeface="Times New Roman" panose="02020603050405020304" pitchFamily="18" charset="0"/>
                <a:ea typeface="Times New Roman" panose="02020603050405020304" pitchFamily="18" charset="0"/>
              </a:rPr>
              <a:t> ordinario (ovvero i due punti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Inoltre abbiamo visto che l’istruzione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yield</a:t>
            </a:r>
            <a:r>
              <a:rPr lang="it-IT" sz="1800" dirty="0">
                <a:effectLst/>
                <a:latin typeface="Times New Roman" panose="02020603050405020304" pitchFamily="18" charset="0"/>
                <a:ea typeface="Times New Roman" panose="02020603050405020304" pitchFamily="18" charset="0"/>
              </a:rPr>
              <a:t> in un’espressione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switch</a:t>
            </a:r>
            <a:r>
              <a:rPr lang="it-IT" sz="1800" dirty="0">
                <a:effectLst/>
                <a:latin typeface="Times New Roman" panose="02020603050405020304" pitchFamily="18" charset="0"/>
                <a:ea typeface="Times New Roman" panose="02020603050405020304" pitchFamily="18" charset="0"/>
              </a:rPr>
              <a:t>, può specificare a seguire il valore da restituire:</a:t>
            </a:r>
          </a:p>
          <a:p>
            <a:r>
              <a:rPr lang="it-IT" sz="1800" dirty="0">
                <a:solidFill>
                  <a:srgbClr val="000000"/>
                </a:solidFill>
                <a:effectLst/>
                <a:latin typeface="Courier New" panose="02070309020205020404" pitchFamily="49" charset="0"/>
                <a:ea typeface="Times New Roman" panose="02020603050405020304" pitchFamily="18" charset="0"/>
              </a:rPr>
              <a:t>String season = switch(</a:t>
            </a:r>
            <a:r>
              <a:rPr lang="it-IT" sz="1800" dirty="0" err="1">
                <a:solidFill>
                  <a:srgbClr val="000000"/>
                </a:solidFill>
                <a:effectLst/>
                <a:latin typeface="Courier New" panose="02070309020205020404" pitchFamily="49" charset="0"/>
                <a:ea typeface="Times New Roman" panose="02020603050405020304" pitchFamily="18" charset="0"/>
              </a:rPr>
              <a:t>month</a:t>
            </a:r>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case DECEMBER, JANUARY, FEBRUARY: yield "</a:t>
            </a:r>
            <a:r>
              <a:rPr lang="it-IT" sz="1800" dirty="0" err="1">
                <a:solidFill>
                  <a:srgbClr val="000000"/>
                </a:solidFill>
                <a:effectLst/>
                <a:latin typeface="Courier New" panose="02070309020205020404" pitchFamily="49" charset="0"/>
                <a:ea typeface="Times New Roman" panose="02020603050405020304" pitchFamily="18" charset="0"/>
              </a:rPr>
              <a:t>winter</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case MARCH, APRIL, MAY: yield "spring";</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case JUNE, JULY, AUGUST: yield "</a:t>
            </a:r>
            <a:r>
              <a:rPr lang="it-IT" sz="1800" dirty="0" err="1">
                <a:solidFill>
                  <a:srgbClr val="000000"/>
                </a:solidFill>
                <a:effectLst/>
                <a:latin typeface="Courier New" panose="02070309020205020404" pitchFamily="49" charset="0"/>
                <a:ea typeface="Times New Roman" panose="02020603050405020304" pitchFamily="18" charset="0"/>
              </a:rPr>
              <a:t>summer</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case SEPTEMBER, OCTOBER, NOVEMBER: yield "</a:t>
            </a:r>
            <a:r>
              <a:rPr lang="it-IT" sz="1800" dirty="0" err="1">
                <a:solidFill>
                  <a:srgbClr val="000000"/>
                </a:solidFill>
                <a:effectLst/>
                <a:latin typeface="Courier New" panose="02070309020205020404" pitchFamily="49" charset="0"/>
                <a:ea typeface="Times New Roman" panose="02020603050405020304" pitchFamily="18" charset="0"/>
              </a:rPr>
              <a:t>autumn</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endParaRPr lang="it-IT" sz="1200" dirty="0">
              <a:solidFill>
                <a:schemeClr val="tx1"/>
              </a:solidFill>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46</a:t>
            </a:fld>
            <a:endParaRPr lang="it-IT"/>
          </a:p>
        </p:txBody>
      </p:sp>
    </p:spTree>
    <p:extLst>
      <p:ext uri="{BB962C8B-B14F-4D97-AF65-F5344CB8AC3E}">
        <p14:creationId xmlns:p14="http://schemas.microsoft.com/office/powerpoint/2010/main" val="145059428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Con questa sintassi, lo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yield</a:t>
            </a:r>
            <a:r>
              <a:rPr lang="it-IT" sz="1800" dirty="0">
                <a:effectLst/>
                <a:latin typeface="Times New Roman" panose="02020603050405020304" pitchFamily="18" charset="0"/>
                <a:ea typeface="Times New Roman" panose="02020603050405020304" pitchFamily="18" charset="0"/>
              </a:rPr>
              <a:t> può essere usato anche al di fuori di un blocco di codice, ed è l’unico modo per far ritornare un valore. Infatti, solo con la notazione freccia è possibile ritornare un literal direttamente. La differenza più importante tra i due tipi di sintassi però, è che con quest’ultima è possibile ancora utilizzare il fall through. </a:t>
            </a:r>
            <a:r>
              <a:rPr lang="en-GB" sz="1800" dirty="0" err="1">
                <a:effectLst/>
                <a:latin typeface="Times New Roman" panose="02020603050405020304" pitchFamily="18" charset="0"/>
                <a:ea typeface="Times New Roman" panose="02020603050405020304" pitchFamily="18" charset="0"/>
              </a:rPr>
              <a:t>Infatti</a:t>
            </a:r>
            <a:r>
              <a:rPr lang="en-GB" sz="1800" dirty="0">
                <a:effectLst/>
                <a:latin typeface="Times New Roman" panose="02020603050405020304" pitchFamily="18" charset="0"/>
                <a:ea typeface="Times New Roman" panose="02020603050405020304" pitchFamily="18" charset="0"/>
              </a:rPr>
              <a:t>, la seguente </a:t>
            </a:r>
            <a:r>
              <a:rPr lang="en-GB" sz="1800" dirty="0" err="1">
                <a:effectLst/>
                <a:latin typeface="Times New Roman" panose="02020603050405020304" pitchFamily="18" charset="0"/>
                <a:ea typeface="Times New Roman" panose="02020603050405020304" pitchFamily="18" charset="0"/>
              </a:rPr>
              <a:t>sintassi</a:t>
            </a:r>
            <a:r>
              <a:rPr lang="en-GB" sz="1800" dirty="0">
                <a:effectLst/>
                <a:latin typeface="Times New Roman" panose="02020603050405020304" pitchFamily="18" charset="0"/>
                <a:ea typeface="Times New Roman" panose="02020603050405020304" pitchFamily="18" charset="0"/>
              </a:rPr>
              <a:t> è </a:t>
            </a:r>
            <a:r>
              <a:rPr lang="en-GB" sz="1800" dirty="0" err="1">
                <a:effectLst/>
                <a:latin typeface="Times New Roman" panose="02020603050405020304" pitchFamily="18" charset="0"/>
                <a:ea typeface="Times New Roman" panose="02020603050405020304" pitchFamily="18" charset="0"/>
              </a:rPr>
              <a:t>perfettamente</a:t>
            </a:r>
            <a:r>
              <a:rPr lang="en-GB" sz="1800" dirty="0">
                <a:effectLst/>
                <a:latin typeface="Times New Roman" panose="02020603050405020304" pitchFamily="18" charset="0"/>
                <a:ea typeface="Times New Roman" panose="02020603050405020304" pitchFamily="18" charset="0"/>
              </a:rPr>
              <a:t> </a:t>
            </a:r>
            <a:r>
              <a:rPr lang="en-GB" sz="1800" dirty="0" err="1">
                <a:effectLst/>
                <a:latin typeface="Times New Roman" panose="02020603050405020304" pitchFamily="18" charset="0"/>
                <a:ea typeface="Times New Roman" panose="02020603050405020304" pitchFamily="18" charset="0"/>
              </a:rPr>
              <a:t>valida</a:t>
            </a:r>
            <a:r>
              <a:rPr lang="en-GB" sz="1800" dirty="0">
                <a:effectLst/>
                <a:latin typeface="Times New Roman" panose="02020603050405020304" pitchFamily="18" charset="0"/>
                <a:ea typeface="Times New Roman" panose="02020603050405020304" pitchFamily="18" charset="0"/>
              </a:rPr>
              <a:t>:</a:t>
            </a:r>
            <a:endParaRPr lang="it-IT" sz="1800" dirty="0">
              <a:effectLst/>
              <a:latin typeface="Times New Roman" panose="02020603050405020304" pitchFamily="18" charset="0"/>
              <a:ea typeface="Times New Roman" panose="02020603050405020304" pitchFamily="18" charset="0"/>
            </a:endParaRPr>
          </a:p>
          <a:p>
            <a:endParaRPr lang="it-IT" sz="1200" dirty="0">
              <a:solidFill>
                <a:schemeClr val="tx1"/>
              </a:solidFill>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47</a:t>
            </a:fld>
            <a:endParaRPr lang="it-IT"/>
          </a:p>
        </p:txBody>
      </p:sp>
    </p:spTree>
    <p:extLst>
      <p:ext uri="{BB962C8B-B14F-4D97-AF65-F5344CB8AC3E}">
        <p14:creationId xmlns:p14="http://schemas.microsoft.com/office/powerpoint/2010/main" val="269825858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Ricordiamo che abbiamo già visto nel paragrafo precedente, che anche con la sintassi che fa uso della notazione freccia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-&gt;</a:t>
            </a:r>
            <a:r>
              <a:rPr lang="it-IT" sz="1800" dirty="0">
                <a:effectLst/>
                <a:latin typeface="Times New Roman" panose="02020603050405020304" pitchFamily="18" charset="0"/>
                <a:ea typeface="Times New Roman" panose="02020603050405020304" pitchFamily="18" charset="0"/>
              </a:rPr>
              <a:t> è possibile utilizzare l’istruzione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yield</a:t>
            </a:r>
            <a:r>
              <a:rPr lang="it-IT" sz="1800" dirty="0">
                <a:effectLst/>
                <a:latin typeface="Times New Roman" panose="02020603050405020304" pitchFamily="18" charset="0"/>
                <a:ea typeface="Times New Roman" panose="02020603050405020304" pitchFamily="18" charset="0"/>
              </a:rPr>
              <a:t>, ma solo all’interno di blocchi di codice: Per esempio questo codice è valido ed equivalente agli altri esempi visti:</a:t>
            </a:r>
          </a:p>
        </p:txBody>
      </p:sp>
      <p:sp>
        <p:nvSpPr>
          <p:cNvPr id="4" name="Segnaposto numero diapositiva 3"/>
          <p:cNvSpPr>
            <a:spLocks noGrp="1"/>
          </p:cNvSpPr>
          <p:nvPr>
            <p:ph type="sldNum" sz="quarter" idx="5"/>
          </p:nvPr>
        </p:nvSpPr>
        <p:spPr/>
        <p:txBody>
          <a:bodyPr/>
          <a:lstStyle/>
          <a:p>
            <a:fld id="{545D8BF2-49EE-4CE2-A2D7-61B744D1E4D9}" type="slidenum">
              <a:rPr lang="it-IT" smtClean="0"/>
              <a:t>48</a:t>
            </a:fld>
            <a:endParaRPr lang="it-IT"/>
          </a:p>
        </p:txBody>
      </p:sp>
    </p:spTree>
    <p:extLst>
      <p:ext uri="{BB962C8B-B14F-4D97-AF65-F5344CB8AC3E}">
        <p14:creationId xmlns:p14="http://schemas.microsoft.com/office/powerpoint/2010/main" val="202036923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Ricordiamo che abbiamo già visto nel paragrafo precedente, che anche con la sintassi che fa uso della notazione freccia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-&gt;</a:t>
            </a:r>
            <a:r>
              <a:rPr lang="it-IT" sz="1800" dirty="0">
                <a:effectLst/>
                <a:latin typeface="Times New Roman" panose="02020603050405020304" pitchFamily="18" charset="0"/>
                <a:ea typeface="Times New Roman" panose="02020603050405020304" pitchFamily="18" charset="0"/>
              </a:rPr>
              <a:t> è possibile utilizzare l’istruzione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yield</a:t>
            </a:r>
            <a:r>
              <a:rPr lang="it-IT" sz="1800" dirty="0">
                <a:effectLst/>
                <a:latin typeface="Times New Roman" panose="02020603050405020304" pitchFamily="18" charset="0"/>
                <a:ea typeface="Times New Roman" panose="02020603050405020304" pitchFamily="18" charset="0"/>
              </a:rPr>
              <a:t>, ma solo all’interno di blocchi di codice: Per esempio questo codice è valido ed equivalente agli altri esempi visti:</a:t>
            </a:r>
          </a:p>
        </p:txBody>
      </p:sp>
      <p:sp>
        <p:nvSpPr>
          <p:cNvPr id="4" name="Segnaposto numero diapositiva 3"/>
          <p:cNvSpPr>
            <a:spLocks noGrp="1"/>
          </p:cNvSpPr>
          <p:nvPr>
            <p:ph type="sldNum" sz="quarter" idx="5"/>
          </p:nvPr>
        </p:nvSpPr>
        <p:spPr/>
        <p:txBody>
          <a:bodyPr/>
          <a:lstStyle/>
          <a:p>
            <a:fld id="{545D8BF2-49EE-4CE2-A2D7-61B744D1E4D9}" type="slidenum">
              <a:rPr lang="it-IT" smtClean="0"/>
              <a:t>49</a:t>
            </a:fld>
            <a:endParaRPr lang="it-IT"/>
          </a:p>
        </p:txBody>
      </p:sp>
    </p:spTree>
    <p:extLst>
      <p:ext uri="{BB962C8B-B14F-4D97-AF65-F5344CB8AC3E}">
        <p14:creationId xmlns:p14="http://schemas.microsoft.com/office/powerpoint/2010/main" val="63910747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sz="1800"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50</a:t>
            </a:fld>
            <a:endParaRPr lang="it-IT"/>
          </a:p>
        </p:txBody>
      </p:sp>
    </p:spTree>
    <p:extLst>
      <p:ext uri="{BB962C8B-B14F-4D97-AF65-F5344CB8AC3E}">
        <p14:creationId xmlns:p14="http://schemas.microsoft.com/office/powerpoint/2010/main" val="28952186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sz="1800"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51</a:t>
            </a:fld>
            <a:endParaRPr lang="it-IT"/>
          </a:p>
        </p:txBody>
      </p:sp>
    </p:spTree>
    <p:extLst>
      <p:ext uri="{BB962C8B-B14F-4D97-AF65-F5344CB8AC3E}">
        <p14:creationId xmlns:p14="http://schemas.microsoft.com/office/powerpoint/2010/main" val="333799398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sz="1800"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52</a:t>
            </a:fld>
            <a:endParaRPr lang="it-IT"/>
          </a:p>
        </p:txBody>
      </p:sp>
    </p:spTree>
    <p:extLst>
      <p:ext uri="{BB962C8B-B14F-4D97-AF65-F5344CB8AC3E}">
        <p14:creationId xmlns:p14="http://schemas.microsoft.com/office/powerpoint/2010/main" val="339113322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dirty="0">
                <a:effectLst/>
                <a:latin typeface="Times New Roman" panose="02020603050405020304" pitchFamily="18" charset="0"/>
                <a:ea typeface="Times New Roman" panose="02020603050405020304" pitchFamily="18" charset="0"/>
              </a:rPr>
              <a:t>Il seguente codice avrebbe compilato senza errori. Infatti, in quanto espressione, abbiamo potuto passare al metodo </a:t>
            </a:r>
            <a:r>
              <a:rPr lang="it-IT" sz="1800" dirty="0">
                <a:effectLst/>
                <a:latin typeface="Courier New" panose="02070309020205020404" pitchFamily="49" charset="0"/>
                <a:ea typeface="Times New Roman" panose="02020603050405020304" pitchFamily="18" charset="0"/>
              </a:rPr>
              <a:t>method</a:t>
            </a:r>
            <a:r>
              <a:rPr lang="it-IT" sz="1800" dirty="0">
                <a:effectLst/>
                <a:latin typeface="Times New Roman" panose="02020603050405020304" pitchFamily="18" charset="0"/>
                <a:ea typeface="Times New Roman" panose="02020603050405020304" pitchFamily="18" charset="0"/>
              </a:rPr>
              <a:t> l’espressione </a:t>
            </a:r>
            <a:r>
              <a:rPr lang="it-IT" sz="1800" dirty="0">
                <a:effectLst/>
                <a:latin typeface="Courier New" panose="02070309020205020404" pitchFamily="49" charset="0"/>
                <a:ea typeface="Times New Roman" panose="02020603050405020304" pitchFamily="18" charset="0"/>
              </a:rPr>
              <a:t>switch</a:t>
            </a:r>
            <a:r>
              <a:rPr lang="it-IT" sz="1800" dirty="0">
                <a:effectLst/>
                <a:latin typeface="Times New Roman" panose="02020603050405020304" pitchFamily="18" charset="0"/>
                <a:ea typeface="Times New Roman" panose="02020603050405020304" pitchFamily="18" charset="0"/>
              </a:rPr>
              <a:t>. Il tipo da ritornare per lo </a:t>
            </a:r>
            <a:r>
              <a:rPr lang="it-IT" sz="1800" dirty="0">
                <a:effectLst/>
                <a:latin typeface="Courier New" panose="02070309020205020404" pitchFamily="49" charset="0"/>
                <a:ea typeface="Times New Roman" panose="02020603050405020304" pitchFamily="18" charset="0"/>
              </a:rPr>
              <a:t>switch</a:t>
            </a:r>
            <a:r>
              <a:rPr lang="it-IT" sz="1800" dirty="0">
                <a:effectLst/>
                <a:latin typeface="Times New Roman" panose="02020603050405020304" pitchFamily="18" charset="0"/>
                <a:ea typeface="Times New Roman" panose="02020603050405020304" pitchFamily="18" charset="0"/>
              </a:rPr>
              <a:t>, in questo caso viene quindi dedotto dal tipo del parametro </a:t>
            </a:r>
            <a:r>
              <a:rPr lang="it-IT" sz="1800" dirty="0">
                <a:effectLst/>
                <a:latin typeface="Courier New" panose="02070309020205020404" pitchFamily="49" charset="0"/>
                <a:ea typeface="Times New Roman" panose="02020603050405020304" pitchFamily="18" charset="0"/>
              </a:rPr>
              <a:t>index</a:t>
            </a:r>
            <a:r>
              <a:rPr lang="it-IT" sz="1800" dirty="0">
                <a:effectLst/>
                <a:latin typeface="Times New Roman" panose="02020603050405020304" pitchFamily="18" charset="0"/>
                <a:ea typeface="Times New Roman" panose="02020603050405020304" pitchFamily="18" charset="0"/>
              </a:rPr>
              <a:t> del metodo </a:t>
            </a:r>
            <a:r>
              <a:rPr lang="it-IT" sz="1800" dirty="0">
                <a:effectLst/>
                <a:latin typeface="Courier New" panose="02070309020205020404" pitchFamily="49" charset="0"/>
                <a:ea typeface="Times New Roman" panose="02020603050405020304" pitchFamily="18" charset="0"/>
              </a:rPr>
              <a:t>method</a:t>
            </a:r>
            <a:r>
              <a:rPr lang="it-IT" sz="1800" dirty="0">
                <a:effectLst/>
                <a:latin typeface="Times New Roman" panose="02020603050405020304" pitchFamily="18" charset="0"/>
                <a:ea typeface="Times New Roman" panose="02020603050405020304" pitchFamily="18" charset="0"/>
              </a:rPr>
              <a:t>.</a:t>
            </a:r>
          </a:p>
          <a:p>
            <a:endParaRPr lang="it-IT" sz="1800"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53</a:t>
            </a:fld>
            <a:endParaRPr lang="it-IT"/>
          </a:p>
        </p:txBody>
      </p:sp>
    </p:spTree>
    <p:extLst>
      <p:ext uri="{BB962C8B-B14F-4D97-AF65-F5344CB8AC3E}">
        <p14:creationId xmlns:p14="http://schemas.microsoft.com/office/powerpoint/2010/main" val="29236097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Le espressioni </a:t>
            </a:r>
            <a:r>
              <a:rPr lang="it-IT" sz="1800" dirty="0">
                <a:effectLst/>
                <a:latin typeface="Courier New" panose="02070309020205020404" pitchFamily="49" charset="0"/>
                <a:ea typeface="Times New Roman" panose="02020603050405020304" pitchFamily="18" charset="0"/>
              </a:rPr>
              <a:t>switch</a:t>
            </a:r>
            <a:r>
              <a:rPr lang="it-IT" sz="1800" dirty="0">
                <a:effectLst/>
                <a:latin typeface="Times New Roman" panose="02020603050405020304" pitchFamily="18" charset="0"/>
                <a:ea typeface="Times New Roman" panose="02020603050405020304" pitchFamily="18" charset="0"/>
              </a:rPr>
              <a:t>, ha tra le sue caratteristiche quella della </a:t>
            </a:r>
            <a:r>
              <a:rPr lang="it-IT" sz="1800" b="1" dirty="0">
                <a:effectLst/>
                <a:latin typeface="Times New Roman" panose="02020603050405020304" pitchFamily="18" charset="0"/>
                <a:ea typeface="Times New Roman" panose="02020603050405020304" pitchFamily="18" charset="0"/>
              </a:rPr>
              <a:t>Exhaustiveness </a:t>
            </a:r>
            <a:r>
              <a:rPr lang="it-IT" sz="1800" dirty="0">
                <a:effectLst/>
                <a:latin typeface="Times New Roman" panose="02020603050405020304" pitchFamily="18" charset="0"/>
                <a:ea typeface="Times New Roman" panose="02020603050405020304" pitchFamily="18" charset="0"/>
              </a:rPr>
              <a:t>(in italiano </a:t>
            </a:r>
            <a:r>
              <a:rPr lang="it-IT" sz="1800" b="1" dirty="0">
                <a:effectLst/>
                <a:latin typeface="Times New Roman" panose="02020603050405020304" pitchFamily="18" charset="0"/>
                <a:ea typeface="Times New Roman" panose="02020603050405020304" pitchFamily="18" charset="0"/>
              </a:rPr>
              <a:t>esaustività</a:t>
            </a:r>
            <a:r>
              <a:rPr lang="it-IT" sz="1800" dirty="0">
                <a:effectLst/>
                <a:latin typeface="Times New Roman" panose="02020603050405020304" pitchFamily="18" charset="0"/>
                <a:ea typeface="Times New Roman" panose="02020603050405020304" pitchFamily="18" charset="0"/>
              </a:rPr>
              <a:t>). Ciò significa che il compilatore non accetterà situazioni in cui è assente una possibile clausola </a:t>
            </a:r>
            <a:r>
              <a:rPr lang="it-IT" sz="1800" dirty="0">
                <a:effectLst/>
                <a:latin typeface="Courier New" panose="02070309020205020404" pitchFamily="49" charset="0"/>
                <a:ea typeface="Times New Roman" panose="02020603050405020304" pitchFamily="18" charset="0"/>
              </a:rPr>
              <a:t>case</a:t>
            </a:r>
            <a:r>
              <a:rPr lang="it-IT" sz="1800" dirty="0">
                <a:effectLst/>
                <a:latin typeface="Times New Roman" panose="02020603050405020304" pitchFamily="18" charset="0"/>
                <a:ea typeface="Times New Roman" panose="02020603050405020304" pitchFamily="18" charset="0"/>
              </a:rPr>
              <a:t>. Per esempio, modifichiamo la classe </a:t>
            </a:r>
            <a:r>
              <a:rPr lang="it-IT" sz="1800" dirty="0">
                <a:effectLst/>
                <a:latin typeface="Courier New" panose="02070309020205020404" pitchFamily="49" charset="0"/>
                <a:ea typeface="Times New Roman" panose="02020603050405020304" pitchFamily="18" charset="0"/>
              </a:rPr>
              <a:t>Semaforo</a:t>
            </a:r>
            <a:r>
              <a:rPr lang="it-IT" sz="1800" dirty="0">
                <a:effectLst/>
                <a:latin typeface="Times New Roman" panose="02020603050405020304" pitchFamily="18" charset="0"/>
                <a:ea typeface="Times New Roman" panose="02020603050405020304" pitchFamily="18" charset="0"/>
              </a:rPr>
              <a:t> definita nel paragrafo 4.4.2.3, in modo tale che abbia una variabile </a:t>
            </a:r>
            <a:r>
              <a:rPr lang="it-IT" sz="1800" dirty="0">
                <a:effectLst/>
                <a:latin typeface="Courier New" panose="02070309020205020404" pitchFamily="49" charset="0"/>
                <a:ea typeface="Times New Roman" panose="02020603050405020304" pitchFamily="18" charset="0"/>
              </a:rPr>
              <a:t>stato</a:t>
            </a:r>
            <a:r>
              <a:rPr lang="it-IT" sz="1800" dirty="0">
                <a:effectLst/>
                <a:latin typeface="Times New Roman" panose="02020603050405020304" pitchFamily="18" charset="0"/>
                <a:ea typeface="Times New Roman" panose="02020603050405020304" pitchFamily="18" charset="0"/>
              </a:rPr>
              <a:t>, che viene settata mediante un’espressione </a:t>
            </a:r>
            <a:r>
              <a:rPr lang="it-IT" sz="1800" dirty="0">
                <a:effectLst/>
                <a:latin typeface="Courier New" panose="02070309020205020404" pitchFamily="49" charset="0"/>
                <a:ea typeface="Times New Roman" panose="02020603050405020304" pitchFamily="18" charset="0"/>
              </a:rPr>
              <a:t>switch</a:t>
            </a:r>
            <a:r>
              <a:rPr lang="it-IT" sz="1800" dirty="0">
                <a:effectLst/>
                <a:latin typeface="Times New Roman" panose="02020603050405020304" pitchFamily="18" charset="0"/>
                <a:ea typeface="Times New Roman" panose="02020603050405020304" pitchFamily="18" charset="0"/>
              </a:rPr>
              <a:t>. Volontariamente però, non inseriamo il </a:t>
            </a:r>
            <a:r>
              <a:rPr lang="it-IT" sz="1800" dirty="0">
                <a:effectLst/>
                <a:latin typeface="Courier New" panose="02070309020205020404" pitchFamily="49" charset="0"/>
                <a:ea typeface="Times New Roman" panose="02020603050405020304" pitchFamily="18" charset="0"/>
              </a:rPr>
              <a:t>case Rosso</a:t>
            </a:r>
            <a:r>
              <a:rPr lang="it-IT" sz="1800" dirty="0">
                <a:effectLst/>
                <a:latin typeface="Times New Roman" panose="02020603050405020304" pitchFamily="18" charset="0"/>
                <a:ea typeface="Times New Roman" panose="02020603050405020304" pitchFamily="18" charset="0"/>
              </a:rPr>
              <a:t> (nell’esempio è stata commentata la relativa riga ed evidenziata in grassetto):</a:t>
            </a:r>
          </a:p>
          <a:p>
            <a:r>
              <a:rPr lang="it-IT" sz="1800" dirty="0">
                <a:effectLst/>
                <a:latin typeface="Times New Roman" panose="02020603050405020304" pitchFamily="18" charset="0"/>
                <a:ea typeface="Times New Roman" panose="02020603050405020304" pitchFamily="18" charset="0"/>
              </a:rPr>
              <a:t>otterremmo il seguente errore in compilazione:</a:t>
            </a:r>
          </a:p>
          <a:p>
            <a:pPr marL="457200" algn="just"/>
            <a:r>
              <a:rPr lang="en-GB" sz="1800" dirty="0">
                <a:solidFill>
                  <a:srgbClr val="FFFFFF"/>
                </a:solidFill>
                <a:effectLst/>
                <a:latin typeface="Courier New" panose="02070309020205020404" pitchFamily="49" charset="0"/>
                <a:ea typeface="MS Mincho" panose="02020609040205080304" pitchFamily="49" charset="-128"/>
              </a:rPr>
              <a:t>javac Semaforo.java</a:t>
            </a:r>
            <a:endParaRPr lang="it-IT" sz="1800" dirty="0">
              <a:solidFill>
                <a:srgbClr val="008000"/>
              </a:solidFill>
              <a:effectLst/>
              <a:latin typeface="Times New Roman" panose="02020603050405020304" pitchFamily="18" charset="0"/>
              <a:ea typeface="Times New Roman" panose="02020603050405020304" pitchFamily="18" charset="0"/>
            </a:endParaRPr>
          </a:p>
          <a:p>
            <a:pPr marL="457200" algn="just"/>
            <a:r>
              <a:rPr lang="en-GB" sz="1800" dirty="0">
                <a:solidFill>
                  <a:srgbClr val="FFFFFF"/>
                </a:solidFill>
                <a:effectLst/>
                <a:latin typeface="Courier New" panose="02070309020205020404" pitchFamily="49" charset="0"/>
                <a:ea typeface="MS Mincho" panose="02020609040205080304" pitchFamily="49" charset="-128"/>
              </a:rPr>
              <a:t>Semaforo.java:4: error: the switch expression does not cover all possible input values</a:t>
            </a:r>
            <a:endParaRPr lang="it-IT" sz="1800" dirty="0">
              <a:solidFill>
                <a:srgbClr val="008000"/>
              </a:solidFill>
              <a:effectLst/>
              <a:latin typeface="Times New Roman" panose="02020603050405020304" pitchFamily="18" charset="0"/>
              <a:ea typeface="Times New Roman" panose="02020603050405020304" pitchFamily="18" charset="0"/>
            </a:endParaRPr>
          </a:p>
          <a:p>
            <a:pPr marL="457200" algn="just"/>
            <a:r>
              <a:rPr lang="en-GB" sz="1800" dirty="0">
                <a:solidFill>
                  <a:srgbClr val="FFFFFF"/>
                </a:solidFill>
                <a:effectLst/>
                <a:latin typeface="Courier New" panose="02070309020205020404" pitchFamily="49" charset="0"/>
                <a:ea typeface="MS Mincho" panose="02020609040205080304" pitchFamily="49" charset="-128"/>
              </a:rPr>
              <a:t>        </a:t>
            </a:r>
            <a:r>
              <a:rPr lang="it-IT" sz="1800" dirty="0">
                <a:solidFill>
                  <a:srgbClr val="FFFFFF"/>
                </a:solidFill>
                <a:effectLst/>
                <a:latin typeface="Courier New" panose="02070309020205020404" pitchFamily="49" charset="0"/>
                <a:ea typeface="MS Mincho" panose="02020609040205080304" pitchFamily="49" charset="-128"/>
              </a:rPr>
              <a:t>stato = switch(colore) {</a:t>
            </a:r>
            <a:endParaRPr lang="it-IT" sz="1800" dirty="0">
              <a:solidFill>
                <a:srgbClr val="008000"/>
              </a:solidFill>
              <a:effectLst/>
              <a:latin typeface="Times New Roman" panose="02020603050405020304" pitchFamily="18" charset="0"/>
              <a:ea typeface="Times New Roman" panose="02020603050405020304" pitchFamily="18" charset="0"/>
            </a:endParaRPr>
          </a:p>
          <a:p>
            <a:pPr marL="457200" algn="just"/>
            <a:r>
              <a:rPr lang="it-IT" sz="1800" dirty="0">
                <a:solidFill>
                  <a:srgbClr val="FFFFFF"/>
                </a:solidFill>
                <a:effectLst/>
                <a:latin typeface="Courier New" panose="02070309020205020404" pitchFamily="49" charset="0"/>
                <a:ea typeface="MS Mincho" panose="02020609040205080304" pitchFamily="49" charset="-128"/>
              </a:rPr>
              <a:t>                ^</a:t>
            </a:r>
            <a:endParaRPr lang="it-IT" sz="1800" dirty="0">
              <a:solidFill>
                <a:srgbClr val="008000"/>
              </a:solidFill>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che ci avverte che non tutti i casi sono stati contemplati dal costrutto. </a:t>
            </a:r>
          </a:p>
          <a:p>
            <a:endParaRPr lang="it-IT" sz="1800"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54</a:t>
            </a:fld>
            <a:endParaRPr lang="it-IT"/>
          </a:p>
        </p:txBody>
      </p:sp>
    </p:spTree>
    <p:extLst>
      <p:ext uri="{BB962C8B-B14F-4D97-AF65-F5344CB8AC3E}">
        <p14:creationId xmlns:p14="http://schemas.microsoft.com/office/powerpoint/2010/main" val="107326236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Le espressioni </a:t>
            </a:r>
            <a:r>
              <a:rPr lang="it-IT" sz="1800" dirty="0">
                <a:effectLst/>
                <a:latin typeface="Courier New" panose="02070309020205020404" pitchFamily="49" charset="0"/>
                <a:ea typeface="Times New Roman" panose="02020603050405020304" pitchFamily="18" charset="0"/>
              </a:rPr>
              <a:t>switch</a:t>
            </a:r>
            <a:r>
              <a:rPr lang="it-IT" sz="1800" dirty="0">
                <a:effectLst/>
                <a:latin typeface="Times New Roman" panose="02020603050405020304" pitchFamily="18" charset="0"/>
                <a:ea typeface="Times New Roman" panose="02020603050405020304" pitchFamily="18" charset="0"/>
              </a:rPr>
              <a:t>, ha tra le sue caratteristiche quella della </a:t>
            </a:r>
            <a:r>
              <a:rPr lang="it-IT" sz="1800" b="1" dirty="0">
                <a:effectLst/>
                <a:latin typeface="Times New Roman" panose="02020603050405020304" pitchFamily="18" charset="0"/>
                <a:ea typeface="Times New Roman" panose="02020603050405020304" pitchFamily="18" charset="0"/>
              </a:rPr>
              <a:t>Exhaustiveness </a:t>
            </a:r>
            <a:r>
              <a:rPr lang="it-IT" sz="1800" dirty="0">
                <a:effectLst/>
                <a:latin typeface="Times New Roman" panose="02020603050405020304" pitchFamily="18" charset="0"/>
                <a:ea typeface="Times New Roman" panose="02020603050405020304" pitchFamily="18" charset="0"/>
              </a:rPr>
              <a:t>(in italiano </a:t>
            </a:r>
            <a:r>
              <a:rPr lang="it-IT" sz="1800" b="1" dirty="0">
                <a:effectLst/>
                <a:latin typeface="Times New Roman" panose="02020603050405020304" pitchFamily="18" charset="0"/>
                <a:ea typeface="Times New Roman" panose="02020603050405020304" pitchFamily="18" charset="0"/>
              </a:rPr>
              <a:t>esaustività</a:t>
            </a:r>
            <a:r>
              <a:rPr lang="it-IT" sz="1800" dirty="0">
                <a:effectLst/>
                <a:latin typeface="Times New Roman" panose="02020603050405020304" pitchFamily="18" charset="0"/>
                <a:ea typeface="Times New Roman" panose="02020603050405020304" pitchFamily="18" charset="0"/>
              </a:rPr>
              <a:t>). Ciò significa che il compilatore non accetterà situazioni in cui è assente una possibile clausola </a:t>
            </a:r>
            <a:r>
              <a:rPr lang="it-IT" sz="1800" dirty="0">
                <a:effectLst/>
                <a:latin typeface="Courier New" panose="02070309020205020404" pitchFamily="49" charset="0"/>
                <a:ea typeface="Times New Roman" panose="02020603050405020304" pitchFamily="18" charset="0"/>
              </a:rPr>
              <a:t>case</a:t>
            </a:r>
            <a:r>
              <a:rPr lang="it-IT" sz="1800" dirty="0">
                <a:effectLst/>
                <a:latin typeface="Times New Roman" panose="02020603050405020304" pitchFamily="18" charset="0"/>
                <a:ea typeface="Times New Roman" panose="02020603050405020304" pitchFamily="18" charset="0"/>
              </a:rPr>
              <a:t>. Per esempio, modifichiamo la classe </a:t>
            </a:r>
            <a:r>
              <a:rPr lang="it-IT" sz="1800" dirty="0">
                <a:effectLst/>
                <a:latin typeface="Courier New" panose="02070309020205020404" pitchFamily="49" charset="0"/>
                <a:ea typeface="Times New Roman" panose="02020603050405020304" pitchFamily="18" charset="0"/>
              </a:rPr>
              <a:t>Semaforo</a:t>
            </a:r>
            <a:r>
              <a:rPr lang="it-IT" sz="1800" dirty="0">
                <a:effectLst/>
                <a:latin typeface="Times New Roman" panose="02020603050405020304" pitchFamily="18" charset="0"/>
                <a:ea typeface="Times New Roman" panose="02020603050405020304" pitchFamily="18" charset="0"/>
              </a:rPr>
              <a:t> definita nel paragrafo 4.4.2.3, in modo tale che abbia una variabile </a:t>
            </a:r>
            <a:r>
              <a:rPr lang="it-IT" sz="1800" dirty="0">
                <a:effectLst/>
                <a:latin typeface="Courier New" panose="02070309020205020404" pitchFamily="49" charset="0"/>
                <a:ea typeface="Times New Roman" panose="02020603050405020304" pitchFamily="18" charset="0"/>
              </a:rPr>
              <a:t>stato</a:t>
            </a:r>
            <a:r>
              <a:rPr lang="it-IT" sz="1800" dirty="0">
                <a:effectLst/>
                <a:latin typeface="Times New Roman" panose="02020603050405020304" pitchFamily="18" charset="0"/>
                <a:ea typeface="Times New Roman" panose="02020603050405020304" pitchFamily="18" charset="0"/>
              </a:rPr>
              <a:t>, che viene settata mediante un’espressione </a:t>
            </a:r>
            <a:r>
              <a:rPr lang="it-IT" sz="1800" dirty="0">
                <a:effectLst/>
                <a:latin typeface="Courier New" panose="02070309020205020404" pitchFamily="49" charset="0"/>
                <a:ea typeface="Times New Roman" panose="02020603050405020304" pitchFamily="18" charset="0"/>
              </a:rPr>
              <a:t>switch</a:t>
            </a:r>
            <a:r>
              <a:rPr lang="it-IT" sz="1800" dirty="0">
                <a:effectLst/>
                <a:latin typeface="Times New Roman" panose="02020603050405020304" pitchFamily="18" charset="0"/>
                <a:ea typeface="Times New Roman" panose="02020603050405020304" pitchFamily="18" charset="0"/>
              </a:rPr>
              <a:t>. Volontariamente però, non inseriamo il </a:t>
            </a:r>
            <a:r>
              <a:rPr lang="it-IT" sz="1800" dirty="0">
                <a:effectLst/>
                <a:latin typeface="Courier New" panose="02070309020205020404" pitchFamily="49" charset="0"/>
                <a:ea typeface="Times New Roman" panose="02020603050405020304" pitchFamily="18" charset="0"/>
              </a:rPr>
              <a:t>case Rosso</a:t>
            </a:r>
            <a:r>
              <a:rPr lang="it-IT" sz="1800" dirty="0">
                <a:effectLst/>
                <a:latin typeface="Times New Roman" panose="02020603050405020304" pitchFamily="18" charset="0"/>
                <a:ea typeface="Times New Roman" panose="02020603050405020304" pitchFamily="18" charset="0"/>
              </a:rPr>
              <a:t> (nell’esempio è stata commentata la relativa riga ed evidenziata in grassetto):</a:t>
            </a:r>
          </a:p>
          <a:p>
            <a:r>
              <a:rPr lang="it-IT" sz="1800" dirty="0">
                <a:effectLst/>
                <a:latin typeface="Times New Roman" panose="02020603050405020304" pitchFamily="18" charset="0"/>
                <a:ea typeface="Times New Roman" panose="02020603050405020304" pitchFamily="18" charset="0"/>
              </a:rPr>
              <a:t>otterremmo il seguente errore in compilazione:</a:t>
            </a:r>
          </a:p>
          <a:p>
            <a:pPr marL="457200" algn="just"/>
            <a:r>
              <a:rPr lang="en-GB" sz="1800" dirty="0">
                <a:solidFill>
                  <a:srgbClr val="FFFFFF"/>
                </a:solidFill>
                <a:effectLst/>
                <a:latin typeface="Courier New" panose="02070309020205020404" pitchFamily="49" charset="0"/>
                <a:ea typeface="MS Mincho" panose="02020609040205080304" pitchFamily="49" charset="-128"/>
              </a:rPr>
              <a:t>javac Semaforo.java</a:t>
            </a:r>
            <a:endParaRPr lang="it-IT" sz="1800" dirty="0">
              <a:solidFill>
                <a:srgbClr val="008000"/>
              </a:solidFill>
              <a:effectLst/>
              <a:latin typeface="Times New Roman" panose="02020603050405020304" pitchFamily="18" charset="0"/>
              <a:ea typeface="Times New Roman" panose="02020603050405020304" pitchFamily="18" charset="0"/>
            </a:endParaRPr>
          </a:p>
          <a:p>
            <a:pPr marL="457200" algn="just"/>
            <a:r>
              <a:rPr lang="en-GB" sz="1800" dirty="0">
                <a:solidFill>
                  <a:srgbClr val="FFFFFF"/>
                </a:solidFill>
                <a:effectLst/>
                <a:latin typeface="Courier New" panose="02070309020205020404" pitchFamily="49" charset="0"/>
                <a:ea typeface="MS Mincho" panose="02020609040205080304" pitchFamily="49" charset="-128"/>
              </a:rPr>
              <a:t>Semaforo.java:4: error: the switch expression does not cover all possible input values</a:t>
            </a:r>
            <a:endParaRPr lang="it-IT" sz="1800" dirty="0">
              <a:solidFill>
                <a:srgbClr val="008000"/>
              </a:solidFill>
              <a:effectLst/>
              <a:latin typeface="Times New Roman" panose="02020603050405020304" pitchFamily="18" charset="0"/>
              <a:ea typeface="Times New Roman" panose="02020603050405020304" pitchFamily="18" charset="0"/>
            </a:endParaRPr>
          </a:p>
          <a:p>
            <a:pPr marL="457200" algn="just"/>
            <a:r>
              <a:rPr lang="en-GB" sz="1800" dirty="0">
                <a:solidFill>
                  <a:srgbClr val="FFFFFF"/>
                </a:solidFill>
                <a:effectLst/>
                <a:latin typeface="Courier New" panose="02070309020205020404" pitchFamily="49" charset="0"/>
                <a:ea typeface="MS Mincho" panose="02020609040205080304" pitchFamily="49" charset="-128"/>
              </a:rPr>
              <a:t>        </a:t>
            </a:r>
            <a:r>
              <a:rPr lang="it-IT" sz="1800" dirty="0">
                <a:solidFill>
                  <a:srgbClr val="FFFFFF"/>
                </a:solidFill>
                <a:effectLst/>
                <a:latin typeface="Courier New" panose="02070309020205020404" pitchFamily="49" charset="0"/>
                <a:ea typeface="MS Mincho" panose="02020609040205080304" pitchFamily="49" charset="-128"/>
              </a:rPr>
              <a:t>stato = switch(colore) {</a:t>
            </a:r>
            <a:endParaRPr lang="it-IT" sz="1800" dirty="0">
              <a:solidFill>
                <a:srgbClr val="008000"/>
              </a:solidFill>
              <a:effectLst/>
              <a:latin typeface="Times New Roman" panose="02020603050405020304" pitchFamily="18" charset="0"/>
              <a:ea typeface="Times New Roman" panose="02020603050405020304" pitchFamily="18" charset="0"/>
            </a:endParaRPr>
          </a:p>
          <a:p>
            <a:pPr marL="457200" algn="just"/>
            <a:r>
              <a:rPr lang="it-IT" sz="1800" dirty="0">
                <a:solidFill>
                  <a:srgbClr val="FFFFFF"/>
                </a:solidFill>
                <a:effectLst/>
                <a:latin typeface="Courier New" panose="02070309020205020404" pitchFamily="49" charset="0"/>
                <a:ea typeface="MS Mincho" panose="02020609040205080304" pitchFamily="49" charset="-128"/>
              </a:rPr>
              <a:t>                ^</a:t>
            </a:r>
            <a:endParaRPr lang="it-IT" sz="1800" dirty="0">
              <a:solidFill>
                <a:srgbClr val="008000"/>
              </a:solidFill>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che ci avverte che non tutti i casi sono stati contemplati dal costrutto. </a:t>
            </a:r>
          </a:p>
          <a:p>
            <a:endParaRPr lang="it-IT" sz="1800"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55</a:t>
            </a:fld>
            <a:endParaRPr lang="it-IT"/>
          </a:p>
        </p:txBody>
      </p:sp>
    </p:spTree>
    <p:extLst>
      <p:ext uri="{BB962C8B-B14F-4D97-AF65-F5344CB8AC3E}">
        <p14:creationId xmlns:p14="http://schemas.microsoft.com/office/powerpoint/2010/main" val="362783847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sz="1800"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56</a:t>
            </a:fld>
            <a:endParaRPr lang="it-IT"/>
          </a:p>
        </p:txBody>
      </p:sp>
    </p:spTree>
    <p:extLst>
      <p:ext uri="{BB962C8B-B14F-4D97-AF65-F5344CB8AC3E}">
        <p14:creationId xmlns:p14="http://schemas.microsoft.com/office/powerpoint/2010/main" val="182275282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sz="1800"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57</a:t>
            </a:fld>
            <a:endParaRPr lang="it-IT"/>
          </a:p>
        </p:txBody>
      </p:sp>
    </p:spTree>
    <p:extLst>
      <p:ext uri="{BB962C8B-B14F-4D97-AF65-F5344CB8AC3E}">
        <p14:creationId xmlns:p14="http://schemas.microsoft.com/office/powerpoint/2010/main" val="63154125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sz="1800"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58</a:t>
            </a:fld>
            <a:endParaRPr lang="it-IT"/>
          </a:p>
        </p:txBody>
      </p:sp>
    </p:spTree>
    <p:extLst>
      <p:ext uri="{BB962C8B-B14F-4D97-AF65-F5344CB8AC3E}">
        <p14:creationId xmlns:p14="http://schemas.microsoft.com/office/powerpoint/2010/main" val="141251688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Il primo passo, deve essere obbligatoriamente quello di capire tutte le funzionalità che il software deve implementare, ovvero capire </a:t>
            </a:r>
            <a:r>
              <a:rPr lang="it-IT" sz="1800" u="sng" dirty="0">
                <a:effectLst/>
                <a:latin typeface="Times New Roman" panose="02020603050405020304" pitchFamily="18" charset="0"/>
                <a:ea typeface="Times New Roman" panose="02020603050405020304" pitchFamily="18" charset="0"/>
              </a:rPr>
              <a:t>cosa</a:t>
            </a:r>
            <a:r>
              <a:rPr lang="it-IT" sz="1800" dirty="0">
                <a:effectLst/>
                <a:latin typeface="Times New Roman" panose="02020603050405020304" pitchFamily="18" charset="0"/>
                <a:ea typeface="Times New Roman" panose="02020603050405020304" pitchFamily="18" charset="0"/>
              </a:rPr>
              <a:t> fare. Questo può sembrare ovvio, ma ci accorgeremo che invece spesso non lo è affatto. Per definire tutte le funzionalità che un programma deve implementare, esistono delle tecniche specifiche. Non utilizzarle, significa andare incontro al rischio di non avere i prerequisiti per procedere correttamente. </a:t>
            </a:r>
          </a:p>
          <a:p>
            <a:r>
              <a:rPr lang="it-IT" sz="1800" dirty="0">
                <a:effectLst/>
                <a:latin typeface="Times New Roman" panose="02020603050405020304" pitchFamily="18" charset="0"/>
                <a:ea typeface="Times New Roman" panose="02020603050405020304" pitchFamily="18" charset="0"/>
              </a:rPr>
              <a:t>Il secondo punto consiste nel decidere </a:t>
            </a:r>
            <a:r>
              <a:rPr lang="it-IT" sz="1800" u="sng" dirty="0">
                <a:effectLst/>
                <a:latin typeface="Times New Roman" panose="02020603050405020304" pitchFamily="18" charset="0"/>
                <a:ea typeface="Times New Roman" panose="02020603050405020304" pitchFamily="18" charset="0"/>
              </a:rPr>
              <a:t>come</a:t>
            </a:r>
            <a:r>
              <a:rPr lang="it-IT" sz="1800" dirty="0">
                <a:effectLst/>
                <a:latin typeface="Times New Roman" panose="02020603050405020304" pitchFamily="18" charset="0"/>
                <a:ea typeface="Times New Roman" panose="02020603050405020304" pitchFamily="18" charset="0"/>
              </a:rPr>
              <a:t> implementare il codice (prima di scriverlo). Tantissimi programmatori però preferiscono saltare il secondo punto e passare direttamente al terzo. La pratica di </a:t>
            </a:r>
            <a:r>
              <a:rPr lang="it-IT" sz="1800" i="1" dirty="0">
                <a:effectLst/>
                <a:latin typeface="Times New Roman" panose="02020603050405020304" pitchFamily="18" charset="0"/>
                <a:ea typeface="Times New Roman" panose="02020603050405020304" pitchFamily="18" charset="0"/>
              </a:rPr>
              <a:t>buttarsi direttamente sul codice</a:t>
            </a:r>
            <a:r>
              <a:rPr lang="it-IT" sz="1800" dirty="0">
                <a:effectLst/>
                <a:latin typeface="Times New Roman" panose="02020603050405020304" pitchFamily="18" charset="0"/>
                <a:ea typeface="Times New Roman" panose="02020603050405020304" pitchFamily="18" charset="0"/>
              </a:rPr>
              <a:t> può essere eseguita correttamente quando si ha la necessaria esperienza, ma è più difficile quando questa manca. Quando programmiamo in Java infatti, scriveremo classi da cui istanzieremo oggetti che risolveranno i problemi durante il runtime. Gli oggetti collaboreranno tra loro chiamando metodi, quindi eseguendo azioni. Messa così non sembra tanto semplice scrivere un programma Java, e in effetti è proprio così: non è semplice! Benché la teoria dell’object orientation risulti chiara e da subito familiare perché ispirata al mondo reale, la pratica invece potrebbe rivelarsi piuttosto ostica, a seconda della forma mentis del programmatore. A partire dal prossimo capitolo, approfondiremo anche questi argomenti. Intanto, per poter approcciare nella maniera più corretta possibile al problema eseguendo anche il punto due del processo consigliato sopra, introduciamo in maniera semplificata ed informale, una definizione fondamentale per la programmazione: l’algoritmo.</a:t>
            </a:r>
          </a:p>
          <a:p>
            <a:endParaRPr lang="it-IT" sz="1800"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59</a:t>
            </a:fld>
            <a:endParaRPr lang="it-IT"/>
          </a:p>
        </p:txBody>
      </p:sp>
    </p:spTree>
    <p:extLst>
      <p:ext uri="{BB962C8B-B14F-4D97-AF65-F5344CB8AC3E}">
        <p14:creationId xmlns:p14="http://schemas.microsoft.com/office/powerpoint/2010/main" val="41441788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Un </a:t>
            </a:r>
            <a:r>
              <a:rPr lang="it-IT" sz="1800" b="1" dirty="0">
                <a:effectLst/>
                <a:latin typeface="Times New Roman" panose="02020603050405020304" pitchFamily="18" charset="0"/>
                <a:ea typeface="Times New Roman" panose="02020603050405020304" pitchFamily="18" charset="0"/>
              </a:rPr>
              <a:t>algoritmo</a:t>
            </a:r>
            <a:r>
              <a:rPr lang="it-IT" sz="1800" dirty="0">
                <a:effectLst/>
                <a:latin typeface="Times New Roman" panose="02020603050405020304" pitchFamily="18" charset="0"/>
                <a:ea typeface="Times New Roman" panose="02020603050405020304" pitchFamily="18" charset="0"/>
              </a:rPr>
              <a:t> è una successione di istruzioni o passi che definiscono le operazioni da eseguire su dei </a:t>
            </a:r>
            <a:r>
              <a:rPr lang="it-IT" sz="1800" b="1" dirty="0">
                <a:effectLst/>
                <a:latin typeface="Times New Roman" panose="02020603050405020304" pitchFamily="18" charset="0"/>
                <a:ea typeface="Times New Roman" panose="02020603050405020304" pitchFamily="18" charset="0"/>
              </a:rPr>
              <a:t>dati</a:t>
            </a:r>
            <a:r>
              <a:rPr lang="it-IT" sz="1800" dirty="0">
                <a:effectLst/>
                <a:latin typeface="Times New Roman" panose="02020603050405020304" pitchFamily="18" charset="0"/>
                <a:ea typeface="Times New Roman" panose="02020603050405020304" pitchFamily="18" charset="0"/>
              </a:rPr>
              <a:t> per risolve un determinato </a:t>
            </a:r>
            <a:r>
              <a:rPr lang="it-IT" sz="1800" b="1" dirty="0">
                <a:effectLst/>
                <a:latin typeface="Times New Roman" panose="02020603050405020304" pitchFamily="18" charset="0"/>
                <a:ea typeface="Times New Roman" panose="02020603050405020304" pitchFamily="18" charset="0"/>
              </a:rPr>
              <a:t>problema</a:t>
            </a:r>
            <a:r>
              <a:rPr lang="it-IT" sz="1800" dirty="0">
                <a:effectLst/>
                <a:latin typeface="Times New Roman" panose="02020603050405020304" pitchFamily="18" charset="0"/>
                <a:ea typeface="Times New Roman" panose="02020603050405020304" pitchFamily="18" charset="0"/>
              </a:rPr>
              <a:t>. </a:t>
            </a:r>
          </a:p>
          <a:p>
            <a:r>
              <a:rPr lang="it-IT" sz="1800" dirty="0">
                <a:effectLst/>
                <a:latin typeface="Times New Roman" panose="02020603050405020304" pitchFamily="18" charset="0"/>
                <a:ea typeface="Times New Roman" panose="02020603050405020304" pitchFamily="18" charset="0"/>
              </a:rPr>
              <a:t>Molte persone identificano la programmazione stessa con il concetto di algoritmo. In effetti una delle attività cardine della programmazione consiste proprio in questo, risolvere problemi eseguendo dei passi, anche se in realtà vedremo che la programmazione moderna non è fatta solo di algoritmi. Il concetto di algoritmo non è esclusivo del campo informatico, e può essere applicato ad ogni campo, anche nella vita di tutti i giorni. Un esempio reale di algoritmo sono i libretti di istruzioni di montaggio di un mobile. Con una serie di istruzioni da eseguire in sequenza, essi ci permettono di realizzare un mobile utilizzando oggetti vari (viti, assi di legno di diversa misura, vari attrezzi di lavoro etc.). In questo caso il </a:t>
            </a:r>
            <a:r>
              <a:rPr lang="it-IT" sz="1800" i="1" dirty="0">
                <a:effectLst/>
                <a:latin typeface="Times New Roman" panose="02020603050405020304" pitchFamily="18" charset="0"/>
                <a:ea typeface="Times New Roman" panose="02020603050405020304" pitchFamily="18" charset="0"/>
              </a:rPr>
              <a:t>problema</a:t>
            </a:r>
            <a:r>
              <a:rPr lang="it-IT" sz="1800" dirty="0">
                <a:effectLst/>
                <a:latin typeface="Times New Roman" panose="02020603050405020304" pitchFamily="18" charset="0"/>
                <a:ea typeface="Times New Roman" panose="02020603050405020304" pitchFamily="18" charset="0"/>
              </a:rPr>
              <a:t> è “costruire il mobile”, i </a:t>
            </a:r>
            <a:r>
              <a:rPr lang="it-IT" sz="1800" i="1" dirty="0">
                <a:effectLst/>
                <a:latin typeface="Times New Roman" panose="02020603050405020304" pitchFamily="18" charset="0"/>
                <a:ea typeface="Times New Roman" panose="02020603050405020304" pitchFamily="18" charset="0"/>
              </a:rPr>
              <a:t>dati</a:t>
            </a:r>
            <a:r>
              <a:rPr lang="it-IT" sz="1800" dirty="0">
                <a:effectLst/>
                <a:latin typeface="Times New Roman" panose="02020603050405020304" pitchFamily="18" charset="0"/>
                <a:ea typeface="Times New Roman" panose="02020603050405020304" pitchFamily="18" charset="0"/>
              </a:rPr>
              <a:t> sono i materiali che abbiamo a disposizione, l’</a:t>
            </a:r>
            <a:r>
              <a:rPr lang="it-IT" sz="1800" i="1" dirty="0">
                <a:effectLst/>
                <a:latin typeface="Times New Roman" panose="02020603050405020304" pitchFamily="18" charset="0"/>
                <a:ea typeface="Times New Roman" panose="02020603050405020304" pitchFamily="18" charset="0"/>
              </a:rPr>
              <a:t>algoritmo</a:t>
            </a:r>
            <a:r>
              <a:rPr lang="it-IT" sz="1800" dirty="0">
                <a:effectLst/>
                <a:latin typeface="Times New Roman" panose="02020603050405020304" pitchFamily="18" charset="0"/>
                <a:ea typeface="Times New Roman" panose="02020603050405020304" pitchFamily="18" charset="0"/>
              </a:rPr>
              <a:t> è rappresentato dal libretto d’istruzioni. Una volta definito l’algoritmo, risolvere il problema significa solo eseguire le istruzioni riportate in esso. Senza libretto d’istruzioni, e senza l’adeguata esperienza, non sarà facile montare il mobile, esattamente come nella programmazione non sarà facile creare un programma senza prima decidere quali attività eseguire.</a:t>
            </a:r>
          </a:p>
        </p:txBody>
      </p:sp>
      <p:sp>
        <p:nvSpPr>
          <p:cNvPr id="4" name="Segnaposto numero diapositiva 3"/>
          <p:cNvSpPr>
            <a:spLocks noGrp="1"/>
          </p:cNvSpPr>
          <p:nvPr>
            <p:ph type="sldNum" sz="quarter" idx="5"/>
          </p:nvPr>
        </p:nvSpPr>
        <p:spPr/>
        <p:txBody>
          <a:bodyPr/>
          <a:lstStyle/>
          <a:p>
            <a:fld id="{545D8BF2-49EE-4CE2-A2D7-61B744D1E4D9}" type="slidenum">
              <a:rPr lang="it-IT" smtClean="0"/>
              <a:t>60</a:t>
            </a:fld>
            <a:endParaRPr lang="it-IT"/>
          </a:p>
        </p:txBody>
      </p:sp>
    </p:spTree>
    <p:extLst>
      <p:ext uri="{BB962C8B-B14F-4D97-AF65-F5344CB8AC3E}">
        <p14:creationId xmlns:p14="http://schemas.microsoft.com/office/powerpoint/2010/main" val="205831076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Un </a:t>
            </a:r>
            <a:r>
              <a:rPr lang="it-IT" sz="1800" b="1" dirty="0">
                <a:effectLst/>
                <a:latin typeface="Times New Roman" panose="02020603050405020304" pitchFamily="18" charset="0"/>
                <a:ea typeface="Times New Roman" panose="02020603050405020304" pitchFamily="18" charset="0"/>
              </a:rPr>
              <a:t>algoritmo</a:t>
            </a:r>
            <a:r>
              <a:rPr lang="it-IT" sz="1800" dirty="0">
                <a:effectLst/>
                <a:latin typeface="Times New Roman" panose="02020603050405020304" pitchFamily="18" charset="0"/>
                <a:ea typeface="Times New Roman" panose="02020603050405020304" pitchFamily="18" charset="0"/>
              </a:rPr>
              <a:t> è una successione di istruzioni o passi che definiscono le operazioni da eseguire su dei </a:t>
            </a:r>
            <a:r>
              <a:rPr lang="it-IT" sz="1800" b="1" dirty="0">
                <a:effectLst/>
                <a:latin typeface="Times New Roman" panose="02020603050405020304" pitchFamily="18" charset="0"/>
                <a:ea typeface="Times New Roman" panose="02020603050405020304" pitchFamily="18" charset="0"/>
              </a:rPr>
              <a:t>dati</a:t>
            </a:r>
            <a:r>
              <a:rPr lang="it-IT" sz="1800" dirty="0">
                <a:effectLst/>
                <a:latin typeface="Times New Roman" panose="02020603050405020304" pitchFamily="18" charset="0"/>
                <a:ea typeface="Times New Roman" panose="02020603050405020304" pitchFamily="18" charset="0"/>
              </a:rPr>
              <a:t> per risolve un determinato </a:t>
            </a:r>
            <a:r>
              <a:rPr lang="it-IT" sz="1800" b="1" dirty="0">
                <a:effectLst/>
                <a:latin typeface="Times New Roman" panose="02020603050405020304" pitchFamily="18" charset="0"/>
                <a:ea typeface="Times New Roman" panose="02020603050405020304" pitchFamily="18" charset="0"/>
              </a:rPr>
              <a:t>problema</a:t>
            </a:r>
            <a:r>
              <a:rPr lang="it-IT" sz="1800" dirty="0">
                <a:effectLst/>
                <a:latin typeface="Times New Roman" panose="02020603050405020304" pitchFamily="18" charset="0"/>
                <a:ea typeface="Times New Roman" panose="02020603050405020304" pitchFamily="18" charset="0"/>
              </a:rPr>
              <a:t>. </a:t>
            </a:r>
          </a:p>
          <a:p>
            <a:r>
              <a:rPr lang="it-IT" sz="1800" dirty="0">
                <a:effectLst/>
                <a:latin typeface="Times New Roman" panose="02020603050405020304" pitchFamily="18" charset="0"/>
                <a:ea typeface="Times New Roman" panose="02020603050405020304" pitchFamily="18" charset="0"/>
              </a:rPr>
              <a:t>Molte persone identificano la programmazione stessa con il concetto di algoritmo. In effetti una delle attività cardine della programmazione consiste proprio in questo, risolvere problemi eseguendo dei passi, anche se in realtà vedremo che la programmazione moderna non è fatta solo di algoritmi. Il concetto di algoritmo non è esclusivo del campo informatico, e può essere applicato ad ogni campo, anche nella vita di tutti i giorni. Un esempio reale di algoritmo sono i libretti di istruzioni di montaggio di un mobile. Con una serie di istruzioni da eseguire in sequenza, essi ci permettono di realizzare un mobile utilizzando oggetti vari (viti, assi di legno di diversa misura, vari attrezzi di lavoro etc.). In questo caso il </a:t>
            </a:r>
            <a:r>
              <a:rPr lang="it-IT" sz="1800" i="1" dirty="0">
                <a:effectLst/>
                <a:latin typeface="Times New Roman" panose="02020603050405020304" pitchFamily="18" charset="0"/>
                <a:ea typeface="Times New Roman" panose="02020603050405020304" pitchFamily="18" charset="0"/>
              </a:rPr>
              <a:t>problema</a:t>
            </a:r>
            <a:r>
              <a:rPr lang="it-IT" sz="1800" dirty="0">
                <a:effectLst/>
                <a:latin typeface="Times New Roman" panose="02020603050405020304" pitchFamily="18" charset="0"/>
                <a:ea typeface="Times New Roman" panose="02020603050405020304" pitchFamily="18" charset="0"/>
              </a:rPr>
              <a:t> è “costruire il mobile”, i </a:t>
            </a:r>
            <a:r>
              <a:rPr lang="it-IT" sz="1800" i="1" dirty="0">
                <a:effectLst/>
                <a:latin typeface="Times New Roman" panose="02020603050405020304" pitchFamily="18" charset="0"/>
                <a:ea typeface="Times New Roman" panose="02020603050405020304" pitchFamily="18" charset="0"/>
              </a:rPr>
              <a:t>dati</a:t>
            </a:r>
            <a:r>
              <a:rPr lang="it-IT" sz="1800" dirty="0">
                <a:effectLst/>
                <a:latin typeface="Times New Roman" panose="02020603050405020304" pitchFamily="18" charset="0"/>
                <a:ea typeface="Times New Roman" panose="02020603050405020304" pitchFamily="18" charset="0"/>
              </a:rPr>
              <a:t> sono i materiali che abbiamo a disposizione, l’</a:t>
            </a:r>
            <a:r>
              <a:rPr lang="it-IT" sz="1800" i="1" dirty="0">
                <a:effectLst/>
                <a:latin typeface="Times New Roman" panose="02020603050405020304" pitchFamily="18" charset="0"/>
                <a:ea typeface="Times New Roman" panose="02020603050405020304" pitchFamily="18" charset="0"/>
              </a:rPr>
              <a:t>algoritmo</a:t>
            </a:r>
            <a:r>
              <a:rPr lang="it-IT" sz="1800" dirty="0">
                <a:effectLst/>
                <a:latin typeface="Times New Roman" panose="02020603050405020304" pitchFamily="18" charset="0"/>
                <a:ea typeface="Times New Roman" panose="02020603050405020304" pitchFamily="18" charset="0"/>
              </a:rPr>
              <a:t> è rappresentato dal libretto d’istruzioni. Una volta definito l’algoritmo, risolvere il problema significa solo eseguire le istruzioni riportate in esso. Senza libretto d’istruzioni, e senza l’adeguata esperienza, non sarà facile montare il mobile, esattamente come nella programmazione non sarà facile creare un programma senza prima decidere quali attività eseguire.</a:t>
            </a:r>
          </a:p>
        </p:txBody>
      </p:sp>
      <p:sp>
        <p:nvSpPr>
          <p:cNvPr id="4" name="Segnaposto numero diapositiva 3"/>
          <p:cNvSpPr>
            <a:spLocks noGrp="1"/>
          </p:cNvSpPr>
          <p:nvPr>
            <p:ph type="sldNum" sz="quarter" idx="5"/>
          </p:nvPr>
        </p:nvSpPr>
        <p:spPr/>
        <p:txBody>
          <a:bodyPr/>
          <a:lstStyle/>
          <a:p>
            <a:fld id="{545D8BF2-49EE-4CE2-A2D7-61B744D1E4D9}" type="slidenum">
              <a:rPr lang="it-IT" smtClean="0"/>
              <a:t>61</a:t>
            </a:fld>
            <a:endParaRPr lang="it-IT"/>
          </a:p>
        </p:txBody>
      </p:sp>
    </p:spTree>
    <p:extLst>
      <p:ext uri="{BB962C8B-B14F-4D97-AF65-F5344CB8AC3E}">
        <p14:creationId xmlns:p14="http://schemas.microsoft.com/office/powerpoint/2010/main" val="131850012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Nell’esempio del montaggio del mobile, è probabile che senza libretto di istruzioni (algoritmo), a meno di essere esperti nel campo, non riusciremmo a montare il mobile. Ma formulare un algoritmo, è utile anche quando siamo esperti nel dominio. Infatti la definizione di un algoritmo, potrebbe farci ottenere risultati migliori. </a:t>
            </a:r>
          </a:p>
        </p:txBody>
      </p:sp>
      <p:sp>
        <p:nvSpPr>
          <p:cNvPr id="4" name="Segnaposto numero diapositiva 3"/>
          <p:cNvSpPr>
            <a:spLocks noGrp="1"/>
          </p:cNvSpPr>
          <p:nvPr>
            <p:ph type="sldNum" sz="quarter" idx="5"/>
          </p:nvPr>
        </p:nvSpPr>
        <p:spPr/>
        <p:txBody>
          <a:bodyPr/>
          <a:lstStyle/>
          <a:p>
            <a:fld id="{545D8BF2-49EE-4CE2-A2D7-61B744D1E4D9}" type="slidenum">
              <a:rPr lang="it-IT" smtClean="0"/>
              <a:t>62</a:t>
            </a:fld>
            <a:endParaRPr lang="it-IT"/>
          </a:p>
        </p:txBody>
      </p:sp>
    </p:spTree>
    <p:extLst>
      <p:ext uri="{BB962C8B-B14F-4D97-AF65-F5344CB8AC3E}">
        <p14:creationId xmlns:p14="http://schemas.microsoft.com/office/powerpoint/2010/main" val="24022023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b="1" dirty="0">
                <a:effectLst/>
                <a:latin typeface="Times New Roman" panose="02020603050405020304" pitchFamily="18" charset="0"/>
                <a:ea typeface="Times New Roman" panose="02020603050405020304" pitchFamily="18" charset="0"/>
              </a:rPr>
              <a:t>Nell’esempio del montaggio del mobile, è probabile che senza libretto di istruzioni (algoritmo), a meno di essere esperti nel campo, non riusciremmo a montare il mobile. Ma formulare un algoritmo, è utile anche quando siamo esperti nel dominio. Infatti la definizione di un algoritmo, potrebbe farci ottenere risultati migliori. </a:t>
            </a:r>
          </a:p>
        </p:txBody>
      </p:sp>
      <p:sp>
        <p:nvSpPr>
          <p:cNvPr id="4" name="Segnaposto numero diapositiva 3"/>
          <p:cNvSpPr>
            <a:spLocks noGrp="1"/>
          </p:cNvSpPr>
          <p:nvPr>
            <p:ph type="sldNum" sz="quarter" idx="5"/>
          </p:nvPr>
        </p:nvSpPr>
        <p:spPr/>
        <p:txBody>
          <a:bodyPr/>
          <a:lstStyle/>
          <a:p>
            <a:fld id="{545D8BF2-49EE-4CE2-A2D7-61B744D1E4D9}" type="slidenum">
              <a:rPr lang="it-IT" smtClean="0"/>
              <a:t>63</a:t>
            </a:fld>
            <a:endParaRPr lang="it-IT"/>
          </a:p>
        </p:txBody>
      </p:sp>
    </p:spTree>
    <p:extLst>
      <p:ext uri="{BB962C8B-B14F-4D97-AF65-F5344CB8AC3E}">
        <p14:creationId xmlns:p14="http://schemas.microsoft.com/office/powerpoint/2010/main" val="16004655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b="1" dirty="0">
                <a:effectLst/>
                <a:latin typeface="Times New Roman" panose="02020603050405020304" pitchFamily="18" charset="0"/>
                <a:ea typeface="Times New Roman" panose="02020603050405020304" pitchFamily="18" charset="0"/>
              </a:rPr>
              <a:t>Anche se molto probabilmente non avete mai scritto un algoritmo per preparare una tazza di tè, deve essere chiaro che il precedente è solo uno dei tanti algoritmi possibili. Facciamo quindi qualche osservazione È probabile che nel preparare il tè direttamente senza algoritmi, i punti 1 e 2 sarebbero sostituiti con il seguente:</a:t>
            </a:r>
          </a:p>
          <a:p>
            <a:pPr marL="180340" indent="180340"/>
            <a:r>
              <a:rPr lang="it-IT" sz="1800" b="1" dirty="0">
                <a:effectLst/>
                <a:latin typeface="Times New Roman" panose="02020603050405020304" pitchFamily="18" charset="0"/>
                <a:ea typeface="MS Mincho" panose="02020609040205080304" pitchFamily="49" charset="-128"/>
              </a:rPr>
              <a:t>Riempire il bollitore elettrico con una quantità d’acqua quantomeno sufficiente a riempire la tazza come desiderato</a:t>
            </a:r>
          </a:p>
          <a:p>
            <a:r>
              <a:rPr lang="it-IT" sz="1800" b="1" dirty="0">
                <a:effectLst/>
                <a:latin typeface="Times New Roman" panose="02020603050405020304" pitchFamily="18" charset="0"/>
                <a:ea typeface="Times New Roman" panose="02020603050405020304" pitchFamily="18" charset="0"/>
              </a:rPr>
              <a:t>Anche i punti 4 e 5 forse sarebbero stati anticipati o forse posticipati. Con questo algoritmo invece, si è cercato di ottimizzare il livello dell’acqua desiderata ed eliminare gli sprechi con i punti 1 e 2. Inoltre abbiamo provato ad ottimizzare anche i tempi morti inserendo i punti 4 e 5, mentre aspettiamo che il bollitore faccia il proprio lavoro. Questo dovrebbe far pensare al fatto che la formalizzazione di un algoritmo, dà la possibilità di pensare a come ottimizzare le attività da eseguire. Se invece si prepara direttamente il tè senza avere un algoritmo da seguire, probabilmente ci si dovrebbe concentrare sulla pratica (prendere la tazza senza farla cadere, fare attenzione a non scottarsi con l’acqua calda etc.) e non si avrebbe il tempo e la concentrazione per ottimizzare la preparazione. È questo il punto fondamentale, creare un piano prima di eseguirlo. Anche quando si programma, inconsapevolmente il programmatore dedica parte delle sue risorse mentali ad altre attività correlate alla programmazione, come l’usare correttamente la tastiera, interagire con l’ambiente di sviluppo nella maniera più proficua, documentarsi sulle librerie da utilizzare e così via. Quindi conviene partire con le idee chiare.</a:t>
            </a:r>
          </a:p>
        </p:txBody>
      </p:sp>
      <p:sp>
        <p:nvSpPr>
          <p:cNvPr id="4" name="Segnaposto numero diapositiva 3"/>
          <p:cNvSpPr>
            <a:spLocks noGrp="1"/>
          </p:cNvSpPr>
          <p:nvPr>
            <p:ph type="sldNum" sz="quarter" idx="5"/>
          </p:nvPr>
        </p:nvSpPr>
        <p:spPr/>
        <p:txBody>
          <a:bodyPr/>
          <a:lstStyle/>
          <a:p>
            <a:fld id="{545D8BF2-49EE-4CE2-A2D7-61B744D1E4D9}" type="slidenum">
              <a:rPr lang="it-IT" smtClean="0"/>
              <a:t>64</a:t>
            </a:fld>
            <a:endParaRPr lang="it-IT"/>
          </a:p>
        </p:txBody>
      </p:sp>
    </p:spTree>
    <p:extLst>
      <p:ext uri="{BB962C8B-B14F-4D97-AF65-F5344CB8AC3E}">
        <p14:creationId xmlns:p14="http://schemas.microsoft.com/office/powerpoint/2010/main" val="241179982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sz="1800" b="1"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65</a:t>
            </a:fld>
            <a:endParaRPr lang="it-IT"/>
          </a:p>
        </p:txBody>
      </p:sp>
    </p:spTree>
    <p:extLst>
      <p:ext uri="{BB962C8B-B14F-4D97-AF65-F5344CB8AC3E}">
        <p14:creationId xmlns:p14="http://schemas.microsoft.com/office/powerpoint/2010/main" val="389441217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b="1" dirty="0">
                <a:effectLst/>
                <a:latin typeface="Times New Roman" panose="02020603050405020304" pitchFamily="18" charset="0"/>
                <a:ea typeface="Times New Roman" panose="02020603050405020304" pitchFamily="18" charset="0"/>
              </a:rPr>
              <a:t>La definizione di UML è molto astratta e complicata, quindi cercheremo di capirla direttamente utilizzandolo all’interno di questo libro per i nostri esempi. </a:t>
            </a:r>
          </a:p>
          <a:p>
            <a:pPr marL="0" marR="0" lvl="0" indent="0" algn="l" defTabSz="914400" rtl="0" eaLnBrk="1" fontAlgn="auto" latinLnBrk="0" hangingPunct="1">
              <a:lnSpc>
                <a:spcPct val="100000"/>
              </a:lnSpc>
              <a:spcBef>
                <a:spcPts val="0"/>
              </a:spcBef>
              <a:spcAft>
                <a:spcPts val="0"/>
              </a:spcAft>
              <a:buClrTx/>
              <a:buSzTx/>
              <a:buFontTx/>
              <a:buNone/>
              <a:tabLst/>
              <a:defRPr/>
            </a:pPr>
            <a:r>
              <a:rPr lang="it-IT" sz="1800" b="1" dirty="0">
                <a:solidFill>
                  <a:srgbClr val="000000"/>
                </a:solidFill>
                <a:effectLst/>
                <a:latin typeface="Times New Roman" panose="02020603050405020304" pitchFamily="18" charset="0"/>
                <a:ea typeface="Times New Roman" panose="02020603050405020304" pitchFamily="18" charset="0"/>
              </a:rPr>
              <a:t>Nell’approfondimento 4.5 troverete altre informazioni interessanti su UML.</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 breve possiamo dire che UML si può utilizzare in tanti modi diversi. Con UML si possono creare </a:t>
            </a:r>
            <a:r>
              <a:rPr lang="it-IT" sz="1800" b="1" dirty="0">
                <a:effectLst/>
                <a:latin typeface="Times New Roman" panose="02020603050405020304" pitchFamily="18" charset="0"/>
                <a:ea typeface="Times New Roman" panose="02020603050405020304" pitchFamily="18" charset="0"/>
              </a:rPr>
              <a:t>specifiche di implementazione</a:t>
            </a:r>
            <a:r>
              <a:rPr lang="it-IT" sz="1800" dirty="0">
                <a:effectLst/>
                <a:latin typeface="Times New Roman" panose="02020603050405020304" pitchFamily="18" charset="0"/>
                <a:ea typeface="Times New Roman" panose="02020603050405020304" pitchFamily="18" charset="0"/>
              </a:rPr>
              <a:t>, ovvero creare documenti talmente completi e precisi che dati nelle mani di un programmatore verranno trasformati in codice funzionante in breve tempo. Una situazione purtroppo rara, ma tutto sommato fattibile. Addirittura, l’obiettivo iniziale di UML era quello di diventare un </a:t>
            </a:r>
            <a:r>
              <a:rPr lang="it-IT" sz="1800" b="1" dirty="0">
                <a:effectLst/>
                <a:latin typeface="Times New Roman" panose="02020603050405020304" pitchFamily="18" charset="0"/>
                <a:ea typeface="Times New Roman" panose="02020603050405020304" pitchFamily="18" charset="0"/>
              </a:rPr>
              <a:t>linguaggio eseguibile</a:t>
            </a:r>
            <a:r>
              <a:rPr lang="it-IT" sz="1800" dirty="0">
                <a:effectLst/>
                <a:latin typeface="Times New Roman" panose="02020603050405020304" pitchFamily="18" charset="0"/>
                <a:ea typeface="Times New Roman" panose="02020603050405020304" pitchFamily="18" charset="0"/>
              </a:rPr>
              <a:t>: progettare soluzioni dettagliatissime senza essere distratti da un linguaggio di programmazione, e poi usare tool che trasformano i diagrammi in codice funzionante. Una promessa realizzata solo in parte nella realtà, e che somiglia ormai molto di più ad un’utopia.</a:t>
            </a:r>
          </a:p>
          <a:p>
            <a:r>
              <a:rPr lang="it-IT" sz="1800" b="1" dirty="0">
                <a:effectLst/>
                <a:latin typeface="Times New Roman" panose="02020603050405020304" pitchFamily="18" charset="0"/>
                <a:ea typeface="Times New Roman" panose="02020603050405020304" pitchFamily="18" charset="0"/>
              </a:rPr>
              <a:t>[ICONA LINK 4.6]</a:t>
            </a:r>
            <a:endParaRPr lang="it-IT" sz="1800" dirty="0">
              <a:effectLst/>
              <a:latin typeface="Times New Roman" panose="02020603050405020304" pitchFamily="18" charset="0"/>
              <a:ea typeface="Times New Roman" panose="02020603050405020304" pitchFamily="18" charset="0"/>
            </a:endParaRPr>
          </a:p>
          <a:p>
            <a:endParaRPr lang="it-IT" sz="1800" b="1"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66</a:t>
            </a:fld>
            <a:endParaRPr lang="it-IT"/>
          </a:p>
        </p:txBody>
      </p:sp>
    </p:spTree>
    <p:extLst>
      <p:ext uri="{BB962C8B-B14F-4D97-AF65-F5344CB8AC3E}">
        <p14:creationId xmlns:p14="http://schemas.microsoft.com/office/powerpoint/2010/main" val="236272696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UML definisce diversi diagrammi (vedremo solo i più utilizzati) all’interno dei quali vengono utilizzati elementi grafici elementari. Possiamo dividerli in due tipologie: i diagrammi statici e i diagrammi dinamici. Per esempio un algoritmo, che descrive una funzionalità del sistema, può essere rappresentato proprio con un </a:t>
            </a:r>
            <a:r>
              <a:rPr lang="it-IT" sz="1800" b="1" dirty="0">
                <a:effectLst/>
                <a:latin typeface="Times New Roman" panose="02020603050405020304" pitchFamily="18" charset="0"/>
                <a:ea typeface="Times New Roman" panose="02020603050405020304" pitchFamily="18" charset="0"/>
              </a:rPr>
              <a:t>diagramma di attività</a:t>
            </a:r>
            <a:r>
              <a:rPr lang="it-IT" sz="1800" dirty="0">
                <a:effectLst/>
                <a:latin typeface="Times New Roman" panose="02020603050405020304" pitchFamily="18" charset="0"/>
                <a:ea typeface="Times New Roman" panose="02020603050405020304" pitchFamily="18" charset="0"/>
              </a:rPr>
              <a:t> UML (</a:t>
            </a:r>
            <a:r>
              <a:rPr lang="it-IT" sz="1800" b="1" dirty="0">
                <a:effectLst/>
                <a:latin typeface="Times New Roman" panose="02020603050405020304" pitchFamily="18" charset="0"/>
                <a:ea typeface="Times New Roman" panose="02020603050405020304" pitchFamily="18" charset="0"/>
              </a:rPr>
              <a:t>activity diagram</a:t>
            </a:r>
            <a:r>
              <a:rPr lang="it-IT" sz="1800" dirty="0">
                <a:effectLst/>
                <a:latin typeface="Times New Roman" panose="02020603050405020304" pitchFamily="18" charset="0"/>
                <a:ea typeface="Times New Roman" panose="02020603050405020304" pitchFamily="18" charset="0"/>
              </a:rPr>
              <a:t>). Per esempio nella figura 4.1, è rappresentato un algoritmo semplificato che mostra come suonare una scala con uno strumento musicale leggendo da uno spartito.</a:t>
            </a:r>
          </a:p>
          <a:p>
            <a:r>
              <a:rPr lang="it-IT" sz="1800" dirty="0">
                <a:solidFill>
                  <a:srgbClr val="000080"/>
                </a:solidFill>
                <a:effectLst/>
                <a:latin typeface="Times New Roman" panose="02020603050405020304" pitchFamily="18" charset="0"/>
                <a:ea typeface="Times New Roman" panose="02020603050405020304" pitchFamily="18" charset="0"/>
              </a:rPr>
              <a:t>Figura 4.1 - Activity Diagram “Suonare una scala”.</a:t>
            </a:r>
          </a:p>
          <a:p>
            <a:r>
              <a:rPr lang="it-IT" sz="1800" dirty="0">
                <a:effectLst/>
                <a:latin typeface="Times New Roman" panose="02020603050405020304" pitchFamily="18" charset="0"/>
                <a:ea typeface="Times New Roman" panose="02020603050405020304" pitchFamily="18" charset="0"/>
              </a:rPr>
              <a:t>La notazione è molto semplice ed intuitiva. Il cerchio nero, rappresenta il punto di inizio dell’attività, il cerchio bianco con all’interno il cerchio nero concentrico, rappresenta la fine dell’attività. Gli ovali rappresentano le attività vere e proprie, il rombo rappresenta una condizione (in questo caso la condizione di un ciclo), le frecce rappresentano le transizioni che portano da un elemento del diagramma ad un altro. </a:t>
            </a:r>
          </a:p>
          <a:p>
            <a:r>
              <a:rPr lang="it-IT" sz="1800" b="1" dirty="0">
                <a:effectLst/>
                <a:latin typeface="Times New Roman" panose="02020603050405020304" pitchFamily="18" charset="0"/>
                <a:ea typeface="Times New Roman" panose="02020603050405020304" pitchFamily="18" charset="0"/>
              </a:rPr>
              <a:t>[ICONA APPROFONDIMENTO 4.7]</a:t>
            </a:r>
            <a:endParaRPr lang="it-IT" sz="1800" dirty="0">
              <a:effectLst/>
              <a:latin typeface="Times New Roman" panose="02020603050405020304" pitchFamily="18" charset="0"/>
              <a:ea typeface="Times New Roman" panose="02020603050405020304" pitchFamily="18" charset="0"/>
            </a:endParaRPr>
          </a:p>
        </p:txBody>
      </p:sp>
      <p:sp>
        <p:nvSpPr>
          <p:cNvPr id="4" name="Segnaposto numero diapositiva 3"/>
          <p:cNvSpPr>
            <a:spLocks noGrp="1"/>
          </p:cNvSpPr>
          <p:nvPr>
            <p:ph type="sldNum" sz="quarter" idx="5"/>
          </p:nvPr>
        </p:nvSpPr>
        <p:spPr/>
        <p:txBody>
          <a:bodyPr/>
          <a:lstStyle/>
          <a:p>
            <a:fld id="{545D8BF2-49EE-4CE2-A2D7-61B744D1E4D9}" type="slidenum">
              <a:rPr lang="it-IT" smtClean="0"/>
              <a:t>67</a:t>
            </a:fld>
            <a:endParaRPr lang="it-IT"/>
          </a:p>
        </p:txBody>
      </p:sp>
    </p:spTree>
    <p:extLst>
      <p:ext uri="{BB962C8B-B14F-4D97-AF65-F5344CB8AC3E}">
        <p14:creationId xmlns:p14="http://schemas.microsoft.com/office/powerpoint/2010/main" val="227941994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Java è a </a:t>
            </a:r>
            <a:r>
              <a:rPr lang="it-IT" sz="1800" b="1" dirty="0">
                <a:effectLst/>
                <a:latin typeface="Times New Roman" panose="02020603050405020304" pitchFamily="18" charset="0"/>
                <a:ea typeface="Times New Roman" panose="02020603050405020304" pitchFamily="18" charset="0"/>
              </a:rPr>
              <a:t>schema libero</a:t>
            </a:r>
            <a:r>
              <a:rPr lang="it-IT" sz="1800" dirty="0">
                <a:effectLst/>
                <a:latin typeface="Times New Roman" panose="02020603050405020304" pitchFamily="18" charset="0"/>
                <a:ea typeface="Times New Roman" panose="02020603050405020304" pitchFamily="18" charset="0"/>
              </a:rPr>
              <a:t> ma l’indentazione del codice è fondamentale per la leggibilità dei nostri programmi. Supporta tre tipologie di </a:t>
            </a:r>
            <a:r>
              <a:rPr lang="it-IT" sz="1800" b="1" dirty="0">
                <a:effectLst/>
                <a:latin typeface="Times New Roman" panose="02020603050405020304" pitchFamily="18" charset="0"/>
                <a:ea typeface="Times New Roman" panose="02020603050405020304" pitchFamily="18" charset="0"/>
              </a:rPr>
              <a:t>commenti</a:t>
            </a:r>
            <a:r>
              <a:rPr lang="it-IT" sz="1800" dirty="0">
                <a:effectLst/>
                <a:latin typeface="Times New Roman" panose="02020603050405020304" pitchFamily="18" charset="0"/>
                <a:ea typeface="Times New Roman" panose="02020603050405020304" pitchFamily="18" charset="0"/>
              </a:rPr>
              <a:t> (a singola </a:t>
            </a:r>
            <a:r>
              <a:rPr lang="it-IT" sz="1800" b="1" dirty="0">
                <a:effectLst/>
                <a:latin typeface="Times New Roman" panose="02020603050405020304" pitchFamily="18" charset="0"/>
                <a:ea typeface="Times New Roman" panose="02020603050405020304" pitchFamily="18" charset="0"/>
              </a:rPr>
              <a:t>linea</a:t>
            </a:r>
            <a:r>
              <a:rPr lang="it-IT" sz="1800" dirty="0">
                <a:effectLst/>
                <a:latin typeface="Times New Roman" panose="02020603050405020304" pitchFamily="18" charset="0"/>
                <a:ea typeface="Times New Roman" panose="02020603050405020304" pitchFamily="18" charset="0"/>
              </a:rPr>
              <a:t>, </a:t>
            </a:r>
            <a:r>
              <a:rPr lang="it-IT" sz="1800" b="1" dirty="0">
                <a:effectLst/>
                <a:latin typeface="Times New Roman" panose="02020603050405020304" pitchFamily="18" charset="0"/>
                <a:ea typeface="Times New Roman" panose="02020603050405020304" pitchFamily="18" charset="0"/>
              </a:rPr>
              <a:t>multilinea</a:t>
            </a:r>
            <a:r>
              <a:rPr lang="it-IT" sz="1800" dirty="0">
                <a:effectLst/>
                <a:latin typeface="Times New Roman" panose="02020603050405020304" pitchFamily="18" charset="0"/>
                <a:ea typeface="Times New Roman" panose="02020603050405020304" pitchFamily="18" charset="0"/>
              </a:rPr>
              <a:t> e </a:t>
            </a:r>
            <a:r>
              <a:rPr lang="it-IT" sz="1800" b="1" dirty="0">
                <a:effectLst/>
                <a:latin typeface="Times New Roman" panose="02020603050405020304" pitchFamily="18" charset="0"/>
                <a:ea typeface="Times New Roman" panose="02020603050405020304" pitchFamily="18" charset="0"/>
              </a:rPr>
              <a:t>Javadoc</a:t>
            </a:r>
            <a:r>
              <a:rPr lang="it-IT" sz="1800" dirty="0">
                <a:effectLst/>
                <a:latin typeface="Times New Roman" panose="02020603050405020304" pitchFamily="18" charset="0"/>
                <a:ea typeface="Times New Roman" panose="02020603050405020304" pitchFamily="18" charset="0"/>
              </a:rPr>
              <a:t>). È un linguaggio </a:t>
            </a:r>
            <a:r>
              <a:rPr lang="it-IT" sz="1800" b="1" dirty="0">
                <a:effectLst/>
                <a:latin typeface="Times New Roman" panose="02020603050405020304" pitchFamily="18" charset="0"/>
                <a:ea typeface="Times New Roman" panose="02020603050405020304" pitchFamily="18" charset="0"/>
              </a:rPr>
              <a:t>case sensitive</a:t>
            </a:r>
            <a:r>
              <a:rPr lang="it-IT" sz="1800" dirty="0">
                <a:effectLst/>
                <a:latin typeface="Times New Roman" panose="02020603050405020304" pitchFamily="18" charset="0"/>
                <a:ea typeface="Times New Roman" panose="02020603050405020304" pitchFamily="18" charset="0"/>
              </a:rPr>
              <a:t> e definisce </a:t>
            </a:r>
            <a:r>
              <a:rPr lang="it-IT" sz="1800" b="1" dirty="0">
                <a:effectLst/>
                <a:latin typeface="Times New Roman" panose="02020603050405020304" pitchFamily="18" charset="0"/>
                <a:ea typeface="Times New Roman" panose="02020603050405020304" pitchFamily="18" charset="0"/>
              </a:rPr>
              <a:t>parole chiave</a:t>
            </a:r>
            <a:r>
              <a:rPr lang="it-IT" sz="1800" dirty="0">
                <a:effectLst/>
                <a:latin typeface="Times New Roman" panose="02020603050405020304" pitchFamily="18" charset="0"/>
                <a:ea typeface="Times New Roman" panose="02020603050405020304" pitchFamily="18" charset="0"/>
              </a:rPr>
              <a:t> e </a:t>
            </a:r>
            <a:r>
              <a:rPr lang="it-IT" sz="1800" b="1" dirty="0">
                <a:effectLst/>
                <a:latin typeface="Times New Roman" panose="02020603050405020304" pitchFamily="18" charset="0"/>
                <a:ea typeface="Times New Roman" panose="02020603050405020304" pitchFamily="18" charset="0"/>
              </a:rPr>
              <a:t>parole riservate</a:t>
            </a:r>
            <a:r>
              <a:rPr lang="it-IT" sz="1800" dirty="0">
                <a:effectLst/>
                <a:latin typeface="Times New Roman" panose="02020603050405020304" pitchFamily="18" charset="0"/>
                <a:ea typeface="Times New Roman" panose="02020603050405020304" pitchFamily="18" charset="0"/>
              </a:rPr>
              <a:t> che non possono essere usate come </a:t>
            </a:r>
            <a:r>
              <a:rPr lang="it-IT" sz="1800" b="1" dirty="0">
                <a:effectLst/>
                <a:latin typeface="Times New Roman" panose="02020603050405020304" pitchFamily="18" charset="0"/>
                <a:ea typeface="Times New Roman" panose="02020603050405020304" pitchFamily="18" charset="0"/>
              </a:rPr>
              <a:t>identificatori</a:t>
            </a:r>
            <a:r>
              <a:rPr lang="it-IT" sz="1800" dirty="0">
                <a:effectLst/>
                <a:latin typeface="Times New Roman" panose="02020603050405020304" pitchFamily="18" charset="0"/>
                <a:ea typeface="Times New Roman" panose="02020603050405020304" pitchFamily="18" charset="0"/>
              </a:rPr>
              <a:t> e </a:t>
            </a:r>
            <a:r>
              <a:rPr lang="it-IT" sz="1800" b="1" dirty="0">
                <a:effectLst/>
                <a:latin typeface="Times New Roman" panose="02020603050405020304" pitchFamily="18" charset="0"/>
                <a:ea typeface="Times New Roman" panose="02020603050405020304" pitchFamily="18" charset="0"/>
              </a:rPr>
              <a:t>parole a utilizzo limitate</a:t>
            </a:r>
            <a:r>
              <a:rPr lang="it-IT" sz="1800" dirty="0">
                <a:effectLst/>
                <a:latin typeface="Times New Roman" panose="02020603050405020304" pitchFamily="18" charset="0"/>
                <a:ea typeface="Times New Roman" panose="02020603050405020304" pitchFamily="18" charset="0"/>
              </a:rPr>
              <a:t> e un </a:t>
            </a:r>
            <a:r>
              <a:rPr lang="it-IT" sz="1800" b="1" dirty="0">
                <a:effectLst/>
                <a:latin typeface="Times New Roman" panose="02020603050405020304" pitchFamily="18" charset="0"/>
                <a:ea typeface="Times New Roman" panose="02020603050405020304" pitchFamily="18" charset="0"/>
              </a:rPr>
              <a:t>nome di tipo riservato</a:t>
            </a:r>
            <a:r>
              <a:rPr lang="it-IT" sz="1800" dirty="0">
                <a:effectLst/>
                <a:latin typeface="Times New Roman" panose="02020603050405020304" pitchFamily="18" charset="0"/>
                <a:ea typeface="Times New Roman" panose="02020603050405020304" pitchFamily="18" charset="0"/>
              </a:rPr>
              <a:t> che in alcuni casi non possono essere usate come </a:t>
            </a:r>
            <a:r>
              <a:rPr lang="it-IT" sz="1800" b="0" dirty="0">
                <a:effectLst/>
                <a:latin typeface="Times New Roman" panose="02020603050405020304" pitchFamily="18" charset="0"/>
                <a:ea typeface="Times New Roman" panose="02020603050405020304" pitchFamily="18" charset="0"/>
              </a:rPr>
              <a:t>identificatori</a:t>
            </a:r>
            <a:r>
              <a:rPr lang="it-IT" sz="1800" dirty="0">
                <a:effectLst/>
                <a:latin typeface="Times New Roman" panose="02020603050405020304" pitchFamily="18" charset="0"/>
                <a:ea typeface="Times New Roman" panose="02020603050405020304" pitchFamily="18" charset="0"/>
              </a:rPr>
              <a:t>. Questi possono essere composti solo da determinati </a:t>
            </a:r>
            <a:r>
              <a:rPr lang="it-IT" sz="1800" b="1" dirty="0">
                <a:effectLst/>
                <a:latin typeface="Times New Roman" panose="02020603050405020304" pitchFamily="18" charset="0"/>
                <a:ea typeface="Times New Roman" panose="02020603050405020304" pitchFamily="18" charset="0"/>
              </a:rPr>
              <a:t>caratteri e simboli</a:t>
            </a:r>
            <a:r>
              <a:rPr lang="it-IT" sz="1800" dirty="0">
                <a:effectLst/>
                <a:latin typeface="Times New Roman" panose="02020603050405020304" pitchFamily="18" charset="0"/>
                <a:ea typeface="Times New Roman" panose="02020603050405020304" pitchFamily="18" charset="0"/>
              </a:rPr>
              <a:t> e vanno dichiarati rispettando le </a:t>
            </a:r>
            <a:r>
              <a:rPr lang="it-IT" sz="1800" b="1" dirty="0">
                <a:effectLst/>
                <a:latin typeface="Times New Roman" panose="02020603050405020304" pitchFamily="18" charset="0"/>
                <a:ea typeface="Times New Roman" panose="02020603050405020304" pitchFamily="18" charset="0"/>
              </a:rPr>
              <a:t>convenzioni standard</a:t>
            </a:r>
            <a:r>
              <a:rPr lang="it-IT" sz="1800" dirty="0">
                <a:effectLst/>
                <a:latin typeface="Times New Roman" panose="02020603050405020304" pitchFamily="18" charset="0"/>
                <a:ea typeface="Times New Roman" panose="02020603050405020304" pitchFamily="18" charset="0"/>
              </a:rPr>
              <a:t> di Java.</a:t>
            </a:r>
          </a:p>
          <a:p>
            <a:r>
              <a:rPr lang="it-IT" sz="1800" dirty="0">
                <a:effectLst/>
                <a:latin typeface="Times New Roman" panose="02020603050405020304" pitchFamily="18" charset="0"/>
                <a:ea typeface="Times New Roman" panose="02020603050405020304" pitchFamily="18" charset="0"/>
              </a:rPr>
              <a:t>La memoria è una sequenza di unità di memoria dette </a:t>
            </a:r>
            <a:r>
              <a:rPr lang="it-IT" sz="1800" b="1" dirty="0">
                <a:effectLst/>
                <a:latin typeface="Times New Roman" panose="02020603050405020304" pitchFamily="18" charset="0"/>
                <a:ea typeface="Times New Roman" panose="02020603050405020304" pitchFamily="18" charset="0"/>
              </a:rPr>
              <a:t>byte</a:t>
            </a:r>
            <a:r>
              <a:rPr lang="it-IT" sz="1800" dirty="0">
                <a:effectLst/>
                <a:latin typeface="Times New Roman" panose="02020603050405020304" pitchFamily="18" charset="0"/>
                <a:ea typeface="Times New Roman" panose="02020603050405020304" pitchFamily="18" charset="0"/>
              </a:rPr>
              <a:t>. Ogni byte è composto da 8 </a:t>
            </a:r>
            <a:r>
              <a:rPr lang="it-IT" sz="1800" b="1" dirty="0">
                <a:effectLst/>
                <a:latin typeface="Times New Roman" panose="02020603050405020304" pitchFamily="18" charset="0"/>
                <a:ea typeface="Times New Roman" panose="02020603050405020304" pitchFamily="18" charset="0"/>
              </a:rPr>
              <a:t>bit</a:t>
            </a:r>
            <a:r>
              <a:rPr lang="it-IT" sz="1800" dirty="0">
                <a:effectLst/>
                <a:latin typeface="Times New Roman" panose="02020603050405020304" pitchFamily="18" charset="0"/>
                <a:ea typeface="Times New Roman" panose="02020603050405020304" pitchFamily="18" charset="0"/>
              </a:rPr>
              <a:t> ed ogni bit può immagazzinare un unico valore tra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a:t>
            </a:r>
          </a:p>
          <a:p>
            <a:r>
              <a:rPr lang="it-IT" sz="1800" dirty="0">
                <a:effectLst/>
                <a:latin typeface="Times New Roman" panose="02020603050405020304" pitchFamily="18" charset="0"/>
                <a:ea typeface="Times New Roman" panose="02020603050405020304" pitchFamily="18" charset="0"/>
              </a:rPr>
              <a:t>I sistemi numerici </a:t>
            </a:r>
            <a:r>
              <a:rPr lang="it-IT" sz="1800" b="1" dirty="0">
                <a:effectLst/>
                <a:latin typeface="Times New Roman" panose="02020603050405020304" pitchFamily="18" charset="0"/>
                <a:ea typeface="Times New Roman" panose="02020603050405020304" pitchFamily="18" charset="0"/>
              </a:rPr>
              <a:t>decimale</a:t>
            </a:r>
            <a:r>
              <a:rPr lang="it-IT" sz="1800" dirty="0">
                <a:effectLst/>
                <a:latin typeface="Times New Roman" panose="02020603050405020304" pitchFamily="18" charset="0"/>
                <a:ea typeface="Times New Roman" panose="02020603050405020304" pitchFamily="18" charset="0"/>
              </a:rPr>
              <a:t>, </a:t>
            </a:r>
            <a:r>
              <a:rPr lang="it-IT" sz="1800" b="1" dirty="0">
                <a:effectLst/>
                <a:latin typeface="Times New Roman" panose="02020603050405020304" pitchFamily="18" charset="0"/>
                <a:ea typeface="Times New Roman" panose="02020603050405020304" pitchFamily="18" charset="0"/>
              </a:rPr>
              <a:t>binario</a:t>
            </a:r>
            <a:r>
              <a:rPr lang="it-IT" sz="1800" dirty="0">
                <a:effectLst/>
                <a:latin typeface="Times New Roman" panose="02020603050405020304" pitchFamily="18" charset="0"/>
                <a:ea typeface="Times New Roman" panose="02020603050405020304" pitchFamily="18" charset="0"/>
              </a:rPr>
              <a:t>, </a:t>
            </a:r>
            <a:r>
              <a:rPr lang="it-IT" sz="1800" b="1" dirty="0">
                <a:effectLst/>
                <a:latin typeface="Times New Roman" panose="02020603050405020304" pitchFamily="18" charset="0"/>
                <a:ea typeface="Times New Roman" panose="02020603050405020304" pitchFamily="18" charset="0"/>
              </a:rPr>
              <a:t>ottale</a:t>
            </a:r>
            <a:r>
              <a:rPr lang="it-IT" sz="1800" dirty="0">
                <a:effectLst/>
                <a:latin typeface="Times New Roman" panose="02020603050405020304" pitchFamily="18" charset="0"/>
                <a:ea typeface="Times New Roman" panose="02020603050405020304" pitchFamily="18" charset="0"/>
              </a:rPr>
              <a:t> ed </a:t>
            </a:r>
            <a:r>
              <a:rPr lang="it-IT" sz="1800" b="1" dirty="0">
                <a:effectLst/>
                <a:latin typeface="Times New Roman" panose="02020603050405020304" pitchFamily="18" charset="0"/>
                <a:ea typeface="Times New Roman" panose="02020603050405020304" pitchFamily="18" charset="0"/>
              </a:rPr>
              <a:t>esadecimale</a:t>
            </a:r>
            <a:r>
              <a:rPr lang="it-IT" sz="1800" dirty="0">
                <a:effectLst/>
                <a:latin typeface="Times New Roman" panose="02020603050405020304" pitchFamily="18" charset="0"/>
                <a:ea typeface="Times New Roman" panose="02020603050405020304" pitchFamily="18" charset="0"/>
              </a:rPr>
              <a:t> sono sistemi posizionali e possono rappresentare qualsiasi dato intero. Java usa il metodo di rappresentazione noto come </a:t>
            </a:r>
            <a:r>
              <a:rPr lang="it-IT" sz="1800" b="1" dirty="0">
                <a:effectLst/>
                <a:latin typeface="Times New Roman" panose="02020603050405020304" pitchFamily="18" charset="0"/>
                <a:ea typeface="Times New Roman" panose="02020603050405020304" pitchFamily="18" charset="0"/>
              </a:rPr>
              <a:t>complemento a due</a:t>
            </a:r>
            <a:r>
              <a:rPr lang="it-IT" sz="1800" dirty="0">
                <a:effectLst/>
                <a:latin typeface="Times New Roman" panose="02020603050405020304" pitchFamily="18" charset="0"/>
                <a:ea typeface="Times New Roman" panose="02020603050405020304" pitchFamily="18" charset="0"/>
              </a:rPr>
              <a:t> per la rappresentazione dei numeri con segno. All’interno di un byte il </a:t>
            </a:r>
            <a:r>
              <a:rPr lang="it-IT" sz="1800" b="1" dirty="0">
                <a:effectLst/>
                <a:latin typeface="Times New Roman" panose="02020603050405020304" pitchFamily="18" charset="0"/>
                <a:ea typeface="Times New Roman" panose="02020603050405020304" pitchFamily="18" charset="0"/>
              </a:rPr>
              <a:t>bit del segno</a:t>
            </a:r>
            <a:r>
              <a:rPr lang="it-IT" sz="1800" dirty="0">
                <a:effectLst/>
                <a:latin typeface="Times New Roman" panose="02020603050405020304" pitchFamily="18" charset="0"/>
                <a:ea typeface="Times New Roman" panose="02020603050405020304" pitchFamily="18" charset="0"/>
              </a:rPr>
              <a:t> conterrà il valore del segno del numero, e ogni byte potrà rappresentare un numero compreso tra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-128</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127</a:t>
            </a:r>
            <a:r>
              <a:rPr lang="it-IT" sz="1800" dirty="0">
                <a:effectLst/>
                <a:latin typeface="Times New Roman" panose="02020603050405020304" pitchFamily="18" charset="0"/>
                <a:ea typeface="Times New Roman" panose="02020603050405020304" pitchFamily="18" charset="0"/>
              </a:rPr>
              <a:t>. I byte hanno un </a:t>
            </a:r>
            <a:r>
              <a:rPr lang="it-IT" sz="1800" b="1" dirty="0">
                <a:effectLst/>
                <a:latin typeface="Times New Roman" panose="02020603050405020304" pitchFamily="18" charset="0"/>
                <a:ea typeface="Times New Roman" panose="02020603050405020304" pitchFamily="18" charset="0"/>
              </a:rPr>
              <a:t>indirizzo</a:t>
            </a:r>
            <a:r>
              <a:rPr lang="it-IT" sz="1800" dirty="0">
                <a:effectLst/>
                <a:latin typeface="Times New Roman" panose="02020603050405020304" pitchFamily="18" charset="0"/>
                <a:ea typeface="Times New Roman" panose="02020603050405020304" pitchFamily="18" charset="0"/>
              </a:rPr>
              <a:t> che il programma usa per salvare e recuperare successivamente i dati in maniera performante. Un numero maggiore di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127</a:t>
            </a:r>
            <a:r>
              <a:rPr lang="it-IT" sz="1800" dirty="0">
                <a:effectLst/>
                <a:latin typeface="Times New Roman" panose="02020603050405020304" pitchFamily="18" charset="0"/>
                <a:ea typeface="Times New Roman" panose="02020603050405020304" pitchFamily="18" charset="0"/>
              </a:rPr>
              <a:t> o minore di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-128</a:t>
            </a:r>
            <a:r>
              <a:rPr lang="it-IT" sz="1800" dirty="0">
                <a:effectLst/>
                <a:latin typeface="Times New Roman" panose="02020603050405020304" pitchFamily="18" charset="0"/>
                <a:ea typeface="Times New Roman" panose="02020603050405020304" pitchFamily="18" charset="0"/>
              </a:rPr>
              <a:t> sarà immagazzinato in più byte adiacenti.</a:t>
            </a:r>
          </a:p>
          <a:p>
            <a:r>
              <a:rPr lang="it-IT" sz="1800" dirty="0">
                <a:effectLst/>
                <a:latin typeface="Times New Roman" panose="02020603050405020304" pitchFamily="18" charset="0"/>
                <a:ea typeface="Times New Roman" panose="02020603050405020304" pitchFamily="18" charset="0"/>
              </a:rPr>
              <a:t>I </a:t>
            </a:r>
            <a:r>
              <a:rPr lang="it-IT" sz="1800" b="1" dirty="0">
                <a:effectLst/>
                <a:latin typeface="Times New Roman" panose="02020603050405020304" pitchFamily="18" charset="0"/>
                <a:ea typeface="Times New Roman" panose="02020603050405020304" pitchFamily="18" charset="0"/>
              </a:rPr>
              <a:t>tipi interi</a:t>
            </a:r>
            <a:r>
              <a:rPr lang="it-IT" sz="1800" dirty="0">
                <a:effectLst/>
                <a:latin typeface="Times New Roman" panose="02020603050405020304" pitchFamily="18" charset="0"/>
                <a:ea typeface="Times New Roman" panose="02020603050405020304" pitchFamily="18" charset="0"/>
              </a:rPr>
              <a:t> sono quattro, e differiscono non per funzionalità ma solo per come vengono immagazzinati in memoria. Il più utilizzato è indubbiamente </a:t>
            </a:r>
            <a:r>
              <a:rPr lang="it-IT" sz="1800" b="1" dirty="0" err="1">
                <a:effectLst/>
                <a:latin typeface="Times New Roman" panose="02020603050405020304" pitchFamily="18" charset="0"/>
                <a:ea typeface="Times New Roman" panose="02020603050405020304" pitchFamily="18" charset="0"/>
              </a:rPr>
              <a:t>l’</a:t>
            </a:r>
            <a:r>
              <a:rPr lang="it-IT" sz="1800" b="1" dirty="0" err="1">
                <a:effectLst/>
                <a:latin typeface="Courier New" panose="02070309020205020404" pitchFamily="49" charset="0"/>
                <a:ea typeface="MS Mincho" panose="02020609040205080304" pitchFamily="49" charset="-128"/>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 che è a 32 bit. Meno utilizzati ci sono il </a:t>
            </a:r>
            <a:r>
              <a:rPr lang="it-IT" sz="1800" b="1" dirty="0">
                <a:effectLst/>
                <a:latin typeface="Courier New" panose="02070309020205020404" pitchFamily="49" charset="0"/>
                <a:ea typeface="MS Mincho" panose="02020609040205080304" pitchFamily="49" charset="-128"/>
                <a:cs typeface="Courier New" panose="02070309020205020404" pitchFamily="49" charset="0"/>
              </a:rPr>
              <a:t>byte</a:t>
            </a:r>
            <a:r>
              <a:rPr lang="it-IT" sz="1800" dirty="0">
                <a:effectLst/>
                <a:latin typeface="Times New Roman" panose="02020603050405020304" pitchFamily="18" charset="0"/>
                <a:ea typeface="Times New Roman" panose="02020603050405020304" pitchFamily="18" charset="0"/>
              </a:rPr>
              <a:t> (8 bit), lo </a:t>
            </a:r>
            <a:r>
              <a:rPr lang="it-IT" sz="1800" b="1" dirty="0">
                <a:effectLst/>
                <a:latin typeface="Courier New" panose="02070309020205020404" pitchFamily="49" charset="0"/>
                <a:ea typeface="MS Mincho" panose="02020609040205080304" pitchFamily="49" charset="-128"/>
                <a:cs typeface="Courier New" panose="02070309020205020404" pitchFamily="49" charset="0"/>
              </a:rPr>
              <a:t>short</a:t>
            </a:r>
            <a:r>
              <a:rPr lang="it-IT" sz="1800" dirty="0">
                <a:effectLst/>
                <a:latin typeface="Times New Roman" panose="02020603050405020304" pitchFamily="18" charset="0"/>
                <a:ea typeface="Times New Roman" panose="02020603050405020304" pitchFamily="18" charset="0"/>
              </a:rPr>
              <a:t> (16 bit) e il </a:t>
            </a:r>
            <a:r>
              <a:rPr lang="it-IT" sz="1800" b="1" dirty="0">
                <a:effectLst/>
                <a:latin typeface="Courier New" panose="02070309020205020404" pitchFamily="49" charset="0"/>
                <a:ea typeface="MS Mincho" panose="02020609040205080304" pitchFamily="49" charset="-128"/>
                <a:cs typeface="Courier New" panose="02070309020205020404" pitchFamily="49" charset="0"/>
              </a:rPr>
              <a:t>long</a:t>
            </a:r>
            <a:r>
              <a:rPr lang="it-IT" sz="1800" dirty="0">
                <a:effectLst/>
                <a:latin typeface="Times New Roman" panose="02020603050405020304" pitchFamily="18" charset="0"/>
                <a:ea typeface="Times New Roman" panose="02020603050405020304" pitchFamily="18" charset="0"/>
              </a:rPr>
              <a:t> (a 64 bit).</a:t>
            </a:r>
          </a:p>
          <a:p>
            <a:r>
              <a:rPr lang="it-IT" sz="1800" dirty="0">
                <a:effectLst/>
                <a:latin typeface="Times New Roman" panose="02020603050405020304" pitchFamily="18" charset="0"/>
                <a:ea typeface="Times New Roman" panose="02020603050405020304" pitchFamily="18" charset="0"/>
              </a:rPr>
              <a:t>I </a:t>
            </a:r>
            <a:r>
              <a:rPr lang="it-IT" sz="1800" b="1" dirty="0">
                <a:effectLst/>
                <a:latin typeface="Times New Roman" panose="02020603050405020304" pitchFamily="18" charset="0"/>
                <a:ea typeface="Times New Roman" panose="02020603050405020304" pitchFamily="18" charset="0"/>
              </a:rPr>
              <a:t>tipi a virgola mobile</a:t>
            </a:r>
            <a:r>
              <a:rPr lang="it-IT" sz="1800" dirty="0">
                <a:effectLst/>
                <a:latin typeface="Times New Roman" panose="02020603050405020304" pitchFamily="18" charset="0"/>
                <a:ea typeface="Times New Roman" panose="02020603050405020304" pitchFamily="18" charset="0"/>
              </a:rPr>
              <a:t> sono due: </a:t>
            </a:r>
            <a:r>
              <a:rPr lang="it-IT" sz="1800" b="1" dirty="0">
                <a:effectLst/>
                <a:latin typeface="Courier New" panose="02070309020205020404" pitchFamily="49" charset="0"/>
                <a:ea typeface="MS Mincho" panose="02020609040205080304" pitchFamily="49" charset="-128"/>
                <a:cs typeface="Courier New" panose="02070309020205020404" pitchFamily="49" charset="0"/>
              </a:rPr>
              <a:t>float</a:t>
            </a:r>
            <a:r>
              <a:rPr lang="it-IT" sz="1800" dirty="0">
                <a:effectLst/>
                <a:latin typeface="Times New Roman" panose="02020603050405020304" pitchFamily="18" charset="0"/>
                <a:ea typeface="Times New Roman" panose="02020603050405020304" pitchFamily="18" charset="0"/>
              </a:rPr>
              <a:t> (a 32 bit) e il più utilizzato </a:t>
            </a:r>
            <a:r>
              <a:rPr lang="it-IT" sz="1800" b="1" dirty="0">
                <a:effectLst/>
                <a:latin typeface="Courier New" panose="02070309020205020404" pitchFamily="49" charset="0"/>
                <a:ea typeface="MS Mincho" panose="02020609040205080304" pitchFamily="49" charset="-128"/>
                <a:cs typeface="Courier New" panose="02070309020205020404" pitchFamily="49" charset="0"/>
              </a:rPr>
              <a:t>double</a:t>
            </a:r>
            <a:r>
              <a:rPr lang="it-IT" sz="1800" dirty="0">
                <a:effectLst/>
                <a:latin typeface="Times New Roman" panose="02020603050405020304" pitchFamily="18" charset="0"/>
                <a:ea typeface="Times New Roman" panose="02020603050405020304" pitchFamily="18" charset="0"/>
              </a:rPr>
              <a:t> (64 bit), ed utilizzano lo standard IEEE-754 per la rappresentazione dei numeri reali e per eseguire operazioni matematiche.</a:t>
            </a:r>
          </a:p>
          <a:p>
            <a:r>
              <a:rPr lang="it-IT" sz="1800" dirty="0">
                <a:effectLst/>
                <a:latin typeface="Times New Roman" panose="02020603050405020304" pitchFamily="18" charset="0"/>
                <a:ea typeface="Times New Roman" panose="02020603050405020304" pitchFamily="18" charset="0"/>
              </a:rPr>
              <a:t>Per tutti questi dati esistono varie problematiche (come la </a:t>
            </a:r>
            <a:r>
              <a:rPr lang="it-IT" sz="1800" b="1" dirty="0">
                <a:effectLst/>
                <a:latin typeface="Times New Roman" panose="02020603050405020304" pitchFamily="18" charset="0"/>
                <a:ea typeface="Times New Roman" panose="02020603050405020304" pitchFamily="18" charset="0"/>
              </a:rPr>
              <a:t>promotion</a:t>
            </a:r>
            <a:r>
              <a:rPr lang="it-IT" sz="1800" b="0" dirty="0">
                <a:effectLst/>
                <a:latin typeface="Times New Roman" panose="02020603050405020304" pitchFamily="18" charset="0"/>
                <a:ea typeface="Times New Roman" panose="02020603050405020304" pitchFamily="18" charset="0"/>
              </a:rPr>
              <a:t>, o </a:t>
            </a:r>
            <a:r>
              <a:rPr lang="it-IT" sz="1800" b="1" dirty="0">
                <a:effectLst/>
                <a:latin typeface="Times New Roman" panose="02020603050405020304" pitchFamily="18" charset="0"/>
                <a:ea typeface="Times New Roman" panose="02020603050405020304" pitchFamily="18" charset="0"/>
              </a:rPr>
              <a:t>l’approssimazione</a:t>
            </a:r>
            <a:r>
              <a:rPr lang="it-IT" sz="1800" b="0" dirty="0">
                <a:effectLst/>
                <a:latin typeface="Times New Roman" panose="02020603050405020304" pitchFamily="18" charset="0"/>
                <a:ea typeface="Times New Roman" panose="02020603050405020304" pitchFamily="18" charset="0"/>
              </a:rPr>
              <a:t> dei numeri reali</a:t>
            </a:r>
            <a:r>
              <a:rPr lang="it-IT" sz="1800" dirty="0">
                <a:effectLst/>
                <a:latin typeface="Times New Roman" panose="02020603050405020304" pitchFamily="18" charset="0"/>
                <a:ea typeface="Times New Roman" panose="02020603050405020304" pitchFamily="18" charset="0"/>
              </a:rPr>
              <a:t>) per quanto riguardano le operazioni aritmetiche. Il </a:t>
            </a:r>
            <a:r>
              <a:rPr lang="it-IT" sz="1800" b="1" dirty="0">
                <a:effectLst/>
                <a:latin typeface="Times New Roman" panose="02020603050405020304" pitchFamily="18" charset="0"/>
                <a:ea typeface="Times New Roman" panose="02020603050405020304" pitchFamily="18" charset="0"/>
              </a:rPr>
              <a:t>cast</a:t>
            </a:r>
            <a:r>
              <a:rPr lang="it-IT" sz="1800" dirty="0">
                <a:effectLst/>
                <a:latin typeface="Times New Roman" panose="02020603050405020304" pitchFamily="18" charset="0"/>
                <a:ea typeface="Times New Roman" panose="02020603050405020304" pitchFamily="18" charset="0"/>
              </a:rPr>
              <a:t> permette di adattare un certo tipo di dato ad essere trattato come un altro tipo di dato.</a:t>
            </a:r>
          </a:p>
          <a:p>
            <a:r>
              <a:rPr lang="it-IT" sz="1800" dirty="0">
                <a:effectLst/>
                <a:latin typeface="Times New Roman" panose="02020603050405020304" pitchFamily="18" charset="0"/>
                <a:ea typeface="Times New Roman" panose="02020603050405020304" pitchFamily="18" charset="0"/>
              </a:rPr>
              <a:t>Il tipo di </a:t>
            </a:r>
            <a:r>
              <a:rPr lang="it-IT" sz="1800" b="1" dirty="0">
                <a:effectLst/>
                <a:latin typeface="Times New Roman" panose="02020603050405020304" pitchFamily="18" charset="0"/>
                <a:ea typeface="Times New Roman" panose="02020603050405020304" pitchFamily="18" charset="0"/>
              </a:rPr>
              <a:t>carattere logico-booleano</a:t>
            </a:r>
            <a:r>
              <a:rPr lang="it-IT" sz="1800" dirty="0">
                <a:effectLst/>
                <a:latin typeface="Times New Roman" panose="02020603050405020304" pitchFamily="18" charset="0"/>
                <a:ea typeface="Times New Roman" panose="02020603050405020304" pitchFamily="18" charset="0"/>
              </a:rPr>
              <a:t> è il </a:t>
            </a:r>
            <a:r>
              <a:rPr lang="it-IT" sz="1800" b="1" dirty="0">
                <a:effectLst/>
                <a:latin typeface="Courier New" panose="02070309020205020404" pitchFamily="49" charset="0"/>
                <a:ea typeface="MS Mincho" panose="02020609040205080304" pitchFamily="49" charset="-128"/>
                <a:cs typeface="Courier New" panose="02070309020205020404" pitchFamily="49" charset="0"/>
              </a:rPr>
              <a:t>boolean</a:t>
            </a:r>
            <a:r>
              <a:rPr lang="it-IT" sz="1800" dirty="0">
                <a:effectLst/>
                <a:latin typeface="Times New Roman" panose="02020603050405020304" pitchFamily="18" charset="0"/>
                <a:ea typeface="Times New Roman" panose="02020603050405020304" pitchFamily="18" charset="0"/>
              </a:rPr>
              <a:t>, che può assumere come valore solo due literals: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true</a:t>
            </a:r>
            <a:r>
              <a:rPr lang="it-IT" sz="1800" dirty="0">
                <a:effectLst/>
                <a:latin typeface="Times New Roman" panose="02020603050405020304" pitchFamily="18" charset="0"/>
                <a:ea typeface="Times New Roman" panose="02020603050405020304" pitchFamily="18" charset="0"/>
              </a:rPr>
              <a:t> 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false</a:t>
            </a:r>
            <a:r>
              <a:rPr lang="it-IT" sz="1800" dirty="0">
                <a:effectLst/>
                <a:latin typeface="Times New Roman" panose="02020603050405020304" pitchFamily="18" charset="0"/>
                <a:ea typeface="Times New Roman" panose="02020603050405020304" pitchFamily="18" charset="0"/>
              </a:rPr>
              <a:t>. Vengono definiti </a:t>
            </a:r>
            <a:r>
              <a:rPr lang="it-IT" sz="1800" b="1" dirty="0">
                <a:effectLst/>
                <a:latin typeface="Times New Roman" panose="02020603050405020304" pitchFamily="18" charset="0"/>
                <a:ea typeface="Times New Roman" panose="02020603050405020304" pitchFamily="18" charset="0"/>
              </a:rPr>
              <a:t>literals</a:t>
            </a:r>
            <a:r>
              <a:rPr lang="it-IT" sz="1800" dirty="0">
                <a:effectLst/>
                <a:latin typeface="Times New Roman" panose="02020603050405020304" pitchFamily="18" charset="0"/>
                <a:ea typeface="Times New Roman" panose="02020603050405020304" pitchFamily="18" charset="0"/>
              </a:rPr>
              <a:t> i valori che vengono specificati nel codice sorgente invece che al runtime. Possono rappresentare variabili primitive o stringhe e possono apparire solo sul lato destro di un’assegnazione o come argomenti quando si invocano metodi. Non è possibile assegnare valori ai literals. In pratica sono i valori costanti che si assegnano alle variabili.</a:t>
            </a:r>
          </a:p>
          <a:p>
            <a:r>
              <a:rPr lang="it-IT" sz="1800" dirty="0">
                <a:effectLst/>
                <a:latin typeface="Times New Roman" panose="02020603050405020304" pitchFamily="18" charset="0"/>
                <a:ea typeface="Times New Roman" panose="02020603050405020304" pitchFamily="18" charset="0"/>
              </a:rPr>
              <a:t>L’unico tipo di dato primitivo letterale è il </a:t>
            </a:r>
            <a:r>
              <a:rPr lang="it-IT" sz="1800" b="1" dirty="0">
                <a:effectLst/>
                <a:latin typeface="Times New Roman" panose="02020603050405020304" pitchFamily="18" charset="0"/>
                <a:ea typeface="Times New Roman" panose="02020603050405020304" pitchFamily="18" charset="0"/>
              </a:rPr>
              <a:t>carattere</a:t>
            </a:r>
            <a:r>
              <a:rPr lang="it-IT" sz="1800" dirty="0">
                <a:effectLst/>
                <a:latin typeface="Times New Roman" panose="02020603050405020304" pitchFamily="18" charset="0"/>
                <a:ea typeface="Times New Roman" panose="02020603050405020304" pitchFamily="18" charset="0"/>
              </a:rPr>
              <a:t> </a:t>
            </a:r>
            <a:r>
              <a:rPr lang="it-IT" sz="1800" b="1" dirty="0">
                <a:effectLst/>
                <a:latin typeface="Courier New" panose="02070309020205020404" pitchFamily="49" charset="0"/>
                <a:ea typeface="MS Mincho" panose="02020609040205080304" pitchFamily="49" charset="-128"/>
                <a:cs typeface="Courier New" panose="02070309020205020404" pitchFamily="49" charset="0"/>
              </a:rPr>
              <a:t>char</a:t>
            </a:r>
            <a:r>
              <a:rPr lang="it-IT" sz="1800" dirty="0">
                <a:effectLst/>
                <a:latin typeface="Times New Roman" panose="02020603050405020304" pitchFamily="18" charset="0"/>
                <a:ea typeface="Times New Roman" panose="02020603050405020304" pitchFamily="18" charset="0"/>
              </a:rPr>
              <a:t>, che può essere utilizzato per immagazzinare un singolo carattere incluso tra una coppia di apici singoli. È possibile utilizzare tre tipi di formati diversi, il formato ordinario (con un carattere stampabile), il formato Unicode (che fa uso del sistema esadecimale) e i caratteri di escape. Un carattere è comunque rappresentato da un numero intero ed utilizza lo standard di decodifica Unicode in qualsiasi caso. </a:t>
            </a:r>
          </a:p>
          <a:p>
            <a:r>
              <a:rPr lang="it-IT" sz="1800" dirty="0">
                <a:effectLst/>
                <a:latin typeface="Times New Roman" panose="02020603050405020304" pitchFamily="18" charset="0"/>
                <a:ea typeface="Times New Roman" panose="02020603050405020304" pitchFamily="18" charset="0"/>
              </a:rPr>
              <a:t>Una </a:t>
            </a:r>
            <a:r>
              <a:rPr lang="it-IT" sz="1800" b="1" dirty="0">
                <a:effectLst/>
                <a:latin typeface="Times New Roman" panose="02020603050405020304" pitchFamily="18" charset="0"/>
                <a:ea typeface="Times New Roman" panose="02020603050405020304" pitchFamily="18" charset="0"/>
              </a:rPr>
              <a:t>stringa</a:t>
            </a:r>
            <a:r>
              <a:rPr lang="it-IT" sz="1800" dirty="0">
                <a:effectLst/>
                <a:latin typeface="Times New Roman" panose="02020603050405020304" pitchFamily="18" charset="0"/>
                <a:ea typeface="Times New Roman" panose="02020603050405020304" pitchFamily="18" charset="0"/>
              </a:rPr>
              <a:t> invece può immagazzinare frasi intere e il suo valore va incluso tra due virgolette. Una stringa è un oggetto incluso nel package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java.lang</a:t>
            </a:r>
            <a:r>
              <a:rPr lang="it-IT" sz="1800" dirty="0">
                <a:effectLst/>
                <a:latin typeface="Times New Roman" panose="02020603050405020304" pitchFamily="18" charset="0"/>
                <a:ea typeface="Times New Roman" panose="02020603050405020304" pitchFamily="18" charset="0"/>
              </a:rPr>
              <a:t> che ha la caratteristica di essere immutabile e di poter essere istanziato mediante una sintassi breve che non fa uso del costruttore; ciò è molto utile visto che probabilmente è l’oggetto più usato in assoluto nei programmi Java.</a:t>
            </a:r>
          </a:p>
          <a:p>
            <a:r>
              <a:rPr lang="it-IT" sz="1800" dirty="0">
                <a:effectLst/>
                <a:latin typeface="Times New Roman" panose="02020603050405020304" pitchFamily="18" charset="0"/>
                <a:ea typeface="Times New Roman" panose="02020603050405020304" pitchFamily="18" charset="0"/>
              </a:rPr>
              <a:t>Un </a:t>
            </a:r>
            <a:r>
              <a:rPr lang="it-IT" sz="1800" b="1" dirty="0">
                <a:effectLst/>
                <a:latin typeface="Times New Roman" panose="02020603050405020304" pitchFamily="18" charset="0"/>
                <a:ea typeface="Times New Roman" panose="02020603050405020304" pitchFamily="18" charset="0"/>
              </a:rPr>
              <a:t>reference</a:t>
            </a:r>
            <a:r>
              <a:rPr lang="it-IT" sz="1800" dirty="0">
                <a:effectLst/>
                <a:latin typeface="Times New Roman" panose="02020603050405020304" pitchFamily="18" charset="0"/>
                <a:ea typeface="Times New Roman" panose="02020603050405020304" pitchFamily="18" charset="0"/>
              </a:rPr>
              <a:t> è il </a:t>
            </a:r>
            <a:r>
              <a:rPr lang="it-IT" sz="1800" i="1" dirty="0">
                <a:effectLst/>
                <a:latin typeface="Times New Roman" panose="02020603050405020304" pitchFamily="18" charset="0"/>
                <a:ea typeface="Times New Roman" panose="02020603050405020304" pitchFamily="18" charset="0"/>
              </a:rPr>
              <a:t>nome che diamo ad un oggetto</a:t>
            </a:r>
            <a:r>
              <a:rPr lang="it-IT" sz="1800" dirty="0">
                <a:effectLst/>
                <a:latin typeface="Times New Roman" panose="02020603050405020304" pitchFamily="18" charset="0"/>
                <a:ea typeface="Times New Roman" panose="02020603050405020304" pitchFamily="18" charset="0"/>
              </a:rPr>
              <a:t>, una particolare variabile che contiene come valore l’indirizzo a cui deve puntare, e che deve conoscere il tipo che andrà a puntare. </a:t>
            </a:r>
          </a:p>
          <a:p>
            <a:r>
              <a:rPr lang="it-IT" sz="1800" dirty="0">
                <a:effectLst/>
                <a:latin typeface="Times New Roman" panose="02020603050405020304" pitchFamily="18" charset="0"/>
                <a:ea typeface="Times New Roman" panose="02020603050405020304" pitchFamily="18" charset="0"/>
              </a:rPr>
              <a:t>Quando un oggetto viene istanziato tutte le sue variabili d’istanza vengono automaticamente inizializzate ai propri </a:t>
            </a:r>
            <a:r>
              <a:rPr lang="it-IT" sz="1800" b="1" dirty="0">
                <a:effectLst/>
                <a:latin typeface="Times New Roman" panose="02020603050405020304" pitchFamily="18" charset="0"/>
                <a:ea typeface="Times New Roman" panose="02020603050405020304" pitchFamily="18" charset="0"/>
              </a:rPr>
              <a:t>valori nulli</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Il </a:t>
            </a:r>
            <a:r>
              <a:rPr lang="it-IT" sz="1800" b="1" dirty="0">
                <a:effectLst/>
                <a:latin typeface="Times New Roman" panose="02020603050405020304" pitchFamily="18" charset="0"/>
                <a:ea typeface="Times New Roman" panose="02020603050405020304" pitchFamily="18" charset="0"/>
              </a:rPr>
              <a:t>passaggio di parametri</a:t>
            </a:r>
            <a:r>
              <a:rPr lang="it-IT" sz="1800" dirty="0">
                <a:effectLst/>
                <a:latin typeface="Times New Roman" panose="02020603050405020304" pitchFamily="18" charset="0"/>
                <a:ea typeface="Times New Roman" panose="02020603050405020304" pitchFamily="18" charset="0"/>
              </a:rPr>
              <a:t> ad un metodo avviene sempre </a:t>
            </a:r>
            <a:r>
              <a:rPr lang="it-IT" sz="1800" b="1" dirty="0">
                <a:effectLst/>
                <a:latin typeface="Times New Roman" panose="02020603050405020304" pitchFamily="18" charset="0"/>
                <a:ea typeface="Times New Roman" panose="02020603050405020304" pitchFamily="18" charset="0"/>
              </a:rPr>
              <a:t>per valore</a:t>
            </a:r>
            <a:r>
              <a:rPr lang="it-IT" sz="1800" dirty="0">
                <a:effectLst/>
                <a:latin typeface="Times New Roman" panose="02020603050405020304" pitchFamily="18" charset="0"/>
                <a:ea typeface="Times New Roman" panose="02020603050405020304" pitchFamily="18" charset="0"/>
              </a:rPr>
              <a:t>, nel senso che nel momento in cui si passa un valore primitivo ad un parametro di un metodo, verrà copiato nel parametro questo valore. Anche quando si passa un reference verrà passato il suo valore (l’indirizzo del reference) e copiato nel parametro del metodo.</a:t>
            </a:r>
          </a:p>
          <a:p>
            <a:r>
              <a:rPr lang="it-IT" sz="1800" dirty="0">
                <a:effectLst/>
                <a:latin typeface="Times New Roman" panose="02020603050405020304" pitchFamily="18" charset="0"/>
                <a:ea typeface="Times New Roman" panose="02020603050405020304" pitchFamily="18" charset="0"/>
              </a:rPr>
              <a:t>La consultazione della </a:t>
            </a:r>
            <a:r>
              <a:rPr lang="it-IT" sz="1800" b="1" dirty="0">
                <a:effectLst/>
                <a:latin typeface="Times New Roman" panose="02020603050405020304" pitchFamily="18" charset="0"/>
                <a:ea typeface="Times New Roman" panose="02020603050405020304" pitchFamily="18" charset="0"/>
              </a:rPr>
              <a:t>documentazione della libreria standard</a:t>
            </a:r>
            <a:r>
              <a:rPr lang="it-IT" sz="1800" dirty="0">
                <a:effectLst/>
                <a:latin typeface="Times New Roman" panose="02020603050405020304" pitchFamily="18" charset="0"/>
                <a:ea typeface="Times New Roman" panose="02020603050405020304" pitchFamily="18" charset="0"/>
              </a:rPr>
              <a:t> è fondamentale. Possiamo anche creare la documentazione del nostro software con lo stesso stile della documentazione Java, commentando il codice con i commenti di documentazione e utilizzando il comando </a:t>
            </a:r>
            <a:r>
              <a:rPr lang="it-IT" sz="1800" b="1" dirty="0">
                <a:effectLst/>
                <a:latin typeface="Times New Roman" panose="02020603050405020304" pitchFamily="18" charset="0"/>
                <a:ea typeface="Times New Roman" panose="02020603050405020304" pitchFamily="18" charset="0"/>
              </a:rPr>
              <a:t>javadoc</a:t>
            </a:r>
            <a:r>
              <a:rPr lang="it-IT" sz="1800" dirty="0">
                <a:effectLst/>
                <a:latin typeface="Times New Roman" panose="02020603050405020304" pitchFamily="18" charset="0"/>
                <a:ea typeface="Times New Roman" panose="02020603050405020304" pitchFamily="18" charset="0"/>
              </a:rPr>
              <a:t> da riga di comando. Possiamo importare all’interno dei nostri programmi le classi della libreria standard utilizzando il comando </a:t>
            </a:r>
            <a:r>
              <a:rPr lang="it-IT" sz="1800" b="1" dirty="0">
                <a:effectLst/>
                <a:latin typeface="Times New Roman" panose="02020603050405020304" pitchFamily="18" charset="0"/>
                <a:ea typeface="Times New Roman" panose="02020603050405020304" pitchFamily="18" charset="0"/>
              </a:rPr>
              <a:t>import</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Un </a:t>
            </a:r>
            <a:r>
              <a:rPr lang="it-IT" sz="1800" b="1" dirty="0">
                <a:effectLst/>
                <a:latin typeface="Times New Roman" panose="02020603050405020304" pitchFamily="18" charset="0"/>
                <a:ea typeface="Times New Roman" panose="02020603050405020304" pitchFamily="18" charset="0"/>
              </a:rPr>
              <a:t>array</a:t>
            </a:r>
            <a:r>
              <a:rPr lang="it-IT" sz="1800" dirty="0">
                <a:effectLst/>
                <a:latin typeface="Times New Roman" panose="02020603050405020304" pitchFamily="18" charset="0"/>
                <a:ea typeface="Times New Roman" panose="02020603050405020304" pitchFamily="18" charset="0"/>
              </a:rPr>
              <a:t> rappresenta un tipo di dato complesso (oggetto) che definisce una collezione di elementi di un certo tipo, indicizzati. Con un solo nome potremo accedere agli elementi della collezione mediante un indice. È possibile creare array di reference, array bidimensionali (non obbligatoriamente matrici) ed array multidimensionali. Il parametro array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String args[]</a:t>
            </a:r>
            <a:r>
              <a:rPr lang="it-IT" sz="1800" dirty="0">
                <a:effectLst/>
                <a:latin typeface="Times New Roman" panose="02020603050405020304" pitchFamily="18" charset="0"/>
                <a:ea typeface="Times New Roman" panose="02020603050405020304" pitchFamily="18" charset="0"/>
              </a:rPr>
              <a:t> del metodo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main()</a:t>
            </a:r>
            <a:r>
              <a:rPr lang="it-IT" sz="1800" dirty="0">
                <a:effectLst/>
                <a:latin typeface="Times New Roman" panose="02020603050405020304" pitchFamily="18" charset="0"/>
                <a:ea typeface="Times New Roman" panose="02020603050405020304" pitchFamily="18" charset="0"/>
              </a:rPr>
              <a:t>, lo si può utilizzare per passare in </a:t>
            </a:r>
            <a:r>
              <a:rPr lang="it-IT" sz="1800" b="1" dirty="0">
                <a:effectLst/>
                <a:latin typeface="Times New Roman" panose="02020603050405020304" pitchFamily="18" charset="0"/>
                <a:ea typeface="Times New Roman" panose="02020603050405020304" pitchFamily="18" charset="0"/>
              </a:rPr>
              <a:t>input al programma</a:t>
            </a:r>
            <a:r>
              <a:rPr lang="it-IT" sz="1800" dirty="0">
                <a:effectLst/>
                <a:latin typeface="Times New Roman" panose="02020603050405020304" pitchFamily="18" charset="0"/>
                <a:ea typeface="Times New Roman" panose="02020603050405020304" pitchFamily="18" charset="0"/>
              </a:rPr>
              <a:t> alcuni dati provenienti dall’esterno.</a:t>
            </a:r>
          </a:p>
          <a:p>
            <a:r>
              <a:rPr lang="it-IT" sz="1800" dirty="0">
                <a:effectLst/>
                <a:latin typeface="Times New Roman" panose="02020603050405020304" pitchFamily="18" charset="0"/>
                <a:ea typeface="Times New Roman" panose="02020603050405020304" pitchFamily="18" charset="0"/>
              </a:rPr>
              <a:t>La </a:t>
            </a:r>
            <a:r>
              <a:rPr lang="it-IT" sz="1800" b="1" dirty="0">
                <a:effectLst/>
                <a:latin typeface="Times New Roman" panose="02020603050405020304" pitchFamily="18" charset="0"/>
                <a:ea typeface="Times New Roman" panose="02020603050405020304" pitchFamily="18" charset="0"/>
              </a:rPr>
              <a:t>deduzione del tipo per le variabili locali</a:t>
            </a:r>
            <a:r>
              <a:rPr lang="it-IT" sz="1800" dirty="0">
                <a:effectLst/>
                <a:latin typeface="Times New Roman" panose="02020603050405020304" pitchFamily="18" charset="0"/>
                <a:ea typeface="Times New Roman" panose="02020603050405020304" pitchFamily="18" charset="0"/>
              </a:rPr>
              <a:t>, permette di utilizzare la parola </a:t>
            </a:r>
            <a:r>
              <a:rPr lang="it-IT" sz="1800" b="1" dirty="0">
                <a:effectLst/>
                <a:latin typeface="Courier New" panose="02070309020205020404" pitchFamily="49" charset="0"/>
                <a:ea typeface="MS Mincho" panose="02020609040205080304" pitchFamily="49" charset="-128"/>
                <a:cs typeface="Courier New" panose="02070309020205020404" pitchFamily="49" charset="0"/>
              </a:rPr>
              <a:t>var</a:t>
            </a:r>
            <a:r>
              <a:rPr lang="it-IT" sz="1800" dirty="0">
                <a:effectLst/>
                <a:latin typeface="Times New Roman" panose="02020603050405020304" pitchFamily="18" charset="0"/>
                <a:ea typeface="Times New Roman" panose="02020603050405020304" pitchFamily="18" charset="0"/>
              </a:rPr>
              <a:t>, in luogo del tipo vero e proprio della variabile, che verrà dedotto dall’inizializzazione nella parte destra (</a:t>
            </a:r>
            <a:r>
              <a:rPr lang="it-IT" sz="1800" b="1" dirty="0">
                <a:effectLst/>
                <a:latin typeface="Times New Roman" panose="02020603050405020304" pitchFamily="18" charset="0"/>
                <a:ea typeface="Times New Roman" panose="02020603050405020304" pitchFamily="18" charset="0"/>
              </a:rPr>
              <a:t>RHS</a:t>
            </a:r>
            <a:r>
              <a:rPr lang="it-IT" sz="1800" dirty="0">
                <a:effectLst/>
                <a:latin typeface="Times New Roman" panose="02020603050405020304" pitchFamily="18" charset="0"/>
                <a:ea typeface="Times New Roman" panose="02020603050405020304" pitchFamily="18" charset="0"/>
              </a:rPr>
              <a:t>) della dichiarazione. Se usata bene, questa caratteristica permette di ridurre la verbosità dell’applicazione senza ridurne la leggibilità. La sua applicabilità è limitata alle variabili locali inizializzate correttamente, e a pochi altri casi che studieremo nei prossimi capitoli. Essendo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var</a:t>
            </a:r>
            <a:r>
              <a:rPr lang="it-IT" sz="1800" dirty="0">
                <a:effectLst/>
                <a:latin typeface="Times New Roman" panose="02020603050405020304" pitchFamily="18" charset="0"/>
                <a:ea typeface="Times New Roman" panose="02020603050405020304" pitchFamily="18" charset="0"/>
              </a:rPr>
              <a:t> un nome di tipo riservato (e non una parola chiave), è possibile utilizzarla come identificatore per variabili, metodi, package e moduli, ma non per tipi (classi, interfacce, enumerazioni, record e annotazioni).</a:t>
            </a:r>
          </a:p>
          <a:p>
            <a:endParaRPr lang="it-IT" sz="1800" dirty="0">
              <a:effectLst/>
              <a:latin typeface="Times New Roman" panose="02020603050405020304" pitchFamily="18" charset="0"/>
              <a:ea typeface="MS Mincho" panose="02020609040205080304" pitchFamily="49" charset="-128"/>
            </a:endParaRPr>
          </a:p>
        </p:txBody>
      </p:sp>
    </p:spTree>
    <p:extLst>
      <p:ext uri="{BB962C8B-B14F-4D97-AF65-F5344CB8AC3E}">
        <p14:creationId xmlns:p14="http://schemas.microsoft.com/office/powerpoint/2010/main" val="20916651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iapositiva titolo">
    <p:spTree>
      <p:nvGrpSpPr>
        <p:cNvPr id="1" name=""/>
        <p:cNvGrpSpPr/>
        <p:nvPr/>
      </p:nvGrpSpPr>
      <p:grpSpPr>
        <a:xfrm>
          <a:off x="0" y="0"/>
          <a:ext cx="0" cy="0"/>
          <a:chOff x="0" y="0"/>
          <a:chExt cx="0" cy="0"/>
        </a:xfrm>
      </p:grpSpPr>
      <p:sp>
        <p:nvSpPr>
          <p:cNvPr id="2" name="Segnaposto data 3"/>
          <p:cNvSpPr>
            <a:spLocks noGrp="1"/>
          </p:cNvSpPr>
          <p:nvPr>
            <p:ph type="dt" sz="half" idx="10"/>
          </p:nvPr>
        </p:nvSpPr>
        <p:spPr/>
        <p:txBody>
          <a:bodyPr/>
          <a:lstStyle>
            <a:lvl1pPr>
              <a:defRPr/>
            </a:lvl1pPr>
          </a:lstStyle>
          <a:p>
            <a:r>
              <a:rPr lang="it-IT"/>
              <a:t>20/03/2012</a:t>
            </a:r>
          </a:p>
        </p:txBody>
      </p:sp>
      <p:sp>
        <p:nvSpPr>
          <p:cNvPr id="3" name="Segnaposto piè di pagina 4"/>
          <p:cNvSpPr>
            <a:spLocks noGrp="1"/>
          </p:cNvSpPr>
          <p:nvPr>
            <p:ph type="ftr" sz="quarter" idx="11"/>
          </p:nvPr>
        </p:nvSpPr>
        <p:spPr/>
        <p:txBody>
          <a:bodyPr/>
          <a:lstStyle>
            <a:lvl1pPr>
              <a:defRPr/>
            </a:lvl1pPr>
          </a:lstStyle>
          <a:p>
            <a:r>
              <a:rPr lang="it-IT"/>
              <a:t>Claudio De Sio Cesari: NJ-004</a:t>
            </a:r>
            <a:endParaRPr lang="it-IT" dirty="0"/>
          </a:p>
        </p:txBody>
      </p:sp>
      <p:sp>
        <p:nvSpPr>
          <p:cNvPr id="4" name="Segnaposto numero diapositiva 5"/>
          <p:cNvSpPr>
            <a:spLocks noGrp="1"/>
          </p:cNvSpPr>
          <p:nvPr>
            <p:ph type="sldNum" sz="quarter" idx="12"/>
          </p:nvPr>
        </p:nvSpPr>
        <p:spPr/>
        <p:txBody>
          <a:bodyPr/>
          <a:lstStyle>
            <a:lvl1pPr>
              <a:defRPr/>
            </a:lvl1pPr>
          </a:lstStyle>
          <a:p>
            <a:fld id="{EA83E0A8-4958-4553-8C1A-CC59A6ABE123}" type="slidenum">
              <a:rPr lang="it-IT" smtClean="0"/>
              <a:t>‹N›</a:t>
            </a:fld>
            <a:endParaRPr lang="it-IT"/>
          </a:p>
        </p:txBody>
      </p:sp>
    </p:spTree>
    <p:extLst>
      <p:ext uri="{BB962C8B-B14F-4D97-AF65-F5344CB8AC3E}">
        <p14:creationId xmlns:p14="http://schemas.microsoft.com/office/powerpoint/2010/main" val="120733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olo e contenuto">
    <p:spTree>
      <p:nvGrpSpPr>
        <p:cNvPr id="1" name=""/>
        <p:cNvGrpSpPr/>
        <p:nvPr/>
      </p:nvGrpSpPr>
      <p:grpSpPr>
        <a:xfrm>
          <a:off x="0" y="0"/>
          <a:ext cx="0" cy="0"/>
          <a:chOff x="0" y="0"/>
          <a:chExt cx="0" cy="0"/>
        </a:xfrm>
      </p:grpSpPr>
      <p:sp>
        <p:nvSpPr>
          <p:cNvPr id="2" name="Segnaposto data 3"/>
          <p:cNvSpPr>
            <a:spLocks noGrp="1"/>
          </p:cNvSpPr>
          <p:nvPr>
            <p:ph type="dt" sz="half" idx="10"/>
          </p:nvPr>
        </p:nvSpPr>
        <p:spPr/>
        <p:txBody>
          <a:bodyPr/>
          <a:lstStyle>
            <a:lvl1pPr>
              <a:defRPr/>
            </a:lvl1pPr>
          </a:lstStyle>
          <a:p>
            <a:r>
              <a:rPr lang="it-IT"/>
              <a:t>20/03/2012</a:t>
            </a:r>
          </a:p>
        </p:txBody>
      </p:sp>
      <p:sp>
        <p:nvSpPr>
          <p:cNvPr id="3" name="Segnaposto piè di pagina 4"/>
          <p:cNvSpPr>
            <a:spLocks noGrp="1"/>
          </p:cNvSpPr>
          <p:nvPr>
            <p:ph type="ftr" sz="quarter" idx="11"/>
          </p:nvPr>
        </p:nvSpPr>
        <p:spPr/>
        <p:txBody>
          <a:bodyPr/>
          <a:lstStyle>
            <a:lvl1pPr>
              <a:defRPr/>
            </a:lvl1pPr>
          </a:lstStyle>
          <a:p>
            <a:r>
              <a:rPr lang="it-IT"/>
              <a:t>Claudio De Sio Cesari: NJ-004</a:t>
            </a:r>
            <a:endParaRPr lang="it-IT" dirty="0"/>
          </a:p>
        </p:txBody>
      </p:sp>
      <p:sp>
        <p:nvSpPr>
          <p:cNvPr id="4" name="Segnaposto numero diapositiva 5"/>
          <p:cNvSpPr>
            <a:spLocks noGrp="1"/>
          </p:cNvSpPr>
          <p:nvPr>
            <p:ph type="sldNum" sz="quarter" idx="12"/>
          </p:nvPr>
        </p:nvSpPr>
        <p:spPr/>
        <p:txBody>
          <a:bodyPr/>
          <a:lstStyle>
            <a:lvl1pPr>
              <a:defRPr/>
            </a:lvl1pPr>
          </a:lstStyle>
          <a:p>
            <a:fld id="{EA83E0A8-4958-4553-8C1A-CC59A6ABE123}" type="slidenum">
              <a:rPr lang="it-IT" smtClean="0"/>
              <a:t>‹N›</a:t>
            </a:fld>
            <a:endParaRPr lang="it-IT"/>
          </a:p>
        </p:txBody>
      </p:sp>
    </p:spTree>
    <p:extLst>
      <p:ext uri="{BB962C8B-B14F-4D97-AF65-F5344CB8AC3E}">
        <p14:creationId xmlns:p14="http://schemas.microsoft.com/office/powerpoint/2010/main" val="3458091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1_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9"/>
            <a:ext cx="7772400" cy="1470025"/>
          </a:xfrm>
        </p:spPr>
        <p:txBody>
          <a:bodyPr/>
          <a:lstStyle/>
          <a:p>
            <a:r>
              <a:rPr lang="it-IT"/>
              <a:t>Fare clic per modificare lo stile del titolo</a:t>
            </a:r>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p>
        </p:txBody>
      </p:sp>
      <p:sp>
        <p:nvSpPr>
          <p:cNvPr id="4" name="Segnaposto data 3"/>
          <p:cNvSpPr>
            <a:spLocks noGrp="1"/>
          </p:cNvSpPr>
          <p:nvPr>
            <p:ph type="dt" sz="half" idx="10"/>
          </p:nvPr>
        </p:nvSpPr>
        <p:spPr/>
        <p:txBody>
          <a:bodyPr/>
          <a:lstStyle/>
          <a:p>
            <a:r>
              <a:rPr lang="it-IT"/>
              <a:t>20/03/2012</a:t>
            </a:r>
          </a:p>
        </p:txBody>
      </p:sp>
      <p:sp>
        <p:nvSpPr>
          <p:cNvPr id="5" name="Segnaposto piè di pagina 4"/>
          <p:cNvSpPr>
            <a:spLocks noGrp="1"/>
          </p:cNvSpPr>
          <p:nvPr>
            <p:ph type="ftr" sz="quarter" idx="11"/>
          </p:nvPr>
        </p:nvSpPr>
        <p:spPr/>
        <p:txBody>
          <a:bodyPr/>
          <a:lstStyle/>
          <a:p>
            <a:r>
              <a:rPr lang="pt-BR">
                <a:solidFill>
                  <a:prstClr val="black">
                    <a:tint val="75000"/>
                  </a:prstClr>
                </a:solidFill>
              </a:rPr>
              <a:t>Claudio De Sio Cesari: NJ-004</a:t>
            </a:r>
            <a:endParaRPr lang="it-IT">
              <a:solidFill>
                <a:prstClr val="black">
                  <a:tint val="75000"/>
                </a:prstClr>
              </a:solidFill>
            </a:endParaRPr>
          </a:p>
        </p:txBody>
      </p:sp>
      <p:sp>
        <p:nvSpPr>
          <p:cNvPr id="6" name="Segnaposto numero diapositiva 5"/>
          <p:cNvSpPr>
            <a:spLocks noGrp="1"/>
          </p:cNvSpPr>
          <p:nvPr>
            <p:ph type="sldNum" sz="quarter" idx="12"/>
          </p:nvPr>
        </p:nvSpPr>
        <p:spPr/>
        <p:txBody>
          <a:bodyPr/>
          <a:lstStyle/>
          <a:p>
            <a:fld id="{EA83E0A8-4958-4553-8C1A-CC59A6ABE123}" type="slidenum">
              <a:rPr lang="it-IT" smtClean="0"/>
              <a:pPr/>
              <a:t>‹N›</a:t>
            </a:fld>
            <a:endParaRPr lang="it-IT"/>
          </a:p>
        </p:txBody>
      </p:sp>
    </p:spTree>
    <p:extLst>
      <p:ext uri="{BB962C8B-B14F-4D97-AF65-F5344CB8AC3E}">
        <p14:creationId xmlns:p14="http://schemas.microsoft.com/office/powerpoint/2010/main" val="3436973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1_Titolo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467430" y="476590"/>
            <a:ext cx="8229600" cy="1252728"/>
          </a:xfrm>
        </p:spPr>
        <p:txBody>
          <a:bodyPr/>
          <a:lstStyle>
            <a:lvl1pPr algn="l">
              <a:defRPr sz="1800">
                <a:solidFill>
                  <a:srgbClr val="C00000"/>
                </a:solidFill>
              </a:defRPr>
            </a:lvl1pPr>
            <a:extLst/>
          </a:lstStyle>
          <a:p>
            <a:r>
              <a:rPr kumimoji="0" lang="it-IT" dirty="0"/>
              <a:t>Fare clic per modificare lo stile del titolo</a:t>
            </a:r>
            <a:endParaRPr kumimoji="0" lang="en-US" dirty="0"/>
          </a:p>
        </p:txBody>
      </p:sp>
      <p:sp>
        <p:nvSpPr>
          <p:cNvPr id="3" name="Segnaposto contenuto 2"/>
          <p:cNvSpPr>
            <a:spLocks noGrp="1"/>
          </p:cNvSpPr>
          <p:nvPr>
            <p:ph idx="1"/>
          </p:nvPr>
        </p:nvSpPr>
        <p:spPr/>
        <p:txBody>
          <a:bodyPr/>
          <a:lstStyle>
            <a:lvl1pPr>
              <a:defRPr sz="1600"/>
            </a:lvl1pPr>
            <a:lvl2pPr>
              <a:defRPr sz="1600"/>
            </a:lvl2pPr>
            <a:lvl3pPr>
              <a:defRPr sz="1600"/>
            </a:lvl3pPr>
            <a:lvl4pPr>
              <a:defRPr sz="1600"/>
            </a:lvl4pPr>
            <a:lvl5pPr>
              <a:defRPr sz="1600"/>
            </a:lvl5pPr>
            <a:extLst/>
          </a:lstStyle>
          <a:p>
            <a:pPr lvl="0" eaLnBrk="1" latinLnBrk="0" hangingPunct="1"/>
            <a:r>
              <a:rPr lang="it-IT" dirty="0"/>
              <a:t>Fare clic per modificare stili del testo dello schema</a:t>
            </a:r>
          </a:p>
          <a:p>
            <a:pPr lvl="1" eaLnBrk="1" latinLnBrk="0" hangingPunct="1"/>
            <a:r>
              <a:rPr lang="it-IT" dirty="0"/>
              <a:t>Secondo livello</a:t>
            </a:r>
          </a:p>
          <a:p>
            <a:pPr lvl="2" eaLnBrk="1" latinLnBrk="0" hangingPunct="1"/>
            <a:r>
              <a:rPr lang="it-IT" dirty="0"/>
              <a:t>Terzo livello</a:t>
            </a:r>
          </a:p>
          <a:p>
            <a:pPr lvl="3" eaLnBrk="1" latinLnBrk="0" hangingPunct="1"/>
            <a:r>
              <a:rPr lang="it-IT" dirty="0"/>
              <a:t>Quarto livello</a:t>
            </a:r>
          </a:p>
          <a:p>
            <a:pPr lvl="4" eaLnBrk="1" latinLnBrk="0" hangingPunct="1"/>
            <a:r>
              <a:rPr lang="it-IT" dirty="0"/>
              <a:t>Quinto livello</a:t>
            </a:r>
            <a:endParaRPr kumimoji="0" lang="en-US" dirty="0"/>
          </a:p>
        </p:txBody>
      </p:sp>
      <p:sp>
        <p:nvSpPr>
          <p:cNvPr id="4" name="Segnaposto data 3"/>
          <p:cNvSpPr>
            <a:spLocks noGrp="1"/>
          </p:cNvSpPr>
          <p:nvPr>
            <p:ph type="dt" sz="half" idx="10"/>
          </p:nvPr>
        </p:nvSpPr>
        <p:spPr/>
        <p:txBody>
          <a:bodyPr/>
          <a:lstStyle/>
          <a:p>
            <a:r>
              <a:rPr lang="it-IT"/>
              <a:t>20/03/2012</a:t>
            </a:r>
          </a:p>
        </p:txBody>
      </p:sp>
      <p:sp>
        <p:nvSpPr>
          <p:cNvPr id="5" name="Segnaposto piè di pagina 4"/>
          <p:cNvSpPr>
            <a:spLocks noGrp="1"/>
          </p:cNvSpPr>
          <p:nvPr>
            <p:ph type="ftr" sz="quarter" idx="11"/>
          </p:nvPr>
        </p:nvSpPr>
        <p:spPr/>
        <p:txBody>
          <a:bodyPr/>
          <a:lstStyle/>
          <a:p>
            <a:r>
              <a:rPr lang="pt-BR">
                <a:solidFill>
                  <a:prstClr val="black">
                    <a:tint val="75000"/>
                  </a:prstClr>
                </a:solidFill>
              </a:rPr>
              <a:t>Claudio De Sio Cesari: NJ-004</a:t>
            </a:r>
            <a:endParaRPr lang="it-IT">
              <a:solidFill>
                <a:prstClr val="black">
                  <a:tint val="75000"/>
                </a:prstClr>
              </a:solidFill>
            </a:endParaRPr>
          </a:p>
        </p:txBody>
      </p:sp>
      <p:sp>
        <p:nvSpPr>
          <p:cNvPr id="6" name="Segnaposto numero diapositiva 5"/>
          <p:cNvSpPr>
            <a:spLocks noGrp="1"/>
          </p:cNvSpPr>
          <p:nvPr>
            <p:ph type="sldNum" sz="quarter" idx="12"/>
          </p:nvPr>
        </p:nvSpPr>
        <p:spPr/>
        <p:txBody>
          <a:bodyPr/>
          <a:lstStyle/>
          <a:p>
            <a:fld id="{A47CFDED-9124-48F1-BBFC-49CD505FB6D3}" type="slidenum">
              <a:rPr lang="it-IT" smtClean="0"/>
              <a:pPr/>
              <a:t>‹N›</a:t>
            </a:fld>
            <a:endParaRPr lang="it-IT"/>
          </a:p>
        </p:txBody>
      </p:sp>
    </p:spTree>
    <p:extLst>
      <p:ext uri="{BB962C8B-B14F-4D97-AF65-F5344CB8AC3E}">
        <p14:creationId xmlns:p14="http://schemas.microsoft.com/office/powerpoint/2010/main" val="3811523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apositiva titolo">
    <p:spTree>
      <p:nvGrpSpPr>
        <p:cNvPr id="1" name=""/>
        <p:cNvGrpSpPr/>
        <p:nvPr/>
      </p:nvGrpSpPr>
      <p:grpSpPr>
        <a:xfrm>
          <a:off x="0" y="0"/>
          <a:ext cx="0" cy="0"/>
          <a:chOff x="0" y="0"/>
          <a:chExt cx="0" cy="0"/>
        </a:xfrm>
      </p:grpSpPr>
      <p:sp>
        <p:nvSpPr>
          <p:cNvPr id="2" name="Segnaposto data 3"/>
          <p:cNvSpPr>
            <a:spLocks noGrp="1"/>
          </p:cNvSpPr>
          <p:nvPr>
            <p:ph type="dt" sz="half" idx="10"/>
          </p:nvPr>
        </p:nvSpPr>
        <p:spPr>
          <a:xfrm>
            <a:off x="457200" y="6448345"/>
            <a:ext cx="2133600" cy="365125"/>
          </a:xfrm>
        </p:spPr>
        <p:txBody>
          <a:bodyPr/>
          <a:lstStyle>
            <a:lvl1pPr>
              <a:defRPr/>
            </a:lvl1pPr>
          </a:lstStyle>
          <a:p>
            <a:pPr>
              <a:defRPr/>
            </a:pPr>
            <a:r>
              <a:rPr lang="it-IT"/>
              <a:t>20/03/2012</a:t>
            </a:r>
          </a:p>
        </p:txBody>
      </p:sp>
      <p:sp>
        <p:nvSpPr>
          <p:cNvPr id="3" name="Segnaposto piè di pagina 4"/>
          <p:cNvSpPr>
            <a:spLocks noGrp="1"/>
          </p:cNvSpPr>
          <p:nvPr>
            <p:ph type="ftr" sz="quarter" idx="11"/>
          </p:nvPr>
        </p:nvSpPr>
        <p:spPr>
          <a:xfrm>
            <a:off x="3124200" y="6448345"/>
            <a:ext cx="2895600" cy="365125"/>
          </a:xfrm>
        </p:spPr>
        <p:txBody>
          <a:bodyPr/>
          <a:lstStyle>
            <a:lvl1pPr>
              <a:defRPr/>
            </a:lvl1pPr>
          </a:lstStyle>
          <a:p>
            <a:pPr>
              <a:defRPr/>
            </a:pPr>
            <a:r>
              <a:rPr lang="it-IT"/>
              <a:t>Claudio De Sio Cesari: NJ-004</a:t>
            </a:r>
            <a:endParaRPr lang="it-IT" dirty="0"/>
          </a:p>
        </p:txBody>
      </p:sp>
      <p:sp>
        <p:nvSpPr>
          <p:cNvPr id="4" name="Segnaposto numero diapositiva 5"/>
          <p:cNvSpPr>
            <a:spLocks noGrp="1"/>
          </p:cNvSpPr>
          <p:nvPr>
            <p:ph type="sldNum" sz="quarter" idx="12"/>
          </p:nvPr>
        </p:nvSpPr>
        <p:spPr>
          <a:xfrm>
            <a:off x="6553200" y="6448345"/>
            <a:ext cx="2133600" cy="365125"/>
          </a:xfrm>
        </p:spPr>
        <p:txBody>
          <a:bodyPr/>
          <a:lstStyle>
            <a:lvl1pPr>
              <a:defRPr/>
            </a:lvl1pPr>
          </a:lstStyle>
          <a:p>
            <a:pPr>
              <a:defRPr/>
            </a:pPr>
            <a:fld id="{D7110DCC-F880-45A0-B38F-83BA2DDD42DF}" type="slidenum">
              <a:rPr lang="it-IT"/>
              <a:pPr>
                <a:defRPr/>
              </a:pPr>
              <a:t>‹N›</a:t>
            </a:fld>
            <a:endParaRPr lang="it-IT"/>
          </a:p>
        </p:txBody>
      </p:sp>
    </p:spTree>
    <p:extLst>
      <p:ext uri="{BB962C8B-B14F-4D97-AF65-F5344CB8AC3E}">
        <p14:creationId xmlns:p14="http://schemas.microsoft.com/office/powerpoint/2010/main" val="1303194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yout personalizza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data 3"/>
          <p:cNvSpPr>
            <a:spLocks noGrp="1"/>
          </p:cNvSpPr>
          <p:nvPr>
            <p:ph type="dt" sz="half" idx="10"/>
          </p:nvPr>
        </p:nvSpPr>
        <p:spPr>
          <a:xfrm>
            <a:off x="457200" y="6448345"/>
            <a:ext cx="2133600" cy="365125"/>
          </a:xfrm>
        </p:spPr>
        <p:txBody>
          <a:bodyPr/>
          <a:lstStyle>
            <a:lvl1pPr>
              <a:defRPr/>
            </a:lvl1pPr>
          </a:lstStyle>
          <a:p>
            <a:pPr>
              <a:defRPr/>
            </a:pPr>
            <a:r>
              <a:rPr lang="it-IT"/>
              <a:t>20/03/2012</a:t>
            </a:r>
          </a:p>
        </p:txBody>
      </p:sp>
      <p:sp>
        <p:nvSpPr>
          <p:cNvPr id="4" name="Segnaposto piè di pagina 4"/>
          <p:cNvSpPr>
            <a:spLocks noGrp="1"/>
          </p:cNvSpPr>
          <p:nvPr>
            <p:ph type="ftr" sz="quarter" idx="11"/>
          </p:nvPr>
        </p:nvSpPr>
        <p:spPr>
          <a:xfrm>
            <a:off x="3124200" y="6448345"/>
            <a:ext cx="2895600" cy="365125"/>
          </a:xfrm>
        </p:spPr>
        <p:txBody>
          <a:bodyPr/>
          <a:lstStyle>
            <a:lvl1pPr>
              <a:defRPr/>
            </a:lvl1pPr>
          </a:lstStyle>
          <a:p>
            <a:pPr>
              <a:defRPr/>
            </a:pPr>
            <a:r>
              <a:rPr lang="it-IT"/>
              <a:t>Claudio De Sio Cesari: NJ-004</a:t>
            </a:r>
            <a:endParaRPr lang="it-IT" dirty="0"/>
          </a:p>
        </p:txBody>
      </p:sp>
      <p:sp>
        <p:nvSpPr>
          <p:cNvPr id="5" name="Segnaposto numero diapositiva 5"/>
          <p:cNvSpPr>
            <a:spLocks noGrp="1"/>
          </p:cNvSpPr>
          <p:nvPr>
            <p:ph type="sldNum" sz="quarter" idx="12"/>
          </p:nvPr>
        </p:nvSpPr>
        <p:spPr>
          <a:xfrm>
            <a:off x="6553200" y="6448345"/>
            <a:ext cx="2133600" cy="365125"/>
          </a:xfrm>
        </p:spPr>
        <p:txBody>
          <a:bodyPr/>
          <a:lstStyle>
            <a:lvl1pPr>
              <a:defRPr/>
            </a:lvl1pPr>
          </a:lstStyle>
          <a:p>
            <a:pPr>
              <a:defRPr/>
            </a:pPr>
            <a:fld id="{EAFDC1E0-E1FA-475B-A781-6647668C09E3}" type="slidenum">
              <a:rPr lang="it-IT"/>
              <a:pPr>
                <a:defRPr/>
              </a:pPr>
              <a:t>‹N›</a:t>
            </a:fld>
            <a:endParaRPr lang="it-IT"/>
          </a:p>
        </p:txBody>
      </p:sp>
    </p:spTree>
    <p:extLst>
      <p:ext uri="{BB962C8B-B14F-4D97-AF65-F5344CB8AC3E}">
        <p14:creationId xmlns:p14="http://schemas.microsoft.com/office/powerpoint/2010/main" val="1604631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lvl1pPr>
              <a:defRPr/>
            </a:lvl1pPr>
          </a:lstStyle>
          <a:p>
            <a:pPr>
              <a:defRPr/>
            </a:pPr>
            <a:r>
              <a:rPr lang="it-IT"/>
              <a:t>20/03/2012</a:t>
            </a:r>
          </a:p>
        </p:txBody>
      </p:sp>
      <p:sp>
        <p:nvSpPr>
          <p:cNvPr id="5" name="Segnaposto piè di pagina 4"/>
          <p:cNvSpPr>
            <a:spLocks noGrp="1"/>
          </p:cNvSpPr>
          <p:nvPr>
            <p:ph type="ftr" sz="quarter" idx="11"/>
          </p:nvPr>
        </p:nvSpPr>
        <p:spPr/>
        <p:txBody>
          <a:bodyPr/>
          <a:lstStyle>
            <a:lvl1pPr>
              <a:defRPr/>
            </a:lvl1pPr>
          </a:lstStyle>
          <a:p>
            <a:pPr>
              <a:defRPr/>
            </a:pPr>
            <a:r>
              <a:rPr lang="it-IT"/>
              <a:t>Claudio De Sio Cesari: NJ-004</a:t>
            </a:r>
            <a:endParaRPr lang="it-IT" dirty="0"/>
          </a:p>
        </p:txBody>
      </p:sp>
      <p:sp>
        <p:nvSpPr>
          <p:cNvPr id="6" name="Segnaposto numero diapositiva 5"/>
          <p:cNvSpPr>
            <a:spLocks noGrp="1"/>
          </p:cNvSpPr>
          <p:nvPr>
            <p:ph type="sldNum" sz="quarter" idx="12"/>
          </p:nvPr>
        </p:nvSpPr>
        <p:spPr/>
        <p:txBody>
          <a:bodyPr/>
          <a:lstStyle>
            <a:lvl1pPr>
              <a:defRPr/>
            </a:lvl1pPr>
          </a:lstStyle>
          <a:p>
            <a:pPr>
              <a:defRPr/>
            </a:pPr>
            <a:fld id="{23931951-706E-4828-A5DF-A5F618EB3661}" type="slidenum">
              <a:rPr lang="it-IT"/>
              <a:pPr>
                <a:defRPr/>
              </a:pPr>
              <a:t>‹N›</a:t>
            </a:fld>
            <a:endParaRPr lang="it-IT"/>
          </a:p>
        </p:txBody>
      </p:sp>
    </p:spTree>
    <p:extLst>
      <p:ext uri="{BB962C8B-B14F-4D97-AF65-F5344CB8AC3E}">
        <p14:creationId xmlns:p14="http://schemas.microsoft.com/office/powerpoint/2010/main" val="19447460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2"/>
            <a:ext cx="7772400" cy="1362075"/>
          </a:xfrm>
        </p:spPr>
        <p:txBody>
          <a:bodyPr anchor="t"/>
          <a:lstStyle>
            <a:lvl1pPr algn="l">
              <a:defRPr sz="4000" b="1" cap="all"/>
            </a:lvl1pPr>
          </a:lstStyle>
          <a:p>
            <a:r>
              <a:rPr lang="it-IT"/>
              <a:t>Fare clic per modificare lo stile del titolo</a:t>
            </a:r>
          </a:p>
        </p:txBody>
      </p:sp>
      <p:sp>
        <p:nvSpPr>
          <p:cNvPr id="3" name="Segnaposto testo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stili del testo dello schema</a:t>
            </a:r>
          </a:p>
        </p:txBody>
      </p:sp>
      <p:sp>
        <p:nvSpPr>
          <p:cNvPr id="4" name="Segnaposto data 3"/>
          <p:cNvSpPr>
            <a:spLocks noGrp="1"/>
          </p:cNvSpPr>
          <p:nvPr>
            <p:ph type="dt" sz="half" idx="10"/>
          </p:nvPr>
        </p:nvSpPr>
        <p:spPr/>
        <p:txBody>
          <a:bodyPr/>
          <a:lstStyle>
            <a:lvl1pPr>
              <a:defRPr/>
            </a:lvl1pPr>
          </a:lstStyle>
          <a:p>
            <a:pPr>
              <a:defRPr/>
            </a:pPr>
            <a:r>
              <a:rPr lang="it-IT"/>
              <a:t>20/03/2012</a:t>
            </a:r>
          </a:p>
        </p:txBody>
      </p:sp>
      <p:sp>
        <p:nvSpPr>
          <p:cNvPr id="5" name="Segnaposto piè di pagina 4"/>
          <p:cNvSpPr>
            <a:spLocks noGrp="1"/>
          </p:cNvSpPr>
          <p:nvPr>
            <p:ph type="ftr" sz="quarter" idx="11"/>
          </p:nvPr>
        </p:nvSpPr>
        <p:spPr/>
        <p:txBody>
          <a:bodyPr/>
          <a:lstStyle>
            <a:lvl1pPr>
              <a:defRPr/>
            </a:lvl1pPr>
          </a:lstStyle>
          <a:p>
            <a:pPr>
              <a:defRPr/>
            </a:pPr>
            <a:r>
              <a:rPr lang="it-IT"/>
              <a:t>Claudio De Sio Cesari: NJ-004</a:t>
            </a:r>
            <a:endParaRPr lang="it-IT" dirty="0"/>
          </a:p>
        </p:txBody>
      </p:sp>
      <p:sp>
        <p:nvSpPr>
          <p:cNvPr id="6" name="Segnaposto numero diapositiva 5"/>
          <p:cNvSpPr>
            <a:spLocks noGrp="1"/>
          </p:cNvSpPr>
          <p:nvPr>
            <p:ph type="sldNum" sz="quarter" idx="12"/>
          </p:nvPr>
        </p:nvSpPr>
        <p:spPr/>
        <p:txBody>
          <a:bodyPr/>
          <a:lstStyle>
            <a:lvl1pPr>
              <a:defRPr/>
            </a:lvl1pPr>
          </a:lstStyle>
          <a:p>
            <a:pPr>
              <a:defRPr/>
            </a:pPr>
            <a:fld id="{E38AB037-F906-4F18-AB42-E6112392815B}" type="slidenum">
              <a:rPr lang="it-IT"/>
              <a:pPr>
                <a:defRPr/>
              </a:pPr>
              <a:t>‹N›</a:t>
            </a:fld>
            <a:endParaRPr lang="it-IT"/>
          </a:p>
        </p:txBody>
      </p:sp>
    </p:spTree>
    <p:extLst>
      <p:ext uri="{BB962C8B-B14F-4D97-AF65-F5344CB8AC3E}">
        <p14:creationId xmlns:p14="http://schemas.microsoft.com/office/powerpoint/2010/main" val="712030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sz="half" idx="1"/>
          </p:nvPr>
        </p:nvSpPr>
        <p:spPr>
          <a:xfrm>
            <a:off x="457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3"/>
          <p:cNvSpPr>
            <a:spLocks noGrp="1"/>
          </p:cNvSpPr>
          <p:nvPr>
            <p:ph type="dt" sz="half" idx="10"/>
          </p:nvPr>
        </p:nvSpPr>
        <p:spPr/>
        <p:txBody>
          <a:bodyPr/>
          <a:lstStyle>
            <a:lvl1pPr>
              <a:defRPr/>
            </a:lvl1pPr>
          </a:lstStyle>
          <a:p>
            <a:pPr>
              <a:defRPr/>
            </a:pPr>
            <a:r>
              <a:rPr lang="it-IT"/>
              <a:t>20/03/2012</a:t>
            </a:r>
          </a:p>
        </p:txBody>
      </p:sp>
      <p:sp>
        <p:nvSpPr>
          <p:cNvPr id="6" name="Segnaposto piè di pagina 4"/>
          <p:cNvSpPr>
            <a:spLocks noGrp="1"/>
          </p:cNvSpPr>
          <p:nvPr>
            <p:ph type="ftr" sz="quarter" idx="11"/>
          </p:nvPr>
        </p:nvSpPr>
        <p:spPr/>
        <p:txBody>
          <a:bodyPr/>
          <a:lstStyle>
            <a:lvl1pPr>
              <a:defRPr/>
            </a:lvl1pPr>
          </a:lstStyle>
          <a:p>
            <a:pPr>
              <a:defRPr/>
            </a:pPr>
            <a:r>
              <a:rPr lang="it-IT"/>
              <a:t>Claudio De Sio Cesari: NJ-004</a:t>
            </a:r>
            <a:endParaRPr lang="it-IT" dirty="0"/>
          </a:p>
        </p:txBody>
      </p:sp>
      <p:sp>
        <p:nvSpPr>
          <p:cNvPr id="7" name="Segnaposto numero diapositiva 5"/>
          <p:cNvSpPr>
            <a:spLocks noGrp="1"/>
          </p:cNvSpPr>
          <p:nvPr>
            <p:ph type="sldNum" sz="quarter" idx="12"/>
          </p:nvPr>
        </p:nvSpPr>
        <p:spPr/>
        <p:txBody>
          <a:bodyPr/>
          <a:lstStyle>
            <a:lvl1pPr>
              <a:defRPr/>
            </a:lvl1pPr>
          </a:lstStyle>
          <a:p>
            <a:pPr>
              <a:defRPr/>
            </a:pPr>
            <a:fld id="{1B333BF1-6409-4282-97C2-A463B03E8B60}" type="slidenum">
              <a:rPr lang="it-IT"/>
              <a:pPr>
                <a:defRPr/>
              </a:pPr>
              <a:t>‹N›</a:t>
            </a:fld>
            <a:endParaRPr lang="it-IT"/>
          </a:p>
        </p:txBody>
      </p:sp>
    </p:spTree>
    <p:extLst>
      <p:ext uri="{BB962C8B-B14F-4D97-AF65-F5344CB8AC3E}">
        <p14:creationId xmlns:p14="http://schemas.microsoft.com/office/powerpoint/2010/main" val="4077066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apositiva titolo">
    <p:spTree>
      <p:nvGrpSpPr>
        <p:cNvPr id="1" name=""/>
        <p:cNvGrpSpPr/>
        <p:nvPr/>
      </p:nvGrpSpPr>
      <p:grpSpPr>
        <a:xfrm>
          <a:off x="0" y="0"/>
          <a:ext cx="0" cy="0"/>
          <a:chOff x="0" y="0"/>
          <a:chExt cx="0" cy="0"/>
        </a:xfrm>
      </p:grpSpPr>
      <p:sp>
        <p:nvSpPr>
          <p:cNvPr id="2" name="Segnaposto data 3"/>
          <p:cNvSpPr>
            <a:spLocks noGrp="1"/>
          </p:cNvSpPr>
          <p:nvPr>
            <p:ph type="dt" sz="half" idx="10"/>
          </p:nvPr>
        </p:nvSpPr>
        <p:spPr/>
        <p:txBody>
          <a:bodyPr/>
          <a:lstStyle>
            <a:lvl1pPr>
              <a:defRPr/>
            </a:lvl1pPr>
          </a:lstStyle>
          <a:p>
            <a:r>
              <a:rPr lang="it-IT"/>
              <a:t>20/03/2012</a:t>
            </a:r>
          </a:p>
        </p:txBody>
      </p:sp>
      <p:sp>
        <p:nvSpPr>
          <p:cNvPr id="3" name="Segnaposto piè di pagina 4"/>
          <p:cNvSpPr>
            <a:spLocks noGrp="1"/>
          </p:cNvSpPr>
          <p:nvPr>
            <p:ph type="ftr" sz="quarter" idx="11"/>
          </p:nvPr>
        </p:nvSpPr>
        <p:spPr/>
        <p:txBody>
          <a:bodyPr/>
          <a:lstStyle>
            <a:lvl1pPr>
              <a:defRPr/>
            </a:lvl1pPr>
          </a:lstStyle>
          <a:p>
            <a:r>
              <a:rPr lang="pt-BR">
                <a:solidFill>
                  <a:prstClr val="black">
                    <a:tint val="75000"/>
                  </a:prstClr>
                </a:solidFill>
              </a:rPr>
              <a:t>Claudio De Sio Cesari: NJ-004</a:t>
            </a:r>
            <a:endParaRPr lang="it-IT">
              <a:solidFill>
                <a:prstClr val="black">
                  <a:tint val="75000"/>
                </a:prstClr>
              </a:solidFill>
            </a:endParaRPr>
          </a:p>
        </p:txBody>
      </p:sp>
      <p:sp>
        <p:nvSpPr>
          <p:cNvPr id="4" name="Segnaposto numero diapositiva 5"/>
          <p:cNvSpPr>
            <a:spLocks noGrp="1"/>
          </p:cNvSpPr>
          <p:nvPr>
            <p:ph type="sldNum" sz="quarter" idx="12"/>
          </p:nvPr>
        </p:nvSpPr>
        <p:spPr/>
        <p:txBody>
          <a:bodyPr/>
          <a:lstStyle>
            <a:lvl1pPr>
              <a:defRPr/>
            </a:lvl1pPr>
          </a:lstStyle>
          <a:p>
            <a:fld id="{EA83E0A8-4958-4553-8C1A-CC59A6ABE123}" type="slidenum">
              <a:rPr lang="it-IT" smtClean="0"/>
              <a:pPr/>
              <a:t>‹N›</a:t>
            </a:fld>
            <a:endParaRPr lang="it-IT"/>
          </a:p>
        </p:txBody>
      </p:sp>
    </p:spTree>
    <p:extLst>
      <p:ext uri="{BB962C8B-B14F-4D97-AF65-F5344CB8AC3E}">
        <p14:creationId xmlns:p14="http://schemas.microsoft.com/office/powerpoint/2010/main" val="1366589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olo e contenuto">
    <p:spTree>
      <p:nvGrpSpPr>
        <p:cNvPr id="1" name=""/>
        <p:cNvGrpSpPr/>
        <p:nvPr/>
      </p:nvGrpSpPr>
      <p:grpSpPr>
        <a:xfrm>
          <a:off x="0" y="0"/>
          <a:ext cx="0" cy="0"/>
          <a:chOff x="0" y="0"/>
          <a:chExt cx="0" cy="0"/>
        </a:xfrm>
      </p:grpSpPr>
      <p:sp>
        <p:nvSpPr>
          <p:cNvPr id="2" name="Segnaposto data 3"/>
          <p:cNvSpPr>
            <a:spLocks noGrp="1"/>
          </p:cNvSpPr>
          <p:nvPr>
            <p:ph type="dt" sz="half" idx="10"/>
          </p:nvPr>
        </p:nvSpPr>
        <p:spPr/>
        <p:txBody>
          <a:bodyPr/>
          <a:lstStyle>
            <a:lvl1pPr>
              <a:defRPr/>
            </a:lvl1pPr>
          </a:lstStyle>
          <a:p>
            <a:r>
              <a:rPr lang="it-IT"/>
              <a:t>20/03/2012</a:t>
            </a:r>
          </a:p>
        </p:txBody>
      </p:sp>
      <p:sp>
        <p:nvSpPr>
          <p:cNvPr id="3" name="Segnaposto piè di pagina 4"/>
          <p:cNvSpPr>
            <a:spLocks noGrp="1"/>
          </p:cNvSpPr>
          <p:nvPr>
            <p:ph type="ftr" sz="quarter" idx="11"/>
          </p:nvPr>
        </p:nvSpPr>
        <p:spPr/>
        <p:txBody>
          <a:bodyPr/>
          <a:lstStyle>
            <a:lvl1pPr>
              <a:defRPr/>
            </a:lvl1pPr>
          </a:lstStyle>
          <a:p>
            <a:r>
              <a:rPr lang="pt-BR">
                <a:solidFill>
                  <a:prstClr val="black">
                    <a:tint val="75000"/>
                  </a:prstClr>
                </a:solidFill>
              </a:rPr>
              <a:t>Claudio De Sio Cesari: NJ-004</a:t>
            </a:r>
            <a:endParaRPr lang="it-IT">
              <a:solidFill>
                <a:prstClr val="black">
                  <a:tint val="75000"/>
                </a:prstClr>
              </a:solidFill>
            </a:endParaRPr>
          </a:p>
        </p:txBody>
      </p:sp>
      <p:sp>
        <p:nvSpPr>
          <p:cNvPr id="4" name="Segnaposto numero diapositiva 5"/>
          <p:cNvSpPr>
            <a:spLocks noGrp="1"/>
          </p:cNvSpPr>
          <p:nvPr>
            <p:ph type="sldNum" sz="quarter" idx="12"/>
          </p:nvPr>
        </p:nvSpPr>
        <p:spPr/>
        <p:txBody>
          <a:bodyPr/>
          <a:lstStyle>
            <a:lvl1pPr>
              <a:defRPr/>
            </a:lvl1pPr>
          </a:lstStyle>
          <a:p>
            <a:fld id="{EA83E0A8-4958-4553-8C1A-CC59A6ABE123}" type="slidenum">
              <a:rPr lang="it-IT" smtClean="0"/>
              <a:pPr/>
              <a:t>‹N›</a:t>
            </a:fld>
            <a:endParaRPr lang="it-IT"/>
          </a:p>
        </p:txBody>
      </p:sp>
    </p:spTree>
    <p:extLst>
      <p:ext uri="{BB962C8B-B14F-4D97-AF65-F5344CB8AC3E}">
        <p14:creationId xmlns:p14="http://schemas.microsoft.com/office/powerpoint/2010/main" val="35198248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9"/>
            <a:ext cx="7772400" cy="1470025"/>
          </a:xfrm>
        </p:spPr>
        <p:txBody>
          <a:bodyPr/>
          <a:lstStyle/>
          <a:p>
            <a:r>
              <a:rPr lang="it-IT"/>
              <a:t>Fare clic per modificare lo stile del titolo</a:t>
            </a:r>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p>
        </p:txBody>
      </p:sp>
      <p:sp>
        <p:nvSpPr>
          <p:cNvPr id="4" name="Segnaposto data 3"/>
          <p:cNvSpPr>
            <a:spLocks noGrp="1"/>
          </p:cNvSpPr>
          <p:nvPr>
            <p:ph type="dt" sz="half" idx="10"/>
          </p:nvPr>
        </p:nvSpPr>
        <p:spPr/>
        <p:txBody>
          <a:bodyPr/>
          <a:lstStyle/>
          <a:p>
            <a:r>
              <a:rPr lang="it-IT"/>
              <a:t>20/03/2012</a:t>
            </a:r>
          </a:p>
        </p:txBody>
      </p:sp>
      <p:sp>
        <p:nvSpPr>
          <p:cNvPr id="5" name="Segnaposto piè di pagina 4"/>
          <p:cNvSpPr>
            <a:spLocks noGrp="1"/>
          </p:cNvSpPr>
          <p:nvPr>
            <p:ph type="ftr" sz="quarter" idx="11"/>
          </p:nvPr>
        </p:nvSpPr>
        <p:spPr/>
        <p:txBody>
          <a:bodyPr/>
          <a:lstStyle/>
          <a:p>
            <a:r>
              <a:rPr lang="pt-BR">
                <a:solidFill>
                  <a:prstClr val="black">
                    <a:tint val="75000"/>
                  </a:prstClr>
                </a:solidFill>
              </a:rPr>
              <a:t>Claudio De Sio Cesari: NJ-004</a:t>
            </a:r>
            <a:endParaRPr lang="it-IT">
              <a:solidFill>
                <a:prstClr val="black">
                  <a:tint val="75000"/>
                </a:prstClr>
              </a:solidFill>
            </a:endParaRPr>
          </a:p>
        </p:txBody>
      </p:sp>
      <p:sp>
        <p:nvSpPr>
          <p:cNvPr id="6" name="Segnaposto numero diapositiva 5"/>
          <p:cNvSpPr>
            <a:spLocks noGrp="1"/>
          </p:cNvSpPr>
          <p:nvPr>
            <p:ph type="sldNum" sz="quarter" idx="12"/>
          </p:nvPr>
        </p:nvSpPr>
        <p:spPr/>
        <p:txBody>
          <a:bodyPr/>
          <a:lstStyle/>
          <a:p>
            <a:fld id="{EA83E0A8-4958-4553-8C1A-CC59A6ABE123}" type="slidenum">
              <a:rPr lang="it-IT" smtClean="0"/>
              <a:pPr/>
              <a:t>‹N›</a:t>
            </a:fld>
            <a:endParaRPr lang="it-IT"/>
          </a:p>
        </p:txBody>
      </p:sp>
    </p:spTree>
    <p:extLst>
      <p:ext uri="{BB962C8B-B14F-4D97-AF65-F5344CB8AC3E}">
        <p14:creationId xmlns:p14="http://schemas.microsoft.com/office/powerpoint/2010/main" val="34369738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itolo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457200" y="376022"/>
            <a:ext cx="8229600" cy="1252728"/>
          </a:xfrm>
        </p:spPr>
        <p:txBody>
          <a:bodyPr/>
          <a:lstStyle>
            <a:lvl1pPr algn="l">
              <a:defRPr sz="1800"/>
            </a:lvl1pPr>
            <a:extLst/>
          </a:lstStyle>
          <a:p>
            <a:r>
              <a:rPr kumimoji="0" lang="it-IT" dirty="0"/>
              <a:t>Fare clic per modificare lo stile del titolo</a:t>
            </a:r>
            <a:endParaRPr kumimoji="0" lang="en-US" dirty="0"/>
          </a:p>
        </p:txBody>
      </p:sp>
      <p:sp>
        <p:nvSpPr>
          <p:cNvPr id="3" name="Segnaposto contenuto 2"/>
          <p:cNvSpPr>
            <a:spLocks noGrp="1"/>
          </p:cNvSpPr>
          <p:nvPr>
            <p:ph idx="1"/>
          </p:nvPr>
        </p:nvSpPr>
        <p:spPr/>
        <p:txBody>
          <a:bodyPr/>
          <a:lstStyle>
            <a:lvl1pPr>
              <a:defRPr sz="1600"/>
            </a:lvl1pPr>
            <a:lvl2pPr>
              <a:defRPr sz="1600"/>
            </a:lvl2pPr>
            <a:lvl3pPr>
              <a:defRPr sz="1600"/>
            </a:lvl3pPr>
            <a:lvl4pPr>
              <a:defRPr sz="1600"/>
            </a:lvl4pPr>
            <a:lvl5pPr>
              <a:defRPr sz="1600"/>
            </a:lvl5pPr>
            <a:extLst/>
          </a:lstStyle>
          <a:p>
            <a:pPr lvl="0" eaLnBrk="1" latinLnBrk="0" hangingPunct="1"/>
            <a:r>
              <a:rPr lang="it-IT" dirty="0"/>
              <a:t>Fare clic per modificare stili del testo dello schema</a:t>
            </a:r>
          </a:p>
          <a:p>
            <a:pPr lvl="1" eaLnBrk="1" latinLnBrk="0" hangingPunct="1"/>
            <a:r>
              <a:rPr lang="it-IT" dirty="0"/>
              <a:t>Secondo livello</a:t>
            </a:r>
          </a:p>
          <a:p>
            <a:pPr lvl="2" eaLnBrk="1" latinLnBrk="0" hangingPunct="1"/>
            <a:r>
              <a:rPr lang="it-IT" dirty="0"/>
              <a:t>Terzo livello</a:t>
            </a:r>
          </a:p>
          <a:p>
            <a:pPr lvl="3" eaLnBrk="1" latinLnBrk="0" hangingPunct="1"/>
            <a:r>
              <a:rPr lang="it-IT" dirty="0"/>
              <a:t>Quarto livello</a:t>
            </a:r>
          </a:p>
          <a:p>
            <a:pPr lvl="4" eaLnBrk="1" latinLnBrk="0" hangingPunct="1"/>
            <a:r>
              <a:rPr lang="it-IT" dirty="0"/>
              <a:t>Quinto livello</a:t>
            </a:r>
            <a:endParaRPr kumimoji="0" lang="en-US" dirty="0"/>
          </a:p>
        </p:txBody>
      </p:sp>
      <p:sp>
        <p:nvSpPr>
          <p:cNvPr id="4" name="Segnaposto data 3"/>
          <p:cNvSpPr>
            <a:spLocks noGrp="1"/>
          </p:cNvSpPr>
          <p:nvPr>
            <p:ph type="dt" sz="half" idx="10"/>
          </p:nvPr>
        </p:nvSpPr>
        <p:spPr/>
        <p:txBody>
          <a:bodyPr/>
          <a:lstStyle/>
          <a:p>
            <a:r>
              <a:rPr lang="it-IT"/>
              <a:t>20/03/2012</a:t>
            </a:r>
          </a:p>
        </p:txBody>
      </p:sp>
      <p:sp>
        <p:nvSpPr>
          <p:cNvPr id="5" name="Segnaposto piè di pagina 4"/>
          <p:cNvSpPr>
            <a:spLocks noGrp="1"/>
          </p:cNvSpPr>
          <p:nvPr>
            <p:ph type="ftr" sz="quarter" idx="11"/>
          </p:nvPr>
        </p:nvSpPr>
        <p:spPr/>
        <p:txBody>
          <a:bodyPr/>
          <a:lstStyle/>
          <a:p>
            <a:r>
              <a:rPr lang="pt-BR">
                <a:solidFill>
                  <a:prstClr val="black">
                    <a:tint val="75000"/>
                  </a:prstClr>
                </a:solidFill>
              </a:rPr>
              <a:t>Claudio De Sio Cesari: NJ-004</a:t>
            </a:r>
            <a:endParaRPr lang="it-IT">
              <a:solidFill>
                <a:prstClr val="black">
                  <a:tint val="75000"/>
                </a:prstClr>
              </a:solidFill>
            </a:endParaRPr>
          </a:p>
        </p:txBody>
      </p:sp>
      <p:sp>
        <p:nvSpPr>
          <p:cNvPr id="6" name="Segnaposto numero diapositiva 5"/>
          <p:cNvSpPr>
            <a:spLocks noGrp="1"/>
          </p:cNvSpPr>
          <p:nvPr>
            <p:ph type="sldNum" sz="quarter" idx="12"/>
          </p:nvPr>
        </p:nvSpPr>
        <p:spPr/>
        <p:txBody>
          <a:bodyPr/>
          <a:lstStyle/>
          <a:p>
            <a:fld id="{A47CFDED-9124-48F1-BBFC-49CD505FB6D3}" type="slidenum">
              <a:rPr lang="it-IT" smtClean="0"/>
              <a:pPr/>
              <a:t>‹N›</a:t>
            </a:fld>
            <a:endParaRPr lang="it-IT"/>
          </a:p>
        </p:txBody>
      </p:sp>
    </p:spTree>
    <p:extLst>
      <p:ext uri="{BB962C8B-B14F-4D97-AF65-F5344CB8AC3E}">
        <p14:creationId xmlns:p14="http://schemas.microsoft.com/office/powerpoint/2010/main" val="38115238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1657350" y="4464028"/>
            <a:ext cx="6858000" cy="1194650"/>
          </a:xfrm>
        </p:spPr>
        <p:txBody>
          <a:bodyPr wrap="none" anchor="t">
            <a:normAutofit/>
          </a:bodyPr>
          <a:lstStyle>
            <a:lvl1pPr algn="r">
              <a:defRPr sz="7200" b="0" spc="-225">
                <a:gradFill flip="none" rotWithShape="1">
                  <a:gsLst>
                    <a:gs pos="32000">
                      <a:schemeClr val="tx1">
                        <a:lumMod val="89000"/>
                      </a:schemeClr>
                    </a:gs>
                    <a:gs pos="100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it-IT"/>
              <a:t>Fare clic per modificare lo stile del titolo</a:t>
            </a:r>
            <a:endParaRPr lang="en-US" dirty="0"/>
          </a:p>
        </p:txBody>
      </p:sp>
      <p:sp>
        <p:nvSpPr>
          <p:cNvPr id="3" name="Subtitle 2"/>
          <p:cNvSpPr>
            <a:spLocks noGrp="1"/>
          </p:cNvSpPr>
          <p:nvPr>
            <p:ph type="subTitle" idx="1"/>
          </p:nvPr>
        </p:nvSpPr>
        <p:spPr>
          <a:xfrm>
            <a:off x="1657349" y="3829878"/>
            <a:ext cx="6858000" cy="618523"/>
          </a:xfrm>
        </p:spPr>
        <p:txBody>
          <a:bodyPr anchor="b">
            <a:normAutofit/>
          </a:bodyPr>
          <a:lstStyle>
            <a:lvl1pPr marL="0" indent="0" algn="r">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it-IT"/>
              <a:t>Fare clic per modificare lo stile del sottotitolo dello schema</a:t>
            </a:r>
            <a:endParaRPr lang="en-US" dirty="0"/>
          </a:p>
        </p:txBody>
      </p:sp>
      <p:sp>
        <p:nvSpPr>
          <p:cNvPr id="7" name="Date Placeholder 6"/>
          <p:cNvSpPr>
            <a:spLocks noGrp="1"/>
          </p:cNvSpPr>
          <p:nvPr>
            <p:ph type="dt" sz="half" idx="10"/>
          </p:nvPr>
        </p:nvSpPr>
        <p:spPr/>
        <p:txBody>
          <a:bodyPr/>
          <a:lstStyle/>
          <a:p>
            <a:r>
              <a:rPr lang="it-IT"/>
              <a:t>20/03/2012</a:t>
            </a:r>
          </a:p>
        </p:txBody>
      </p:sp>
      <p:sp>
        <p:nvSpPr>
          <p:cNvPr id="8" name="Footer Placeholder 7"/>
          <p:cNvSpPr>
            <a:spLocks noGrp="1"/>
          </p:cNvSpPr>
          <p:nvPr>
            <p:ph type="ftr" sz="quarter" idx="11"/>
          </p:nvPr>
        </p:nvSpPr>
        <p:spPr/>
        <p:txBody>
          <a:bodyPr/>
          <a:lstStyle/>
          <a:p>
            <a:r>
              <a:rPr lang="it-IT"/>
              <a:t>Claudio De Sio Cesari: NJ-004</a:t>
            </a:r>
            <a:endParaRPr lang="it-IT" dirty="0"/>
          </a:p>
        </p:txBody>
      </p:sp>
      <p:sp>
        <p:nvSpPr>
          <p:cNvPr id="9" name="Slide Number Placeholder 8"/>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37229801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it-IT"/>
              <a:t>Fare clic per modificare lo stile del titolo</a:t>
            </a:r>
            <a:endParaRPr lang="en-US" dirty="0"/>
          </a:p>
        </p:txBody>
      </p:sp>
      <p:sp>
        <p:nvSpPr>
          <p:cNvPr id="3" name="Content Placeholder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r>
              <a:rPr lang="it-IT"/>
              <a:t>20/03/2012</a:t>
            </a:r>
          </a:p>
        </p:txBody>
      </p:sp>
      <p:sp>
        <p:nvSpPr>
          <p:cNvPr id="5" name="Footer Placeholder 4"/>
          <p:cNvSpPr>
            <a:spLocks noGrp="1"/>
          </p:cNvSpPr>
          <p:nvPr>
            <p:ph type="ftr" sz="quarter" idx="11"/>
          </p:nvPr>
        </p:nvSpPr>
        <p:spPr/>
        <p:txBody>
          <a:bodyPr/>
          <a:lstStyle/>
          <a:p>
            <a:r>
              <a:rPr lang="it-IT"/>
              <a:t>Claudio De Sio Cesari: NJ-004</a:t>
            </a:r>
            <a:endParaRPr lang="it-IT" dirty="0"/>
          </a:p>
        </p:txBody>
      </p:sp>
      <p:sp>
        <p:nvSpPr>
          <p:cNvPr id="6" name="Slide Number Placeholder 5"/>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37832838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7" name="Title 1"/>
          <p:cNvSpPr>
            <a:spLocks noGrp="1"/>
          </p:cNvSpPr>
          <p:nvPr>
            <p:ph type="ctrTitle"/>
          </p:nvPr>
        </p:nvSpPr>
        <p:spPr>
          <a:xfrm>
            <a:off x="640899" y="4464028"/>
            <a:ext cx="6858000" cy="1194650"/>
          </a:xfrm>
        </p:spPr>
        <p:txBody>
          <a:bodyPr wrap="none" anchor="t">
            <a:normAutofit/>
          </a:bodyPr>
          <a:lstStyle>
            <a:lvl1pPr algn="l">
              <a:defRPr sz="7200" b="0" spc="-225">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it-IT"/>
              <a:t>Fare clic per modificare lo stile del titolo</a:t>
            </a:r>
            <a:endParaRPr lang="en-US" dirty="0"/>
          </a:p>
        </p:txBody>
      </p:sp>
      <p:sp>
        <p:nvSpPr>
          <p:cNvPr id="8" name="Subtitle 2"/>
          <p:cNvSpPr>
            <a:spLocks noGrp="1"/>
          </p:cNvSpPr>
          <p:nvPr>
            <p:ph type="subTitle" idx="1"/>
          </p:nvPr>
        </p:nvSpPr>
        <p:spPr>
          <a:xfrm>
            <a:off x="640899" y="3829878"/>
            <a:ext cx="6858000" cy="617822"/>
          </a:xfrm>
        </p:spPr>
        <p:txBody>
          <a:bodyPr anchor="b">
            <a:normAutofit/>
          </a:bodyPr>
          <a:lstStyle>
            <a:lvl1pPr marL="0" indent="0" algn="l">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p:txBody>
          <a:bodyPr/>
          <a:lstStyle/>
          <a:p>
            <a:r>
              <a:rPr lang="it-IT"/>
              <a:t>20/03/2012</a:t>
            </a:r>
          </a:p>
        </p:txBody>
      </p:sp>
      <p:sp>
        <p:nvSpPr>
          <p:cNvPr id="5" name="Footer Placeholder 4"/>
          <p:cNvSpPr>
            <a:spLocks noGrp="1"/>
          </p:cNvSpPr>
          <p:nvPr>
            <p:ph type="ftr" sz="quarter" idx="11"/>
          </p:nvPr>
        </p:nvSpPr>
        <p:spPr/>
        <p:txBody>
          <a:bodyPr/>
          <a:lstStyle/>
          <a:p>
            <a:r>
              <a:rPr lang="it-IT"/>
              <a:t>Claudio De Sio Cesari: NJ-004</a:t>
            </a:r>
            <a:endParaRPr lang="it-IT" dirty="0"/>
          </a:p>
        </p:txBody>
      </p:sp>
      <p:sp>
        <p:nvSpPr>
          <p:cNvPr id="6" name="Slide Number Placeholder 5"/>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42092862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a:t>
            </a:r>
            <a:endParaRPr lang="en-US" dirty="0"/>
          </a:p>
        </p:txBody>
      </p:sp>
      <p:sp>
        <p:nvSpPr>
          <p:cNvPr id="3" name="Content Placeholder 2"/>
          <p:cNvSpPr>
            <a:spLocks noGrp="1"/>
          </p:cNvSpPr>
          <p:nvPr>
            <p:ph sz="half" idx="1"/>
          </p:nvPr>
        </p:nvSpPr>
        <p:spPr>
          <a:xfrm>
            <a:off x="840000" y="1825625"/>
            <a:ext cx="3768912" cy="435133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4739880" y="1825625"/>
            <a:ext cx="3775470" cy="435133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r>
              <a:rPr lang="it-IT"/>
              <a:t>20/03/2012</a:t>
            </a:r>
          </a:p>
        </p:txBody>
      </p:sp>
      <p:sp>
        <p:nvSpPr>
          <p:cNvPr id="6" name="Footer Placeholder 5"/>
          <p:cNvSpPr>
            <a:spLocks noGrp="1"/>
          </p:cNvSpPr>
          <p:nvPr>
            <p:ph type="ftr" sz="quarter" idx="11"/>
          </p:nvPr>
        </p:nvSpPr>
        <p:spPr/>
        <p:txBody>
          <a:bodyPr/>
          <a:lstStyle/>
          <a:p>
            <a:r>
              <a:rPr lang="it-IT"/>
              <a:t>Claudio De Sio Cesari: NJ-004</a:t>
            </a:r>
            <a:endParaRPr lang="it-IT" dirty="0"/>
          </a:p>
        </p:txBody>
      </p:sp>
      <p:sp>
        <p:nvSpPr>
          <p:cNvPr id="7" name="Slide Number Placeholder 6"/>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39487856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it-IT"/>
              <a:t>Fare clic per modificare lo stile del titolo</a:t>
            </a:r>
            <a:endParaRPr lang="en-US" dirty="0"/>
          </a:p>
        </p:txBody>
      </p:sp>
      <p:sp>
        <p:nvSpPr>
          <p:cNvPr id="3" name="Text Placeholder 2"/>
          <p:cNvSpPr>
            <a:spLocks noGrp="1"/>
          </p:cNvSpPr>
          <p:nvPr>
            <p:ph type="body" idx="1"/>
          </p:nvPr>
        </p:nvSpPr>
        <p:spPr>
          <a:xfrm>
            <a:off x="840000" y="1681163"/>
            <a:ext cx="3768912" cy="823912"/>
          </a:xfrm>
        </p:spPr>
        <p:txBody>
          <a:bodyPr anchor="b">
            <a:normAutofit/>
          </a:bodyPr>
          <a:lstStyle>
            <a:lvl1pPr marL="0" indent="0">
              <a:buNone/>
              <a:defRPr sz="20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stili del testo dello schema</a:t>
            </a:r>
          </a:p>
        </p:txBody>
      </p:sp>
      <p:sp>
        <p:nvSpPr>
          <p:cNvPr id="4" name="Content Placeholder 3"/>
          <p:cNvSpPr>
            <a:spLocks noGrp="1"/>
          </p:cNvSpPr>
          <p:nvPr>
            <p:ph sz="half" idx="2"/>
          </p:nvPr>
        </p:nvSpPr>
        <p:spPr>
          <a:xfrm>
            <a:off x="840000" y="2505075"/>
            <a:ext cx="3768912" cy="368458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4739880" y="1681163"/>
            <a:ext cx="3776661" cy="823912"/>
          </a:xfrm>
        </p:spPr>
        <p:txBody>
          <a:bodyPr vert="horz" lIns="91440" tIns="45720" rIns="91440" bIns="45720" rtlCol="0" anchor="b">
            <a:normAutofit/>
          </a:bodyPr>
          <a:lstStyle>
            <a:lvl1pPr>
              <a:buNone/>
              <a:defRPr lang="en-US" sz="20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it-IT"/>
              <a:t>Fare clic per modificare stili del testo dello schema</a:t>
            </a:r>
          </a:p>
        </p:txBody>
      </p:sp>
      <p:sp>
        <p:nvSpPr>
          <p:cNvPr id="6" name="Content Placeholder 5"/>
          <p:cNvSpPr>
            <a:spLocks noGrp="1"/>
          </p:cNvSpPr>
          <p:nvPr>
            <p:ph sz="quarter" idx="4"/>
          </p:nvPr>
        </p:nvSpPr>
        <p:spPr>
          <a:xfrm>
            <a:off x="4739880" y="2505075"/>
            <a:ext cx="3776661" cy="368458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r>
              <a:rPr lang="it-IT"/>
              <a:t>20/03/2012</a:t>
            </a:r>
          </a:p>
        </p:txBody>
      </p:sp>
      <p:sp>
        <p:nvSpPr>
          <p:cNvPr id="8" name="Footer Placeholder 7"/>
          <p:cNvSpPr>
            <a:spLocks noGrp="1"/>
          </p:cNvSpPr>
          <p:nvPr>
            <p:ph type="ftr" sz="quarter" idx="11"/>
          </p:nvPr>
        </p:nvSpPr>
        <p:spPr/>
        <p:txBody>
          <a:bodyPr/>
          <a:lstStyle/>
          <a:p>
            <a:r>
              <a:rPr lang="it-IT"/>
              <a:t>Claudio De Sio Cesari: NJ-004</a:t>
            </a:r>
            <a:endParaRPr lang="it-IT" dirty="0"/>
          </a:p>
        </p:txBody>
      </p:sp>
      <p:sp>
        <p:nvSpPr>
          <p:cNvPr id="9" name="Slide Number Placeholder 8"/>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23294451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a:t>
            </a:r>
            <a:endParaRPr lang="en-US" dirty="0"/>
          </a:p>
        </p:txBody>
      </p:sp>
      <p:sp>
        <p:nvSpPr>
          <p:cNvPr id="3" name="Date Placeholder 2"/>
          <p:cNvSpPr>
            <a:spLocks noGrp="1"/>
          </p:cNvSpPr>
          <p:nvPr>
            <p:ph type="dt" sz="half" idx="10"/>
          </p:nvPr>
        </p:nvSpPr>
        <p:spPr/>
        <p:txBody>
          <a:bodyPr/>
          <a:lstStyle/>
          <a:p>
            <a:r>
              <a:rPr lang="it-IT"/>
              <a:t>20/03/2012</a:t>
            </a:r>
          </a:p>
        </p:txBody>
      </p:sp>
      <p:sp>
        <p:nvSpPr>
          <p:cNvPr id="4" name="Footer Placeholder 3"/>
          <p:cNvSpPr>
            <a:spLocks noGrp="1"/>
          </p:cNvSpPr>
          <p:nvPr>
            <p:ph type="ftr" sz="quarter" idx="11"/>
          </p:nvPr>
        </p:nvSpPr>
        <p:spPr/>
        <p:txBody>
          <a:bodyPr/>
          <a:lstStyle/>
          <a:p>
            <a:r>
              <a:rPr lang="it-IT"/>
              <a:t>Claudio De Sio Cesari: NJ-004</a:t>
            </a:r>
            <a:endParaRPr lang="it-IT" dirty="0"/>
          </a:p>
        </p:txBody>
      </p:sp>
      <p:sp>
        <p:nvSpPr>
          <p:cNvPr id="5" name="Slide Number Placeholder 4"/>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16053460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it-IT"/>
              <a:t>20/03/2012</a:t>
            </a:r>
          </a:p>
        </p:txBody>
      </p:sp>
      <p:sp>
        <p:nvSpPr>
          <p:cNvPr id="3" name="Footer Placeholder 2"/>
          <p:cNvSpPr>
            <a:spLocks noGrp="1"/>
          </p:cNvSpPr>
          <p:nvPr>
            <p:ph type="ftr" sz="quarter" idx="11"/>
          </p:nvPr>
        </p:nvSpPr>
        <p:spPr/>
        <p:txBody>
          <a:bodyPr/>
          <a:lstStyle/>
          <a:p>
            <a:r>
              <a:rPr lang="it-IT"/>
              <a:t>Claudio De Sio Cesari: NJ-004</a:t>
            </a:r>
            <a:endParaRPr lang="it-IT" dirty="0"/>
          </a:p>
        </p:txBody>
      </p:sp>
      <p:sp>
        <p:nvSpPr>
          <p:cNvPr id="4" name="Slide Number Placeholder 3"/>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12851136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it-IT"/>
              <a:t>Fare clic per modificare lo stile del titolo</a:t>
            </a:r>
            <a:endParaRPr lang="en-US" dirty="0"/>
          </a:p>
        </p:txBody>
      </p:sp>
      <p:sp>
        <p:nvSpPr>
          <p:cNvPr id="3" name="Content Placeholder 2"/>
          <p:cNvSpPr>
            <a:spLocks noGrp="1"/>
          </p:cNvSpPr>
          <p:nvPr>
            <p:ph idx="1"/>
          </p:nvPr>
        </p:nvSpPr>
        <p:spPr>
          <a:xfrm>
            <a:off x="3887391" y="987426"/>
            <a:ext cx="4629150" cy="4873625"/>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840000" y="2057400"/>
            <a:ext cx="2739019" cy="3811588"/>
          </a:xfrm>
        </p:spPr>
        <p:txBody>
          <a:bodyPr>
            <a:normAutofit/>
          </a:bodyPr>
          <a:lstStyle>
            <a:lvl1pPr marL="0" indent="0">
              <a:buNone/>
              <a:defRPr sz="14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stili del testo dello schema</a:t>
            </a:r>
          </a:p>
        </p:txBody>
      </p:sp>
      <p:sp>
        <p:nvSpPr>
          <p:cNvPr id="5" name="Date Placeholder 4"/>
          <p:cNvSpPr>
            <a:spLocks noGrp="1"/>
          </p:cNvSpPr>
          <p:nvPr>
            <p:ph type="dt" sz="half" idx="10"/>
          </p:nvPr>
        </p:nvSpPr>
        <p:spPr/>
        <p:txBody>
          <a:bodyPr/>
          <a:lstStyle/>
          <a:p>
            <a:r>
              <a:rPr lang="it-IT"/>
              <a:t>20/03/2012</a:t>
            </a:r>
          </a:p>
        </p:txBody>
      </p:sp>
      <p:sp>
        <p:nvSpPr>
          <p:cNvPr id="6" name="Footer Placeholder 5"/>
          <p:cNvSpPr>
            <a:spLocks noGrp="1"/>
          </p:cNvSpPr>
          <p:nvPr>
            <p:ph type="ftr" sz="quarter" idx="11"/>
          </p:nvPr>
        </p:nvSpPr>
        <p:spPr/>
        <p:txBody>
          <a:bodyPr/>
          <a:lstStyle/>
          <a:p>
            <a:r>
              <a:rPr lang="it-IT"/>
              <a:t>Claudio De Sio Cesari: NJ-004</a:t>
            </a:r>
            <a:endParaRPr lang="it-IT" dirty="0"/>
          </a:p>
        </p:txBody>
      </p:sp>
      <p:sp>
        <p:nvSpPr>
          <p:cNvPr id="7" name="Slide Number Placeholder 6"/>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12993330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it-IT"/>
              <a:t>Fare clic per modificare lo stile del titolo</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it-IT"/>
              <a:t>Fare clic sull'icona per inserire un'immagine</a:t>
            </a:r>
            <a:endParaRPr lang="en-US" dirty="0"/>
          </a:p>
        </p:txBody>
      </p:sp>
      <p:sp>
        <p:nvSpPr>
          <p:cNvPr id="4" name="Text Placeholder 3"/>
          <p:cNvSpPr>
            <a:spLocks noGrp="1"/>
          </p:cNvSpPr>
          <p:nvPr>
            <p:ph type="body" sz="half" idx="2"/>
          </p:nvPr>
        </p:nvSpPr>
        <p:spPr>
          <a:xfrm>
            <a:off x="840000" y="2057400"/>
            <a:ext cx="2739019" cy="3811588"/>
          </a:xfrm>
        </p:spPr>
        <p:txBody>
          <a:bodyPr>
            <a:normAutofit/>
          </a:bodyPr>
          <a:lstStyle>
            <a:lvl1pPr marL="0" indent="0">
              <a:buNone/>
              <a:defRPr sz="14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stili del testo dello schema</a:t>
            </a:r>
          </a:p>
        </p:txBody>
      </p:sp>
      <p:sp>
        <p:nvSpPr>
          <p:cNvPr id="5" name="Date Placeholder 4"/>
          <p:cNvSpPr>
            <a:spLocks noGrp="1"/>
          </p:cNvSpPr>
          <p:nvPr>
            <p:ph type="dt" sz="half" idx="10"/>
          </p:nvPr>
        </p:nvSpPr>
        <p:spPr/>
        <p:txBody>
          <a:bodyPr/>
          <a:lstStyle/>
          <a:p>
            <a:r>
              <a:rPr lang="it-IT"/>
              <a:t>20/03/2012</a:t>
            </a:r>
          </a:p>
        </p:txBody>
      </p:sp>
      <p:sp>
        <p:nvSpPr>
          <p:cNvPr id="6" name="Footer Placeholder 5"/>
          <p:cNvSpPr>
            <a:spLocks noGrp="1"/>
          </p:cNvSpPr>
          <p:nvPr>
            <p:ph type="ftr" sz="quarter" idx="11"/>
          </p:nvPr>
        </p:nvSpPr>
        <p:spPr/>
        <p:txBody>
          <a:bodyPr/>
          <a:lstStyle/>
          <a:p>
            <a:r>
              <a:rPr lang="it-IT"/>
              <a:t>Claudio De Sio Cesari: NJ-004</a:t>
            </a:r>
            <a:endParaRPr lang="it-IT" dirty="0"/>
          </a:p>
        </p:txBody>
      </p:sp>
      <p:sp>
        <p:nvSpPr>
          <p:cNvPr id="7" name="Slide Number Placeholder 6"/>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12072349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629841" y="4367161"/>
            <a:ext cx="7886700" cy="819355"/>
          </a:xfrm>
        </p:spPr>
        <p:txBody>
          <a:bodyPr anchor="b"/>
          <a:lstStyle>
            <a:lvl1pPr>
              <a:defRPr sz="2400"/>
            </a:lvl1pPr>
          </a:lstStyle>
          <a:p>
            <a:r>
              <a:rPr lang="it-IT"/>
              <a:t>Fare clic per modificare lo stile del titolo</a:t>
            </a:r>
            <a:endParaRPr lang="en-US" dirty="0"/>
          </a:p>
        </p:txBody>
      </p:sp>
      <p:sp>
        <p:nvSpPr>
          <p:cNvPr id="3" name="Picture Placeholder 2"/>
          <p:cNvSpPr>
            <a:spLocks noGrp="1" noChangeAspect="1"/>
          </p:cNvSpPr>
          <p:nvPr>
            <p:ph type="pic" idx="1"/>
          </p:nvPr>
        </p:nvSpPr>
        <p:spPr>
          <a:xfrm>
            <a:off x="629841" y="987426"/>
            <a:ext cx="7886700" cy="337973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it-IT"/>
              <a:t>Fare clic sull'icona per inserire un'immagine</a:t>
            </a:r>
            <a:endParaRPr lang="en-US" dirty="0"/>
          </a:p>
        </p:txBody>
      </p:sp>
      <p:sp>
        <p:nvSpPr>
          <p:cNvPr id="4" name="Text Placeholder 3"/>
          <p:cNvSpPr>
            <a:spLocks noGrp="1"/>
          </p:cNvSpPr>
          <p:nvPr>
            <p:ph type="body" sz="half" idx="2"/>
          </p:nvPr>
        </p:nvSpPr>
        <p:spPr>
          <a:xfrm>
            <a:off x="629841" y="5186516"/>
            <a:ext cx="7885509" cy="682472"/>
          </a:xfrm>
        </p:spPr>
        <p:txBody>
          <a:bodyPr/>
          <a:lstStyle>
            <a:lvl1pPr marL="0" indent="0">
              <a:buNone/>
              <a:defRPr sz="12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stili del testo dello schema</a:t>
            </a:r>
          </a:p>
        </p:txBody>
      </p:sp>
      <p:sp>
        <p:nvSpPr>
          <p:cNvPr id="5" name="Date Placeholder 4"/>
          <p:cNvSpPr>
            <a:spLocks noGrp="1"/>
          </p:cNvSpPr>
          <p:nvPr>
            <p:ph type="dt" sz="half" idx="10"/>
          </p:nvPr>
        </p:nvSpPr>
        <p:spPr/>
        <p:txBody>
          <a:bodyPr/>
          <a:lstStyle/>
          <a:p>
            <a:r>
              <a:rPr lang="it-IT"/>
              <a:t>20/03/2012</a:t>
            </a:r>
          </a:p>
        </p:txBody>
      </p:sp>
      <p:sp>
        <p:nvSpPr>
          <p:cNvPr id="6" name="Footer Placeholder 5"/>
          <p:cNvSpPr>
            <a:spLocks noGrp="1"/>
          </p:cNvSpPr>
          <p:nvPr>
            <p:ph type="ftr" sz="quarter" idx="11"/>
          </p:nvPr>
        </p:nvSpPr>
        <p:spPr/>
        <p:txBody>
          <a:bodyPr/>
          <a:lstStyle/>
          <a:p>
            <a:r>
              <a:rPr lang="it-IT"/>
              <a:t>Claudio De Sio Cesari: NJ-004</a:t>
            </a:r>
            <a:endParaRPr lang="it-IT" dirty="0"/>
          </a:p>
        </p:txBody>
      </p:sp>
      <p:sp>
        <p:nvSpPr>
          <p:cNvPr id="7" name="Slide Number Placeholder 6"/>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40477078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3534344"/>
          </a:xfrm>
        </p:spPr>
        <p:txBody>
          <a:bodyPr anchor="ctr"/>
          <a:lstStyle>
            <a:lvl1pPr>
              <a:defRPr sz="2400"/>
            </a:lvl1pPr>
          </a:lstStyle>
          <a:p>
            <a:r>
              <a:rPr lang="it-IT"/>
              <a:t>Fare clic per modificare lo stile del titolo</a:t>
            </a:r>
            <a:endParaRPr lang="en-US" dirty="0"/>
          </a:p>
        </p:txBody>
      </p:sp>
      <p:sp>
        <p:nvSpPr>
          <p:cNvPr id="4" name="Text Placeholder 3"/>
          <p:cNvSpPr>
            <a:spLocks noGrp="1"/>
          </p:cNvSpPr>
          <p:nvPr>
            <p:ph type="body" sz="half" idx="2"/>
          </p:nvPr>
        </p:nvSpPr>
        <p:spPr>
          <a:xfrm>
            <a:off x="629841" y="4489399"/>
            <a:ext cx="7885509" cy="1501826"/>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stili del testo dello schema</a:t>
            </a:r>
          </a:p>
        </p:txBody>
      </p:sp>
      <p:sp>
        <p:nvSpPr>
          <p:cNvPr id="5" name="Date Placeholder 4"/>
          <p:cNvSpPr>
            <a:spLocks noGrp="1"/>
          </p:cNvSpPr>
          <p:nvPr>
            <p:ph type="dt" sz="half" idx="10"/>
          </p:nvPr>
        </p:nvSpPr>
        <p:spPr/>
        <p:txBody>
          <a:bodyPr/>
          <a:lstStyle/>
          <a:p>
            <a:r>
              <a:rPr lang="it-IT"/>
              <a:t>20/03/2012</a:t>
            </a:r>
          </a:p>
        </p:txBody>
      </p:sp>
      <p:sp>
        <p:nvSpPr>
          <p:cNvPr id="6" name="Footer Placeholder 5"/>
          <p:cNvSpPr>
            <a:spLocks noGrp="1"/>
          </p:cNvSpPr>
          <p:nvPr>
            <p:ph type="ftr" sz="quarter" idx="11"/>
          </p:nvPr>
        </p:nvSpPr>
        <p:spPr/>
        <p:txBody>
          <a:bodyPr/>
          <a:lstStyle/>
          <a:p>
            <a:r>
              <a:rPr lang="it-IT"/>
              <a:t>Claudio De Sio Cesari: NJ-004</a:t>
            </a:r>
            <a:endParaRPr lang="it-IT" dirty="0"/>
          </a:p>
        </p:txBody>
      </p:sp>
      <p:sp>
        <p:nvSpPr>
          <p:cNvPr id="7" name="Slide Number Placeholder 6"/>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22220467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084659" y="365125"/>
            <a:ext cx="6977064" cy="2992904"/>
          </a:xfrm>
        </p:spPr>
        <p:txBody>
          <a:bodyPr anchor="ctr"/>
          <a:lstStyle>
            <a:lvl1pPr>
              <a:defRPr sz="3300"/>
            </a:lvl1pPr>
          </a:lstStyle>
          <a:p>
            <a:r>
              <a:rPr lang="it-IT"/>
              <a:t>Fare clic per modificare lo stile del titolo</a:t>
            </a:r>
            <a:endParaRPr lang="en-US" dirty="0"/>
          </a:p>
        </p:txBody>
      </p:sp>
      <p:sp>
        <p:nvSpPr>
          <p:cNvPr id="12" name="Text Placeholder 3"/>
          <p:cNvSpPr>
            <a:spLocks noGrp="1"/>
          </p:cNvSpPr>
          <p:nvPr>
            <p:ph type="body" sz="half" idx="13"/>
          </p:nvPr>
        </p:nvSpPr>
        <p:spPr>
          <a:xfrm>
            <a:off x="1290484" y="3365557"/>
            <a:ext cx="6564224" cy="548968"/>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stili del testo dello schema</a:t>
            </a:r>
          </a:p>
        </p:txBody>
      </p:sp>
      <p:sp>
        <p:nvSpPr>
          <p:cNvPr id="4" name="Text Placeholder 3"/>
          <p:cNvSpPr>
            <a:spLocks noGrp="1"/>
          </p:cNvSpPr>
          <p:nvPr>
            <p:ph type="body" sz="half" idx="2"/>
          </p:nvPr>
        </p:nvSpPr>
        <p:spPr>
          <a:xfrm>
            <a:off x="628650" y="4501729"/>
            <a:ext cx="7884318" cy="1489496"/>
          </a:xfrm>
        </p:spPr>
        <p:txBody>
          <a:bodyPr anchor="ctr">
            <a:normAutofit/>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stili del testo dello schema</a:t>
            </a:r>
          </a:p>
        </p:txBody>
      </p:sp>
      <p:sp>
        <p:nvSpPr>
          <p:cNvPr id="5" name="Date Placeholder 4"/>
          <p:cNvSpPr>
            <a:spLocks noGrp="1"/>
          </p:cNvSpPr>
          <p:nvPr>
            <p:ph type="dt" sz="half" idx="10"/>
          </p:nvPr>
        </p:nvSpPr>
        <p:spPr/>
        <p:txBody>
          <a:bodyPr/>
          <a:lstStyle/>
          <a:p>
            <a:r>
              <a:rPr lang="it-IT"/>
              <a:t>20/03/2012</a:t>
            </a:r>
          </a:p>
        </p:txBody>
      </p:sp>
      <p:sp>
        <p:nvSpPr>
          <p:cNvPr id="6" name="Footer Placeholder 5"/>
          <p:cNvSpPr>
            <a:spLocks noGrp="1"/>
          </p:cNvSpPr>
          <p:nvPr>
            <p:ph type="ftr" sz="quarter" idx="11"/>
          </p:nvPr>
        </p:nvSpPr>
        <p:spPr/>
        <p:txBody>
          <a:bodyPr/>
          <a:lstStyle/>
          <a:p>
            <a:r>
              <a:rPr lang="it-IT"/>
              <a:t>Claudio De Sio Cesari: NJ-004</a:t>
            </a:r>
            <a:endParaRPr lang="it-IT" dirty="0"/>
          </a:p>
        </p:txBody>
      </p:sp>
      <p:sp>
        <p:nvSpPr>
          <p:cNvPr id="7" name="Slide Number Placeholder 6"/>
          <p:cNvSpPr>
            <a:spLocks noGrp="1"/>
          </p:cNvSpPr>
          <p:nvPr>
            <p:ph type="sldNum" sz="quarter" idx="12"/>
          </p:nvPr>
        </p:nvSpPr>
        <p:spPr/>
        <p:txBody>
          <a:bodyPr/>
          <a:lstStyle/>
          <a:p>
            <a:fld id="{EA83E0A8-4958-4553-8C1A-CC59A6ABE123}" type="slidenum">
              <a:rPr lang="it-IT" smtClean="0"/>
              <a:t>‹N›</a:t>
            </a:fld>
            <a:endParaRPr lang="it-IT"/>
          </a:p>
        </p:txBody>
      </p:sp>
      <p:sp>
        <p:nvSpPr>
          <p:cNvPr id="9" name="TextBox 8"/>
          <p:cNvSpPr txBox="1"/>
          <p:nvPr/>
        </p:nvSpPr>
        <p:spPr>
          <a:xfrm>
            <a:off x="833283" y="786824"/>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0" name="TextBox 9"/>
          <p:cNvSpPr txBox="1"/>
          <p:nvPr/>
        </p:nvSpPr>
        <p:spPr>
          <a:xfrm>
            <a:off x="7828359" y="2743200"/>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Tree>
    <p:extLst>
      <p:ext uri="{BB962C8B-B14F-4D97-AF65-F5344CB8AC3E}">
        <p14:creationId xmlns:p14="http://schemas.microsoft.com/office/powerpoint/2010/main" val="19973619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629841" y="2326968"/>
            <a:ext cx="7886700" cy="2511835"/>
          </a:xfrm>
        </p:spPr>
        <p:txBody>
          <a:bodyPr anchor="b">
            <a:normAutofit/>
          </a:bodyPr>
          <a:lstStyle>
            <a:lvl1pPr>
              <a:defRPr sz="4050"/>
            </a:lvl1pPr>
          </a:lstStyle>
          <a:p>
            <a:r>
              <a:rPr lang="it-IT"/>
              <a:t>Fare clic per modificare lo stile del titolo</a:t>
            </a:r>
            <a:endParaRPr lang="en-US" dirty="0"/>
          </a:p>
        </p:txBody>
      </p:sp>
      <p:sp>
        <p:nvSpPr>
          <p:cNvPr id="4" name="Text Placeholder 3"/>
          <p:cNvSpPr>
            <a:spLocks noGrp="1"/>
          </p:cNvSpPr>
          <p:nvPr>
            <p:ph type="body" sz="half" idx="2"/>
          </p:nvPr>
        </p:nvSpPr>
        <p:spPr>
          <a:xfrm>
            <a:off x="629841" y="4850581"/>
            <a:ext cx="7885509" cy="1140644"/>
          </a:xfrm>
        </p:spPr>
        <p:txBody>
          <a:bodyPr anchor="t"/>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stili del testo dello schema</a:t>
            </a:r>
          </a:p>
        </p:txBody>
      </p:sp>
      <p:sp>
        <p:nvSpPr>
          <p:cNvPr id="5" name="Date Placeholder 4"/>
          <p:cNvSpPr>
            <a:spLocks noGrp="1"/>
          </p:cNvSpPr>
          <p:nvPr>
            <p:ph type="dt" sz="half" idx="10"/>
          </p:nvPr>
        </p:nvSpPr>
        <p:spPr/>
        <p:txBody>
          <a:bodyPr/>
          <a:lstStyle/>
          <a:p>
            <a:r>
              <a:rPr lang="it-IT"/>
              <a:t>20/03/2012</a:t>
            </a:r>
          </a:p>
        </p:txBody>
      </p:sp>
      <p:sp>
        <p:nvSpPr>
          <p:cNvPr id="6" name="Footer Placeholder 5"/>
          <p:cNvSpPr>
            <a:spLocks noGrp="1"/>
          </p:cNvSpPr>
          <p:nvPr>
            <p:ph type="ftr" sz="quarter" idx="11"/>
          </p:nvPr>
        </p:nvSpPr>
        <p:spPr/>
        <p:txBody>
          <a:bodyPr/>
          <a:lstStyle/>
          <a:p>
            <a:r>
              <a:rPr lang="it-IT"/>
              <a:t>Claudio De Sio Cesari: NJ-004</a:t>
            </a:r>
            <a:endParaRPr lang="it-IT" dirty="0"/>
          </a:p>
        </p:txBody>
      </p:sp>
      <p:sp>
        <p:nvSpPr>
          <p:cNvPr id="7" name="Slide Number Placeholder 6"/>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32690677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3 colonne">
    <p:spTree>
      <p:nvGrpSpPr>
        <p:cNvPr id="1" name=""/>
        <p:cNvGrpSpPr/>
        <p:nvPr/>
      </p:nvGrpSpPr>
      <p:grpSpPr>
        <a:xfrm>
          <a:off x="0" y="0"/>
          <a:ext cx="0" cy="0"/>
          <a:chOff x="0" y="0"/>
          <a:chExt cx="0" cy="0"/>
        </a:xfrm>
      </p:grpSpPr>
      <p:sp>
        <p:nvSpPr>
          <p:cNvPr id="15" name="Title 1"/>
          <p:cNvSpPr>
            <a:spLocks noGrp="1"/>
          </p:cNvSpPr>
          <p:nvPr>
            <p:ph type="title"/>
          </p:nvPr>
        </p:nvSpPr>
        <p:spPr>
          <a:xfrm>
            <a:off x="628650" y="365126"/>
            <a:ext cx="7886700" cy="1325563"/>
          </a:xfrm>
        </p:spPr>
        <p:txBody>
          <a:bodyPr/>
          <a:lstStyle/>
          <a:p>
            <a:r>
              <a:rPr lang="it-IT"/>
              <a:t>Fare clic per modificare lo stile del titolo</a:t>
            </a:r>
            <a:endParaRPr lang="en-US" dirty="0"/>
          </a:p>
        </p:txBody>
      </p:sp>
      <p:sp>
        <p:nvSpPr>
          <p:cNvPr id="7" name="Text Placeholder 2"/>
          <p:cNvSpPr>
            <a:spLocks noGrp="1"/>
          </p:cNvSpPr>
          <p:nvPr>
            <p:ph type="body" idx="1"/>
          </p:nvPr>
        </p:nvSpPr>
        <p:spPr>
          <a:xfrm>
            <a:off x="1002961" y="1885950"/>
            <a:ext cx="2210150" cy="576262"/>
          </a:xfrm>
        </p:spPr>
        <p:txBody>
          <a:bodyPr anchor="b">
            <a:noAutofit/>
          </a:bodyPr>
          <a:lstStyle>
            <a:lvl1pPr marL="0" indent="0">
              <a:buNone/>
              <a:defRPr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stili del testo dello schema</a:t>
            </a:r>
          </a:p>
        </p:txBody>
      </p:sp>
      <p:sp>
        <p:nvSpPr>
          <p:cNvPr id="8" name="Text Placeholder 3"/>
          <p:cNvSpPr>
            <a:spLocks noGrp="1"/>
          </p:cNvSpPr>
          <p:nvPr>
            <p:ph type="body" sz="half" idx="15"/>
          </p:nvPr>
        </p:nvSpPr>
        <p:spPr>
          <a:xfrm>
            <a:off x="1017598" y="2571750"/>
            <a:ext cx="2195513" cy="3589338"/>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stili del testo dello schema</a:t>
            </a:r>
          </a:p>
        </p:txBody>
      </p:sp>
      <p:sp>
        <p:nvSpPr>
          <p:cNvPr id="9" name="Text Placeholder 4"/>
          <p:cNvSpPr>
            <a:spLocks noGrp="1"/>
          </p:cNvSpPr>
          <p:nvPr>
            <p:ph type="body" sz="quarter" idx="3"/>
          </p:nvPr>
        </p:nvSpPr>
        <p:spPr>
          <a:xfrm>
            <a:off x="3440996" y="1885950"/>
            <a:ext cx="2202181" cy="576262"/>
          </a:xfrm>
        </p:spPr>
        <p:txBody>
          <a:bodyPr vert="horz" lIns="91440" tIns="45720" rIns="91440" bIns="45720" rtlCol="0" anchor="b">
            <a:noAutofit/>
          </a:bodyPr>
          <a:lstStyle>
            <a:lvl1pPr>
              <a:buNone/>
              <a:defRPr lang="en-US"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it-IT"/>
              <a:t>Fare clic per modificare stili del testo dello schema</a:t>
            </a:r>
          </a:p>
        </p:txBody>
      </p:sp>
      <p:sp>
        <p:nvSpPr>
          <p:cNvPr id="10" name="Text Placeholder 3"/>
          <p:cNvSpPr>
            <a:spLocks noGrp="1"/>
          </p:cNvSpPr>
          <p:nvPr>
            <p:ph type="body" sz="half" idx="16"/>
          </p:nvPr>
        </p:nvSpPr>
        <p:spPr>
          <a:xfrm>
            <a:off x="3433081" y="2571750"/>
            <a:ext cx="2210096" cy="3589338"/>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stili del testo dello schema</a:t>
            </a:r>
          </a:p>
        </p:txBody>
      </p:sp>
      <p:sp>
        <p:nvSpPr>
          <p:cNvPr id="11" name="Text Placeholder 4"/>
          <p:cNvSpPr>
            <a:spLocks noGrp="1"/>
          </p:cNvSpPr>
          <p:nvPr>
            <p:ph type="body" sz="quarter" idx="13"/>
          </p:nvPr>
        </p:nvSpPr>
        <p:spPr>
          <a:xfrm>
            <a:off x="5871777" y="1885950"/>
            <a:ext cx="2199085" cy="576262"/>
          </a:xfrm>
        </p:spPr>
        <p:txBody>
          <a:bodyPr vert="horz" lIns="91440" tIns="45720" rIns="91440" bIns="45720" rtlCol="0" anchor="b">
            <a:noAutofit/>
          </a:bodyPr>
          <a:lstStyle>
            <a:lvl1pPr>
              <a:buNone/>
              <a:defRPr lang="en-US" sz="18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it-IT"/>
              <a:t>Fare clic per modificare stili del testo dello schema</a:t>
            </a:r>
          </a:p>
        </p:txBody>
      </p:sp>
      <p:sp>
        <p:nvSpPr>
          <p:cNvPr id="12" name="Text Placeholder 3"/>
          <p:cNvSpPr>
            <a:spLocks noGrp="1"/>
          </p:cNvSpPr>
          <p:nvPr>
            <p:ph type="body" sz="half" idx="17"/>
          </p:nvPr>
        </p:nvSpPr>
        <p:spPr>
          <a:xfrm>
            <a:off x="5871777" y="2571750"/>
            <a:ext cx="2199085" cy="3589338"/>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stili del testo dello schema</a:t>
            </a:r>
          </a:p>
        </p:txBody>
      </p:sp>
      <p:sp>
        <p:nvSpPr>
          <p:cNvPr id="3" name="Date Placeholder 2"/>
          <p:cNvSpPr>
            <a:spLocks noGrp="1"/>
          </p:cNvSpPr>
          <p:nvPr>
            <p:ph type="dt" sz="half" idx="10"/>
          </p:nvPr>
        </p:nvSpPr>
        <p:spPr/>
        <p:txBody>
          <a:bodyPr/>
          <a:lstStyle/>
          <a:p>
            <a:r>
              <a:rPr lang="it-IT"/>
              <a:t>20/03/2012</a:t>
            </a:r>
          </a:p>
        </p:txBody>
      </p:sp>
      <p:sp>
        <p:nvSpPr>
          <p:cNvPr id="4" name="Footer Placeholder 3"/>
          <p:cNvSpPr>
            <a:spLocks noGrp="1"/>
          </p:cNvSpPr>
          <p:nvPr>
            <p:ph type="ftr" sz="quarter" idx="11"/>
          </p:nvPr>
        </p:nvSpPr>
        <p:spPr/>
        <p:txBody>
          <a:bodyPr/>
          <a:lstStyle/>
          <a:p>
            <a:r>
              <a:rPr lang="it-IT"/>
              <a:t>Claudio De Sio Cesari: NJ-004</a:t>
            </a:r>
            <a:endParaRPr lang="it-IT" dirty="0"/>
          </a:p>
        </p:txBody>
      </p:sp>
      <p:sp>
        <p:nvSpPr>
          <p:cNvPr id="5" name="Slide Number Placeholder 4"/>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260497554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3 colonne immagine">
    <p:spTree>
      <p:nvGrpSpPr>
        <p:cNvPr id="1" name=""/>
        <p:cNvGrpSpPr/>
        <p:nvPr/>
      </p:nvGrpSpPr>
      <p:grpSpPr>
        <a:xfrm>
          <a:off x="0" y="0"/>
          <a:ext cx="0" cy="0"/>
          <a:chOff x="0" y="0"/>
          <a:chExt cx="0" cy="0"/>
        </a:xfrm>
      </p:grpSpPr>
      <p:sp>
        <p:nvSpPr>
          <p:cNvPr id="30" name="Title 1"/>
          <p:cNvSpPr>
            <a:spLocks noGrp="1"/>
          </p:cNvSpPr>
          <p:nvPr>
            <p:ph type="title"/>
          </p:nvPr>
        </p:nvSpPr>
        <p:spPr>
          <a:xfrm>
            <a:off x="628650" y="365126"/>
            <a:ext cx="7886700" cy="1325563"/>
          </a:xfrm>
        </p:spPr>
        <p:txBody>
          <a:bodyPr/>
          <a:lstStyle/>
          <a:p>
            <a:r>
              <a:rPr lang="it-IT"/>
              <a:t>Fare clic per modificare lo stile del titolo</a:t>
            </a:r>
            <a:endParaRPr lang="en-US" dirty="0"/>
          </a:p>
        </p:txBody>
      </p:sp>
      <p:sp>
        <p:nvSpPr>
          <p:cNvPr id="19" name="Text Placeholder 2"/>
          <p:cNvSpPr>
            <a:spLocks noGrp="1"/>
          </p:cNvSpPr>
          <p:nvPr>
            <p:ph type="body" idx="1"/>
          </p:nvPr>
        </p:nvSpPr>
        <p:spPr>
          <a:xfrm>
            <a:off x="999064" y="4297503"/>
            <a:ext cx="2205038" cy="576262"/>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stili del testo dello schema</a:t>
            </a:r>
          </a:p>
        </p:txBody>
      </p:sp>
      <p:sp>
        <p:nvSpPr>
          <p:cNvPr id="20" name="Picture Placeholder 2"/>
          <p:cNvSpPr>
            <a:spLocks noGrp="1" noChangeAspect="1"/>
          </p:cNvSpPr>
          <p:nvPr>
            <p:ph type="pic" idx="15"/>
          </p:nvPr>
        </p:nvSpPr>
        <p:spPr>
          <a:xfrm>
            <a:off x="999064" y="2256354"/>
            <a:ext cx="220503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it-IT"/>
              <a:t>Fare clic sull'icona per inserire un'immagine</a:t>
            </a:r>
            <a:endParaRPr lang="en-US" dirty="0"/>
          </a:p>
        </p:txBody>
      </p:sp>
      <p:sp>
        <p:nvSpPr>
          <p:cNvPr id="21" name="Text Placeholder 3"/>
          <p:cNvSpPr>
            <a:spLocks noGrp="1"/>
          </p:cNvSpPr>
          <p:nvPr>
            <p:ph type="body" sz="half" idx="18"/>
          </p:nvPr>
        </p:nvSpPr>
        <p:spPr>
          <a:xfrm>
            <a:off x="999064" y="4873766"/>
            <a:ext cx="2205038"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stili del testo dello schema</a:t>
            </a:r>
          </a:p>
        </p:txBody>
      </p:sp>
      <p:sp>
        <p:nvSpPr>
          <p:cNvPr id="22" name="Text Placeholder 4"/>
          <p:cNvSpPr>
            <a:spLocks noGrp="1"/>
          </p:cNvSpPr>
          <p:nvPr>
            <p:ph type="body" sz="quarter" idx="3"/>
          </p:nvPr>
        </p:nvSpPr>
        <p:spPr>
          <a:xfrm>
            <a:off x="3426748" y="4297503"/>
            <a:ext cx="2197894" cy="576262"/>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stili del testo dello schema</a:t>
            </a:r>
          </a:p>
        </p:txBody>
      </p:sp>
      <p:sp>
        <p:nvSpPr>
          <p:cNvPr id="23" name="Picture Placeholder 2"/>
          <p:cNvSpPr>
            <a:spLocks noGrp="1" noChangeAspect="1"/>
          </p:cNvSpPr>
          <p:nvPr>
            <p:ph type="pic" idx="21"/>
          </p:nvPr>
        </p:nvSpPr>
        <p:spPr>
          <a:xfrm>
            <a:off x="3426747" y="2256354"/>
            <a:ext cx="2197894"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it-IT"/>
              <a:t>Fare clic sull'icona per inserire un'immagine</a:t>
            </a:r>
            <a:endParaRPr lang="en-US" dirty="0"/>
          </a:p>
        </p:txBody>
      </p:sp>
      <p:sp>
        <p:nvSpPr>
          <p:cNvPr id="24" name="Text Placeholder 3"/>
          <p:cNvSpPr>
            <a:spLocks noGrp="1"/>
          </p:cNvSpPr>
          <p:nvPr>
            <p:ph type="body" sz="half" idx="19"/>
          </p:nvPr>
        </p:nvSpPr>
        <p:spPr>
          <a:xfrm>
            <a:off x="3425733" y="4873765"/>
            <a:ext cx="2200805"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stili del testo dello schema</a:t>
            </a:r>
          </a:p>
        </p:txBody>
      </p:sp>
      <p:sp>
        <p:nvSpPr>
          <p:cNvPr id="25" name="Text Placeholder 4"/>
          <p:cNvSpPr>
            <a:spLocks noGrp="1"/>
          </p:cNvSpPr>
          <p:nvPr>
            <p:ph type="body" sz="quarter" idx="13"/>
          </p:nvPr>
        </p:nvSpPr>
        <p:spPr>
          <a:xfrm>
            <a:off x="5853242" y="4297503"/>
            <a:ext cx="2199085" cy="576262"/>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stili del testo dello schema</a:t>
            </a:r>
          </a:p>
        </p:txBody>
      </p:sp>
      <p:sp>
        <p:nvSpPr>
          <p:cNvPr id="26" name="Picture Placeholder 2"/>
          <p:cNvSpPr>
            <a:spLocks noGrp="1" noChangeAspect="1"/>
          </p:cNvSpPr>
          <p:nvPr>
            <p:ph type="pic" idx="22"/>
          </p:nvPr>
        </p:nvSpPr>
        <p:spPr>
          <a:xfrm>
            <a:off x="5853241" y="2256354"/>
            <a:ext cx="219908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it-IT"/>
              <a:t>Fare clic sull'icona per inserire un'immagine</a:t>
            </a:r>
            <a:endParaRPr lang="en-US" dirty="0"/>
          </a:p>
        </p:txBody>
      </p:sp>
      <p:sp>
        <p:nvSpPr>
          <p:cNvPr id="27" name="Text Placeholder 3"/>
          <p:cNvSpPr>
            <a:spLocks noGrp="1"/>
          </p:cNvSpPr>
          <p:nvPr>
            <p:ph type="body" sz="half" idx="20"/>
          </p:nvPr>
        </p:nvSpPr>
        <p:spPr>
          <a:xfrm>
            <a:off x="5853148" y="4873763"/>
            <a:ext cx="2201998"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stili del testo dello schema</a:t>
            </a:r>
          </a:p>
        </p:txBody>
      </p:sp>
      <p:sp>
        <p:nvSpPr>
          <p:cNvPr id="3" name="Date Placeholder 2"/>
          <p:cNvSpPr>
            <a:spLocks noGrp="1"/>
          </p:cNvSpPr>
          <p:nvPr>
            <p:ph type="dt" sz="half" idx="10"/>
          </p:nvPr>
        </p:nvSpPr>
        <p:spPr/>
        <p:txBody>
          <a:bodyPr/>
          <a:lstStyle/>
          <a:p>
            <a:r>
              <a:rPr lang="it-IT"/>
              <a:t>20/03/2012</a:t>
            </a:r>
          </a:p>
        </p:txBody>
      </p:sp>
      <p:sp>
        <p:nvSpPr>
          <p:cNvPr id="4" name="Footer Placeholder 3"/>
          <p:cNvSpPr>
            <a:spLocks noGrp="1"/>
          </p:cNvSpPr>
          <p:nvPr>
            <p:ph type="ftr" sz="quarter" idx="11"/>
          </p:nvPr>
        </p:nvSpPr>
        <p:spPr/>
        <p:txBody>
          <a:bodyPr/>
          <a:lstStyle/>
          <a:p>
            <a:r>
              <a:rPr lang="it-IT"/>
              <a:t>Claudio De Sio Cesari: NJ-004</a:t>
            </a:r>
            <a:endParaRPr lang="it-IT" dirty="0"/>
          </a:p>
        </p:txBody>
      </p:sp>
      <p:sp>
        <p:nvSpPr>
          <p:cNvPr id="5" name="Slide Number Placeholder 4"/>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68334978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a:t>
            </a:r>
            <a:endParaRPr lang="en-US" dirty="0"/>
          </a:p>
        </p:txBody>
      </p:sp>
      <p:sp>
        <p:nvSpPr>
          <p:cNvPr id="3" name="Vertical Text Placeholder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r>
              <a:rPr lang="it-IT"/>
              <a:t>20/03/2012</a:t>
            </a:r>
          </a:p>
        </p:txBody>
      </p:sp>
      <p:sp>
        <p:nvSpPr>
          <p:cNvPr id="5" name="Footer Placeholder 4"/>
          <p:cNvSpPr>
            <a:spLocks noGrp="1"/>
          </p:cNvSpPr>
          <p:nvPr>
            <p:ph type="ftr" sz="quarter" idx="11"/>
          </p:nvPr>
        </p:nvSpPr>
        <p:spPr/>
        <p:txBody>
          <a:bodyPr/>
          <a:lstStyle/>
          <a:p>
            <a:r>
              <a:rPr lang="it-IT"/>
              <a:t>Claudio De Sio Cesari: NJ-004</a:t>
            </a:r>
            <a:endParaRPr lang="it-IT" dirty="0"/>
          </a:p>
        </p:txBody>
      </p:sp>
      <p:sp>
        <p:nvSpPr>
          <p:cNvPr id="6" name="Slide Number Placeholder 5"/>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11492445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it-IT"/>
              <a:t>Fare clic per modificare lo stile del titolo</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r>
              <a:rPr lang="it-IT"/>
              <a:t>20/03/2012</a:t>
            </a:r>
          </a:p>
        </p:txBody>
      </p:sp>
      <p:sp>
        <p:nvSpPr>
          <p:cNvPr id="5" name="Footer Placeholder 4"/>
          <p:cNvSpPr>
            <a:spLocks noGrp="1"/>
          </p:cNvSpPr>
          <p:nvPr>
            <p:ph type="ftr" sz="quarter" idx="11"/>
          </p:nvPr>
        </p:nvSpPr>
        <p:spPr/>
        <p:txBody>
          <a:bodyPr/>
          <a:lstStyle/>
          <a:p>
            <a:r>
              <a:rPr lang="it-IT"/>
              <a:t>Claudio De Sio Cesari: NJ-004</a:t>
            </a:r>
            <a:endParaRPr lang="it-IT" dirty="0"/>
          </a:p>
        </p:txBody>
      </p:sp>
      <p:sp>
        <p:nvSpPr>
          <p:cNvPr id="6" name="Slide Number Placeholder 5"/>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107958788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jpeg"/><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heme" Target="../theme/theme2.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image" Target="../media/image1.jpeg"/><Relationship Id="rId5" Type="http://schemas.openxmlformats.org/officeDocument/2006/relationships/theme" Target="../theme/theme3.xml"/><Relationship Id="rId4"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theme" Target="../theme/theme4.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19" Type="http://schemas.openxmlformats.org/officeDocument/2006/relationships/image" Target="../media/image3.png"/><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Segnaposto titolo 1"/>
          <p:cNvSpPr>
            <a:spLocks noGrp="1"/>
          </p:cNvSpPr>
          <p:nvPr>
            <p:ph type="title"/>
          </p:nvPr>
        </p:nvSpPr>
        <p:spPr bwMode="auto">
          <a:xfrm>
            <a:off x="457200" y="274639"/>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it-IT"/>
              <a:t>Fare clic per modificare stile</a:t>
            </a:r>
          </a:p>
        </p:txBody>
      </p:sp>
      <p:sp>
        <p:nvSpPr>
          <p:cNvPr id="1027" name="Segnaposto testo 2"/>
          <p:cNvSpPr>
            <a:spLocks noGrp="1"/>
          </p:cNvSpPr>
          <p:nvPr>
            <p:ph type="body" idx="1"/>
          </p:nvPr>
        </p:nvSpPr>
        <p:spPr bwMode="auto">
          <a:xfrm>
            <a:off x="457200" y="1600202"/>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457200" y="6356352"/>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bri" pitchFamily="-111" charset="0"/>
                <a:ea typeface="ＭＳ Ｐゴシック" pitchFamily="-111" charset="-128"/>
                <a:cs typeface="+mn-cs"/>
              </a:defRPr>
            </a:lvl1pPr>
          </a:lstStyle>
          <a:p>
            <a:r>
              <a:rPr lang="it-IT"/>
              <a:t>20/03/2012</a:t>
            </a:r>
          </a:p>
        </p:txBody>
      </p:sp>
      <p:sp>
        <p:nvSpPr>
          <p:cNvPr id="5" name="Segnaposto piè di pagina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r>
              <a:rPr lang="it-IT"/>
              <a:t>Claudio De Sio Cesari: NJ-004</a:t>
            </a:r>
            <a:endParaRPr lang="it-IT" dirty="0"/>
          </a:p>
        </p:txBody>
      </p:sp>
      <p:sp>
        <p:nvSpPr>
          <p:cNvPr id="6" name="Segnaposto numero diapositiva 5"/>
          <p:cNvSpPr>
            <a:spLocks noGrp="1"/>
          </p:cNvSpPr>
          <p:nvPr>
            <p:ph type="sldNum" sz="quarter" idx="4"/>
          </p:nvPr>
        </p:nvSpPr>
        <p:spPr>
          <a:xfrm>
            <a:off x="6553200" y="6356352"/>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itchFamily="-111" charset="0"/>
                <a:ea typeface="ＭＳ Ｐゴシック" pitchFamily="-111" charset="-128"/>
                <a:cs typeface="+mn-cs"/>
              </a:defRPr>
            </a:lvl1pPr>
          </a:lstStyle>
          <a:p>
            <a:fld id="{EA83E0A8-4958-4553-8C1A-CC59A6ABE123}" type="slidenum">
              <a:rPr lang="it-IT" smtClean="0"/>
              <a:t>‹N›</a:t>
            </a:fld>
            <a:endParaRPr lang="it-IT"/>
          </a:p>
        </p:txBody>
      </p:sp>
      <p:pic>
        <p:nvPicPr>
          <p:cNvPr id="1031" name="Immagine 3" descr="PPT_template-06.jp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75" r:id="rId3"/>
    <p:sldLayoutId id="2147483676" r:id="rId4"/>
  </p:sldLayoutIdLst>
  <p:hf hdr="0" dt="0"/>
  <p:txStyles>
    <p:titleStyle>
      <a:lvl1pPr algn="ctr" defTabSz="457200" rtl="0" eaLnBrk="1" fontAlgn="base" hangingPunct="1">
        <a:spcBef>
          <a:spcPct val="0"/>
        </a:spcBef>
        <a:spcAft>
          <a:spcPct val="0"/>
        </a:spcAft>
        <a:defRPr sz="4400" kern="1200">
          <a:solidFill>
            <a:schemeClr val="tx1"/>
          </a:solidFill>
          <a:latin typeface="+mj-lt"/>
          <a:ea typeface="ＭＳ Ｐゴシック" charset="-128"/>
          <a:cs typeface="ＭＳ Ｐゴシック" charset="-128"/>
        </a:defRPr>
      </a:lvl1pPr>
      <a:lvl2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Segnaposto titolo 1"/>
          <p:cNvSpPr>
            <a:spLocks noGrp="1"/>
          </p:cNvSpPr>
          <p:nvPr>
            <p:ph type="title"/>
          </p:nvPr>
        </p:nvSpPr>
        <p:spPr bwMode="auto">
          <a:xfrm>
            <a:off x="457200" y="274639"/>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it-IT"/>
              <a:t>Fare clic per modificare lo stile del titolo</a:t>
            </a:r>
          </a:p>
        </p:txBody>
      </p:sp>
      <p:sp>
        <p:nvSpPr>
          <p:cNvPr id="2051" name="Segnaposto testo 2"/>
          <p:cNvSpPr>
            <a:spLocks noGrp="1"/>
          </p:cNvSpPr>
          <p:nvPr>
            <p:ph type="body" idx="1"/>
          </p:nvPr>
        </p:nvSpPr>
        <p:spPr bwMode="auto">
          <a:xfrm>
            <a:off x="457200" y="1600202"/>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smtClean="0">
                <a:solidFill>
                  <a:schemeClr val="tx1">
                    <a:tint val="75000"/>
                  </a:schemeClr>
                </a:solidFill>
                <a:ea typeface="ＭＳ Ｐゴシック" pitchFamily="-111" charset="-128"/>
                <a:cs typeface="+mn-cs"/>
              </a:defRPr>
            </a:lvl1pPr>
          </a:lstStyle>
          <a:p>
            <a:pPr>
              <a:defRPr/>
            </a:pPr>
            <a:r>
              <a:rPr lang="it-IT"/>
              <a:t>20/03/2012</a:t>
            </a:r>
          </a:p>
        </p:txBody>
      </p:sp>
      <p:sp>
        <p:nvSpPr>
          <p:cNvPr id="5" name="Segnaposto piè di pagina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ea typeface="ＭＳ Ｐゴシック" pitchFamily="-111" charset="-128"/>
                <a:cs typeface="+mn-cs"/>
              </a:defRPr>
            </a:lvl1pPr>
          </a:lstStyle>
          <a:p>
            <a:pPr>
              <a:defRPr/>
            </a:pPr>
            <a:r>
              <a:rPr lang="it-IT"/>
              <a:t>Claudio De Sio Cesari: NJ-004</a:t>
            </a:r>
            <a:endParaRPr lang="it-IT" dirty="0"/>
          </a:p>
        </p:txBody>
      </p:sp>
      <p:sp>
        <p:nvSpPr>
          <p:cNvPr id="6" name="Segnaposto numero diapositiva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smtClean="0">
                <a:solidFill>
                  <a:schemeClr val="tx1">
                    <a:tint val="75000"/>
                  </a:schemeClr>
                </a:solidFill>
                <a:ea typeface="ＭＳ Ｐゴシック" pitchFamily="-111" charset="-128"/>
                <a:cs typeface="+mn-cs"/>
              </a:defRPr>
            </a:lvl1pPr>
          </a:lstStyle>
          <a:p>
            <a:pPr>
              <a:defRPr/>
            </a:pPr>
            <a:fld id="{BF9AA21D-CBBF-4F18-852F-35D67877B6D0}" type="slidenum">
              <a:rPr lang="it-IT"/>
              <a:pPr>
                <a:defRPr/>
              </a:pPr>
              <a:t>‹N›</a:t>
            </a:fld>
            <a:endParaRPr lang="it-IT"/>
          </a:p>
        </p:txBody>
      </p:sp>
      <p:pic>
        <p:nvPicPr>
          <p:cNvPr id="2055" name="Immagine 3" descr="PPT_template-04-04.jpg"/>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3" y="0"/>
            <a:ext cx="914241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Lst>
  <p:hf hd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Segnaposto titolo 1"/>
          <p:cNvSpPr>
            <a:spLocks noGrp="1"/>
          </p:cNvSpPr>
          <p:nvPr>
            <p:ph type="title"/>
          </p:nvPr>
        </p:nvSpPr>
        <p:spPr bwMode="auto">
          <a:xfrm>
            <a:off x="457200" y="274639"/>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it-IT"/>
              <a:t>Fare clic per modificare stile</a:t>
            </a:r>
          </a:p>
        </p:txBody>
      </p:sp>
      <p:sp>
        <p:nvSpPr>
          <p:cNvPr id="1027" name="Segnaposto testo 2"/>
          <p:cNvSpPr>
            <a:spLocks noGrp="1"/>
          </p:cNvSpPr>
          <p:nvPr>
            <p:ph type="body" idx="1"/>
          </p:nvPr>
        </p:nvSpPr>
        <p:spPr bwMode="auto">
          <a:xfrm>
            <a:off x="457200" y="1600202"/>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457200" y="6356353"/>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bri" pitchFamily="-111" charset="0"/>
                <a:ea typeface="ＭＳ Ｐゴシック" pitchFamily="-111" charset="-128"/>
                <a:cs typeface="+mn-cs"/>
              </a:defRPr>
            </a:lvl1pPr>
          </a:lstStyle>
          <a:p>
            <a:r>
              <a:rPr lang="it-IT"/>
              <a:t>20/03/2012</a:t>
            </a:r>
          </a:p>
        </p:txBody>
      </p:sp>
      <p:sp>
        <p:nvSpPr>
          <p:cNvPr id="5" name="Segnaposto piè di pagina 4"/>
          <p:cNvSpPr>
            <a:spLocks noGrp="1"/>
          </p:cNvSpPr>
          <p:nvPr>
            <p:ph type="ftr" sz="quarter" idx="3"/>
          </p:nvPr>
        </p:nvSpPr>
        <p:spPr>
          <a:xfrm>
            <a:off x="3124200" y="6356353"/>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r>
              <a:rPr lang="pt-BR">
                <a:solidFill>
                  <a:prstClr val="black">
                    <a:tint val="75000"/>
                  </a:prstClr>
                </a:solidFill>
              </a:rPr>
              <a:t>Claudio De Sio Cesari: NJ-004</a:t>
            </a:r>
            <a:endParaRPr lang="it-IT">
              <a:solidFill>
                <a:prstClr val="black">
                  <a:tint val="75000"/>
                </a:prstClr>
              </a:solidFill>
            </a:endParaRPr>
          </a:p>
        </p:txBody>
      </p:sp>
      <p:sp>
        <p:nvSpPr>
          <p:cNvPr id="6" name="Segnaposto numero diapositiva 5"/>
          <p:cNvSpPr>
            <a:spLocks noGrp="1"/>
          </p:cNvSpPr>
          <p:nvPr>
            <p:ph type="sldNum" sz="quarter" idx="4"/>
          </p:nvPr>
        </p:nvSpPr>
        <p:spPr>
          <a:xfrm>
            <a:off x="6553200" y="6356353"/>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itchFamily="-111" charset="0"/>
                <a:ea typeface="ＭＳ Ｐゴシック" pitchFamily="-111" charset="-128"/>
                <a:cs typeface="+mn-cs"/>
              </a:defRPr>
            </a:lvl1pPr>
          </a:lstStyle>
          <a:p>
            <a:fld id="{EA83E0A8-4958-4553-8C1A-CC59A6ABE123}" type="slidenum">
              <a:rPr lang="it-IT" smtClean="0"/>
              <a:pPr/>
              <a:t>‹N›</a:t>
            </a:fld>
            <a:endParaRPr lang="it-IT"/>
          </a:p>
        </p:txBody>
      </p:sp>
      <p:pic>
        <p:nvPicPr>
          <p:cNvPr id="1031" name="Immagine 3" descr="PPT_template-06.jp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04333671"/>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Lst>
  <p:hf hdr="0" dt="0"/>
  <p:txStyles>
    <p:titleStyle>
      <a:lvl1pPr algn="ctr" defTabSz="457200" rtl="0" eaLnBrk="1" fontAlgn="base" hangingPunct="1">
        <a:spcBef>
          <a:spcPct val="0"/>
        </a:spcBef>
        <a:spcAft>
          <a:spcPct val="0"/>
        </a:spcAft>
        <a:defRPr sz="4400" kern="1200">
          <a:solidFill>
            <a:schemeClr val="tx1"/>
          </a:solidFill>
          <a:latin typeface="+mj-lt"/>
          <a:ea typeface="ＭＳ Ｐゴシック" charset="-128"/>
          <a:cs typeface="ＭＳ Ｐゴシック" charset="-128"/>
        </a:defRPr>
      </a:lvl1pPr>
      <a:lvl2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l="-17000" r="-1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it-IT"/>
              <a:t>Fare clic per modificare lo stile del titolo</a:t>
            </a:r>
            <a:endParaRPr lang="en-US" dirty="0"/>
          </a:p>
        </p:txBody>
      </p:sp>
      <p:sp>
        <p:nvSpPr>
          <p:cNvPr id="3" name="Text Placeholder 2"/>
          <p:cNvSpPr>
            <a:spLocks noGrp="1"/>
          </p:cNvSpPr>
          <p:nvPr>
            <p:ph type="body" idx="1"/>
          </p:nvPr>
        </p:nvSpPr>
        <p:spPr>
          <a:xfrm>
            <a:off x="840000" y="1825625"/>
            <a:ext cx="7675350" cy="4351338"/>
          </a:xfrm>
          <a:prstGeom prst="rect">
            <a:avLst/>
          </a:prstGeom>
        </p:spPr>
        <p:txBody>
          <a:bodyPr vert="horz" lIns="91440" tIns="45720" rIns="91440" bIns="45720" rtlCol="0">
            <a:normAutofit/>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r>
              <a:rPr lang="it-IT"/>
              <a:t>20/03/2012</a:t>
            </a: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r>
              <a:rPr lang="it-IT"/>
              <a:t>Claudio De Sio Cesari: NJ-004</a:t>
            </a:r>
            <a:endParaRPr lang="it-IT"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EA83E0A8-4958-4553-8C1A-CC59A6ABE123}" type="slidenum">
              <a:rPr lang="it-IT" smtClean="0"/>
              <a:t>‹N›</a:t>
            </a:fld>
            <a:endParaRPr lang="it-IT"/>
          </a:p>
        </p:txBody>
      </p:sp>
    </p:spTree>
    <p:extLst>
      <p:ext uri="{BB962C8B-B14F-4D97-AF65-F5344CB8AC3E}">
        <p14:creationId xmlns:p14="http://schemas.microsoft.com/office/powerpoint/2010/main" val="3813533679"/>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p:hf hdr="0" dt="0"/>
  <p:txStyles>
    <p:titleStyle>
      <a:lvl1pPr algn="l" defTabSz="685800" rtl="0" eaLnBrk="1" latinLnBrk="0" hangingPunct="1">
        <a:lnSpc>
          <a:spcPct val="90000"/>
        </a:lnSpc>
        <a:spcBef>
          <a:spcPct val="0"/>
        </a:spcBef>
        <a:buNone/>
        <a:defRPr sz="4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5.xml"/></Relationships>
</file>

<file path=ppt/slides/_rels/slide6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7.xml"/><Relationship Id="rId1" Type="http://schemas.openxmlformats.org/officeDocument/2006/relationships/slideLayout" Target="../slideLayouts/slideLayout1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olo 1"/>
          <p:cNvSpPr>
            <a:spLocks noGrp="1"/>
          </p:cNvSpPr>
          <p:nvPr>
            <p:ph type="ctrTitle"/>
          </p:nvPr>
        </p:nvSpPr>
        <p:spPr>
          <a:xfrm>
            <a:off x="527360" y="1052670"/>
            <a:ext cx="8077200" cy="3976530"/>
          </a:xfrm>
        </p:spPr>
        <p:txBody>
          <a:bodyPr>
            <a:normAutofit fontScale="90000"/>
          </a:bodyPr>
          <a:lstStyle/>
          <a:p>
            <a:pPr algn="ctr"/>
            <a:r>
              <a:rPr lang="it-IT" sz="8000" b="1" dirty="0"/>
              <a:t>Claudio De Sio Cesari</a:t>
            </a:r>
            <a:br>
              <a:rPr lang="it-IT" b="1" dirty="0"/>
            </a:br>
            <a:br>
              <a:rPr lang="it-IT" sz="3200" dirty="0">
                <a:solidFill>
                  <a:srgbClr val="000000"/>
                </a:solidFill>
                <a:latin typeface="Calibri" panose="020F0502020204030204" pitchFamily="34" charset="0"/>
              </a:rPr>
            </a:br>
            <a:r>
              <a:rPr lang="it-IT" sz="7300" dirty="0">
                <a:solidFill>
                  <a:srgbClr val="000000"/>
                </a:solidFill>
                <a:latin typeface="Calibri" panose="020F0502020204030204" pitchFamily="34" charset="0"/>
              </a:rPr>
              <a:t> Il nuovo Java</a:t>
            </a:r>
            <a:br>
              <a:rPr lang="it-IT" sz="5400" dirty="0">
                <a:solidFill>
                  <a:srgbClr val="000000"/>
                </a:solidFill>
                <a:latin typeface="Calibri" panose="020F0502020204030204" pitchFamily="34" charset="0"/>
              </a:rPr>
            </a:br>
            <a:r>
              <a:rPr lang="it-IT" sz="6000" dirty="0">
                <a:solidFill>
                  <a:srgbClr val="000000"/>
                </a:solidFill>
                <a:latin typeface="Calibri" panose="020F0502020204030204" pitchFamily="34" charset="0"/>
              </a:rPr>
              <a:t>Stile di codifica, tipi di dati ed array</a:t>
            </a:r>
            <a:br>
              <a:rPr lang="it-IT" sz="6000" dirty="0">
                <a:solidFill>
                  <a:srgbClr val="000000"/>
                </a:solidFill>
                <a:latin typeface="Calibri" panose="020F0502020204030204" pitchFamily="34" charset="0"/>
              </a:rPr>
            </a:br>
            <a:r>
              <a:rPr lang="it-IT" sz="6000" dirty="0">
                <a:solidFill>
                  <a:srgbClr val="000000"/>
                </a:solidFill>
                <a:latin typeface="Calibri" panose="020F0502020204030204" pitchFamily="34" charset="0"/>
              </a:rPr>
              <a:t>(NJ</a:t>
            </a:r>
            <a:r>
              <a:rPr lang="it-IT" sz="6000" b="1" dirty="0"/>
              <a:t>– 004)</a:t>
            </a:r>
            <a:r>
              <a:rPr lang="it-IT" sz="6000" dirty="0">
                <a:solidFill>
                  <a:srgbClr val="000000"/>
                </a:solidFill>
                <a:latin typeface="Calibri" panose="020F0502020204030204" pitchFamily="34" charset="0"/>
              </a:rPr>
              <a:t> </a:t>
            </a:r>
            <a:br>
              <a:rPr lang="it-IT" sz="6000" dirty="0">
                <a:solidFill>
                  <a:srgbClr val="000000"/>
                </a:solidFill>
                <a:latin typeface="Calibri" panose="020F0502020204030204" pitchFamily="34" charset="0"/>
              </a:rPr>
            </a:br>
            <a:br>
              <a:rPr lang="it-IT" sz="6000" dirty="0">
                <a:solidFill>
                  <a:srgbClr val="000000"/>
                </a:solidFill>
                <a:latin typeface="Calibri" panose="020F0502020204030204" pitchFamily="34" charset="0"/>
              </a:rPr>
            </a:br>
            <a:r>
              <a:rPr kumimoji="0" lang="it-IT" sz="3600" b="0" i="0" u="none" strike="noStrike" kern="1200" cap="none" spc="-225" normalizeH="0" baseline="0" noProof="0" dirty="0">
                <a:ln>
                  <a:noFill/>
                </a:ln>
                <a:solidFill>
                  <a:srgbClr val="000000"/>
                </a:solidFill>
                <a:effectLst>
                  <a:outerShdw blurRad="469900" dist="342900" dir="5400000" sy="-20000" rotWithShape="0">
                    <a:prstClr val="black">
                      <a:alpha val="66000"/>
                    </a:prstClr>
                  </a:outerShdw>
                </a:effectLst>
                <a:uLnTx/>
                <a:uFillTx/>
                <a:latin typeface="Calibri" panose="020F0502020204030204" pitchFamily="34" charset="0"/>
                <a:ea typeface="+mj-ea"/>
                <a:cs typeface="+mj-cs"/>
              </a:rPr>
              <a:t>https://www.nuovojava.it</a:t>
            </a:r>
            <a:endParaRPr lang="it-IT" sz="3600" dirty="0"/>
          </a:p>
        </p:txBody>
      </p:sp>
    </p:spTree>
    <p:extLst>
      <p:ext uri="{BB962C8B-B14F-4D97-AF65-F5344CB8AC3E}">
        <p14:creationId xmlns:p14="http://schemas.microsoft.com/office/powerpoint/2010/main" val="4088286481"/>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1"/>
            <a:ext cx="9144000" cy="1340710"/>
          </a:xfrm>
        </p:spPr>
        <p:txBody>
          <a:bodyPr/>
          <a:lstStyle/>
          <a:p>
            <a:r>
              <a:rPr lang="it-IT" dirty="0"/>
              <a:t>Operatori e Gestione del flusso di esecuzione</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0" y="1484730"/>
            <a:ext cx="9144000" cy="5008143"/>
          </a:xfrm>
        </p:spPr>
        <p:txBody>
          <a:bodyPr>
            <a:noAutofit/>
          </a:bodyPr>
          <a:lstStyle/>
          <a:p>
            <a:pPr marL="180340" indent="180340">
              <a:tabLst>
                <a:tab pos="457200" algn="l"/>
              </a:tabLst>
            </a:pPr>
            <a:r>
              <a:rPr lang="it-IT" sz="2800" dirty="0">
                <a:effectLst/>
                <a:latin typeface="+mj-lt"/>
                <a:ea typeface="Times New Roman" panose="02020603050405020304" pitchFamily="18" charset="0"/>
                <a:cs typeface="Calibri" panose="020F0502020204030204" pitchFamily="34" charset="0"/>
              </a:rPr>
              <a:t>Conoscere e saper utilizzare i vari operatori (unità 4.1). </a:t>
            </a:r>
          </a:p>
          <a:p>
            <a:pPr marL="180340" indent="180340">
              <a:tabLst>
                <a:tab pos="457200" algn="l"/>
              </a:tabLst>
            </a:pPr>
            <a:r>
              <a:rPr lang="it-IT" sz="2800" dirty="0">
                <a:effectLst/>
                <a:latin typeface="+mj-lt"/>
                <a:ea typeface="Times New Roman" panose="02020603050405020304" pitchFamily="18" charset="0"/>
                <a:cs typeface="Calibri" panose="020F0502020204030204" pitchFamily="34" charset="0"/>
              </a:rPr>
              <a:t>Conoscere e saper utilizzare i costrutti di programmazione semplici (unità 4.2). </a:t>
            </a:r>
          </a:p>
          <a:p>
            <a:pPr marL="180340" indent="180340">
              <a:tabLst>
                <a:tab pos="457200" algn="l"/>
              </a:tabLst>
            </a:pPr>
            <a:r>
              <a:rPr lang="it-IT" sz="2800" dirty="0">
                <a:effectLst/>
                <a:latin typeface="+mj-lt"/>
                <a:ea typeface="Times New Roman" panose="02020603050405020304" pitchFamily="18" charset="0"/>
                <a:cs typeface="Calibri" panose="020F0502020204030204" pitchFamily="34" charset="0"/>
              </a:rPr>
              <a:t>Conoscere e saper utilizzare i costrutti di programmazione avanzati (unità 4.3). </a:t>
            </a:r>
          </a:p>
          <a:p>
            <a:pPr marL="180340" indent="180340">
              <a:tabLst>
                <a:tab pos="457200" algn="l"/>
              </a:tabLst>
            </a:pPr>
            <a:r>
              <a:rPr lang="it-IT" sz="2800" dirty="0">
                <a:effectLst/>
                <a:latin typeface="+mj-lt"/>
                <a:ea typeface="Times New Roman" panose="02020603050405020304" pitchFamily="18" charset="0"/>
                <a:cs typeface="Calibri" panose="020F0502020204030204" pitchFamily="34" charset="0"/>
              </a:rPr>
              <a:t>Conoscere e saper utilizzare il nuovo costrutto switch (unità 4.4).</a:t>
            </a:r>
          </a:p>
          <a:p>
            <a:pPr marL="180340" indent="180340">
              <a:tabLst>
                <a:tab pos="457200" algn="l"/>
              </a:tabLst>
            </a:pPr>
            <a:r>
              <a:rPr lang="it-IT" sz="2800" dirty="0">
                <a:effectLst/>
                <a:latin typeface="+mj-lt"/>
                <a:ea typeface="Times New Roman" panose="02020603050405020304" pitchFamily="18" charset="0"/>
                <a:cs typeface="Calibri" panose="020F0502020204030204" pitchFamily="34" charset="0"/>
              </a:rPr>
              <a:t>Comprendere che prima di iniziare a programmare è necessario prima avere chiari tutti i requisiti, e avere un piano per procedere nella codifica (unità 4.5) </a:t>
            </a:r>
          </a:p>
          <a:p>
            <a:pPr marL="180340" indent="180340">
              <a:tabLst>
                <a:tab pos="457200" algn="l"/>
              </a:tabLst>
            </a:pPr>
            <a:endParaRPr lang="it-IT" sz="2000" dirty="0">
              <a:effectLst/>
              <a:latin typeface="Calibri" panose="020F0502020204030204" pitchFamily="34" charset="0"/>
              <a:ea typeface="Times New Roman" panose="02020603050405020304" pitchFamily="18" charset="0"/>
              <a:cs typeface="Calibri" panose="020F0502020204030204" pitchFamily="34" charset="0"/>
            </a:endParaRP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a:t>
            </a:fld>
            <a:endParaRPr lang="it-IT"/>
          </a:p>
        </p:txBody>
      </p:sp>
    </p:spTree>
    <p:extLst>
      <p:ext uri="{BB962C8B-B14F-4D97-AF65-F5344CB8AC3E}">
        <p14:creationId xmlns:p14="http://schemas.microsoft.com/office/powerpoint/2010/main" val="805334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171499"/>
            <a:ext cx="9144000" cy="1368190"/>
          </a:xfrm>
        </p:spPr>
        <p:txBody>
          <a:bodyPr/>
          <a:lstStyle/>
          <a:p>
            <a:r>
              <a:rPr lang="it-IT" dirty="0"/>
              <a:t>Operatori di base</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0" y="908650"/>
            <a:ext cx="9144000" cy="5949350"/>
          </a:xfrm>
        </p:spPr>
        <p:txBody>
          <a:bodyPr>
            <a:normAutofit fontScale="85000" lnSpcReduction="20000"/>
          </a:bodyPr>
          <a:lstStyle/>
          <a:p>
            <a:r>
              <a:rPr lang="it-IT" sz="3200" dirty="0"/>
              <a:t>Operatori binari ed unari (simboli o lettere)</a:t>
            </a:r>
          </a:p>
          <a:p>
            <a:r>
              <a:rPr lang="it-IT" sz="3200" dirty="0"/>
              <a:t>Operatore d’assegnazione </a:t>
            </a:r>
            <a:r>
              <a:rPr lang="it-IT" sz="3200" b="1" dirty="0"/>
              <a:t>=</a:t>
            </a:r>
          </a:p>
          <a:p>
            <a:pPr marL="0" indent="0">
              <a:buNone/>
            </a:pPr>
            <a:r>
              <a:rPr lang="nn-NO" sz="3200" b="1" dirty="0">
                <a:solidFill>
                  <a:schemeClr val="accent5"/>
                </a:solidFill>
              </a:rPr>
              <a:t>int variabile1 = 0;</a:t>
            </a:r>
          </a:p>
          <a:p>
            <a:pPr marL="0" indent="0">
              <a:buNone/>
            </a:pPr>
            <a:r>
              <a:rPr lang="nn-NO" sz="3200" b="1" dirty="0">
                <a:solidFill>
                  <a:schemeClr val="accent5"/>
                </a:solidFill>
              </a:rPr>
              <a:t>int variabile1 = 1;</a:t>
            </a:r>
          </a:p>
          <a:p>
            <a:pPr marL="0" indent="0">
              <a:buNone/>
            </a:pPr>
            <a:r>
              <a:rPr lang="nn-NO" sz="3200" b="1" dirty="0">
                <a:solidFill>
                  <a:schemeClr val="accent5"/>
                </a:solidFill>
              </a:rPr>
              <a:t>int variabile2 = 2;</a:t>
            </a:r>
          </a:p>
          <a:p>
            <a:pPr marL="0" indent="0">
              <a:buNone/>
            </a:pPr>
            <a:r>
              <a:rPr lang="nn-NO" sz="3200" b="1" dirty="0">
                <a:solidFill>
                  <a:schemeClr val="accent5"/>
                </a:solidFill>
              </a:rPr>
              <a:t>variabile1 = variabile2;</a:t>
            </a:r>
          </a:p>
          <a:p>
            <a:r>
              <a:rPr lang="it-IT" sz="3200" dirty="0"/>
              <a:t>Operatori aritmetici: </a:t>
            </a:r>
            <a:r>
              <a:rPr lang="it-IT" sz="3200" b="1" dirty="0"/>
              <a:t>+ – * / %</a:t>
            </a:r>
            <a:r>
              <a:rPr lang="it-IT" sz="3200" dirty="0"/>
              <a:t> (</a:t>
            </a:r>
            <a:r>
              <a:rPr lang="it-IT" sz="3200" b="1" dirty="0"/>
              <a:t>modulo</a:t>
            </a:r>
            <a:r>
              <a:rPr lang="it-IT" sz="3200" dirty="0"/>
              <a:t>)</a:t>
            </a:r>
          </a:p>
          <a:p>
            <a:pPr marL="0" indent="0">
              <a:buNone/>
            </a:pPr>
            <a:r>
              <a:rPr lang="it-IT" sz="3200" dirty="0"/>
              <a:t>L’espressione 5 % 3 restituisce 2</a:t>
            </a:r>
          </a:p>
          <a:p>
            <a:pPr marL="0" indent="0">
              <a:buNone/>
            </a:pPr>
            <a:r>
              <a:rPr lang="it-IT" sz="3200" dirty="0"/>
              <a:t>L’espressione 10 % 2 restituisce 0</a:t>
            </a:r>
          </a:p>
          <a:p>
            <a:pPr marL="0" indent="0">
              <a:buNone/>
            </a:pPr>
            <a:r>
              <a:rPr lang="it-IT" sz="3200" dirty="0"/>
              <a:t>L’espressione 100 % 50 restituisce 0</a:t>
            </a:r>
          </a:p>
          <a:p>
            <a:pPr marL="0" indent="0">
              <a:buNone/>
            </a:pPr>
            <a:r>
              <a:rPr lang="it-IT" sz="3200" dirty="0"/>
              <a:t>L’espressione 5.5 % 3.3 restituisce 2.2</a:t>
            </a:r>
          </a:p>
          <a:p>
            <a:r>
              <a:rPr lang="it-IT" sz="3200" dirty="0"/>
              <a:t>Gli operatori + e – sono anche unari:</a:t>
            </a:r>
          </a:p>
          <a:p>
            <a:pPr marL="0" indent="0">
              <a:buNone/>
            </a:pPr>
            <a:r>
              <a:rPr lang="sv-SE" sz="3200" dirty="0">
                <a:solidFill>
                  <a:schemeClr val="accent5"/>
                </a:solidFill>
              </a:rPr>
              <a:t>int i = -1;</a:t>
            </a:r>
          </a:p>
          <a:p>
            <a:pPr marL="0" indent="0">
              <a:buNone/>
            </a:pPr>
            <a:r>
              <a:rPr lang="sv-SE" sz="3200" dirty="0">
                <a:solidFill>
                  <a:schemeClr val="accent5"/>
                </a:solidFill>
              </a:rPr>
              <a:t>int j = +1;</a:t>
            </a:r>
          </a:p>
          <a:p>
            <a:pPr marL="0" indent="0">
              <a:buNone/>
            </a:pPr>
            <a:endParaRPr lang="it-IT" sz="3200" dirty="0"/>
          </a:p>
          <a:p>
            <a:pPr marL="0" indent="0">
              <a:buNone/>
            </a:pPr>
            <a:endParaRPr lang="it-IT" sz="3200" dirty="0"/>
          </a:p>
          <a:p>
            <a:endParaRPr lang="it-IT" sz="3200" dirty="0"/>
          </a:p>
          <a:p>
            <a:pPr lvl="1"/>
            <a:endParaRPr lang="it-IT" dirty="0"/>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3</a:t>
            </a:fld>
            <a:endParaRPr lang="it-IT"/>
          </a:p>
        </p:txBody>
      </p:sp>
    </p:spTree>
    <p:extLst>
      <p:ext uri="{BB962C8B-B14F-4D97-AF65-F5344CB8AC3E}">
        <p14:creationId xmlns:p14="http://schemas.microsoft.com/office/powerpoint/2010/main" val="2845546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171499"/>
            <a:ext cx="9144000" cy="1368190"/>
          </a:xfrm>
        </p:spPr>
        <p:txBody>
          <a:bodyPr/>
          <a:lstStyle/>
          <a:p>
            <a:r>
              <a:rPr lang="it-IT" dirty="0"/>
              <a:t>Operatori di assegnazione composti</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4</a:t>
            </a:fld>
            <a:endParaRPr lang="it-IT"/>
          </a:p>
        </p:txBody>
      </p:sp>
      <p:graphicFrame>
        <p:nvGraphicFramePr>
          <p:cNvPr id="6" name="Tabella 5">
            <a:extLst>
              <a:ext uri="{FF2B5EF4-FFF2-40B4-BE49-F238E27FC236}">
                <a16:creationId xmlns:a16="http://schemas.microsoft.com/office/drawing/2014/main" id="{BA9F74B3-D691-458D-B403-EF5D8583CA87}"/>
              </a:ext>
            </a:extLst>
          </p:cNvPr>
          <p:cNvGraphicFramePr>
            <a:graphicFrameLocks noGrp="1"/>
          </p:cNvGraphicFramePr>
          <p:nvPr>
            <p:extLst>
              <p:ext uri="{D42A27DB-BD31-4B8C-83A1-F6EECF244321}">
                <p14:modId xmlns:p14="http://schemas.microsoft.com/office/powerpoint/2010/main" val="1882493979"/>
              </p:ext>
            </p:extLst>
          </p:nvPr>
        </p:nvGraphicFramePr>
        <p:xfrm>
          <a:off x="0" y="1162430"/>
          <a:ext cx="9144000" cy="2194560"/>
        </p:xfrm>
        <a:graphic>
          <a:graphicData uri="http://schemas.openxmlformats.org/drawingml/2006/table">
            <a:tbl>
              <a:tblPr>
                <a:tableStyleId>{5C22544A-7EE6-4342-B048-85BDC9FD1C3A}</a:tableStyleId>
              </a:tblPr>
              <a:tblGrid>
                <a:gridCol w="4500627">
                  <a:extLst>
                    <a:ext uri="{9D8B030D-6E8A-4147-A177-3AD203B41FA5}">
                      <a16:colId xmlns:a16="http://schemas.microsoft.com/office/drawing/2014/main" val="1062705733"/>
                    </a:ext>
                  </a:extLst>
                </a:gridCol>
                <a:gridCol w="4643373">
                  <a:extLst>
                    <a:ext uri="{9D8B030D-6E8A-4147-A177-3AD203B41FA5}">
                      <a16:colId xmlns:a16="http://schemas.microsoft.com/office/drawing/2014/main" val="1268337837"/>
                    </a:ext>
                  </a:extLst>
                </a:gridCol>
              </a:tblGrid>
              <a:tr h="228032">
                <a:tc>
                  <a:txBody>
                    <a:bodyPr/>
                    <a:lstStyle/>
                    <a:p>
                      <a:r>
                        <a:rPr lang="it-IT" sz="2400" b="1" dirty="0">
                          <a:effectLst/>
                        </a:rPr>
                        <a:t>Descrizione</a:t>
                      </a:r>
                      <a:endParaRPr lang="it-IT" sz="2400" b="1"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r>
                        <a:rPr lang="it-IT" sz="2400" b="1" dirty="0">
                          <a:effectLst/>
                        </a:rPr>
                        <a:t>Operatore</a:t>
                      </a:r>
                      <a:endParaRPr lang="it-IT" sz="2400" b="1"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417907343"/>
                  </a:ext>
                </a:extLst>
              </a:tr>
              <a:tr h="228032">
                <a:tc>
                  <a:txBody>
                    <a:bodyPr/>
                    <a:lstStyle/>
                    <a:p>
                      <a:r>
                        <a:rPr lang="it-IT" sz="2400">
                          <a:effectLst/>
                        </a:rPr>
                        <a:t>Somma ed assegnazione</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dirty="0">
                          <a:effectLst/>
                        </a:rPr>
                        <a:t>+=</a:t>
                      </a:r>
                      <a:endParaRPr lang="it-IT" sz="24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2361746"/>
                  </a:ext>
                </a:extLst>
              </a:tr>
              <a:tr h="228032">
                <a:tc>
                  <a:txBody>
                    <a:bodyPr/>
                    <a:lstStyle/>
                    <a:p>
                      <a:r>
                        <a:rPr lang="it-IT" sz="2400" dirty="0">
                          <a:effectLst/>
                        </a:rPr>
                        <a:t>Sottrazione ed assegnazione</a:t>
                      </a:r>
                      <a:endParaRPr lang="it-IT" sz="2400" dirty="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a:t>
                      </a:r>
                      <a:endParaRPr lang="it-IT" sz="2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757493164"/>
                  </a:ext>
                </a:extLst>
              </a:tr>
              <a:tr h="228032">
                <a:tc>
                  <a:txBody>
                    <a:bodyPr/>
                    <a:lstStyle/>
                    <a:p>
                      <a:r>
                        <a:rPr lang="it-IT" sz="2400">
                          <a:effectLst/>
                        </a:rPr>
                        <a:t>Moltiplicazione ed assegnazione</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a:t>
                      </a:r>
                      <a:endParaRPr lang="it-IT" sz="2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985294054"/>
                  </a:ext>
                </a:extLst>
              </a:tr>
              <a:tr h="228032">
                <a:tc>
                  <a:txBody>
                    <a:bodyPr/>
                    <a:lstStyle/>
                    <a:p>
                      <a:r>
                        <a:rPr lang="it-IT" sz="2400">
                          <a:effectLst/>
                        </a:rPr>
                        <a:t>Divisione ed assegnazione</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a:t>
                      </a:r>
                      <a:endParaRPr lang="it-IT" sz="2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618986073"/>
                  </a:ext>
                </a:extLst>
              </a:tr>
              <a:tr h="228032">
                <a:tc>
                  <a:txBody>
                    <a:bodyPr/>
                    <a:lstStyle/>
                    <a:p>
                      <a:r>
                        <a:rPr lang="it-IT" sz="2400" dirty="0">
                          <a:effectLst/>
                        </a:rPr>
                        <a:t>Modulo ed assegnazione</a:t>
                      </a:r>
                      <a:endParaRPr lang="it-IT" sz="2400" dirty="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dirty="0">
                          <a:effectLst/>
                        </a:rPr>
                        <a:t>%=</a:t>
                      </a:r>
                      <a:endParaRPr lang="it-IT" sz="24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600344095"/>
                  </a:ext>
                </a:extLst>
              </a:tr>
            </a:tbl>
          </a:graphicData>
        </a:graphic>
      </p:graphicFrame>
      <p:sp>
        <p:nvSpPr>
          <p:cNvPr id="13" name="CasellaDiTesto 12">
            <a:extLst>
              <a:ext uri="{FF2B5EF4-FFF2-40B4-BE49-F238E27FC236}">
                <a16:creationId xmlns:a16="http://schemas.microsoft.com/office/drawing/2014/main" id="{3249A0DF-299B-4BE4-9DB1-49FDD6742683}"/>
              </a:ext>
            </a:extLst>
          </p:cNvPr>
          <p:cNvSpPr txBox="1"/>
          <p:nvPr/>
        </p:nvSpPr>
        <p:spPr>
          <a:xfrm>
            <a:off x="0" y="3703754"/>
            <a:ext cx="9144000" cy="2677656"/>
          </a:xfrm>
          <a:prstGeom prst="rect">
            <a:avLst/>
          </a:prstGeom>
          <a:noFill/>
        </p:spPr>
        <p:txBody>
          <a:bodyPr wrap="square">
            <a:spAutoFit/>
          </a:bodyPr>
          <a:lstStyle/>
          <a:p>
            <a:r>
              <a:rPr lang="it-IT" sz="2400" dirty="0"/>
              <a:t>Per esempio se abbiamo:</a:t>
            </a:r>
          </a:p>
          <a:p>
            <a:r>
              <a:rPr lang="it-IT" sz="2400" dirty="0">
                <a:solidFill>
                  <a:schemeClr val="accent5"/>
                </a:solidFill>
              </a:rPr>
              <a:t>int i = 5;</a:t>
            </a:r>
          </a:p>
          <a:p>
            <a:r>
              <a:rPr lang="it-IT" sz="2400" dirty="0"/>
              <a:t>Le seguenti istruzioni sono equivalenti:</a:t>
            </a:r>
          </a:p>
          <a:p>
            <a:r>
              <a:rPr lang="it-IT" sz="2400" dirty="0">
                <a:solidFill>
                  <a:schemeClr val="accent5"/>
                </a:solidFill>
              </a:rPr>
              <a:t>i = i + 2;</a:t>
            </a:r>
          </a:p>
          <a:p>
            <a:r>
              <a:rPr lang="it-IT" sz="2400" dirty="0">
                <a:solidFill>
                  <a:schemeClr val="accent5"/>
                </a:solidFill>
              </a:rPr>
              <a:t>i += 2;</a:t>
            </a:r>
          </a:p>
          <a:p>
            <a:r>
              <a:rPr lang="it-IT" sz="2400" dirty="0"/>
              <a:t>Infatti, questa verrà trasformata dal compilatore nell’istruzione:</a:t>
            </a:r>
          </a:p>
          <a:p>
            <a:r>
              <a:rPr lang="it-IT" sz="2400" dirty="0">
                <a:solidFill>
                  <a:schemeClr val="accent5"/>
                </a:solidFill>
              </a:rPr>
              <a:t>i = (i + 2);</a:t>
            </a:r>
          </a:p>
        </p:txBody>
      </p:sp>
    </p:spTree>
    <p:extLst>
      <p:ext uri="{BB962C8B-B14F-4D97-AF65-F5344CB8AC3E}">
        <p14:creationId xmlns:p14="http://schemas.microsoft.com/office/powerpoint/2010/main" val="20851899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1"/>
            <a:ext cx="9144000" cy="1196691"/>
          </a:xfrm>
        </p:spPr>
        <p:txBody>
          <a:bodyPr>
            <a:normAutofit fontScale="90000"/>
          </a:bodyPr>
          <a:lstStyle/>
          <a:p>
            <a:r>
              <a:rPr lang="it-IT" dirty="0"/>
              <a:t>Operatori (unari) di pre e post-incremento (e decremento)</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5</a:t>
            </a:fld>
            <a:endParaRPr lang="it-IT"/>
          </a:p>
        </p:txBody>
      </p:sp>
      <p:graphicFrame>
        <p:nvGraphicFramePr>
          <p:cNvPr id="7" name="Tabella 6">
            <a:extLst>
              <a:ext uri="{FF2B5EF4-FFF2-40B4-BE49-F238E27FC236}">
                <a16:creationId xmlns:a16="http://schemas.microsoft.com/office/drawing/2014/main" id="{91104ED5-257D-4232-A8CD-48D831D6F45C}"/>
              </a:ext>
            </a:extLst>
          </p:cNvPr>
          <p:cNvGraphicFramePr>
            <a:graphicFrameLocks noGrp="1"/>
          </p:cNvGraphicFramePr>
          <p:nvPr>
            <p:extLst>
              <p:ext uri="{D42A27DB-BD31-4B8C-83A1-F6EECF244321}">
                <p14:modId xmlns:p14="http://schemas.microsoft.com/office/powerpoint/2010/main" val="3902355360"/>
              </p:ext>
            </p:extLst>
          </p:nvPr>
        </p:nvGraphicFramePr>
        <p:xfrm>
          <a:off x="0" y="1268700"/>
          <a:ext cx="9144000" cy="1828800"/>
        </p:xfrm>
        <a:graphic>
          <a:graphicData uri="http://schemas.openxmlformats.org/drawingml/2006/table">
            <a:tbl>
              <a:tblPr>
                <a:tableStyleId>{5C22544A-7EE6-4342-B048-85BDC9FD1C3A}</a:tableStyleId>
              </a:tblPr>
              <a:tblGrid>
                <a:gridCol w="3818749">
                  <a:extLst>
                    <a:ext uri="{9D8B030D-6E8A-4147-A177-3AD203B41FA5}">
                      <a16:colId xmlns:a16="http://schemas.microsoft.com/office/drawing/2014/main" val="1343839687"/>
                    </a:ext>
                  </a:extLst>
                </a:gridCol>
                <a:gridCol w="2591843">
                  <a:extLst>
                    <a:ext uri="{9D8B030D-6E8A-4147-A177-3AD203B41FA5}">
                      <a16:colId xmlns:a16="http://schemas.microsoft.com/office/drawing/2014/main" val="463882838"/>
                    </a:ext>
                  </a:extLst>
                </a:gridCol>
                <a:gridCol w="2733408">
                  <a:extLst>
                    <a:ext uri="{9D8B030D-6E8A-4147-A177-3AD203B41FA5}">
                      <a16:colId xmlns:a16="http://schemas.microsoft.com/office/drawing/2014/main" val="428380297"/>
                    </a:ext>
                  </a:extLst>
                </a:gridCol>
              </a:tblGrid>
              <a:tr h="277909">
                <a:tc>
                  <a:txBody>
                    <a:bodyPr/>
                    <a:lstStyle/>
                    <a:p>
                      <a:r>
                        <a:rPr lang="it-IT" sz="2400" b="1" dirty="0">
                          <a:effectLst/>
                        </a:rPr>
                        <a:t>Descrizione</a:t>
                      </a:r>
                      <a:endParaRPr lang="it-IT" sz="2400" b="1"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r>
                        <a:rPr lang="it-IT" sz="2400" b="1">
                          <a:effectLst/>
                        </a:rPr>
                        <a:t>Operatore</a:t>
                      </a:r>
                      <a:endParaRPr lang="it-IT" sz="24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r>
                        <a:rPr lang="it-IT" sz="2400" b="1" dirty="0">
                          <a:effectLst/>
                        </a:rPr>
                        <a:t>Esempio</a:t>
                      </a:r>
                      <a:endParaRPr lang="it-IT" sz="2400" b="1"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824289708"/>
                  </a:ext>
                </a:extLst>
              </a:tr>
              <a:tr h="277909">
                <a:tc>
                  <a:txBody>
                    <a:bodyPr/>
                    <a:lstStyle/>
                    <a:p>
                      <a:r>
                        <a:rPr lang="it-IT" sz="2400">
                          <a:effectLst/>
                        </a:rPr>
                        <a:t>Pre-incremento di un’unità</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++i</a:t>
                      </a:r>
                      <a:endParaRPr lang="it-IT" sz="2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154093344"/>
                  </a:ext>
                </a:extLst>
              </a:tr>
              <a:tr h="277909">
                <a:tc>
                  <a:txBody>
                    <a:bodyPr/>
                    <a:lstStyle/>
                    <a:p>
                      <a:r>
                        <a:rPr lang="it-IT" sz="2400">
                          <a:effectLst/>
                        </a:rPr>
                        <a:t>Pre-decremento di un’unità</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--i</a:t>
                      </a:r>
                      <a:endParaRPr lang="it-IT" sz="2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32490490"/>
                  </a:ext>
                </a:extLst>
              </a:tr>
              <a:tr h="277909">
                <a:tc>
                  <a:txBody>
                    <a:bodyPr/>
                    <a:lstStyle/>
                    <a:p>
                      <a:r>
                        <a:rPr lang="it-IT" sz="2400">
                          <a:effectLst/>
                        </a:rPr>
                        <a:t>Post-incremento di un’unità</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i++</a:t>
                      </a:r>
                      <a:endParaRPr lang="it-IT" sz="2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10749856"/>
                  </a:ext>
                </a:extLst>
              </a:tr>
              <a:tr h="277909">
                <a:tc>
                  <a:txBody>
                    <a:bodyPr/>
                    <a:lstStyle/>
                    <a:p>
                      <a:r>
                        <a:rPr lang="it-IT" sz="2400">
                          <a:effectLst/>
                        </a:rPr>
                        <a:t>Post-decremento di un’unità</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dirty="0">
                          <a:effectLst/>
                        </a:rPr>
                        <a:t>i--</a:t>
                      </a:r>
                      <a:endParaRPr lang="it-IT" sz="24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730737199"/>
                  </a:ext>
                </a:extLst>
              </a:tr>
            </a:tbl>
          </a:graphicData>
        </a:graphic>
      </p:graphicFrame>
      <p:sp>
        <p:nvSpPr>
          <p:cNvPr id="14" name="CasellaDiTesto 13">
            <a:extLst>
              <a:ext uri="{FF2B5EF4-FFF2-40B4-BE49-F238E27FC236}">
                <a16:creationId xmlns:a16="http://schemas.microsoft.com/office/drawing/2014/main" id="{1B958D21-6250-428A-AFB8-DE246907BF26}"/>
              </a:ext>
            </a:extLst>
          </p:cNvPr>
          <p:cNvSpPr txBox="1"/>
          <p:nvPr/>
        </p:nvSpPr>
        <p:spPr>
          <a:xfrm>
            <a:off x="0" y="3142173"/>
            <a:ext cx="4067930" cy="3416320"/>
          </a:xfrm>
          <a:prstGeom prst="rect">
            <a:avLst/>
          </a:prstGeom>
          <a:noFill/>
        </p:spPr>
        <p:txBody>
          <a:bodyPr wrap="square">
            <a:spAutoFit/>
          </a:bodyPr>
          <a:lstStyle/>
          <a:p>
            <a:r>
              <a:rPr lang="it-IT" sz="2400"/>
              <a:t>Le seguenti istruzioni sono tutte equivalenti</a:t>
            </a:r>
          </a:p>
          <a:p>
            <a:r>
              <a:rPr lang="it-IT" sz="2400">
                <a:solidFill>
                  <a:schemeClr val="accent5"/>
                </a:solidFill>
              </a:rPr>
              <a:t>i = i + 1;</a:t>
            </a:r>
          </a:p>
          <a:p>
            <a:r>
              <a:rPr lang="it-IT" sz="2400"/>
              <a:t>oppure:</a:t>
            </a:r>
          </a:p>
          <a:p>
            <a:r>
              <a:rPr lang="it-IT" sz="2400">
                <a:solidFill>
                  <a:schemeClr val="accent5"/>
                </a:solidFill>
              </a:rPr>
              <a:t>i += 1;</a:t>
            </a:r>
          </a:p>
          <a:p>
            <a:r>
              <a:rPr lang="it-IT" sz="2400"/>
              <a:t>ma anche:</a:t>
            </a:r>
          </a:p>
          <a:p>
            <a:r>
              <a:rPr lang="it-IT" sz="2400">
                <a:solidFill>
                  <a:schemeClr val="accent5"/>
                </a:solidFill>
              </a:rPr>
              <a:t>i++;</a:t>
            </a:r>
          </a:p>
          <a:p>
            <a:r>
              <a:rPr lang="it-IT" sz="2400"/>
              <a:t>oppure:</a:t>
            </a:r>
          </a:p>
          <a:p>
            <a:r>
              <a:rPr lang="it-IT" sz="2400">
                <a:solidFill>
                  <a:schemeClr val="accent5"/>
                </a:solidFill>
              </a:rPr>
              <a:t>++i;</a:t>
            </a:r>
            <a:endParaRPr lang="it-IT" sz="2400" dirty="0">
              <a:solidFill>
                <a:schemeClr val="accent5"/>
              </a:solidFill>
            </a:endParaRPr>
          </a:p>
        </p:txBody>
      </p:sp>
      <p:sp>
        <p:nvSpPr>
          <p:cNvPr id="18" name="CasellaDiTesto 17">
            <a:extLst>
              <a:ext uri="{FF2B5EF4-FFF2-40B4-BE49-F238E27FC236}">
                <a16:creationId xmlns:a16="http://schemas.microsoft.com/office/drawing/2014/main" id="{9987CC3E-34C5-4097-9CEB-2B70B949649B}"/>
              </a:ext>
            </a:extLst>
          </p:cNvPr>
          <p:cNvSpPr txBox="1"/>
          <p:nvPr/>
        </p:nvSpPr>
        <p:spPr>
          <a:xfrm>
            <a:off x="4788030" y="3429000"/>
            <a:ext cx="4211950" cy="3046988"/>
          </a:xfrm>
          <a:prstGeom prst="rect">
            <a:avLst/>
          </a:prstGeom>
          <a:noFill/>
        </p:spPr>
        <p:txBody>
          <a:bodyPr wrap="square">
            <a:spAutoFit/>
          </a:bodyPr>
          <a:lstStyle/>
          <a:p>
            <a:r>
              <a:rPr lang="it-IT" sz="2400" dirty="0"/>
              <a:t>Pre-incremento:</a:t>
            </a:r>
          </a:p>
          <a:p>
            <a:r>
              <a:rPr lang="it-IT" sz="2400" dirty="0">
                <a:solidFill>
                  <a:schemeClr val="accent5"/>
                </a:solidFill>
              </a:rPr>
              <a:t>int x = 5;	// x= 5</a:t>
            </a:r>
          </a:p>
          <a:p>
            <a:r>
              <a:rPr lang="it-IT" sz="2400" dirty="0">
                <a:solidFill>
                  <a:schemeClr val="accent5"/>
                </a:solidFill>
              </a:rPr>
              <a:t>int y = ++x;	//x = 6, y = 6</a:t>
            </a:r>
          </a:p>
          <a:p>
            <a:endParaRPr lang="it-IT" sz="2400" dirty="0">
              <a:solidFill>
                <a:schemeClr val="accent5"/>
              </a:solidFill>
            </a:endParaRPr>
          </a:p>
          <a:p>
            <a:r>
              <a:rPr lang="it-IT" sz="2400" dirty="0"/>
              <a:t>Post-incremento:</a:t>
            </a:r>
          </a:p>
          <a:p>
            <a:r>
              <a:rPr lang="it-IT" sz="2400" dirty="0">
                <a:solidFill>
                  <a:schemeClr val="accent5"/>
                </a:solidFill>
              </a:rPr>
              <a:t>x = 5;		// x= 5</a:t>
            </a:r>
          </a:p>
          <a:p>
            <a:r>
              <a:rPr lang="it-IT" sz="2400" dirty="0">
                <a:solidFill>
                  <a:schemeClr val="accent5"/>
                </a:solidFill>
              </a:rPr>
              <a:t>y = x++;	// x= 6, y= s</a:t>
            </a:r>
          </a:p>
          <a:p>
            <a:endParaRPr lang="it-IT" sz="2400" dirty="0"/>
          </a:p>
        </p:txBody>
      </p:sp>
    </p:spTree>
    <p:extLst>
      <p:ext uri="{BB962C8B-B14F-4D97-AF65-F5344CB8AC3E}">
        <p14:creationId xmlns:p14="http://schemas.microsoft.com/office/powerpoint/2010/main" val="11273857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1"/>
            <a:ext cx="9144000" cy="1019126"/>
          </a:xfrm>
        </p:spPr>
        <p:txBody>
          <a:bodyPr/>
          <a:lstStyle/>
          <a:p>
            <a:r>
              <a:rPr lang="it-IT" dirty="0"/>
              <a:t>Operatori relazionali o di confronto</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1" y="3849761"/>
            <a:ext cx="9143999" cy="2675670"/>
          </a:xfrm>
        </p:spPr>
        <p:txBody>
          <a:bodyPr>
            <a:normAutofit fontScale="77500" lnSpcReduction="20000"/>
          </a:bodyPr>
          <a:lstStyle/>
          <a:p>
            <a:r>
              <a:rPr lang="it-IT" sz="3200" dirty="0">
                <a:effectLst/>
                <a:ea typeface="Times New Roman" panose="02020603050405020304" pitchFamily="18" charset="0"/>
              </a:rPr>
              <a:t>Non confondere l’operatore di assegnazione </a:t>
            </a:r>
            <a:r>
              <a:rPr lang="it-IT" sz="3200" i="1" dirty="0">
                <a:effectLst/>
                <a:ea typeface="Times New Roman" panose="02020603050405020304" pitchFamily="18" charset="0"/>
              </a:rPr>
              <a:t>=</a:t>
            </a:r>
            <a:r>
              <a:rPr lang="it-IT" sz="3200" dirty="0">
                <a:effectLst/>
                <a:ea typeface="Times New Roman" panose="02020603050405020304" pitchFamily="18" charset="0"/>
              </a:rPr>
              <a:t> con l’operatore </a:t>
            </a:r>
            <a:r>
              <a:rPr lang="it-IT" sz="3200" i="1" dirty="0">
                <a:effectLst/>
                <a:ea typeface="Times New Roman" panose="02020603050405020304" pitchFamily="18" charset="0"/>
              </a:rPr>
              <a:t>==</a:t>
            </a:r>
          </a:p>
          <a:p>
            <a:pPr marL="0" indent="0">
              <a:buNone/>
            </a:pPr>
            <a:r>
              <a:rPr lang="en-US" sz="3200" dirty="0">
                <a:effectLst/>
                <a:ea typeface="Times New Roman" panose="02020603050405020304" pitchFamily="18" charset="0"/>
              </a:rPr>
              <a:t>boolean b = (9 == 9); // b vale true</a:t>
            </a:r>
          </a:p>
          <a:p>
            <a:pPr marL="0" indent="0">
              <a:buNone/>
            </a:pPr>
            <a:r>
              <a:rPr lang="en-US" sz="3200" dirty="0">
                <a:effectLst/>
                <a:ea typeface="Times New Roman" panose="02020603050405020304" pitchFamily="18" charset="0"/>
              </a:rPr>
              <a:t>int i = 10;</a:t>
            </a:r>
          </a:p>
          <a:p>
            <a:pPr marL="0" indent="0">
              <a:buNone/>
            </a:pPr>
            <a:r>
              <a:rPr lang="en-US" sz="3200" dirty="0">
                <a:effectLst/>
                <a:ea typeface="Times New Roman" panose="02020603050405020304" pitchFamily="18" charset="0"/>
              </a:rPr>
              <a:t>double d = 10.0;</a:t>
            </a:r>
          </a:p>
          <a:p>
            <a:pPr marL="0" indent="0">
              <a:buNone/>
            </a:pPr>
            <a:r>
              <a:rPr lang="en-US" sz="3200" dirty="0">
                <a:effectLst/>
                <a:ea typeface="Times New Roman" panose="02020603050405020304" pitchFamily="18" charset="0"/>
              </a:rPr>
              <a:t>boolean b1 = (i != d); // b1 vale false</a:t>
            </a:r>
          </a:p>
          <a:p>
            <a:pPr marL="0" indent="0">
              <a:buNone/>
            </a:pPr>
            <a:r>
              <a:rPr lang="en-US" sz="3200" dirty="0">
                <a:effectLst/>
                <a:ea typeface="Times New Roman" panose="02020603050405020304" pitchFamily="18" charset="0"/>
              </a:rPr>
              <a:t>boolean b2 = b1 == (i &gt;= 11); // b2 vale true</a:t>
            </a:r>
          </a:p>
          <a:p>
            <a:pPr marL="0" indent="0">
              <a:buNone/>
            </a:pPr>
            <a:r>
              <a:rPr lang="it-IT" sz="3200" dirty="0">
                <a:effectLst/>
                <a:ea typeface="Times New Roman" panose="02020603050405020304" pitchFamily="18" charset="0"/>
              </a:rPr>
              <a:t>boolean b2 = false == (false)</a:t>
            </a:r>
            <a:endParaRPr lang="it-IT" sz="3200" dirty="0"/>
          </a:p>
          <a:p>
            <a:pPr lvl="1"/>
            <a:endParaRPr lang="it-IT" dirty="0"/>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6</a:t>
            </a:fld>
            <a:endParaRPr lang="it-IT"/>
          </a:p>
        </p:txBody>
      </p:sp>
      <p:graphicFrame>
        <p:nvGraphicFramePr>
          <p:cNvPr id="6" name="Tabella 5">
            <a:extLst>
              <a:ext uri="{FF2B5EF4-FFF2-40B4-BE49-F238E27FC236}">
                <a16:creationId xmlns:a16="http://schemas.microsoft.com/office/drawing/2014/main" id="{348BB3A5-DFBE-41D1-8EC2-531DDE4452B1}"/>
              </a:ext>
            </a:extLst>
          </p:cNvPr>
          <p:cNvGraphicFramePr>
            <a:graphicFrameLocks noGrp="1"/>
          </p:cNvGraphicFramePr>
          <p:nvPr>
            <p:extLst>
              <p:ext uri="{D42A27DB-BD31-4B8C-83A1-F6EECF244321}">
                <p14:modId xmlns:p14="http://schemas.microsoft.com/office/powerpoint/2010/main" val="3521308251"/>
              </p:ext>
            </p:extLst>
          </p:nvPr>
        </p:nvGraphicFramePr>
        <p:xfrm>
          <a:off x="0" y="1215171"/>
          <a:ext cx="9143999" cy="2560320"/>
        </p:xfrm>
        <a:graphic>
          <a:graphicData uri="http://schemas.openxmlformats.org/drawingml/2006/table">
            <a:tbl>
              <a:tblPr>
                <a:tableStyleId>{5C22544A-7EE6-4342-B048-85BDC9FD1C3A}</a:tableStyleId>
              </a:tblPr>
              <a:tblGrid>
                <a:gridCol w="2993803">
                  <a:extLst>
                    <a:ext uri="{9D8B030D-6E8A-4147-A177-3AD203B41FA5}">
                      <a16:colId xmlns:a16="http://schemas.microsoft.com/office/drawing/2014/main" val="3829627565"/>
                    </a:ext>
                  </a:extLst>
                </a:gridCol>
                <a:gridCol w="2993803">
                  <a:extLst>
                    <a:ext uri="{9D8B030D-6E8A-4147-A177-3AD203B41FA5}">
                      <a16:colId xmlns:a16="http://schemas.microsoft.com/office/drawing/2014/main" val="2830256417"/>
                    </a:ext>
                  </a:extLst>
                </a:gridCol>
                <a:gridCol w="3156393">
                  <a:extLst>
                    <a:ext uri="{9D8B030D-6E8A-4147-A177-3AD203B41FA5}">
                      <a16:colId xmlns:a16="http://schemas.microsoft.com/office/drawing/2014/main" val="69077589"/>
                    </a:ext>
                  </a:extLst>
                </a:gridCol>
              </a:tblGrid>
              <a:tr h="261421">
                <a:tc>
                  <a:txBody>
                    <a:bodyPr/>
                    <a:lstStyle/>
                    <a:p>
                      <a:r>
                        <a:rPr lang="it-IT" sz="2400" b="1">
                          <a:effectLst/>
                        </a:rPr>
                        <a:t>Operatore</a:t>
                      </a:r>
                      <a:endParaRPr lang="it-IT" sz="2400" b="1">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b="1">
                          <a:effectLst/>
                        </a:rPr>
                        <a:t>Simbolo</a:t>
                      </a:r>
                      <a:endParaRPr lang="it-IT" sz="2400" b="1">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b="1" dirty="0">
                          <a:effectLst/>
                        </a:rPr>
                        <a:t>Applicabilità</a:t>
                      </a:r>
                      <a:endParaRPr lang="it-IT" sz="2400" b="1"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058735009"/>
                  </a:ext>
                </a:extLst>
              </a:tr>
              <a:tr h="261421">
                <a:tc>
                  <a:txBody>
                    <a:bodyPr/>
                    <a:lstStyle/>
                    <a:p>
                      <a:r>
                        <a:rPr lang="it-IT" sz="2400">
                          <a:effectLst/>
                        </a:rPr>
                        <a:t>Uguale a</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dirty="0">
                          <a:effectLst/>
                        </a:rPr>
                        <a:t>Tutti i tipi</a:t>
                      </a:r>
                      <a:endParaRPr lang="it-IT" sz="24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655802732"/>
                  </a:ext>
                </a:extLst>
              </a:tr>
              <a:tr h="261421">
                <a:tc>
                  <a:txBody>
                    <a:bodyPr/>
                    <a:lstStyle/>
                    <a:p>
                      <a:r>
                        <a:rPr lang="it-IT" sz="2400">
                          <a:effectLst/>
                        </a:rPr>
                        <a:t>Diverso da</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Tutti i tipi</a:t>
                      </a:r>
                      <a:endParaRPr lang="it-IT" sz="2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488452164"/>
                  </a:ext>
                </a:extLst>
              </a:tr>
              <a:tr h="261421">
                <a:tc>
                  <a:txBody>
                    <a:bodyPr/>
                    <a:lstStyle/>
                    <a:p>
                      <a:r>
                        <a:rPr lang="it-IT" sz="2400">
                          <a:effectLst/>
                        </a:rPr>
                        <a:t>Maggiore</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&gt; </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dirty="0">
                          <a:effectLst/>
                        </a:rPr>
                        <a:t>Solo i tipi numerici</a:t>
                      </a:r>
                      <a:endParaRPr lang="it-IT" sz="24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762440630"/>
                  </a:ext>
                </a:extLst>
              </a:tr>
              <a:tr h="261421">
                <a:tc>
                  <a:txBody>
                    <a:bodyPr/>
                    <a:lstStyle/>
                    <a:p>
                      <a:r>
                        <a:rPr lang="it-IT" sz="2400">
                          <a:effectLst/>
                        </a:rPr>
                        <a:t>Minore</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&lt; </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Solo i tipi numerici</a:t>
                      </a:r>
                      <a:endParaRPr lang="it-IT" sz="2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915863482"/>
                  </a:ext>
                </a:extLst>
              </a:tr>
              <a:tr h="261421">
                <a:tc>
                  <a:txBody>
                    <a:bodyPr/>
                    <a:lstStyle/>
                    <a:p>
                      <a:r>
                        <a:rPr lang="it-IT" sz="2400">
                          <a:effectLst/>
                        </a:rPr>
                        <a:t>Maggiore o uguale</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&gt;=</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Solo i tipi numerici</a:t>
                      </a:r>
                      <a:endParaRPr lang="it-IT" sz="2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540175620"/>
                  </a:ext>
                </a:extLst>
              </a:tr>
              <a:tr h="261421">
                <a:tc>
                  <a:txBody>
                    <a:bodyPr/>
                    <a:lstStyle/>
                    <a:p>
                      <a:r>
                        <a:rPr lang="it-IT" sz="2400">
                          <a:effectLst/>
                        </a:rPr>
                        <a:t>Minore o uguale</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&lt;=</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dirty="0">
                          <a:effectLst/>
                        </a:rPr>
                        <a:t>Solo i tipi numerici</a:t>
                      </a:r>
                      <a:endParaRPr lang="it-IT" sz="24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23856221"/>
                  </a:ext>
                </a:extLst>
              </a:tr>
            </a:tbl>
          </a:graphicData>
        </a:graphic>
      </p:graphicFrame>
    </p:spTree>
    <p:extLst>
      <p:ext uri="{BB962C8B-B14F-4D97-AF65-F5344CB8AC3E}">
        <p14:creationId xmlns:p14="http://schemas.microsoft.com/office/powerpoint/2010/main" val="2706583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1"/>
            <a:ext cx="9144000" cy="1019126"/>
          </a:xfrm>
        </p:spPr>
        <p:txBody>
          <a:bodyPr/>
          <a:lstStyle/>
          <a:p>
            <a:r>
              <a:rPr lang="it-IT" dirty="0"/>
              <a:t>Operatori relazionali o di confronto</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1" y="3849761"/>
            <a:ext cx="9143999" cy="2675670"/>
          </a:xfrm>
        </p:spPr>
        <p:txBody>
          <a:bodyPr>
            <a:normAutofit fontScale="77500" lnSpcReduction="20000"/>
          </a:bodyPr>
          <a:lstStyle/>
          <a:p>
            <a:r>
              <a:rPr lang="it-IT" sz="3200" dirty="0">
                <a:effectLst/>
                <a:ea typeface="Times New Roman" panose="02020603050405020304" pitchFamily="18" charset="0"/>
              </a:rPr>
              <a:t>Non confondere l’operatore di assegnazione </a:t>
            </a:r>
            <a:r>
              <a:rPr lang="it-IT" sz="3200" i="1" dirty="0">
                <a:effectLst/>
                <a:ea typeface="Times New Roman" panose="02020603050405020304" pitchFamily="18" charset="0"/>
              </a:rPr>
              <a:t>=</a:t>
            </a:r>
            <a:r>
              <a:rPr lang="it-IT" sz="3200" dirty="0">
                <a:effectLst/>
                <a:ea typeface="Times New Roman" panose="02020603050405020304" pitchFamily="18" charset="0"/>
              </a:rPr>
              <a:t> con l’operatore </a:t>
            </a:r>
            <a:r>
              <a:rPr lang="it-IT" sz="3200" i="1" dirty="0">
                <a:effectLst/>
                <a:ea typeface="Times New Roman" panose="02020603050405020304" pitchFamily="18" charset="0"/>
              </a:rPr>
              <a:t>==</a:t>
            </a:r>
          </a:p>
          <a:p>
            <a:pPr marL="0" indent="0">
              <a:buNone/>
            </a:pPr>
            <a:r>
              <a:rPr lang="en-US" sz="3200" dirty="0">
                <a:effectLst/>
                <a:ea typeface="Times New Roman" panose="02020603050405020304" pitchFamily="18" charset="0"/>
              </a:rPr>
              <a:t>boolean b = (9 == 9); // b vale true</a:t>
            </a:r>
          </a:p>
          <a:p>
            <a:pPr marL="0" indent="0">
              <a:buNone/>
            </a:pPr>
            <a:r>
              <a:rPr lang="en-US" sz="3200" dirty="0">
                <a:effectLst/>
                <a:ea typeface="Times New Roman" panose="02020603050405020304" pitchFamily="18" charset="0"/>
              </a:rPr>
              <a:t>int i = 10;</a:t>
            </a:r>
          </a:p>
          <a:p>
            <a:pPr marL="0" indent="0">
              <a:buNone/>
            </a:pPr>
            <a:r>
              <a:rPr lang="en-US" sz="3200" dirty="0">
                <a:effectLst/>
                <a:ea typeface="Times New Roman" panose="02020603050405020304" pitchFamily="18" charset="0"/>
              </a:rPr>
              <a:t>double d = 10.0;</a:t>
            </a:r>
          </a:p>
          <a:p>
            <a:pPr marL="0" indent="0">
              <a:buNone/>
            </a:pPr>
            <a:r>
              <a:rPr lang="en-US" sz="3200" dirty="0">
                <a:effectLst/>
                <a:ea typeface="Times New Roman" panose="02020603050405020304" pitchFamily="18" charset="0"/>
              </a:rPr>
              <a:t>boolean b1 = (i != d); // b1 vale false</a:t>
            </a:r>
          </a:p>
          <a:p>
            <a:pPr marL="0" indent="0">
              <a:buNone/>
            </a:pPr>
            <a:r>
              <a:rPr lang="en-US" sz="3200" dirty="0">
                <a:effectLst/>
                <a:ea typeface="Times New Roman" panose="02020603050405020304" pitchFamily="18" charset="0"/>
              </a:rPr>
              <a:t>boolean b2 = b1 == (i &gt;= 11); // b2 vale true</a:t>
            </a:r>
          </a:p>
          <a:p>
            <a:pPr marL="0" indent="0">
              <a:buNone/>
            </a:pPr>
            <a:r>
              <a:rPr lang="it-IT" sz="3200" dirty="0">
                <a:effectLst/>
                <a:ea typeface="Times New Roman" panose="02020603050405020304" pitchFamily="18" charset="0"/>
              </a:rPr>
              <a:t>boolean b2 = false == (false)</a:t>
            </a:r>
            <a:endParaRPr lang="it-IT" sz="3200" dirty="0"/>
          </a:p>
          <a:p>
            <a:pPr lvl="1"/>
            <a:endParaRPr lang="it-IT" dirty="0"/>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7</a:t>
            </a:fld>
            <a:endParaRPr lang="it-IT"/>
          </a:p>
        </p:txBody>
      </p:sp>
      <p:graphicFrame>
        <p:nvGraphicFramePr>
          <p:cNvPr id="6" name="Tabella 5">
            <a:extLst>
              <a:ext uri="{FF2B5EF4-FFF2-40B4-BE49-F238E27FC236}">
                <a16:creationId xmlns:a16="http://schemas.microsoft.com/office/drawing/2014/main" id="{348BB3A5-DFBE-41D1-8EC2-531DDE4452B1}"/>
              </a:ext>
            </a:extLst>
          </p:cNvPr>
          <p:cNvGraphicFramePr>
            <a:graphicFrameLocks noGrp="1"/>
          </p:cNvGraphicFramePr>
          <p:nvPr/>
        </p:nvGraphicFramePr>
        <p:xfrm>
          <a:off x="0" y="1215171"/>
          <a:ext cx="9143999" cy="2560320"/>
        </p:xfrm>
        <a:graphic>
          <a:graphicData uri="http://schemas.openxmlformats.org/drawingml/2006/table">
            <a:tbl>
              <a:tblPr>
                <a:tableStyleId>{5C22544A-7EE6-4342-B048-85BDC9FD1C3A}</a:tableStyleId>
              </a:tblPr>
              <a:tblGrid>
                <a:gridCol w="2993803">
                  <a:extLst>
                    <a:ext uri="{9D8B030D-6E8A-4147-A177-3AD203B41FA5}">
                      <a16:colId xmlns:a16="http://schemas.microsoft.com/office/drawing/2014/main" val="3829627565"/>
                    </a:ext>
                  </a:extLst>
                </a:gridCol>
                <a:gridCol w="2993803">
                  <a:extLst>
                    <a:ext uri="{9D8B030D-6E8A-4147-A177-3AD203B41FA5}">
                      <a16:colId xmlns:a16="http://schemas.microsoft.com/office/drawing/2014/main" val="2830256417"/>
                    </a:ext>
                  </a:extLst>
                </a:gridCol>
                <a:gridCol w="3156393">
                  <a:extLst>
                    <a:ext uri="{9D8B030D-6E8A-4147-A177-3AD203B41FA5}">
                      <a16:colId xmlns:a16="http://schemas.microsoft.com/office/drawing/2014/main" val="69077589"/>
                    </a:ext>
                  </a:extLst>
                </a:gridCol>
              </a:tblGrid>
              <a:tr h="261421">
                <a:tc>
                  <a:txBody>
                    <a:bodyPr/>
                    <a:lstStyle/>
                    <a:p>
                      <a:r>
                        <a:rPr lang="it-IT" sz="2400" b="1">
                          <a:effectLst/>
                        </a:rPr>
                        <a:t>Operatore</a:t>
                      </a:r>
                      <a:endParaRPr lang="it-IT" sz="2400" b="1">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b="1">
                          <a:effectLst/>
                        </a:rPr>
                        <a:t>Simbolo</a:t>
                      </a:r>
                      <a:endParaRPr lang="it-IT" sz="2400" b="1">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b="1" dirty="0">
                          <a:effectLst/>
                        </a:rPr>
                        <a:t>Applicabilità</a:t>
                      </a:r>
                      <a:endParaRPr lang="it-IT" sz="2400" b="1"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058735009"/>
                  </a:ext>
                </a:extLst>
              </a:tr>
              <a:tr h="261421">
                <a:tc>
                  <a:txBody>
                    <a:bodyPr/>
                    <a:lstStyle/>
                    <a:p>
                      <a:r>
                        <a:rPr lang="it-IT" sz="2400">
                          <a:effectLst/>
                        </a:rPr>
                        <a:t>Uguale a</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dirty="0">
                          <a:effectLst/>
                        </a:rPr>
                        <a:t>Tutti i tipi</a:t>
                      </a:r>
                      <a:endParaRPr lang="it-IT" sz="24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655802732"/>
                  </a:ext>
                </a:extLst>
              </a:tr>
              <a:tr h="261421">
                <a:tc>
                  <a:txBody>
                    <a:bodyPr/>
                    <a:lstStyle/>
                    <a:p>
                      <a:r>
                        <a:rPr lang="it-IT" sz="2400">
                          <a:effectLst/>
                        </a:rPr>
                        <a:t>Diverso da</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Tutti i tipi</a:t>
                      </a:r>
                      <a:endParaRPr lang="it-IT" sz="2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488452164"/>
                  </a:ext>
                </a:extLst>
              </a:tr>
              <a:tr h="261421">
                <a:tc>
                  <a:txBody>
                    <a:bodyPr/>
                    <a:lstStyle/>
                    <a:p>
                      <a:r>
                        <a:rPr lang="it-IT" sz="2400">
                          <a:effectLst/>
                        </a:rPr>
                        <a:t>Maggiore</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&gt; </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dirty="0">
                          <a:effectLst/>
                        </a:rPr>
                        <a:t>Solo i tipi numerici</a:t>
                      </a:r>
                      <a:endParaRPr lang="it-IT" sz="24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762440630"/>
                  </a:ext>
                </a:extLst>
              </a:tr>
              <a:tr h="261421">
                <a:tc>
                  <a:txBody>
                    <a:bodyPr/>
                    <a:lstStyle/>
                    <a:p>
                      <a:r>
                        <a:rPr lang="it-IT" sz="2400">
                          <a:effectLst/>
                        </a:rPr>
                        <a:t>Minore</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&lt; </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Solo i tipi numerici</a:t>
                      </a:r>
                      <a:endParaRPr lang="it-IT" sz="2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915863482"/>
                  </a:ext>
                </a:extLst>
              </a:tr>
              <a:tr h="261421">
                <a:tc>
                  <a:txBody>
                    <a:bodyPr/>
                    <a:lstStyle/>
                    <a:p>
                      <a:r>
                        <a:rPr lang="it-IT" sz="2400">
                          <a:effectLst/>
                        </a:rPr>
                        <a:t>Maggiore o uguale</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&gt;=</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Solo i tipi numerici</a:t>
                      </a:r>
                      <a:endParaRPr lang="it-IT" sz="2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540175620"/>
                  </a:ext>
                </a:extLst>
              </a:tr>
              <a:tr h="261421">
                <a:tc>
                  <a:txBody>
                    <a:bodyPr/>
                    <a:lstStyle/>
                    <a:p>
                      <a:r>
                        <a:rPr lang="it-IT" sz="2400">
                          <a:effectLst/>
                        </a:rPr>
                        <a:t>Minore o uguale</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&lt;=</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dirty="0">
                          <a:effectLst/>
                        </a:rPr>
                        <a:t>Solo i tipi numerici</a:t>
                      </a:r>
                      <a:endParaRPr lang="it-IT" sz="24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23856221"/>
                  </a:ext>
                </a:extLst>
              </a:tr>
            </a:tbl>
          </a:graphicData>
        </a:graphic>
      </p:graphicFrame>
    </p:spTree>
    <p:extLst>
      <p:ext uri="{BB962C8B-B14F-4D97-AF65-F5344CB8AC3E}">
        <p14:creationId xmlns:p14="http://schemas.microsoft.com/office/powerpoint/2010/main" val="32998779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1"/>
            <a:ext cx="9144000" cy="1124680"/>
          </a:xfrm>
        </p:spPr>
        <p:txBody>
          <a:bodyPr/>
          <a:lstStyle/>
          <a:p>
            <a:r>
              <a:rPr lang="it-IT" dirty="0"/>
              <a:t>Operatori relazionali e reference</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1" y="1124680"/>
            <a:ext cx="9143999" cy="5400751"/>
          </a:xfrm>
        </p:spPr>
        <p:txBody>
          <a:bodyPr>
            <a:normAutofit fontScale="92500" lnSpcReduction="20000"/>
          </a:bodyPr>
          <a:lstStyle/>
          <a:p>
            <a:pPr marL="0" indent="0">
              <a:buNone/>
            </a:pPr>
            <a:r>
              <a:rPr lang="it-IT" sz="3200" dirty="0">
                <a:effectLst/>
                <a:ea typeface="Times New Roman" panose="02020603050405020304" pitchFamily="18" charset="0"/>
              </a:rPr>
              <a:t>Se consideriamo la seguente classe:</a:t>
            </a:r>
          </a:p>
          <a:p>
            <a:pPr marL="0" indent="0">
              <a:buNone/>
            </a:pPr>
            <a:r>
              <a:rPr lang="it-IT" sz="3200" dirty="0">
                <a:solidFill>
                  <a:schemeClr val="accent5"/>
                </a:solidFill>
                <a:effectLst/>
                <a:ea typeface="Times New Roman" panose="02020603050405020304" pitchFamily="18" charset="0"/>
              </a:rPr>
              <a:t>public class Alunno {</a:t>
            </a:r>
          </a:p>
          <a:p>
            <a:pPr marL="0" indent="0">
              <a:buNone/>
            </a:pPr>
            <a:r>
              <a:rPr lang="it-IT" sz="3200" dirty="0">
                <a:solidFill>
                  <a:schemeClr val="accent5"/>
                </a:solidFill>
                <a:effectLst/>
                <a:ea typeface="Times New Roman" panose="02020603050405020304" pitchFamily="18" charset="0"/>
              </a:rPr>
              <a:t>    public String nome;</a:t>
            </a:r>
          </a:p>
          <a:p>
            <a:pPr marL="0" indent="0">
              <a:buNone/>
            </a:pPr>
            <a:r>
              <a:rPr lang="it-IT" sz="3200" dirty="0">
                <a:solidFill>
                  <a:schemeClr val="accent5"/>
                </a:solidFill>
                <a:effectLst/>
                <a:ea typeface="Times New Roman" panose="02020603050405020304" pitchFamily="18" charset="0"/>
              </a:rPr>
              <a:t>    public Alunno(String n) {</a:t>
            </a:r>
          </a:p>
          <a:p>
            <a:pPr marL="0" indent="0">
              <a:buNone/>
            </a:pPr>
            <a:r>
              <a:rPr lang="it-IT" sz="3200" dirty="0">
                <a:solidFill>
                  <a:schemeClr val="accent5"/>
                </a:solidFill>
                <a:effectLst/>
                <a:ea typeface="Times New Roman" panose="02020603050405020304" pitchFamily="18" charset="0"/>
              </a:rPr>
              <a:t>        nome = n;</a:t>
            </a:r>
          </a:p>
          <a:p>
            <a:pPr marL="0" indent="0">
              <a:buNone/>
            </a:pPr>
            <a:r>
              <a:rPr lang="it-IT" sz="3200" dirty="0">
                <a:solidFill>
                  <a:schemeClr val="accent5"/>
                </a:solidFill>
                <a:effectLst/>
                <a:ea typeface="Times New Roman" panose="02020603050405020304" pitchFamily="18" charset="0"/>
              </a:rPr>
              <a:t>    }</a:t>
            </a:r>
          </a:p>
          <a:p>
            <a:pPr marL="0" indent="0">
              <a:buNone/>
            </a:pPr>
            <a:r>
              <a:rPr lang="it-IT" sz="3200" dirty="0">
                <a:solidFill>
                  <a:schemeClr val="accent5"/>
                </a:solidFill>
                <a:effectLst/>
                <a:ea typeface="Times New Roman" panose="02020603050405020304" pitchFamily="18" charset="0"/>
              </a:rPr>
              <a:t>}</a:t>
            </a:r>
          </a:p>
          <a:p>
            <a:pPr marL="0" indent="0">
              <a:buNone/>
            </a:pPr>
            <a:r>
              <a:rPr lang="it-IT" sz="3200" dirty="0">
                <a:effectLst/>
                <a:ea typeface="Times New Roman" panose="02020603050405020304" pitchFamily="18" charset="0"/>
              </a:rPr>
              <a:t>il seguente snippet:</a:t>
            </a:r>
          </a:p>
          <a:p>
            <a:pPr marL="0" indent="0">
              <a:buNone/>
            </a:pPr>
            <a:r>
              <a:rPr lang="it-IT" sz="3200" dirty="0">
                <a:solidFill>
                  <a:schemeClr val="accent5"/>
                </a:solidFill>
                <a:effectLst/>
                <a:ea typeface="Times New Roman" panose="02020603050405020304" pitchFamily="18" charset="0"/>
              </a:rPr>
              <a:t>Alunno alunno1 = new Alunno("Simone");</a:t>
            </a:r>
          </a:p>
          <a:p>
            <a:pPr marL="0" indent="0">
              <a:buNone/>
            </a:pPr>
            <a:r>
              <a:rPr lang="it-IT" sz="3200" dirty="0">
                <a:solidFill>
                  <a:schemeClr val="accent5"/>
                </a:solidFill>
                <a:effectLst/>
                <a:ea typeface="Times New Roman" panose="02020603050405020304" pitchFamily="18" charset="0"/>
              </a:rPr>
              <a:t>Alunno alunno2 = new Alunno("Simone");</a:t>
            </a:r>
          </a:p>
          <a:p>
            <a:pPr marL="0" indent="0">
              <a:buNone/>
            </a:pPr>
            <a:r>
              <a:rPr lang="it-IT" sz="3200" dirty="0">
                <a:solidFill>
                  <a:schemeClr val="accent5"/>
                </a:solidFill>
                <a:effectLst/>
                <a:ea typeface="Times New Roman" panose="02020603050405020304" pitchFamily="18" charset="0"/>
              </a:rPr>
              <a:t>System.out.println(alunno1 == alunno2);</a:t>
            </a:r>
          </a:p>
          <a:p>
            <a:pPr marL="0" indent="0">
              <a:buNone/>
            </a:pPr>
            <a:r>
              <a:rPr lang="it-IT" sz="3200" dirty="0">
                <a:effectLst/>
                <a:ea typeface="Times New Roman" panose="02020603050405020304" pitchFamily="18" charset="0"/>
              </a:rPr>
              <a:t>Stamperà </a:t>
            </a:r>
            <a:r>
              <a:rPr lang="it-IT" sz="3200" i="1" dirty="0">
                <a:effectLst/>
                <a:ea typeface="Times New Roman" panose="02020603050405020304" pitchFamily="18" charset="0"/>
              </a:rPr>
              <a:t>false</a:t>
            </a:r>
            <a:r>
              <a:rPr lang="it-IT" sz="3200" dirty="0">
                <a:effectLst/>
                <a:ea typeface="Times New Roman" panose="02020603050405020304" pitchFamily="18" charset="0"/>
              </a:rPr>
              <a:t>. </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8</a:t>
            </a:fld>
            <a:endParaRPr lang="it-IT"/>
          </a:p>
        </p:txBody>
      </p:sp>
    </p:spTree>
    <p:extLst>
      <p:ext uri="{BB962C8B-B14F-4D97-AF65-F5344CB8AC3E}">
        <p14:creationId xmlns:p14="http://schemas.microsoft.com/office/powerpoint/2010/main" val="627867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
            <a:ext cx="7886700" cy="1124680"/>
          </a:xfrm>
        </p:spPr>
        <p:txBody>
          <a:bodyPr/>
          <a:lstStyle/>
          <a:p>
            <a:r>
              <a:rPr lang="it-IT" dirty="0"/>
              <a:t>Operatori logico - booleani</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108650" y="5013220"/>
            <a:ext cx="8624000" cy="1708256"/>
          </a:xfrm>
        </p:spPr>
        <p:txBody>
          <a:bodyPr>
            <a:noAutofit/>
          </a:bodyPr>
          <a:lstStyle/>
          <a:p>
            <a:pPr lvl="1"/>
            <a:r>
              <a:rPr lang="it-IT" sz="2400" dirty="0"/>
              <a:t>boolean b1 = !true;  // b1 vale false</a:t>
            </a:r>
          </a:p>
          <a:p>
            <a:pPr lvl="1"/>
            <a:r>
              <a:rPr lang="it-IT" sz="2400" dirty="0"/>
              <a:t>boolean b2 = !b1;    // b2 vale true</a:t>
            </a:r>
          </a:p>
          <a:p>
            <a:pPr lvl="1"/>
            <a:r>
              <a:rPr lang="it-IT" sz="2400" dirty="0"/>
              <a:t>b2 = !b2;            // b2 vale false</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9</a:t>
            </a:fld>
            <a:endParaRPr lang="it-IT"/>
          </a:p>
        </p:txBody>
      </p:sp>
      <p:graphicFrame>
        <p:nvGraphicFramePr>
          <p:cNvPr id="6" name="Tabella 5">
            <a:extLst>
              <a:ext uri="{FF2B5EF4-FFF2-40B4-BE49-F238E27FC236}">
                <a16:creationId xmlns:a16="http://schemas.microsoft.com/office/drawing/2014/main" id="{3E84E8A2-2565-461D-A511-AADC8A98737F}"/>
              </a:ext>
            </a:extLst>
          </p:cNvPr>
          <p:cNvGraphicFramePr>
            <a:graphicFrameLocks noGrp="1"/>
          </p:cNvGraphicFramePr>
          <p:nvPr>
            <p:extLst>
              <p:ext uri="{D42A27DB-BD31-4B8C-83A1-F6EECF244321}">
                <p14:modId xmlns:p14="http://schemas.microsoft.com/office/powerpoint/2010/main" val="54987901"/>
              </p:ext>
            </p:extLst>
          </p:nvPr>
        </p:nvGraphicFramePr>
        <p:xfrm>
          <a:off x="0" y="1124680"/>
          <a:ext cx="9144000" cy="3657600"/>
        </p:xfrm>
        <a:graphic>
          <a:graphicData uri="http://schemas.openxmlformats.org/drawingml/2006/table">
            <a:tbl>
              <a:tblPr>
                <a:tableStyleId>{5C22544A-7EE6-4342-B048-85BDC9FD1C3A}</a:tableStyleId>
              </a:tblPr>
              <a:tblGrid>
                <a:gridCol w="4572000">
                  <a:extLst>
                    <a:ext uri="{9D8B030D-6E8A-4147-A177-3AD203B41FA5}">
                      <a16:colId xmlns:a16="http://schemas.microsoft.com/office/drawing/2014/main" val="3352659357"/>
                    </a:ext>
                  </a:extLst>
                </a:gridCol>
                <a:gridCol w="4572000">
                  <a:extLst>
                    <a:ext uri="{9D8B030D-6E8A-4147-A177-3AD203B41FA5}">
                      <a16:colId xmlns:a16="http://schemas.microsoft.com/office/drawing/2014/main" val="308392191"/>
                    </a:ext>
                  </a:extLst>
                </a:gridCol>
              </a:tblGrid>
              <a:tr h="278287">
                <a:tc>
                  <a:txBody>
                    <a:bodyPr/>
                    <a:lstStyle/>
                    <a:p>
                      <a:r>
                        <a:rPr lang="it-IT" sz="2400" b="1">
                          <a:effectLst/>
                        </a:rPr>
                        <a:t>Descrizione</a:t>
                      </a:r>
                      <a:endParaRPr lang="it-IT" sz="2400" b="1">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r>
                        <a:rPr lang="it-IT" sz="2400" b="1" dirty="0">
                          <a:effectLst/>
                        </a:rPr>
                        <a:t>Operatore</a:t>
                      </a:r>
                      <a:endParaRPr lang="it-IT" sz="2400" b="1"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745195566"/>
                  </a:ext>
                </a:extLst>
              </a:tr>
              <a:tr h="278287">
                <a:tc>
                  <a:txBody>
                    <a:bodyPr/>
                    <a:lstStyle/>
                    <a:p>
                      <a:r>
                        <a:rPr lang="it-IT" sz="2400" dirty="0">
                          <a:effectLst/>
                          <a:highlight>
                            <a:srgbClr val="C0C0C0"/>
                          </a:highlight>
                        </a:rPr>
                        <a:t>NOT logico</a:t>
                      </a:r>
                      <a:endParaRPr lang="it-IT" sz="2400" dirty="0">
                        <a:effectLst/>
                        <a:highlight>
                          <a:srgbClr val="C0C0C0"/>
                        </a:highligh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dirty="0">
                          <a:effectLst/>
                          <a:highlight>
                            <a:srgbClr val="C0C0C0"/>
                          </a:highlight>
                        </a:rPr>
                        <a:t>!</a:t>
                      </a:r>
                      <a:endParaRPr lang="it-IT" sz="2400" dirty="0">
                        <a:effectLst/>
                        <a:highlight>
                          <a:srgbClr val="C0C0C0"/>
                        </a:highligh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228891086"/>
                  </a:ext>
                </a:extLst>
              </a:tr>
              <a:tr h="278287">
                <a:tc>
                  <a:txBody>
                    <a:bodyPr/>
                    <a:lstStyle/>
                    <a:p>
                      <a:r>
                        <a:rPr lang="it-IT" sz="2400">
                          <a:effectLst/>
                        </a:rPr>
                        <a:t>AND logico</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dirty="0">
                          <a:effectLst/>
                        </a:rPr>
                        <a:t>&amp;</a:t>
                      </a:r>
                      <a:endParaRPr lang="it-IT" sz="24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622689261"/>
                  </a:ext>
                </a:extLst>
              </a:tr>
              <a:tr h="278287">
                <a:tc>
                  <a:txBody>
                    <a:bodyPr/>
                    <a:lstStyle/>
                    <a:p>
                      <a:r>
                        <a:rPr lang="it-IT" sz="2400">
                          <a:effectLst/>
                        </a:rPr>
                        <a:t>OR logico</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a:t>
                      </a:r>
                      <a:endParaRPr lang="it-IT" sz="2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884391772"/>
                  </a:ext>
                </a:extLst>
              </a:tr>
              <a:tr h="278287">
                <a:tc>
                  <a:txBody>
                    <a:bodyPr/>
                    <a:lstStyle/>
                    <a:p>
                      <a:r>
                        <a:rPr lang="it-IT" sz="2400">
                          <a:effectLst/>
                        </a:rPr>
                        <a:t>XOR logico</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a:t>
                      </a:r>
                      <a:endParaRPr lang="it-IT" sz="2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64775543"/>
                  </a:ext>
                </a:extLst>
              </a:tr>
              <a:tr h="278287">
                <a:tc>
                  <a:txBody>
                    <a:bodyPr/>
                    <a:lstStyle/>
                    <a:p>
                      <a:r>
                        <a:rPr lang="it-IT" sz="2400">
                          <a:effectLst/>
                          <a:highlight>
                            <a:srgbClr val="C0C0C0"/>
                          </a:highlight>
                        </a:rPr>
                        <a:t>Short circuit AND</a:t>
                      </a:r>
                      <a:endParaRPr lang="it-IT" sz="2400">
                        <a:effectLst/>
                        <a:highlight>
                          <a:srgbClr val="C0C0C0"/>
                        </a:highligh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highlight>
                            <a:srgbClr val="C0C0C0"/>
                          </a:highlight>
                        </a:rPr>
                        <a:t>&amp;&amp;</a:t>
                      </a:r>
                      <a:endParaRPr lang="it-IT" sz="2400">
                        <a:effectLst/>
                        <a:highlight>
                          <a:srgbClr val="C0C0C0"/>
                        </a:highligh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379825677"/>
                  </a:ext>
                </a:extLst>
              </a:tr>
              <a:tr h="278287">
                <a:tc>
                  <a:txBody>
                    <a:bodyPr/>
                    <a:lstStyle/>
                    <a:p>
                      <a:r>
                        <a:rPr lang="it-IT" sz="2400">
                          <a:effectLst/>
                          <a:highlight>
                            <a:srgbClr val="C0C0C0"/>
                          </a:highlight>
                        </a:rPr>
                        <a:t>Short circuit OR</a:t>
                      </a:r>
                      <a:endParaRPr lang="it-IT" sz="2400">
                        <a:effectLst/>
                        <a:highlight>
                          <a:srgbClr val="C0C0C0"/>
                        </a:highligh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dirty="0">
                          <a:effectLst/>
                          <a:highlight>
                            <a:srgbClr val="C0C0C0"/>
                          </a:highlight>
                        </a:rPr>
                        <a:t>||</a:t>
                      </a:r>
                      <a:endParaRPr lang="it-IT" sz="2400" dirty="0">
                        <a:effectLst/>
                        <a:highlight>
                          <a:srgbClr val="C0C0C0"/>
                        </a:highligh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845713895"/>
                  </a:ext>
                </a:extLst>
              </a:tr>
              <a:tr h="278287">
                <a:tc>
                  <a:txBody>
                    <a:bodyPr/>
                    <a:lstStyle/>
                    <a:p>
                      <a:r>
                        <a:rPr lang="it-IT" sz="2400">
                          <a:effectLst/>
                        </a:rPr>
                        <a:t>AND e assegnazione</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&amp;=</a:t>
                      </a:r>
                      <a:endParaRPr lang="it-IT" sz="2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585817707"/>
                  </a:ext>
                </a:extLst>
              </a:tr>
              <a:tr h="278287">
                <a:tc>
                  <a:txBody>
                    <a:bodyPr/>
                    <a:lstStyle/>
                    <a:p>
                      <a:r>
                        <a:rPr lang="it-IT" sz="2400">
                          <a:effectLst/>
                        </a:rPr>
                        <a:t>OR e assegnazione</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a:t>
                      </a:r>
                      <a:endParaRPr lang="it-IT" sz="2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467515245"/>
                  </a:ext>
                </a:extLst>
              </a:tr>
              <a:tr h="278287">
                <a:tc>
                  <a:txBody>
                    <a:bodyPr/>
                    <a:lstStyle/>
                    <a:p>
                      <a:r>
                        <a:rPr lang="it-IT" sz="2400">
                          <a:effectLst/>
                        </a:rPr>
                        <a:t>XOR e assegnazione</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dirty="0">
                          <a:effectLst/>
                        </a:rPr>
                        <a:t>^=</a:t>
                      </a:r>
                      <a:endParaRPr lang="it-IT" sz="24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920462513"/>
                  </a:ext>
                </a:extLst>
              </a:tr>
            </a:tbl>
          </a:graphicData>
        </a:graphic>
      </p:graphicFrame>
    </p:spTree>
    <p:extLst>
      <p:ext uri="{BB962C8B-B14F-4D97-AF65-F5344CB8AC3E}">
        <p14:creationId xmlns:p14="http://schemas.microsoft.com/office/powerpoint/2010/main" val="29930771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71499"/>
            <a:ext cx="7886700" cy="1080150"/>
          </a:xfrm>
        </p:spPr>
        <p:txBody>
          <a:bodyPr/>
          <a:lstStyle/>
          <a:p>
            <a:r>
              <a:rPr lang="it-IT" dirty="0"/>
              <a:t>Operatori logico - booleani</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14024" y="3168440"/>
            <a:ext cx="8624000" cy="3789050"/>
          </a:xfrm>
        </p:spPr>
        <p:txBody>
          <a:bodyPr>
            <a:noAutofit/>
          </a:bodyPr>
          <a:lstStyle/>
          <a:p>
            <a:pPr marL="342900" lvl="1" indent="0">
              <a:buNone/>
            </a:pPr>
            <a:r>
              <a:rPr lang="en-US" sz="2600" dirty="0">
                <a:solidFill>
                  <a:schemeClr val="accent5"/>
                </a:solidFill>
              </a:rPr>
              <a:t>boolean and = true &amp; false;  	// and è false</a:t>
            </a:r>
          </a:p>
          <a:p>
            <a:pPr marL="342900" lvl="1" indent="0">
              <a:buNone/>
            </a:pPr>
            <a:r>
              <a:rPr lang="en-US" sz="2600" dirty="0">
                <a:solidFill>
                  <a:schemeClr val="accent5"/>
                </a:solidFill>
              </a:rPr>
              <a:t>boolean or = and | !false;   	// or è true</a:t>
            </a:r>
          </a:p>
          <a:p>
            <a:pPr marL="342900" lvl="1" indent="0">
              <a:buNone/>
            </a:pPr>
            <a:r>
              <a:rPr lang="en-US" sz="2600" dirty="0">
                <a:solidFill>
                  <a:schemeClr val="accent5"/>
                </a:solidFill>
              </a:rPr>
              <a:t>boolean </a:t>
            </a:r>
            <a:r>
              <a:rPr lang="en-US" sz="2600" dirty="0" err="1">
                <a:solidFill>
                  <a:schemeClr val="accent5"/>
                </a:solidFill>
              </a:rPr>
              <a:t>xor</a:t>
            </a:r>
            <a:r>
              <a:rPr lang="en-US" sz="2600" dirty="0">
                <a:solidFill>
                  <a:schemeClr val="accent5"/>
                </a:solidFill>
              </a:rPr>
              <a:t> = and ^ or;      	// </a:t>
            </a:r>
            <a:r>
              <a:rPr lang="en-US" sz="2600" dirty="0" err="1">
                <a:solidFill>
                  <a:schemeClr val="accent5"/>
                </a:solidFill>
              </a:rPr>
              <a:t>xor</a:t>
            </a:r>
            <a:r>
              <a:rPr lang="en-US" sz="2600" dirty="0">
                <a:solidFill>
                  <a:schemeClr val="accent5"/>
                </a:solidFill>
              </a:rPr>
              <a:t> è true</a:t>
            </a:r>
          </a:p>
          <a:p>
            <a:pPr marL="342900" lvl="1" indent="0">
              <a:buNone/>
            </a:pPr>
            <a:r>
              <a:rPr lang="en-US" sz="2600" dirty="0">
                <a:solidFill>
                  <a:schemeClr val="accent5"/>
                </a:solidFill>
              </a:rPr>
              <a:t>and = or &amp; </a:t>
            </a:r>
            <a:r>
              <a:rPr lang="en-US" sz="2600" dirty="0" err="1">
                <a:solidFill>
                  <a:schemeClr val="accent5"/>
                </a:solidFill>
              </a:rPr>
              <a:t>xor</a:t>
            </a:r>
            <a:r>
              <a:rPr lang="en-US" sz="2600" dirty="0">
                <a:solidFill>
                  <a:schemeClr val="accent5"/>
                </a:solidFill>
              </a:rPr>
              <a:t>;              		// and è true</a:t>
            </a:r>
          </a:p>
          <a:p>
            <a:pPr marL="342900" lvl="1" indent="0">
              <a:buNone/>
            </a:pPr>
            <a:r>
              <a:rPr lang="en-US" sz="2600" dirty="0">
                <a:solidFill>
                  <a:schemeClr val="accent5"/>
                </a:solidFill>
              </a:rPr>
              <a:t>or = !(</a:t>
            </a:r>
            <a:r>
              <a:rPr lang="en-US" sz="2600" dirty="0" err="1">
                <a:solidFill>
                  <a:schemeClr val="accent5"/>
                </a:solidFill>
              </a:rPr>
              <a:t>xor</a:t>
            </a:r>
            <a:r>
              <a:rPr lang="en-US" sz="2600" dirty="0">
                <a:solidFill>
                  <a:schemeClr val="accent5"/>
                </a:solidFill>
              </a:rPr>
              <a:t> | and);           		// or è false</a:t>
            </a:r>
          </a:p>
          <a:p>
            <a:pPr marL="342900" lvl="1" indent="0">
              <a:buNone/>
            </a:pPr>
            <a:r>
              <a:rPr lang="en-US" sz="2600" dirty="0" err="1">
                <a:solidFill>
                  <a:schemeClr val="accent5"/>
                </a:solidFill>
              </a:rPr>
              <a:t>xor</a:t>
            </a:r>
            <a:r>
              <a:rPr lang="en-US" sz="2600" dirty="0">
                <a:solidFill>
                  <a:schemeClr val="accent5"/>
                </a:solidFill>
              </a:rPr>
              <a:t> = (and ^ !or);           		// </a:t>
            </a:r>
            <a:r>
              <a:rPr lang="en-US" sz="2600" dirty="0" err="1">
                <a:solidFill>
                  <a:schemeClr val="accent5"/>
                </a:solidFill>
              </a:rPr>
              <a:t>xor</a:t>
            </a:r>
            <a:r>
              <a:rPr lang="en-US" sz="2600" dirty="0">
                <a:solidFill>
                  <a:schemeClr val="accent5"/>
                </a:solidFill>
              </a:rPr>
              <a:t> è false;</a:t>
            </a:r>
          </a:p>
          <a:p>
            <a:pPr marL="342900" lvl="1" indent="0">
              <a:buNone/>
            </a:pPr>
            <a:r>
              <a:rPr lang="en-US" sz="2600" dirty="0">
                <a:solidFill>
                  <a:schemeClr val="accent5"/>
                </a:solidFill>
              </a:rPr>
              <a:t>boolean flag = ( (a != 0) &amp;&amp; (b/a &gt; 10) )		// short circuit</a:t>
            </a:r>
          </a:p>
          <a:p>
            <a:pPr marL="342900" lvl="1" indent="0">
              <a:buNone/>
            </a:pPr>
            <a:r>
              <a:rPr lang="en-US" sz="2600" dirty="0">
                <a:solidFill>
                  <a:schemeClr val="accent5"/>
                </a:solidFill>
              </a:rPr>
              <a:t>boolean flag = ( (a == 0) || (b/a &gt; 10) )		 // short circuit</a:t>
            </a:r>
          </a:p>
          <a:p>
            <a:pPr lvl="1"/>
            <a:endParaRPr lang="en-US" sz="2600" dirty="0"/>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10</a:t>
            </a:fld>
            <a:endParaRPr lang="it-IT"/>
          </a:p>
        </p:txBody>
      </p:sp>
      <p:graphicFrame>
        <p:nvGraphicFramePr>
          <p:cNvPr id="7" name="Tabella 6">
            <a:extLst>
              <a:ext uri="{FF2B5EF4-FFF2-40B4-BE49-F238E27FC236}">
                <a16:creationId xmlns:a16="http://schemas.microsoft.com/office/drawing/2014/main" id="{34D1E3D0-454B-41F3-AFD5-840BDC7E961C}"/>
              </a:ext>
            </a:extLst>
          </p:cNvPr>
          <p:cNvGraphicFramePr>
            <a:graphicFrameLocks noGrp="1"/>
          </p:cNvGraphicFramePr>
          <p:nvPr>
            <p:extLst>
              <p:ext uri="{D42A27DB-BD31-4B8C-83A1-F6EECF244321}">
                <p14:modId xmlns:p14="http://schemas.microsoft.com/office/powerpoint/2010/main" val="1927875411"/>
              </p:ext>
            </p:extLst>
          </p:nvPr>
        </p:nvGraphicFramePr>
        <p:xfrm>
          <a:off x="0" y="707812"/>
          <a:ext cx="9144000" cy="2361138"/>
        </p:xfrm>
        <a:graphic>
          <a:graphicData uri="http://schemas.openxmlformats.org/drawingml/2006/table">
            <a:tbl>
              <a:tblPr>
                <a:tableStyleId>{5C22544A-7EE6-4342-B048-85BDC9FD1C3A}</a:tableStyleId>
              </a:tblPr>
              <a:tblGrid>
                <a:gridCol w="1619590">
                  <a:extLst>
                    <a:ext uri="{9D8B030D-6E8A-4147-A177-3AD203B41FA5}">
                      <a16:colId xmlns:a16="http://schemas.microsoft.com/office/drawing/2014/main" val="983120481"/>
                    </a:ext>
                  </a:extLst>
                </a:gridCol>
                <a:gridCol w="1584220">
                  <a:extLst>
                    <a:ext uri="{9D8B030D-6E8A-4147-A177-3AD203B41FA5}">
                      <a16:colId xmlns:a16="http://schemas.microsoft.com/office/drawing/2014/main" val="1009850067"/>
                    </a:ext>
                  </a:extLst>
                </a:gridCol>
                <a:gridCol w="1944270">
                  <a:extLst>
                    <a:ext uri="{9D8B030D-6E8A-4147-A177-3AD203B41FA5}">
                      <a16:colId xmlns:a16="http://schemas.microsoft.com/office/drawing/2014/main" val="3743443574"/>
                    </a:ext>
                  </a:extLst>
                </a:gridCol>
                <a:gridCol w="1933007">
                  <a:extLst>
                    <a:ext uri="{9D8B030D-6E8A-4147-A177-3AD203B41FA5}">
                      <a16:colId xmlns:a16="http://schemas.microsoft.com/office/drawing/2014/main" val="897410639"/>
                    </a:ext>
                  </a:extLst>
                </a:gridCol>
                <a:gridCol w="2062913">
                  <a:extLst>
                    <a:ext uri="{9D8B030D-6E8A-4147-A177-3AD203B41FA5}">
                      <a16:colId xmlns:a16="http://schemas.microsoft.com/office/drawing/2014/main" val="2638282047"/>
                    </a:ext>
                  </a:extLst>
                </a:gridCol>
              </a:tblGrid>
              <a:tr h="517098">
                <a:tc>
                  <a:txBody>
                    <a:bodyPr/>
                    <a:lstStyle/>
                    <a:p>
                      <a:pPr algn="ctr"/>
                      <a:r>
                        <a:rPr lang="it-IT" sz="2400" b="1" dirty="0">
                          <a:effectLst/>
                        </a:rPr>
                        <a:t>Operando1</a:t>
                      </a:r>
                      <a:endParaRPr lang="it-IT" sz="2400" b="1" dirty="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2400" b="1">
                          <a:effectLst/>
                        </a:rPr>
                        <a:t>Operando2</a:t>
                      </a:r>
                      <a:endParaRPr lang="it-IT" sz="2400" b="1">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2400" b="1">
                          <a:effectLst/>
                        </a:rPr>
                        <a:t>Op1 AND Op2</a:t>
                      </a:r>
                      <a:endParaRPr lang="it-IT" sz="2400" b="1">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2400" b="1" dirty="0">
                          <a:effectLst/>
                        </a:rPr>
                        <a:t>Op1 OR Op2</a:t>
                      </a:r>
                      <a:endParaRPr lang="it-IT" sz="2400" b="1" dirty="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2400" b="1" dirty="0">
                          <a:effectLst/>
                        </a:rPr>
                        <a:t>Op1 XOR Op2</a:t>
                      </a:r>
                      <a:endParaRPr lang="it-IT" sz="2400" b="1" dirty="0">
                        <a:effectLst/>
                        <a:latin typeface="Times New Roman" panose="02020603050405020304" pitchFamily="18" charset="0"/>
                        <a:ea typeface="Times New Roman" panose="02020603050405020304" pitchFamily="18" charset="0"/>
                      </a:endParaRPr>
                    </a:p>
                  </a:txBody>
                  <a:tcPr marL="47625" marR="47625" marT="47625" marB="47625"/>
                </a:tc>
                <a:extLst>
                  <a:ext uri="{0D108BD9-81ED-4DB2-BD59-A6C34878D82A}">
                    <a16:rowId xmlns:a16="http://schemas.microsoft.com/office/drawing/2014/main" val="488538669"/>
                  </a:ext>
                </a:extLst>
              </a:tr>
              <a:tr h="460430">
                <a:tc>
                  <a:txBody>
                    <a:bodyPr/>
                    <a:lstStyle/>
                    <a:p>
                      <a:pPr algn="ctr"/>
                      <a:r>
                        <a:rPr lang="it-IT" sz="2400">
                          <a:effectLst/>
                        </a:rPr>
                        <a:t>false</a:t>
                      </a:r>
                      <a:endParaRPr lang="it-IT" sz="24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2400">
                          <a:effectLst/>
                        </a:rPr>
                        <a:t>false</a:t>
                      </a:r>
                      <a:endParaRPr lang="it-IT" sz="24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2400">
                          <a:effectLst/>
                        </a:rPr>
                        <a:t>false</a:t>
                      </a:r>
                      <a:endParaRPr lang="it-IT" sz="24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2400">
                          <a:effectLst/>
                        </a:rPr>
                        <a:t>false</a:t>
                      </a:r>
                      <a:endParaRPr lang="it-IT" sz="24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2400" dirty="0">
                          <a:effectLst/>
                        </a:rPr>
                        <a:t>false</a:t>
                      </a:r>
                      <a:endParaRPr lang="it-IT" sz="2400" dirty="0">
                        <a:effectLst/>
                        <a:latin typeface="Times New Roman" panose="02020603050405020304" pitchFamily="18" charset="0"/>
                        <a:ea typeface="Times New Roman" panose="02020603050405020304" pitchFamily="18" charset="0"/>
                      </a:endParaRPr>
                    </a:p>
                  </a:txBody>
                  <a:tcPr marL="47625" marR="47625" marT="47625" marB="47625"/>
                </a:tc>
                <a:extLst>
                  <a:ext uri="{0D108BD9-81ED-4DB2-BD59-A6C34878D82A}">
                    <a16:rowId xmlns:a16="http://schemas.microsoft.com/office/drawing/2014/main" val="3260315023"/>
                  </a:ext>
                </a:extLst>
              </a:tr>
              <a:tr h="460430">
                <a:tc>
                  <a:txBody>
                    <a:bodyPr/>
                    <a:lstStyle/>
                    <a:p>
                      <a:pPr algn="ctr"/>
                      <a:r>
                        <a:rPr lang="it-IT" sz="2400">
                          <a:effectLst/>
                        </a:rPr>
                        <a:t>false</a:t>
                      </a:r>
                      <a:endParaRPr lang="it-IT" sz="24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2400">
                          <a:effectLst/>
                        </a:rPr>
                        <a:t>true</a:t>
                      </a:r>
                      <a:endParaRPr lang="it-IT" sz="24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2400">
                          <a:effectLst/>
                        </a:rPr>
                        <a:t>false</a:t>
                      </a:r>
                      <a:endParaRPr lang="it-IT" sz="24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2400">
                          <a:effectLst/>
                        </a:rPr>
                        <a:t>true</a:t>
                      </a:r>
                      <a:endParaRPr lang="it-IT" sz="24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2400">
                          <a:effectLst/>
                        </a:rPr>
                        <a:t>true</a:t>
                      </a:r>
                      <a:endParaRPr lang="it-IT" sz="2400">
                        <a:effectLst/>
                        <a:latin typeface="Times New Roman" panose="02020603050405020304" pitchFamily="18" charset="0"/>
                        <a:ea typeface="Times New Roman" panose="02020603050405020304" pitchFamily="18" charset="0"/>
                      </a:endParaRPr>
                    </a:p>
                  </a:txBody>
                  <a:tcPr marL="47625" marR="47625" marT="47625" marB="47625"/>
                </a:tc>
                <a:extLst>
                  <a:ext uri="{0D108BD9-81ED-4DB2-BD59-A6C34878D82A}">
                    <a16:rowId xmlns:a16="http://schemas.microsoft.com/office/drawing/2014/main" val="3223612443"/>
                  </a:ext>
                </a:extLst>
              </a:tr>
              <a:tr h="460430">
                <a:tc>
                  <a:txBody>
                    <a:bodyPr/>
                    <a:lstStyle/>
                    <a:p>
                      <a:pPr algn="ctr"/>
                      <a:r>
                        <a:rPr lang="it-IT" sz="2400">
                          <a:effectLst/>
                        </a:rPr>
                        <a:t>true</a:t>
                      </a:r>
                      <a:endParaRPr lang="it-IT" sz="24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2400">
                          <a:effectLst/>
                        </a:rPr>
                        <a:t>false</a:t>
                      </a:r>
                      <a:endParaRPr lang="it-IT" sz="24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2400">
                          <a:effectLst/>
                        </a:rPr>
                        <a:t>false</a:t>
                      </a:r>
                      <a:endParaRPr lang="it-IT" sz="24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2400">
                          <a:effectLst/>
                        </a:rPr>
                        <a:t>true</a:t>
                      </a:r>
                      <a:endParaRPr lang="it-IT" sz="24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2400">
                          <a:effectLst/>
                        </a:rPr>
                        <a:t>true</a:t>
                      </a:r>
                      <a:endParaRPr lang="it-IT" sz="2400">
                        <a:effectLst/>
                        <a:latin typeface="Times New Roman" panose="02020603050405020304" pitchFamily="18" charset="0"/>
                        <a:ea typeface="Times New Roman" panose="02020603050405020304" pitchFamily="18" charset="0"/>
                      </a:endParaRPr>
                    </a:p>
                  </a:txBody>
                  <a:tcPr marL="47625" marR="47625" marT="47625" marB="47625"/>
                </a:tc>
                <a:extLst>
                  <a:ext uri="{0D108BD9-81ED-4DB2-BD59-A6C34878D82A}">
                    <a16:rowId xmlns:a16="http://schemas.microsoft.com/office/drawing/2014/main" val="809079795"/>
                  </a:ext>
                </a:extLst>
              </a:tr>
              <a:tr h="460430">
                <a:tc>
                  <a:txBody>
                    <a:bodyPr/>
                    <a:lstStyle/>
                    <a:p>
                      <a:pPr algn="ctr"/>
                      <a:r>
                        <a:rPr lang="it-IT" sz="2400">
                          <a:effectLst/>
                        </a:rPr>
                        <a:t>true</a:t>
                      </a:r>
                      <a:endParaRPr lang="it-IT" sz="24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2400">
                          <a:effectLst/>
                        </a:rPr>
                        <a:t>true</a:t>
                      </a:r>
                      <a:endParaRPr lang="it-IT" sz="24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2400">
                          <a:effectLst/>
                        </a:rPr>
                        <a:t>true</a:t>
                      </a:r>
                      <a:endParaRPr lang="it-IT" sz="24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2400">
                          <a:effectLst/>
                        </a:rPr>
                        <a:t>true</a:t>
                      </a:r>
                      <a:endParaRPr lang="it-IT" sz="24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pPr algn="ctr"/>
                      <a:r>
                        <a:rPr lang="it-IT" sz="2400" dirty="0">
                          <a:effectLst/>
                        </a:rPr>
                        <a:t>false</a:t>
                      </a:r>
                      <a:endParaRPr lang="it-IT" sz="2400" dirty="0">
                        <a:effectLst/>
                        <a:latin typeface="Times New Roman" panose="02020603050405020304" pitchFamily="18" charset="0"/>
                        <a:ea typeface="Times New Roman" panose="02020603050405020304" pitchFamily="18" charset="0"/>
                      </a:endParaRPr>
                    </a:p>
                  </a:txBody>
                  <a:tcPr marL="47625" marR="47625" marT="47625" marB="47625"/>
                </a:tc>
                <a:extLst>
                  <a:ext uri="{0D108BD9-81ED-4DB2-BD59-A6C34878D82A}">
                    <a16:rowId xmlns:a16="http://schemas.microsoft.com/office/drawing/2014/main" val="1514776448"/>
                  </a:ext>
                </a:extLst>
              </a:tr>
            </a:tbl>
          </a:graphicData>
        </a:graphic>
      </p:graphicFrame>
    </p:spTree>
    <p:extLst>
      <p:ext uri="{BB962C8B-B14F-4D97-AF65-F5344CB8AC3E}">
        <p14:creationId xmlns:p14="http://schemas.microsoft.com/office/powerpoint/2010/main" val="33476815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
            <a:ext cx="7886700" cy="1124681"/>
          </a:xfrm>
        </p:spPr>
        <p:txBody>
          <a:bodyPr/>
          <a:lstStyle/>
          <a:p>
            <a:r>
              <a:rPr lang="it-IT" dirty="0"/>
              <a:t>Concatenazione di stringhe con +</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0" y="836640"/>
            <a:ext cx="9144000" cy="5884836"/>
          </a:xfrm>
        </p:spPr>
        <p:txBody>
          <a:bodyPr>
            <a:noAutofit/>
          </a:bodyPr>
          <a:lstStyle/>
          <a:p>
            <a:pPr marL="0" indent="0">
              <a:buNone/>
            </a:pPr>
            <a:r>
              <a:rPr lang="it-IT" dirty="0">
                <a:ea typeface="Times New Roman" panose="02020603050405020304" pitchFamily="18" charset="0"/>
              </a:rPr>
              <a:t>Il simbolo dell</a:t>
            </a:r>
            <a:r>
              <a:rPr lang="it-IT" dirty="0">
                <a:effectLst/>
                <a:ea typeface="Times New Roman" panose="02020603050405020304" pitchFamily="18" charset="0"/>
              </a:rPr>
              <a:t>’operatore aritmetico di addizione + può essere usato anche come operatore per concatenare stringhe. Per esempio, il seguente frammento di codice:</a:t>
            </a:r>
          </a:p>
          <a:p>
            <a:pPr marL="0" indent="0">
              <a:buNone/>
            </a:pPr>
            <a:r>
              <a:rPr lang="it-IT" dirty="0">
                <a:solidFill>
                  <a:schemeClr val="accent5"/>
                </a:solidFill>
                <a:effectLst/>
                <a:ea typeface="Times New Roman" panose="02020603050405020304" pitchFamily="18" charset="0"/>
              </a:rPr>
              <a:t>String nome = "James";</a:t>
            </a:r>
          </a:p>
          <a:p>
            <a:pPr marL="0" indent="0">
              <a:buNone/>
            </a:pPr>
            <a:r>
              <a:rPr lang="it-IT" dirty="0">
                <a:solidFill>
                  <a:schemeClr val="accent5"/>
                </a:solidFill>
                <a:effectLst/>
                <a:ea typeface="Times New Roman" panose="02020603050405020304" pitchFamily="18" charset="0"/>
              </a:rPr>
              <a:t>String cognome = "Gosling";</a:t>
            </a:r>
          </a:p>
          <a:p>
            <a:pPr marL="0" indent="0">
              <a:buNone/>
            </a:pPr>
            <a:r>
              <a:rPr lang="it-IT" dirty="0">
                <a:solidFill>
                  <a:schemeClr val="accent5"/>
                </a:solidFill>
                <a:effectLst/>
                <a:ea typeface="Times New Roman" panose="02020603050405020304" pitchFamily="18" charset="0"/>
              </a:rPr>
              <a:t>String nomeCompleto = "Mr. " + nome + " " + cognome;</a:t>
            </a:r>
          </a:p>
          <a:p>
            <a:pPr marL="0" indent="0">
              <a:buNone/>
            </a:pPr>
            <a:r>
              <a:rPr lang="it-IT" dirty="0">
                <a:effectLst/>
                <a:ea typeface="Times New Roman" panose="02020603050405020304" pitchFamily="18" charset="0"/>
              </a:rPr>
              <a:t>farà in modo che la stringa </a:t>
            </a:r>
            <a:r>
              <a:rPr lang="it-IT" i="1" dirty="0">
                <a:effectLst/>
                <a:ea typeface="Times New Roman" panose="02020603050405020304" pitchFamily="18" charset="0"/>
              </a:rPr>
              <a:t>nomeCompleto</a:t>
            </a:r>
            <a:r>
              <a:rPr lang="it-IT" dirty="0">
                <a:effectLst/>
                <a:ea typeface="Times New Roman" panose="02020603050405020304" pitchFamily="18" charset="0"/>
              </a:rPr>
              <a:t>, abbia come valore "Mr. James Gosling". </a:t>
            </a:r>
          </a:p>
          <a:p>
            <a:pPr marL="0" indent="0">
              <a:buNone/>
            </a:pPr>
            <a:r>
              <a:rPr lang="it-IT" dirty="0">
                <a:effectLst/>
                <a:ea typeface="Times New Roman" panose="02020603050405020304" pitchFamily="18" charset="0"/>
              </a:rPr>
              <a:t>Se “sommiamo” un qualsiasi tipo di dato con una stringa, il tipo di dato sarà automaticamente convertito in stringa, e ciò può spesso risultare utile. Bisogna però stare attenti ad alcune situazioni. Per esempio:</a:t>
            </a:r>
          </a:p>
          <a:p>
            <a:pPr marL="0" indent="0">
              <a:buNone/>
            </a:pPr>
            <a:r>
              <a:rPr lang="it-IT" dirty="0">
                <a:solidFill>
                  <a:schemeClr val="accent5"/>
                </a:solidFill>
                <a:effectLst/>
                <a:ea typeface="Times New Roman" panose="02020603050405020304" pitchFamily="18" charset="0"/>
              </a:rPr>
              <a:t>System.out.println(1 + 1 + "3" + 7);</a:t>
            </a:r>
          </a:p>
          <a:p>
            <a:pPr marL="0" indent="0">
              <a:buNone/>
            </a:pPr>
            <a:r>
              <a:rPr lang="it-IT" dirty="0">
                <a:effectLst/>
                <a:ea typeface="Times New Roman" panose="02020603050405020304" pitchFamily="18" charset="0"/>
              </a:rPr>
              <a:t>stamperà:</a:t>
            </a:r>
          </a:p>
          <a:p>
            <a:pPr marL="0" indent="0">
              <a:buNone/>
            </a:pPr>
            <a:r>
              <a:rPr lang="it-IT" dirty="0">
                <a:solidFill>
                  <a:schemeClr val="accent3"/>
                </a:solidFill>
                <a:effectLst/>
                <a:ea typeface="Times New Roman" panose="02020603050405020304" pitchFamily="18" charset="0"/>
              </a:rPr>
              <a:t>237</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11</a:t>
            </a:fld>
            <a:endParaRPr lang="it-IT"/>
          </a:p>
        </p:txBody>
      </p:sp>
    </p:spTree>
    <p:extLst>
      <p:ext uri="{BB962C8B-B14F-4D97-AF65-F5344CB8AC3E}">
        <p14:creationId xmlns:p14="http://schemas.microsoft.com/office/powerpoint/2010/main" val="13756959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0"/>
            <a:ext cx="7886700" cy="1004571"/>
          </a:xfrm>
        </p:spPr>
        <p:txBody>
          <a:bodyPr/>
          <a:lstStyle/>
          <a:p>
            <a:pPr algn="r"/>
            <a:r>
              <a:rPr lang="it-IT" dirty="0"/>
              <a:t>Priorità degli operatori</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12</a:t>
            </a:fld>
            <a:endParaRPr lang="it-IT"/>
          </a:p>
        </p:txBody>
      </p:sp>
      <p:graphicFrame>
        <p:nvGraphicFramePr>
          <p:cNvPr id="6" name="Tabella 5">
            <a:extLst>
              <a:ext uri="{FF2B5EF4-FFF2-40B4-BE49-F238E27FC236}">
                <a16:creationId xmlns:a16="http://schemas.microsoft.com/office/drawing/2014/main" id="{3B567BEE-6825-4826-AF0F-6EAA8EC21C89}"/>
              </a:ext>
            </a:extLst>
          </p:cNvPr>
          <p:cNvGraphicFramePr>
            <a:graphicFrameLocks noGrp="1"/>
          </p:cNvGraphicFramePr>
          <p:nvPr>
            <p:extLst>
              <p:ext uri="{D42A27DB-BD31-4B8C-83A1-F6EECF244321}">
                <p14:modId xmlns:p14="http://schemas.microsoft.com/office/powerpoint/2010/main" val="2399068983"/>
              </p:ext>
            </p:extLst>
          </p:nvPr>
        </p:nvGraphicFramePr>
        <p:xfrm>
          <a:off x="216030" y="764630"/>
          <a:ext cx="4067930" cy="5610251"/>
        </p:xfrm>
        <a:graphic>
          <a:graphicData uri="http://schemas.openxmlformats.org/drawingml/2006/table">
            <a:tbl>
              <a:tblPr>
                <a:tableStyleId>{5C22544A-7EE6-4342-B048-85BDC9FD1C3A}</a:tableStyleId>
              </a:tblPr>
              <a:tblGrid>
                <a:gridCol w="1259540">
                  <a:extLst>
                    <a:ext uri="{9D8B030D-6E8A-4147-A177-3AD203B41FA5}">
                      <a16:colId xmlns:a16="http://schemas.microsoft.com/office/drawing/2014/main" val="1226901088"/>
                    </a:ext>
                  </a:extLst>
                </a:gridCol>
                <a:gridCol w="2808390">
                  <a:extLst>
                    <a:ext uri="{9D8B030D-6E8A-4147-A177-3AD203B41FA5}">
                      <a16:colId xmlns:a16="http://schemas.microsoft.com/office/drawing/2014/main" val="1846640227"/>
                    </a:ext>
                  </a:extLst>
                </a:gridCol>
              </a:tblGrid>
              <a:tr h="386717">
                <a:tc>
                  <a:txBody>
                    <a:bodyPr/>
                    <a:lstStyle/>
                    <a:p>
                      <a:r>
                        <a:rPr lang="it-IT" sz="1600" dirty="0">
                          <a:effectLst/>
                        </a:rPr>
                        <a:t>separatori</a:t>
                      </a:r>
                      <a:endParaRPr lang="it-IT" sz="1600" dirty="0">
                        <a:effectLst/>
                        <a:latin typeface="Times New Roman" panose="02020603050405020304" pitchFamily="18" charset="0"/>
                        <a:ea typeface="Times New Roman" panose="02020603050405020304" pitchFamily="18" charset="0"/>
                      </a:endParaRPr>
                    </a:p>
                  </a:txBody>
                  <a:tcPr marL="47625" marR="47625" marT="47625" marB="47625"/>
                </a:tc>
                <a:tc>
                  <a:txBody>
                    <a:bodyPr/>
                    <a:lstStyle/>
                    <a:p>
                      <a:r>
                        <a:rPr lang="it-IT" sz="1600" dirty="0">
                          <a:effectLst/>
                        </a:rPr>
                        <a:t>. [] () ; ,</a:t>
                      </a:r>
                      <a:endParaRPr lang="it-IT" sz="1600" dirty="0">
                        <a:effectLst/>
                        <a:latin typeface="Times New Roman" panose="02020603050405020304" pitchFamily="18" charset="0"/>
                        <a:ea typeface="Times New Roman" panose="02020603050405020304" pitchFamily="18" charset="0"/>
                      </a:endParaRPr>
                    </a:p>
                  </a:txBody>
                  <a:tcPr marL="47625" marR="47625" marT="47625" marB="47625"/>
                </a:tc>
                <a:extLst>
                  <a:ext uri="{0D108BD9-81ED-4DB2-BD59-A6C34878D82A}">
                    <a16:rowId xmlns:a16="http://schemas.microsoft.com/office/drawing/2014/main" val="2101949620"/>
                  </a:ext>
                </a:extLst>
              </a:tr>
              <a:tr h="386717">
                <a:tc>
                  <a:txBody>
                    <a:bodyPr/>
                    <a:lstStyle/>
                    <a:p>
                      <a:r>
                        <a:rPr lang="it-IT" sz="1600">
                          <a:effectLst/>
                        </a:rPr>
                        <a:t>da sx a dx</a:t>
                      </a:r>
                      <a:endParaRPr lang="it-IT" sz="16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r>
                        <a:rPr lang="it-IT" sz="1600">
                          <a:effectLst/>
                        </a:rPr>
                        <a:t>++ -- + - ~ ! (tipo_di_dato)</a:t>
                      </a:r>
                      <a:endParaRPr lang="it-IT" sz="1600">
                        <a:effectLst/>
                        <a:latin typeface="Times New Roman" panose="02020603050405020304" pitchFamily="18" charset="0"/>
                        <a:ea typeface="Times New Roman" panose="02020603050405020304" pitchFamily="18" charset="0"/>
                      </a:endParaRPr>
                    </a:p>
                  </a:txBody>
                  <a:tcPr marL="47625" marR="47625" marT="47625" marB="47625"/>
                </a:tc>
                <a:extLst>
                  <a:ext uri="{0D108BD9-81ED-4DB2-BD59-A6C34878D82A}">
                    <a16:rowId xmlns:a16="http://schemas.microsoft.com/office/drawing/2014/main" val="3945612911"/>
                  </a:ext>
                </a:extLst>
              </a:tr>
              <a:tr h="386717">
                <a:tc>
                  <a:txBody>
                    <a:bodyPr/>
                    <a:lstStyle/>
                    <a:p>
                      <a:r>
                        <a:rPr lang="it-IT" sz="1600">
                          <a:effectLst/>
                        </a:rPr>
                        <a:t>da sx a dx</a:t>
                      </a:r>
                      <a:endParaRPr lang="it-IT" sz="16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r>
                        <a:rPr lang="it-IT" sz="1600">
                          <a:effectLst/>
                        </a:rPr>
                        <a:t>* / %</a:t>
                      </a:r>
                      <a:endParaRPr lang="it-IT" sz="1600">
                        <a:effectLst/>
                        <a:latin typeface="Times New Roman" panose="02020603050405020304" pitchFamily="18" charset="0"/>
                        <a:ea typeface="Times New Roman" panose="02020603050405020304" pitchFamily="18" charset="0"/>
                      </a:endParaRPr>
                    </a:p>
                  </a:txBody>
                  <a:tcPr marL="47625" marR="47625" marT="47625" marB="47625"/>
                </a:tc>
                <a:extLst>
                  <a:ext uri="{0D108BD9-81ED-4DB2-BD59-A6C34878D82A}">
                    <a16:rowId xmlns:a16="http://schemas.microsoft.com/office/drawing/2014/main" val="2146152565"/>
                  </a:ext>
                </a:extLst>
              </a:tr>
              <a:tr h="386717">
                <a:tc>
                  <a:txBody>
                    <a:bodyPr/>
                    <a:lstStyle/>
                    <a:p>
                      <a:r>
                        <a:rPr lang="it-IT" sz="1600">
                          <a:effectLst/>
                        </a:rPr>
                        <a:t>da sx a dx</a:t>
                      </a:r>
                      <a:endParaRPr lang="it-IT" sz="16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r>
                        <a:rPr lang="it-IT" sz="1600">
                          <a:effectLst/>
                        </a:rPr>
                        <a:t>+ -</a:t>
                      </a:r>
                      <a:endParaRPr lang="it-IT" sz="1600">
                        <a:effectLst/>
                        <a:latin typeface="Times New Roman" panose="02020603050405020304" pitchFamily="18" charset="0"/>
                        <a:ea typeface="Times New Roman" panose="02020603050405020304" pitchFamily="18" charset="0"/>
                      </a:endParaRPr>
                    </a:p>
                  </a:txBody>
                  <a:tcPr marL="47625" marR="47625" marT="47625" marB="47625"/>
                </a:tc>
                <a:extLst>
                  <a:ext uri="{0D108BD9-81ED-4DB2-BD59-A6C34878D82A}">
                    <a16:rowId xmlns:a16="http://schemas.microsoft.com/office/drawing/2014/main" val="3390836871"/>
                  </a:ext>
                </a:extLst>
              </a:tr>
              <a:tr h="386717">
                <a:tc>
                  <a:txBody>
                    <a:bodyPr/>
                    <a:lstStyle/>
                    <a:p>
                      <a:r>
                        <a:rPr lang="it-IT" sz="1600">
                          <a:effectLst/>
                        </a:rPr>
                        <a:t>da sx a dx</a:t>
                      </a:r>
                      <a:endParaRPr lang="it-IT" sz="16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r>
                        <a:rPr lang="it-IT" sz="1600">
                          <a:effectLst/>
                        </a:rPr>
                        <a:t>&lt;&lt; &gt;&gt; &gt;&gt;&gt;</a:t>
                      </a:r>
                      <a:endParaRPr lang="it-IT" sz="1600">
                        <a:effectLst/>
                        <a:latin typeface="Times New Roman" panose="02020603050405020304" pitchFamily="18" charset="0"/>
                        <a:ea typeface="Times New Roman" panose="02020603050405020304" pitchFamily="18" charset="0"/>
                      </a:endParaRPr>
                    </a:p>
                  </a:txBody>
                  <a:tcPr marL="47625" marR="47625" marT="47625" marB="47625"/>
                </a:tc>
                <a:extLst>
                  <a:ext uri="{0D108BD9-81ED-4DB2-BD59-A6C34878D82A}">
                    <a16:rowId xmlns:a16="http://schemas.microsoft.com/office/drawing/2014/main" val="2325130076"/>
                  </a:ext>
                </a:extLst>
              </a:tr>
              <a:tr h="386717">
                <a:tc>
                  <a:txBody>
                    <a:bodyPr/>
                    <a:lstStyle/>
                    <a:p>
                      <a:r>
                        <a:rPr lang="it-IT" sz="1600">
                          <a:effectLst/>
                        </a:rPr>
                        <a:t>da sx a dx</a:t>
                      </a:r>
                      <a:endParaRPr lang="it-IT" sz="16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r>
                        <a:rPr lang="it-IT" sz="1600">
                          <a:effectLst/>
                        </a:rPr>
                        <a:t>&lt; &gt; &lt;= &gt;= instanceof</a:t>
                      </a:r>
                      <a:endParaRPr lang="it-IT" sz="1600">
                        <a:effectLst/>
                        <a:latin typeface="Times New Roman" panose="02020603050405020304" pitchFamily="18" charset="0"/>
                        <a:ea typeface="Times New Roman" panose="02020603050405020304" pitchFamily="18" charset="0"/>
                      </a:endParaRPr>
                    </a:p>
                  </a:txBody>
                  <a:tcPr marL="47625" marR="47625" marT="47625" marB="47625"/>
                </a:tc>
                <a:extLst>
                  <a:ext uri="{0D108BD9-81ED-4DB2-BD59-A6C34878D82A}">
                    <a16:rowId xmlns:a16="http://schemas.microsoft.com/office/drawing/2014/main" val="3502198858"/>
                  </a:ext>
                </a:extLst>
              </a:tr>
              <a:tr h="386717">
                <a:tc>
                  <a:txBody>
                    <a:bodyPr/>
                    <a:lstStyle/>
                    <a:p>
                      <a:r>
                        <a:rPr lang="it-IT" sz="1600">
                          <a:effectLst/>
                        </a:rPr>
                        <a:t>da sx a dx</a:t>
                      </a:r>
                      <a:endParaRPr lang="it-IT" sz="16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r>
                        <a:rPr lang="it-IT" sz="1600">
                          <a:effectLst/>
                        </a:rPr>
                        <a:t>== !=</a:t>
                      </a:r>
                      <a:endParaRPr lang="it-IT" sz="1600">
                        <a:effectLst/>
                        <a:latin typeface="Times New Roman" panose="02020603050405020304" pitchFamily="18" charset="0"/>
                        <a:ea typeface="Times New Roman" panose="02020603050405020304" pitchFamily="18" charset="0"/>
                      </a:endParaRPr>
                    </a:p>
                  </a:txBody>
                  <a:tcPr marL="47625" marR="47625" marT="47625" marB="47625"/>
                </a:tc>
                <a:extLst>
                  <a:ext uri="{0D108BD9-81ED-4DB2-BD59-A6C34878D82A}">
                    <a16:rowId xmlns:a16="http://schemas.microsoft.com/office/drawing/2014/main" val="2014285830"/>
                  </a:ext>
                </a:extLst>
              </a:tr>
              <a:tr h="386717">
                <a:tc>
                  <a:txBody>
                    <a:bodyPr/>
                    <a:lstStyle/>
                    <a:p>
                      <a:r>
                        <a:rPr lang="it-IT" sz="1600">
                          <a:effectLst/>
                        </a:rPr>
                        <a:t>da sx a dx</a:t>
                      </a:r>
                      <a:endParaRPr lang="it-IT" sz="16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r>
                        <a:rPr lang="it-IT" sz="1600">
                          <a:effectLst/>
                        </a:rPr>
                        <a:t>&amp;</a:t>
                      </a:r>
                      <a:endParaRPr lang="it-IT" sz="1600">
                        <a:effectLst/>
                        <a:latin typeface="Times New Roman" panose="02020603050405020304" pitchFamily="18" charset="0"/>
                        <a:ea typeface="Times New Roman" panose="02020603050405020304" pitchFamily="18" charset="0"/>
                      </a:endParaRPr>
                    </a:p>
                  </a:txBody>
                  <a:tcPr marL="47625" marR="47625" marT="47625" marB="47625"/>
                </a:tc>
                <a:extLst>
                  <a:ext uri="{0D108BD9-81ED-4DB2-BD59-A6C34878D82A}">
                    <a16:rowId xmlns:a16="http://schemas.microsoft.com/office/drawing/2014/main" val="3018608717"/>
                  </a:ext>
                </a:extLst>
              </a:tr>
              <a:tr h="386717">
                <a:tc>
                  <a:txBody>
                    <a:bodyPr/>
                    <a:lstStyle/>
                    <a:p>
                      <a:r>
                        <a:rPr lang="it-IT" sz="1600">
                          <a:effectLst/>
                        </a:rPr>
                        <a:t>da sx a dx</a:t>
                      </a:r>
                      <a:endParaRPr lang="it-IT" sz="16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r>
                        <a:rPr lang="it-IT" sz="1600">
                          <a:effectLst/>
                        </a:rPr>
                        <a:t>^</a:t>
                      </a:r>
                      <a:endParaRPr lang="it-IT" sz="1600">
                        <a:effectLst/>
                        <a:latin typeface="Times New Roman" panose="02020603050405020304" pitchFamily="18" charset="0"/>
                        <a:ea typeface="Times New Roman" panose="02020603050405020304" pitchFamily="18" charset="0"/>
                      </a:endParaRPr>
                    </a:p>
                  </a:txBody>
                  <a:tcPr marL="47625" marR="47625" marT="47625" marB="47625"/>
                </a:tc>
                <a:extLst>
                  <a:ext uri="{0D108BD9-81ED-4DB2-BD59-A6C34878D82A}">
                    <a16:rowId xmlns:a16="http://schemas.microsoft.com/office/drawing/2014/main" val="3662672154"/>
                  </a:ext>
                </a:extLst>
              </a:tr>
              <a:tr h="386717">
                <a:tc>
                  <a:txBody>
                    <a:bodyPr/>
                    <a:lstStyle/>
                    <a:p>
                      <a:r>
                        <a:rPr lang="it-IT" sz="1600">
                          <a:effectLst/>
                        </a:rPr>
                        <a:t>da sx a dx</a:t>
                      </a:r>
                      <a:endParaRPr lang="it-IT" sz="16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r>
                        <a:rPr lang="it-IT" sz="1600">
                          <a:effectLst/>
                        </a:rPr>
                        <a:t>|</a:t>
                      </a:r>
                      <a:endParaRPr lang="it-IT" sz="1600">
                        <a:effectLst/>
                        <a:latin typeface="Times New Roman" panose="02020603050405020304" pitchFamily="18" charset="0"/>
                        <a:ea typeface="Times New Roman" panose="02020603050405020304" pitchFamily="18" charset="0"/>
                      </a:endParaRPr>
                    </a:p>
                  </a:txBody>
                  <a:tcPr marL="47625" marR="47625" marT="47625" marB="47625"/>
                </a:tc>
                <a:extLst>
                  <a:ext uri="{0D108BD9-81ED-4DB2-BD59-A6C34878D82A}">
                    <a16:rowId xmlns:a16="http://schemas.microsoft.com/office/drawing/2014/main" val="2885632580"/>
                  </a:ext>
                </a:extLst>
              </a:tr>
              <a:tr h="386717">
                <a:tc>
                  <a:txBody>
                    <a:bodyPr/>
                    <a:lstStyle/>
                    <a:p>
                      <a:r>
                        <a:rPr lang="it-IT" sz="1600">
                          <a:effectLst/>
                        </a:rPr>
                        <a:t>da sx a dx</a:t>
                      </a:r>
                      <a:endParaRPr lang="it-IT" sz="16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r>
                        <a:rPr lang="it-IT" sz="1600">
                          <a:effectLst/>
                        </a:rPr>
                        <a:t>&amp;&amp;</a:t>
                      </a:r>
                      <a:endParaRPr lang="it-IT" sz="1600">
                        <a:effectLst/>
                        <a:latin typeface="Times New Roman" panose="02020603050405020304" pitchFamily="18" charset="0"/>
                        <a:ea typeface="Times New Roman" panose="02020603050405020304" pitchFamily="18" charset="0"/>
                      </a:endParaRPr>
                    </a:p>
                  </a:txBody>
                  <a:tcPr marL="47625" marR="47625" marT="47625" marB="47625"/>
                </a:tc>
                <a:extLst>
                  <a:ext uri="{0D108BD9-81ED-4DB2-BD59-A6C34878D82A}">
                    <a16:rowId xmlns:a16="http://schemas.microsoft.com/office/drawing/2014/main" val="1719133699"/>
                  </a:ext>
                </a:extLst>
              </a:tr>
              <a:tr h="386717">
                <a:tc>
                  <a:txBody>
                    <a:bodyPr/>
                    <a:lstStyle/>
                    <a:p>
                      <a:r>
                        <a:rPr lang="it-IT" sz="1600">
                          <a:effectLst/>
                        </a:rPr>
                        <a:t>da sx a dx</a:t>
                      </a:r>
                      <a:endParaRPr lang="it-IT" sz="16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r>
                        <a:rPr lang="it-IT" sz="1600">
                          <a:effectLst/>
                        </a:rPr>
                        <a:t>||</a:t>
                      </a:r>
                      <a:endParaRPr lang="it-IT" sz="1600">
                        <a:effectLst/>
                        <a:latin typeface="Times New Roman" panose="02020603050405020304" pitchFamily="18" charset="0"/>
                        <a:ea typeface="Times New Roman" panose="02020603050405020304" pitchFamily="18" charset="0"/>
                      </a:endParaRPr>
                    </a:p>
                  </a:txBody>
                  <a:tcPr marL="47625" marR="47625" marT="47625" marB="47625"/>
                </a:tc>
                <a:extLst>
                  <a:ext uri="{0D108BD9-81ED-4DB2-BD59-A6C34878D82A}">
                    <a16:rowId xmlns:a16="http://schemas.microsoft.com/office/drawing/2014/main" val="2705454095"/>
                  </a:ext>
                </a:extLst>
              </a:tr>
              <a:tr h="386717">
                <a:tc>
                  <a:txBody>
                    <a:bodyPr/>
                    <a:lstStyle/>
                    <a:p>
                      <a:r>
                        <a:rPr lang="it-IT" sz="1600">
                          <a:effectLst/>
                        </a:rPr>
                        <a:t>da dx a sx</a:t>
                      </a:r>
                      <a:endParaRPr lang="it-IT" sz="16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r>
                        <a:rPr lang="it-IT" sz="1600">
                          <a:effectLst/>
                        </a:rPr>
                        <a:t>?:</a:t>
                      </a:r>
                      <a:endParaRPr lang="it-IT" sz="1600">
                        <a:effectLst/>
                        <a:latin typeface="Times New Roman" panose="02020603050405020304" pitchFamily="18" charset="0"/>
                        <a:ea typeface="Times New Roman" panose="02020603050405020304" pitchFamily="18" charset="0"/>
                      </a:endParaRPr>
                    </a:p>
                  </a:txBody>
                  <a:tcPr marL="47625" marR="47625" marT="47625" marB="47625"/>
                </a:tc>
                <a:extLst>
                  <a:ext uri="{0D108BD9-81ED-4DB2-BD59-A6C34878D82A}">
                    <a16:rowId xmlns:a16="http://schemas.microsoft.com/office/drawing/2014/main" val="2622979680"/>
                  </a:ext>
                </a:extLst>
              </a:tr>
              <a:tr h="564406">
                <a:tc>
                  <a:txBody>
                    <a:bodyPr/>
                    <a:lstStyle/>
                    <a:p>
                      <a:r>
                        <a:rPr lang="it-IT" sz="1600">
                          <a:effectLst/>
                        </a:rPr>
                        <a:t>da dx a sx</a:t>
                      </a:r>
                      <a:endParaRPr lang="it-IT" sz="1600">
                        <a:effectLst/>
                        <a:latin typeface="Times New Roman" panose="02020603050405020304" pitchFamily="18" charset="0"/>
                        <a:ea typeface="Times New Roman" panose="02020603050405020304" pitchFamily="18" charset="0"/>
                      </a:endParaRPr>
                    </a:p>
                  </a:txBody>
                  <a:tcPr marL="47625" marR="47625" marT="47625" marB="47625"/>
                </a:tc>
                <a:tc>
                  <a:txBody>
                    <a:bodyPr/>
                    <a:lstStyle/>
                    <a:p>
                      <a:r>
                        <a:rPr lang="it-IT" sz="1600" dirty="0">
                          <a:effectLst/>
                        </a:rPr>
                        <a:t>= *= /= %= += -= &lt;&lt;= &gt;&gt;= &gt;&gt;&gt;= &amp;= ^= |=</a:t>
                      </a:r>
                      <a:endParaRPr lang="it-IT" sz="1600" dirty="0">
                        <a:effectLst/>
                        <a:latin typeface="Times New Roman" panose="02020603050405020304" pitchFamily="18" charset="0"/>
                        <a:ea typeface="Times New Roman" panose="02020603050405020304" pitchFamily="18" charset="0"/>
                      </a:endParaRPr>
                    </a:p>
                  </a:txBody>
                  <a:tcPr marL="47625" marR="47625" marT="47625" marB="47625"/>
                </a:tc>
                <a:extLst>
                  <a:ext uri="{0D108BD9-81ED-4DB2-BD59-A6C34878D82A}">
                    <a16:rowId xmlns:a16="http://schemas.microsoft.com/office/drawing/2014/main" val="4083084778"/>
                  </a:ext>
                </a:extLst>
              </a:tr>
            </a:tbl>
          </a:graphicData>
        </a:graphic>
      </p:graphicFrame>
      <p:sp>
        <p:nvSpPr>
          <p:cNvPr id="10" name="CasellaDiTesto 9">
            <a:extLst>
              <a:ext uri="{FF2B5EF4-FFF2-40B4-BE49-F238E27FC236}">
                <a16:creationId xmlns:a16="http://schemas.microsoft.com/office/drawing/2014/main" id="{703C262F-FE2B-4B5F-85BA-00C9D4215BF0}"/>
              </a:ext>
            </a:extLst>
          </p:cNvPr>
          <p:cNvSpPr txBox="1"/>
          <p:nvPr/>
        </p:nvSpPr>
        <p:spPr>
          <a:xfrm>
            <a:off x="4458976" y="1485091"/>
            <a:ext cx="4577644" cy="4154984"/>
          </a:xfrm>
          <a:prstGeom prst="rect">
            <a:avLst/>
          </a:prstGeom>
          <a:noFill/>
        </p:spPr>
        <p:txBody>
          <a:bodyPr wrap="square">
            <a:spAutoFit/>
          </a:bodyPr>
          <a:lstStyle/>
          <a:p>
            <a:pPr>
              <a:spcAft>
                <a:spcPts val="1200"/>
              </a:spcAft>
            </a:pPr>
            <a:r>
              <a:rPr lang="it-IT" sz="2000" b="1" dirty="0">
                <a:effectLst/>
                <a:latin typeface="Arial" panose="020B0604020202020204" pitchFamily="34" charset="0"/>
              </a:rPr>
              <a:t>Operatori bitwise</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Java eredita in blocco tutti gli operatori del linguaggio C, un linguaggio nato per altri scopi in un’epoca diversa. Alcuni degli operatori quindi, sono completamente ignorati dalla maggior parte dei programmatori Java. In particolare, gli </a:t>
            </a:r>
            <a:r>
              <a:rPr lang="it-IT" sz="1800" b="1" dirty="0">
                <a:effectLst/>
                <a:latin typeface="Times New Roman" panose="02020603050405020304" pitchFamily="18" charset="0"/>
                <a:ea typeface="Times New Roman" panose="02020603050405020304" pitchFamily="18" charset="0"/>
              </a:rPr>
              <a:t>operatori bitwise</a:t>
            </a:r>
            <a:r>
              <a:rPr lang="it-IT" sz="1800" dirty="0">
                <a:effectLst/>
                <a:latin typeface="Times New Roman" panose="02020603050405020304" pitchFamily="18" charset="0"/>
                <a:ea typeface="Times New Roman" panose="02020603050405020304" pitchFamily="18" charset="0"/>
              </a:rPr>
              <a:t> che permettono di eseguire operazioni direttamente sui bit, sono quasi inutili in Java, visto che trattare la memoria a basso livello non è tra i compiti assegnati alla programmazione Java. Abbiamo quindi deciso di non spiegare questi operatori in queste pagine, spostandoli nell’apposito approfondimento 4.2 online.</a:t>
            </a:r>
          </a:p>
        </p:txBody>
      </p:sp>
    </p:spTree>
    <p:extLst>
      <p:ext uri="{BB962C8B-B14F-4D97-AF65-F5344CB8AC3E}">
        <p14:creationId xmlns:p14="http://schemas.microsoft.com/office/powerpoint/2010/main" val="33042863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0"/>
            <a:ext cx="9144000" cy="1277101"/>
          </a:xfrm>
        </p:spPr>
        <p:txBody>
          <a:bodyPr/>
          <a:lstStyle/>
          <a:p>
            <a:r>
              <a:rPr lang="it-IT" dirty="0"/>
              <a:t>Costrutti di programmazione semplici</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108650" y="1401138"/>
            <a:ext cx="9361300" cy="5196302"/>
          </a:xfrm>
        </p:spPr>
        <p:txBody>
          <a:bodyPr>
            <a:normAutofit lnSpcReduction="10000"/>
          </a:bodyPr>
          <a:lstStyle/>
          <a:p>
            <a:r>
              <a:rPr lang="it-IT" sz="2800" b="1" dirty="0"/>
              <a:t>Condizioni</a:t>
            </a:r>
            <a:r>
              <a:rPr lang="it-IT" sz="2800" dirty="0"/>
              <a:t> (o strutture di controllo decisionali): permettono, durante la fase di runtime, una scelta tra l’esecuzione di istruzioni diverse, a seconda che sia verificata o meno una specificata condizione. Tale condizione, coincide con il risultato di un’operazione booleana.</a:t>
            </a:r>
          </a:p>
          <a:p>
            <a:r>
              <a:rPr lang="it-IT" sz="2800" b="1" dirty="0"/>
              <a:t>Cicli</a:t>
            </a:r>
            <a:r>
              <a:rPr lang="it-IT" sz="2800" dirty="0"/>
              <a:t> (o strutture di controllo iterative): consentono, in fase di runtime, di decidere il numero di esecuzioni di determinate istruzioni. </a:t>
            </a:r>
          </a:p>
          <a:p>
            <a:r>
              <a:rPr lang="it-IT" sz="2800" dirty="0"/>
              <a:t>Java, definisce essenzialmente due condizioni: il costrutto </a:t>
            </a:r>
            <a:r>
              <a:rPr lang="it-IT" sz="2800" b="1" dirty="0"/>
              <a:t>if</a:t>
            </a:r>
            <a:r>
              <a:rPr lang="it-IT" sz="2800" dirty="0"/>
              <a:t> ed il costrutto </a:t>
            </a:r>
            <a:r>
              <a:rPr lang="it-IT" sz="2800" b="1" dirty="0"/>
              <a:t>switch</a:t>
            </a:r>
            <a:r>
              <a:rPr lang="it-IT" sz="2800" dirty="0"/>
              <a:t>), cui si aggiunge l’operatore ternario. I costrutti di tipo ciclo invece sono quattro: </a:t>
            </a:r>
            <a:r>
              <a:rPr lang="it-IT" sz="2800" b="1" dirty="0"/>
              <a:t>while</a:t>
            </a:r>
            <a:r>
              <a:rPr lang="it-IT" sz="2800" dirty="0"/>
              <a:t>, </a:t>
            </a:r>
            <a:r>
              <a:rPr lang="it-IT" sz="2800" b="1" dirty="0"/>
              <a:t>for</a:t>
            </a:r>
            <a:r>
              <a:rPr lang="it-IT" sz="2800" dirty="0"/>
              <a:t>, </a:t>
            </a:r>
            <a:r>
              <a:rPr lang="it-IT" sz="2800" b="1" dirty="0"/>
              <a:t>do</a:t>
            </a:r>
            <a:r>
              <a:rPr lang="it-IT" sz="2800" dirty="0"/>
              <a:t> (detto anche </a:t>
            </a:r>
            <a:r>
              <a:rPr lang="it-IT" sz="2800" b="1" dirty="0"/>
              <a:t>do-while</a:t>
            </a:r>
            <a:r>
              <a:rPr lang="it-IT" sz="2800" dirty="0"/>
              <a:t>) e il </a:t>
            </a:r>
            <a:r>
              <a:rPr lang="it-IT" sz="2800" b="1" dirty="0"/>
              <a:t>ciclo for migliorato</a:t>
            </a:r>
            <a:r>
              <a:rPr lang="it-IT" sz="2800" dirty="0"/>
              <a:t> (detto anche </a:t>
            </a:r>
            <a:r>
              <a:rPr lang="it-IT" sz="2800" b="1" dirty="0"/>
              <a:t>foreach</a:t>
            </a:r>
            <a:r>
              <a:rPr lang="it-IT" sz="2800" dirty="0"/>
              <a:t>).</a:t>
            </a:r>
          </a:p>
          <a:p>
            <a:endParaRPr lang="it-IT" dirty="0"/>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13</a:t>
            </a:fld>
            <a:endParaRPr lang="it-IT"/>
          </a:p>
        </p:txBody>
      </p:sp>
    </p:spTree>
    <p:extLst>
      <p:ext uri="{BB962C8B-B14F-4D97-AF65-F5344CB8AC3E}">
        <p14:creationId xmlns:p14="http://schemas.microsoft.com/office/powerpoint/2010/main" val="42746460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1"/>
            <a:ext cx="9144000" cy="836640"/>
          </a:xfrm>
        </p:spPr>
        <p:txBody>
          <a:bodyPr/>
          <a:lstStyle/>
          <a:p>
            <a:pPr algn="ctr"/>
            <a:r>
              <a:rPr lang="it-IT" dirty="0"/>
              <a:t>Il costrutto condizionale </a:t>
            </a:r>
            <a:r>
              <a:rPr lang="it-IT" i="1" dirty="0"/>
              <a:t>if</a:t>
            </a:r>
            <a:r>
              <a:rPr lang="it-IT" dirty="0"/>
              <a:t> </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14</a:t>
            </a:fld>
            <a:endParaRPr lang="it-IT"/>
          </a:p>
        </p:txBody>
      </p:sp>
      <p:sp>
        <p:nvSpPr>
          <p:cNvPr id="10" name="CasellaDiTesto 9">
            <a:extLst>
              <a:ext uri="{FF2B5EF4-FFF2-40B4-BE49-F238E27FC236}">
                <a16:creationId xmlns:a16="http://schemas.microsoft.com/office/drawing/2014/main" id="{53DA11AB-F920-4F02-977F-BD6C0D526B06}"/>
              </a:ext>
            </a:extLst>
          </p:cNvPr>
          <p:cNvSpPr txBox="1"/>
          <p:nvPr/>
        </p:nvSpPr>
        <p:spPr>
          <a:xfrm>
            <a:off x="0" y="1196690"/>
            <a:ext cx="9144000" cy="6001643"/>
          </a:xfrm>
          <a:prstGeom prst="rect">
            <a:avLst/>
          </a:prstGeom>
          <a:noFill/>
        </p:spPr>
        <p:txBody>
          <a:bodyPr wrap="square">
            <a:spAutoFit/>
          </a:bodyPr>
          <a:lstStyle/>
          <a:p>
            <a:r>
              <a:rPr lang="it-IT" sz="2400" dirty="0"/>
              <a:t>Il costrutto </a:t>
            </a:r>
            <a:r>
              <a:rPr lang="it-IT" sz="2400" b="1" dirty="0"/>
              <a:t>if</a:t>
            </a:r>
            <a:r>
              <a:rPr lang="it-IT" sz="2400" dirty="0"/>
              <a:t>, è una condizione che permette di prendere semplici decisioni basate su un’espressione booleana. Un’</a:t>
            </a:r>
            <a:r>
              <a:rPr lang="it-IT" sz="2400" b="1" dirty="0"/>
              <a:t>espressione booleana</a:t>
            </a:r>
            <a:r>
              <a:rPr lang="it-IT" sz="2400" dirty="0"/>
              <a:t> è un’espressione che restituisce solo valori di tipo </a:t>
            </a:r>
            <a:r>
              <a:rPr lang="it-IT" sz="2400" i="1" dirty="0"/>
              <a:t>boolean</a:t>
            </a:r>
            <a:r>
              <a:rPr lang="it-IT" sz="2400" dirty="0"/>
              <a:t>, vale a dire </a:t>
            </a:r>
            <a:r>
              <a:rPr lang="it-IT" sz="2400" i="1" dirty="0"/>
              <a:t>true</a:t>
            </a:r>
            <a:r>
              <a:rPr lang="it-IT" sz="2400" dirty="0"/>
              <a:t> o </a:t>
            </a:r>
            <a:r>
              <a:rPr lang="it-IT" sz="2400" i="1" dirty="0"/>
              <a:t>false</a:t>
            </a:r>
            <a:r>
              <a:rPr lang="it-IT" sz="2400" dirty="0"/>
              <a:t>. Essa di solito si avvale di operatori di confronto e, se necessario, di operatori logici. La sintassi del costrutto è la seguente:</a:t>
            </a:r>
          </a:p>
          <a:p>
            <a:r>
              <a:rPr lang="it-IT" sz="2400" dirty="0">
                <a:solidFill>
                  <a:schemeClr val="accent5"/>
                </a:solidFill>
              </a:rPr>
              <a:t>if (espressione-booleana) {</a:t>
            </a:r>
          </a:p>
          <a:p>
            <a:r>
              <a:rPr lang="it-IT" sz="2400" dirty="0">
                <a:solidFill>
                  <a:schemeClr val="accent5"/>
                </a:solidFill>
              </a:rPr>
              <a:t>    istruzione_1;</a:t>
            </a:r>
          </a:p>
          <a:p>
            <a:r>
              <a:rPr lang="it-IT" sz="2400" dirty="0">
                <a:solidFill>
                  <a:schemeClr val="accent5"/>
                </a:solidFill>
              </a:rPr>
              <a:t>    istruzione_2;</a:t>
            </a:r>
          </a:p>
          <a:p>
            <a:r>
              <a:rPr lang="it-IT" sz="2400" dirty="0">
                <a:solidFill>
                  <a:schemeClr val="accent5"/>
                </a:solidFill>
              </a:rPr>
              <a:t>    ............;</a:t>
            </a:r>
          </a:p>
          <a:p>
            <a:r>
              <a:rPr lang="it-IT" sz="2400" dirty="0">
                <a:solidFill>
                  <a:schemeClr val="accent5"/>
                </a:solidFill>
              </a:rPr>
              <a:t>    </a:t>
            </a:r>
            <a:r>
              <a:rPr lang="it-IT" sz="2400" dirty="0" err="1">
                <a:solidFill>
                  <a:schemeClr val="accent5"/>
                </a:solidFill>
              </a:rPr>
              <a:t>istruzione_i</a:t>
            </a:r>
            <a:r>
              <a:rPr lang="it-IT" sz="2400" dirty="0">
                <a:solidFill>
                  <a:schemeClr val="accent5"/>
                </a:solidFill>
              </a:rPr>
              <a:t>;</a:t>
            </a:r>
          </a:p>
          <a:p>
            <a:r>
              <a:rPr lang="it-IT" sz="2400" dirty="0">
                <a:solidFill>
                  <a:schemeClr val="accent5"/>
                </a:solidFill>
              </a:rPr>
              <a:t>}</a:t>
            </a:r>
          </a:p>
          <a:p>
            <a:r>
              <a:rPr lang="it-IT" sz="2400" dirty="0"/>
              <a:t>Nel caso di un’unica istruzione, è possibile omettere le parentesi graffe:</a:t>
            </a:r>
          </a:p>
          <a:p>
            <a:r>
              <a:rPr lang="it-IT" sz="2400" dirty="0">
                <a:solidFill>
                  <a:schemeClr val="accent5"/>
                </a:solidFill>
              </a:rPr>
              <a:t>if (espressione-booleana) </a:t>
            </a:r>
          </a:p>
          <a:p>
            <a:r>
              <a:rPr lang="it-IT" sz="2400" dirty="0">
                <a:solidFill>
                  <a:schemeClr val="accent5"/>
                </a:solidFill>
              </a:rPr>
              <a:t>    istruzione;</a:t>
            </a:r>
          </a:p>
          <a:p>
            <a:endParaRPr lang="it-IT" sz="2400" dirty="0"/>
          </a:p>
          <a:p>
            <a:endParaRPr lang="it-IT" sz="2400" dirty="0"/>
          </a:p>
        </p:txBody>
      </p:sp>
    </p:spTree>
    <p:extLst>
      <p:ext uri="{BB962C8B-B14F-4D97-AF65-F5344CB8AC3E}">
        <p14:creationId xmlns:p14="http://schemas.microsoft.com/office/powerpoint/2010/main" val="35626191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1"/>
            <a:ext cx="9144000" cy="836640"/>
          </a:xfrm>
        </p:spPr>
        <p:txBody>
          <a:bodyPr/>
          <a:lstStyle/>
          <a:p>
            <a:pPr algn="ctr"/>
            <a:r>
              <a:rPr lang="it-IT" dirty="0"/>
              <a:t>Il costrutto condizionale </a:t>
            </a:r>
            <a:r>
              <a:rPr lang="it-IT" i="1" dirty="0"/>
              <a:t>if</a:t>
            </a:r>
            <a:r>
              <a:rPr lang="it-IT" dirty="0"/>
              <a:t> </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15</a:t>
            </a:fld>
            <a:endParaRPr lang="it-IT"/>
          </a:p>
        </p:txBody>
      </p:sp>
      <p:sp>
        <p:nvSpPr>
          <p:cNvPr id="10" name="CasellaDiTesto 9">
            <a:extLst>
              <a:ext uri="{FF2B5EF4-FFF2-40B4-BE49-F238E27FC236}">
                <a16:creationId xmlns:a16="http://schemas.microsoft.com/office/drawing/2014/main" id="{53DA11AB-F920-4F02-977F-BD6C0D526B06}"/>
              </a:ext>
            </a:extLst>
          </p:cNvPr>
          <p:cNvSpPr txBox="1"/>
          <p:nvPr/>
        </p:nvSpPr>
        <p:spPr>
          <a:xfrm>
            <a:off x="0" y="980660"/>
            <a:ext cx="9144000" cy="4893647"/>
          </a:xfrm>
          <a:prstGeom prst="rect">
            <a:avLst/>
          </a:prstGeom>
          <a:noFill/>
        </p:spPr>
        <p:txBody>
          <a:bodyPr wrap="square">
            <a:spAutoFit/>
          </a:bodyPr>
          <a:lstStyle/>
          <a:p>
            <a:r>
              <a:rPr lang="it-IT" sz="2400" dirty="0"/>
              <a:t>Esempio:</a:t>
            </a:r>
          </a:p>
          <a:p>
            <a:r>
              <a:rPr lang="it-IT" sz="2400" dirty="0">
                <a:solidFill>
                  <a:schemeClr val="accent5"/>
                </a:solidFill>
              </a:rPr>
              <a:t>if (</a:t>
            </a:r>
            <a:r>
              <a:rPr lang="it-IT" sz="2400" dirty="0" err="1">
                <a:solidFill>
                  <a:schemeClr val="accent5"/>
                </a:solidFill>
              </a:rPr>
              <a:t>numeroLati</a:t>
            </a:r>
            <a:r>
              <a:rPr lang="it-IT" sz="2400" dirty="0">
                <a:solidFill>
                  <a:schemeClr val="accent5"/>
                </a:solidFill>
              </a:rPr>
              <a:t> == 3) </a:t>
            </a:r>
          </a:p>
          <a:p>
            <a:r>
              <a:rPr lang="it-IT" sz="2400" dirty="0">
                <a:solidFill>
                  <a:schemeClr val="accent5"/>
                </a:solidFill>
              </a:rPr>
              <a:t>    System.out.println("Questo è un triangolo");</a:t>
            </a:r>
          </a:p>
          <a:p>
            <a:r>
              <a:rPr lang="it-IT" sz="2400" dirty="0"/>
              <a:t>è equivalente a:</a:t>
            </a:r>
          </a:p>
          <a:p>
            <a:r>
              <a:rPr lang="it-IT" sz="2400" dirty="0">
                <a:solidFill>
                  <a:schemeClr val="accent5"/>
                </a:solidFill>
              </a:rPr>
              <a:t>if (</a:t>
            </a:r>
            <a:r>
              <a:rPr lang="it-IT" sz="2400" dirty="0" err="1">
                <a:solidFill>
                  <a:schemeClr val="accent5"/>
                </a:solidFill>
              </a:rPr>
              <a:t>numeroLati</a:t>
            </a:r>
            <a:r>
              <a:rPr lang="it-IT" sz="2400" dirty="0">
                <a:solidFill>
                  <a:schemeClr val="accent5"/>
                </a:solidFill>
              </a:rPr>
              <a:t> == 3) {</a:t>
            </a:r>
          </a:p>
          <a:p>
            <a:r>
              <a:rPr lang="it-IT" sz="2400" dirty="0">
                <a:solidFill>
                  <a:schemeClr val="accent5"/>
                </a:solidFill>
              </a:rPr>
              <a:t>    System.out.println("Questo è un triangolo");</a:t>
            </a:r>
          </a:p>
          <a:p>
            <a:r>
              <a:rPr lang="it-IT" sz="2400" dirty="0">
                <a:solidFill>
                  <a:schemeClr val="accent5"/>
                </a:solidFill>
              </a:rPr>
              <a:t>}</a:t>
            </a:r>
          </a:p>
          <a:p>
            <a:r>
              <a:rPr lang="it-IT" sz="2400" dirty="0"/>
              <a:t>Nell’esempio l’istruzione di stampa verrebbe eseguita se e solo se la variabile </a:t>
            </a:r>
            <a:r>
              <a:rPr lang="it-IT" sz="2400" i="1" dirty="0" err="1"/>
              <a:t>numeroLati</a:t>
            </a:r>
            <a:r>
              <a:rPr lang="it-IT" sz="2400" dirty="0"/>
              <a:t> avesse valore </a:t>
            </a:r>
            <a:r>
              <a:rPr lang="it-IT" sz="2400" i="1" dirty="0"/>
              <a:t>3</a:t>
            </a:r>
            <a:r>
              <a:rPr lang="it-IT" sz="2400" dirty="0"/>
              <a:t>. In quel caso, l’espressione booleana </a:t>
            </a:r>
            <a:r>
              <a:rPr lang="it-IT" sz="2400" i="1" dirty="0" err="1"/>
              <a:t>numeroLati</a:t>
            </a:r>
            <a:r>
              <a:rPr lang="it-IT" sz="2400" i="1" dirty="0"/>
              <a:t> == 3</a:t>
            </a:r>
            <a:r>
              <a:rPr lang="it-IT" sz="2400" dirty="0"/>
              <a:t> varrebbe </a:t>
            </a:r>
            <a:r>
              <a:rPr lang="it-IT" sz="2400" i="1" dirty="0"/>
              <a:t>true</a:t>
            </a:r>
            <a:r>
              <a:rPr lang="it-IT" sz="2400" dirty="0"/>
              <a:t>, e quindi sarebbe eseguita l’istruzione di stampa. </a:t>
            </a:r>
          </a:p>
          <a:p>
            <a:r>
              <a:rPr lang="it-IT" sz="2400" dirty="0"/>
              <a:t>Se invece l’espressione restituisse </a:t>
            </a:r>
            <a:r>
              <a:rPr lang="it-IT" sz="2400" i="1" dirty="0"/>
              <a:t>false</a:t>
            </a:r>
            <a:r>
              <a:rPr lang="it-IT" sz="2400" dirty="0"/>
              <a:t>, sarebbe eseguita direttamente la prima istruzione che segue il costrutto. </a:t>
            </a:r>
          </a:p>
        </p:txBody>
      </p:sp>
    </p:spTree>
    <p:extLst>
      <p:ext uri="{BB962C8B-B14F-4D97-AF65-F5344CB8AC3E}">
        <p14:creationId xmlns:p14="http://schemas.microsoft.com/office/powerpoint/2010/main" val="35615247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1"/>
            <a:ext cx="9144000" cy="836640"/>
          </a:xfrm>
        </p:spPr>
        <p:txBody>
          <a:bodyPr/>
          <a:lstStyle/>
          <a:p>
            <a:pPr algn="ctr"/>
            <a:r>
              <a:rPr lang="it-IT" dirty="0"/>
              <a:t>Il costrutto condizionale </a:t>
            </a:r>
            <a:r>
              <a:rPr lang="it-IT" i="1" dirty="0"/>
              <a:t>if</a:t>
            </a:r>
            <a:r>
              <a:rPr lang="it-IT" dirty="0"/>
              <a:t> </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16</a:t>
            </a:fld>
            <a:endParaRPr lang="it-IT"/>
          </a:p>
        </p:txBody>
      </p:sp>
      <p:sp>
        <p:nvSpPr>
          <p:cNvPr id="10" name="CasellaDiTesto 9">
            <a:extLst>
              <a:ext uri="{FF2B5EF4-FFF2-40B4-BE49-F238E27FC236}">
                <a16:creationId xmlns:a16="http://schemas.microsoft.com/office/drawing/2014/main" id="{53DA11AB-F920-4F02-977F-BD6C0D526B06}"/>
              </a:ext>
            </a:extLst>
          </p:cNvPr>
          <p:cNvSpPr txBox="1"/>
          <p:nvPr/>
        </p:nvSpPr>
        <p:spPr>
          <a:xfrm>
            <a:off x="0" y="980660"/>
            <a:ext cx="9144000" cy="4893647"/>
          </a:xfrm>
          <a:prstGeom prst="rect">
            <a:avLst/>
          </a:prstGeom>
          <a:noFill/>
        </p:spPr>
        <p:txBody>
          <a:bodyPr wrap="square">
            <a:spAutoFit/>
          </a:bodyPr>
          <a:lstStyle/>
          <a:p>
            <a:r>
              <a:rPr lang="it-IT" sz="2400" dirty="0"/>
              <a:t>Possiamo anche estendere la potenzialità del costrutto if mediante la parola chiave else:</a:t>
            </a:r>
          </a:p>
          <a:p>
            <a:r>
              <a:rPr lang="it-IT" sz="2400" dirty="0">
                <a:solidFill>
                  <a:schemeClr val="accent5"/>
                </a:solidFill>
              </a:rPr>
              <a:t>if (espressione-booleana){</a:t>
            </a:r>
          </a:p>
          <a:p>
            <a:r>
              <a:rPr lang="it-IT" sz="2400" dirty="0">
                <a:solidFill>
                  <a:schemeClr val="accent5"/>
                </a:solidFill>
              </a:rPr>
              <a:t>    istruzione_1;</a:t>
            </a:r>
          </a:p>
          <a:p>
            <a:r>
              <a:rPr lang="it-IT" sz="2400" dirty="0">
                <a:solidFill>
                  <a:schemeClr val="accent5"/>
                </a:solidFill>
              </a:rPr>
              <a:t>    istruzione_2;</a:t>
            </a:r>
          </a:p>
          <a:p>
            <a:r>
              <a:rPr lang="it-IT" sz="2400" dirty="0">
                <a:solidFill>
                  <a:schemeClr val="accent5"/>
                </a:solidFill>
              </a:rPr>
              <a:t>    ............;</a:t>
            </a:r>
          </a:p>
          <a:p>
            <a:r>
              <a:rPr lang="it-IT" sz="2400" dirty="0">
                <a:solidFill>
                  <a:schemeClr val="accent5"/>
                </a:solidFill>
              </a:rPr>
              <a:t>    </a:t>
            </a:r>
            <a:r>
              <a:rPr lang="it-IT" sz="2400" dirty="0" err="1">
                <a:solidFill>
                  <a:schemeClr val="accent5"/>
                </a:solidFill>
              </a:rPr>
              <a:t>istruzione_i</a:t>
            </a:r>
            <a:r>
              <a:rPr lang="it-IT" sz="2400" dirty="0">
                <a:solidFill>
                  <a:schemeClr val="accent5"/>
                </a:solidFill>
              </a:rPr>
              <a:t>;</a:t>
            </a:r>
          </a:p>
          <a:p>
            <a:r>
              <a:rPr lang="it-IT" sz="2400" dirty="0">
                <a:solidFill>
                  <a:schemeClr val="accent5"/>
                </a:solidFill>
              </a:rPr>
              <a:t>} else {</a:t>
            </a:r>
          </a:p>
          <a:p>
            <a:r>
              <a:rPr lang="it-IT" sz="2400" dirty="0">
                <a:solidFill>
                  <a:schemeClr val="accent5"/>
                </a:solidFill>
              </a:rPr>
              <a:t>    istruzione_i+1;</a:t>
            </a:r>
          </a:p>
          <a:p>
            <a:r>
              <a:rPr lang="it-IT" sz="2400" dirty="0">
                <a:solidFill>
                  <a:schemeClr val="accent5"/>
                </a:solidFill>
              </a:rPr>
              <a:t>    istruzione_i+2;</a:t>
            </a:r>
          </a:p>
          <a:p>
            <a:r>
              <a:rPr lang="it-IT" sz="2400" dirty="0">
                <a:solidFill>
                  <a:schemeClr val="accent5"/>
                </a:solidFill>
              </a:rPr>
              <a:t>    ............;</a:t>
            </a:r>
          </a:p>
          <a:p>
            <a:r>
              <a:rPr lang="it-IT" sz="2400" dirty="0">
                <a:solidFill>
                  <a:schemeClr val="accent5"/>
                </a:solidFill>
              </a:rPr>
              <a:t>    </a:t>
            </a:r>
            <a:r>
              <a:rPr lang="it-IT" sz="2400" dirty="0" err="1">
                <a:solidFill>
                  <a:schemeClr val="accent5"/>
                </a:solidFill>
              </a:rPr>
              <a:t>istruzione_n</a:t>
            </a:r>
            <a:r>
              <a:rPr lang="it-IT" sz="2400" dirty="0">
                <a:solidFill>
                  <a:schemeClr val="accent5"/>
                </a:solidFill>
              </a:rPr>
              <a:t>;</a:t>
            </a:r>
          </a:p>
          <a:p>
            <a:r>
              <a:rPr lang="it-IT" sz="2400" dirty="0">
                <a:solidFill>
                  <a:schemeClr val="accent5"/>
                </a:solidFill>
              </a:rPr>
              <a:t>}</a:t>
            </a:r>
          </a:p>
        </p:txBody>
      </p:sp>
    </p:spTree>
    <p:extLst>
      <p:ext uri="{BB962C8B-B14F-4D97-AF65-F5344CB8AC3E}">
        <p14:creationId xmlns:p14="http://schemas.microsoft.com/office/powerpoint/2010/main" val="34766008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0"/>
            <a:ext cx="9144000" cy="836640"/>
          </a:xfrm>
        </p:spPr>
        <p:txBody>
          <a:bodyPr/>
          <a:lstStyle/>
          <a:p>
            <a:pPr algn="ctr"/>
            <a:r>
              <a:rPr lang="it-IT" dirty="0"/>
              <a:t>Il costrutto condizionale </a:t>
            </a:r>
            <a:r>
              <a:rPr lang="it-IT" i="1" dirty="0"/>
              <a:t>if</a:t>
            </a:r>
            <a:r>
              <a:rPr lang="it-IT" dirty="0"/>
              <a:t> </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17</a:t>
            </a:fld>
            <a:endParaRPr lang="it-IT"/>
          </a:p>
        </p:txBody>
      </p:sp>
      <p:sp>
        <p:nvSpPr>
          <p:cNvPr id="10" name="CasellaDiTesto 9">
            <a:extLst>
              <a:ext uri="{FF2B5EF4-FFF2-40B4-BE49-F238E27FC236}">
                <a16:creationId xmlns:a16="http://schemas.microsoft.com/office/drawing/2014/main" id="{53DA11AB-F920-4F02-977F-BD6C0D526B06}"/>
              </a:ext>
            </a:extLst>
          </p:cNvPr>
          <p:cNvSpPr txBox="1"/>
          <p:nvPr/>
        </p:nvSpPr>
        <p:spPr>
          <a:xfrm>
            <a:off x="0" y="548600"/>
            <a:ext cx="9144000" cy="6001643"/>
          </a:xfrm>
          <a:prstGeom prst="rect">
            <a:avLst/>
          </a:prstGeom>
          <a:noFill/>
        </p:spPr>
        <p:txBody>
          <a:bodyPr wrap="square">
            <a:spAutoFit/>
          </a:bodyPr>
          <a:lstStyle/>
          <a:p>
            <a:r>
              <a:rPr lang="it-IT" sz="2400" dirty="0"/>
              <a:t>Esempio:</a:t>
            </a:r>
          </a:p>
          <a:p>
            <a:r>
              <a:rPr lang="it-IT" sz="2400" dirty="0">
                <a:solidFill>
                  <a:schemeClr val="accent5"/>
                </a:solidFill>
              </a:rPr>
              <a:t>if (</a:t>
            </a:r>
            <a:r>
              <a:rPr lang="it-IT" sz="2400" dirty="0" err="1">
                <a:solidFill>
                  <a:schemeClr val="accent5"/>
                </a:solidFill>
              </a:rPr>
              <a:t>numeroLati</a:t>
            </a:r>
            <a:r>
              <a:rPr lang="it-IT" sz="2400" dirty="0">
                <a:solidFill>
                  <a:schemeClr val="accent5"/>
                </a:solidFill>
              </a:rPr>
              <a:t> == 3) {</a:t>
            </a:r>
          </a:p>
          <a:p>
            <a:r>
              <a:rPr lang="it-IT" sz="2400" dirty="0">
                <a:solidFill>
                  <a:schemeClr val="accent5"/>
                </a:solidFill>
              </a:rPr>
              <a:t>    System.out.println("Questo è un triangolo");</a:t>
            </a:r>
          </a:p>
          <a:p>
            <a:r>
              <a:rPr lang="it-IT" sz="2400" dirty="0">
                <a:solidFill>
                  <a:schemeClr val="accent5"/>
                </a:solidFill>
              </a:rPr>
              <a:t>} else {</a:t>
            </a:r>
          </a:p>
          <a:p>
            <a:r>
              <a:rPr lang="it-IT" sz="2400" dirty="0">
                <a:solidFill>
                  <a:schemeClr val="accent5"/>
                </a:solidFill>
              </a:rPr>
              <a:t>    System.out.println("Questo non è un triangolo");</a:t>
            </a:r>
          </a:p>
          <a:p>
            <a:r>
              <a:rPr lang="it-IT" sz="2400" dirty="0">
                <a:solidFill>
                  <a:schemeClr val="accent5"/>
                </a:solidFill>
              </a:rPr>
              <a:t>}</a:t>
            </a:r>
          </a:p>
          <a:p>
            <a:r>
              <a:rPr lang="it-IT" sz="2400" dirty="0"/>
              <a:t>La parola </a:t>
            </a:r>
            <a:r>
              <a:rPr lang="it-IT" sz="2400" i="1" dirty="0"/>
              <a:t>if</a:t>
            </a:r>
            <a:r>
              <a:rPr lang="it-IT" sz="2400" dirty="0"/>
              <a:t> si traduce in italiano con la parola </a:t>
            </a:r>
            <a:r>
              <a:rPr lang="it-IT" sz="2400" i="1" dirty="0"/>
              <a:t>se</a:t>
            </a:r>
            <a:r>
              <a:rPr lang="it-IT" sz="2400" dirty="0"/>
              <a:t>; la parola </a:t>
            </a:r>
            <a:r>
              <a:rPr lang="it-IT" sz="2400" i="1" dirty="0"/>
              <a:t>else</a:t>
            </a:r>
            <a:r>
              <a:rPr lang="it-IT" sz="2400" dirty="0"/>
              <a:t> invece con </a:t>
            </a:r>
            <a:r>
              <a:rPr lang="it-IT" sz="2400" i="1" dirty="0"/>
              <a:t>altrimenti</a:t>
            </a:r>
            <a:r>
              <a:rPr lang="it-IT" sz="2400" dirty="0"/>
              <a:t>, nel senso di </a:t>
            </a:r>
            <a:r>
              <a:rPr lang="it-IT" sz="2400" i="1" dirty="0"/>
              <a:t>ogni altro caso</a:t>
            </a:r>
            <a:r>
              <a:rPr lang="it-IT" sz="2400" dirty="0"/>
              <a:t>. Quindi, se l’espressione booleana è vera verrà stampata la stringa "Questo è un triangolo"; se è falsa verrà stampata la stringa "Questo non è un triangolo".</a:t>
            </a:r>
          </a:p>
          <a:p>
            <a:r>
              <a:rPr lang="it-IT" sz="2400" dirty="0"/>
              <a:t>Se volessimo tradurre in italiano il precedente codice, potremmo scrivere:</a:t>
            </a:r>
          </a:p>
          <a:p>
            <a:r>
              <a:rPr lang="it-IT" sz="2400" dirty="0">
                <a:solidFill>
                  <a:schemeClr val="accent6"/>
                </a:solidFill>
              </a:rPr>
              <a:t>se il numero di lati è uguale a 3</a:t>
            </a:r>
          </a:p>
          <a:p>
            <a:r>
              <a:rPr lang="it-IT" sz="2400" dirty="0">
                <a:solidFill>
                  <a:schemeClr val="accent6"/>
                </a:solidFill>
              </a:rPr>
              <a:t>    stampa "Questo è un triangolo"</a:t>
            </a:r>
          </a:p>
          <a:p>
            <a:r>
              <a:rPr lang="it-IT" sz="2400" dirty="0">
                <a:solidFill>
                  <a:schemeClr val="accent6"/>
                </a:solidFill>
              </a:rPr>
              <a:t>altrimenti</a:t>
            </a:r>
          </a:p>
          <a:p>
            <a:r>
              <a:rPr lang="it-IT" sz="2400" dirty="0">
                <a:solidFill>
                  <a:schemeClr val="accent6"/>
                </a:solidFill>
              </a:rPr>
              <a:t>    stampa "Questo non è un triangolo"</a:t>
            </a:r>
          </a:p>
        </p:txBody>
      </p:sp>
    </p:spTree>
    <p:extLst>
      <p:ext uri="{BB962C8B-B14F-4D97-AF65-F5344CB8AC3E}">
        <p14:creationId xmlns:p14="http://schemas.microsoft.com/office/powerpoint/2010/main" val="1817053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0"/>
            <a:ext cx="9144000" cy="836640"/>
          </a:xfrm>
        </p:spPr>
        <p:txBody>
          <a:bodyPr/>
          <a:lstStyle/>
          <a:p>
            <a:pPr algn="ctr"/>
            <a:r>
              <a:rPr lang="it-IT" dirty="0"/>
              <a:t>Il costrutto condizionale </a:t>
            </a:r>
            <a:r>
              <a:rPr lang="it-IT" i="1" dirty="0"/>
              <a:t>if</a:t>
            </a:r>
            <a:r>
              <a:rPr lang="it-IT" dirty="0"/>
              <a:t> </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18</a:t>
            </a:fld>
            <a:endParaRPr lang="it-IT"/>
          </a:p>
        </p:txBody>
      </p:sp>
      <p:sp>
        <p:nvSpPr>
          <p:cNvPr id="10" name="CasellaDiTesto 9">
            <a:extLst>
              <a:ext uri="{FF2B5EF4-FFF2-40B4-BE49-F238E27FC236}">
                <a16:creationId xmlns:a16="http://schemas.microsoft.com/office/drawing/2014/main" id="{53DA11AB-F920-4F02-977F-BD6C0D526B06}"/>
              </a:ext>
            </a:extLst>
          </p:cNvPr>
          <p:cNvSpPr txBox="1"/>
          <p:nvPr/>
        </p:nvSpPr>
        <p:spPr>
          <a:xfrm>
            <a:off x="0" y="586515"/>
            <a:ext cx="9144000" cy="6370975"/>
          </a:xfrm>
          <a:prstGeom prst="rect">
            <a:avLst/>
          </a:prstGeom>
          <a:noFill/>
        </p:spPr>
        <p:txBody>
          <a:bodyPr wrap="square">
            <a:spAutoFit/>
          </a:bodyPr>
          <a:lstStyle/>
          <a:p>
            <a:r>
              <a:rPr lang="it-IT" sz="2400" dirty="0"/>
              <a:t>Possiamo anche comporre più costrutti nel seguente modo con clausole </a:t>
            </a:r>
            <a:r>
              <a:rPr lang="it-IT" sz="2400" i="1" dirty="0"/>
              <a:t>else if</a:t>
            </a:r>
            <a:r>
              <a:rPr lang="it-IT" sz="2400" dirty="0"/>
              <a:t>:</a:t>
            </a:r>
          </a:p>
          <a:p>
            <a:r>
              <a:rPr lang="it-IT" sz="2000" dirty="0">
                <a:solidFill>
                  <a:schemeClr val="accent5"/>
                </a:solidFill>
              </a:rPr>
              <a:t>if (espressione-booleana1) {</a:t>
            </a:r>
          </a:p>
          <a:p>
            <a:r>
              <a:rPr lang="it-IT" sz="2000" dirty="0">
                <a:solidFill>
                  <a:schemeClr val="accent5"/>
                </a:solidFill>
              </a:rPr>
              <a:t>    istruzione_1;</a:t>
            </a:r>
          </a:p>
          <a:p>
            <a:r>
              <a:rPr lang="it-IT" sz="2000" dirty="0">
                <a:solidFill>
                  <a:schemeClr val="accent5"/>
                </a:solidFill>
              </a:rPr>
              <a:t>    istruzione_2;</a:t>
            </a:r>
          </a:p>
          <a:p>
            <a:r>
              <a:rPr lang="it-IT" sz="2000" dirty="0">
                <a:solidFill>
                  <a:schemeClr val="accent5"/>
                </a:solidFill>
              </a:rPr>
              <a:t>    ............;</a:t>
            </a:r>
          </a:p>
          <a:p>
            <a:r>
              <a:rPr lang="it-IT" sz="2000" dirty="0">
                <a:solidFill>
                  <a:schemeClr val="accent5"/>
                </a:solidFill>
              </a:rPr>
              <a:t>    </a:t>
            </a:r>
            <a:r>
              <a:rPr lang="it-IT" sz="2000" dirty="0" err="1">
                <a:solidFill>
                  <a:schemeClr val="accent5"/>
                </a:solidFill>
              </a:rPr>
              <a:t>istruzione_i</a:t>
            </a:r>
            <a:r>
              <a:rPr lang="it-IT" sz="2000" dirty="0">
                <a:solidFill>
                  <a:schemeClr val="accent5"/>
                </a:solidFill>
              </a:rPr>
              <a:t>;</a:t>
            </a:r>
          </a:p>
          <a:p>
            <a:r>
              <a:rPr lang="it-IT" sz="2000" dirty="0">
                <a:solidFill>
                  <a:schemeClr val="accent5"/>
                </a:solidFill>
              </a:rPr>
              <a:t>} else if (espressione-booleana2) {</a:t>
            </a:r>
          </a:p>
          <a:p>
            <a:r>
              <a:rPr lang="it-IT" sz="2000" dirty="0">
                <a:solidFill>
                  <a:schemeClr val="accent5"/>
                </a:solidFill>
              </a:rPr>
              <a:t>    istruzione_1+1;</a:t>
            </a:r>
          </a:p>
          <a:p>
            <a:r>
              <a:rPr lang="it-IT" sz="2000" dirty="0">
                <a:solidFill>
                  <a:schemeClr val="accent5"/>
                </a:solidFill>
              </a:rPr>
              <a:t>    .............;</a:t>
            </a:r>
          </a:p>
          <a:p>
            <a:r>
              <a:rPr lang="it-IT" sz="2000" dirty="0">
                <a:solidFill>
                  <a:schemeClr val="accent5"/>
                </a:solidFill>
              </a:rPr>
              <a:t>    </a:t>
            </a:r>
            <a:r>
              <a:rPr lang="it-IT" sz="2000" dirty="0" err="1">
                <a:solidFill>
                  <a:schemeClr val="accent5"/>
                </a:solidFill>
              </a:rPr>
              <a:t>istruzione_j</a:t>
            </a:r>
            <a:r>
              <a:rPr lang="it-IT" sz="2000" dirty="0">
                <a:solidFill>
                  <a:schemeClr val="accent5"/>
                </a:solidFill>
              </a:rPr>
              <a:t>;</a:t>
            </a:r>
          </a:p>
          <a:p>
            <a:r>
              <a:rPr lang="it-IT" sz="2000" dirty="0">
                <a:solidFill>
                  <a:schemeClr val="accent5"/>
                </a:solidFill>
              </a:rPr>
              <a:t>} else if (espressione-booleana3) {</a:t>
            </a:r>
          </a:p>
          <a:p>
            <a:r>
              <a:rPr lang="it-IT" sz="2000" dirty="0">
                <a:solidFill>
                  <a:schemeClr val="accent5"/>
                </a:solidFill>
              </a:rPr>
              <a:t>    istruzione_j+1;</a:t>
            </a:r>
          </a:p>
          <a:p>
            <a:r>
              <a:rPr lang="it-IT" sz="2000" dirty="0">
                <a:solidFill>
                  <a:schemeClr val="accent5"/>
                </a:solidFill>
              </a:rPr>
              <a:t>    .............;</a:t>
            </a:r>
          </a:p>
          <a:p>
            <a:r>
              <a:rPr lang="it-IT" sz="2000" dirty="0">
                <a:solidFill>
                  <a:schemeClr val="accent5"/>
                </a:solidFill>
              </a:rPr>
              <a:t>    </a:t>
            </a:r>
            <a:r>
              <a:rPr lang="it-IT" sz="2000" dirty="0" err="1">
                <a:solidFill>
                  <a:schemeClr val="accent5"/>
                </a:solidFill>
              </a:rPr>
              <a:t>istruzione_k</a:t>
            </a:r>
            <a:r>
              <a:rPr lang="it-IT" sz="2000" dirty="0">
                <a:solidFill>
                  <a:schemeClr val="accent5"/>
                </a:solidFill>
              </a:rPr>
              <a:t>;</a:t>
            </a:r>
          </a:p>
          <a:p>
            <a:r>
              <a:rPr lang="it-IT" sz="2000" dirty="0">
                <a:solidFill>
                  <a:schemeClr val="accent5"/>
                </a:solidFill>
              </a:rPr>
              <a:t>} else {</a:t>
            </a:r>
          </a:p>
          <a:p>
            <a:r>
              <a:rPr lang="it-IT" sz="2000" dirty="0">
                <a:solidFill>
                  <a:schemeClr val="accent5"/>
                </a:solidFill>
              </a:rPr>
              <a:t>    istruzione_k+1;</a:t>
            </a:r>
          </a:p>
          <a:p>
            <a:r>
              <a:rPr lang="it-IT" sz="2000" dirty="0">
                <a:solidFill>
                  <a:schemeClr val="accent5"/>
                </a:solidFill>
              </a:rPr>
              <a:t>    .............;</a:t>
            </a:r>
          </a:p>
          <a:p>
            <a:r>
              <a:rPr lang="it-IT" sz="2000" dirty="0">
                <a:solidFill>
                  <a:schemeClr val="accent5"/>
                </a:solidFill>
              </a:rPr>
              <a:t>    </a:t>
            </a:r>
            <a:r>
              <a:rPr lang="it-IT" sz="2000" dirty="0" err="1">
                <a:solidFill>
                  <a:schemeClr val="accent5"/>
                </a:solidFill>
              </a:rPr>
              <a:t>istruzione_n</a:t>
            </a:r>
            <a:r>
              <a:rPr lang="it-IT" sz="2000" dirty="0">
                <a:solidFill>
                  <a:schemeClr val="accent5"/>
                </a:solidFill>
              </a:rPr>
              <a:t>;</a:t>
            </a:r>
          </a:p>
          <a:p>
            <a:r>
              <a:rPr lang="it-IT" sz="2000" dirty="0">
                <a:solidFill>
                  <a:schemeClr val="accent5"/>
                </a:solidFill>
              </a:rPr>
              <a:t>}</a:t>
            </a:r>
          </a:p>
        </p:txBody>
      </p:sp>
    </p:spTree>
    <p:extLst>
      <p:ext uri="{BB962C8B-B14F-4D97-AF65-F5344CB8AC3E}">
        <p14:creationId xmlns:p14="http://schemas.microsoft.com/office/powerpoint/2010/main" val="1009884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0"/>
            <a:ext cx="9144000" cy="836640"/>
          </a:xfrm>
        </p:spPr>
        <p:txBody>
          <a:bodyPr/>
          <a:lstStyle/>
          <a:p>
            <a:pPr algn="ctr"/>
            <a:r>
              <a:rPr lang="it-IT" dirty="0"/>
              <a:t>Il costrutto </a:t>
            </a:r>
            <a:r>
              <a:rPr lang="it-IT" i="1" dirty="0"/>
              <a:t>while</a:t>
            </a:r>
            <a:r>
              <a:rPr lang="it-IT" dirty="0"/>
              <a:t> </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19</a:t>
            </a:fld>
            <a:endParaRPr lang="it-IT"/>
          </a:p>
        </p:txBody>
      </p:sp>
      <p:sp>
        <p:nvSpPr>
          <p:cNvPr id="10" name="CasellaDiTesto 9">
            <a:extLst>
              <a:ext uri="{FF2B5EF4-FFF2-40B4-BE49-F238E27FC236}">
                <a16:creationId xmlns:a16="http://schemas.microsoft.com/office/drawing/2014/main" id="{53DA11AB-F920-4F02-977F-BD6C0D526B06}"/>
              </a:ext>
            </a:extLst>
          </p:cNvPr>
          <p:cNvSpPr txBox="1"/>
          <p:nvPr/>
        </p:nvSpPr>
        <p:spPr>
          <a:xfrm>
            <a:off x="0" y="983693"/>
            <a:ext cx="9144000" cy="4893647"/>
          </a:xfrm>
          <a:prstGeom prst="rect">
            <a:avLst/>
          </a:prstGeom>
          <a:noFill/>
        </p:spPr>
        <p:txBody>
          <a:bodyPr wrap="square">
            <a:spAutoFit/>
          </a:bodyPr>
          <a:lstStyle/>
          <a:p>
            <a:pPr marL="342900" indent="-342900">
              <a:buFont typeface="Arial" panose="020B0604020202020204" pitchFamily="34" charset="0"/>
              <a:buChar char="•"/>
            </a:pPr>
            <a:r>
              <a:rPr lang="it-IT" sz="2400" dirty="0"/>
              <a:t>Il ciclo </a:t>
            </a:r>
            <a:r>
              <a:rPr lang="it-IT" sz="2400" i="1" dirty="0"/>
              <a:t>while</a:t>
            </a:r>
            <a:r>
              <a:rPr lang="it-IT" sz="2400" dirty="0"/>
              <a:t> permette di eseguire più volte uno statement (o un insieme di statement compresi in un blocco di codice) tante volte fino a quando una certa condizione booleana è verificata. </a:t>
            </a:r>
          </a:p>
          <a:p>
            <a:pPr marL="342900" indent="-342900">
              <a:buFont typeface="Arial" panose="020B0604020202020204" pitchFamily="34" charset="0"/>
              <a:buChar char="•"/>
            </a:pPr>
            <a:r>
              <a:rPr lang="it-IT" sz="2400" dirty="0"/>
              <a:t>Ogni ciclo di esecuzione viene detta iterazione.</a:t>
            </a:r>
          </a:p>
          <a:p>
            <a:pPr marL="342900" indent="-342900">
              <a:buFont typeface="Arial" panose="020B0604020202020204" pitchFamily="34" charset="0"/>
              <a:buChar char="•"/>
            </a:pPr>
            <a:r>
              <a:rPr lang="it-IT" sz="2400" dirty="0"/>
              <a:t>La sintassi è la seguente:</a:t>
            </a:r>
          </a:p>
          <a:p>
            <a:r>
              <a:rPr lang="it-IT" sz="2400" dirty="0">
                <a:solidFill>
                  <a:schemeClr val="accent5"/>
                </a:solidFill>
              </a:rPr>
              <a:t>[inizializzazione;]</a:t>
            </a:r>
          </a:p>
          <a:p>
            <a:r>
              <a:rPr lang="it-IT" sz="2400" dirty="0">
                <a:solidFill>
                  <a:schemeClr val="accent5"/>
                </a:solidFill>
              </a:rPr>
              <a:t>while (espressione-booleana) {</a:t>
            </a:r>
          </a:p>
          <a:p>
            <a:r>
              <a:rPr lang="it-IT" sz="2400" dirty="0">
                <a:solidFill>
                  <a:schemeClr val="accent5"/>
                </a:solidFill>
              </a:rPr>
              <a:t>    istruzione_1;</a:t>
            </a:r>
          </a:p>
          <a:p>
            <a:r>
              <a:rPr lang="it-IT" sz="2400" dirty="0">
                <a:solidFill>
                  <a:schemeClr val="accent5"/>
                </a:solidFill>
              </a:rPr>
              <a:t>    istruzione_2;</a:t>
            </a:r>
          </a:p>
          <a:p>
            <a:r>
              <a:rPr lang="it-IT" sz="2400" dirty="0">
                <a:solidFill>
                  <a:schemeClr val="accent5"/>
                </a:solidFill>
              </a:rPr>
              <a:t>    ............;</a:t>
            </a:r>
          </a:p>
          <a:p>
            <a:r>
              <a:rPr lang="it-IT" sz="2400" dirty="0">
                <a:solidFill>
                  <a:schemeClr val="accent5"/>
                </a:solidFill>
              </a:rPr>
              <a:t>    </a:t>
            </a:r>
            <a:r>
              <a:rPr lang="it-IT" sz="2400" dirty="0" err="1">
                <a:solidFill>
                  <a:schemeClr val="accent5"/>
                </a:solidFill>
              </a:rPr>
              <a:t>istruzione_i</a:t>
            </a:r>
            <a:r>
              <a:rPr lang="it-IT" sz="2400" dirty="0">
                <a:solidFill>
                  <a:schemeClr val="accent5"/>
                </a:solidFill>
              </a:rPr>
              <a:t>;</a:t>
            </a:r>
          </a:p>
          <a:p>
            <a:r>
              <a:rPr lang="it-IT" sz="2400" dirty="0">
                <a:solidFill>
                  <a:schemeClr val="accent5"/>
                </a:solidFill>
              </a:rPr>
              <a:t>    [aggiornamento iterazione;]</a:t>
            </a:r>
          </a:p>
          <a:p>
            <a:r>
              <a:rPr lang="it-IT" sz="2400" dirty="0">
                <a:solidFill>
                  <a:schemeClr val="accent5"/>
                </a:solidFill>
              </a:rPr>
              <a:t>}</a:t>
            </a:r>
          </a:p>
        </p:txBody>
      </p:sp>
    </p:spTree>
    <p:extLst>
      <p:ext uri="{BB962C8B-B14F-4D97-AF65-F5344CB8AC3E}">
        <p14:creationId xmlns:p14="http://schemas.microsoft.com/office/powerpoint/2010/main" val="1494356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0"/>
            <a:ext cx="9144000" cy="836640"/>
          </a:xfrm>
        </p:spPr>
        <p:txBody>
          <a:bodyPr/>
          <a:lstStyle/>
          <a:p>
            <a:pPr algn="ctr"/>
            <a:r>
              <a:rPr lang="it-IT" dirty="0"/>
              <a:t>Il costrutto </a:t>
            </a:r>
            <a:r>
              <a:rPr lang="it-IT" i="1" dirty="0"/>
              <a:t>while</a:t>
            </a:r>
            <a:r>
              <a:rPr lang="it-IT" dirty="0"/>
              <a:t> </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20</a:t>
            </a:fld>
            <a:endParaRPr lang="it-IT"/>
          </a:p>
        </p:txBody>
      </p:sp>
      <p:sp>
        <p:nvSpPr>
          <p:cNvPr id="10" name="CasellaDiTesto 9">
            <a:extLst>
              <a:ext uri="{FF2B5EF4-FFF2-40B4-BE49-F238E27FC236}">
                <a16:creationId xmlns:a16="http://schemas.microsoft.com/office/drawing/2014/main" id="{53DA11AB-F920-4F02-977F-BD6C0D526B06}"/>
              </a:ext>
            </a:extLst>
          </p:cNvPr>
          <p:cNvSpPr txBox="1"/>
          <p:nvPr/>
        </p:nvSpPr>
        <p:spPr>
          <a:xfrm>
            <a:off x="0" y="983693"/>
            <a:ext cx="9144000" cy="4832092"/>
          </a:xfrm>
          <a:prstGeom prst="rect">
            <a:avLst/>
          </a:prstGeom>
          <a:noFill/>
        </p:spPr>
        <p:txBody>
          <a:bodyPr wrap="square">
            <a:spAutoFit/>
          </a:bodyPr>
          <a:lstStyle/>
          <a:p>
            <a:pPr marL="342900" indent="-342900">
              <a:buFont typeface="Arial" panose="020B0604020202020204" pitchFamily="34" charset="0"/>
              <a:buChar char="•"/>
            </a:pPr>
            <a:r>
              <a:rPr lang="it-IT" sz="2800" dirty="0"/>
              <a:t>Come esempio, presentiamo una piccola applicazione che stampa i primi dieci numeri:</a:t>
            </a:r>
          </a:p>
          <a:p>
            <a:r>
              <a:rPr lang="it-IT" sz="2800" dirty="0">
                <a:solidFill>
                  <a:schemeClr val="accent5"/>
                </a:solidFill>
              </a:rPr>
              <a:t>public class </a:t>
            </a:r>
            <a:r>
              <a:rPr lang="it-IT" sz="2800" dirty="0" err="1">
                <a:solidFill>
                  <a:schemeClr val="accent5"/>
                </a:solidFill>
              </a:rPr>
              <a:t>WhileDemo</a:t>
            </a:r>
            <a:r>
              <a:rPr lang="it-IT" sz="2800" dirty="0">
                <a:solidFill>
                  <a:schemeClr val="accent5"/>
                </a:solidFill>
              </a:rPr>
              <a:t> {</a:t>
            </a:r>
          </a:p>
          <a:p>
            <a:r>
              <a:rPr lang="it-IT" sz="2800" dirty="0">
                <a:solidFill>
                  <a:schemeClr val="accent5"/>
                </a:solidFill>
              </a:rPr>
              <a:t>    public static void main(String args[]) {</a:t>
            </a:r>
          </a:p>
          <a:p>
            <a:r>
              <a:rPr lang="it-IT" sz="2800" dirty="0">
                <a:solidFill>
                  <a:schemeClr val="accent5"/>
                </a:solidFill>
              </a:rPr>
              <a:t>        int i = 1;</a:t>
            </a:r>
          </a:p>
          <a:p>
            <a:r>
              <a:rPr lang="it-IT" sz="2800" dirty="0">
                <a:solidFill>
                  <a:schemeClr val="accent5"/>
                </a:solidFill>
              </a:rPr>
              <a:t>        while (i &lt;= 10) {</a:t>
            </a:r>
          </a:p>
          <a:p>
            <a:r>
              <a:rPr lang="it-IT" sz="2800" dirty="0">
                <a:solidFill>
                  <a:schemeClr val="accent5"/>
                </a:solidFill>
              </a:rPr>
              <a:t>            System.out.println(i);</a:t>
            </a:r>
          </a:p>
          <a:p>
            <a:r>
              <a:rPr lang="it-IT" sz="2800" dirty="0">
                <a:solidFill>
                  <a:schemeClr val="accent5"/>
                </a:solidFill>
              </a:rPr>
              <a:t>            i++;</a:t>
            </a:r>
          </a:p>
          <a:p>
            <a:r>
              <a:rPr lang="it-IT" sz="2800" dirty="0">
                <a:solidFill>
                  <a:schemeClr val="accent5"/>
                </a:solidFill>
              </a:rPr>
              <a:t>        }</a:t>
            </a:r>
          </a:p>
          <a:p>
            <a:r>
              <a:rPr lang="it-IT" sz="2800" dirty="0">
                <a:solidFill>
                  <a:schemeClr val="accent5"/>
                </a:solidFill>
              </a:rPr>
              <a:t>    }</a:t>
            </a:r>
          </a:p>
          <a:p>
            <a:r>
              <a:rPr lang="it-IT" sz="2800" dirty="0">
                <a:solidFill>
                  <a:schemeClr val="accent5"/>
                </a:solidFill>
              </a:rPr>
              <a:t>}</a:t>
            </a:r>
          </a:p>
        </p:txBody>
      </p:sp>
    </p:spTree>
    <p:extLst>
      <p:ext uri="{BB962C8B-B14F-4D97-AF65-F5344CB8AC3E}">
        <p14:creationId xmlns:p14="http://schemas.microsoft.com/office/powerpoint/2010/main" val="37214493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155603"/>
            <a:ext cx="9144000" cy="681037"/>
          </a:xfrm>
        </p:spPr>
        <p:txBody>
          <a:bodyPr>
            <a:normAutofit fontScale="90000"/>
          </a:bodyPr>
          <a:lstStyle/>
          <a:p>
            <a:pPr algn="ctr"/>
            <a:r>
              <a:rPr lang="it-IT" sz="4400" dirty="0"/>
              <a:t>Costrutti di programmazione avanzati</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0" y="1185106"/>
            <a:ext cx="9144000" cy="4620224"/>
          </a:xfrm>
        </p:spPr>
        <p:txBody>
          <a:bodyPr>
            <a:noAutofit/>
          </a:bodyPr>
          <a:lstStyle/>
          <a:p>
            <a:r>
              <a:rPr lang="it-IT" dirty="0"/>
              <a:t>È vero che con </a:t>
            </a:r>
            <a:r>
              <a:rPr lang="it-IT" i="1" dirty="0"/>
              <a:t>if</a:t>
            </a:r>
            <a:r>
              <a:rPr lang="it-IT" dirty="0"/>
              <a:t> e </a:t>
            </a:r>
            <a:r>
              <a:rPr lang="it-IT" i="1" dirty="0"/>
              <a:t>while</a:t>
            </a:r>
            <a:r>
              <a:rPr lang="it-IT" dirty="0"/>
              <a:t> possiamo risolvere praticamente tutti i problemi della programmazione, ma è anche vero che a volte sono scomodi da utilizzare rispetto ad altri costrutti. Alcuni di quelli che vedremo sono infatti utilizzatissimi.</a:t>
            </a:r>
          </a:p>
          <a:p>
            <a:r>
              <a:rPr lang="it-IT" dirty="0"/>
              <a:t> Per esempio il ciclo for, è molto più utilizzato del ciclo </a:t>
            </a:r>
            <a:r>
              <a:rPr lang="it-IT" b="1" dirty="0"/>
              <a:t>while</a:t>
            </a:r>
            <a:r>
              <a:rPr lang="it-IT" dirty="0"/>
              <a:t>. Anche il </a:t>
            </a:r>
            <a:r>
              <a:rPr lang="it-IT" b="1" dirty="0"/>
              <a:t>ciclo for migliorato </a:t>
            </a:r>
            <a:r>
              <a:rPr lang="it-IT" dirty="0"/>
              <a:t>(noto anche come </a:t>
            </a:r>
            <a:r>
              <a:rPr lang="it-IT" b="1" dirty="0"/>
              <a:t>foreach</a:t>
            </a:r>
            <a:r>
              <a:rPr lang="it-IT" dirty="0"/>
              <a:t>), è molto utilizzato, perché la sintassi è poco verbosa. Altri costrutti lo sono meno, come le istruzioni </a:t>
            </a:r>
            <a:r>
              <a:rPr lang="it-IT" b="1" dirty="0"/>
              <a:t>break</a:t>
            </a:r>
            <a:r>
              <a:rPr lang="it-IT" dirty="0"/>
              <a:t> e </a:t>
            </a:r>
            <a:r>
              <a:rPr lang="it-IT" b="1" dirty="0"/>
              <a:t>continue</a:t>
            </a:r>
            <a:r>
              <a:rPr lang="it-IT" dirty="0"/>
              <a:t>, l’operatore ternario, e il ciclo </a:t>
            </a:r>
            <a:r>
              <a:rPr lang="it-IT" b="1" dirty="0"/>
              <a:t>do-while</a:t>
            </a:r>
            <a:r>
              <a:rPr lang="it-IT" dirty="0"/>
              <a:t>, ma sono comunque fondamentali per programmare. </a:t>
            </a:r>
          </a:p>
          <a:p>
            <a:r>
              <a:rPr lang="it-IT" dirty="0"/>
              <a:t>Un discorso a parte sarà fatto per il costrutto condizionale </a:t>
            </a:r>
            <a:r>
              <a:rPr lang="it-IT" b="1" dirty="0"/>
              <a:t>switch</a:t>
            </a:r>
            <a:r>
              <a:rPr lang="it-IT" dirty="0"/>
              <a:t>, che ora può essere usato nella maniera tradizionale come statement ma anche come espressione. A partire dalla versione 12 di Java infatti, il costrutto è stato modernizzato, ed ora risulta molto più utile. </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21</a:t>
            </a:fld>
            <a:endParaRPr lang="it-IT"/>
          </a:p>
        </p:txBody>
      </p:sp>
    </p:spTree>
    <p:extLst>
      <p:ext uri="{BB962C8B-B14F-4D97-AF65-F5344CB8AC3E}">
        <p14:creationId xmlns:p14="http://schemas.microsoft.com/office/powerpoint/2010/main" val="21183521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628650" y="136524"/>
            <a:ext cx="7886700" cy="1554165"/>
          </a:xfrm>
        </p:spPr>
        <p:txBody>
          <a:bodyPr/>
          <a:lstStyle/>
          <a:p>
            <a:pPr algn="ctr"/>
            <a:r>
              <a:rPr lang="it-IT" dirty="0"/>
              <a:t>Il costrutto </a:t>
            </a:r>
            <a:r>
              <a:rPr lang="it-IT" i="1" dirty="0"/>
              <a:t>for</a:t>
            </a:r>
          </a:p>
        </p:txBody>
      </p:sp>
      <p:sp>
        <p:nvSpPr>
          <p:cNvPr id="3" name="Segnaposto contenuto 2">
            <a:extLst>
              <a:ext uri="{FF2B5EF4-FFF2-40B4-BE49-F238E27FC236}">
                <a16:creationId xmlns:a16="http://schemas.microsoft.com/office/drawing/2014/main" id="{84CFE59D-E19E-49A0-BEBC-4EE3897DF2B6}"/>
              </a:ext>
            </a:extLst>
          </p:cNvPr>
          <p:cNvSpPr>
            <a:spLocks noGrp="1"/>
          </p:cNvSpPr>
          <p:nvPr>
            <p:ph idx="1"/>
          </p:nvPr>
        </p:nvSpPr>
        <p:spPr>
          <a:xfrm>
            <a:off x="0" y="1556740"/>
            <a:ext cx="9144000" cy="4620223"/>
          </a:xfrm>
        </p:spPr>
        <p:txBody>
          <a:bodyPr>
            <a:normAutofit fontScale="85000" lnSpcReduction="20000"/>
          </a:bodyPr>
          <a:lstStyle/>
          <a:p>
            <a:r>
              <a:rPr lang="it-IT" sz="3200" dirty="0"/>
              <a:t>Il ciclo </a:t>
            </a:r>
            <a:r>
              <a:rPr lang="it-IT" sz="3200" b="1" dirty="0"/>
              <a:t>for</a:t>
            </a:r>
            <a:r>
              <a:rPr lang="it-IT" sz="3200" dirty="0"/>
              <a:t>, è probabilmente il ciclo più completo che offre il linguaggio. Di seguito trovate la sua sintassi nel caso d’utilizzo di una o più istruzioni da iterare.</a:t>
            </a:r>
          </a:p>
          <a:p>
            <a:r>
              <a:rPr lang="it-IT" sz="3200" dirty="0"/>
              <a:t>Uno statement:</a:t>
            </a:r>
          </a:p>
          <a:p>
            <a:pPr marL="0" indent="0">
              <a:buNone/>
            </a:pPr>
            <a:r>
              <a:rPr lang="it-IT" sz="3200" dirty="0">
                <a:solidFill>
                  <a:schemeClr val="accent5"/>
                </a:solidFill>
              </a:rPr>
              <a:t>for (inizializzazione; espressione booleana; aggiornamento)</a:t>
            </a:r>
          </a:p>
          <a:p>
            <a:pPr marL="0" indent="0">
              <a:buNone/>
            </a:pPr>
            <a:r>
              <a:rPr lang="it-IT" sz="3200" dirty="0">
                <a:solidFill>
                  <a:schemeClr val="accent5"/>
                </a:solidFill>
              </a:rPr>
              <a:t>    statement;</a:t>
            </a:r>
          </a:p>
          <a:p>
            <a:r>
              <a:rPr lang="it-IT" sz="3200" dirty="0"/>
              <a:t>Più statement:</a:t>
            </a:r>
          </a:p>
          <a:p>
            <a:pPr marL="0" indent="0">
              <a:buNone/>
            </a:pPr>
            <a:r>
              <a:rPr lang="it-IT" sz="3200" dirty="0">
                <a:solidFill>
                  <a:schemeClr val="accent5"/>
                </a:solidFill>
              </a:rPr>
              <a:t>for (inizializzazione; espressione booleana; aggiornamento) {</a:t>
            </a:r>
          </a:p>
          <a:p>
            <a:pPr marL="0" indent="0">
              <a:buNone/>
            </a:pPr>
            <a:r>
              <a:rPr lang="it-IT" sz="3200" dirty="0">
                <a:solidFill>
                  <a:schemeClr val="accent5"/>
                </a:solidFill>
              </a:rPr>
              <a:t>    statement_1;</a:t>
            </a:r>
          </a:p>
          <a:p>
            <a:pPr marL="0" indent="0">
              <a:buNone/>
            </a:pPr>
            <a:r>
              <a:rPr lang="it-IT" sz="3200" dirty="0">
                <a:solidFill>
                  <a:schemeClr val="accent5"/>
                </a:solidFill>
              </a:rPr>
              <a:t>    ...........;</a:t>
            </a:r>
          </a:p>
          <a:p>
            <a:pPr marL="0" indent="0">
              <a:buNone/>
            </a:pPr>
            <a:r>
              <a:rPr lang="it-IT" sz="3200" dirty="0">
                <a:solidFill>
                  <a:schemeClr val="accent5"/>
                </a:solidFill>
              </a:rPr>
              <a:t>    </a:t>
            </a:r>
            <a:r>
              <a:rPr lang="it-IT" sz="3200" dirty="0" err="1">
                <a:solidFill>
                  <a:schemeClr val="accent5"/>
                </a:solidFill>
              </a:rPr>
              <a:t>statement_i</a:t>
            </a:r>
            <a:r>
              <a:rPr lang="it-IT" sz="3200" dirty="0">
                <a:solidFill>
                  <a:schemeClr val="accent5"/>
                </a:solidFill>
              </a:rPr>
              <a:t>;</a:t>
            </a:r>
          </a:p>
          <a:p>
            <a:pPr marL="0" indent="0">
              <a:buNone/>
            </a:pPr>
            <a:r>
              <a:rPr lang="it-IT" sz="3200" dirty="0">
                <a:solidFill>
                  <a:schemeClr val="accent5"/>
                </a:solidFill>
              </a:rPr>
              <a:t>}</a:t>
            </a:r>
          </a:p>
          <a:p>
            <a:pPr marL="0" indent="0">
              <a:buNone/>
            </a:pPr>
            <a:endParaRPr lang="it-IT" sz="3200" dirty="0"/>
          </a:p>
          <a:p>
            <a:endParaRPr lang="it-IT" sz="3200"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22</a:t>
            </a:fld>
            <a:endParaRPr lang="it-IT"/>
          </a:p>
        </p:txBody>
      </p:sp>
    </p:spTree>
    <p:extLst>
      <p:ext uri="{BB962C8B-B14F-4D97-AF65-F5344CB8AC3E}">
        <p14:creationId xmlns:p14="http://schemas.microsoft.com/office/powerpoint/2010/main" val="36493361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628650" y="136525"/>
            <a:ext cx="7886700" cy="988156"/>
          </a:xfrm>
        </p:spPr>
        <p:txBody>
          <a:bodyPr/>
          <a:lstStyle/>
          <a:p>
            <a:pPr algn="ctr"/>
            <a:r>
              <a:rPr lang="it-IT" dirty="0"/>
              <a:t>Il costrutto </a:t>
            </a:r>
            <a:r>
              <a:rPr lang="it-IT" i="1" dirty="0"/>
              <a:t>for</a:t>
            </a:r>
          </a:p>
        </p:txBody>
      </p:sp>
      <p:sp>
        <p:nvSpPr>
          <p:cNvPr id="3" name="Segnaposto contenuto 2">
            <a:extLst>
              <a:ext uri="{FF2B5EF4-FFF2-40B4-BE49-F238E27FC236}">
                <a16:creationId xmlns:a16="http://schemas.microsoft.com/office/drawing/2014/main" id="{84CFE59D-E19E-49A0-BEBC-4EE3897DF2B6}"/>
              </a:ext>
            </a:extLst>
          </p:cNvPr>
          <p:cNvSpPr>
            <a:spLocks noGrp="1"/>
          </p:cNvSpPr>
          <p:nvPr>
            <p:ph idx="1"/>
          </p:nvPr>
        </p:nvSpPr>
        <p:spPr>
          <a:xfrm>
            <a:off x="0" y="1124682"/>
            <a:ext cx="9144000" cy="5052282"/>
          </a:xfrm>
        </p:spPr>
        <p:txBody>
          <a:bodyPr>
            <a:normAutofit/>
          </a:bodyPr>
          <a:lstStyle/>
          <a:p>
            <a:pPr marL="0" indent="0">
              <a:buNone/>
            </a:pPr>
            <a:r>
              <a:rPr lang="it-IT" sz="3200" dirty="0">
                <a:solidFill>
                  <a:schemeClr val="accent5"/>
                </a:solidFill>
              </a:rPr>
              <a:t>public class </a:t>
            </a:r>
            <a:r>
              <a:rPr lang="it-IT" sz="3200" dirty="0" err="1">
                <a:solidFill>
                  <a:schemeClr val="accent5"/>
                </a:solidFill>
              </a:rPr>
              <a:t>ForDemo</a:t>
            </a:r>
            <a:r>
              <a:rPr lang="it-IT" sz="3200" dirty="0">
                <a:solidFill>
                  <a:schemeClr val="accent5"/>
                </a:solidFill>
              </a:rPr>
              <a:t> {</a:t>
            </a:r>
          </a:p>
          <a:p>
            <a:pPr marL="0" indent="0">
              <a:buNone/>
            </a:pPr>
            <a:r>
              <a:rPr lang="it-IT" sz="3200" dirty="0">
                <a:solidFill>
                  <a:schemeClr val="accent5"/>
                </a:solidFill>
              </a:rPr>
              <a:t>    public static void main(String args[]) {</a:t>
            </a:r>
          </a:p>
          <a:p>
            <a:pPr marL="0" indent="0">
              <a:buNone/>
            </a:pPr>
            <a:r>
              <a:rPr lang="it-IT" sz="3200" dirty="0">
                <a:solidFill>
                  <a:schemeClr val="accent5"/>
                </a:solidFill>
              </a:rPr>
              <a:t>        for (int n = 10; n &gt; 0; n--) {</a:t>
            </a:r>
          </a:p>
          <a:p>
            <a:pPr marL="0" indent="0">
              <a:buNone/>
            </a:pPr>
            <a:r>
              <a:rPr lang="it-IT" sz="3200" dirty="0">
                <a:solidFill>
                  <a:schemeClr val="accent5"/>
                </a:solidFill>
              </a:rPr>
              <a:t>            System.out.println(n);</a:t>
            </a:r>
          </a:p>
          <a:p>
            <a:pPr marL="0" indent="0">
              <a:buNone/>
            </a:pPr>
            <a:r>
              <a:rPr lang="it-IT" sz="3200" dirty="0">
                <a:solidFill>
                  <a:schemeClr val="accent5"/>
                </a:solidFill>
              </a:rPr>
              <a:t>        }</a:t>
            </a:r>
          </a:p>
          <a:p>
            <a:pPr marL="0" indent="0">
              <a:buNone/>
            </a:pPr>
            <a:r>
              <a:rPr lang="it-IT" sz="3200" dirty="0">
                <a:solidFill>
                  <a:schemeClr val="accent5"/>
                </a:solidFill>
              </a:rPr>
              <a:t>    }</a:t>
            </a:r>
          </a:p>
          <a:p>
            <a:pPr marL="0" indent="0">
              <a:buNone/>
            </a:pPr>
            <a:r>
              <a:rPr lang="it-IT" sz="3200" dirty="0">
                <a:solidFill>
                  <a:schemeClr val="accent5"/>
                </a:solidFill>
              </a:rPr>
              <a:t>}</a:t>
            </a:r>
          </a:p>
          <a:p>
            <a:r>
              <a:rPr lang="it-IT" sz="3200" dirty="0"/>
              <a:t>Sintassi compatta</a:t>
            </a:r>
          </a:p>
          <a:p>
            <a:r>
              <a:rPr lang="it-IT" sz="3200" dirty="0"/>
              <a:t>Variabile locale al ciclo</a:t>
            </a:r>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23</a:t>
            </a:fld>
            <a:endParaRPr lang="it-IT"/>
          </a:p>
        </p:txBody>
      </p:sp>
    </p:spTree>
    <p:extLst>
      <p:ext uri="{BB962C8B-B14F-4D97-AF65-F5344CB8AC3E}">
        <p14:creationId xmlns:p14="http://schemas.microsoft.com/office/powerpoint/2010/main" val="18946144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628650" y="1"/>
            <a:ext cx="7886700" cy="681036"/>
          </a:xfrm>
        </p:spPr>
        <p:txBody>
          <a:bodyPr>
            <a:normAutofit fontScale="90000"/>
          </a:bodyPr>
          <a:lstStyle/>
          <a:p>
            <a:pPr algn="ctr"/>
            <a:r>
              <a:rPr lang="it-IT" dirty="0"/>
              <a:t>Il costrutto </a:t>
            </a:r>
            <a:r>
              <a:rPr lang="it-IT" i="1" dirty="0"/>
              <a:t>for</a:t>
            </a:r>
          </a:p>
        </p:txBody>
      </p:sp>
      <p:sp>
        <p:nvSpPr>
          <p:cNvPr id="3" name="Segnaposto contenuto 2">
            <a:extLst>
              <a:ext uri="{FF2B5EF4-FFF2-40B4-BE49-F238E27FC236}">
                <a16:creationId xmlns:a16="http://schemas.microsoft.com/office/drawing/2014/main" id="{84CFE59D-E19E-49A0-BEBC-4EE3897DF2B6}"/>
              </a:ext>
            </a:extLst>
          </p:cNvPr>
          <p:cNvSpPr>
            <a:spLocks noGrp="1"/>
          </p:cNvSpPr>
          <p:nvPr>
            <p:ph idx="1"/>
          </p:nvPr>
        </p:nvSpPr>
        <p:spPr>
          <a:xfrm>
            <a:off x="0" y="692619"/>
            <a:ext cx="9144000" cy="6165379"/>
          </a:xfrm>
        </p:spPr>
        <p:txBody>
          <a:bodyPr>
            <a:normAutofit fontScale="92500" lnSpcReduction="10000"/>
          </a:bodyPr>
          <a:lstStyle/>
          <a:p>
            <a:pPr marL="0" indent="0">
              <a:buNone/>
            </a:pPr>
            <a:r>
              <a:rPr lang="it-IT" sz="3200" dirty="0">
                <a:solidFill>
                  <a:schemeClr val="accent5"/>
                </a:solidFill>
              </a:rPr>
              <a:t>public void </a:t>
            </a:r>
            <a:r>
              <a:rPr lang="it-IT" sz="3200" dirty="0" err="1">
                <a:solidFill>
                  <a:schemeClr val="accent5"/>
                </a:solidFill>
              </a:rPr>
              <a:t>forMethod</a:t>
            </a:r>
            <a:r>
              <a:rPr lang="it-IT" sz="3200" dirty="0">
                <a:solidFill>
                  <a:schemeClr val="accent5"/>
                </a:solidFill>
              </a:rPr>
              <a:t>(int j) {</a:t>
            </a:r>
          </a:p>
          <a:p>
            <a:pPr marL="0" indent="0">
              <a:buNone/>
            </a:pPr>
            <a:r>
              <a:rPr lang="it-IT" sz="3200" dirty="0">
                <a:solidFill>
                  <a:schemeClr val="accent5"/>
                </a:solidFill>
              </a:rPr>
              <a:t>    int i;</a:t>
            </a:r>
          </a:p>
          <a:p>
            <a:pPr marL="0" indent="0">
              <a:buNone/>
            </a:pPr>
            <a:r>
              <a:rPr lang="it-IT" sz="3200" dirty="0">
                <a:solidFill>
                  <a:schemeClr val="accent5"/>
                </a:solidFill>
              </a:rPr>
              <a:t>    for (i = 0; i &lt; j; ++i) {</a:t>
            </a:r>
          </a:p>
          <a:p>
            <a:pPr marL="0" indent="0">
              <a:buNone/>
            </a:pPr>
            <a:r>
              <a:rPr lang="it-IT" sz="3200" dirty="0">
                <a:solidFill>
                  <a:schemeClr val="accent5"/>
                </a:solidFill>
              </a:rPr>
              <a:t>        System.out.println(i);</a:t>
            </a:r>
          </a:p>
          <a:p>
            <a:pPr marL="0" indent="0">
              <a:buNone/>
            </a:pPr>
            <a:r>
              <a:rPr lang="it-IT" sz="3200" dirty="0">
                <a:solidFill>
                  <a:schemeClr val="accent5"/>
                </a:solidFill>
              </a:rPr>
              <a:t>    }</a:t>
            </a:r>
          </a:p>
          <a:p>
            <a:pPr marL="0" indent="0">
              <a:buNone/>
            </a:pPr>
            <a:r>
              <a:rPr lang="it-IT" sz="3200" dirty="0">
                <a:solidFill>
                  <a:schemeClr val="accent5"/>
                </a:solidFill>
              </a:rPr>
              <a:t>    System.out.println("Numero iterazioni = " + i);</a:t>
            </a:r>
          </a:p>
          <a:p>
            <a:pPr marL="0" indent="0">
              <a:buNone/>
            </a:pPr>
            <a:r>
              <a:rPr lang="it-IT" sz="3200" dirty="0">
                <a:solidFill>
                  <a:schemeClr val="accent5"/>
                </a:solidFill>
              </a:rPr>
              <a:t>}</a:t>
            </a:r>
          </a:p>
          <a:p>
            <a:r>
              <a:rPr lang="it-IT" sz="3200" dirty="0"/>
              <a:t>Da Java 10 possiamo usare anche </a:t>
            </a:r>
            <a:r>
              <a:rPr lang="it-IT" sz="3200" i="1" dirty="0"/>
              <a:t>var</a:t>
            </a:r>
            <a:r>
              <a:rPr lang="it-IT" sz="3200" dirty="0"/>
              <a:t>:</a:t>
            </a:r>
          </a:p>
          <a:p>
            <a:pPr marL="0" indent="0">
              <a:buNone/>
            </a:pPr>
            <a:r>
              <a:rPr lang="it-IT" sz="3200" dirty="0">
                <a:solidFill>
                  <a:schemeClr val="accent5"/>
                </a:solidFill>
              </a:rPr>
              <a:t>String [] strings  = {"Antonio", "Ludwig", "Johann Sebastian", "Piotr"};</a:t>
            </a:r>
          </a:p>
          <a:p>
            <a:pPr marL="0" indent="0">
              <a:buNone/>
            </a:pPr>
            <a:r>
              <a:rPr lang="it-IT" sz="3200" dirty="0">
                <a:solidFill>
                  <a:schemeClr val="accent5"/>
                </a:solidFill>
              </a:rPr>
              <a:t>for (var i = 0; i &lt; </a:t>
            </a:r>
            <a:r>
              <a:rPr lang="it-IT" sz="3200" dirty="0" err="1">
                <a:solidFill>
                  <a:schemeClr val="accent5"/>
                </a:solidFill>
              </a:rPr>
              <a:t>strings.length</a:t>
            </a:r>
            <a:r>
              <a:rPr lang="it-IT" sz="3200" dirty="0">
                <a:solidFill>
                  <a:schemeClr val="accent5"/>
                </a:solidFill>
              </a:rPr>
              <a:t>; i++) {</a:t>
            </a:r>
          </a:p>
          <a:p>
            <a:pPr marL="0" indent="0">
              <a:buNone/>
            </a:pPr>
            <a:r>
              <a:rPr lang="it-IT" sz="3200" dirty="0">
                <a:solidFill>
                  <a:schemeClr val="accent5"/>
                </a:solidFill>
              </a:rPr>
              <a:t>    System.out.println(strings[i]);</a:t>
            </a:r>
          </a:p>
          <a:p>
            <a:pPr marL="0" indent="0">
              <a:buNone/>
            </a:pPr>
            <a:r>
              <a:rPr lang="it-IT" sz="3200" dirty="0">
                <a:solidFill>
                  <a:schemeClr val="accent5"/>
                </a:solidFill>
              </a:rPr>
              <a:t>}</a:t>
            </a:r>
          </a:p>
          <a:p>
            <a:endParaRPr lang="it-IT" sz="3200" dirty="0"/>
          </a:p>
          <a:p>
            <a:pPr marL="0" indent="0">
              <a:buNone/>
            </a:pPr>
            <a:endParaRPr lang="it-IT" sz="3200"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24</a:t>
            </a:fld>
            <a:endParaRPr lang="it-IT"/>
          </a:p>
        </p:txBody>
      </p:sp>
    </p:spTree>
    <p:extLst>
      <p:ext uri="{BB962C8B-B14F-4D97-AF65-F5344CB8AC3E}">
        <p14:creationId xmlns:p14="http://schemas.microsoft.com/office/powerpoint/2010/main" val="21818742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628650" y="1"/>
            <a:ext cx="7886700" cy="681036"/>
          </a:xfrm>
        </p:spPr>
        <p:txBody>
          <a:bodyPr>
            <a:normAutofit fontScale="90000"/>
          </a:bodyPr>
          <a:lstStyle/>
          <a:p>
            <a:pPr algn="ctr"/>
            <a:r>
              <a:rPr lang="it-IT" i="1" dirty="0"/>
              <a:t>for</a:t>
            </a:r>
            <a:r>
              <a:rPr lang="it-IT" dirty="0"/>
              <a:t> o </a:t>
            </a:r>
            <a:r>
              <a:rPr lang="it-IT" i="1" dirty="0"/>
              <a:t>while</a:t>
            </a:r>
            <a:r>
              <a:rPr lang="it-IT" dirty="0"/>
              <a:t>?</a:t>
            </a:r>
          </a:p>
        </p:txBody>
      </p:sp>
      <p:sp>
        <p:nvSpPr>
          <p:cNvPr id="3" name="Segnaposto contenuto 2">
            <a:extLst>
              <a:ext uri="{FF2B5EF4-FFF2-40B4-BE49-F238E27FC236}">
                <a16:creationId xmlns:a16="http://schemas.microsoft.com/office/drawing/2014/main" id="{84CFE59D-E19E-49A0-BEBC-4EE3897DF2B6}"/>
              </a:ext>
            </a:extLst>
          </p:cNvPr>
          <p:cNvSpPr>
            <a:spLocks noGrp="1"/>
          </p:cNvSpPr>
          <p:nvPr>
            <p:ph idx="1"/>
          </p:nvPr>
        </p:nvSpPr>
        <p:spPr>
          <a:xfrm>
            <a:off x="0" y="692619"/>
            <a:ext cx="9144000" cy="6165379"/>
          </a:xfrm>
        </p:spPr>
        <p:txBody>
          <a:bodyPr>
            <a:normAutofit fontScale="77500" lnSpcReduction="20000"/>
          </a:bodyPr>
          <a:lstStyle/>
          <a:p>
            <a:r>
              <a:rPr lang="it-IT" sz="3200" dirty="0"/>
              <a:t>Il costrutto </a:t>
            </a:r>
            <a:r>
              <a:rPr lang="it-IT" sz="3200" i="1" dirty="0"/>
              <a:t>for</a:t>
            </a:r>
            <a:r>
              <a:rPr lang="it-IT" sz="3200" dirty="0"/>
              <a:t> è più utilizzato quando ci sono indici:</a:t>
            </a:r>
          </a:p>
          <a:p>
            <a:pPr marL="0" indent="0">
              <a:buNone/>
            </a:pPr>
            <a:r>
              <a:rPr lang="it-IT" sz="3200" dirty="0">
                <a:solidFill>
                  <a:schemeClr val="accent5"/>
                </a:solidFill>
              </a:rPr>
              <a:t>char alfabeto[] = {'a', 'b', 'c', 'd', 'e', 'f', 'g', 'h', 'i', 'l', m', 'n', 'o', 'p', 'q', 'r', 's', 't', 'u', 'v', 'z'} ;</a:t>
            </a:r>
          </a:p>
          <a:p>
            <a:pPr marL="0" indent="0">
              <a:buNone/>
            </a:pPr>
            <a:r>
              <a:rPr lang="it-IT" sz="3200" dirty="0">
                <a:solidFill>
                  <a:schemeClr val="accent5"/>
                </a:solidFill>
              </a:rPr>
              <a:t>for (int i = 0; i &lt; 21; i++) {</a:t>
            </a:r>
          </a:p>
          <a:p>
            <a:pPr marL="0" indent="0">
              <a:buNone/>
            </a:pPr>
            <a:r>
              <a:rPr lang="it-IT" sz="3200" dirty="0">
                <a:solidFill>
                  <a:schemeClr val="accent5"/>
                </a:solidFill>
              </a:rPr>
              <a:t>    System.out.println(alfabeto[i]);</a:t>
            </a:r>
          </a:p>
          <a:p>
            <a:pPr marL="0" indent="0">
              <a:buNone/>
            </a:pPr>
            <a:r>
              <a:rPr lang="it-IT" sz="3200" dirty="0">
                <a:solidFill>
                  <a:schemeClr val="accent5"/>
                </a:solidFill>
              </a:rPr>
              <a:t>}</a:t>
            </a:r>
          </a:p>
          <a:p>
            <a:r>
              <a:rPr lang="it-IT" sz="3200" dirty="0"/>
              <a:t>Il while per gestire lo </a:t>
            </a:r>
            <a:r>
              <a:rPr lang="it-IT" sz="3200" b="1" dirty="0"/>
              <a:t>stato di un oggetto</a:t>
            </a:r>
            <a:r>
              <a:rPr lang="it-IT" sz="3200" dirty="0"/>
              <a:t> (</a:t>
            </a:r>
            <a:r>
              <a:rPr lang="it-IT" sz="3200" b="1" dirty="0"/>
              <a:t>state </a:t>
            </a:r>
            <a:r>
              <a:rPr lang="it-IT" sz="3200" b="1" dirty="0" err="1"/>
              <a:t>basic</a:t>
            </a:r>
            <a:r>
              <a:rPr lang="it-IT" sz="3200" b="1" dirty="0"/>
              <a:t> </a:t>
            </a:r>
            <a:r>
              <a:rPr lang="it-IT" sz="3200" b="1" dirty="0" err="1"/>
              <a:t>logic</a:t>
            </a:r>
            <a:r>
              <a:rPr lang="it-IT" sz="3200" dirty="0"/>
              <a:t>):</a:t>
            </a:r>
          </a:p>
          <a:p>
            <a:pPr marL="0" indent="0">
              <a:buNone/>
            </a:pPr>
            <a:r>
              <a:rPr lang="it-IT" sz="3200" dirty="0">
                <a:solidFill>
                  <a:schemeClr val="accent5"/>
                </a:solidFill>
              </a:rPr>
              <a:t>public class Interruttore {</a:t>
            </a:r>
          </a:p>
          <a:p>
            <a:pPr marL="0" indent="0">
              <a:buNone/>
            </a:pPr>
            <a:r>
              <a:rPr lang="it-IT" sz="3200" dirty="0">
                <a:solidFill>
                  <a:schemeClr val="accent5"/>
                </a:solidFill>
              </a:rPr>
              <a:t>    public static final int ACCESO = 0;</a:t>
            </a:r>
          </a:p>
          <a:p>
            <a:pPr marL="0" indent="0">
              <a:buNone/>
            </a:pPr>
            <a:r>
              <a:rPr lang="it-IT" sz="3200" dirty="0">
                <a:solidFill>
                  <a:schemeClr val="accent5"/>
                </a:solidFill>
              </a:rPr>
              <a:t>    public static final int SPENTO = 1;</a:t>
            </a:r>
          </a:p>
          <a:p>
            <a:pPr marL="0" indent="0">
              <a:buNone/>
            </a:pPr>
            <a:r>
              <a:rPr lang="it-IT" sz="3200" dirty="0">
                <a:solidFill>
                  <a:schemeClr val="accent5"/>
                </a:solidFill>
              </a:rPr>
              <a:t>    public int posizione;</a:t>
            </a:r>
          </a:p>
          <a:p>
            <a:pPr marL="0" indent="0">
              <a:buNone/>
            </a:pPr>
            <a:r>
              <a:rPr lang="it-IT" sz="3200" dirty="0">
                <a:solidFill>
                  <a:schemeClr val="accent5"/>
                </a:solidFill>
              </a:rPr>
              <a:t>    public void </a:t>
            </a:r>
            <a:r>
              <a:rPr lang="it-IT" sz="3200" dirty="0" err="1">
                <a:solidFill>
                  <a:schemeClr val="accent5"/>
                </a:solidFill>
              </a:rPr>
              <a:t>accendiLampadina</a:t>
            </a:r>
            <a:r>
              <a:rPr lang="it-IT" sz="3200" dirty="0">
                <a:solidFill>
                  <a:schemeClr val="accent5"/>
                </a:solidFill>
              </a:rPr>
              <a:t>() {</a:t>
            </a:r>
          </a:p>
          <a:p>
            <a:pPr marL="0" indent="0">
              <a:buNone/>
            </a:pPr>
            <a:r>
              <a:rPr lang="it-IT" sz="3200" dirty="0">
                <a:solidFill>
                  <a:schemeClr val="accent5"/>
                </a:solidFill>
              </a:rPr>
              <a:t>        while (</a:t>
            </a:r>
            <a:r>
              <a:rPr lang="it-IT" sz="3200" dirty="0" err="1">
                <a:solidFill>
                  <a:schemeClr val="accent5"/>
                </a:solidFill>
              </a:rPr>
              <a:t>interruttore.posizione</a:t>
            </a:r>
            <a:r>
              <a:rPr lang="it-IT" sz="3200" dirty="0">
                <a:solidFill>
                  <a:schemeClr val="accent5"/>
                </a:solidFill>
              </a:rPr>
              <a:t> == ACCESO) {</a:t>
            </a:r>
          </a:p>
          <a:p>
            <a:pPr marL="0" indent="0">
              <a:buNone/>
            </a:pPr>
            <a:r>
              <a:rPr lang="it-IT" sz="3200" dirty="0">
                <a:solidFill>
                  <a:schemeClr val="accent5"/>
                </a:solidFill>
              </a:rPr>
              <a:t>            // codice omesso</a:t>
            </a:r>
          </a:p>
          <a:p>
            <a:pPr marL="0" indent="0">
              <a:buNone/>
            </a:pPr>
            <a:r>
              <a:rPr lang="it-IT" sz="3200" dirty="0">
                <a:solidFill>
                  <a:schemeClr val="accent5"/>
                </a:solidFill>
              </a:rPr>
              <a:t>        }</a:t>
            </a:r>
          </a:p>
          <a:p>
            <a:pPr marL="0" indent="0">
              <a:buNone/>
            </a:pPr>
            <a:r>
              <a:rPr lang="it-IT" sz="3200" dirty="0">
                <a:solidFill>
                  <a:schemeClr val="accent5"/>
                </a:solidFill>
              </a:rPr>
              <a:t>    }</a:t>
            </a:r>
          </a:p>
          <a:p>
            <a:pPr marL="0" indent="0">
              <a:buNone/>
            </a:pPr>
            <a:r>
              <a:rPr lang="it-IT" sz="3200" dirty="0">
                <a:solidFill>
                  <a:schemeClr val="accent5"/>
                </a:solidFill>
              </a:rPr>
              <a:t>}</a:t>
            </a:r>
          </a:p>
          <a:p>
            <a:pPr marL="0" indent="0">
              <a:buNone/>
            </a:pPr>
            <a:endParaRPr lang="it-IT" sz="3200" dirty="0"/>
          </a:p>
          <a:p>
            <a:endParaRPr lang="it-IT" sz="3200" dirty="0"/>
          </a:p>
          <a:p>
            <a:endParaRPr lang="it-IT" sz="3200" dirty="0"/>
          </a:p>
          <a:p>
            <a:pPr marL="0" indent="0">
              <a:buNone/>
            </a:pPr>
            <a:endParaRPr lang="it-IT" sz="3200"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25</a:t>
            </a:fld>
            <a:endParaRPr lang="it-IT"/>
          </a:p>
        </p:txBody>
      </p:sp>
    </p:spTree>
    <p:extLst>
      <p:ext uri="{BB962C8B-B14F-4D97-AF65-F5344CB8AC3E}">
        <p14:creationId xmlns:p14="http://schemas.microsoft.com/office/powerpoint/2010/main" val="15703087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628650" y="136525"/>
            <a:ext cx="7886700" cy="988156"/>
          </a:xfrm>
        </p:spPr>
        <p:txBody>
          <a:bodyPr/>
          <a:lstStyle/>
          <a:p>
            <a:pPr algn="ctr"/>
            <a:r>
              <a:rPr lang="it-IT" dirty="0"/>
              <a:t>Il costrutto </a:t>
            </a:r>
            <a:r>
              <a:rPr lang="it-IT" i="1" dirty="0"/>
              <a:t>do</a:t>
            </a:r>
          </a:p>
        </p:txBody>
      </p:sp>
      <p:sp>
        <p:nvSpPr>
          <p:cNvPr id="3" name="Segnaposto contenuto 2">
            <a:extLst>
              <a:ext uri="{FF2B5EF4-FFF2-40B4-BE49-F238E27FC236}">
                <a16:creationId xmlns:a16="http://schemas.microsoft.com/office/drawing/2014/main" id="{84CFE59D-E19E-49A0-BEBC-4EE3897DF2B6}"/>
              </a:ext>
            </a:extLst>
          </p:cNvPr>
          <p:cNvSpPr>
            <a:spLocks noGrp="1"/>
          </p:cNvSpPr>
          <p:nvPr>
            <p:ph idx="1"/>
          </p:nvPr>
        </p:nvSpPr>
        <p:spPr>
          <a:xfrm>
            <a:off x="0" y="1124682"/>
            <a:ext cx="9144000" cy="5052282"/>
          </a:xfrm>
        </p:spPr>
        <p:txBody>
          <a:bodyPr>
            <a:normAutofit lnSpcReduction="10000"/>
          </a:bodyPr>
          <a:lstStyle/>
          <a:p>
            <a:pPr marL="0" indent="0">
              <a:buNone/>
            </a:pPr>
            <a:r>
              <a:rPr lang="it-IT" sz="3200" dirty="0">
                <a:solidFill>
                  <a:schemeClr val="accent5"/>
                </a:solidFill>
              </a:rPr>
              <a:t>[inizializzazione;]</a:t>
            </a:r>
          </a:p>
          <a:p>
            <a:pPr marL="0" indent="0">
              <a:buNone/>
            </a:pPr>
            <a:r>
              <a:rPr lang="it-IT" sz="3200" dirty="0">
                <a:solidFill>
                  <a:schemeClr val="accent5"/>
                </a:solidFill>
              </a:rPr>
              <a:t>do {</a:t>
            </a:r>
          </a:p>
          <a:p>
            <a:pPr marL="0" indent="0">
              <a:buNone/>
            </a:pPr>
            <a:r>
              <a:rPr lang="it-IT" sz="3200" dirty="0">
                <a:solidFill>
                  <a:schemeClr val="accent5"/>
                </a:solidFill>
              </a:rPr>
              <a:t>    istruzione_1;</a:t>
            </a:r>
          </a:p>
          <a:p>
            <a:pPr marL="0" indent="0">
              <a:buNone/>
            </a:pPr>
            <a:r>
              <a:rPr lang="it-IT" sz="3200" dirty="0">
                <a:solidFill>
                  <a:schemeClr val="accent5"/>
                </a:solidFill>
              </a:rPr>
              <a:t>    istruzione_2;</a:t>
            </a:r>
          </a:p>
          <a:p>
            <a:pPr marL="0" indent="0">
              <a:buNone/>
            </a:pPr>
            <a:r>
              <a:rPr lang="it-IT" sz="3200" dirty="0">
                <a:solidFill>
                  <a:schemeClr val="accent5"/>
                </a:solidFill>
              </a:rPr>
              <a:t>    ............;</a:t>
            </a:r>
          </a:p>
          <a:p>
            <a:pPr marL="0" indent="0">
              <a:buNone/>
            </a:pPr>
            <a:r>
              <a:rPr lang="it-IT" sz="3200" dirty="0">
                <a:solidFill>
                  <a:schemeClr val="accent5"/>
                </a:solidFill>
              </a:rPr>
              <a:t>    </a:t>
            </a:r>
            <a:r>
              <a:rPr lang="it-IT" sz="3200" dirty="0" err="1">
                <a:solidFill>
                  <a:schemeClr val="accent5"/>
                </a:solidFill>
              </a:rPr>
              <a:t>istruzione_i</a:t>
            </a:r>
            <a:r>
              <a:rPr lang="it-IT" sz="3200" dirty="0">
                <a:solidFill>
                  <a:schemeClr val="accent5"/>
                </a:solidFill>
              </a:rPr>
              <a:t>;</a:t>
            </a:r>
          </a:p>
          <a:p>
            <a:pPr marL="0" indent="0">
              <a:buNone/>
            </a:pPr>
            <a:r>
              <a:rPr lang="it-IT" sz="3200" dirty="0">
                <a:solidFill>
                  <a:schemeClr val="accent5"/>
                </a:solidFill>
              </a:rPr>
              <a:t>    [aggiornamento iterazione;]</a:t>
            </a:r>
          </a:p>
          <a:p>
            <a:pPr marL="0" indent="0">
              <a:buNone/>
            </a:pPr>
            <a:r>
              <a:rPr lang="it-IT" sz="3200" dirty="0">
                <a:solidFill>
                  <a:schemeClr val="accent5"/>
                </a:solidFill>
              </a:rPr>
              <a:t>} while (espressione booleana);</a:t>
            </a:r>
          </a:p>
          <a:p>
            <a:r>
              <a:rPr lang="it-IT" sz="3200" dirty="0"/>
              <a:t>Ciclo meno utilizzato</a:t>
            </a:r>
          </a:p>
          <a:p>
            <a:r>
              <a:rPr lang="it-IT" sz="3200" dirty="0"/>
              <a:t>Almeno una iterazione viene sempre eseguita</a:t>
            </a:r>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26</a:t>
            </a:fld>
            <a:endParaRPr lang="it-IT"/>
          </a:p>
        </p:txBody>
      </p:sp>
    </p:spTree>
    <p:extLst>
      <p:ext uri="{BB962C8B-B14F-4D97-AF65-F5344CB8AC3E}">
        <p14:creationId xmlns:p14="http://schemas.microsoft.com/office/powerpoint/2010/main" val="38338833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628650" y="136525"/>
            <a:ext cx="7886700" cy="988156"/>
          </a:xfrm>
        </p:spPr>
        <p:txBody>
          <a:bodyPr/>
          <a:lstStyle/>
          <a:p>
            <a:pPr algn="ctr"/>
            <a:r>
              <a:rPr lang="it-IT" dirty="0"/>
              <a:t>Il costrutto </a:t>
            </a:r>
            <a:r>
              <a:rPr lang="it-IT" i="1" dirty="0"/>
              <a:t>do</a:t>
            </a:r>
          </a:p>
        </p:txBody>
      </p:sp>
      <p:sp>
        <p:nvSpPr>
          <p:cNvPr id="3" name="Segnaposto contenuto 2">
            <a:extLst>
              <a:ext uri="{FF2B5EF4-FFF2-40B4-BE49-F238E27FC236}">
                <a16:creationId xmlns:a16="http://schemas.microsoft.com/office/drawing/2014/main" id="{84CFE59D-E19E-49A0-BEBC-4EE3897DF2B6}"/>
              </a:ext>
            </a:extLst>
          </p:cNvPr>
          <p:cNvSpPr>
            <a:spLocks noGrp="1"/>
          </p:cNvSpPr>
          <p:nvPr>
            <p:ph idx="1"/>
          </p:nvPr>
        </p:nvSpPr>
        <p:spPr>
          <a:xfrm>
            <a:off x="0" y="1124682"/>
            <a:ext cx="9144000" cy="5400748"/>
          </a:xfrm>
        </p:spPr>
        <p:txBody>
          <a:bodyPr>
            <a:normAutofit fontScale="92500" lnSpcReduction="20000"/>
          </a:bodyPr>
          <a:lstStyle/>
          <a:p>
            <a:pPr marL="0" indent="0">
              <a:buNone/>
            </a:pPr>
            <a:r>
              <a:rPr lang="it-IT" sz="3200" dirty="0">
                <a:solidFill>
                  <a:schemeClr val="tx1"/>
                </a:solidFill>
              </a:rPr>
              <a:t>L’output del seguente mini-programma:</a:t>
            </a:r>
          </a:p>
          <a:p>
            <a:pPr marL="0" indent="0">
              <a:buNone/>
            </a:pPr>
            <a:r>
              <a:rPr lang="it-IT" sz="3200" dirty="0">
                <a:solidFill>
                  <a:schemeClr val="accent5"/>
                </a:solidFill>
              </a:rPr>
              <a:t>public class </a:t>
            </a:r>
            <a:r>
              <a:rPr lang="it-IT" sz="3200" dirty="0" err="1">
                <a:solidFill>
                  <a:schemeClr val="accent5"/>
                </a:solidFill>
              </a:rPr>
              <a:t>DoWhile</a:t>
            </a:r>
            <a:r>
              <a:rPr lang="it-IT" sz="3200" dirty="0">
                <a:solidFill>
                  <a:schemeClr val="accent5"/>
                </a:solidFill>
              </a:rPr>
              <a:t> {</a:t>
            </a:r>
          </a:p>
          <a:p>
            <a:pPr marL="0" indent="0">
              <a:buNone/>
            </a:pPr>
            <a:r>
              <a:rPr lang="it-IT" sz="3200" dirty="0">
                <a:solidFill>
                  <a:schemeClr val="accent5"/>
                </a:solidFill>
              </a:rPr>
              <a:t>    public static void main(String args[]) {</a:t>
            </a:r>
          </a:p>
          <a:p>
            <a:pPr marL="0" indent="0">
              <a:buNone/>
            </a:pPr>
            <a:r>
              <a:rPr lang="it-IT" sz="3200" dirty="0">
                <a:solidFill>
                  <a:schemeClr val="accent5"/>
                </a:solidFill>
              </a:rPr>
              <a:t>        int i = 10;</a:t>
            </a:r>
          </a:p>
          <a:p>
            <a:pPr marL="0" indent="0">
              <a:buNone/>
            </a:pPr>
            <a:r>
              <a:rPr lang="it-IT" sz="3200" dirty="0">
                <a:solidFill>
                  <a:schemeClr val="accent5"/>
                </a:solidFill>
              </a:rPr>
              <a:t>        do {</a:t>
            </a:r>
          </a:p>
          <a:p>
            <a:pPr marL="0" indent="0">
              <a:buNone/>
            </a:pPr>
            <a:r>
              <a:rPr lang="it-IT" sz="3200" dirty="0">
                <a:solidFill>
                  <a:schemeClr val="accent5"/>
                </a:solidFill>
              </a:rPr>
              <a:t>            System.out.println(i);</a:t>
            </a:r>
          </a:p>
          <a:p>
            <a:pPr marL="0" indent="0">
              <a:buNone/>
            </a:pPr>
            <a:r>
              <a:rPr lang="it-IT" sz="3200" dirty="0">
                <a:solidFill>
                  <a:schemeClr val="accent5"/>
                </a:solidFill>
              </a:rPr>
              <a:t>        } while(i &lt; 10);</a:t>
            </a:r>
          </a:p>
          <a:p>
            <a:pPr marL="0" indent="0">
              <a:buNone/>
            </a:pPr>
            <a:r>
              <a:rPr lang="it-IT" sz="3200" dirty="0">
                <a:solidFill>
                  <a:schemeClr val="accent5"/>
                </a:solidFill>
              </a:rPr>
              <a:t>    }</a:t>
            </a:r>
          </a:p>
          <a:p>
            <a:pPr marL="0" indent="0">
              <a:buNone/>
            </a:pPr>
            <a:r>
              <a:rPr lang="it-IT" sz="3200" dirty="0">
                <a:solidFill>
                  <a:schemeClr val="accent5"/>
                </a:solidFill>
              </a:rPr>
              <a:t>}</a:t>
            </a:r>
          </a:p>
          <a:p>
            <a:pPr marL="0" indent="0">
              <a:buNone/>
            </a:pPr>
            <a:r>
              <a:rPr lang="it-IT" sz="3200" dirty="0">
                <a:solidFill>
                  <a:schemeClr val="tx1"/>
                </a:solidFill>
              </a:rPr>
              <a:t>è:</a:t>
            </a:r>
          </a:p>
          <a:p>
            <a:pPr marL="0" indent="0">
              <a:buNone/>
            </a:pPr>
            <a:r>
              <a:rPr lang="it-IT" sz="3200" dirty="0">
                <a:solidFill>
                  <a:schemeClr val="accent3"/>
                </a:solidFill>
              </a:rPr>
              <a:t>10</a:t>
            </a:r>
          </a:p>
          <a:p>
            <a:pPr marL="0" indent="0">
              <a:buNone/>
            </a:pPr>
            <a:r>
              <a:rPr lang="it-IT" sz="3200" dirty="0">
                <a:solidFill>
                  <a:schemeClr val="tx1"/>
                </a:solidFill>
              </a:rPr>
              <a:t>Quindi la prima iterazione è stata comunque eseguita. </a:t>
            </a:r>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27</a:t>
            </a:fld>
            <a:endParaRPr lang="it-IT"/>
          </a:p>
        </p:txBody>
      </p:sp>
    </p:spTree>
    <p:extLst>
      <p:ext uri="{BB962C8B-B14F-4D97-AF65-F5344CB8AC3E}">
        <p14:creationId xmlns:p14="http://schemas.microsoft.com/office/powerpoint/2010/main" val="19901882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628650" y="136525"/>
            <a:ext cx="7886700" cy="988156"/>
          </a:xfrm>
        </p:spPr>
        <p:txBody>
          <a:bodyPr/>
          <a:lstStyle/>
          <a:p>
            <a:pPr algn="ctr"/>
            <a:r>
              <a:rPr lang="it-IT" dirty="0"/>
              <a:t>Ciclo </a:t>
            </a:r>
            <a:r>
              <a:rPr lang="it-IT" i="1" dirty="0"/>
              <a:t>for</a:t>
            </a:r>
            <a:r>
              <a:rPr lang="it-IT" dirty="0"/>
              <a:t> migliorato (foreach)</a:t>
            </a:r>
          </a:p>
        </p:txBody>
      </p:sp>
      <p:sp>
        <p:nvSpPr>
          <p:cNvPr id="3" name="Segnaposto contenuto 2">
            <a:extLst>
              <a:ext uri="{FF2B5EF4-FFF2-40B4-BE49-F238E27FC236}">
                <a16:creationId xmlns:a16="http://schemas.microsoft.com/office/drawing/2014/main" id="{84CFE59D-E19E-49A0-BEBC-4EE3897DF2B6}"/>
              </a:ext>
            </a:extLst>
          </p:cNvPr>
          <p:cNvSpPr>
            <a:spLocks noGrp="1"/>
          </p:cNvSpPr>
          <p:nvPr>
            <p:ph idx="1"/>
          </p:nvPr>
        </p:nvSpPr>
        <p:spPr>
          <a:xfrm>
            <a:off x="0" y="1124682"/>
            <a:ext cx="9144000" cy="5400748"/>
          </a:xfrm>
        </p:spPr>
        <p:txBody>
          <a:bodyPr>
            <a:normAutofit fontScale="85000" lnSpcReduction="20000"/>
          </a:bodyPr>
          <a:lstStyle/>
          <a:p>
            <a:r>
              <a:rPr lang="it-IT" sz="3200" dirty="0">
                <a:solidFill>
                  <a:schemeClr val="tx1"/>
                </a:solidFill>
              </a:rPr>
              <a:t>Enhanced for (sarebbe meglio dire semplificato)</a:t>
            </a:r>
          </a:p>
          <a:p>
            <a:pPr marL="0" indent="0">
              <a:buNone/>
            </a:pPr>
            <a:r>
              <a:rPr lang="it-IT" sz="3200" dirty="0">
                <a:solidFill>
                  <a:schemeClr val="accent5"/>
                </a:solidFill>
              </a:rPr>
              <a:t>for (</a:t>
            </a:r>
            <a:r>
              <a:rPr lang="it-IT" sz="3200" dirty="0" err="1">
                <a:solidFill>
                  <a:schemeClr val="accent5"/>
                </a:solidFill>
              </a:rPr>
              <a:t>variabile_temporanea</a:t>
            </a:r>
            <a:r>
              <a:rPr lang="it-IT" sz="3200" dirty="0">
                <a:solidFill>
                  <a:schemeClr val="accent5"/>
                </a:solidFill>
              </a:rPr>
              <a:t> : </a:t>
            </a:r>
            <a:r>
              <a:rPr lang="it-IT" sz="3200" dirty="0" err="1">
                <a:solidFill>
                  <a:schemeClr val="accent5"/>
                </a:solidFill>
              </a:rPr>
              <a:t>oggetto_iterabile</a:t>
            </a:r>
            <a:r>
              <a:rPr lang="it-IT" sz="3200" dirty="0">
                <a:solidFill>
                  <a:schemeClr val="accent5"/>
                </a:solidFill>
              </a:rPr>
              <a:t>) {</a:t>
            </a:r>
          </a:p>
          <a:p>
            <a:pPr marL="0" indent="0">
              <a:buNone/>
            </a:pPr>
            <a:r>
              <a:rPr lang="it-IT" sz="3200" dirty="0">
                <a:solidFill>
                  <a:schemeClr val="accent5"/>
                </a:solidFill>
              </a:rPr>
              <a:t>    istruzione_1;</a:t>
            </a:r>
          </a:p>
          <a:p>
            <a:pPr marL="0" indent="0">
              <a:buNone/>
            </a:pPr>
            <a:r>
              <a:rPr lang="it-IT" sz="3200" dirty="0">
                <a:solidFill>
                  <a:schemeClr val="accent5"/>
                </a:solidFill>
              </a:rPr>
              <a:t>    istruzione_2;</a:t>
            </a:r>
          </a:p>
          <a:p>
            <a:pPr marL="0" indent="0">
              <a:buNone/>
            </a:pPr>
            <a:r>
              <a:rPr lang="it-IT" sz="3200" dirty="0">
                <a:solidFill>
                  <a:schemeClr val="accent5"/>
                </a:solidFill>
              </a:rPr>
              <a:t>    ............;</a:t>
            </a:r>
          </a:p>
          <a:p>
            <a:pPr marL="0" indent="0">
              <a:buNone/>
            </a:pPr>
            <a:r>
              <a:rPr lang="it-IT" sz="3200" dirty="0">
                <a:solidFill>
                  <a:schemeClr val="accent5"/>
                </a:solidFill>
              </a:rPr>
              <a:t>    </a:t>
            </a:r>
            <a:r>
              <a:rPr lang="it-IT" sz="3200" dirty="0" err="1">
                <a:solidFill>
                  <a:schemeClr val="accent5"/>
                </a:solidFill>
              </a:rPr>
              <a:t>istruzione_i</a:t>
            </a:r>
            <a:r>
              <a:rPr lang="it-IT" sz="3200" dirty="0">
                <a:solidFill>
                  <a:schemeClr val="accent5"/>
                </a:solidFill>
              </a:rPr>
              <a:t>;</a:t>
            </a:r>
          </a:p>
          <a:p>
            <a:pPr marL="0" indent="0">
              <a:buNone/>
            </a:pPr>
            <a:r>
              <a:rPr lang="it-IT" sz="3200" dirty="0">
                <a:solidFill>
                  <a:schemeClr val="accent5"/>
                </a:solidFill>
              </a:rPr>
              <a:t>}</a:t>
            </a:r>
          </a:p>
          <a:p>
            <a:pPr marL="0" indent="0">
              <a:buNone/>
            </a:pPr>
            <a:r>
              <a:rPr lang="it-IT" sz="3200" dirty="0">
                <a:solidFill>
                  <a:schemeClr val="tx1"/>
                </a:solidFill>
              </a:rPr>
              <a:t>Per esempio</a:t>
            </a:r>
          </a:p>
          <a:p>
            <a:pPr marL="0" indent="0">
              <a:buNone/>
            </a:pPr>
            <a:r>
              <a:rPr lang="it-IT" sz="3200" dirty="0">
                <a:solidFill>
                  <a:schemeClr val="accent5"/>
                </a:solidFill>
              </a:rPr>
              <a:t>int [] </a:t>
            </a:r>
            <a:r>
              <a:rPr lang="it-IT" sz="3200" dirty="0" err="1">
                <a:solidFill>
                  <a:schemeClr val="accent5"/>
                </a:solidFill>
              </a:rPr>
              <a:t>arr</a:t>
            </a:r>
            <a:r>
              <a:rPr lang="it-IT" sz="3200" dirty="0">
                <a:solidFill>
                  <a:schemeClr val="accent5"/>
                </a:solidFill>
              </a:rPr>
              <a:t> = {1,2,3,4,5,6,7,8,9};</a:t>
            </a:r>
          </a:p>
          <a:p>
            <a:pPr marL="0" indent="0">
              <a:buNone/>
            </a:pPr>
            <a:r>
              <a:rPr lang="it-IT" sz="3200" dirty="0">
                <a:solidFill>
                  <a:schemeClr val="accent5"/>
                </a:solidFill>
              </a:rPr>
              <a:t>for (int tmp : </a:t>
            </a:r>
            <a:r>
              <a:rPr lang="it-IT" sz="3200" dirty="0" err="1">
                <a:solidFill>
                  <a:schemeClr val="accent5"/>
                </a:solidFill>
              </a:rPr>
              <a:t>arr</a:t>
            </a:r>
            <a:r>
              <a:rPr lang="it-IT" sz="3200" dirty="0">
                <a:solidFill>
                  <a:schemeClr val="accent5"/>
                </a:solidFill>
              </a:rPr>
              <a:t>) {</a:t>
            </a:r>
          </a:p>
          <a:p>
            <a:pPr marL="0" indent="0">
              <a:buNone/>
            </a:pPr>
            <a:r>
              <a:rPr lang="it-IT" sz="3200" dirty="0">
                <a:solidFill>
                  <a:schemeClr val="accent5"/>
                </a:solidFill>
              </a:rPr>
              <a:t>    System.out.println(tmp);</a:t>
            </a:r>
          </a:p>
          <a:p>
            <a:pPr marL="0" indent="0">
              <a:buNone/>
            </a:pPr>
            <a:r>
              <a:rPr lang="it-IT" sz="3200" dirty="0">
                <a:solidFill>
                  <a:schemeClr val="accent5"/>
                </a:solidFill>
              </a:rPr>
              <a:t>}</a:t>
            </a:r>
          </a:p>
          <a:p>
            <a:pPr marL="0" indent="0">
              <a:buNone/>
            </a:pPr>
            <a:r>
              <a:rPr lang="it-IT" sz="3200" dirty="0">
                <a:solidFill>
                  <a:schemeClr val="tx1"/>
                </a:solidFill>
              </a:rPr>
              <a:t>Funziona sugli oggetti «</a:t>
            </a:r>
            <a:r>
              <a:rPr lang="it-IT" sz="3200" dirty="0" err="1">
                <a:solidFill>
                  <a:schemeClr val="tx1"/>
                </a:solidFill>
              </a:rPr>
              <a:t>iterable</a:t>
            </a:r>
            <a:r>
              <a:rPr lang="it-IT" sz="3200" dirty="0">
                <a:solidFill>
                  <a:schemeClr val="tx1"/>
                </a:solidFill>
              </a:rPr>
              <a:t>»</a:t>
            </a:r>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28</a:t>
            </a:fld>
            <a:endParaRPr lang="it-IT"/>
          </a:p>
        </p:txBody>
      </p:sp>
    </p:spTree>
    <p:extLst>
      <p:ext uri="{BB962C8B-B14F-4D97-AF65-F5344CB8AC3E}">
        <p14:creationId xmlns:p14="http://schemas.microsoft.com/office/powerpoint/2010/main" val="9024460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628650" y="136525"/>
            <a:ext cx="7886700" cy="988156"/>
          </a:xfrm>
        </p:spPr>
        <p:txBody>
          <a:bodyPr>
            <a:normAutofit fontScale="90000"/>
          </a:bodyPr>
          <a:lstStyle/>
          <a:p>
            <a:pPr algn="ctr"/>
            <a:r>
              <a:rPr lang="it-IT" dirty="0"/>
              <a:t>L’operatore ternario (o condizionale)</a:t>
            </a:r>
          </a:p>
        </p:txBody>
      </p:sp>
      <p:sp>
        <p:nvSpPr>
          <p:cNvPr id="3" name="Segnaposto contenuto 2">
            <a:extLst>
              <a:ext uri="{FF2B5EF4-FFF2-40B4-BE49-F238E27FC236}">
                <a16:creationId xmlns:a16="http://schemas.microsoft.com/office/drawing/2014/main" id="{84CFE59D-E19E-49A0-BEBC-4EE3897DF2B6}"/>
              </a:ext>
            </a:extLst>
          </p:cNvPr>
          <p:cNvSpPr>
            <a:spLocks noGrp="1"/>
          </p:cNvSpPr>
          <p:nvPr>
            <p:ph idx="1"/>
          </p:nvPr>
        </p:nvSpPr>
        <p:spPr>
          <a:xfrm>
            <a:off x="0" y="1628752"/>
            <a:ext cx="9144000" cy="5092723"/>
          </a:xfrm>
        </p:spPr>
        <p:txBody>
          <a:bodyPr>
            <a:normAutofit/>
          </a:bodyPr>
          <a:lstStyle/>
          <a:p>
            <a:pPr marL="0" indent="0">
              <a:buNone/>
            </a:pPr>
            <a:r>
              <a:rPr lang="it-IT" sz="3200" dirty="0">
                <a:solidFill>
                  <a:schemeClr val="tx1"/>
                </a:solidFill>
              </a:rPr>
              <a:t>È un operatore che può sostituire a volte una condizione:</a:t>
            </a:r>
          </a:p>
          <a:p>
            <a:pPr marL="0" indent="0">
              <a:buNone/>
            </a:pPr>
            <a:r>
              <a:rPr lang="it-IT" sz="3200" dirty="0">
                <a:solidFill>
                  <a:schemeClr val="accent5"/>
                </a:solidFill>
              </a:rPr>
              <a:t>variabile = (espressione-booleana) ? espr1 : espr2;</a:t>
            </a:r>
          </a:p>
          <a:p>
            <a:pPr marL="0" indent="0">
              <a:buNone/>
            </a:pPr>
            <a:r>
              <a:rPr lang="it-IT" sz="3200" dirty="0">
                <a:solidFill>
                  <a:schemeClr val="tx1"/>
                </a:solidFill>
              </a:rPr>
              <a:t>che il tipo della variabile e quello restituito da </a:t>
            </a:r>
            <a:r>
              <a:rPr lang="it-IT" sz="3200" i="1" dirty="0">
                <a:solidFill>
                  <a:schemeClr val="tx1"/>
                </a:solidFill>
              </a:rPr>
              <a:t>espr1</a:t>
            </a:r>
            <a:r>
              <a:rPr lang="it-IT" sz="3200" dirty="0">
                <a:solidFill>
                  <a:schemeClr val="tx1"/>
                </a:solidFill>
              </a:rPr>
              <a:t> ed </a:t>
            </a:r>
            <a:r>
              <a:rPr lang="it-IT" sz="3200" i="1" dirty="0">
                <a:solidFill>
                  <a:schemeClr val="tx1"/>
                </a:solidFill>
              </a:rPr>
              <a:t>espr2</a:t>
            </a:r>
            <a:r>
              <a:rPr lang="it-IT" sz="3200" dirty="0">
                <a:solidFill>
                  <a:schemeClr val="tx1"/>
                </a:solidFill>
              </a:rPr>
              <a:t> siano compatibili.</a:t>
            </a:r>
          </a:p>
          <a:p>
            <a:pPr marL="0" indent="0">
              <a:buNone/>
            </a:pPr>
            <a:r>
              <a:rPr lang="it-IT" sz="3200" dirty="0">
                <a:solidFill>
                  <a:schemeClr val="tx1"/>
                </a:solidFill>
              </a:rPr>
              <a:t>Viene usato come espressione:</a:t>
            </a:r>
          </a:p>
          <a:p>
            <a:pPr marL="0" indent="0">
              <a:buNone/>
            </a:pPr>
            <a:r>
              <a:rPr lang="en-US" sz="3200" dirty="0">
                <a:solidFill>
                  <a:schemeClr val="accent5"/>
                </a:solidFill>
              </a:rPr>
              <a:t>String query = "select * from table" + </a:t>
            </a:r>
          </a:p>
          <a:p>
            <a:pPr marL="0" indent="0">
              <a:buNone/>
            </a:pPr>
            <a:r>
              <a:rPr lang="en-US" sz="3200" dirty="0">
                <a:solidFill>
                  <a:schemeClr val="accent5"/>
                </a:solidFill>
              </a:rPr>
              <a:t>    (condition != null ? " where " + condition : "");</a:t>
            </a:r>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29</a:t>
            </a:fld>
            <a:endParaRPr lang="it-IT"/>
          </a:p>
        </p:txBody>
      </p:sp>
    </p:spTree>
    <p:extLst>
      <p:ext uri="{BB962C8B-B14F-4D97-AF65-F5344CB8AC3E}">
        <p14:creationId xmlns:p14="http://schemas.microsoft.com/office/powerpoint/2010/main" val="12768768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628650" y="136525"/>
            <a:ext cx="7886700" cy="988156"/>
          </a:xfrm>
        </p:spPr>
        <p:txBody>
          <a:bodyPr>
            <a:normAutofit/>
          </a:bodyPr>
          <a:lstStyle/>
          <a:p>
            <a:pPr algn="ctr"/>
            <a:r>
              <a:rPr lang="it-IT" dirty="0"/>
              <a:t>La parola chiave </a:t>
            </a:r>
            <a:r>
              <a:rPr lang="it-IT" i="1" dirty="0"/>
              <a:t>break</a:t>
            </a:r>
          </a:p>
        </p:txBody>
      </p:sp>
      <p:sp>
        <p:nvSpPr>
          <p:cNvPr id="3" name="Segnaposto contenuto 2">
            <a:extLst>
              <a:ext uri="{FF2B5EF4-FFF2-40B4-BE49-F238E27FC236}">
                <a16:creationId xmlns:a16="http://schemas.microsoft.com/office/drawing/2014/main" id="{84CFE59D-E19E-49A0-BEBC-4EE3897DF2B6}"/>
              </a:ext>
            </a:extLst>
          </p:cNvPr>
          <p:cNvSpPr>
            <a:spLocks noGrp="1"/>
          </p:cNvSpPr>
          <p:nvPr>
            <p:ph idx="1"/>
          </p:nvPr>
        </p:nvSpPr>
        <p:spPr>
          <a:xfrm>
            <a:off x="0" y="1124682"/>
            <a:ext cx="9144000" cy="5596794"/>
          </a:xfrm>
        </p:spPr>
        <p:txBody>
          <a:bodyPr>
            <a:normAutofit/>
          </a:bodyPr>
          <a:lstStyle/>
          <a:p>
            <a:pPr marL="0" indent="0">
              <a:buNone/>
            </a:pPr>
            <a:r>
              <a:rPr lang="it-IT" sz="3200" dirty="0">
                <a:solidFill>
                  <a:schemeClr val="tx1"/>
                </a:solidFill>
              </a:rPr>
              <a:t>La parola </a:t>
            </a:r>
            <a:r>
              <a:rPr lang="it-IT" sz="3200" i="1" dirty="0">
                <a:solidFill>
                  <a:schemeClr val="tx1"/>
                </a:solidFill>
              </a:rPr>
              <a:t>break</a:t>
            </a:r>
            <a:r>
              <a:rPr lang="it-IT" sz="3200" dirty="0">
                <a:solidFill>
                  <a:schemeClr val="tx1"/>
                </a:solidFill>
              </a:rPr>
              <a:t> può far terminare un qualsiasi ciclo:</a:t>
            </a:r>
          </a:p>
          <a:p>
            <a:pPr marL="0" indent="0">
              <a:buNone/>
            </a:pPr>
            <a:r>
              <a:rPr lang="it-IT" sz="3200" dirty="0">
                <a:solidFill>
                  <a:schemeClr val="accent5"/>
                </a:solidFill>
              </a:rPr>
              <a:t>int i = 0;</a:t>
            </a:r>
          </a:p>
          <a:p>
            <a:pPr marL="0" indent="0">
              <a:buNone/>
            </a:pPr>
            <a:r>
              <a:rPr lang="it-IT" sz="3200" dirty="0">
                <a:solidFill>
                  <a:schemeClr val="accent5"/>
                </a:solidFill>
              </a:rPr>
              <a:t>while (true) { //ciclo infinito</a:t>
            </a:r>
          </a:p>
          <a:p>
            <a:pPr marL="0" indent="0">
              <a:buNone/>
            </a:pPr>
            <a:r>
              <a:rPr lang="it-IT" sz="3200" dirty="0">
                <a:solidFill>
                  <a:schemeClr val="accent5"/>
                </a:solidFill>
              </a:rPr>
              <a:t>    if (i &gt; 10) {</a:t>
            </a:r>
          </a:p>
          <a:p>
            <a:pPr marL="0" indent="0">
              <a:buNone/>
            </a:pPr>
            <a:r>
              <a:rPr lang="it-IT" sz="3200" dirty="0">
                <a:solidFill>
                  <a:schemeClr val="accent5"/>
                </a:solidFill>
              </a:rPr>
              <a:t>        break;</a:t>
            </a:r>
          </a:p>
          <a:p>
            <a:pPr marL="0" indent="0">
              <a:buNone/>
            </a:pPr>
            <a:r>
              <a:rPr lang="it-IT" sz="3200" dirty="0">
                <a:solidFill>
                  <a:schemeClr val="accent5"/>
                </a:solidFill>
              </a:rPr>
              <a:t>    }</a:t>
            </a:r>
          </a:p>
          <a:p>
            <a:pPr marL="0" indent="0">
              <a:buNone/>
            </a:pPr>
            <a:r>
              <a:rPr lang="it-IT" sz="3200" dirty="0">
                <a:solidFill>
                  <a:schemeClr val="accent5"/>
                </a:solidFill>
              </a:rPr>
              <a:t>    System.out.println(i);</a:t>
            </a:r>
          </a:p>
          <a:p>
            <a:pPr marL="0" indent="0">
              <a:buNone/>
            </a:pPr>
            <a:r>
              <a:rPr lang="it-IT" sz="3200" dirty="0">
                <a:solidFill>
                  <a:schemeClr val="accent5"/>
                </a:solidFill>
              </a:rPr>
              <a:t>    i++;</a:t>
            </a:r>
          </a:p>
          <a:p>
            <a:pPr marL="0" indent="0">
              <a:buNone/>
            </a:pPr>
            <a:r>
              <a:rPr lang="it-IT" sz="3200" dirty="0">
                <a:solidFill>
                  <a:schemeClr val="accent5"/>
                </a:solidFill>
              </a:rPr>
              <a:t>}</a:t>
            </a:r>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30</a:t>
            </a:fld>
            <a:endParaRPr lang="it-IT"/>
          </a:p>
        </p:txBody>
      </p:sp>
    </p:spTree>
    <p:extLst>
      <p:ext uri="{BB962C8B-B14F-4D97-AF65-F5344CB8AC3E}">
        <p14:creationId xmlns:p14="http://schemas.microsoft.com/office/powerpoint/2010/main" val="12148531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628650" y="136525"/>
            <a:ext cx="7886700" cy="988156"/>
          </a:xfrm>
        </p:spPr>
        <p:txBody>
          <a:bodyPr>
            <a:normAutofit/>
          </a:bodyPr>
          <a:lstStyle/>
          <a:p>
            <a:pPr algn="ctr"/>
            <a:r>
              <a:rPr lang="it-IT" dirty="0"/>
              <a:t>La parola chiave </a:t>
            </a:r>
            <a:r>
              <a:rPr lang="it-IT" i="1" dirty="0"/>
              <a:t>continue</a:t>
            </a:r>
          </a:p>
        </p:txBody>
      </p:sp>
      <p:sp>
        <p:nvSpPr>
          <p:cNvPr id="3" name="Segnaposto contenuto 2">
            <a:extLst>
              <a:ext uri="{FF2B5EF4-FFF2-40B4-BE49-F238E27FC236}">
                <a16:creationId xmlns:a16="http://schemas.microsoft.com/office/drawing/2014/main" id="{84CFE59D-E19E-49A0-BEBC-4EE3897DF2B6}"/>
              </a:ext>
            </a:extLst>
          </p:cNvPr>
          <p:cNvSpPr>
            <a:spLocks noGrp="1"/>
          </p:cNvSpPr>
          <p:nvPr>
            <p:ph idx="1"/>
          </p:nvPr>
        </p:nvSpPr>
        <p:spPr>
          <a:xfrm>
            <a:off x="0" y="1124682"/>
            <a:ext cx="9144000" cy="5596794"/>
          </a:xfrm>
        </p:spPr>
        <p:txBody>
          <a:bodyPr>
            <a:normAutofit lnSpcReduction="10000"/>
          </a:bodyPr>
          <a:lstStyle/>
          <a:p>
            <a:pPr marL="0" indent="0">
              <a:buNone/>
            </a:pPr>
            <a:r>
              <a:rPr lang="it-IT" sz="3200" dirty="0">
                <a:solidFill>
                  <a:schemeClr val="tx1"/>
                </a:solidFill>
              </a:rPr>
              <a:t>La parola chiave </a:t>
            </a:r>
            <a:r>
              <a:rPr lang="it-IT" sz="3200" i="1" dirty="0">
                <a:solidFill>
                  <a:schemeClr val="tx1"/>
                </a:solidFill>
              </a:rPr>
              <a:t>continue</a:t>
            </a:r>
            <a:r>
              <a:rPr lang="it-IT" sz="3200" dirty="0">
                <a:solidFill>
                  <a:schemeClr val="tx1"/>
                </a:solidFill>
              </a:rPr>
              <a:t> fa terminare non l’intero ciclo, ma solo l’iterazione corrente (ovvero fa saltare alla prossima iterazione). </a:t>
            </a:r>
          </a:p>
          <a:p>
            <a:pPr marL="0" indent="0">
              <a:buNone/>
            </a:pPr>
            <a:r>
              <a:rPr lang="it-IT" sz="3200" dirty="0">
                <a:solidFill>
                  <a:schemeClr val="accent5"/>
                </a:solidFill>
              </a:rPr>
              <a:t>int i = 0;</a:t>
            </a:r>
          </a:p>
          <a:p>
            <a:pPr marL="0" indent="0">
              <a:buNone/>
            </a:pPr>
            <a:r>
              <a:rPr lang="it-IT" sz="3200" dirty="0">
                <a:solidFill>
                  <a:schemeClr val="accent5"/>
                </a:solidFill>
              </a:rPr>
              <a:t>do {</a:t>
            </a:r>
          </a:p>
          <a:p>
            <a:pPr marL="0" indent="0">
              <a:buNone/>
            </a:pPr>
            <a:r>
              <a:rPr lang="it-IT" sz="3200" dirty="0">
                <a:solidFill>
                  <a:schemeClr val="accent5"/>
                </a:solidFill>
              </a:rPr>
              <a:t>    i++;</a:t>
            </a:r>
          </a:p>
          <a:p>
            <a:pPr marL="0" indent="0">
              <a:buNone/>
            </a:pPr>
            <a:r>
              <a:rPr lang="it-IT" sz="3200" dirty="0">
                <a:solidFill>
                  <a:schemeClr val="accent5"/>
                </a:solidFill>
              </a:rPr>
              <a:t>    if (i == 5) {</a:t>
            </a:r>
          </a:p>
          <a:p>
            <a:pPr marL="0" indent="0">
              <a:buNone/>
            </a:pPr>
            <a:r>
              <a:rPr lang="it-IT" sz="3200" dirty="0">
                <a:solidFill>
                  <a:schemeClr val="accent5"/>
                </a:solidFill>
              </a:rPr>
              <a:t>        continue;</a:t>
            </a:r>
          </a:p>
          <a:p>
            <a:pPr marL="0" indent="0">
              <a:buNone/>
            </a:pPr>
            <a:r>
              <a:rPr lang="it-IT" sz="3200" dirty="0">
                <a:solidFill>
                  <a:schemeClr val="accent5"/>
                </a:solidFill>
              </a:rPr>
              <a:t>    }</a:t>
            </a:r>
          </a:p>
          <a:p>
            <a:pPr marL="0" indent="0">
              <a:buNone/>
            </a:pPr>
            <a:r>
              <a:rPr lang="it-IT" sz="3200" dirty="0">
                <a:solidFill>
                  <a:schemeClr val="accent5"/>
                </a:solidFill>
              </a:rPr>
              <a:t>    System.out.println(i);</a:t>
            </a:r>
          </a:p>
          <a:p>
            <a:pPr marL="0" indent="0">
              <a:buNone/>
            </a:pPr>
            <a:r>
              <a:rPr lang="it-IT" sz="3200" dirty="0">
                <a:solidFill>
                  <a:schemeClr val="accent5"/>
                </a:solidFill>
              </a:rPr>
              <a:t>} while(i &lt;= 10);</a:t>
            </a:r>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31</a:t>
            </a:fld>
            <a:endParaRPr lang="it-IT"/>
          </a:p>
        </p:txBody>
      </p:sp>
    </p:spTree>
    <p:extLst>
      <p:ext uri="{BB962C8B-B14F-4D97-AF65-F5344CB8AC3E}">
        <p14:creationId xmlns:p14="http://schemas.microsoft.com/office/powerpoint/2010/main" val="36005100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628650" y="136525"/>
            <a:ext cx="7886700" cy="988156"/>
          </a:xfrm>
        </p:spPr>
        <p:txBody>
          <a:bodyPr>
            <a:normAutofit/>
          </a:bodyPr>
          <a:lstStyle/>
          <a:p>
            <a:pPr algn="ctr"/>
            <a:r>
              <a:rPr lang="it-IT" dirty="0"/>
              <a:t>Etichette (label)</a:t>
            </a:r>
          </a:p>
        </p:txBody>
      </p:sp>
      <p:sp>
        <p:nvSpPr>
          <p:cNvPr id="3" name="Segnaposto contenuto 2">
            <a:extLst>
              <a:ext uri="{FF2B5EF4-FFF2-40B4-BE49-F238E27FC236}">
                <a16:creationId xmlns:a16="http://schemas.microsoft.com/office/drawing/2014/main" id="{84CFE59D-E19E-49A0-BEBC-4EE3897DF2B6}"/>
              </a:ext>
            </a:extLst>
          </p:cNvPr>
          <p:cNvSpPr>
            <a:spLocks noGrp="1"/>
          </p:cNvSpPr>
          <p:nvPr>
            <p:ph idx="1"/>
          </p:nvPr>
        </p:nvSpPr>
        <p:spPr>
          <a:xfrm>
            <a:off x="251400" y="944656"/>
            <a:ext cx="7596420" cy="4968688"/>
          </a:xfrm>
        </p:spPr>
        <p:txBody>
          <a:bodyPr>
            <a:noAutofit/>
          </a:bodyPr>
          <a:lstStyle/>
          <a:p>
            <a:pPr marL="0" indent="0">
              <a:buNone/>
            </a:pPr>
            <a:r>
              <a:rPr lang="it-IT" sz="3200" dirty="0">
                <a:solidFill>
                  <a:schemeClr val="accent5"/>
                </a:solidFill>
              </a:rPr>
              <a:t>int j = 1;</a:t>
            </a:r>
          </a:p>
          <a:p>
            <a:pPr marL="0" indent="0">
              <a:buNone/>
            </a:pPr>
            <a:r>
              <a:rPr lang="it-IT" sz="3200" dirty="0">
                <a:solidFill>
                  <a:schemeClr val="accent5"/>
                </a:solidFill>
              </a:rPr>
              <a:t>pippo: //possiamo dare un qualsiasi nome ad una label</a:t>
            </a:r>
          </a:p>
          <a:p>
            <a:pPr marL="0" indent="0">
              <a:buNone/>
            </a:pPr>
            <a:r>
              <a:rPr lang="it-IT" sz="3200" dirty="0">
                <a:solidFill>
                  <a:schemeClr val="accent5"/>
                </a:solidFill>
              </a:rPr>
              <a:t>while (true) {</a:t>
            </a:r>
          </a:p>
          <a:p>
            <a:pPr marL="0" indent="0">
              <a:buNone/>
            </a:pPr>
            <a:r>
              <a:rPr lang="it-IT" sz="3200" dirty="0">
                <a:solidFill>
                  <a:schemeClr val="accent5"/>
                </a:solidFill>
              </a:rPr>
              <a:t>    while (true) {</a:t>
            </a:r>
          </a:p>
          <a:p>
            <a:pPr marL="0" indent="0">
              <a:buNone/>
            </a:pPr>
            <a:r>
              <a:rPr lang="it-IT" sz="3200" dirty="0">
                <a:solidFill>
                  <a:schemeClr val="accent5"/>
                </a:solidFill>
              </a:rPr>
              <a:t>        if (j &gt; 10) </a:t>
            </a:r>
          </a:p>
          <a:p>
            <a:pPr marL="0" indent="0">
              <a:buNone/>
            </a:pPr>
            <a:r>
              <a:rPr lang="it-IT" sz="3200" dirty="0">
                <a:solidFill>
                  <a:schemeClr val="accent5"/>
                </a:solidFill>
              </a:rPr>
              <a:t>            break pippo;</a:t>
            </a:r>
          </a:p>
          <a:p>
            <a:pPr marL="0" indent="0">
              <a:buNone/>
            </a:pPr>
            <a:r>
              <a:rPr lang="it-IT" sz="3200" dirty="0">
                <a:solidFill>
                  <a:schemeClr val="accent5"/>
                </a:solidFill>
              </a:rPr>
              <a:t>        System.out.println(j);</a:t>
            </a:r>
          </a:p>
          <a:p>
            <a:pPr marL="0" indent="0">
              <a:buNone/>
            </a:pPr>
            <a:r>
              <a:rPr lang="it-IT" sz="3200" dirty="0">
                <a:solidFill>
                  <a:schemeClr val="accent5"/>
                </a:solidFill>
              </a:rPr>
              <a:t>        </a:t>
            </a:r>
            <a:r>
              <a:rPr lang="it-IT" sz="3200" dirty="0" err="1">
                <a:solidFill>
                  <a:schemeClr val="accent5"/>
                </a:solidFill>
              </a:rPr>
              <a:t>j++</a:t>
            </a:r>
            <a:r>
              <a:rPr lang="it-IT" sz="3200" dirty="0">
                <a:solidFill>
                  <a:schemeClr val="accent5"/>
                </a:solidFill>
              </a:rPr>
              <a:t>;</a:t>
            </a:r>
          </a:p>
          <a:p>
            <a:pPr marL="0" indent="0">
              <a:buNone/>
            </a:pPr>
            <a:r>
              <a:rPr lang="it-IT" sz="3200" dirty="0">
                <a:solidFill>
                  <a:schemeClr val="accent5"/>
                </a:solidFill>
              </a:rPr>
              <a:t>    }</a:t>
            </a:r>
          </a:p>
          <a:p>
            <a:pPr marL="0" indent="0">
              <a:buNone/>
            </a:pPr>
            <a:r>
              <a:rPr lang="it-IT" sz="3200" dirty="0">
                <a:solidFill>
                  <a:schemeClr val="accent5"/>
                </a:solidFill>
              </a:rPr>
              <a:t>}</a:t>
            </a:r>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32</a:t>
            </a:fld>
            <a:endParaRPr lang="it-IT"/>
          </a:p>
        </p:txBody>
      </p:sp>
    </p:spTree>
    <p:extLst>
      <p:ext uri="{BB962C8B-B14F-4D97-AF65-F5344CB8AC3E}">
        <p14:creationId xmlns:p14="http://schemas.microsoft.com/office/powerpoint/2010/main" val="42749209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628650" y="136525"/>
            <a:ext cx="7886700" cy="988156"/>
          </a:xfrm>
        </p:spPr>
        <p:txBody>
          <a:bodyPr>
            <a:normAutofit/>
          </a:bodyPr>
          <a:lstStyle/>
          <a:p>
            <a:pPr algn="ctr"/>
            <a:r>
              <a:rPr lang="it-IT" dirty="0"/>
              <a:t>Il nuovo </a:t>
            </a:r>
            <a:r>
              <a:rPr lang="it-IT" i="1" dirty="0"/>
              <a:t>switch</a:t>
            </a:r>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33</a:t>
            </a:fld>
            <a:endParaRPr lang="it-IT"/>
          </a:p>
        </p:txBody>
      </p:sp>
      <p:sp>
        <p:nvSpPr>
          <p:cNvPr id="7" name="Segnaposto contenuto 6">
            <a:extLst>
              <a:ext uri="{FF2B5EF4-FFF2-40B4-BE49-F238E27FC236}">
                <a16:creationId xmlns:a16="http://schemas.microsoft.com/office/drawing/2014/main" id="{19E942AE-EBA0-48A5-AEAF-50D95216BB0A}"/>
              </a:ext>
            </a:extLst>
          </p:cNvPr>
          <p:cNvSpPr>
            <a:spLocks noGrp="1"/>
          </p:cNvSpPr>
          <p:nvPr>
            <p:ph idx="1"/>
          </p:nvPr>
        </p:nvSpPr>
        <p:spPr>
          <a:xfrm>
            <a:off x="323410" y="1185108"/>
            <a:ext cx="8569190" cy="5052282"/>
          </a:xfrm>
        </p:spPr>
        <p:txBody>
          <a:bodyPr>
            <a:normAutofit/>
          </a:bodyPr>
          <a:lstStyle/>
          <a:p>
            <a:r>
              <a:rPr lang="it-IT" sz="2800" dirty="0"/>
              <a:t>Il costrutto switch, come tutti i costrutti di Java e l’operatore ternario, è stato ereditato dal linguaggio C sin dalla prima versione di Java (fa eccezione il ciclo </a:t>
            </a:r>
            <a:r>
              <a:rPr lang="it-IT" sz="2800" i="1" dirty="0"/>
              <a:t>for</a:t>
            </a:r>
            <a:r>
              <a:rPr lang="it-IT" sz="2800" dirty="0"/>
              <a:t> migliorato che è stato introdotto con Java 5)</a:t>
            </a:r>
          </a:p>
          <a:p>
            <a:r>
              <a:rPr lang="it-IT" sz="2800" dirty="0"/>
              <a:t>Il costrutto switch ha delle caratteristiche che ben si adattavano alla creazione dei tipici programmi che venivano sviluppati una volta in C, per esempio i parser e codificatori binari. </a:t>
            </a:r>
          </a:p>
          <a:p>
            <a:r>
              <a:rPr lang="it-IT" sz="2800" dirty="0"/>
              <a:t>Con la versione 12 è stato aggiornato usando feature preview</a:t>
            </a:r>
          </a:p>
          <a:p>
            <a:r>
              <a:rPr lang="it-IT" sz="2800" dirty="0"/>
              <a:t>Nuova sintassi, con una nuova parola chiave (</a:t>
            </a:r>
            <a:r>
              <a:rPr lang="it-IT" sz="2800" i="1" dirty="0"/>
              <a:t>yield</a:t>
            </a:r>
            <a:r>
              <a:rPr lang="it-IT" sz="2800" dirty="0"/>
              <a:t>) e un nuovo operatore (-&gt;)</a:t>
            </a:r>
          </a:p>
          <a:p>
            <a:endParaRPr lang="it-IT" dirty="0"/>
          </a:p>
        </p:txBody>
      </p:sp>
    </p:spTree>
    <p:extLst>
      <p:ext uri="{BB962C8B-B14F-4D97-AF65-F5344CB8AC3E}">
        <p14:creationId xmlns:p14="http://schemas.microsoft.com/office/powerpoint/2010/main" val="11696168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628650" y="136525"/>
            <a:ext cx="7886700" cy="988156"/>
          </a:xfrm>
        </p:spPr>
        <p:txBody>
          <a:bodyPr>
            <a:normAutofit/>
          </a:bodyPr>
          <a:lstStyle/>
          <a:p>
            <a:pPr algn="ctr"/>
            <a:r>
              <a:rPr lang="it-IT" dirty="0"/>
              <a:t>Il nuovo </a:t>
            </a:r>
            <a:r>
              <a:rPr lang="it-IT" i="1" dirty="0"/>
              <a:t>switch</a:t>
            </a:r>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34</a:t>
            </a:fld>
            <a:endParaRPr lang="it-IT"/>
          </a:p>
        </p:txBody>
      </p:sp>
      <p:sp>
        <p:nvSpPr>
          <p:cNvPr id="7" name="Segnaposto contenuto 6">
            <a:extLst>
              <a:ext uri="{FF2B5EF4-FFF2-40B4-BE49-F238E27FC236}">
                <a16:creationId xmlns:a16="http://schemas.microsoft.com/office/drawing/2014/main" id="{19E942AE-EBA0-48A5-AEAF-50D95216BB0A}"/>
              </a:ext>
            </a:extLst>
          </p:cNvPr>
          <p:cNvSpPr>
            <a:spLocks noGrp="1"/>
          </p:cNvSpPr>
          <p:nvPr>
            <p:ph idx="1"/>
          </p:nvPr>
        </p:nvSpPr>
        <p:spPr>
          <a:xfrm>
            <a:off x="323410" y="1329128"/>
            <a:ext cx="8569190" cy="5052282"/>
          </a:xfrm>
        </p:spPr>
        <p:txBody>
          <a:bodyPr>
            <a:normAutofit/>
          </a:bodyPr>
          <a:lstStyle/>
          <a:p>
            <a:r>
              <a:rPr lang="it-IT" sz="2800" dirty="0"/>
              <a:t>Il costrutto </a:t>
            </a:r>
            <a:r>
              <a:rPr lang="it-IT" sz="2800" i="1" dirty="0"/>
              <a:t>switch</a:t>
            </a:r>
            <a:r>
              <a:rPr lang="it-IT" sz="2800" dirty="0"/>
              <a:t>, come tutti i costrutti di Java e l’operatore ternario, è stato ereditato dal linguaggio C sin dalla prima versione di Java (fa eccezione il ciclo </a:t>
            </a:r>
            <a:r>
              <a:rPr lang="it-IT" sz="2800" i="1" dirty="0"/>
              <a:t>for</a:t>
            </a:r>
            <a:r>
              <a:rPr lang="it-IT" sz="2800" dirty="0"/>
              <a:t> migliorato che è stato introdotto con Java 5)</a:t>
            </a:r>
          </a:p>
          <a:p>
            <a:r>
              <a:rPr lang="it-IT" sz="2800" dirty="0"/>
              <a:t>Ha delle caratteristiche che ben si adattavano alla creazione dei tipici programmi che venivano sviluppati una volta in C, per esempio i parser e codificatori binari. </a:t>
            </a:r>
          </a:p>
          <a:p>
            <a:r>
              <a:rPr lang="it-IT" sz="2800" dirty="0"/>
              <a:t>Con la versione 12 è stato aggiornato usando feature preview (approfondimento 4.4)</a:t>
            </a:r>
          </a:p>
          <a:p>
            <a:r>
              <a:rPr lang="it-IT" sz="2800" dirty="0"/>
              <a:t>Nuova sintassi, con una nuova parola chiave (</a:t>
            </a:r>
            <a:r>
              <a:rPr lang="it-IT" sz="2800" i="1" dirty="0"/>
              <a:t>yield</a:t>
            </a:r>
            <a:r>
              <a:rPr lang="it-IT" sz="2800" dirty="0"/>
              <a:t>) e un nuovo operatore (-&gt;)</a:t>
            </a:r>
          </a:p>
          <a:p>
            <a:endParaRPr lang="it-IT" dirty="0"/>
          </a:p>
        </p:txBody>
      </p:sp>
    </p:spTree>
    <p:extLst>
      <p:ext uri="{BB962C8B-B14F-4D97-AF65-F5344CB8AC3E}">
        <p14:creationId xmlns:p14="http://schemas.microsoft.com/office/powerpoint/2010/main" val="11223267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628650" y="136525"/>
            <a:ext cx="7886700" cy="988156"/>
          </a:xfrm>
        </p:spPr>
        <p:txBody>
          <a:bodyPr>
            <a:normAutofit/>
          </a:bodyPr>
          <a:lstStyle/>
          <a:p>
            <a:pPr algn="ctr"/>
            <a:r>
              <a:rPr lang="it-IT" dirty="0"/>
              <a:t>Il nuovo </a:t>
            </a:r>
            <a:r>
              <a:rPr lang="it-IT" i="1" dirty="0"/>
              <a:t>switch</a:t>
            </a:r>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35</a:t>
            </a:fld>
            <a:endParaRPr lang="it-IT"/>
          </a:p>
        </p:txBody>
      </p:sp>
      <p:sp>
        <p:nvSpPr>
          <p:cNvPr id="7" name="Segnaposto contenuto 6">
            <a:extLst>
              <a:ext uri="{FF2B5EF4-FFF2-40B4-BE49-F238E27FC236}">
                <a16:creationId xmlns:a16="http://schemas.microsoft.com/office/drawing/2014/main" id="{19E942AE-EBA0-48A5-AEAF-50D95216BB0A}"/>
              </a:ext>
            </a:extLst>
          </p:cNvPr>
          <p:cNvSpPr>
            <a:spLocks noGrp="1"/>
          </p:cNvSpPr>
          <p:nvPr>
            <p:ph idx="1"/>
          </p:nvPr>
        </p:nvSpPr>
        <p:spPr>
          <a:xfrm>
            <a:off x="323410" y="1329128"/>
            <a:ext cx="8569190" cy="5052282"/>
          </a:xfrm>
        </p:spPr>
        <p:txBody>
          <a:bodyPr>
            <a:noAutofit/>
          </a:bodyPr>
          <a:lstStyle/>
          <a:p>
            <a:r>
              <a:rPr lang="it-IT" dirty="0"/>
              <a:t>È uno statement condizionale come lo è il costrutto </a:t>
            </a:r>
            <a:r>
              <a:rPr lang="it-IT" i="1" dirty="0"/>
              <a:t>if</a:t>
            </a:r>
            <a:r>
              <a:rPr lang="it-IT" dirty="0"/>
              <a:t>. Permette di eseguire determinate istruzioni piuttosto che altre, in base al valore che verrà passato al runtime al costrutto. Per esempio:</a:t>
            </a:r>
          </a:p>
          <a:p>
            <a:pPr marL="0" indent="0">
              <a:buNone/>
            </a:pPr>
            <a:r>
              <a:rPr lang="it-IT" dirty="0">
                <a:solidFill>
                  <a:schemeClr val="accent5"/>
                </a:solidFill>
              </a:rPr>
              <a:t>public void </a:t>
            </a:r>
            <a:r>
              <a:rPr lang="it-IT" dirty="0" err="1">
                <a:solidFill>
                  <a:schemeClr val="accent5"/>
                </a:solidFill>
              </a:rPr>
              <a:t>switchTest</a:t>
            </a:r>
            <a:r>
              <a:rPr lang="it-IT" dirty="0">
                <a:solidFill>
                  <a:schemeClr val="accent5"/>
                </a:solidFill>
              </a:rPr>
              <a:t>(byte test) {</a:t>
            </a:r>
          </a:p>
          <a:p>
            <a:pPr marL="0" indent="0">
              <a:buNone/>
            </a:pPr>
            <a:r>
              <a:rPr lang="it-IT" dirty="0">
                <a:solidFill>
                  <a:schemeClr val="accent5"/>
                </a:solidFill>
              </a:rPr>
              <a:t>    switch (test) {</a:t>
            </a:r>
          </a:p>
          <a:p>
            <a:pPr marL="0" indent="0">
              <a:buNone/>
            </a:pPr>
            <a:r>
              <a:rPr lang="it-IT" dirty="0">
                <a:solidFill>
                  <a:schemeClr val="accent5"/>
                </a:solidFill>
              </a:rPr>
              <a:t>        case 1:</a:t>
            </a:r>
          </a:p>
          <a:p>
            <a:pPr marL="0" indent="0">
              <a:buNone/>
            </a:pPr>
            <a:r>
              <a:rPr lang="it-IT" dirty="0">
                <a:solidFill>
                  <a:schemeClr val="accent5"/>
                </a:solidFill>
              </a:rPr>
              <a:t>            System.out.println("case 1");</a:t>
            </a:r>
          </a:p>
          <a:p>
            <a:pPr marL="0" indent="0">
              <a:buNone/>
            </a:pPr>
            <a:r>
              <a:rPr lang="it-IT" dirty="0">
                <a:solidFill>
                  <a:schemeClr val="accent5"/>
                </a:solidFill>
              </a:rPr>
              <a:t>        break;</a:t>
            </a:r>
          </a:p>
          <a:p>
            <a:pPr marL="0" indent="0">
              <a:buNone/>
            </a:pPr>
            <a:r>
              <a:rPr lang="it-IT" dirty="0">
                <a:solidFill>
                  <a:schemeClr val="accent5"/>
                </a:solidFill>
              </a:rPr>
              <a:t>        default:</a:t>
            </a:r>
          </a:p>
          <a:p>
            <a:pPr marL="0" indent="0">
              <a:buNone/>
            </a:pPr>
            <a:r>
              <a:rPr lang="it-IT" dirty="0">
                <a:solidFill>
                  <a:schemeClr val="accent5"/>
                </a:solidFill>
              </a:rPr>
              <a:t>            System.out.println("default");</a:t>
            </a:r>
          </a:p>
          <a:p>
            <a:pPr marL="0" indent="0">
              <a:buNone/>
            </a:pPr>
            <a:r>
              <a:rPr lang="it-IT" dirty="0">
                <a:solidFill>
                  <a:schemeClr val="accent5"/>
                </a:solidFill>
              </a:rPr>
              <a:t>        break;</a:t>
            </a:r>
          </a:p>
          <a:p>
            <a:pPr marL="0" indent="0">
              <a:buNone/>
            </a:pPr>
            <a:r>
              <a:rPr lang="it-IT" dirty="0">
                <a:solidFill>
                  <a:schemeClr val="accent5"/>
                </a:solidFill>
              </a:rPr>
              <a:t>    }</a:t>
            </a:r>
          </a:p>
          <a:p>
            <a:pPr marL="0" indent="0">
              <a:buNone/>
            </a:pPr>
            <a:r>
              <a:rPr lang="it-IT" dirty="0">
                <a:solidFill>
                  <a:schemeClr val="accent5"/>
                </a:solidFill>
              </a:rPr>
              <a:t>}</a:t>
            </a:r>
          </a:p>
        </p:txBody>
      </p:sp>
    </p:spTree>
    <p:extLst>
      <p:ext uri="{BB962C8B-B14F-4D97-AF65-F5344CB8AC3E}">
        <p14:creationId xmlns:p14="http://schemas.microsoft.com/office/powerpoint/2010/main" val="33073481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3707880" y="44530"/>
            <a:ext cx="5193466" cy="2078538"/>
          </a:xfrm>
        </p:spPr>
        <p:txBody>
          <a:bodyPr>
            <a:normAutofit/>
          </a:bodyPr>
          <a:lstStyle/>
          <a:p>
            <a:pPr algn="ctr"/>
            <a:r>
              <a:rPr lang="it-IT" i="1" dirty="0"/>
              <a:t>switch</a:t>
            </a:r>
            <a:r>
              <a:rPr lang="it-IT" dirty="0"/>
              <a:t> tradizionale:</a:t>
            </a:r>
            <a:br>
              <a:rPr lang="it-IT" dirty="0"/>
            </a:br>
            <a:r>
              <a:rPr lang="it-IT" dirty="0"/>
              <a:t>sintassi</a:t>
            </a:r>
            <a:endParaRPr lang="it-IT" i="1"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36</a:t>
            </a:fld>
            <a:endParaRPr lang="it-IT"/>
          </a:p>
        </p:txBody>
      </p:sp>
      <p:sp>
        <p:nvSpPr>
          <p:cNvPr id="7" name="Segnaposto contenuto 6">
            <a:extLst>
              <a:ext uri="{FF2B5EF4-FFF2-40B4-BE49-F238E27FC236}">
                <a16:creationId xmlns:a16="http://schemas.microsoft.com/office/drawing/2014/main" id="{19E942AE-EBA0-48A5-AEAF-50D95216BB0A}"/>
              </a:ext>
            </a:extLst>
          </p:cNvPr>
          <p:cNvSpPr>
            <a:spLocks noGrp="1"/>
          </p:cNvSpPr>
          <p:nvPr>
            <p:ph idx="1"/>
          </p:nvPr>
        </p:nvSpPr>
        <p:spPr>
          <a:xfrm>
            <a:off x="323410" y="136524"/>
            <a:ext cx="8569190" cy="6721476"/>
          </a:xfrm>
        </p:spPr>
        <p:txBody>
          <a:bodyPr>
            <a:noAutofit/>
          </a:bodyPr>
          <a:lstStyle/>
          <a:p>
            <a:pPr marL="0" indent="0">
              <a:buNone/>
            </a:pPr>
            <a:r>
              <a:rPr lang="it-IT" sz="2500" dirty="0">
                <a:solidFill>
                  <a:schemeClr val="accent5"/>
                </a:solidFill>
              </a:rPr>
              <a:t>switch (test) {</a:t>
            </a:r>
          </a:p>
          <a:p>
            <a:pPr marL="0" indent="0">
              <a:buNone/>
            </a:pPr>
            <a:r>
              <a:rPr lang="it-IT" sz="2500" dirty="0">
                <a:solidFill>
                  <a:schemeClr val="accent5"/>
                </a:solidFill>
              </a:rPr>
              <a:t>    case valore_1:	</a:t>
            </a:r>
          </a:p>
          <a:p>
            <a:pPr marL="0" indent="0">
              <a:buNone/>
            </a:pPr>
            <a:r>
              <a:rPr lang="it-IT" sz="2500" dirty="0">
                <a:solidFill>
                  <a:schemeClr val="accent5"/>
                </a:solidFill>
              </a:rPr>
              <a:t>        [istruzioni;] 	</a:t>
            </a:r>
          </a:p>
          <a:p>
            <a:pPr marL="0" indent="0">
              <a:buNone/>
            </a:pPr>
            <a:r>
              <a:rPr lang="it-IT" sz="2500" dirty="0">
                <a:solidFill>
                  <a:schemeClr val="accent5"/>
                </a:solidFill>
              </a:rPr>
              <a:t>    [break;]</a:t>
            </a:r>
          </a:p>
          <a:p>
            <a:pPr marL="0" indent="0">
              <a:buNone/>
            </a:pPr>
            <a:r>
              <a:rPr lang="it-IT" sz="2500" dirty="0">
                <a:solidFill>
                  <a:schemeClr val="accent5"/>
                </a:solidFill>
              </a:rPr>
              <a:t>    case valore_2: </a:t>
            </a:r>
          </a:p>
          <a:p>
            <a:pPr marL="0" indent="0">
              <a:buNone/>
            </a:pPr>
            <a:r>
              <a:rPr lang="it-IT" sz="2500" dirty="0">
                <a:solidFill>
                  <a:schemeClr val="accent5"/>
                </a:solidFill>
              </a:rPr>
              <a:t>         [istruzioni;] 	</a:t>
            </a:r>
          </a:p>
          <a:p>
            <a:pPr marL="0" indent="0">
              <a:buNone/>
            </a:pPr>
            <a:r>
              <a:rPr lang="it-IT" sz="2500" dirty="0">
                <a:solidFill>
                  <a:schemeClr val="accent5"/>
                </a:solidFill>
              </a:rPr>
              <a:t>    [break;]</a:t>
            </a:r>
          </a:p>
          <a:p>
            <a:pPr marL="0" indent="0">
              <a:buNone/>
            </a:pPr>
            <a:r>
              <a:rPr lang="it-IT" sz="2500" dirty="0">
                <a:solidFill>
                  <a:schemeClr val="accent5"/>
                </a:solidFill>
              </a:rPr>
              <a:t>    . . . </a:t>
            </a:r>
          </a:p>
          <a:p>
            <a:pPr marL="0" indent="0">
              <a:buNone/>
            </a:pPr>
            <a:r>
              <a:rPr lang="it-IT" sz="2500" dirty="0">
                <a:solidFill>
                  <a:schemeClr val="accent5"/>
                </a:solidFill>
              </a:rPr>
              <a:t>    case </a:t>
            </a:r>
            <a:r>
              <a:rPr lang="it-IT" sz="2500" dirty="0" err="1">
                <a:solidFill>
                  <a:schemeClr val="accent5"/>
                </a:solidFill>
              </a:rPr>
              <a:t>valore_n</a:t>
            </a:r>
            <a:r>
              <a:rPr lang="it-IT" sz="2500" dirty="0">
                <a:solidFill>
                  <a:schemeClr val="accent5"/>
                </a:solidFill>
              </a:rPr>
              <a:t>: </a:t>
            </a:r>
          </a:p>
          <a:p>
            <a:pPr marL="0" indent="0">
              <a:buNone/>
            </a:pPr>
            <a:r>
              <a:rPr lang="it-IT" sz="2500" dirty="0">
                <a:solidFill>
                  <a:schemeClr val="accent5"/>
                </a:solidFill>
              </a:rPr>
              <a:t>         [istruzioni;] 	</a:t>
            </a:r>
          </a:p>
          <a:p>
            <a:pPr marL="0" indent="0">
              <a:buNone/>
            </a:pPr>
            <a:r>
              <a:rPr lang="it-IT" sz="2500" dirty="0">
                <a:solidFill>
                  <a:schemeClr val="accent5"/>
                </a:solidFill>
              </a:rPr>
              <a:t>    [break;]</a:t>
            </a:r>
          </a:p>
          <a:p>
            <a:pPr marL="0" indent="0">
              <a:buNone/>
            </a:pPr>
            <a:r>
              <a:rPr lang="it-IT" sz="2500" dirty="0">
                <a:solidFill>
                  <a:schemeClr val="accent5"/>
                </a:solidFill>
              </a:rPr>
              <a:t>    [default:]</a:t>
            </a:r>
          </a:p>
          <a:p>
            <a:pPr marL="0" indent="0">
              <a:buNone/>
            </a:pPr>
            <a:r>
              <a:rPr lang="it-IT" sz="2500" dirty="0">
                <a:solidFill>
                  <a:schemeClr val="accent5"/>
                </a:solidFill>
              </a:rPr>
              <a:t>        [istruzioni;] 	</a:t>
            </a:r>
          </a:p>
          <a:p>
            <a:pPr marL="0" indent="0">
              <a:buNone/>
            </a:pPr>
            <a:r>
              <a:rPr lang="it-IT" sz="2500" dirty="0">
                <a:solidFill>
                  <a:schemeClr val="accent5"/>
                </a:solidFill>
              </a:rPr>
              <a:t>    [break;]</a:t>
            </a:r>
          </a:p>
          <a:p>
            <a:pPr marL="0" indent="0">
              <a:buNone/>
            </a:pPr>
            <a:r>
              <a:rPr lang="it-IT" sz="2500" dirty="0">
                <a:solidFill>
                  <a:schemeClr val="accent5"/>
                </a:solidFill>
              </a:rPr>
              <a:t>}</a:t>
            </a:r>
          </a:p>
        </p:txBody>
      </p:sp>
      <p:sp>
        <p:nvSpPr>
          <p:cNvPr id="12" name="Segnaposto contenuto 6">
            <a:extLst>
              <a:ext uri="{FF2B5EF4-FFF2-40B4-BE49-F238E27FC236}">
                <a16:creationId xmlns:a16="http://schemas.microsoft.com/office/drawing/2014/main" id="{A72F2C19-77F8-4075-8831-E50F30F2F29A}"/>
              </a:ext>
            </a:extLst>
          </p:cNvPr>
          <p:cNvSpPr txBox="1">
            <a:spLocks/>
          </p:cNvSpPr>
          <p:nvPr/>
        </p:nvSpPr>
        <p:spPr>
          <a:xfrm>
            <a:off x="3995920" y="2564880"/>
            <a:ext cx="5112710" cy="3096430"/>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it-IT" sz="2800" i="1" dirty="0"/>
              <a:t>test</a:t>
            </a:r>
            <a:r>
              <a:rPr lang="it-IT" sz="2800" dirty="0"/>
              <a:t> può essere di tipo: </a:t>
            </a:r>
          </a:p>
          <a:p>
            <a:pPr lvl="1"/>
            <a:r>
              <a:rPr lang="it-IT" sz="2800" i="1" dirty="0"/>
              <a:t>byte</a:t>
            </a:r>
            <a:r>
              <a:rPr lang="it-IT" sz="2800" dirty="0"/>
              <a:t>, </a:t>
            </a:r>
            <a:r>
              <a:rPr lang="it-IT" sz="2800" i="1" dirty="0"/>
              <a:t>short</a:t>
            </a:r>
            <a:r>
              <a:rPr lang="it-IT" sz="2800" dirty="0"/>
              <a:t>, </a:t>
            </a:r>
            <a:r>
              <a:rPr lang="it-IT" sz="2800" i="1" dirty="0"/>
              <a:t>char</a:t>
            </a:r>
            <a:r>
              <a:rPr lang="it-IT" sz="2800" dirty="0"/>
              <a:t>, </a:t>
            </a:r>
            <a:r>
              <a:rPr lang="it-IT" sz="2800" i="1" dirty="0"/>
              <a:t>int</a:t>
            </a:r>
            <a:r>
              <a:rPr lang="it-IT" sz="2800" dirty="0"/>
              <a:t>, </a:t>
            </a:r>
          </a:p>
          <a:p>
            <a:pPr lvl="1"/>
            <a:r>
              <a:rPr lang="it-IT" sz="2800" i="1" dirty="0"/>
              <a:t>Byte</a:t>
            </a:r>
            <a:r>
              <a:rPr lang="it-IT" sz="2800" dirty="0"/>
              <a:t>, </a:t>
            </a:r>
            <a:r>
              <a:rPr lang="it-IT" sz="2800" i="1" dirty="0"/>
              <a:t>Short</a:t>
            </a:r>
            <a:r>
              <a:rPr lang="it-IT" sz="2800" dirty="0"/>
              <a:t>, </a:t>
            </a:r>
            <a:r>
              <a:rPr lang="it-IT" sz="2800" i="1" dirty="0"/>
              <a:t>Character</a:t>
            </a:r>
            <a:r>
              <a:rPr lang="it-IT" sz="2800" dirty="0"/>
              <a:t>, </a:t>
            </a:r>
            <a:r>
              <a:rPr lang="it-IT" sz="2800" i="1" dirty="0"/>
              <a:t>Integer</a:t>
            </a:r>
          </a:p>
          <a:p>
            <a:pPr lvl="1"/>
            <a:r>
              <a:rPr lang="it-IT" sz="2800" i="1" dirty="0"/>
              <a:t>String</a:t>
            </a:r>
          </a:p>
          <a:p>
            <a:pPr lvl="1"/>
            <a:r>
              <a:rPr lang="it-IT" sz="2800" dirty="0"/>
              <a:t>Enumerazione</a:t>
            </a:r>
          </a:p>
        </p:txBody>
      </p:sp>
    </p:spTree>
    <p:extLst>
      <p:ext uri="{BB962C8B-B14F-4D97-AF65-F5344CB8AC3E}">
        <p14:creationId xmlns:p14="http://schemas.microsoft.com/office/powerpoint/2010/main" val="34380794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0" y="-18710"/>
            <a:ext cx="9143999" cy="999370"/>
          </a:xfrm>
        </p:spPr>
        <p:txBody>
          <a:bodyPr>
            <a:normAutofit/>
          </a:bodyPr>
          <a:lstStyle/>
          <a:p>
            <a:pPr algn="ctr"/>
            <a:r>
              <a:rPr lang="it-IT" i="1" dirty="0"/>
              <a:t>switch</a:t>
            </a:r>
            <a:r>
              <a:rPr lang="it-IT" dirty="0"/>
              <a:t> tradizionale: Fall through</a:t>
            </a:r>
            <a:endParaRPr lang="it-IT" i="1"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37</a:t>
            </a:fld>
            <a:endParaRPr lang="it-IT"/>
          </a:p>
        </p:txBody>
      </p:sp>
      <p:sp>
        <p:nvSpPr>
          <p:cNvPr id="7" name="Segnaposto contenuto 6">
            <a:extLst>
              <a:ext uri="{FF2B5EF4-FFF2-40B4-BE49-F238E27FC236}">
                <a16:creationId xmlns:a16="http://schemas.microsoft.com/office/drawing/2014/main" id="{19E942AE-EBA0-48A5-AEAF-50D95216BB0A}"/>
              </a:ext>
            </a:extLst>
          </p:cNvPr>
          <p:cNvSpPr>
            <a:spLocks noGrp="1"/>
          </p:cNvSpPr>
          <p:nvPr>
            <p:ph idx="1"/>
          </p:nvPr>
        </p:nvSpPr>
        <p:spPr>
          <a:xfrm>
            <a:off x="0" y="836640"/>
            <a:ext cx="4896680" cy="6021360"/>
          </a:xfrm>
        </p:spPr>
        <p:txBody>
          <a:bodyPr>
            <a:noAutofit/>
          </a:bodyPr>
          <a:lstStyle/>
          <a:p>
            <a:pPr marL="0" indent="0">
              <a:buNone/>
            </a:pPr>
            <a:r>
              <a:rPr lang="en-US" sz="2000" dirty="0">
                <a:solidFill>
                  <a:schemeClr val="accent5"/>
                </a:solidFill>
              </a:rPr>
              <a:t>public class </a:t>
            </a:r>
            <a:r>
              <a:rPr lang="en-US" sz="2000" dirty="0" err="1">
                <a:solidFill>
                  <a:schemeClr val="accent5"/>
                </a:solidFill>
              </a:rPr>
              <a:t>SeasonSwitch</a:t>
            </a:r>
            <a:r>
              <a:rPr lang="en-US" sz="2000" dirty="0">
                <a:solidFill>
                  <a:schemeClr val="accent5"/>
                </a:solidFill>
              </a:rPr>
              <a:t> {</a:t>
            </a:r>
          </a:p>
          <a:p>
            <a:pPr marL="0" indent="0">
              <a:buNone/>
            </a:pPr>
            <a:r>
              <a:rPr lang="en-US" sz="2000" dirty="0">
                <a:solidFill>
                  <a:schemeClr val="accent5"/>
                </a:solidFill>
              </a:rPr>
              <a:t>    public static void main(String args[]) {</a:t>
            </a:r>
          </a:p>
          <a:p>
            <a:pPr marL="0" indent="0">
              <a:buNone/>
            </a:pPr>
            <a:r>
              <a:rPr lang="en-US" sz="2000" dirty="0">
                <a:solidFill>
                  <a:schemeClr val="accent5"/>
                </a:solidFill>
              </a:rPr>
              <a:t>        Integer month = 4;</a:t>
            </a:r>
          </a:p>
          <a:p>
            <a:pPr marL="0" indent="0">
              <a:buNone/>
            </a:pPr>
            <a:r>
              <a:rPr lang="en-US" sz="2000" dirty="0">
                <a:solidFill>
                  <a:schemeClr val="accent5"/>
                </a:solidFill>
              </a:rPr>
              <a:t>        String season;</a:t>
            </a:r>
          </a:p>
          <a:p>
            <a:pPr marL="0" indent="0">
              <a:buNone/>
            </a:pPr>
            <a:r>
              <a:rPr lang="en-US" sz="2000" dirty="0">
                <a:solidFill>
                  <a:schemeClr val="accent5"/>
                </a:solidFill>
              </a:rPr>
              <a:t>        switch (month) {</a:t>
            </a:r>
          </a:p>
          <a:p>
            <a:pPr marL="0" indent="0">
              <a:buNone/>
            </a:pPr>
            <a:r>
              <a:rPr lang="en-US" sz="2000" dirty="0">
                <a:solidFill>
                  <a:schemeClr val="accent5"/>
                </a:solidFill>
              </a:rPr>
              <a:t>            case 12:</a:t>
            </a:r>
          </a:p>
          <a:p>
            <a:pPr marL="0" indent="0">
              <a:buNone/>
            </a:pPr>
            <a:r>
              <a:rPr lang="en-US" sz="2000" dirty="0">
                <a:solidFill>
                  <a:schemeClr val="accent5"/>
                </a:solidFill>
              </a:rPr>
              <a:t>            case 1:</a:t>
            </a:r>
          </a:p>
          <a:p>
            <a:pPr marL="0" indent="0">
              <a:buNone/>
            </a:pPr>
            <a:r>
              <a:rPr lang="en-US" sz="2000" dirty="0">
                <a:solidFill>
                  <a:schemeClr val="accent5"/>
                </a:solidFill>
              </a:rPr>
              <a:t>            case 2:</a:t>
            </a:r>
          </a:p>
          <a:p>
            <a:pPr marL="0" indent="0">
              <a:buNone/>
            </a:pPr>
            <a:r>
              <a:rPr lang="en-US" sz="2000" dirty="0">
                <a:solidFill>
                  <a:schemeClr val="accent5"/>
                </a:solidFill>
              </a:rPr>
              <a:t>                season = "winter";</a:t>
            </a:r>
          </a:p>
          <a:p>
            <a:pPr marL="0" indent="0">
              <a:buNone/>
            </a:pPr>
            <a:r>
              <a:rPr lang="en-US" sz="2000" dirty="0">
                <a:solidFill>
                  <a:schemeClr val="accent5"/>
                </a:solidFill>
              </a:rPr>
              <a:t>                break;</a:t>
            </a:r>
          </a:p>
          <a:p>
            <a:pPr marL="0" indent="0">
              <a:buNone/>
            </a:pPr>
            <a:r>
              <a:rPr lang="en-US" sz="2000" dirty="0">
                <a:solidFill>
                  <a:schemeClr val="accent5"/>
                </a:solidFill>
              </a:rPr>
              <a:t>            case 3:</a:t>
            </a:r>
          </a:p>
          <a:p>
            <a:pPr marL="0" indent="0">
              <a:buNone/>
            </a:pPr>
            <a:r>
              <a:rPr lang="en-US" sz="2000" dirty="0">
                <a:solidFill>
                  <a:schemeClr val="accent5"/>
                </a:solidFill>
              </a:rPr>
              <a:t>            case 4:</a:t>
            </a:r>
          </a:p>
          <a:p>
            <a:pPr marL="0" indent="0">
              <a:buNone/>
            </a:pPr>
            <a:r>
              <a:rPr lang="en-US" sz="2000" dirty="0">
                <a:solidFill>
                  <a:schemeClr val="accent5"/>
                </a:solidFill>
              </a:rPr>
              <a:t>            case 5:</a:t>
            </a:r>
          </a:p>
          <a:p>
            <a:pPr marL="0" indent="0">
              <a:buNone/>
            </a:pPr>
            <a:r>
              <a:rPr lang="en-US" sz="2000" dirty="0">
                <a:solidFill>
                  <a:schemeClr val="accent5"/>
                </a:solidFill>
              </a:rPr>
              <a:t>                season = "spring";</a:t>
            </a:r>
          </a:p>
          <a:p>
            <a:pPr marL="0" indent="0">
              <a:buNone/>
            </a:pPr>
            <a:r>
              <a:rPr lang="en-US" sz="2000" dirty="0">
                <a:solidFill>
                  <a:schemeClr val="accent5"/>
                </a:solidFill>
              </a:rPr>
              <a:t>                break; </a:t>
            </a:r>
          </a:p>
          <a:p>
            <a:pPr marL="0" indent="0">
              <a:buNone/>
            </a:pPr>
            <a:r>
              <a:rPr lang="en-US" sz="2000" dirty="0">
                <a:solidFill>
                  <a:schemeClr val="accent5"/>
                </a:solidFill>
              </a:rPr>
              <a:t>//senza </a:t>
            </a:r>
            <a:r>
              <a:rPr lang="en-US" sz="2000" dirty="0" err="1">
                <a:solidFill>
                  <a:schemeClr val="accent5"/>
                </a:solidFill>
              </a:rPr>
              <a:t>questo</a:t>
            </a:r>
            <a:r>
              <a:rPr lang="en-US" sz="2000" dirty="0">
                <a:solidFill>
                  <a:schemeClr val="accent5"/>
                </a:solidFill>
              </a:rPr>
              <a:t> break: season = summer</a:t>
            </a:r>
          </a:p>
          <a:p>
            <a:pPr marL="0" indent="0">
              <a:buNone/>
            </a:pPr>
            <a:r>
              <a:rPr lang="en-US" sz="2000" dirty="0">
                <a:solidFill>
                  <a:schemeClr val="accent5"/>
                </a:solidFill>
              </a:rPr>
              <a:t>            </a:t>
            </a:r>
          </a:p>
        </p:txBody>
      </p:sp>
      <p:sp>
        <p:nvSpPr>
          <p:cNvPr id="8" name="CasellaDiTesto 7">
            <a:extLst>
              <a:ext uri="{FF2B5EF4-FFF2-40B4-BE49-F238E27FC236}">
                <a16:creationId xmlns:a16="http://schemas.microsoft.com/office/drawing/2014/main" id="{D25B123E-C01E-4A66-BE2C-0C36AC800B61}"/>
              </a:ext>
            </a:extLst>
          </p:cNvPr>
          <p:cNvSpPr txBox="1"/>
          <p:nvPr/>
        </p:nvSpPr>
        <p:spPr>
          <a:xfrm>
            <a:off x="4896680" y="980660"/>
            <a:ext cx="4247319" cy="5632311"/>
          </a:xfrm>
          <a:prstGeom prst="rect">
            <a:avLst/>
          </a:prstGeom>
          <a:noFill/>
        </p:spPr>
        <p:txBody>
          <a:bodyPr wrap="square">
            <a:spAutoFit/>
          </a:bodyPr>
          <a:lstStyle/>
          <a:p>
            <a:pPr marL="0" indent="0">
              <a:buNone/>
            </a:pPr>
            <a:r>
              <a:rPr lang="en-US" sz="2000" dirty="0">
                <a:solidFill>
                  <a:schemeClr val="accent5"/>
                </a:solidFill>
              </a:rPr>
              <a:t>case 6:</a:t>
            </a:r>
          </a:p>
          <a:p>
            <a:pPr marL="0" indent="0">
              <a:buNone/>
            </a:pPr>
            <a:r>
              <a:rPr lang="en-US" sz="2000" dirty="0">
                <a:solidFill>
                  <a:schemeClr val="accent5"/>
                </a:solidFill>
              </a:rPr>
              <a:t>            case 7:</a:t>
            </a:r>
          </a:p>
          <a:p>
            <a:pPr marL="0" indent="0">
              <a:buNone/>
            </a:pPr>
            <a:r>
              <a:rPr lang="en-US" sz="2000" dirty="0">
                <a:solidFill>
                  <a:schemeClr val="accent5"/>
                </a:solidFill>
              </a:rPr>
              <a:t>            case 8:</a:t>
            </a:r>
          </a:p>
          <a:p>
            <a:pPr marL="0" indent="0">
              <a:buNone/>
            </a:pPr>
            <a:r>
              <a:rPr lang="en-US" sz="2000" dirty="0">
                <a:solidFill>
                  <a:schemeClr val="accent5"/>
                </a:solidFill>
              </a:rPr>
              <a:t>                season = "summer";</a:t>
            </a:r>
          </a:p>
          <a:p>
            <a:pPr marL="0" indent="0">
              <a:buNone/>
            </a:pPr>
            <a:r>
              <a:rPr lang="en-US" sz="2000" dirty="0">
                <a:solidFill>
                  <a:schemeClr val="accent5"/>
                </a:solidFill>
              </a:rPr>
              <a:t>                break;</a:t>
            </a:r>
          </a:p>
          <a:p>
            <a:pPr marL="0" indent="0">
              <a:buNone/>
            </a:pPr>
            <a:r>
              <a:rPr lang="en-US" sz="2000" dirty="0">
                <a:solidFill>
                  <a:schemeClr val="accent5"/>
                </a:solidFill>
              </a:rPr>
              <a:t>            case 9:</a:t>
            </a:r>
          </a:p>
          <a:p>
            <a:pPr marL="0" indent="0">
              <a:buNone/>
            </a:pPr>
            <a:r>
              <a:rPr lang="en-US" sz="2000" dirty="0">
                <a:solidFill>
                  <a:schemeClr val="accent5"/>
                </a:solidFill>
              </a:rPr>
              <a:t>            case 10:</a:t>
            </a:r>
          </a:p>
          <a:p>
            <a:pPr marL="0" indent="0">
              <a:buNone/>
            </a:pPr>
            <a:r>
              <a:rPr lang="en-US" sz="2000" dirty="0">
                <a:solidFill>
                  <a:schemeClr val="accent5"/>
                </a:solidFill>
              </a:rPr>
              <a:t>            case 11:</a:t>
            </a:r>
          </a:p>
          <a:p>
            <a:pPr marL="0" indent="0">
              <a:buNone/>
            </a:pPr>
            <a:r>
              <a:rPr lang="en-US" sz="2000" dirty="0">
                <a:solidFill>
                  <a:schemeClr val="accent5"/>
                </a:solidFill>
              </a:rPr>
              <a:t>                season = "autumn";</a:t>
            </a:r>
          </a:p>
          <a:p>
            <a:pPr marL="0" indent="0">
              <a:buNone/>
            </a:pPr>
            <a:r>
              <a:rPr lang="en-US" sz="2000" dirty="0">
                <a:solidFill>
                  <a:schemeClr val="accent5"/>
                </a:solidFill>
              </a:rPr>
              <a:t>                break;</a:t>
            </a:r>
          </a:p>
          <a:p>
            <a:pPr marL="0" indent="0">
              <a:buNone/>
            </a:pPr>
            <a:r>
              <a:rPr lang="en-US" sz="2000" dirty="0">
                <a:solidFill>
                  <a:schemeClr val="accent5"/>
                </a:solidFill>
              </a:rPr>
              <a:t>            default: </a:t>
            </a:r>
          </a:p>
          <a:p>
            <a:pPr marL="0" indent="0">
              <a:buNone/>
            </a:pPr>
            <a:r>
              <a:rPr lang="en-US" sz="2000" dirty="0">
                <a:solidFill>
                  <a:schemeClr val="accent5"/>
                </a:solidFill>
              </a:rPr>
              <a:t>                season = "not identifiable";</a:t>
            </a:r>
          </a:p>
          <a:p>
            <a:pPr marL="0" indent="0">
              <a:buNone/>
            </a:pPr>
            <a:r>
              <a:rPr lang="en-US" sz="2000" dirty="0">
                <a:solidFill>
                  <a:schemeClr val="accent5"/>
                </a:solidFill>
              </a:rPr>
              <a:t>                break;</a:t>
            </a:r>
          </a:p>
          <a:p>
            <a:pPr marL="0" indent="0">
              <a:buNone/>
            </a:pPr>
            <a:r>
              <a:rPr lang="en-US" sz="2000" dirty="0">
                <a:solidFill>
                  <a:schemeClr val="accent5"/>
                </a:solidFill>
              </a:rPr>
              <a:t>        }</a:t>
            </a:r>
          </a:p>
          <a:p>
            <a:pPr marL="0" indent="0">
              <a:buNone/>
            </a:pPr>
            <a:r>
              <a:rPr lang="en-US" sz="2000" dirty="0">
                <a:solidFill>
                  <a:schemeClr val="accent5"/>
                </a:solidFill>
              </a:rPr>
              <a:t>        System.out.println("The season is </a:t>
            </a:r>
          </a:p>
          <a:p>
            <a:pPr marL="0" indent="0">
              <a:buNone/>
            </a:pPr>
            <a:r>
              <a:rPr lang="en-US" sz="2000" dirty="0">
                <a:solidFill>
                  <a:schemeClr val="accent5"/>
                </a:solidFill>
              </a:rPr>
              <a:t>             " + season);</a:t>
            </a:r>
          </a:p>
          <a:p>
            <a:pPr marL="0" indent="0">
              <a:buNone/>
            </a:pPr>
            <a:r>
              <a:rPr lang="en-US" sz="2000" dirty="0">
                <a:solidFill>
                  <a:schemeClr val="accent5"/>
                </a:solidFill>
              </a:rPr>
              <a:t>    }</a:t>
            </a:r>
          </a:p>
          <a:p>
            <a:pPr marL="0" indent="0">
              <a:buNone/>
            </a:pPr>
            <a:r>
              <a:rPr lang="en-US" sz="2000" dirty="0">
                <a:solidFill>
                  <a:schemeClr val="accent5"/>
                </a:solidFill>
              </a:rPr>
              <a:t>}</a:t>
            </a:r>
          </a:p>
        </p:txBody>
      </p:sp>
    </p:spTree>
    <p:extLst>
      <p:ext uri="{BB962C8B-B14F-4D97-AF65-F5344CB8AC3E}">
        <p14:creationId xmlns:p14="http://schemas.microsoft.com/office/powerpoint/2010/main" val="22253238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0" y="-18710"/>
            <a:ext cx="9143999" cy="999370"/>
          </a:xfrm>
        </p:spPr>
        <p:txBody>
          <a:bodyPr>
            <a:normAutofit/>
          </a:bodyPr>
          <a:lstStyle/>
          <a:p>
            <a:pPr algn="ctr"/>
            <a:r>
              <a:rPr lang="it-IT" i="1" dirty="0"/>
              <a:t>switch</a:t>
            </a:r>
            <a:r>
              <a:rPr lang="it-IT" dirty="0"/>
              <a:t> : Fall through con enum</a:t>
            </a:r>
            <a:endParaRPr lang="it-IT" i="1"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38</a:t>
            </a:fld>
            <a:endParaRPr lang="it-IT"/>
          </a:p>
        </p:txBody>
      </p:sp>
      <p:sp>
        <p:nvSpPr>
          <p:cNvPr id="7" name="Segnaposto contenuto 6">
            <a:extLst>
              <a:ext uri="{FF2B5EF4-FFF2-40B4-BE49-F238E27FC236}">
                <a16:creationId xmlns:a16="http://schemas.microsoft.com/office/drawing/2014/main" id="{19E942AE-EBA0-48A5-AEAF-50D95216BB0A}"/>
              </a:ext>
            </a:extLst>
          </p:cNvPr>
          <p:cNvSpPr>
            <a:spLocks noGrp="1"/>
          </p:cNvSpPr>
          <p:nvPr>
            <p:ph idx="1"/>
          </p:nvPr>
        </p:nvSpPr>
        <p:spPr>
          <a:xfrm>
            <a:off x="0" y="836640"/>
            <a:ext cx="4896680" cy="6021360"/>
          </a:xfrm>
        </p:spPr>
        <p:txBody>
          <a:bodyPr>
            <a:noAutofit/>
          </a:bodyPr>
          <a:lstStyle/>
          <a:p>
            <a:pPr marL="0" indent="0">
              <a:buNone/>
            </a:pPr>
            <a:r>
              <a:rPr lang="it-IT" sz="2000" dirty="0">
                <a:solidFill>
                  <a:schemeClr val="accent5"/>
                </a:solidFill>
              </a:rPr>
              <a:t>import </a:t>
            </a:r>
            <a:r>
              <a:rPr lang="it-IT" sz="2000" dirty="0" err="1">
                <a:solidFill>
                  <a:schemeClr val="accent5"/>
                </a:solidFill>
              </a:rPr>
              <a:t>java.time.Month</a:t>
            </a:r>
            <a:r>
              <a:rPr lang="it-IT" sz="2000" dirty="0">
                <a:solidFill>
                  <a:schemeClr val="accent5"/>
                </a:solidFill>
              </a:rPr>
              <a:t>;</a:t>
            </a:r>
          </a:p>
          <a:p>
            <a:pPr marL="0" indent="0">
              <a:buNone/>
            </a:pPr>
            <a:r>
              <a:rPr lang="it-IT" sz="2000" dirty="0">
                <a:solidFill>
                  <a:schemeClr val="accent5"/>
                </a:solidFill>
              </a:rPr>
              <a:t>public class </a:t>
            </a:r>
            <a:r>
              <a:rPr lang="it-IT" sz="2000" dirty="0" err="1">
                <a:solidFill>
                  <a:schemeClr val="accent5"/>
                </a:solidFill>
              </a:rPr>
              <a:t>SeasonSwitchEnumTest</a:t>
            </a:r>
            <a:r>
              <a:rPr lang="it-IT" sz="2000" dirty="0">
                <a:solidFill>
                  <a:schemeClr val="accent5"/>
                </a:solidFill>
              </a:rPr>
              <a:t> {</a:t>
            </a:r>
          </a:p>
          <a:p>
            <a:pPr marL="0" indent="0">
              <a:buNone/>
            </a:pPr>
            <a:r>
              <a:rPr lang="it-IT" sz="2000" dirty="0">
                <a:solidFill>
                  <a:schemeClr val="accent5"/>
                </a:solidFill>
              </a:rPr>
              <a:t>    public static void main(String args[]) {</a:t>
            </a:r>
          </a:p>
          <a:p>
            <a:pPr marL="0" indent="0">
              <a:buNone/>
            </a:pPr>
            <a:r>
              <a:rPr lang="it-IT" sz="2000" dirty="0">
                <a:solidFill>
                  <a:schemeClr val="accent5"/>
                </a:solidFill>
              </a:rPr>
              <a:t>        </a:t>
            </a:r>
            <a:r>
              <a:rPr lang="it-IT" sz="2000" dirty="0" err="1">
                <a:solidFill>
                  <a:schemeClr val="accent5"/>
                </a:solidFill>
              </a:rPr>
              <a:t>Month</a:t>
            </a:r>
            <a:r>
              <a:rPr lang="it-IT" sz="2000" dirty="0">
                <a:solidFill>
                  <a:schemeClr val="accent5"/>
                </a:solidFill>
              </a:rPr>
              <a:t> </a:t>
            </a:r>
            <a:r>
              <a:rPr lang="it-IT" sz="2000" dirty="0" err="1">
                <a:solidFill>
                  <a:schemeClr val="accent5"/>
                </a:solidFill>
              </a:rPr>
              <a:t>month</a:t>
            </a:r>
            <a:r>
              <a:rPr lang="it-IT" sz="2000" dirty="0">
                <a:solidFill>
                  <a:schemeClr val="accent5"/>
                </a:solidFill>
              </a:rPr>
              <a:t> = </a:t>
            </a:r>
            <a:r>
              <a:rPr lang="it-IT" sz="2000" dirty="0" err="1">
                <a:solidFill>
                  <a:schemeClr val="accent5"/>
                </a:solidFill>
              </a:rPr>
              <a:t>Month.APRIL</a:t>
            </a:r>
            <a:r>
              <a:rPr lang="it-IT" sz="2000" dirty="0">
                <a:solidFill>
                  <a:schemeClr val="accent5"/>
                </a:solidFill>
              </a:rPr>
              <a:t>;</a:t>
            </a:r>
          </a:p>
          <a:p>
            <a:pPr marL="0" indent="0">
              <a:buNone/>
            </a:pPr>
            <a:r>
              <a:rPr lang="it-IT" sz="2000" dirty="0">
                <a:solidFill>
                  <a:schemeClr val="accent5"/>
                </a:solidFill>
              </a:rPr>
              <a:t>        String season;</a:t>
            </a:r>
          </a:p>
          <a:p>
            <a:pPr marL="0" indent="0">
              <a:buNone/>
            </a:pPr>
            <a:r>
              <a:rPr lang="it-IT" sz="2000" dirty="0">
                <a:solidFill>
                  <a:schemeClr val="accent5"/>
                </a:solidFill>
              </a:rPr>
              <a:t>         switch (</a:t>
            </a:r>
            <a:r>
              <a:rPr lang="it-IT" sz="2000" dirty="0" err="1">
                <a:solidFill>
                  <a:schemeClr val="accent5"/>
                </a:solidFill>
              </a:rPr>
              <a:t>month</a:t>
            </a:r>
            <a:r>
              <a:rPr lang="it-IT" sz="2000" dirty="0">
                <a:solidFill>
                  <a:schemeClr val="accent5"/>
                </a:solidFill>
              </a:rPr>
              <a:t>) {</a:t>
            </a:r>
          </a:p>
          <a:p>
            <a:pPr marL="0" indent="0">
              <a:buNone/>
            </a:pPr>
            <a:r>
              <a:rPr lang="it-IT" sz="2000" dirty="0">
                <a:solidFill>
                  <a:schemeClr val="accent5"/>
                </a:solidFill>
              </a:rPr>
              <a:t>            case DECEMBER:</a:t>
            </a:r>
          </a:p>
          <a:p>
            <a:pPr marL="0" indent="0">
              <a:buNone/>
            </a:pPr>
            <a:r>
              <a:rPr lang="it-IT" sz="2000" dirty="0">
                <a:solidFill>
                  <a:schemeClr val="accent5"/>
                </a:solidFill>
              </a:rPr>
              <a:t>            case JANUARY:</a:t>
            </a:r>
          </a:p>
          <a:p>
            <a:pPr marL="0" indent="0">
              <a:buNone/>
            </a:pPr>
            <a:r>
              <a:rPr lang="it-IT" sz="2000" dirty="0">
                <a:solidFill>
                  <a:schemeClr val="accent5"/>
                </a:solidFill>
              </a:rPr>
              <a:t>            case FEBRUARY:</a:t>
            </a:r>
          </a:p>
          <a:p>
            <a:pPr marL="0" indent="0">
              <a:buNone/>
            </a:pPr>
            <a:r>
              <a:rPr lang="it-IT" sz="2000" dirty="0">
                <a:solidFill>
                  <a:schemeClr val="accent5"/>
                </a:solidFill>
              </a:rPr>
              <a:t>            </a:t>
            </a:r>
            <a:r>
              <a:rPr lang="en-GB" sz="2000" dirty="0">
                <a:solidFill>
                  <a:schemeClr val="accent5"/>
                </a:solidFill>
              </a:rPr>
              <a:t>    </a:t>
            </a:r>
            <a:r>
              <a:rPr lang="it-IT" sz="2000" dirty="0">
                <a:solidFill>
                  <a:schemeClr val="accent5"/>
                </a:solidFill>
              </a:rPr>
              <a:t>season = "</a:t>
            </a:r>
            <a:r>
              <a:rPr lang="it-IT" sz="2000" dirty="0" err="1">
                <a:solidFill>
                  <a:schemeClr val="accent5"/>
                </a:solidFill>
              </a:rPr>
              <a:t>winter</a:t>
            </a:r>
            <a:r>
              <a:rPr lang="it-IT" sz="2000" dirty="0">
                <a:solidFill>
                  <a:schemeClr val="accent5"/>
                </a:solidFill>
              </a:rPr>
              <a:t>";</a:t>
            </a:r>
          </a:p>
          <a:p>
            <a:pPr marL="0" indent="0">
              <a:buNone/>
            </a:pPr>
            <a:r>
              <a:rPr lang="it-IT" sz="2000" dirty="0">
                <a:solidFill>
                  <a:schemeClr val="accent5"/>
                </a:solidFill>
              </a:rPr>
              <a:t>            </a:t>
            </a:r>
            <a:r>
              <a:rPr lang="en-GB" sz="2000" dirty="0">
                <a:solidFill>
                  <a:schemeClr val="accent5"/>
                </a:solidFill>
              </a:rPr>
              <a:t>    </a:t>
            </a:r>
            <a:r>
              <a:rPr lang="it-IT" sz="2000" dirty="0">
                <a:solidFill>
                  <a:schemeClr val="accent5"/>
                </a:solidFill>
              </a:rPr>
              <a:t>break;</a:t>
            </a:r>
          </a:p>
          <a:p>
            <a:pPr marL="0" indent="0">
              <a:buNone/>
            </a:pPr>
            <a:r>
              <a:rPr lang="en-US" sz="2000" dirty="0">
                <a:solidFill>
                  <a:schemeClr val="accent5"/>
                </a:solidFill>
              </a:rPr>
              <a:t>            case MARCH:</a:t>
            </a:r>
          </a:p>
          <a:p>
            <a:pPr marL="0" indent="0">
              <a:buNone/>
            </a:pPr>
            <a:r>
              <a:rPr lang="en-US" sz="2000" dirty="0">
                <a:solidFill>
                  <a:schemeClr val="accent5"/>
                </a:solidFill>
              </a:rPr>
              <a:t>            case APRIL:</a:t>
            </a:r>
          </a:p>
          <a:p>
            <a:pPr marL="0" indent="0">
              <a:buNone/>
            </a:pPr>
            <a:r>
              <a:rPr lang="en-US" sz="2000" dirty="0">
                <a:solidFill>
                  <a:schemeClr val="accent5"/>
                </a:solidFill>
              </a:rPr>
              <a:t>            case MAY:</a:t>
            </a:r>
          </a:p>
          <a:p>
            <a:pPr marL="0" indent="0">
              <a:buNone/>
            </a:pPr>
            <a:r>
              <a:rPr lang="en-US" sz="2000" dirty="0">
                <a:solidFill>
                  <a:schemeClr val="accent5"/>
                </a:solidFill>
              </a:rPr>
              <a:t>                season = "spring";</a:t>
            </a:r>
          </a:p>
          <a:p>
            <a:pPr marL="0" indent="0">
              <a:buNone/>
            </a:pPr>
            <a:r>
              <a:rPr lang="en-US" sz="2000" dirty="0">
                <a:solidFill>
                  <a:schemeClr val="accent5"/>
                </a:solidFill>
              </a:rPr>
              <a:t>                break; </a:t>
            </a:r>
          </a:p>
        </p:txBody>
      </p:sp>
      <p:sp>
        <p:nvSpPr>
          <p:cNvPr id="8" name="CasellaDiTesto 7">
            <a:extLst>
              <a:ext uri="{FF2B5EF4-FFF2-40B4-BE49-F238E27FC236}">
                <a16:creationId xmlns:a16="http://schemas.microsoft.com/office/drawing/2014/main" id="{D25B123E-C01E-4A66-BE2C-0C36AC800B61}"/>
              </a:ext>
            </a:extLst>
          </p:cNvPr>
          <p:cNvSpPr txBox="1"/>
          <p:nvPr/>
        </p:nvSpPr>
        <p:spPr>
          <a:xfrm>
            <a:off x="4896680" y="980660"/>
            <a:ext cx="4247319" cy="5632311"/>
          </a:xfrm>
          <a:prstGeom prst="rect">
            <a:avLst/>
          </a:prstGeom>
          <a:noFill/>
        </p:spPr>
        <p:txBody>
          <a:bodyPr wrap="square">
            <a:spAutoFit/>
          </a:bodyPr>
          <a:lstStyle/>
          <a:p>
            <a:pPr marL="0" indent="0">
              <a:buNone/>
            </a:pPr>
            <a:r>
              <a:rPr lang="en-US" sz="2000" dirty="0">
                <a:solidFill>
                  <a:schemeClr val="accent5"/>
                </a:solidFill>
              </a:rPr>
              <a:t>case JUNE:</a:t>
            </a:r>
          </a:p>
          <a:p>
            <a:pPr marL="0" indent="0">
              <a:buNone/>
            </a:pPr>
            <a:r>
              <a:rPr lang="en-US" sz="2000" dirty="0">
                <a:solidFill>
                  <a:schemeClr val="accent5"/>
                </a:solidFill>
              </a:rPr>
              <a:t>            case JULY:</a:t>
            </a:r>
          </a:p>
          <a:p>
            <a:pPr marL="0" indent="0">
              <a:buNone/>
            </a:pPr>
            <a:r>
              <a:rPr lang="en-US" sz="2000" dirty="0">
                <a:solidFill>
                  <a:schemeClr val="accent5"/>
                </a:solidFill>
              </a:rPr>
              <a:t>            case AUGUST:</a:t>
            </a:r>
          </a:p>
          <a:p>
            <a:pPr marL="0" indent="0">
              <a:buNone/>
            </a:pPr>
            <a:r>
              <a:rPr lang="en-US" sz="2000" dirty="0">
                <a:solidFill>
                  <a:schemeClr val="accent5"/>
                </a:solidFill>
              </a:rPr>
              <a:t>                season = "summer";</a:t>
            </a:r>
          </a:p>
          <a:p>
            <a:pPr marL="0" indent="0">
              <a:buNone/>
            </a:pPr>
            <a:r>
              <a:rPr lang="en-US" sz="2000" dirty="0">
                <a:solidFill>
                  <a:schemeClr val="accent5"/>
                </a:solidFill>
              </a:rPr>
              <a:t>                break;</a:t>
            </a:r>
          </a:p>
          <a:p>
            <a:pPr marL="0" indent="0">
              <a:buNone/>
            </a:pPr>
            <a:r>
              <a:rPr lang="en-US" sz="2000" dirty="0">
                <a:solidFill>
                  <a:schemeClr val="accent5"/>
                </a:solidFill>
              </a:rPr>
              <a:t>            case SEPTEMBER:</a:t>
            </a:r>
          </a:p>
          <a:p>
            <a:pPr marL="0" indent="0">
              <a:buNone/>
            </a:pPr>
            <a:r>
              <a:rPr lang="en-US" sz="2000" dirty="0">
                <a:solidFill>
                  <a:schemeClr val="accent5"/>
                </a:solidFill>
              </a:rPr>
              <a:t>            case OCTOBER:</a:t>
            </a:r>
          </a:p>
          <a:p>
            <a:pPr marL="0" indent="0">
              <a:buNone/>
            </a:pPr>
            <a:r>
              <a:rPr lang="en-US" sz="2000" dirty="0">
                <a:solidFill>
                  <a:schemeClr val="accent5"/>
                </a:solidFill>
              </a:rPr>
              <a:t>            case NOVEMBER:</a:t>
            </a:r>
          </a:p>
          <a:p>
            <a:pPr marL="0" indent="0">
              <a:buNone/>
            </a:pPr>
            <a:r>
              <a:rPr lang="en-US" sz="2000" dirty="0">
                <a:solidFill>
                  <a:schemeClr val="accent5"/>
                </a:solidFill>
              </a:rPr>
              <a:t>                season = "autumn";</a:t>
            </a:r>
          </a:p>
          <a:p>
            <a:pPr marL="0" indent="0">
              <a:buNone/>
            </a:pPr>
            <a:r>
              <a:rPr lang="en-US" sz="2000" dirty="0">
                <a:solidFill>
                  <a:schemeClr val="accent5"/>
                </a:solidFill>
              </a:rPr>
              <a:t>                break;</a:t>
            </a:r>
          </a:p>
          <a:p>
            <a:pPr marL="0" indent="0">
              <a:buNone/>
            </a:pPr>
            <a:r>
              <a:rPr lang="en-US" sz="2000" dirty="0">
                <a:solidFill>
                  <a:schemeClr val="accent5"/>
                </a:solidFill>
              </a:rPr>
              <a:t>            default: </a:t>
            </a:r>
          </a:p>
          <a:p>
            <a:pPr marL="0" indent="0">
              <a:buNone/>
            </a:pPr>
            <a:r>
              <a:rPr lang="en-US" sz="2000" dirty="0">
                <a:solidFill>
                  <a:schemeClr val="accent5"/>
                </a:solidFill>
              </a:rPr>
              <a:t>                season = "not identifiable";</a:t>
            </a:r>
          </a:p>
          <a:p>
            <a:pPr marL="0" indent="0">
              <a:buNone/>
            </a:pPr>
            <a:r>
              <a:rPr lang="en-US" sz="2000" dirty="0">
                <a:solidFill>
                  <a:schemeClr val="accent5"/>
                </a:solidFill>
              </a:rPr>
              <a:t>                break;</a:t>
            </a:r>
          </a:p>
          <a:p>
            <a:pPr marL="0" indent="0">
              <a:buNone/>
            </a:pPr>
            <a:r>
              <a:rPr lang="en-US" sz="2000" dirty="0">
                <a:solidFill>
                  <a:schemeClr val="accent5"/>
                </a:solidFill>
              </a:rPr>
              <a:t>        }</a:t>
            </a:r>
          </a:p>
          <a:p>
            <a:pPr marL="0" indent="0">
              <a:buNone/>
            </a:pPr>
            <a:r>
              <a:rPr lang="en-US" sz="2000" dirty="0">
                <a:solidFill>
                  <a:schemeClr val="accent5"/>
                </a:solidFill>
              </a:rPr>
              <a:t>        System.out.println("The season is </a:t>
            </a:r>
          </a:p>
          <a:p>
            <a:pPr marL="0" indent="0">
              <a:buNone/>
            </a:pPr>
            <a:r>
              <a:rPr lang="en-US" sz="2000" dirty="0">
                <a:solidFill>
                  <a:schemeClr val="accent5"/>
                </a:solidFill>
              </a:rPr>
              <a:t>             " + season);</a:t>
            </a:r>
          </a:p>
          <a:p>
            <a:pPr marL="0" indent="0">
              <a:buNone/>
            </a:pPr>
            <a:r>
              <a:rPr lang="en-US" sz="2000" dirty="0">
                <a:solidFill>
                  <a:schemeClr val="accent5"/>
                </a:solidFill>
              </a:rPr>
              <a:t>    }</a:t>
            </a:r>
          </a:p>
          <a:p>
            <a:pPr marL="0" indent="0">
              <a:buNone/>
            </a:pPr>
            <a:r>
              <a:rPr lang="en-US" sz="2000" dirty="0">
                <a:solidFill>
                  <a:schemeClr val="accent5"/>
                </a:solidFill>
              </a:rPr>
              <a:t>}</a:t>
            </a:r>
          </a:p>
        </p:txBody>
      </p:sp>
    </p:spTree>
    <p:extLst>
      <p:ext uri="{BB962C8B-B14F-4D97-AF65-F5344CB8AC3E}">
        <p14:creationId xmlns:p14="http://schemas.microsoft.com/office/powerpoint/2010/main" val="12373185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0" y="-18710"/>
            <a:ext cx="9143999" cy="999370"/>
          </a:xfrm>
        </p:spPr>
        <p:txBody>
          <a:bodyPr>
            <a:normAutofit/>
          </a:bodyPr>
          <a:lstStyle/>
          <a:p>
            <a:pPr algn="ctr"/>
            <a:r>
              <a:rPr lang="it-IT" i="1" dirty="0"/>
              <a:t>switch</a:t>
            </a:r>
            <a:r>
              <a:rPr lang="it-IT" dirty="0"/>
              <a:t> : Fall through con stringa</a:t>
            </a:r>
            <a:endParaRPr lang="it-IT" i="1"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39</a:t>
            </a:fld>
            <a:endParaRPr lang="it-IT"/>
          </a:p>
        </p:txBody>
      </p:sp>
      <p:sp>
        <p:nvSpPr>
          <p:cNvPr id="7" name="Segnaposto contenuto 6">
            <a:extLst>
              <a:ext uri="{FF2B5EF4-FFF2-40B4-BE49-F238E27FC236}">
                <a16:creationId xmlns:a16="http://schemas.microsoft.com/office/drawing/2014/main" id="{19E942AE-EBA0-48A5-AEAF-50D95216BB0A}"/>
              </a:ext>
            </a:extLst>
          </p:cNvPr>
          <p:cNvSpPr>
            <a:spLocks noGrp="1"/>
          </p:cNvSpPr>
          <p:nvPr>
            <p:ph idx="1"/>
          </p:nvPr>
        </p:nvSpPr>
        <p:spPr>
          <a:xfrm>
            <a:off x="0" y="836640"/>
            <a:ext cx="6372250" cy="6021360"/>
          </a:xfrm>
        </p:spPr>
        <p:txBody>
          <a:bodyPr>
            <a:noAutofit/>
          </a:bodyPr>
          <a:lstStyle/>
          <a:p>
            <a:pPr marL="0" indent="0">
              <a:buNone/>
            </a:pPr>
            <a:r>
              <a:rPr lang="it-IT" dirty="0">
                <a:solidFill>
                  <a:schemeClr val="accent5"/>
                </a:solidFill>
              </a:rPr>
              <a:t>public String </a:t>
            </a:r>
            <a:r>
              <a:rPr lang="it-IT" dirty="0" err="1">
                <a:solidFill>
                  <a:schemeClr val="accent5"/>
                </a:solidFill>
              </a:rPr>
              <a:t>getTipoGiornoSettimana</a:t>
            </a:r>
            <a:r>
              <a:rPr lang="it-IT" dirty="0">
                <a:solidFill>
                  <a:schemeClr val="accent5"/>
                </a:solidFill>
              </a:rPr>
              <a:t>(String </a:t>
            </a:r>
          </a:p>
          <a:p>
            <a:pPr marL="0" indent="0">
              <a:buNone/>
            </a:pPr>
            <a:r>
              <a:rPr lang="it-IT" dirty="0">
                <a:solidFill>
                  <a:schemeClr val="accent5"/>
                </a:solidFill>
              </a:rPr>
              <a:t>         </a:t>
            </a:r>
            <a:r>
              <a:rPr lang="it-IT" dirty="0" err="1">
                <a:solidFill>
                  <a:schemeClr val="accent5"/>
                </a:solidFill>
              </a:rPr>
              <a:t>giornoDellaSettimana</a:t>
            </a:r>
            <a:r>
              <a:rPr lang="it-IT" dirty="0">
                <a:solidFill>
                  <a:schemeClr val="accent5"/>
                </a:solidFill>
              </a:rPr>
              <a:t>) {</a:t>
            </a:r>
          </a:p>
          <a:p>
            <a:pPr marL="0" indent="0">
              <a:buNone/>
            </a:pPr>
            <a:r>
              <a:rPr lang="it-IT" dirty="0">
                <a:solidFill>
                  <a:schemeClr val="accent5"/>
                </a:solidFill>
              </a:rPr>
              <a:t>     String </a:t>
            </a:r>
            <a:r>
              <a:rPr lang="it-IT" dirty="0" err="1">
                <a:solidFill>
                  <a:schemeClr val="accent5"/>
                </a:solidFill>
              </a:rPr>
              <a:t>typeOfDay</a:t>
            </a:r>
            <a:r>
              <a:rPr lang="it-IT" dirty="0">
                <a:solidFill>
                  <a:schemeClr val="accent5"/>
                </a:solidFill>
              </a:rPr>
              <a:t>;</a:t>
            </a:r>
          </a:p>
          <a:p>
            <a:pPr marL="0" indent="0">
              <a:buNone/>
            </a:pPr>
            <a:r>
              <a:rPr lang="it-IT" dirty="0">
                <a:solidFill>
                  <a:schemeClr val="accent5"/>
                </a:solidFill>
              </a:rPr>
              <a:t>     switch (</a:t>
            </a:r>
            <a:r>
              <a:rPr lang="it-IT" dirty="0" err="1">
                <a:solidFill>
                  <a:schemeClr val="accent5"/>
                </a:solidFill>
              </a:rPr>
              <a:t>giornoDellaSettimana</a:t>
            </a:r>
            <a:r>
              <a:rPr lang="it-IT" dirty="0">
                <a:solidFill>
                  <a:schemeClr val="accent5"/>
                </a:solidFill>
              </a:rPr>
              <a:t>) {</a:t>
            </a:r>
          </a:p>
          <a:p>
            <a:pPr marL="0" indent="0">
              <a:buNone/>
            </a:pPr>
            <a:r>
              <a:rPr lang="it-IT" dirty="0">
                <a:solidFill>
                  <a:schemeClr val="accent5"/>
                </a:solidFill>
              </a:rPr>
              <a:t>         case "</a:t>
            </a:r>
            <a:r>
              <a:rPr lang="it-IT" dirty="0" err="1">
                <a:solidFill>
                  <a:schemeClr val="accent5"/>
                </a:solidFill>
              </a:rPr>
              <a:t>Monday</a:t>
            </a:r>
            <a:r>
              <a:rPr lang="it-IT" dirty="0">
                <a:solidFill>
                  <a:schemeClr val="accent5"/>
                </a:solidFill>
              </a:rPr>
              <a:t>":</a:t>
            </a:r>
          </a:p>
          <a:p>
            <a:pPr marL="0" indent="0">
              <a:buNone/>
            </a:pPr>
            <a:r>
              <a:rPr lang="it-IT" dirty="0">
                <a:solidFill>
                  <a:schemeClr val="accent5"/>
                </a:solidFill>
              </a:rPr>
              <a:t>             </a:t>
            </a:r>
            <a:r>
              <a:rPr lang="it-IT" dirty="0" err="1">
                <a:solidFill>
                  <a:schemeClr val="accent5"/>
                </a:solidFill>
              </a:rPr>
              <a:t>typeOfDay</a:t>
            </a:r>
            <a:r>
              <a:rPr lang="it-IT" dirty="0">
                <a:solidFill>
                  <a:schemeClr val="accent5"/>
                </a:solidFill>
              </a:rPr>
              <a:t> = </a:t>
            </a:r>
          </a:p>
          <a:p>
            <a:pPr marL="0" indent="0">
              <a:buNone/>
            </a:pPr>
            <a:r>
              <a:rPr lang="it-IT" dirty="0">
                <a:solidFill>
                  <a:schemeClr val="accent5"/>
                </a:solidFill>
              </a:rPr>
              <a:t>                  "Inizio settimana";</a:t>
            </a:r>
          </a:p>
          <a:p>
            <a:pPr marL="0" indent="0">
              <a:buNone/>
            </a:pPr>
            <a:r>
              <a:rPr lang="it-IT" dirty="0">
                <a:solidFill>
                  <a:schemeClr val="accent5"/>
                </a:solidFill>
              </a:rPr>
              <a:t>             break;</a:t>
            </a:r>
          </a:p>
          <a:p>
            <a:pPr marL="0" indent="0">
              <a:buNone/>
            </a:pPr>
            <a:r>
              <a:rPr lang="it-IT" dirty="0">
                <a:solidFill>
                  <a:schemeClr val="accent5"/>
                </a:solidFill>
              </a:rPr>
              <a:t>         case "</a:t>
            </a:r>
            <a:r>
              <a:rPr lang="it-IT" dirty="0" err="1">
                <a:solidFill>
                  <a:schemeClr val="accent5"/>
                </a:solidFill>
              </a:rPr>
              <a:t>Tuesday</a:t>
            </a:r>
            <a:r>
              <a:rPr lang="it-IT" dirty="0">
                <a:solidFill>
                  <a:schemeClr val="accent5"/>
                </a:solidFill>
              </a:rPr>
              <a:t>":</a:t>
            </a:r>
          </a:p>
          <a:p>
            <a:pPr marL="0" indent="0">
              <a:buNone/>
            </a:pPr>
            <a:r>
              <a:rPr lang="it-IT" dirty="0">
                <a:solidFill>
                  <a:schemeClr val="accent5"/>
                </a:solidFill>
              </a:rPr>
              <a:t>         case "Wednesday":</a:t>
            </a:r>
          </a:p>
          <a:p>
            <a:pPr marL="0" indent="0">
              <a:buNone/>
            </a:pPr>
            <a:r>
              <a:rPr lang="it-IT" dirty="0">
                <a:solidFill>
                  <a:schemeClr val="accent5"/>
                </a:solidFill>
              </a:rPr>
              <a:t>         case "</a:t>
            </a:r>
            <a:r>
              <a:rPr lang="it-IT" dirty="0" err="1">
                <a:solidFill>
                  <a:schemeClr val="accent5"/>
                </a:solidFill>
              </a:rPr>
              <a:t>Thursday</a:t>
            </a:r>
            <a:r>
              <a:rPr lang="it-IT" dirty="0">
                <a:solidFill>
                  <a:schemeClr val="accent5"/>
                </a:solidFill>
              </a:rPr>
              <a:t>":</a:t>
            </a:r>
          </a:p>
          <a:p>
            <a:pPr marL="0" indent="0">
              <a:buNone/>
            </a:pPr>
            <a:r>
              <a:rPr lang="it-IT" dirty="0">
                <a:solidFill>
                  <a:schemeClr val="accent5"/>
                </a:solidFill>
              </a:rPr>
              <a:t>             </a:t>
            </a:r>
            <a:r>
              <a:rPr lang="it-IT" dirty="0" err="1">
                <a:solidFill>
                  <a:schemeClr val="accent5"/>
                </a:solidFill>
              </a:rPr>
              <a:t>typeOfDay</a:t>
            </a:r>
            <a:r>
              <a:rPr lang="it-IT" dirty="0">
                <a:solidFill>
                  <a:schemeClr val="accent5"/>
                </a:solidFill>
              </a:rPr>
              <a:t> = </a:t>
            </a:r>
          </a:p>
          <a:p>
            <a:pPr marL="0" indent="0">
              <a:buNone/>
            </a:pPr>
            <a:r>
              <a:rPr lang="it-IT" dirty="0">
                <a:solidFill>
                  <a:schemeClr val="accent5"/>
                </a:solidFill>
              </a:rPr>
              <a:t>                  "Settimana piena";</a:t>
            </a:r>
          </a:p>
          <a:p>
            <a:pPr marL="0" indent="0">
              <a:buNone/>
            </a:pPr>
            <a:r>
              <a:rPr lang="it-IT" dirty="0">
                <a:solidFill>
                  <a:schemeClr val="accent5"/>
                </a:solidFill>
              </a:rPr>
              <a:t>             break;</a:t>
            </a:r>
          </a:p>
          <a:p>
            <a:pPr marL="0" indent="0">
              <a:buNone/>
            </a:pPr>
            <a:r>
              <a:rPr lang="it-IT" sz="2000" dirty="0">
                <a:solidFill>
                  <a:schemeClr val="accent5"/>
                </a:solidFill>
              </a:rPr>
              <a:t>         </a:t>
            </a:r>
          </a:p>
        </p:txBody>
      </p:sp>
      <p:sp>
        <p:nvSpPr>
          <p:cNvPr id="9" name="CasellaDiTesto 8">
            <a:extLst>
              <a:ext uri="{FF2B5EF4-FFF2-40B4-BE49-F238E27FC236}">
                <a16:creationId xmlns:a16="http://schemas.microsoft.com/office/drawing/2014/main" id="{020942C0-C794-47C3-9249-F1A2EB4C7640}"/>
              </a:ext>
            </a:extLst>
          </p:cNvPr>
          <p:cNvSpPr txBox="1"/>
          <p:nvPr/>
        </p:nvSpPr>
        <p:spPr>
          <a:xfrm>
            <a:off x="4932050" y="1511270"/>
            <a:ext cx="4620768" cy="4832092"/>
          </a:xfrm>
          <a:prstGeom prst="rect">
            <a:avLst/>
          </a:prstGeom>
          <a:noFill/>
        </p:spPr>
        <p:txBody>
          <a:bodyPr wrap="square">
            <a:spAutoFit/>
          </a:bodyPr>
          <a:lstStyle/>
          <a:p>
            <a:pPr marL="0" indent="0">
              <a:buNone/>
            </a:pPr>
            <a:r>
              <a:rPr lang="it-IT" sz="2200" dirty="0">
                <a:solidFill>
                  <a:schemeClr val="accent5"/>
                </a:solidFill>
              </a:rPr>
              <a:t>case "</a:t>
            </a:r>
            <a:r>
              <a:rPr lang="it-IT" sz="2200" dirty="0" err="1">
                <a:solidFill>
                  <a:schemeClr val="accent5"/>
                </a:solidFill>
              </a:rPr>
              <a:t>Friday</a:t>
            </a:r>
            <a:r>
              <a:rPr lang="it-IT" sz="2200" dirty="0">
                <a:solidFill>
                  <a:schemeClr val="accent5"/>
                </a:solidFill>
              </a:rPr>
              <a:t>":</a:t>
            </a:r>
          </a:p>
          <a:p>
            <a:pPr marL="0" indent="0">
              <a:buNone/>
            </a:pPr>
            <a:r>
              <a:rPr lang="it-IT" sz="2200" dirty="0">
                <a:solidFill>
                  <a:schemeClr val="accent5"/>
                </a:solidFill>
              </a:rPr>
              <a:t>             </a:t>
            </a:r>
            <a:r>
              <a:rPr lang="it-IT" sz="2200" dirty="0" err="1">
                <a:solidFill>
                  <a:schemeClr val="accent5"/>
                </a:solidFill>
              </a:rPr>
              <a:t>typeOfDay</a:t>
            </a:r>
            <a:r>
              <a:rPr lang="it-IT" sz="2200" dirty="0">
                <a:solidFill>
                  <a:schemeClr val="accent5"/>
                </a:solidFill>
              </a:rPr>
              <a:t> = "Fine settimana lavorativa";</a:t>
            </a:r>
          </a:p>
          <a:p>
            <a:pPr marL="0" indent="0">
              <a:buNone/>
            </a:pPr>
            <a:r>
              <a:rPr lang="it-IT" sz="2200" dirty="0">
                <a:solidFill>
                  <a:schemeClr val="accent5"/>
                </a:solidFill>
              </a:rPr>
              <a:t>             break;</a:t>
            </a:r>
          </a:p>
          <a:p>
            <a:pPr marL="0" indent="0">
              <a:buNone/>
            </a:pPr>
            <a:r>
              <a:rPr lang="it-IT" sz="2200" dirty="0">
                <a:solidFill>
                  <a:schemeClr val="accent5"/>
                </a:solidFill>
              </a:rPr>
              <a:t>         case "</a:t>
            </a:r>
            <a:r>
              <a:rPr lang="it-IT" sz="2200" dirty="0" err="1">
                <a:solidFill>
                  <a:schemeClr val="accent5"/>
                </a:solidFill>
              </a:rPr>
              <a:t>Saturday</a:t>
            </a:r>
            <a:r>
              <a:rPr lang="it-IT" sz="2200" dirty="0">
                <a:solidFill>
                  <a:schemeClr val="accent5"/>
                </a:solidFill>
              </a:rPr>
              <a:t>":</a:t>
            </a:r>
          </a:p>
          <a:p>
            <a:pPr marL="0" indent="0">
              <a:buNone/>
            </a:pPr>
            <a:r>
              <a:rPr lang="it-IT" sz="2200" dirty="0">
                <a:solidFill>
                  <a:schemeClr val="accent5"/>
                </a:solidFill>
              </a:rPr>
              <a:t>         case "Sunday":</a:t>
            </a:r>
          </a:p>
          <a:p>
            <a:pPr marL="0" indent="0">
              <a:buNone/>
            </a:pPr>
            <a:r>
              <a:rPr lang="it-IT" sz="2200" dirty="0">
                <a:solidFill>
                  <a:schemeClr val="accent5"/>
                </a:solidFill>
              </a:rPr>
              <a:t>             </a:t>
            </a:r>
            <a:r>
              <a:rPr lang="it-IT" sz="2200" dirty="0" err="1">
                <a:solidFill>
                  <a:schemeClr val="accent5"/>
                </a:solidFill>
              </a:rPr>
              <a:t>typeOfDay</a:t>
            </a:r>
            <a:r>
              <a:rPr lang="it-IT" sz="2200" dirty="0">
                <a:solidFill>
                  <a:schemeClr val="accent5"/>
                </a:solidFill>
              </a:rPr>
              <a:t> = "Weekend";</a:t>
            </a:r>
          </a:p>
          <a:p>
            <a:pPr marL="0" indent="0">
              <a:buNone/>
            </a:pPr>
            <a:r>
              <a:rPr lang="it-IT" sz="2200" dirty="0">
                <a:solidFill>
                  <a:schemeClr val="accent5"/>
                </a:solidFill>
              </a:rPr>
              <a:t>             break;</a:t>
            </a:r>
          </a:p>
          <a:p>
            <a:pPr marL="0" indent="0">
              <a:buNone/>
            </a:pPr>
            <a:r>
              <a:rPr lang="it-IT" sz="2200" dirty="0">
                <a:solidFill>
                  <a:schemeClr val="accent5"/>
                </a:solidFill>
              </a:rPr>
              <a:t>         default:</a:t>
            </a:r>
          </a:p>
          <a:p>
            <a:pPr marL="0" indent="0">
              <a:buNone/>
            </a:pPr>
            <a:r>
              <a:rPr lang="it-IT" sz="2200" dirty="0">
                <a:solidFill>
                  <a:schemeClr val="accent5"/>
                </a:solidFill>
              </a:rPr>
              <a:t>             </a:t>
            </a:r>
            <a:r>
              <a:rPr lang="it-IT" sz="2200" dirty="0" err="1">
                <a:solidFill>
                  <a:schemeClr val="accent5"/>
                </a:solidFill>
              </a:rPr>
              <a:t>typeOfDay</a:t>
            </a:r>
            <a:r>
              <a:rPr lang="it-IT" sz="2200" dirty="0">
                <a:solidFill>
                  <a:schemeClr val="accent5"/>
                </a:solidFill>
              </a:rPr>
              <a:t> = "Indefinito!";</a:t>
            </a:r>
          </a:p>
          <a:p>
            <a:pPr marL="0" indent="0">
              <a:buNone/>
            </a:pPr>
            <a:r>
              <a:rPr lang="it-IT" sz="2200" dirty="0">
                <a:solidFill>
                  <a:schemeClr val="accent5"/>
                </a:solidFill>
              </a:rPr>
              <a:t>             break;</a:t>
            </a:r>
          </a:p>
          <a:p>
            <a:pPr marL="0" indent="0">
              <a:buNone/>
            </a:pPr>
            <a:r>
              <a:rPr lang="it-IT" sz="2200" dirty="0">
                <a:solidFill>
                  <a:schemeClr val="accent5"/>
                </a:solidFill>
              </a:rPr>
              <a:t>     }</a:t>
            </a:r>
          </a:p>
          <a:p>
            <a:pPr marL="0" indent="0">
              <a:buNone/>
            </a:pPr>
            <a:r>
              <a:rPr lang="it-IT" sz="2200" dirty="0">
                <a:solidFill>
                  <a:schemeClr val="accent5"/>
                </a:solidFill>
              </a:rPr>
              <a:t>     return </a:t>
            </a:r>
            <a:r>
              <a:rPr lang="it-IT" sz="2200" dirty="0" err="1">
                <a:solidFill>
                  <a:schemeClr val="accent5"/>
                </a:solidFill>
              </a:rPr>
              <a:t>typeOfDay</a:t>
            </a:r>
            <a:r>
              <a:rPr lang="it-IT" sz="2200" dirty="0">
                <a:solidFill>
                  <a:schemeClr val="accent5"/>
                </a:solidFill>
              </a:rPr>
              <a:t>;</a:t>
            </a:r>
          </a:p>
          <a:p>
            <a:pPr marL="0" indent="0">
              <a:buNone/>
            </a:pPr>
            <a:r>
              <a:rPr lang="it-IT" sz="2200" dirty="0">
                <a:solidFill>
                  <a:schemeClr val="accent5"/>
                </a:solidFill>
              </a:rPr>
              <a:t>}</a:t>
            </a:r>
          </a:p>
        </p:txBody>
      </p:sp>
    </p:spTree>
    <p:extLst>
      <p:ext uri="{BB962C8B-B14F-4D97-AF65-F5344CB8AC3E}">
        <p14:creationId xmlns:p14="http://schemas.microsoft.com/office/powerpoint/2010/main" val="19066670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628650" y="-7496"/>
            <a:ext cx="7886700" cy="988156"/>
          </a:xfrm>
        </p:spPr>
        <p:txBody>
          <a:bodyPr>
            <a:normAutofit/>
          </a:bodyPr>
          <a:lstStyle/>
          <a:p>
            <a:pPr algn="ctr"/>
            <a:r>
              <a:rPr lang="it-IT" dirty="0"/>
              <a:t>Il nuovo </a:t>
            </a:r>
            <a:r>
              <a:rPr lang="it-IT" i="1" dirty="0"/>
              <a:t>switch</a:t>
            </a:r>
            <a:r>
              <a:rPr lang="it-IT" dirty="0"/>
              <a:t>: notazione freccia</a:t>
            </a:r>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40</a:t>
            </a:fld>
            <a:endParaRPr lang="it-IT"/>
          </a:p>
        </p:txBody>
      </p:sp>
      <p:sp>
        <p:nvSpPr>
          <p:cNvPr id="7" name="Segnaposto contenuto 6">
            <a:extLst>
              <a:ext uri="{FF2B5EF4-FFF2-40B4-BE49-F238E27FC236}">
                <a16:creationId xmlns:a16="http://schemas.microsoft.com/office/drawing/2014/main" id="{19E942AE-EBA0-48A5-AEAF-50D95216BB0A}"/>
              </a:ext>
            </a:extLst>
          </p:cNvPr>
          <p:cNvSpPr>
            <a:spLocks noGrp="1"/>
          </p:cNvSpPr>
          <p:nvPr>
            <p:ph idx="1"/>
          </p:nvPr>
        </p:nvSpPr>
        <p:spPr>
          <a:xfrm>
            <a:off x="0" y="836640"/>
            <a:ext cx="9144000" cy="5544770"/>
          </a:xfrm>
        </p:spPr>
        <p:txBody>
          <a:bodyPr>
            <a:noAutofit/>
          </a:bodyPr>
          <a:lstStyle/>
          <a:p>
            <a:pPr marL="0" indent="0">
              <a:buNone/>
            </a:pPr>
            <a:r>
              <a:rPr lang="it-IT" dirty="0">
                <a:solidFill>
                  <a:schemeClr val="accent5"/>
                </a:solidFill>
              </a:rPr>
              <a:t>import </a:t>
            </a:r>
            <a:r>
              <a:rPr lang="it-IT" dirty="0" err="1">
                <a:solidFill>
                  <a:schemeClr val="accent5"/>
                </a:solidFill>
              </a:rPr>
              <a:t>java.time.Month</a:t>
            </a:r>
            <a:r>
              <a:rPr lang="it-IT" dirty="0">
                <a:solidFill>
                  <a:schemeClr val="accent5"/>
                </a:solidFill>
              </a:rPr>
              <a:t>;</a:t>
            </a:r>
          </a:p>
          <a:p>
            <a:pPr marL="0" indent="0">
              <a:buNone/>
            </a:pPr>
            <a:r>
              <a:rPr lang="it-IT" dirty="0">
                <a:solidFill>
                  <a:schemeClr val="accent5"/>
                </a:solidFill>
              </a:rPr>
              <a:t>public class </a:t>
            </a:r>
            <a:r>
              <a:rPr lang="it-IT" dirty="0" err="1">
                <a:solidFill>
                  <a:schemeClr val="accent5"/>
                </a:solidFill>
              </a:rPr>
              <a:t>SeasonSwitchStatementArrowEnumTest</a:t>
            </a:r>
            <a:r>
              <a:rPr lang="it-IT" dirty="0">
                <a:solidFill>
                  <a:schemeClr val="accent5"/>
                </a:solidFill>
              </a:rPr>
              <a:t> {</a:t>
            </a:r>
          </a:p>
          <a:p>
            <a:pPr marL="0" indent="0">
              <a:buNone/>
            </a:pPr>
            <a:r>
              <a:rPr lang="it-IT" dirty="0">
                <a:solidFill>
                  <a:schemeClr val="accent5"/>
                </a:solidFill>
              </a:rPr>
              <a:t>    public static void main(String args[]) {</a:t>
            </a:r>
          </a:p>
          <a:p>
            <a:pPr marL="0" indent="0">
              <a:buNone/>
            </a:pPr>
            <a:r>
              <a:rPr lang="it-IT" dirty="0">
                <a:solidFill>
                  <a:schemeClr val="accent5"/>
                </a:solidFill>
              </a:rPr>
              <a:t>        </a:t>
            </a:r>
            <a:r>
              <a:rPr lang="it-IT" dirty="0" err="1">
                <a:solidFill>
                  <a:schemeClr val="accent5"/>
                </a:solidFill>
              </a:rPr>
              <a:t>Month</a:t>
            </a:r>
            <a:r>
              <a:rPr lang="it-IT" dirty="0">
                <a:solidFill>
                  <a:schemeClr val="accent5"/>
                </a:solidFill>
              </a:rPr>
              <a:t> </a:t>
            </a:r>
            <a:r>
              <a:rPr lang="it-IT" dirty="0" err="1">
                <a:solidFill>
                  <a:schemeClr val="accent5"/>
                </a:solidFill>
              </a:rPr>
              <a:t>month</a:t>
            </a:r>
            <a:r>
              <a:rPr lang="it-IT" dirty="0">
                <a:solidFill>
                  <a:schemeClr val="accent5"/>
                </a:solidFill>
              </a:rPr>
              <a:t> = </a:t>
            </a:r>
            <a:r>
              <a:rPr lang="it-IT" dirty="0" err="1">
                <a:solidFill>
                  <a:schemeClr val="accent5"/>
                </a:solidFill>
              </a:rPr>
              <a:t>Month.APRIL</a:t>
            </a:r>
            <a:r>
              <a:rPr lang="it-IT" dirty="0">
                <a:solidFill>
                  <a:schemeClr val="accent5"/>
                </a:solidFill>
              </a:rPr>
              <a:t>;</a:t>
            </a:r>
          </a:p>
          <a:p>
            <a:pPr marL="0" indent="0">
              <a:buNone/>
            </a:pPr>
            <a:r>
              <a:rPr lang="it-IT" dirty="0">
                <a:solidFill>
                  <a:schemeClr val="accent5"/>
                </a:solidFill>
              </a:rPr>
              <a:t>        String season = null;</a:t>
            </a:r>
          </a:p>
          <a:p>
            <a:pPr marL="0" indent="0">
              <a:buNone/>
            </a:pPr>
            <a:r>
              <a:rPr lang="it-IT" dirty="0">
                <a:solidFill>
                  <a:schemeClr val="accent5"/>
                </a:solidFill>
              </a:rPr>
              <a:t>        switch (</a:t>
            </a:r>
            <a:r>
              <a:rPr lang="it-IT" dirty="0" err="1">
                <a:solidFill>
                  <a:schemeClr val="accent5"/>
                </a:solidFill>
              </a:rPr>
              <a:t>month</a:t>
            </a:r>
            <a:r>
              <a:rPr lang="it-IT" dirty="0">
                <a:solidFill>
                  <a:schemeClr val="accent5"/>
                </a:solidFill>
              </a:rPr>
              <a:t>) {</a:t>
            </a:r>
          </a:p>
          <a:p>
            <a:pPr marL="0" indent="0">
              <a:buNone/>
            </a:pPr>
            <a:r>
              <a:rPr lang="it-IT" dirty="0">
                <a:solidFill>
                  <a:schemeClr val="accent5"/>
                </a:solidFill>
              </a:rPr>
              <a:t>            case DECEMBER, JANUARY, FEBRUARY -&gt; season = "</a:t>
            </a:r>
            <a:r>
              <a:rPr lang="it-IT" dirty="0" err="1">
                <a:solidFill>
                  <a:schemeClr val="accent5"/>
                </a:solidFill>
              </a:rPr>
              <a:t>winter</a:t>
            </a:r>
            <a:r>
              <a:rPr lang="it-IT" dirty="0">
                <a:solidFill>
                  <a:schemeClr val="accent5"/>
                </a:solidFill>
              </a:rPr>
              <a:t>";</a:t>
            </a:r>
          </a:p>
          <a:p>
            <a:pPr marL="0" indent="0">
              <a:buNone/>
            </a:pPr>
            <a:r>
              <a:rPr lang="it-IT" dirty="0">
                <a:solidFill>
                  <a:schemeClr val="accent5"/>
                </a:solidFill>
              </a:rPr>
              <a:t>            case MARCH, APRIL, MAY -&gt; season = "spring";</a:t>
            </a:r>
          </a:p>
          <a:p>
            <a:pPr marL="0" indent="0">
              <a:buNone/>
            </a:pPr>
            <a:r>
              <a:rPr lang="it-IT" dirty="0">
                <a:solidFill>
                  <a:schemeClr val="accent5"/>
                </a:solidFill>
              </a:rPr>
              <a:t>            case JUNE, JULY, AUGUST -&gt; season = "</a:t>
            </a:r>
            <a:r>
              <a:rPr lang="it-IT" dirty="0" err="1">
                <a:solidFill>
                  <a:schemeClr val="accent5"/>
                </a:solidFill>
              </a:rPr>
              <a:t>summer</a:t>
            </a:r>
            <a:r>
              <a:rPr lang="it-IT" dirty="0">
                <a:solidFill>
                  <a:schemeClr val="accent5"/>
                </a:solidFill>
              </a:rPr>
              <a:t>";</a:t>
            </a:r>
          </a:p>
          <a:p>
            <a:pPr marL="0" indent="0">
              <a:buNone/>
            </a:pPr>
            <a:r>
              <a:rPr lang="it-IT" dirty="0">
                <a:solidFill>
                  <a:schemeClr val="accent5"/>
                </a:solidFill>
              </a:rPr>
              <a:t>            case SEPTEMBER, OCTOBER, NOVEMBER -&gt; season = "</a:t>
            </a:r>
            <a:r>
              <a:rPr lang="it-IT" dirty="0" err="1">
                <a:solidFill>
                  <a:schemeClr val="accent5"/>
                </a:solidFill>
              </a:rPr>
              <a:t>autumn</a:t>
            </a:r>
            <a:r>
              <a:rPr lang="it-IT" dirty="0">
                <a:solidFill>
                  <a:schemeClr val="accent5"/>
                </a:solidFill>
              </a:rPr>
              <a:t>";</a:t>
            </a:r>
          </a:p>
          <a:p>
            <a:pPr marL="0" indent="0">
              <a:buNone/>
            </a:pPr>
            <a:r>
              <a:rPr lang="it-IT" dirty="0">
                <a:solidFill>
                  <a:schemeClr val="accent5"/>
                </a:solidFill>
              </a:rPr>
              <a:t>        }</a:t>
            </a:r>
          </a:p>
          <a:p>
            <a:pPr marL="0" indent="0">
              <a:buNone/>
            </a:pPr>
            <a:r>
              <a:rPr lang="it-IT" dirty="0">
                <a:solidFill>
                  <a:schemeClr val="accent5"/>
                </a:solidFill>
              </a:rPr>
              <a:t>        System.out.println("The season is " + season);</a:t>
            </a:r>
          </a:p>
          <a:p>
            <a:pPr marL="0" indent="0">
              <a:buNone/>
            </a:pPr>
            <a:r>
              <a:rPr lang="it-IT" dirty="0">
                <a:solidFill>
                  <a:schemeClr val="accent5"/>
                </a:solidFill>
              </a:rPr>
              <a:t>    }</a:t>
            </a:r>
          </a:p>
          <a:p>
            <a:pPr marL="0" indent="0">
              <a:buNone/>
            </a:pPr>
            <a:r>
              <a:rPr lang="it-IT" dirty="0">
                <a:solidFill>
                  <a:schemeClr val="accent5"/>
                </a:solidFill>
              </a:rPr>
              <a:t>}</a:t>
            </a:r>
          </a:p>
          <a:p>
            <a:pPr marL="0" indent="0">
              <a:buNone/>
            </a:pPr>
            <a:endParaRPr lang="it-IT" dirty="0">
              <a:solidFill>
                <a:schemeClr val="accent5"/>
              </a:solidFill>
            </a:endParaRPr>
          </a:p>
        </p:txBody>
      </p:sp>
    </p:spTree>
    <p:extLst>
      <p:ext uri="{BB962C8B-B14F-4D97-AF65-F5344CB8AC3E}">
        <p14:creationId xmlns:p14="http://schemas.microsoft.com/office/powerpoint/2010/main" val="23293031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628650" y="-7496"/>
            <a:ext cx="7886700" cy="988156"/>
          </a:xfrm>
        </p:spPr>
        <p:txBody>
          <a:bodyPr>
            <a:normAutofit/>
          </a:bodyPr>
          <a:lstStyle/>
          <a:p>
            <a:pPr algn="ctr"/>
            <a:r>
              <a:rPr lang="it-IT" dirty="0"/>
              <a:t>Il nuovo </a:t>
            </a:r>
            <a:r>
              <a:rPr lang="it-IT" i="1" dirty="0"/>
              <a:t>switch</a:t>
            </a:r>
            <a:r>
              <a:rPr lang="it-IT" dirty="0"/>
              <a:t>: notazione freccia</a:t>
            </a:r>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41</a:t>
            </a:fld>
            <a:endParaRPr lang="it-IT"/>
          </a:p>
        </p:txBody>
      </p:sp>
      <p:sp>
        <p:nvSpPr>
          <p:cNvPr id="7" name="Segnaposto contenuto 6">
            <a:extLst>
              <a:ext uri="{FF2B5EF4-FFF2-40B4-BE49-F238E27FC236}">
                <a16:creationId xmlns:a16="http://schemas.microsoft.com/office/drawing/2014/main" id="{19E942AE-EBA0-48A5-AEAF-50D95216BB0A}"/>
              </a:ext>
            </a:extLst>
          </p:cNvPr>
          <p:cNvSpPr>
            <a:spLocks noGrp="1"/>
          </p:cNvSpPr>
          <p:nvPr>
            <p:ph idx="1"/>
          </p:nvPr>
        </p:nvSpPr>
        <p:spPr>
          <a:xfrm>
            <a:off x="0" y="836640"/>
            <a:ext cx="9144000" cy="6021360"/>
          </a:xfrm>
        </p:spPr>
        <p:txBody>
          <a:bodyPr>
            <a:noAutofit/>
          </a:bodyPr>
          <a:lstStyle/>
          <a:p>
            <a:r>
              <a:rPr lang="it-IT" dirty="0">
                <a:solidFill>
                  <a:schemeClr val="tx1"/>
                </a:solidFill>
              </a:rPr>
              <a:t>I vari case possono dichiarare più label separate da virgole (il fall through non è necessario, anzi non può usare) </a:t>
            </a:r>
          </a:p>
          <a:p>
            <a:r>
              <a:rPr lang="it-IT" dirty="0">
                <a:solidFill>
                  <a:schemeClr val="tx1"/>
                </a:solidFill>
              </a:rPr>
              <a:t>Non c’è stato bisogno di utilizzare la parola chiave </a:t>
            </a:r>
            <a:r>
              <a:rPr lang="it-IT" i="1" dirty="0">
                <a:solidFill>
                  <a:schemeClr val="tx1"/>
                </a:solidFill>
              </a:rPr>
              <a:t>break</a:t>
            </a:r>
            <a:endParaRPr lang="it-IT" dirty="0">
              <a:solidFill>
                <a:schemeClr val="tx1"/>
              </a:solidFill>
            </a:endParaRPr>
          </a:p>
          <a:p>
            <a:r>
              <a:rPr lang="it-IT" dirty="0">
                <a:solidFill>
                  <a:schemeClr val="tx1"/>
                </a:solidFill>
              </a:rPr>
              <a:t>La sintassi basata sulla notazione freccia, rende il nostro codice meno verboso, più chiaro, ed eliminando la possibilità di eseguire il fall through, anche più facile da gestire.</a:t>
            </a:r>
          </a:p>
          <a:p>
            <a:r>
              <a:rPr lang="it-IT" dirty="0">
                <a:solidFill>
                  <a:schemeClr val="tx1"/>
                </a:solidFill>
              </a:rPr>
              <a:t>Notare che per specificare più istruzioni dopo la notazione freccia, bisogna includerle in una coppia di parentesi graffe. per esempio:</a:t>
            </a:r>
          </a:p>
          <a:p>
            <a:pPr marL="0" indent="0">
              <a:buNone/>
            </a:pPr>
            <a:r>
              <a:rPr lang="it-IT" dirty="0">
                <a:solidFill>
                  <a:schemeClr val="accent5"/>
                </a:solidFill>
              </a:rPr>
              <a:t>        switch (</a:t>
            </a:r>
            <a:r>
              <a:rPr lang="it-IT" dirty="0" err="1">
                <a:solidFill>
                  <a:schemeClr val="accent5"/>
                </a:solidFill>
              </a:rPr>
              <a:t>month</a:t>
            </a:r>
            <a:r>
              <a:rPr lang="it-IT" dirty="0">
                <a:solidFill>
                  <a:schemeClr val="accent5"/>
                </a:solidFill>
              </a:rPr>
              <a:t>) {</a:t>
            </a:r>
          </a:p>
          <a:p>
            <a:pPr marL="0" indent="0">
              <a:buNone/>
            </a:pPr>
            <a:r>
              <a:rPr lang="it-IT" dirty="0">
                <a:solidFill>
                  <a:schemeClr val="accent5"/>
                </a:solidFill>
              </a:rPr>
              <a:t>            case DECEMBER, JANUARY, FEBRUARY -&gt; {</a:t>
            </a:r>
          </a:p>
          <a:p>
            <a:pPr marL="0" indent="0">
              <a:buNone/>
            </a:pPr>
            <a:r>
              <a:rPr lang="it-IT" dirty="0">
                <a:solidFill>
                  <a:schemeClr val="accent5"/>
                </a:solidFill>
              </a:rPr>
              <a:t>                season = "</a:t>
            </a:r>
            <a:r>
              <a:rPr lang="it-IT" dirty="0" err="1">
                <a:solidFill>
                  <a:schemeClr val="accent5"/>
                </a:solidFill>
              </a:rPr>
              <a:t>winter</a:t>
            </a:r>
            <a:r>
              <a:rPr lang="it-IT" dirty="0">
                <a:solidFill>
                  <a:schemeClr val="accent5"/>
                </a:solidFill>
              </a:rPr>
              <a:t>";</a:t>
            </a:r>
          </a:p>
          <a:p>
            <a:pPr marL="0" indent="0">
              <a:buNone/>
            </a:pPr>
            <a:r>
              <a:rPr lang="it-IT" dirty="0">
                <a:solidFill>
                  <a:schemeClr val="accent5"/>
                </a:solidFill>
              </a:rPr>
              <a:t>                System.out.println("OK");</a:t>
            </a:r>
          </a:p>
          <a:p>
            <a:pPr marL="0" indent="0">
              <a:buNone/>
            </a:pPr>
            <a:r>
              <a:rPr lang="it-IT" dirty="0">
                <a:solidFill>
                  <a:schemeClr val="accent5"/>
                </a:solidFill>
              </a:rPr>
              <a:t>            }</a:t>
            </a:r>
          </a:p>
          <a:p>
            <a:pPr marL="0" indent="0">
              <a:buNone/>
            </a:pPr>
            <a:r>
              <a:rPr lang="it-IT" dirty="0">
                <a:solidFill>
                  <a:schemeClr val="accent5"/>
                </a:solidFill>
              </a:rPr>
              <a:t>            // resto del codice omesso</a:t>
            </a:r>
          </a:p>
        </p:txBody>
      </p:sp>
    </p:spTree>
    <p:extLst>
      <p:ext uri="{BB962C8B-B14F-4D97-AF65-F5344CB8AC3E}">
        <p14:creationId xmlns:p14="http://schemas.microsoft.com/office/powerpoint/2010/main" val="35720521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0" y="-7496"/>
            <a:ext cx="9144000" cy="988156"/>
          </a:xfrm>
        </p:spPr>
        <p:txBody>
          <a:bodyPr>
            <a:normAutofit fontScale="90000"/>
          </a:bodyPr>
          <a:lstStyle/>
          <a:p>
            <a:pPr algn="ctr"/>
            <a:r>
              <a:rPr lang="it-IT" dirty="0"/>
              <a:t>Il nuovo </a:t>
            </a:r>
            <a:r>
              <a:rPr lang="it-IT" i="1" dirty="0"/>
              <a:t>switch</a:t>
            </a:r>
            <a:r>
              <a:rPr lang="it-IT" dirty="0"/>
              <a:t>: notazione freccia ed enum</a:t>
            </a:r>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42</a:t>
            </a:fld>
            <a:endParaRPr lang="it-IT"/>
          </a:p>
        </p:txBody>
      </p:sp>
      <p:sp>
        <p:nvSpPr>
          <p:cNvPr id="7" name="Segnaposto contenuto 6">
            <a:extLst>
              <a:ext uri="{FF2B5EF4-FFF2-40B4-BE49-F238E27FC236}">
                <a16:creationId xmlns:a16="http://schemas.microsoft.com/office/drawing/2014/main" id="{19E942AE-EBA0-48A5-AEAF-50D95216BB0A}"/>
              </a:ext>
            </a:extLst>
          </p:cNvPr>
          <p:cNvSpPr>
            <a:spLocks noGrp="1"/>
          </p:cNvSpPr>
          <p:nvPr>
            <p:ph idx="1"/>
          </p:nvPr>
        </p:nvSpPr>
        <p:spPr>
          <a:xfrm>
            <a:off x="0" y="836640"/>
            <a:ext cx="9144000" cy="6021360"/>
          </a:xfrm>
        </p:spPr>
        <p:txBody>
          <a:bodyPr>
            <a:noAutofit/>
          </a:bodyPr>
          <a:lstStyle/>
          <a:p>
            <a:pPr marL="0" indent="0">
              <a:buNone/>
            </a:pPr>
            <a:r>
              <a:rPr lang="it-IT" sz="2800" dirty="0">
                <a:solidFill>
                  <a:schemeClr val="accent5"/>
                </a:solidFill>
              </a:rPr>
              <a:t>public enum Colore {</a:t>
            </a:r>
          </a:p>
          <a:p>
            <a:pPr marL="0" indent="0">
              <a:buNone/>
            </a:pPr>
            <a:r>
              <a:rPr lang="it-IT" sz="2800" dirty="0">
                <a:solidFill>
                  <a:schemeClr val="accent5"/>
                </a:solidFill>
              </a:rPr>
              <a:t>    VERDE, GIALLO, ROSSO;</a:t>
            </a:r>
          </a:p>
          <a:p>
            <a:pPr marL="0" indent="0">
              <a:buNone/>
            </a:pPr>
            <a:r>
              <a:rPr lang="it-IT" sz="2800" dirty="0">
                <a:solidFill>
                  <a:schemeClr val="accent5"/>
                </a:solidFill>
              </a:rPr>
              <a:t>}</a:t>
            </a:r>
          </a:p>
          <a:p>
            <a:pPr marL="0" indent="0">
              <a:buNone/>
            </a:pPr>
            <a:r>
              <a:rPr lang="it-IT" sz="2800" dirty="0">
                <a:solidFill>
                  <a:schemeClr val="accent5"/>
                </a:solidFill>
              </a:rPr>
              <a:t>public class Semaforo {</a:t>
            </a:r>
          </a:p>
          <a:p>
            <a:pPr marL="0" indent="0">
              <a:buNone/>
            </a:pPr>
            <a:r>
              <a:rPr lang="it-IT" sz="2800" dirty="0">
                <a:solidFill>
                  <a:schemeClr val="accent5"/>
                </a:solidFill>
              </a:rPr>
              <a:t>    public void </a:t>
            </a:r>
            <a:r>
              <a:rPr lang="it-IT" sz="2800" dirty="0" err="1">
                <a:solidFill>
                  <a:schemeClr val="accent5"/>
                </a:solidFill>
              </a:rPr>
              <a:t>cambiaColore</a:t>
            </a:r>
            <a:r>
              <a:rPr lang="it-IT" sz="2800" dirty="0">
                <a:solidFill>
                  <a:schemeClr val="accent5"/>
                </a:solidFill>
              </a:rPr>
              <a:t>(Colore </a:t>
            </a:r>
            <a:r>
              <a:rPr lang="it-IT" sz="2800" dirty="0" err="1">
                <a:solidFill>
                  <a:schemeClr val="accent5"/>
                </a:solidFill>
              </a:rPr>
              <a:t>colore</a:t>
            </a:r>
            <a:r>
              <a:rPr lang="it-IT" sz="2800" dirty="0">
                <a:solidFill>
                  <a:schemeClr val="accent5"/>
                </a:solidFill>
              </a:rPr>
              <a:t>) {</a:t>
            </a:r>
          </a:p>
          <a:p>
            <a:pPr marL="0" indent="0">
              <a:buNone/>
            </a:pPr>
            <a:r>
              <a:rPr lang="it-IT" sz="2800" dirty="0">
                <a:solidFill>
                  <a:schemeClr val="accent5"/>
                </a:solidFill>
              </a:rPr>
              <a:t>        switch(colore) {</a:t>
            </a:r>
          </a:p>
          <a:p>
            <a:pPr marL="0" indent="0">
              <a:buNone/>
            </a:pPr>
            <a:r>
              <a:rPr lang="it-IT" sz="2800" dirty="0">
                <a:solidFill>
                  <a:schemeClr val="accent5"/>
                </a:solidFill>
              </a:rPr>
              <a:t>            case VERDE  -&gt;  System.out.println("La luce è verde");</a:t>
            </a:r>
          </a:p>
          <a:p>
            <a:pPr marL="0" indent="0">
              <a:buNone/>
            </a:pPr>
            <a:r>
              <a:rPr lang="it-IT" sz="2800" dirty="0">
                <a:solidFill>
                  <a:schemeClr val="accent5"/>
                </a:solidFill>
              </a:rPr>
              <a:t>            case GIALLO -&gt;  System.out.println("La luce è gialla");</a:t>
            </a:r>
          </a:p>
          <a:p>
            <a:pPr marL="0" indent="0">
              <a:buNone/>
            </a:pPr>
            <a:r>
              <a:rPr lang="it-IT" sz="2800" dirty="0">
                <a:solidFill>
                  <a:schemeClr val="accent5"/>
                </a:solidFill>
              </a:rPr>
              <a:t>            case ROSSO  -&gt;  System.out.println("La luce è rossa");</a:t>
            </a:r>
          </a:p>
          <a:p>
            <a:pPr marL="0" indent="0">
              <a:buNone/>
            </a:pPr>
            <a:r>
              <a:rPr lang="it-IT" sz="2800" dirty="0">
                <a:solidFill>
                  <a:schemeClr val="accent5"/>
                </a:solidFill>
              </a:rPr>
              <a:t>        }</a:t>
            </a:r>
          </a:p>
          <a:p>
            <a:pPr marL="0" indent="0">
              <a:buNone/>
            </a:pPr>
            <a:r>
              <a:rPr lang="it-IT" sz="2800" dirty="0">
                <a:solidFill>
                  <a:schemeClr val="accent5"/>
                </a:solidFill>
              </a:rPr>
              <a:t>    }</a:t>
            </a:r>
          </a:p>
          <a:p>
            <a:pPr marL="0" indent="0">
              <a:buNone/>
            </a:pPr>
            <a:r>
              <a:rPr lang="it-IT" sz="2800" dirty="0">
                <a:solidFill>
                  <a:schemeClr val="accent5"/>
                </a:solidFill>
              </a:rPr>
              <a:t>}</a:t>
            </a:r>
          </a:p>
          <a:p>
            <a:pPr marL="0" indent="0">
              <a:buNone/>
            </a:pPr>
            <a:endParaRPr lang="it-IT" dirty="0">
              <a:solidFill>
                <a:schemeClr val="accent5"/>
              </a:solidFill>
            </a:endParaRPr>
          </a:p>
        </p:txBody>
      </p:sp>
    </p:spTree>
    <p:extLst>
      <p:ext uri="{BB962C8B-B14F-4D97-AF65-F5344CB8AC3E}">
        <p14:creationId xmlns:p14="http://schemas.microsoft.com/office/powerpoint/2010/main" val="12789889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0" y="-7496"/>
            <a:ext cx="9144000" cy="988156"/>
          </a:xfrm>
        </p:spPr>
        <p:txBody>
          <a:bodyPr>
            <a:normAutofit/>
          </a:bodyPr>
          <a:lstStyle/>
          <a:p>
            <a:pPr algn="ctr"/>
            <a:r>
              <a:rPr lang="it-IT" dirty="0"/>
              <a:t>Come usare il costrutto </a:t>
            </a:r>
            <a:r>
              <a:rPr lang="it-IT" i="1" dirty="0"/>
              <a:t>switch</a:t>
            </a:r>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43</a:t>
            </a:fld>
            <a:endParaRPr lang="it-IT"/>
          </a:p>
        </p:txBody>
      </p:sp>
      <p:sp>
        <p:nvSpPr>
          <p:cNvPr id="9" name="Segnaposto contenuto 6">
            <a:extLst>
              <a:ext uri="{FF2B5EF4-FFF2-40B4-BE49-F238E27FC236}">
                <a16:creationId xmlns:a16="http://schemas.microsoft.com/office/drawing/2014/main" id="{D0E78BF3-323F-41CA-B721-A0DD6A68B03F}"/>
              </a:ext>
            </a:extLst>
          </p:cNvPr>
          <p:cNvSpPr>
            <a:spLocks noGrp="1"/>
          </p:cNvSpPr>
          <p:nvPr>
            <p:ph idx="1"/>
          </p:nvPr>
        </p:nvSpPr>
        <p:spPr>
          <a:xfrm>
            <a:off x="0" y="836640"/>
            <a:ext cx="9144000" cy="6021360"/>
          </a:xfrm>
        </p:spPr>
        <p:txBody>
          <a:bodyPr>
            <a:noAutofit/>
          </a:bodyPr>
          <a:lstStyle/>
          <a:p>
            <a:r>
              <a:rPr lang="it-IT" sz="2200" dirty="0">
                <a:solidFill>
                  <a:schemeClr val="tx1"/>
                </a:solidFill>
              </a:rPr>
              <a:t>Usare il costrutto switch nella maniera più semplice e completa possibile (meglio utilizzare tutte le quattro parole chiave quando possibile), infatti:</a:t>
            </a:r>
          </a:p>
          <a:p>
            <a:pPr lvl="1"/>
            <a:r>
              <a:rPr lang="it-IT" sz="2200" dirty="0">
                <a:solidFill>
                  <a:schemeClr val="tx1"/>
                </a:solidFill>
              </a:rPr>
              <a:t>Evitare il fall through (per la sua scarsa leggibilità e la difficoltà di gestione)</a:t>
            </a:r>
          </a:p>
          <a:p>
            <a:pPr lvl="1"/>
            <a:r>
              <a:rPr lang="it-IT" sz="2200" dirty="0">
                <a:solidFill>
                  <a:schemeClr val="tx1"/>
                </a:solidFill>
              </a:rPr>
              <a:t>Per ogni case usare sempre il relativo </a:t>
            </a:r>
            <a:r>
              <a:rPr lang="it-IT" sz="2200" i="1" dirty="0">
                <a:solidFill>
                  <a:schemeClr val="tx1"/>
                </a:solidFill>
              </a:rPr>
              <a:t>break</a:t>
            </a:r>
            <a:r>
              <a:rPr lang="it-IT" sz="2200" dirty="0">
                <a:solidFill>
                  <a:schemeClr val="tx1"/>
                </a:solidFill>
              </a:rPr>
              <a:t>. Ancora meglio è utilizzare la notazione freccia ottenere lo stesso risultato in maniera più chiara e semplice</a:t>
            </a:r>
          </a:p>
          <a:p>
            <a:pPr lvl="1"/>
            <a:r>
              <a:rPr lang="it-IT" sz="2200" dirty="0">
                <a:solidFill>
                  <a:schemeClr val="tx1"/>
                </a:solidFill>
              </a:rPr>
              <a:t>È sempre consigliabile usare una clausola </a:t>
            </a:r>
            <a:r>
              <a:rPr lang="it-IT" sz="2200" i="1" dirty="0">
                <a:solidFill>
                  <a:schemeClr val="tx1"/>
                </a:solidFill>
              </a:rPr>
              <a:t>default</a:t>
            </a:r>
            <a:endParaRPr lang="it-IT" sz="2200" dirty="0">
              <a:solidFill>
                <a:schemeClr val="tx1"/>
              </a:solidFill>
            </a:endParaRPr>
          </a:p>
          <a:p>
            <a:pPr lvl="1"/>
            <a:r>
              <a:rPr lang="it-IT" sz="2200" dirty="0">
                <a:solidFill>
                  <a:schemeClr val="tx1"/>
                </a:solidFill>
              </a:rPr>
              <a:t>È sempre consigliabile mantenere un ordine logico dei vari case per non incorrere in dimenticanze e peggiorare la leggibilità. </a:t>
            </a:r>
          </a:p>
          <a:p>
            <a:pPr lvl="1"/>
            <a:r>
              <a:rPr lang="it-IT" sz="2200" dirty="0">
                <a:solidFill>
                  <a:schemeClr val="tx1"/>
                </a:solidFill>
              </a:rPr>
              <a:t>Anche per la clausola </a:t>
            </a:r>
            <a:r>
              <a:rPr lang="it-IT" sz="2200" i="1" dirty="0">
                <a:solidFill>
                  <a:schemeClr val="tx1"/>
                </a:solidFill>
              </a:rPr>
              <a:t>default</a:t>
            </a:r>
            <a:r>
              <a:rPr lang="it-IT" sz="2200" dirty="0">
                <a:solidFill>
                  <a:schemeClr val="tx1"/>
                </a:solidFill>
              </a:rPr>
              <a:t>, è consigliato utilizzare il </a:t>
            </a:r>
            <a:r>
              <a:rPr lang="it-IT" sz="2200" i="1" dirty="0">
                <a:solidFill>
                  <a:schemeClr val="tx1"/>
                </a:solidFill>
              </a:rPr>
              <a:t>break</a:t>
            </a:r>
            <a:r>
              <a:rPr lang="it-IT" sz="2200" dirty="0">
                <a:solidFill>
                  <a:schemeClr val="tx1"/>
                </a:solidFill>
              </a:rPr>
              <a:t>, pure se posizionata come ultima clausola di un costrutto </a:t>
            </a:r>
            <a:r>
              <a:rPr lang="it-IT" sz="2200" i="1" dirty="0">
                <a:solidFill>
                  <a:schemeClr val="tx1"/>
                </a:solidFill>
              </a:rPr>
              <a:t>switch</a:t>
            </a:r>
            <a:r>
              <a:rPr lang="it-IT" sz="2200" dirty="0">
                <a:solidFill>
                  <a:schemeClr val="tx1"/>
                </a:solidFill>
              </a:rPr>
              <a:t>. </a:t>
            </a:r>
          </a:p>
          <a:p>
            <a:pPr lvl="1"/>
            <a:r>
              <a:rPr lang="it-IT" sz="2200" dirty="0">
                <a:solidFill>
                  <a:schemeClr val="tx1"/>
                </a:solidFill>
              </a:rPr>
              <a:t>Ricordiamo che le variabili locali, condividono il ciclo di vita con il blocco di codice in cui sono definite. Se definiamo una variabile locale all’interno di un </a:t>
            </a:r>
            <a:r>
              <a:rPr lang="it-IT" sz="2200" i="1" dirty="0">
                <a:solidFill>
                  <a:schemeClr val="tx1"/>
                </a:solidFill>
              </a:rPr>
              <a:t>case</a:t>
            </a:r>
            <a:r>
              <a:rPr lang="it-IT" sz="2200" dirty="0">
                <a:solidFill>
                  <a:schemeClr val="tx1"/>
                </a:solidFill>
              </a:rPr>
              <a:t> di uno </a:t>
            </a:r>
            <a:r>
              <a:rPr lang="it-IT" sz="2200" i="1" dirty="0">
                <a:solidFill>
                  <a:schemeClr val="tx1"/>
                </a:solidFill>
              </a:rPr>
              <a:t>switch</a:t>
            </a:r>
            <a:r>
              <a:rPr lang="it-IT" sz="2200" dirty="0">
                <a:solidFill>
                  <a:schemeClr val="tx1"/>
                </a:solidFill>
              </a:rPr>
              <a:t>, questa sarà visibile all’interno di tutti i </a:t>
            </a:r>
            <a:r>
              <a:rPr lang="it-IT" sz="2200" i="1" dirty="0">
                <a:solidFill>
                  <a:schemeClr val="tx1"/>
                </a:solidFill>
              </a:rPr>
              <a:t>case</a:t>
            </a:r>
            <a:r>
              <a:rPr lang="it-IT" sz="2200" dirty="0">
                <a:solidFill>
                  <a:schemeClr val="tx1"/>
                </a:solidFill>
              </a:rPr>
              <a:t> dello stesso costrutto dichiarati successivamente. Se si vuole evitare questo comportamento, è possibile creare blocchi di codice in maniera arbitraria all’interno di un </a:t>
            </a:r>
            <a:r>
              <a:rPr lang="it-IT" sz="2200" i="1" dirty="0">
                <a:solidFill>
                  <a:schemeClr val="tx1"/>
                </a:solidFill>
              </a:rPr>
              <a:t>case</a:t>
            </a:r>
            <a:r>
              <a:rPr lang="it-IT" sz="2200" dirty="0">
                <a:solidFill>
                  <a:schemeClr val="tx1"/>
                </a:solidFill>
              </a:rPr>
              <a:t>. </a:t>
            </a:r>
          </a:p>
        </p:txBody>
      </p:sp>
    </p:spTree>
    <p:extLst>
      <p:ext uri="{BB962C8B-B14F-4D97-AF65-F5344CB8AC3E}">
        <p14:creationId xmlns:p14="http://schemas.microsoft.com/office/powerpoint/2010/main" val="11678693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0" y="-7496"/>
            <a:ext cx="9144000" cy="988156"/>
          </a:xfrm>
        </p:spPr>
        <p:txBody>
          <a:bodyPr>
            <a:normAutofit/>
          </a:bodyPr>
          <a:lstStyle/>
          <a:p>
            <a:pPr algn="ctr"/>
            <a:r>
              <a:rPr lang="it-IT" dirty="0"/>
              <a:t>Espressione </a:t>
            </a:r>
            <a:r>
              <a:rPr lang="it-IT" i="1" dirty="0"/>
              <a:t>switch</a:t>
            </a:r>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44</a:t>
            </a:fld>
            <a:endParaRPr lang="it-IT"/>
          </a:p>
        </p:txBody>
      </p:sp>
      <p:sp>
        <p:nvSpPr>
          <p:cNvPr id="9" name="Segnaposto contenuto 6">
            <a:extLst>
              <a:ext uri="{FF2B5EF4-FFF2-40B4-BE49-F238E27FC236}">
                <a16:creationId xmlns:a16="http://schemas.microsoft.com/office/drawing/2014/main" id="{D0E78BF3-323F-41CA-B721-A0DD6A68B03F}"/>
              </a:ext>
            </a:extLst>
          </p:cNvPr>
          <p:cNvSpPr>
            <a:spLocks noGrp="1"/>
          </p:cNvSpPr>
          <p:nvPr>
            <p:ph idx="1"/>
          </p:nvPr>
        </p:nvSpPr>
        <p:spPr>
          <a:xfrm>
            <a:off x="0" y="764630"/>
            <a:ext cx="9144000" cy="6021360"/>
          </a:xfrm>
        </p:spPr>
        <p:txBody>
          <a:bodyPr>
            <a:noAutofit/>
          </a:bodyPr>
          <a:lstStyle/>
          <a:p>
            <a:r>
              <a:rPr lang="it-IT" sz="2100" dirty="0">
                <a:solidFill>
                  <a:schemeClr val="tx1"/>
                </a:solidFill>
              </a:rPr>
              <a:t>Con il termine </a:t>
            </a:r>
            <a:r>
              <a:rPr lang="it-IT" sz="2100" b="1" dirty="0">
                <a:solidFill>
                  <a:schemeClr val="tx1"/>
                </a:solidFill>
              </a:rPr>
              <a:t>espressione</a:t>
            </a:r>
            <a:r>
              <a:rPr lang="it-IT" sz="2100" dirty="0">
                <a:solidFill>
                  <a:schemeClr val="tx1"/>
                </a:solidFill>
              </a:rPr>
              <a:t>, intendiamo un’istruzione (un literal, un’invocazione di metodo, un’operazione etc.) che ritorna un valore. Quindi un’espressione </a:t>
            </a:r>
            <a:r>
              <a:rPr lang="it-IT" sz="2100" i="1" dirty="0">
                <a:solidFill>
                  <a:schemeClr val="tx1"/>
                </a:solidFill>
              </a:rPr>
              <a:t>switch</a:t>
            </a:r>
            <a:r>
              <a:rPr lang="it-IT" sz="2100" dirty="0">
                <a:solidFill>
                  <a:schemeClr val="tx1"/>
                </a:solidFill>
              </a:rPr>
              <a:t> è un costrutto che ritorna un valore. Trasformiamo l’esempio del fall through con un’espressione </a:t>
            </a:r>
            <a:r>
              <a:rPr lang="it-IT" sz="2100" i="1" dirty="0">
                <a:solidFill>
                  <a:schemeClr val="tx1"/>
                </a:solidFill>
              </a:rPr>
              <a:t>switch</a:t>
            </a:r>
            <a:r>
              <a:rPr lang="it-IT" sz="2100" dirty="0">
                <a:solidFill>
                  <a:schemeClr val="tx1"/>
                </a:solidFill>
              </a:rPr>
              <a:t>:</a:t>
            </a:r>
          </a:p>
          <a:p>
            <a:pPr marL="0" indent="0">
              <a:buNone/>
            </a:pPr>
            <a:r>
              <a:rPr lang="it-IT" sz="2200" dirty="0">
                <a:solidFill>
                  <a:schemeClr val="accent5"/>
                </a:solidFill>
              </a:rPr>
              <a:t>import </a:t>
            </a:r>
            <a:r>
              <a:rPr lang="it-IT" sz="2200" dirty="0" err="1">
                <a:solidFill>
                  <a:schemeClr val="accent5"/>
                </a:solidFill>
              </a:rPr>
              <a:t>java.time.Month</a:t>
            </a:r>
            <a:r>
              <a:rPr lang="it-IT" sz="2200" dirty="0">
                <a:solidFill>
                  <a:schemeClr val="accent5"/>
                </a:solidFill>
              </a:rPr>
              <a:t>;</a:t>
            </a:r>
          </a:p>
          <a:p>
            <a:pPr marL="0" indent="0">
              <a:buNone/>
            </a:pPr>
            <a:r>
              <a:rPr lang="it-IT" sz="2200" dirty="0">
                <a:solidFill>
                  <a:schemeClr val="accent5"/>
                </a:solidFill>
              </a:rPr>
              <a:t>public class </a:t>
            </a:r>
            <a:r>
              <a:rPr lang="it-IT" sz="2200" dirty="0" err="1">
                <a:solidFill>
                  <a:schemeClr val="accent5"/>
                </a:solidFill>
              </a:rPr>
              <a:t>SeasonSwitchExpressionEnumTest</a:t>
            </a:r>
            <a:r>
              <a:rPr lang="it-IT" sz="2200" dirty="0">
                <a:solidFill>
                  <a:schemeClr val="accent5"/>
                </a:solidFill>
              </a:rPr>
              <a:t> {</a:t>
            </a:r>
          </a:p>
          <a:p>
            <a:pPr marL="0" indent="0">
              <a:buNone/>
            </a:pPr>
            <a:r>
              <a:rPr lang="it-IT" sz="2200" dirty="0">
                <a:solidFill>
                  <a:schemeClr val="accent5"/>
                </a:solidFill>
              </a:rPr>
              <a:t>    public static void main(String args[]) {</a:t>
            </a:r>
          </a:p>
          <a:p>
            <a:pPr marL="0" indent="0">
              <a:buNone/>
            </a:pPr>
            <a:r>
              <a:rPr lang="it-IT" sz="2200" dirty="0">
                <a:solidFill>
                  <a:schemeClr val="accent5"/>
                </a:solidFill>
              </a:rPr>
              <a:t>        </a:t>
            </a:r>
            <a:r>
              <a:rPr lang="it-IT" sz="2200" dirty="0" err="1">
                <a:solidFill>
                  <a:schemeClr val="accent5"/>
                </a:solidFill>
              </a:rPr>
              <a:t>Month</a:t>
            </a:r>
            <a:r>
              <a:rPr lang="it-IT" sz="2200" dirty="0">
                <a:solidFill>
                  <a:schemeClr val="accent5"/>
                </a:solidFill>
              </a:rPr>
              <a:t> </a:t>
            </a:r>
            <a:r>
              <a:rPr lang="it-IT" sz="2200" dirty="0" err="1">
                <a:solidFill>
                  <a:schemeClr val="accent5"/>
                </a:solidFill>
              </a:rPr>
              <a:t>month</a:t>
            </a:r>
            <a:r>
              <a:rPr lang="it-IT" sz="2200" dirty="0">
                <a:solidFill>
                  <a:schemeClr val="accent5"/>
                </a:solidFill>
              </a:rPr>
              <a:t> = </a:t>
            </a:r>
            <a:r>
              <a:rPr lang="it-IT" sz="2200" dirty="0" err="1">
                <a:solidFill>
                  <a:schemeClr val="accent5"/>
                </a:solidFill>
              </a:rPr>
              <a:t>Month.APRIL</a:t>
            </a:r>
            <a:r>
              <a:rPr lang="it-IT" sz="2200" dirty="0">
                <a:solidFill>
                  <a:schemeClr val="accent5"/>
                </a:solidFill>
              </a:rPr>
              <a:t>;</a:t>
            </a:r>
          </a:p>
          <a:p>
            <a:pPr marL="0" indent="0">
              <a:buNone/>
            </a:pPr>
            <a:r>
              <a:rPr lang="it-IT" sz="2200" dirty="0">
                <a:solidFill>
                  <a:schemeClr val="accent5"/>
                </a:solidFill>
              </a:rPr>
              <a:t>        String season = switch(</a:t>
            </a:r>
            <a:r>
              <a:rPr lang="it-IT" sz="2200" dirty="0" err="1">
                <a:solidFill>
                  <a:schemeClr val="accent5"/>
                </a:solidFill>
              </a:rPr>
              <a:t>month</a:t>
            </a:r>
            <a:r>
              <a:rPr lang="it-IT" sz="2200" dirty="0">
                <a:solidFill>
                  <a:schemeClr val="accent5"/>
                </a:solidFill>
              </a:rPr>
              <a:t>) {</a:t>
            </a:r>
          </a:p>
          <a:p>
            <a:pPr marL="0" indent="0">
              <a:buNone/>
            </a:pPr>
            <a:r>
              <a:rPr lang="it-IT" sz="2200" dirty="0">
                <a:solidFill>
                  <a:schemeClr val="accent5"/>
                </a:solidFill>
              </a:rPr>
              <a:t>            case DECEMBER, JANUARY, FEBRUARY -&gt; "</a:t>
            </a:r>
            <a:r>
              <a:rPr lang="it-IT" sz="2200" dirty="0" err="1">
                <a:solidFill>
                  <a:schemeClr val="accent5"/>
                </a:solidFill>
              </a:rPr>
              <a:t>winter</a:t>
            </a:r>
            <a:r>
              <a:rPr lang="it-IT" sz="2200" dirty="0">
                <a:solidFill>
                  <a:schemeClr val="accent5"/>
                </a:solidFill>
              </a:rPr>
              <a:t>";</a:t>
            </a:r>
          </a:p>
          <a:p>
            <a:pPr marL="0" indent="0">
              <a:buNone/>
            </a:pPr>
            <a:r>
              <a:rPr lang="it-IT" sz="2200" dirty="0">
                <a:solidFill>
                  <a:schemeClr val="accent5"/>
                </a:solidFill>
              </a:rPr>
              <a:t>            case MARCH, APRIL, MAY -&gt; "spring";</a:t>
            </a:r>
          </a:p>
          <a:p>
            <a:pPr marL="0" indent="0">
              <a:buNone/>
            </a:pPr>
            <a:r>
              <a:rPr lang="it-IT" sz="2200" dirty="0">
                <a:solidFill>
                  <a:schemeClr val="accent5"/>
                </a:solidFill>
              </a:rPr>
              <a:t>            case JUNE, JULY, AUGUST -&gt; "</a:t>
            </a:r>
            <a:r>
              <a:rPr lang="it-IT" sz="2200" dirty="0" err="1">
                <a:solidFill>
                  <a:schemeClr val="accent5"/>
                </a:solidFill>
              </a:rPr>
              <a:t>summer</a:t>
            </a:r>
            <a:r>
              <a:rPr lang="it-IT" sz="2200" dirty="0">
                <a:solidFill>
                  <a:schemeClr val="accent5"/>
                </a:solidFill>
              </a:rPr>
              <a:t>";</a:t>
            </a:r>
          </a:p>
          <a:p>
            <a:pPr marL="0" indent="0">
              <a:buNone/>
            </a:pPr>
            <a:r>
              <a:rPr lang="it-IT" sz="2200" dirty="0">
                <a:solidFill>
                  <a:schemeClr val="accent5"/>
                </a:solidFill>
              </a:rPr>
              <a:t>            case SEPTEMBER, OCTOBER, NOVEMBER -&gt; "</a:t>
            </a:r>
            <a:r>
              <a:rPr lang="it-IT" sz="2200" dirty="0" err="1">
                <a:solidFill>
                  <a:schemeClr val="accent5"/>
                </a:solidFill>
              </a:rPr>
              <a:t>autumn</a:t>
            </a:r>
            <a:r>
              <a:rPr lang="it-IT" sz="2200" dirty="0">
                <a:solidFill>
                  <a:schemeClr val="accent5"/>
                </a:solidFill>
              </a:rPr>
              <a:t>";</a:t>
            </a:r>
          </a:p>
          <a:p>
            <a:pPr marL="0" indent="0">
              <a:buNone/>
            </a:pPr>
            <a:r>
              <a:rPr lang="it-IT" sz="2200" dirty="0">
                <a:solidFill>
                  <a:schemeClr val="accent5"/>
                </a:solidFill>
              </a:rPr>
              <a:t>        };</a:t>
            </a:r>
          </a:p>
          <a:p>
            <a:pPr marL="0" indent="0">
              <a:buNone/>
            </a:pPr>
            <a:r>
              <a:rPr lang="it-IT" sz="2200" dirty="0">
                <a:solidFill>
                  <a:schemeClr val="accent5"/>
                </a:solidFill>
              </a:rPr>
              <a:t>        System.out.println("The season is " + season);</a:t>
            </a:r>
          </a:p>
          <a:p>
            <a:pPr marL="0" indent="0">
              <a:buNone/>
            </a:pPr>
            <a:r>
              <a:rPr lang="it-IT" sz="2200" dirty="0">
                <a:solidFill>
                  <a:schemeClr val="accent5"/>
                </a:solidFill>
              </a:rPr>
              <a:t>}}</a:t>
            </a:r>
          </a:p>
        </p:txBody>
      </p:sp>
    </p:spTree>
    <p:extLst>
      <p:ext uri="{BB962C8B-B14F-4D97-AF65-F5344CB8AC3E}">
        <p14:creationId xmlns:p14="http://schemas.microsoft.com/office/powerpoint/2010/main" val="7791851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0" y="-7496"/>
            <a:ext cx="9144000" cy="988156"/>
          </a:xfrm>
        </p:spPr>
        <p:txBody>
          <a:bodyPr>
            <a:normAutofit/>
          </a:bodyPr>
          <a:lstStyle/>
          <a:p>
            <a:pPr algn="ctr"/>
            <a:r>
              <a:rPr lang="it-IT" dirty="0"/>
              <a:t>Espressione </a:t>
            </a:r>
            <a:r>
              <a:rPr lang="it-IT" i="1" dirty="0"/>
              <a:t>switch</a:t>
            </a:r>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45</a:t>
            </a:fld>
            <a:endParaRPr lang="it-IT"/>
          </a:p>
        </p:txBody>
      </p:sp>
      <p:sp>
        <p:nvSpPr>
          <p:cNvPr id="9" name="Segnaposto contenuto 6">
            <a:extLst>
              <a:ext uri="{FF2B5EF4-FFF2-40B4-BE49-F238E27FC236}">
                <a16:creationId xmlns:a16="http://schemas.microsoft.com/office/drawing/2014/main" id="{D0E78BF3-323F-41CA-B721-A0DD6A68B03F}"/>
              </a:ext>
            </a:extLst>
          </p:cNvPr>
          <p:cNvSpPr>
            <a:spLocks noGrp="1"/>
          </p:cNvSpPr>
          <p:nvPr>
            <p:ph idx="1"/>
          </p:nvPr>
        </p:nvSpPr>
        <p:spPr>
          <a:xfrm>
            <a:off x="0" y="764630"/>
            <a:ext cx="9144000" cy="6021360"/>
          </a:xfrm>
        </p:spPr>
        <p:txBody>
          <a:bodyPr>
            <a:noAutofit/>
          </a:bodyPr>
          <a:lstStyle/>
          <a:p>
            <a:r>
              <a:rPr lang="it-IT" dirty="0">
                <a:solidFill>
                  <a:schemeClr val="tx1"/>
                </a:solidFill>
              </a:rPr>
              <a:t>Possiamo usare la nuova parola definita dal linguaggio </a:t>
            </a:r>
            <a:r>
              <a:rPr lang="it-IT" i="1" dirty="0">
                <a:solidFill>
                  <a:schemeClr val="tx1"/>
                </a:solidFill>
              </a:rPr>
              <a:t>yield</a:t>
            </a:r>
            <a:r>
              <a:rPr lang="it-IT" dirty="0">
                <a:solidFill>
                  <a:schemeClr val="tx1"/>
                </a:solidFill>
              </a:rPr>
              <a:t> al posto della notazione freccia (ma solo all’interno di un blocco di codice):</a:t>
            </a:r>
          </a:p>
          <a:p>
            <a:pPr marL="0" indent="0">
              <a:buNone/>
            </a:pPr>
            <a:r>
              <a:rPr lang="it-IT" dirty="0">
                <a:solidFill>
                  <a:schemeClr val="accent5"/>
                </a:solidFill>
              </a:rPr>
              <a:t>String season = switch(</a:t>
            </a:r>
            <a:r>
              <a:rPr lang="it-IT" dirty="0" err="1">
                <a:solidFill>
                  <a:schemeClr val="accent5"/>
                </a:solidFill>
              </a:rPr>
              <a:t>month</a:t>
            </a:r>
            <a:r>
              <a:rPr lang="it-IT" dirty="0">
                <a:solidFill>
                  <a:schemeClr val="accent5"/>
                </a:solidFill>
              </a:rPr>
              <a:t>) {</a:t>
            </a:r>
          </a:p>
          <a:p>
            <a:pPr marL="0" indent="0">
              <a:buNone/>
            </a:pPr>
            <a:r>
              <a:rPr lang="it-IT" dirty="0">
                <a:solidFill>
                  <a:schemeClr val="accent5"/>
                </a:solidFill>
              </a:rPr>
              <a:t>    case DECEMBER, JANUARY, FEBRUARY -&gt; {</a:t>
            </a:r>
          </a:p>
          <a:p>
            <a:pPr marL="0" indent="0">
              <a:buNone/>
            </a:pPr>
            <a:r>
              <a:rPr lang="it-IT" dirty="0">
                <a:solidFill>
                  <a:schemeClr val="accent5"/>
                </a:solidFill>
              </a:rPr>
              <a:t>        String value = "</a:t>
            </a:r>
            <a:r>
              <a:rPr lang="it-IT" dirty="0" err="1">
                <a:solidFill>
                  <a:schemeClr val="accent5"/>
                </a:solidFill>
              </a:rPr>
              <a:t>winter</a:t>
            </a:r>
            <a:r>
              <a:rPr lang="it-IT" dirty="0">
                <a:solidFill>
                  <a:schemeClr val="accent5"/>
                </a:solidFill>
              </a:rPr>
              <a:t>" ;</a:t>
            </a:r>
          </a:p>
          <a:p>
            <a:pPr marL="0" indent="0">
              <a:buNone/>
            </a:pPr>
            <a:r>
              <a:rPr lang="it-IT" dirty="0">
                <a:solidFill>
                  <a:schemeClr val="accent5"/>
                </a:solidFill>
              </a:rPr>
              <a:t>        yield value;</a:t>
            </a:r>
          </a:p>
          <a:p>
            <a:pPr marL="0" indent="0">
              <a:buNone/>
            </a:pPr>
            <a:r>
              <a:rPr lang="it-IT" dirty="0">
                <a:solidFill>
                  <a:schemeClr val="accent5"/>
                </a:solidFill>
              </a:rPr>
              <a:t>    }</a:t>
            </a:r>
          </a:p>
          <a:p>
            <a:pPr marL="0" indent="0">
              <a:buNone/>
            </a:pPr>
            <a:r>
              <a:rPr lang="it-IT" dirty="0">
                <a:solidFill>
                  <a:schemeClr val="accent5"/>
                </a:solidFill>
              </a:rPr>
              <a:t>    case MARCH, APRIL, MAY -&gt; "spring" ;</a:t>
            </a:r>
          </a:p>
          <a:p>
            <a:pPr marL="0" indent="0">
              <a:buNone/>
            </a:pPr>
            <a:r>
              <a:rPr lang="it-IT" dirty="0">
                <a:solidFill>
                  <a:schemeClr val="accent5"/>
                </a:solidFill>
              </a:rPr>
              <a:t>    case JUNE, JULY, AUGUST -&gt; {</a:t>
            </a:r>
          </a:p>
          <a:p>
            <a:pPr marL="0" indent="0">
              <a:buNone/>
            </a:pPr>
            <a:r>
              <a:rPr lang="it-IT" dirty="0">
                <a:solidFill>
                  <a:schemeClr val="accent5"/>
                </a:solidFill>
              </a:rPr>
              <a:t>        String value = "</a:t>
            </a:r>
            <a:r>
              <a:rPr lang="it-IT" dirty="0" err="1">
                <a:solidFill>
                  <a:schemeClr val="accent5"/>
                </a:solidFill>
              </a:rPr>
              <a:t>summer</a:t>
            </a:r>
            <a:r>
              <a:rPr lang="it-IT" dirty="0">
                <a:solidFill>
                  <a:schemeClr val="accent5"/>
                </a:solidFill>
              </a:rPr>
              <a:t>" ;</a:t>
            </a:r>
          </a:p>
          <a:p>
            <a:pPr marL="0" indent="0">
              <a:buNone/>
            </a:pPr>
            <a:r>
              <a:rPr lang="it-IT" dirty="0">
                <a:solidFill>
                  <a:schemeClr val="accent5"/>
                </a:solidFill>
              </a:rPr>
              <a:t>        yield value;</a:t>
            </a:r>
          </a:p>
          <a:p>
            <a:pPr marL="0" indent="0">
              <a:buNone/>
            </a:pPr>
            <a:r>
              <a:rPr lang="it-IT" dirty="0">
                <a:solidFill>
                  <a:schemeClr val="accent5"/>
                </a:solidFill>
              </a:rPr>
              <a:t>    }</a:t>
            </a:r>
          </a:p>
          <a:p>
            <a:pPr marL="0" indent="0">
              <a:buNone/>
            </a:pPr>
            <a:r>
              <a:rPr lang="it-IT" dirty="0">
                <a:solidFill>
                  <a:schemeClr val="accent5"/>
                </a:solidFill>
              </a:rPr>
              <a:t>    case SEPTEMBER, OCTOBER, NOVEMBER -&gt; "</a:t>
            </a:r>
            <a:r>
              <a:rPr lang="it-IT" dirty="0" err="1">
                <a:solidFill>
                  <a:schemeClr val="accent5"/>
                </a:solidFill>
              </a:rPr>
              <a:t>autumn</a:t>
            </a:r>
            <a:r>
              <a:rPr lang="it-IT" dirty="0">
                <a:solidFill>
                  <a:schemeClr val="accent5"/>
                </a:solidFill>
              </a:rPr>
              <a:t>" ;</a:t>
            </a:r>
          </a:p>
          <a:p>
            <a:pPr marL="0" indent="0">
              <a:buNone/>
            </a:pPr>
            <a:r>
              <a:rPr lang="it-IT" dirty="0">
                <a:solidFill>
                  <a:schemeClr val="accent5"/>
                </a:solidFill>
              </a:rPr>
              <a:t>} ;</a:t>
            </a:r>
          </a:p>
        </p:txBody>
      </p:sp>
    </p:spTree>
    <p:extLst>
      <p:ext uri="{BB962C8B-B14F-4D97-AF65-F5344CB8AC3E}">
        <p14:creationId xmlns:p14="http://schemas.microsoft.com/office/powerpoint/2010/main" val="36390811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0" y="-7496"/>
            <a:ext cx="9144000" cy="988156"/>
          </a:xfrm>
        </p:spPr>
        <p:txBody>
          <a:bodyPr>
            <a:normAutofit/>
          </a:bodyPr>
          <a:lstStyle/>
          <a:p>
            <a:pPr algn="ctr"/>
            <a:r>
              <a:rPr lang="it-IT" dirty="0"/>
              <a:t>Freccia vs due punti</a:t>
            </a:r>
            <a:endParaRPr lang="it-IT" i="1"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46</a:t>
            </a:fld>
            <a:endParaRPr lang="it-IT"/>
          </a:p>
        </p:txBody>
      </p:sp>
      <p:sp>
        <p:nvSpPr>
          <p:cNvPr id="9" name="Segnaposto contenuto 6">
            <a:extLst>
              <a:ext uri="{FF2B5EF4-FFF2-40B4-BE49-F238E27FC236}">
                <a16:creationId xmlns:a16="http://schemas.microsoft.com/office/drawing/2014/main" id="{D0E78BF3-323F-41CA-B721-A0DD6A68B03F}"/>
              </a:ext>
            </a:extLst>
          </p:cNvPr>
          <p:cNvSpPr>
            <a:spLocks noGrp="1"/>
          </p:cNvSpPr>
          <p:nvPr>
            <p:ph idx="1"/>
          </p:nvPr>
        </p:nvSpPr>
        <p:spPr>
          <a:xfrm>
            <a:off x="0" y="764630"/>
            <a:ext cx="9144000" cy="6021360"/>
          </a:xfrm>
        </p:spPr>
        <p:txBody>
          <a:bodyPr>
            <a:noAutofit/>
          </a:bodyPr>
          <a:lstStyle/>
          <a:p>
            <a:r>
              <a:rPr lang="it-IT" sz="3200" dirty="0">
                <a:solidFill>
                  <a:schemeClr val="tx1"/>
                </a:solidFill>
              </a:rPr>
              <a:t>Possiamo ancora sostituire la notazione di freccia </a:t>
            </a:r>
            <a:r>
              <a:rPr lang="it-IT" sz="3200" i="1" dirty="0">
                <a:solidFill>
                  <a:schemeClr val="tx1"/>
                </a:solidFill>
              </a:rPr>
              <a:t>-&gt;</a:t>
            </a:r>
            <a:r>
              <a:rPr lang="it-IT" sz="3200" dirty="0">
                <a:solidFill>
                  <a:schemeClr val="tx1"/>
                </a:solidFill>
              </a:rPr>
              <a:t>, con la notazione che si usava con lo </a:t>
            </a:r>
            <a:r>
              <a:rPr lang="it-IT" sz="3200" i="1" dirty="0">
                <a:solidFill>
                  <a:schemeClr val="tx1"/>
                </a:solidFill>
              </a:rPr>
              <a:t>switch</a:t>
            </a:r>
            <a:r>
              <a:rPr lang="it-IT" sz="3200" dirty="0">
                <a:solidFill>
                  <a:schemeClr val="tx1"/>
                </a:solidFill>
              </a:rPr>
              <a:t> ordinario (ovvero i due punti </a:t>
            </a:r>
            <a:r>
              <a:rPr lang="it-IT" sz="3200" i="1" dirty="0">
                <a:solidFill>
                  <a:schemeClr val="tx1"/>
                </a:solidFill>
              </a:rPr>
              <a:t>:</a:t>
            </a:r>
            <a:r>
              <a:rPr lang="it-IT" sz="3200" dirty="0">
                <a:solidFill>
                  <a:schemeClr val="tx1"/>
                </a:solidFill>
              </a:rPr>
              <a:t>) e usare la parola yield :</a:t>
            </a:r>
          </a:p>
          <a:p>
            <a:pPr marL="0" indent="0">
              <a:buNone/>
            </a:pPr>
            <a:r>
              <a:rPr lang="it-IT" sz="3200" dirty="0">
                <a:solidFill>
                  <a:schemeClr val="accent5"/>
                </a:solidFill>
              </a:rPr>
              <a:t>String season = switch(</a:t>
            </a:r>
            <a:r>
              <a:rPr lang="it-IT" sz="3200" dirty="0" err="1">
                <a:solidFill>
                  <a:schemeClr val="accent5"/>
                </a:solidFill>
              </a:rPr>
              <a:t>month</a:t>
            </a:r>
            <a:r>
              <a:rPr lang="it-IT" sz="3200" dirty="0">
                <a:solidFill>
                  <a:schemeClr val="accent5"/>
                </a:solidFill>
              </a:rPr>
              <a:t>) {</a:t>
            </a:r>
          </a:p>
          <a:p>
            <a:pPr marL="0" indent="0">
              <a:buNone/>
            </a:pPr>
            <a:r>
              <a:rPr lang="it-IT" sz="3200" dirty="0">
                <a:solidFill>
                  <a:schemeClr val="accent5"/>
                </a:solidFill>
              </a:rPr>
              <a:t>    case DECEMBER, JANUARY, FEBRUARY: yield "</a:t>
            </a:r>
            <a:r>
              <a:rPr lang="it-IT" sz="3200" dirty="0" err="1">
                <a:solidFill>
                  <a:schemeClr val="accent5"/>
                </a:solidFill>
              </a:rPr>
              <a:t>winter</a:t>
            </a:r>
            <a:r>
              <a:rPr lang="it-IT" sz="3200" dirty="0">
                <a:solidFill>
                  <a:schemeClr val="accent5"/>
                </a:solidFill>
              </a:rPr>
              <a:t>";</a:t>
            </a:r>
          </a:p>
          <a:p>
            <a:pPr marL="0" indent="0">
              <a:buNone/>
            </a:pPr>
            <a:r>
              <a:rPr lang="it-IT" sz="3200" dirty="0">
                <a:solidFill>
                  <a:schemeClr val="accent5"/>
                </a:solidFill>
              </a:rPr>
              <a:t>    case MARCH, APRIL, MAY: yield "spring";</a:t>
            </a:r>
          </a:p>
          <a:p>
            <a:pPr marL="0" indent="0">
              <a:buNone/>
            </a:pPr>
            <a:r>
              <a:rPr lang="it-IT" sz="3200" dirty="0">
                <a:solidFill>
                  <a:schemeClr val="accent5"/>
                </a:solidFill>
              </a:rPr>
              <a:t>    case JUNE, JULY, AUGUST: yield "</a:t>
            </a:r>
            <a:r>
              <a:rPr lang="it-IT" sz="3200" dirty="0" err="1">
                <a:solidFill>
                  <a:schemeClr val="accent5"/>
                </a:solidFill>
              </a:rPr>
              <a:t>summer</a:t>
            </a:r>
            <a:r>
              <a:rPr lang="it-IT" sz="3200" dirty="0">
                <a:solidFill>
                  <a:schemeClr val="accent5"/>
                </a:solidFill>
              </a:rPr>
              <a:t>";</a:t>
            </a:r>
          </a:p>
          <a:p>
            <a:pPr marL="0" indent="0">
              <a:buNone/>
            </a:pPr>
            <a:r>
              <a:rPr lang="it-IT" sz="3200" dirty="0">
                <a:solidFill>
                  <a:schemeClr val="accent5"/>
                </a:solidFill>
              </a:rPr>
              <a:t>    case SEPTEMBER, OCTOBER, NOVEMBER: yield     </a:t>
            </a:r>
          </a:p>
          <a:p>
            <a:pPr marL="0" indent="0">
              <a:buNone/>
            </a:pPr>
            <a:r>
              <a:rPr lang="it-IT" sz="3200" dirty="0">
                <a:solidFill>
                  <a:schemeClr val="accent5"/>
                </a:solidFill>
              </a:rPr>
              <a:t>         "</a:t>
            </a:r>
            <a:r>
              <a:rPr lang="it-IT" sz="3200" dirty="0" err="1">
                <a:solidFill>
                  <a:schemeClr val="accent5"/>
                </a:solidFill>
              </a:rPr>
              <a:t>autumn</a:t>
            </a:r>
            <a:r>
              <a:rPr lang="it-IT" sz="3200" dirty="0">
                <a:solidFill>
                  <a:schemeClr val="accent5"/>
                </a:solidFill>
              </a:rPr>
              <a:t>";</a:t>
            </a:r>
          </a:p>
          <a:p>
            <a:pPr marL="0" indent="0">
              <a:buNone/>
            </a:pPr>
            <a:r>
              <a:rPr lang="it-IT" sz="3200" dirty="0">
                <a:solidFill>
                  <a:schemeClr val="accent5"/>
                </a:solidFill>
              </a:rPr>
              <a:t>};</a:t>
            </a:r>
          </a:p>
        </p:txBody>
      </p:sp>
    </p:spTree>
    <p:extLst>
      <p:ext uri="{BB962C8B-B14F-4D97-AF65-F5344CB8AC3E}">
        <p14:creationId xmlns:p14="http://schemas.microsoft.com/office/powerpoint/2010/main" val="23808741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0" y="-7496"/>
            <a:ext cx="9144000" cy="988156"/>
          </a:xfrm>
        </p:spPr>
        <p:txBody>
          <a:bodyPr>
            <a:normAutofit/>
          </a:bodyPr>
          <a:lstStyle/>
          <a:p>
            <a:pPr algn="ctr"/>
            <a:r>
              <a:rPr lang="it-IT" dirty="0"/>
              <a:t>Freccia vs due punti</a:t>
            </a:r>
            <a:endParaRPr lang="it-IT" i="1"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47</a:t>
            </a:fld>
            <a:endParaRPr lang="it-IT"/>
          </a:p>
        </p:txBody>
      </p:sp>
      <p:sp>
        <p:nvSpPr>
          <p:cNvPr id="9" name="Segnaposto contenuto 6">
            <a:extLst>
              <a:ext uri="{FF2B5EF4-FFF2-40B4-BE49-F238E27FC236}">
                <a16:creationId xmlns:a16="http://schemas.microsoft.com/office/drawing/2014/main" id="{D0E78BF3-323F-41CA-B721-A0DD6A68B03F}"/>
              </a:ext>
            </a:extLst>
          </p:cNvPr>
          <p:cNvSpPr>
            <a:spLocks noGrp="1"/>
          </p:cNvSpPr>
          <p:nvPr>
            <p:ph idx="1"/>
          </p:nvPr>
        </p:nvSpPr>
        <p:spPr>
          <a:xfrm>
            <a:off x="0" y="764630"/>
            <a:ext cx="9144000" cy="6021360"/>
          </a:xfrm>
        </p:spPr>
        <p:txBody>
          <a:bodyPr>
            <a:noAutofit/>
          </a:bodyPr>
          <a:lstStyle/>
          <a:p>
            <a:r>
              <a:rPr lang="it-IT" sz="2800" dirty="0">
                <a:solidFill>
                  <a:schemeClr val="tx1"/>
                </a:solidFill>
              </a:rPr>
              <a:t>Se usiamo i due punti invece della notazione freccia, anche con lo </a:t>
            </a:r>
            <a:r>
              <a:rPr lang="it-IT" sz="2800" i="1" dirty="0">
                <a:solidFill>
                  <a:schemeClr val="tx1"/>
                </a:solidFill>
              </a:rPr>
              <a:t>switch</a:t>
            </a:r>
            <a:r>
              <a:rPr lang="it-IT" sz="2800" dirty="0">
                <a:solidFill>
                  <a:schemeClr val="tx1"/>
                </a:solidFill>
              </a:rPr>
              <a:t> usato come espressione, è possibile utilizzare il fall through:</a:t>
            </a:r>
          </a:p>
          <a:p>
            <a:pPr marL="0" indent="0">
              <a:buNone/>
            </a:pPr>
            <a:r>
              <a:rPr lang="en-US" sz="2800" dirty="0">
                <a:solidFill>
                  <a:schemeClr val="accent5"/>
                </a:solidFill>
              </a:rPr>
              <a:t>String season = switch(month) {</a:t>
            </a:r>
          </a:p>
          <a:p>
            <a:pPr marL="0" indent="0">
              <a:buNone/>
            </a:pPr>
            <a:r>
              <a:rPr lang="en-US" sz="2800" dirty="0">
                <a:solidFill>
                  <a:schemeClr val="accent5"/>
                </a:solidFill>
              </a:rPr>
              <a:t>    case DECEMBER: </a:t>
            </a:r>
          </a:p>
          <a:p>
            <a:pPr marL="0" indent="0">
              <a:buNone/>
            </a:pPr>
            <a:r>
              <a:rPr lang="en-US" sz="2800" dirty="0">
                <a:solidFill>
                  <a:schemeClr val="accent5"/>
                </a:solidFill>
              </a:rPr>
              <a:t>    case JANUARY: </a:t>
            </a:r>
          </a:p>
          <a:p>
            <a:pPr marL="0" indent="0">
              <a:buNone/>
            </a:pPr>
            <a:r>
              <a:rPr lang="en-US" sz="2800" dirty="0">
                <a:solidFill>
                  <a:schemeClr val="accent5"/>
                </a:solidFill>
              </a:rPr>
              <a:t>    case FEBRUARY: yield "winter";</a:t>
            </a:r>
          </a:p>
          <a:p>
            <a:pPr marL="0" indent="0">
              <a:buNone/>
            </a:pPr>
            <a:r>
              <a:rPr lang="en-US" sz="2800" dirty="0">
                <a:solidFill>
                  <a:schemeClr val="accent5"/>
                </a:solidFill>
              </a:rPr>
              <a:t>    case MARCH, APRIL, MAY: yield "spring";</a:t>
            </a:r>
          </a:p>
          <a:p>
            <a:pPr marL="0" indent="0">
              <a:buNone/>
            </a:pPr>
            <a:r>
              <a:rPr lang="en-US" sz="2800" dirty="0">
                <a:solidFill>
                  <a:schemeClr val="accent5"/>
                </a:solidFill>
              </a:rPr>
              <a:t>    case JUNE, JULY, AUGUST: yield "summer";</a:t>
            </a:r>
          </a:p>
          <a:p>
            <a:pPr marL="0" indent="0">
              <a:buNone/>
            </a:pPr>
            <a:r>
              <a:rPr lang="en-US" sz="2800" dirty="0">
                <a:solidFill>
                  <a:schemeClr val="accent5"/>
                </a:solidFill>
              </a:rPr>
              <a:t>    case SEPTEMBER, OCTOBER, NOVEMBER: yield </a:t>
            </a:r>
          </a:p>
          <a:p>
            <a:pPr marL="0" indent="0">
              <a:buNone/>
            </a:pPr>
            <a:r>
              <a:rPr lang="en-US" sz="2800" dirty="0">
                <a:solidFill>
                  <a:schemeClr val="accent5"/>
                </a:solidFill>
              </a:rPr>
              <a:t>        "autumn";</a:t>
            </a:r>
          </a:p>
          <a:p>
            <a:pPr marL="0" indent="0">
              <a:buNone/>
            </a:pPr>
            <a:r>
              <a:rPr lang="en-US" sz="2800" dirty="0">
                <a:solidFill>
                  <a:schemeClr val="accent5"/>
                </a:solidFill>
              </a:rPr>
              <a:t>};</a:t>
            </a:r>
          </a:p>
        </p:txBody>
      </p:sp>
    </p:spTree>
    <p:extLst>
      <p:ext uri="{BB962C8B-B14F-4D97-AF65-F5344CB8AC3E}">
        <p14:creationId xmlns:p14="http://schemas.microsoft.com/office/powerpoint/2010/main" val="42538453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0" y="-7496"/>
            <a:ext cx="9144000" cy="988156"/>
          </a:xfrm>
        </p:spPr>
        <p:txBody>
          <a:bodyPr>
            <a:normAutofit/>
          </a:bodyPr>
          <a:lstStyle/>
          <a:p>
            <a:pPr algn="ctr"/>
            <a:r>
              <a:rPr lang="it-IT" dirty="0"/>
              <a:t>Freccia vs due punti</a:t>
            </a:r>
            <a:endParaRPr lang="it-IT" i="1"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48</a:t>
            </a:fld>
            <a:endParaRPr lang="it-IT"/>
          </a:p>
        </p:txBody>
      </p:sp>
      <p:sp>
        <p:nvSpPr>
          <p:cNvPr id="9" name="Segnaposto contenuto 6">
            <a:extLst>
              <a:ext uri="{FF2B5EF4-FFF2-40B4-BE49-F238E27FC236}">
                <a16:creationId xmlns:a16="http://schemas.microsoft.com/office/drawing/2014/main" id="{D0E78BF3-323F-41CA-B721-A0DD6A68B03F}"/>
              </a:ext>
            </a:extLst>
          </p:cNvPr>
          <p:cNvSpPr>
            <a:spLocks noGrp="1"/>
          </p:cNvSpPr>
          <p:nvPr>
            <p:ph idx="1"/>
          </p:nvPr>
        </p:nvSpPr>
        <p:spPr>
          <a:xfrm>
            <a:off x="0" y="1008140"/>
            <a:ext cx="9144000" cy="6021360"/>
          </a:xfrm>
        </p:spPr>
        <p:txBody>
          <a:bodyPr>
            <a:noAutofit/>
          </a:bodyPr>
          <a:lstStyle/>
          <a:p>
            <a:pPr marL="0" indent="0">
              <a:buNone/>
            </a:pPr>
            <a:r>
              <a:rPr lang="it-IT" sz="3200" dirty="0">
                <a:solidFill>
                  <a:schemeClr val="tx1"/>
                </a:solidFill>
              </a:rPr>
              <a:t>Questo codice è valido ed equivalente agli altri esempi visti:</a:t>
            </a:r>
          </a:p>
          <a:p>
            <a:pPr marL="0" indent="0">
              <a:buNone/>
            </a:pPr>
            <a:r>
              <a:rPr lang="it-IT" sz="3200" dirty="0">
                <a:solidFill>
                  <a:schemeClr val="accent5"/>
                </a:solidFill>
              </a:rPr>
              <a:t>String season = switch(</a:t>
            </a:r>
            <a:r>
              <a:rPr lang="it-IT" sz="3200" dirty="0" err="1">
                <a:solidFill>
                  <a:schemeClr val="accent5"/>
                </a:solidFill>
              </a:rPr>
              <a:t>month</a:t>
            </a:r>
            <a:r>
              <a:rPr lang="it-IT" sz="3200" dirty="0">
                <a:solidFill>
                  <a:schemeClr val="accent5"/>
                </a:solidFill>
              </a:rPr>
              <a:t>) {</a:t>
            </a:r>
          </a:p>
          <a:p>
            <a:pPr marL="0" indent="0">
              <a:buNone/>
            </a:pPr>
            <a:r>
              <a:rPr lang="it-IT" sz="3200" dirty="0">
                <a:solidFill>
                  <a:schemeClr val="accent5"/>
                </a:solidFill>
              </a:rPr>
              <a:t>    case DECEMBER, JANUARY, FEBRUARY -&gt; {yield </a:t>
            </a:r>
          </a:p>
          <a:p>
            <a:pPr marL="0" indent="0">
              <a:buNone/>
            </a:pPr>
            <a:r>
              <a:rPr lang="it-IT" sz="3200" dirty="0">
                <a:solidFill>
                  <a:schemeClr val="accent5"/>
                </a:solidFill>
              </a:rPr>
              <a:t>        "</a:t>
            </a:r>
            <a:r>
              <a:rPr lang="it-IT" sz="3200" dirty="0" err="1">
                <a:solidFill>
                  <a:schemeClr val="accent5"/>
                </a:solidFill>
              </a:rPr>
              <a:t>winter</a:t>
            </a:r>
            <a:r>
              <a:rPr lang="it-IT" sz="3200" dirty="0">
                <a:solidFill>
                  <a:schemeClr val="accent5"/>
                </a:solidFill>
              </a:rPr>
              <a:t>";}</a:t>
            </a:r>
          </a:p>
          <a:p>
            <a:pPr marL="0" indent="0">
              <a:buNone/>
            </a:pPr>
            <a:r>
              <a:rPr lang="it-IT" sz="3200" dirty="0">
                <a:solidFill>
                  <a:schemeClr val="accent5"/>
                </a:solidFill>
              </a:rPr>
              <a:t>    case MARCH, APRIL, MAY -&gt; {yield "spring";}</a:t>
            </a:r>
          </a:p>
          <a:p>
            <a:pPr marL="0" indent="0">
              <a:buNone/>
            </a:pPr>
            <a:r>
              <a:rPr lang="it-IT" sz="3200" dirty="0">
                <a:solidFill>
                  <a:schemeClr val="accent5"/>
                </a:solidFill>
              </a:rPr>
              <a:t>    case JUNE, JULY, AUGUST -&gt; {yield "</a:t>
            </a:r>
            <a:r>
              <a:rPr lang="it-IT" sz="3200" dirty="0" err="1">
                <a:solidFill>
                  <a:schemeClr val="accent5"/>
                </a:solidFill>
              </a:rPr>
              <a:t>summer</a:t>
            </a:r>
            <a:r>
              <a:rPr lang="it-IT" sz="3200" dirty="0">
                <a:solidFill>
                  <a:schemeClr val="accent5"/>
                </a:solidFill>
              </a:rPr>
              <a:t>";}</a:t>
            </a:r>
          </a:p>
          <a:p>
            <a:pPr marL="0" indent="0">
              <a:buNone/>
            </a:pPr>
            <a:r>
              <a:rPr lang="it-IT" sz="3200" dirty="0">
                <a:solidFill>
                  <a:schemeClr val="accent5"/>
                </a:solidFill>
              </a:rPr>
              <a:t>    case SEPTEMBER, OCTOBER, NOVEMBER -&gt; {yield </a:t>
            </a:r>
          </a:p>
          <a:p>
            <a:pPr marL="0" indent="0">
              <a:buNone/>
            </a:pPr>
            <a:r>
              <a:rPr lang="it-IT" sz="3200" dirty="0">
                <a:solidFill>
                  <a:schemeClr val="accent5"/>
                </a:solidFill>
              </a:rPr>
              <a:t>        "</a:t>
            </a:r>
            <a:r>
              <a:rPr lang="it-IT" sz="3200" dirty="0" err="1">
                <a:solidFill>
                  <a:schemeClr val="accent5"/>
                </a:solidFill>
              </a:rPr>
              <a:t>autumn</a:t>
            </a:r>
            <a:r>
              <a:rPr lang="it-IT" sz="3200" dirty="0">
                <a:solidFill>
                  <a:schemeClr val="accent5"/>
                </a:solidFill>
              </a:rPr>
              <a:t>"};</a:t>
            </a:r>
          </a:p>
          <a:p>
            <a:pPr marL="0" indent="0">
              <a:buNone/>
            </a:pPr>
            <a:r>
              <a:rPr lang="it-IT" sz="3200" dirty="0">
                <a:solidFill>
                  <a:schemeClr val="accent5"/>
                </a:solidFill>
              </a:rPr>
              <a:t>};</a:t>
            </a:r>
          </a:p>
        </p:txBody>
      </p:sp>
    </p:spTree>
    <p:extLst>
      <p:ext uri="{BB962C8B-B14F-4D97-AF65-F5344CB8AC3E}">
        <p14:creationId xmlns:p14="http://schemas.microsoft.com/office/powerpoint/2010/main" val="10464558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0" y="-7496"/>
            <a:ext cx="9144000" cy="988156"/>
          </a:xfrm>
        </p:spPr>
        <p:txBody>
          <a:bodyPr>
            <a:normAutofit/>
          </a:bodyPr>
          <a:lstStyle/>
          <a:p>
            <a:pPr algn="ctr"/>
            <a:r>
              <a:rPr lang="it-IT" dirty="0"/>
              <a:t>Freccia vs due punti</a:t>
            </a:r>
            <a:endParaRPr lang="it-IT" i="1"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49</a:t>
            </a:fld>
            <a:endParaRPr lang="it-IT"/>
          </a:p>
        </p:txBody>
      </p:sp>
      <p:sp>
        <p:nvSpPr>
          <p:cNvPr id="9" name="Segnaposto contenuto 6">
            <a:extLst>
              <a:ext uri="{FF2B5EF4-FFF2-40B4-BE49-F238E27FC236}">
                <a16:creationId xmlns:a16="http://schemas.microsoft.com/office/drawing/2014/main" id="{D0E78BF3-323F-41CA-B721-A0DD6A68B03F}"/>
              </a:ext>
            </a:extLst>
          </p:cNvPr>
          <p:cNvSpPr>
            <a:spLocks noGrp="1"/>
          </p:cNvSpPr>
          <p:nvPr>
            <p:ph idx="1"/>
          </p:nvPr>
        </p:nvSpPr>
        <p:spPr>
          <a:xfrm>
            <a:off x="0" y="1008140"/>
            <a:ext cx="9144000" cy="6021360"/>
          </a:xfrm>
        </p:spPr>
        <p:txBody>
          <a:bodyPr>
            <a:noAutofit/>
          </a:bodyPr>
          <a:lstStyle/>
          <a:p>
            <a:pPr marL="0" indent="0">
              <a:buNone/>
            </a:pPr>
            <a:r>
              <a:rPr lang="it-IT" dirty="0">
                <a:solidFill>
                  <a:schemeClr val="tx1"/>
                </a:solidFill>
              </a:rPr>
              <a:t>Non è possibile però, mischiare le due notazioni (notazione freccia e notazione due punti) nello stesso costrutto. Per esempio:</a:t>
            </a:r>
          </a:p>
          <a:p>
            <a:pPr marL="0" indent="0">
              <a:buNone/>
            </a:pPr>
            <a:r>
              <a:rPr lang="it-IT" dirty="0">
                <a:solidFill>
                  <a:schemeClr val="accent5"/>
                </a:solidFill>
              </a:rPr>
              <a:t>String season = switch(</a:t>
            </a:r>
            <a:r>
              <a:rPr lang="it-IT" dirty="0" err="1">
                <a:solidFill>
                  <a:schemeClr val="accent5"/>
                </a:solidFill>
              </a:rPr>
              <a:t>month</a:t>
            </a:r>
            <a:r>
              <a:rPr lang="it-IT" dirty="0">
                <a:solidFill>
                  <a:schemeClr val="accent5"/>
                </a:solidFill>
              </a:rPr>
              <a:t>) {</a:t>
            </a:r>
          </a:p>
          <a:p>
            <a:pPr marL="0" indent="0">
              <a:buNone/>
            </a:pPr>
            <a:r>
              <a:rPr lang="it-IT" dirty="0">
                <a:solidFill>
                  <a:schemeClr val="accent5"/>
                </a:solidFill>
              </a:rPr>
              <a:t>    case DECEMBER, JANUARY, FEBRUARY: yield "</a:t>
            </a:r>
            <a:r>
              <a:rPr lang="it-IT" dirty="0" err="1">
                <a:solidFill>
                  <a:schemeClr val="accent5"/>
                </a:solidFill>
              </a:rPr>
              <a:t>winter</a:t>
            </a:r>
            <a:r>
              <a:rPr lang="it-IT" dirty="0">
                <a:solidFill>
                  <a:schemeClr val="accent5"/>
                </a:solidFill>
              </a:rPr>
              <a:t>";</a:t>
            </a:r>
          </a:p>
          <a:p>
            <a:pPr marL="0" indent="0">
              <a:buNone/>
            </a:pPr>
            <a:r>
              <a:rPr lang="it-IT" dirty="0">
                <a:solidFill>
                  <a:schemeClr val="accent5"/>
                </a:solidFill>
              </a:rPr>
              <a:t>    case MARCH, APRIL, MAY: yield "spring";</a:t>
            </a:r>
          </a:p>
          <a:p>
            <a:pPr marL="0" indent="0">
              <a:buNone/>
            </a:pPr>
            <a:r>
              <a:rPr lang="it-IT" dirty="0">
                <a:solidFill>
                  <a:schemeClr val="accent5"/>
                </a:solidFill>
              </a:rPr>
              <a:t>    case JUNE, JULY, AUGUST: yield "</a:t>
            </a:r>
            <a:r>
              <a:rPr lang="it-IT" dirty="0" err="1">
                <a:solidFill>
                  <a:schemeClr val="accent5"/>
                </a:solidFill>
              </a:rPr>
              <a:t>summer</a:t>
            </a:r>
            <a:r>
              <a:rPr lang="it-IT" dirty="0">
                <a:solidFill>
                  <a:schemeClr val="accent5"/>
                </a:solidFill>
              </a:rPr>
              <a:t>";</a:t>
            </a:r>
          </a:p>
          <a:p>
            <a:pPr marL="0" indent="0">
              <a:buNone/>
            </a:pPr>
            <a:r>
              <a:rPr lang="it-IT" dirty="0">
                <a:solidFill>
                  <a:schemeClr val="accent5"/>
                </a:solidFill>
              </a:rPr>
              <a:t>    case SEPTEMBER, OCTOBER, NOVEMBER -&gt;  "</a:t>
            </a:r>
            <a:r>
              <a:rPr lang="it-IT" dirty="0" err="1">
                <a:solidFill>
                  <a:schemeClr val="accent5"/>
                </a:solidFill>
              </a:rPr>
              <a:t>autumn</a:t>
            </a:r>
            <a:r>
              <a:rPr lang="it-IT" dirty="0">
                <a:solidFill>
                  <a:schemeClr val="accent5"/>
                </a:solidFill>
              </a:rPr>
              <a:t>";</a:t>
            </a:r>
          </a:p>
          <a:p>
            <a:pPr marL="0" indent="0">
              <a:buNone/>
            </a:pPr>
            <a:r>
              <a:rPr lang="it-IT" dirty="0">
                <a:solidFill>
                  <a:schemeClr val="accent5"/>
                </a:solidFill>
              </a:rPr>
              <a:t>};</a:t>
            </a:r>
          </a:p>
          <a:p>
            <a:pPr marL="0" indent="0">
              <a:buNone/>
            </a:pPr>
            <a:r>
              <a:rPr lang="it-IT" dirty="0">
                <a:solidFill>
                  <a:schemeClr val="tx1"/>
                </a:solidFill>
              </a:rPr>
              <a:t>causerebbe il seguente errore di compilazione:</a:t>
            </a:r>
          </a:p>
          <a:p>
            <a:pPr marL="0" indent="0">
              <a:buNone/>
            </a:pPr>
            <a:r>
              <a:rPr lang="it-IT" dirty="0">
                <a:solidFill>
                  <a:srgbClr val="92D050"/>
                </a:solidFill>
              </a:rPr>
              <a:t>error: </a:t>
            </a:r>
            <a:r>
              <a:rPr lang="it-IT" dirty="0" err="1">
                <a:solidFill>
                  <a:srgbClr val="92D050"/>
                </a:solidFill>
              </a:rPr>
              <a:t>different</a:t>
            </a:r>
            <a:r>
              <a:rPr lang="it-IT" dirty="0">
                <a:solidFill>
                  <a:srgbClr val="92D050"/>
                </a:solidFill>
              </a:rPr>
              <a:t> case </a:t>
            </a:r>
            <a:r>
              <a:rPr lang="it-IT" dirty="0" err="1">
                <a:solidFill>
                  <a:srgbClr val="92D050"/>
                </a:solidFill>
              </a:rPr>
              <a:t>kinds</a:t>
            </a:r>
            <a:r>
              <a:rPr lang="it-IT" dirty="0">
                <a:solidFill>
                  <a:srgbClr val="92D050"/>
                </a:solidFill>
              </a:rPr>
              <a:t> </a:t>
            </a:r>
            <a:r>
              <a:rPr lang="it-IT" dirty="0" err="1">
                <a:solidFill>
                  <a:srgbClr val="92D050"/>
                </a:solidFill>
              </a:rPr>
              <a:t>used</a:t>
            </a:r>
            <a:r>
              <a:rPr lang="it-IT" dirty="0">
                <a:solidFill>
                  <a:srgbClr val="92D050"/>
                </a:solidFill>
              </a:rPr>
              <a:t> in the switch</a:t>
            </a:r>
          </a:p>
          <a:p>
            <a:pPr marL="0" indent="0">
              <a:buNone/>
            </a:pPr>
            <a:r>
              <a:rPr lang="it-IT" dirty="0">
                <a:solidFill>
                  <a:srgbClr val="92D050"/>
                </a:solidFill>
              </a:rPr>
              <a:t>            case SEPTEMBER, OCTOBER, NOVEMBER -&gt; "</a:t>
            </a:r>
            <a:r>
              <a:rPr lang="it-IT" dirty="0" err="1">
                <a:solidFill>
                  <a:srgbClr val="92D050"/>
                </a:solidFill>
              </a:rPr>
              <a:t>autumn</a:t>
            </a:r>
            <a:r>
              <a:rPr lang="it-IT" dirty="0">
                <a:solidFill>
                  <a:srgbClr val="92D050"/>
                </a:solidFill>
              </a:rPr>
              <a:t>" ;</a:t>
            </a:r>
          </a:p>
          <a:p>
            <a:pPr marL="0" indent="0">
              <a:buNone/>
            </a:pPr>
            <a:r>
              <a:rPr lang="it-IT" dirty="0">
                <a:solidFill>
                  <a:srgbClr val="92D050"/>
                </a:solidFill>
              </a:rPr>
              <a:t>            ^</a:t>
            </a:r>
          </a:p>
          <a:p>
            <a:pPr marL="0" indent="0">
              <a:buNone/>
            </a:pPr>
            <a:r>
              <a:rPr lang="it-IT" dirty="0">
                <a:solidFill>
                  <a:srgbClr val="92D050"/>
                </a:solidFill>
              </a:rPr>
              <a:t>1 error</a:t>
            </a:r>
          </a:p>
        </p:txBody>
      </p:sp>
    </p:spTree>
    <p:extLst>
      <p:ext uri="{BB962C8B-B14F-4D97-AF65-F5344CB8AC3E}">
        <p14:creationId xmlns:p14="http://schemas.microsoft.com/office/powerpoint/2010/main" val="24280626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0" y="-7496"/>
            <a:ext cx="9144000" cy="988156"/>
          </a:xfrm>
        </p:spPr>
        <p:txBody>
          <a:bodyPr>
            <a:normAutofit/>
          </a:bodyPr>
          <a:lstStyle/>
          <a:p>
            <a:pPr algn="ctr"/>
            <a:r>
              <a:rPr lang="it-IT" dirty="0"/>
              <a:t>Poly expression (poli-espressione)</a:t>
            </a:r>
            <a:endParaRPr lang="it-IT" i="1"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50</a:t>
            </a:fld>
            <a:endParaRPr lang="it-IT"/>
          </a:p>
        </p:txBody>
      </p:sp>
      <p:sp>
        <p:nvSpPr>
          <p:cNvPr id="9" name="Segnaposto contenuto 6">
            <a:extLst>
              <a:ext uri="{FF2B5EF4-FFF2-40B4-BE49-F238E27FC236}">
                <a16:creationId xmlns:a16="http://schemas.microsoft.com/office/drawing/2014/main" id="{D0E78BF3-323F-41CA-B721-A0DD6A68B03F}"/>
              </a:ext>
            </a:extLst>
          </p:cNvPr>
          <p:cNvSpPr>
            <a:spLocks noGrp="1"/>
          </p:cNvSpPr>
          <p:nvPr>
            <p:ph idx="1"/>
          </p:nvPr>
        </p:nvSpPr>
        <p:spPr>
          <a:xfrm>
            <a:off x="0" y="1124680"/>
            <a:ext cx="9144000" cy="5904820"/>
          </a:xfrm>
        </p:spPr>
        <p:txBody>
          <a:bodyPr>
            <a:noAutofit/>
          </a:bodyPr>
          <a:lstStyle/>
          <a:p>
            <a:r>
              <a:rPr lang="it-IT" sz="3200" dirty="0">
                <a:solidFill>
                  <a:schemeClr val="tx1"/>
                </a:solidFill>
              </a:rPr>
              <a:t>L’espressione </a:t>
            </a:r>
            <a:r>
              <a:rPr lang="it-IT" sz="3200" i="1" dirty="0">
                <a:solidFill>
                  <a:schemeClr val="tx1"/>
                </a:solidFill>
              </a:rPr>
              <a:t>switch</a:t>
            </a:r>
            <a:r>
              <a:rPr lang="it-IT" sz="3200" dirty="0">
                <a:solidFill>
                  <a:schemeClr val="tx1"/>
                </a:solidFill>
              </a:rPr>
              <a:t> viene detta </a:t>
            </a:r>
            <a:r>
              <a:rPr lang="it-IT" sz="3200" dirty="0" err="1">
                <a:solidFill>
                  <a:schemeClr val="tx1"/>
                </a:solidFill>
              </a:rPr>
              <a:t>poly</a:t>
            </a:r>
            <a:r>
              <a:rPr lang="it-IT" sz="3200" dirty="0">
                <a:solidFill>
                  <a:schemeClr val="tx1"/>
                </a:solidFill>
              </a:rPr>
              <a:t> expression (poli-espressione), perché è un costrutto che può definire più espressioni. </a:t>
            </a:r>
          </a:p>
          <a:p>
            <a:r>
              <a:rPr lang="it-IT" sz="3200" dirty="0">
                <a:solidFill>
                  <a:schemeClr val="tx1"/>
                </a:solidFill>
              </a:rPr>
              <a:t>Ci sono due scenari da distinguere: </a:t>
            </a:r>
          </a:p>
          <a:p>
            <a:pPr lvl="1"/>
            <a:r>
              <a:rPr lang="it-IT" sz="3200" dirty="0">
                <a:solidFill>
                  <a:schemeClr val="tx1"/>
                </a:solidFill>
              </a:rPr>
              <a:t>Il tipo a cui si assegna l’espressione è esplicitamente definito.</a:t>
            </a:r>
          </a:p>
          <a:p>
            <a:pPr lvl="1"/>
            <a:r>
              <a:rPr lang="it-IT" sz="3200" dirty="0">
                <a:solidFill>
                  <a:schemeClr val="tx1"/>
                </a:solidFill>
              </a:rPr>
              <a:t>La parola chiave </a:t>
            </a:r>
            <a:r>
              <a:rPr lang="it-IT" sz="3200" i="1" dirty="0">
                <a:solidFill>
                  <a:schemeClr val="tx1"/>
                </a:solidFill>
              </a:rPr>
              <a:t>var</a:t>
            </a:r>
            <a:r>
              <a:rPr lang="it-IT" sz="3200" dirty="0">
                <a:solidFill>
                  <a:schemeClr val="tx1"/>
                </a:solidFill>
              </a:rPr>
              <a:t> è usata al posto del tipo. </a:t>
            </a:r>
          </a:p>
          <a:p>
            <a:r>
              <a:rPr lang="it-IT" sz="3200" dirty="0">
                <a:solidFill>
                  <a:schemeClr val="tx1"/>
                </a:solidFill>
              </a:rPr>
              <a:t>Quando il tipo che deve essere restituito dall’espressione </a:t>
            </a:r>
            <a:r>
              <a:rPr lang="it-IT" sz="3200" i="1" dirty="0">
                <a:solidFill>
                  <a:schemeClr val="tx1"/>
                </a:solidFill>
              </a:rPr>
              <a:t>switch</a:t>
            </a:r>
            <a:r>
              <a:rPr lang="it-IT" sz="3200" dirty="0">
                <a:solidFill>
                  <a:schemeClr val="tx1"/>
                </a:solidFill>
              </a:rPr>
              <a:t> è noto, allora tutti i case devono ritornare valori coerenti con il tipo. </a:t>
            </a:r>
            <a:endParaRPr lang="it-IT" sz="3200" dirty="0">
              <a:solidFill>
                <a:schemeClr val="accent5"/>
              </a:solidFill>
            </a:endParaRPr>
          </a:p>
        </p:txBody>
      </p:sp>
    </p:spTree>
    <p:extLst>
      <p:ext uri="{BB962C8B-B14F-4D97-AF65-F5344CB8AC3E}">
        <p14:creationId xmlns:p14="http://schemas.microsoft.com/office/powerpoint/2010/main" val="12410073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0" y="-7496"/>
            <a:ext cx="9144000" cy="988156"/>
          </a:xfrm>
        </p:spPr>
        <p:txBody>
          <a:bodyPr>
            <a:normAutofit/>
          </a:bodyPr>
          <a:lstStyle/>
          <a:p>
            <a:pPr algn="ctr"/>
            <a:r>
              <a:rPr lang="it-IT" dirty="0"/>
              <a:t>Poly expression (primo caso)</a:t>
            </a:r>
            <a:endParaRPr lang="it-IT" i="1"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51</a:t>
            </a:fld>
            <a:endParaRPr lang="it-IT"/>
          </a:p>
        </p:txBody>
      </p:sp>
      <p:sp>
        <p:nvSpPr>
          <p:cNvPr id="9" name="Segnaposto contenuto 6">
            <a:extLst>
              <a:ext uri="{FF2B5EF4-FFF2-40B4-BE49-F238E27FC236}">
                <a16:creationId xmlns:a16="http://schemas.microsoft.com/office/drawing/2014/main" id="{D0E78BF3-323F-41CA-B721-A0DD6A68B03F}"/>
              </a:ext>
            </a:extLst>
          </p:cNvPr>
          <p:cNvSpPr>
            <a:spLocks noGrp="1"/>
          </p:cNvSpPr>
          <p:nvPr>
            <p:ph idx="1"/>
          </p:nvPr>
        </p:nvSpPr>
        <p:spPr>
          <a:xfrm>
            <a:off x="0" y="764630"/>
            <a:ext cx="4427980" cy="6093370"/>
          </a:xfrm>
        </p:spPr>
        <p:txBody>
          <a:bodyPr>
            <a:noAutofit/>
          </a:bodyPr>
          <a:lstStyle/>
          <a:p>
            <a:pPr marL="342900" lvl="1" indent="0">
              <a:buNone/>
            </a:pPr>
            <a:r>
              <a:rPr lang="it-IT" sz="2800" dirty="0">
                <a:solidFill>
                  <a:schemeClr val="accent5"/>
                </a:solidFill>
              </a:rPr>
              <a:t>String integer = "2";</a:t>
            </a:r>
          </a:p>
          <a:p>
            <a:pPr marL="342900" lvl="1" indent="0">
              <a:buNone/>
            </a:pPr>
            <a:r>
              <a:rPr lang="it-IT" sz="2800" dirty="0">
                <a:solidFill>
                  <a:schemeClr val="accent5"/>
                </a:solidFill>
              </a:rPr>
              <a:t>int index = switch(integer) {</a:t>
            </a:r>
          </a:p>
          <a:p>
            <a:pPr marL="342900" lvl="1" indent="0">
              <a:buNone/>
            </a:pPr>
            <a:r>
              <a:rPr lang="it-IT" sz="2800" dirty="0">
                <a:solidFill>
                  <a:schemeClr val="accent5"/>
                </a:solidFill>
              </a:rPr>
              <a:t>    case "1"-&gt; { </a:t>
            </a:r>
          </a:p>
          <a:p>
            <a:pPr marL="342900" lvl="1" indent="0">
              <a:buNone/>
            </a:pPr>
            <a:r>
              <a:rPr lang="it-IT" sz="2800" dirty="0">
                <a:solidFill>
                  <a:schemeClr val="accent5"/>
                </a:solidFill>
              </a:rPr>
              <a:t>        byte b = 1;</a:t>
            </a:r>
          </a:p>
          <a:p>
            <a:pPr marL="342900" lvl="1" indent="0">
              <a:buNone/>
            </a:pPr>
            <a:r>
              <a:rPr lang="it-IT" sz="2800" dirty="0">
                <a:solidFill>
                  <a:schemeClr val="accent5"/>
                </a:solidFill>
              </a:rPr>
              <a:t>        yield b;                    </a:t>
            </a:r>
          </a:p>
          <a:p>
            <a:pPr marL="342900" lvl="1" indent="0">
              <a:buNone/>
            </a:pPr>
            <a:r>
              <a:rPr lang="it-IT" sz="2800" dirty="0">
                <a:solidFill>
                  <a:schemeClr val="accent5"/>
                </a:solidFill>
              </a:rPr>
              <a:t>    }</a:t>
            </a:r>
          </a:p>
          <a:p>
            <a:pPr marL="342900" lvl="1" indent="0">
              <a:buNone/>
            </a:pPr>
            <a:r>
              <a:rPr lang="it-IT" sz="2800" dirty="0">
                <a:solidFill>
                  <a:schemeClr val="accent5"/>
                </a:solidFill>
              </a:rPr>
              <a:t>    case "2"-&gt; {</a:t>
            </a:r>
          </a:p>
          <a:p>
            <a:pPr marL="342900" lvl="1" indent="0">
              <a:buNone/>
            </a:pPr>
            <a:r>
              <a:rPr lang="it-IT" sz="2800" dirty="0">
                <a:solidFill>
                  <a:schemeClr val="accent5"/>
                </a:solidFill>
              </a:rPr>
              <a:t>        short s = 2;</a:t>
            </a:r>
          </a:p>
          <a:p>
            <a:pPr marL="342900" lvl="1" indent="0">
              <a:buNone/>
            </a:pPr>
            <a:r>
              <a:rPr lang="it-IT" sz="2800" dirty="0">
                <a:solidFill>
                  <a:schemeClr val="accent5"/>
                </a:solidFill>
              </a:rPr>
              <a:t>        yield s;                   </a:t>
            </a:r>
          </a:p>
          <a:p>
            <a:pPr marL="342900" lvl="1" indent="0">
              <a:buNone/>
            </a:pPr>
            <a:r>
              <a:rPr lang="it-IT" sz="2800" dirty="0">
                <a:solidFill>
                  <a:schemeClr val="accent5"/>
                </a:solidFill>
              </a:rPr>
              <a:t>    }</a:t>
            </a:r>
          </a:p>
          <a:p>
            <a:pPr marL="342900" lvl="1" indent="0">
              <a:buNone/>
            </a:pPr>
            <a:r>
              <a:rPr lang="it-IT" sz="2800" dirty="0">
                <a:solidFill>
                  <a:schemeClr val="accent5"/>
                </a:solidFill>
              </a:rPr>
              <a:t>    case "3"-&gt; 3;</a:t>
            </a:r>
          </a:p>
          <a:p>
            <a:pPr marL="342900" lvl="1" indent="0">
              <a:buNone/>
            </a:pPr>
            <a:r>
              <a:rPr lang="it-IT" sz="2800" dirty="0">
                <a:solidFill>
                  <a:schemeClr val="accent5"/>
                </a:solidFill>
              </a:rPr>
              <a:t>    default -&gt; -1;</a:t>
            </a:r>
          </a:p>
          <a:p>
            <a:pPr marL="342900" lvl="1" indent="0">
              <a:buNone/>
            </a:pPr>
            <a:r>
              <a:rPr lang="it-IT" sz="2800" dirty="0">
                <a:solidFill>
                  <a:schemeClr val="accent5"/>
                </a:solidFill>
              </a:rPr>
              <a:t>};</a:t>
            </a:r>
          </a:p>
        </p:txBody>
      </p:sp>
      <p:sp>
        <p:nvSpPr>
          <p:cNvPr id="10" name="CasellaDiTesto 9">
            <a:extLst>
              <a:ext uri="{FF2B5EF4-FFF2-40B4-BE49-F238E27FC236}">
                <a16:creationId xmlns:a16="http://schemas.microsoft.com/office/drawing/2014/main" id="{C791FEB8-0C8F-466C-8603-D212D5920642}"/>
              </a:ext>
            </a:extLst>
          </p:cNvPr>
          <p:cNvSpPr txBox="1"/>
          <p:nvPr/>
        </p:nvSpPr>
        <p:spPr>
          <a:xfrm>
            <a:off x="3563860" y="2121880"/>
            <a:ext cx="5256730" cy="3539430"/>
          </a:xfrm>
          <a:prstGeom prst="rect">
            <a:avLst/>
          </a:prstGeom>
          <a:noFill/>
        </p:spPr>
        <p:txBody>
          <a:bodyPr wrap="square">
            <a:spAutoFit/>
          </a:bodyPr>
          <a:lstStyle/>
          <a:p>
            <a:r>
              <a:rPr lang="it-IT" sz="2800" dirty="0"/>
              <a:t>Questo snippet sarà compilato senza errori, visto che tutti i case ritornano valori compatibili con int. Si noti che, in questo caso il compilatore si basa sulla parte sinistra della dichiarazione (LHS), per stabilire se i tipi che ritornano tutti i case sono compatibili.</a:t>
            </a:r>
          </a:p>
        </p:txBody>
      </p:sp>
    </p:spTree>
    <p:extLst>
      <p:ext uri="{BB962C8B-B14F-4D97-AF65-F5344CB8AC3E}">
        <p14:creationId xmlns:p14="http://schemas.microsoft.com/office/powerpoint/2010/main" val="6225926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0" y="-7496"/>
            <a:ext cx="9144000" cy="988156"/>
          </a:xfrm>
        </p:spPr>
        <p:txBody>
          <a:bodyPr>
            <a:normAutofit/>
          </a:bodyPr>
          <a:lstStyle/>
          <a:p>
            <a:pPr algn="ctr"/>
            <a:r>
              <a:rPr lang="it-IT" dirty="0"/>
              <a:t>Poly expression (secondo caso)</a:t>
            </a:r>
            <a:endParaRPr lang="it-IT" i="1"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52</a:t>
            </a:fld>
            <a:endParaRPr lang="it-IT"/>
          </a:p>
        </p:txBody>
      </p:sp>
      <p:sp>
        <p:nvSpPr>
          <p:cNvPr id="10" name="CasellaDiTesto 9">
            <a:extLst>
              <a:ext uri="{FF2B5EF4-FFF2-40B4-BE49-F238E27FC236}">
                <a16:creationId xmlns:a16="http://schemas.microsoft.com/office/drawing/2014/main" id="{C791FEB8-0C8F-466C-8603-D212D5920642}"/>
              </a:ext>
            </a:extLst>
          </p:cNvPr>
          <p:cNvSpPr txBox="1"/>
          <p:nvPr/>
        </p:nvSpPr>
        <p:spPr>
          <a:xfrm>
            <a:off x="323410" y="1196690"/>
            <a:ext cx="8497180" cy="5262979"/>
          </a:xfrm>
          <a:prstGeom prst="rect">
            <a:avLst/>
          </a:prstGeom>
          <a:noFill/>
        </p:spPr>
        <p:txBody>
          <a:bodyPr wrap="square">
            <a:spAutoFit/>
          </a:bodyPr>
          <a:lstStyle/>
          <a:p>
            <a:r>
              <a:rPr lang="it-IT" sz="2800" dirty="0"/>
              <a:t>Se la variabile </a:t>
            </a:r>
            <a:r>
              <a:rPr lang="it-IT" sz="2800" i="1" dirty="0"/>
              <a:t>index</a:t>
            </a:r>
            <a:r>
              <a:rPr lang="it-IT" sz="2800" dirty="0"/>
              <a:t> fosse dichiarata con la parola </a:t>
            </a:r>
            <a:r>
              <a:rPr lang="it-IT" sz="2800" i="1" dirty="0"/>
              <a:t>var</a:t>
            </a:r>
            <a:r>
              <a:rPr lang="it-IT" sz="2800" dirty="0"/>
              <a:t>:</a:t>
            </a:r>
          </a:p>
          <a:p>
            <a:r>
              <a:rPr lang="it-IT" sz="2800" dirty="0">
                <a:solidFill>
                  <a:schemeClr val="accent5"/>
                </a:solidFill>
              </a:rPr>
              <a:t>    var index = switch(integer) {</a:t>
            </a:r>
          </a:p>
          <a:p>
            <a:pPr marL="342900" lvl="1" indent="0">
              <a:buNone/>
            </a:pPr>
            <a:r>
              <a:rPr lang="it-IT" sz="2800" dirty="0">
                <a:solidFill>
                  <a:schemeClr val="accent5"/>
                </a:solidFill>
              </a:rPr>
              <a:t>{</a:t>
            </a:r>
          </a:p>
          <a:p>
            <a:pPr marL="342900" lvl="1" indent="0">
              <a:buNone/>
            </a:pPr>
            <a:r>
              <a:rPr lang="it-IT" sz="2800" dirty="0">
                <a:solidFill>
                  <a:schemeClr val="accent5"/>
                </a:solidFill>
              </a:rPr>
              <a:t>    case "1"-&gt; { </a:t>
            </a:r>
          </a:p>
          <a:p>
            <a:pPr marL="342900" lvl="1" indent="0">
              <a:buNone/>
            </a:pPr>
            <a:r>
              <a:rPr lang="it-IT" sz="2800" dirty="0">
                <a:solidFill>
                  <a:schemeClr val="accent5"/>
                </a:solidFill>
              </a:rPr>
              <a:t>        byte b = 1;</a:t>
            </a:r>
          </a:p>
          <a:p>
            <a:r>
              <a:rPr lang="it-IT" sz="2800" dirty="0">
                <a:solidFill>
                  <a:schemeClr val="accent5"/>
                </a:solidFill>
              </a:rPr>
              <a:t>             // resto del codice omesso</a:t>
            </a:r>
          </a:p>
          <a:p>
            <a:r>
              <a:rPr lang="it-IT" sz="2800" dirty="0"/>
              <a:t>il suo tipo sarebbe dedotto come int, perché in quel caso il compilatore avrebbe controllato la parte destra (RHS) dell’espressione, anzi, delle espressioni. Siccome nelle tre espressioni sono ritornati, un </a:t>
            </a:r>
            <a:r>
              <a:rPr lang="it-IT" sz="2800" i="1" dirty="0"/>
              <a:t>byte</a:t>
            </a:r>
            <a:r>
              <a:rPr lang="it-IT" sz="2800" dirty="0"/>
              <a:t>, uno </a:t>
            </a:r>
            <a:r>
              <a:rPr lang="it-IT" sz="2800" i="1" dirty="0"/>
              <a:t>short</a:t>
            </a:r>
            <a:r>
              <a:rPr lang="it-IT" sz="2800" dirty="0"/>
              <a:t> e un </a:t>
            </a:r>
            <a:r>
              <a:rPr lang="it-IT" sz="2800" i="1" dirty="0"/>
              <a:t>int</a:t>
            </a:r>
            <a:r>
              <a:rPr lang="it-IT" sz="2800" dirty="0"/>
              <a:t>, ovviamente viene dedotto </a:t>
            </a:r>
            <a:r>
              <a:rPr lang="it-IT" sz="2800" i="1" dirty="0"/>
              <a:t>int</a:t>
            </a:r>
            <a:r>
              <a:rPr lang="it-IT" sz="2800" dirty="0"/>
              <a:t> come tipo di ritorno dell’espressione </a:t>
            </a:r>
            <a:r>
              <a:rPr lang="it-IT" sz="2800" i="1" dirty="0"/>
              <a:t>switch</a:t>
            </a:r>
            <a:r>
              <a:rPr lang="it-IT" sz="2800" dirty="0"/>
              <a:t>.</a:t>
            </a:r>
          </a:p>
        </p:txBody>
      </p:sp>
    </p:spTree>
    <p:extLst>
      <p:ext uri="{BB962C8B-B14F-4D97-AF65-F5344CB8AC3E}">
        <p14:creationId xmlns:p14="http://schemas.microsoft.com/office/powerpoint/2010/main" val="13227234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0" y="-7496"/>
            <a:ext cx="9144000" cy="988156"/>
          </a:xfrm>
        </p:spPr>
        <p:txBody>
          <a:bodyPr>
            <a:normAutofit/>
          </a:bodyPr>
          <a:lstStyle/>
          <a:p>
            <a:pPr algn="ctr"/>
            <a:r>
              <a:rPr lang="it-IT" dirty="0"/>
              <a:t>switch come parametro di un metodo</a:t>
            </a:r>
            <a:endParaRPr lang="it-IT" i="1"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53</a:t>
            </a:fld>
            <a:endParaRPr lang="it-IT"/>
          </a:p>
        </p:txBody>
      </p:sp>
      <p:sp>
        <p:nvSpPr>
          <p:cNvPr id="10" name="CasellaDiTesto 9">
            <a:extLst>
              <a:ext uri="{FF2B5EF4-FFF2-40B4-BE49-F238E27FC236}">
                <a16:creationId xmlns:a16="http://schemas.microsoft.com/office/drawing/2014/main" id="{C791FEB8-0C8F-466C-8603-D212D5920642}"/>
              </a:ext>
            </a:extLst>
          </p:cNvPr>
          <p:cNvSpPr txBox="1"/>
          <p:nvPr/>
        </p:nvSpPr>
        <p:spPr>
          <a:xfrm>
            <a:off x="323410" y="1196690"/>
            <a:ext cx="6552910" cy="5632311"/>
          </a:xfrm>
          <a:prstGeom prst="rect">
            <a:avLst/>
          </a:prstGeom>
          <a:noFill/>
        </p:spPr>
        <p:txBody>
          <a:bodyPr wrap="square">
            <a:spAutoFit/>
          </a:bodyPr>
          <a:lstStyle/>
          <a:p>
            <a:r>
              <a:rPr lang="it-IT" sz="2400" dirty="0">
                <a:solidFill>
                  <a:schemeClr val="accent5"/>
                </a:solidFill>
              </a:rPr>
              <a:t>public class PolyExpression2 {</a:t>
            </a:r>
          </a:p>
          <a:p>
            <a:r>
              <a:rPr lang="it-IT" sz="2400" dirty="0">
                <a:solidFill>
                  <a:schemeClr val="accent5"/>
                </a:solidFill>
              </a:rPr>
              <a:t>    public static void main(String args[]) {</a:t>
            </a:r>
          </a:p>
          <a:p>
            <a:r>
              <a:rPr lang="it-IT" sz="2400" dirty="0">
                <a:solidFill>
                  <a:schemeClr val="accent5"/>
                </a:solidFill>
              </a:rPr>
              <a:t>        PolyExpression2 po2 = new PolyExpression2();</a:t>
            </a:r>
          </a:p>
          <a:p>
            <a:r>
              <a:rPr lang="it-IT" sz="2400" dirty="0">
                <a:solidFill>
                  <a:schemeClr val="accent5"/>
                </a:solidFill>
              </a:rPr>
              <a:t>        String integer ="2";</a:t>
            </a:r>
          </a:p>
          <a:p>
            <a:r>
              <a:rPr lang="it-IT" sz="2400" dirty="0">
                <a:solidFill>
                  <a:schemeClr val="accent5"/>
                </a:solidFill>
              </a:rPr>
              <a:t>        </a:t>
            </a:r>
            <a:r>
              <a:rPr lang="it-IT" sz="2400" b="1" dirty="0">
                <a:solidFill>
                  <a:schemeClr val="accent5"/>
                </a:solidFill>
              </a:rPr>
              <a:t>po2.method(</a:t>
            </a:r>
          </a:p>
          <a:p>
            <a:r>
              <a:rPr lang="it-IT" sz="2400" dirty="0">
                <a:solidFill>
                  <a:schemeClr val="accent5"/>
                </a:solidFill>
              </a:rPr>
              <a:t>            switch(integer) {</a:t>
            </a:r>
          </a:p>
          <a:p>
            <a:r>
              <a:rPr lang="it-IT" sz="2400" dirty="0">
                <a:solidFill>
                  <a:schemeClr val="accent5"/>
                </a:solidFill>
              </a:rPr>
              <a:t>                case "1" -&gt; {</a:t>
            </a:r>
          </a:p>
          <a:p>
            <a:r>
              <a:rPr lang="it-IT" sz="2400" dirty="0">
                <a:solidFill>
                  <a:schemeClr val="accent5"/>
                </a:solidFill>
              </a:rPr>
              <a:t>                    byte b = 1;</a:t>
            </a:r>
          </a:p>
          <a:p>
            <a:r>
              <a:rPr lang="it-IT" sz="2400" dirty="0">
                <a:solidFill>
                  <a:schemeClr val="accent5"/>
                </a:solidFill>
              </a:rPr>
              <a:t>                    yield b;</a:t>
            </a:r>
          </a:p>
          <a:p>
            <a:r>
              <a:rPr lang="it-IT" sz="2400" dirty="0">
                <a:solidFill>
                  <a:schemeClr val="accent5"/>
                </a:solidFill>
              </a:rPr>
              <a:t>                }</a:t>
            </a:r>
          </a:p>
          <a:p>
            <a:r>
              <a:rPr lang="it-IT" sz="2400" dirty="0">
                <a:solidFill>
                  <a:schemeClr val="accent5"/>
                </a:solidFill>
              </a:rPr>
              <a:t>                case "2" -&gt; {</a:t>
            </a:r>
          </a:p>
          <a:p>
            <a:r>
              <a:rPr lang="it-IT" sz="2400" dirty="0">
                <a:solidFill>
                  <a:schemeClr val="accent5"/>
                </a:solidFill>
              </a:rPr>
              <a:t>                    short s = 2;</a:t>
            </a:r>
          </a:p>
          <a:p>
            <a:r>
              <a:rPr lang="it-IT" sz="2400" dirty="0">
                <a:solidFill>
                  <a:schemeClr val="accent5"/>
                </a:solidFill>
              </a:rPr>
              <a:t>                    yield s;</a:t>
            </a:r>
          </a:p>
          <a:p>
            <a:r>
              <a:rPr lang="it-IT" sz="2400" dirty="0">
                <a:solidFill>
                  <a:schemeClr val="accent5"/>
                </a:solidFill>
              </a:rPr>
              <a:t>                }</a:t>
            </a:r>
          </a:p>
          <a:p>
            <a:r>
              <a:rPr lang="it-IT" sz="2400" dirty="0">
                <a:solidFill>
                  <a:schemeClr val="accent5"/>
                </a:solidFill>
              </a:rPr>
              <a:t>                </a:t>
            </a:r>
            <a:endParaRPr lang="it-IT" sz="2400" dirty="0"/>
          </a:p>
        </p:txBody>
      </p:sp>
      <p:sp>
        <p:nvSpPr>
          <p:cNvPr id="7" name="CasellaDiTesto 6">
            <a:extLst>
              <a:ext uri="{FF2B5EF4-FFF2-40B4-BE49-F238E27FC236}">
                <a16:creationId xmlns:a16="http://schemas.microsoft.com/office/drawing/2014/main" id="{3B9531F1-C8A2-436C-89DF-EC6FB75C26C7}"/>
              </a:ext>
            </a:extLst>
          </p:cNvPr>
          <p:cNvSpPr txBox="1"/>
          <p:nvPr/>
        </p:nvSpPr>
        <p:spPr>
          <a:xfrm>
            <a:off x="4572000" y="2745081"/>
            <a:ext cx="4464620" cy="3416320"/>
          </a:xfrm>
          <a:prstGeom prst="rect">
            <a:avLst/>
          </a:prstGeom>
          <a:noFill/>
        </p:spPr>
        <p:txBody>
          <a:bodyPr wrap="square">
            <a:spAutoFit/>
          </a:bodyPr>
          <a:lstStyle/>
          <a:p>
            <a:r>
              <a:rPr lang="it-IT" sz="2400" dirty="0">
                <a:solidFill>
                  <a:schemeClr val="accent5"/>
                </a:solidFill>
              </a:rPr>
              <a:t>case "3" -&gt; 3;</a:t>
            </a:r>
          </a:p>
          <a:p>
            <a:r>
              <a:rPr lang="it-IT" sz="2400" dirty="0">
                <a:solidFill>
                  <a:schemeClr val="accent5"/>
                </a:solidFill>
              </a:rPr>
              <a:t>                default -&gt; -1;</a:t>
            </a:r>
          </a:p>
          <a:p>
            <a:r>
              <a:rPr lang="it-IT" sz="2400" dirty="0">
                <a:solidFill>
                  <a:schemeClr val="accent5"/>
                </a:solidFill>
              </a:rPr>
              <a:t>            }</a:t>
            </a:r>
          </a:p>
          <a:p>
            <a:r>
              <a:rPr lang="it-IT" sz="2400" b="1" dirty="0">
                <a:solidFill>
                  <a:schemeClr val="accent5"/>
                </a:solidFill>
              </a:rPr>
              <a:t>        );</a:t>
            </a:r>
          </a:p>
          <a:p>
            <a:r>
              <a:rPr lang="it-IT" sz="2400" dirty="0">
                <a:solidFill>
                  <a:schemeClr val="accent5"/>
                </a:solidFill>
              </a:rPr>
              <a:t>    }</a:t>
            </a:r>
          </a:p>
          <a:p>
            <a:r>
              <a:rPr lang="it-IT" sz="2400" dirty="0">
                <a:solidFill>
                  <a:schemeClr val="accent5"/>
                </a:solidFill>
              </a:rPr>
              <a:t>    public void method(int index) {</a:t>
            </a:r>
          </a:p>
          <a:p>
            <a:r>
              <a:rPr lang="it-IT" sz="2400" dirty="0">
                <a:solidFill>
                  <a:schemeClr val="accent5"/>
                </a:solidFill>
              </a:rPr>
              <a:t>        System.out.println(index);</a:t>
            </a:r>
          </a:p>
          <a:p>
            <a:r>
              <a:rPr lang="it-IT" sz="2400" dirty="0">
                <a:solidFill>
                  <a:schemeClr val="accent5"/>
                </a:solidFill>
              </a:rPr>
              <a:t>    }</a:t>
            </a:r>
          </a:p>
          <a:p>
            <a:r>
              <a:rPr lang="it-IT" sz="2400" dirty="0">
                <a:solidFill>
                  <a:schemeClr val="accent5"/>
                </a:solidFill>
              </a:rPr>
              <a:t>}</a:t>
            </a:r>
            <a:endParaRPr lang="it-IT" sz="2400" dirty="0"/>
          </a:p>
        </p:txBody>
      </p:sp>
    </p:spTree>
    <p:extLst>
      <p:ext uri="{BB962C8B-B14F-4D97-AF65-F5344CB8AC3E}">
        <p14:creationId xmlns:p14="http://schemas.microsoft.com/office/powerpoint/2010/main" val="16720394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0" y="-7496"/>
            <a:ext cx="9144000" cy="988156"/>
          </a:xfrm>
        </p:spPr>
        <p:txBody>
          <a:bodyPr>
            <a:normAutofit/>
          </a:bodyPr>
          <a:lstStyle/>
          <a:p>
            <a:pPr algn="ctr"/>
            <a:r>
              <a:rPr lang="it-IT" dirty="0"/>
              <a:t>Exhaustiveness (esaustività)</a:t>
            </a:r>
            <a:endParaRPr lang="it-IT" i="1"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54</a:t>
            </a:fld>
            <a:endParaRPr lang="it-IT"/>
          </a:p>
        </p:txBody>
      </p:sp>
      <p:sp>
        <p:nvSpPr>
          <p:cNvPr id="12" name="CasellaDiTesto 11">
            <a:extLst>
              <a:ext uri="{FF2B5EF4-FFF2-40B4-BE49-F238E27FC236}">
                <a16:creationId xmlns:a16="http://schemas.microsoft.com/office/drawing/2014/main" id="{68A2AFE3-6888-4AA5-8101-57FF0CFF8266}"/>
              </a:ext>
            </a:extLst>
          </p:cNvPr>
          <p:cNvSpPr txBox="1"/>
          <p:nvPr/>
        </p:nvSpPr>
        <p:spPr>
          <a:xfrm>
            <a:off x="0" y="1027857"/>
            <a:ext cx="9144000" cy="5632311"/>
          </a:xfrm>
          <a:prstGeom prst="rect">
            <a:avLst/>
          </a:prstGeom>
          <a:noFill/>
        </p:spPr>
        <p:txBody>
          <a:bodyPr wrap="square">
            <a:spAutoFit/>
          </a:bodyPr>
          <a:lstStyle/>
          <a:p>
            <a:r>
              <a:rPr lang="it-IT" sz="2400" dirty="0"/>
              <a:t>Il compilatore non compilerà espressioni </a:t>
            </a:r>
            <a:r>
              <a:rPr lang="it-IT" sz="2400" i="1" dirty="0"/>
              <a:t>switch</a:t>
            </a:r>
            <a:r>
              <a:rPr lang="it-IT" sz="2400" dirty="0"/>
              <a:t> che usano un’enumerazione  dove è assente una possibile clausola </a:t>
            </a:r>
            <a:r>
              <a:rPr lang="it-IT" sz="2400" i="1" dirty="0"/>
              <a:t>case</a:t>
            </a:r>
            <a:r>
              <a:rPr lang="it-IT" sz="2400" dirty="0"/>
              <a:t>. </a:t>
            </a:r>
          </a:p>
          <a:p>
            <a:r>
              <a:rPr lang="it-IT" sz="2400" dirty="0">
                <a:solidFill>
                  <a:schemeClr val="accent5"/>
                </a:solidFill>
              </a:rPr>
              <a:t>public class Semaforo {</a:t>
            </a:r>
          </a:p>
          <a:p>
            <a:r>
              <a:rPr lang="it-IT" sz="2400" dirty="0">
                <a:solidFill>
                  <a:schemeClr val="accent5"/>
                </a:solidFill>
              </a:rPr>
              <a:t>    public String stato;</a:t>
            </a:r>
          </a:p>
          <a:p>
            <a:r>
              <a:rPr lang="it-IT" sz="2400" dirty="0">
                <a:solidFill>
                  <a:schemeClr val="accent5"/>
                </a:solidFill>
              </a:rPr>
              <a:t>    public void </a:t>
            </a:r>
            <a:r>
              <a:rPr lang="it-IT" sz="2400" dirty="0" err="1">
                <a:solidFill>
                  <a:schemeClr val="accent5"/>
                </a:solidFill>
              </a:rPr>
              <a:t>cambiaColore</a:t>
            </a:r>
            <a:r>
              <a:rPr lang="it-IT" sz="2400" dirty="0">
                <a:solidFill>
                  <a:schemeClr val="accent5"/>
                </a:solidFill>
              </a:rPr>
              <a:t>(Colore </a:t>
            </a:r>
            <a:r>
              <a:rPr lang="it-IT" sz="2400" dirty="0" err="1">
                <a:solidFill>
                  <a:schemeClr val="accent5"/>
                </a:solidFill>
              </a:rPr>
              <a:t>colore</a:t>
            </a:r>
            <a:r>
              <a:rPr lang="it-IT" sz="2400" dirty="0">
                <a:solidFill>
                  <a:schemeClr val="accent5"/>
                </a:solidFill>
              </a:rPr>
              <a:t>) {</a:t>
            </a:r>
          </a:p>
          <a:p>
            <a:r>
              <a:rPr lang="it-IT" sz="2400" dirty="0">
                <a:solidFill>
                  <a:schemeClr val="accent5"/>
                </a:solidFill>
              </a:rPr>
              <a:t>        stato = switch(colore) {</a:t>
            </a:r>
          </a:p>
          <a:p>
            <a:r>
              <a:rPr lang="it-IT" sz="2400" dirty="0">
                <a:solidFill>
                  <a:schemeClr val="accent5"/>
                </a:solidFill>
              </a:rPr>
              <a:t>            case VERDE  -&gt; "La luce è verde";</a:t>
            </a:r>
          </a:p>
          <a:p>
            <a:r>
              <a:rPr lang="it-IT" sz="2400" dirty="0">
                <a:solidFill>
                  <a:schemeClr val="accent5"/>
                </a:solidFill>
              </a:rPr>
              <a:t>            case GIALLO -&gt; "La luce è gialla";</a:t>
            </a:r>
          </a:p>
          <a:p>
            <a:r>
              <a:rPr lang="it-IT" sz="2400" b="1" dirty="0">
                <a:solidFill>
                  <a:schemeClr val="accent5"/>
                </a:solidFill>
              </a:rPr>
              <a:t>//          case ROSSO  -&gt; "La luce è rossa";</a:t>
            </a:r>
          </a:p>
          <a:p>
            <a:r>
              <a:rPr lang="it-IT" sz="2400" dirty="0">
                <a:solidFill>
                  <a:schemeClr val="accent5"/>
                </a:solidFill>
              </a:rPr>
              <a:t>        };</a:t>
            </a:r>
          </a:p>
          <a:p>
            <a:r>
              <a:rPr lang="it-IT" sz="2400" dirty="0">
                <a:solidFill>
                  <a:schemeClr val="accent5"/>
                </a:solidFill>
              </a:rPr>
              <a:t>    }</a:t>
            </a:r>
          </a:p>
          <a:p>
            <a:r>
              <a:rPr lang="it-IT" sz="2400" dirty="0">
                <a:solidFill>
                  <a:schemeClr val="accent5"/>
                </a:solidFill>
              </a:rPr>
              <a:t>}</a:t>
            </a:r>
          </a:p>
          <a:p>
            <a:r>
              <a:rPr lang="it-IT" sz="2400" dirty="0"/>
              <a:t>Se avessimo usato lo switch come statement, il codice sarebbe stato compilabile. Quindi l’exhaustiveness è una caratteristica solo delle espressioni </a:t>
            </a:r>
            <a:r>
              <a:rPr lang="it-IT" sz="2400" i="1" dirty="0"/>
              <a:t>switch</a:t>
            </a:r>
            <a:r>
              <a:rPr lang="it-IT" sz="2400" dirty="0"/>
              <a:t>.</a:t>
            </a:r>
          </a:p>
        </p:txBody>
      </p:sp>
    </p:spTree>
    <p:extLst>
      <p:ext uri="{BB962C8B-B14F-4D97-AF65-F5344CB8AC3E}">
        <p14:creationId xmlns:p14="http://schemas.microsoft.com/office/powerpoint/2010/main" val="34725951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0" y="-7496"/>
            <a:ext cx="9144000" cy="988156"/>
          </a:xfrm>
        </p:spPr>
        <p:txBody>
          <a:bodyPr>
            <a:normAutofit/>
          </a:bodyPr>
          <a:lstStyle/>
          <a:p>
            <a:pPr algn="ctr"/>
            <a:r>
              <a:rPr lang="it-IT" dirty="0"/>
              <a:t>Exhaustiveness (esaustività)</a:t>
            </a:r>
            <a:endParaRPr lang="it-IT" i="1"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55</a:t>
            </a:fld>
            <a:endParaRPr lang="it-IT"/>
          </a:p>
        </p:txBody>
      </p:sp>
      <p:sp>
        <p:nvSpPr>
          <p:cNvPr id="12" name="CasellaDiTesto 11">
            <a:extLst>
              <a:ext uri="{FF2B5EF4-FFF2-40B4-BE49-F238E27FC236}">
                <a16:creationId xmlns:a16="http://schemas.microsoft.com/office/drawing/2014/main" id="{68A2AFE3-6888-4AA5-8101-57FF0CFF8266}"/>
              </a:ext>
            </a:extLst>
          </p:cNvPr>
          <p:cNvSpPr txBox="1"/>
          <p:nvPr/>
        </p:nvSpPr>
        <p:spPr>
          <a:xfrm>
            <a:off x="0" y="1271733"/>
            <a:ext cx="9144000" cy="4893647"/>
          </a:xfrm>
          <a:prstGeom prst="rect">
            <a:avLst/>
          </a:prstGeom>
          <a:noFill/>
        </p:spPr>
        <p:txBody>
          <a:bodyPr wrap="square">
            <a:spAutoFit/>
          </a:bodyPr>
          <a:lstStyle/>
          <a:p>
            <a:r>
              <a:rPr lang="it-IT" sz="2400" dirty="0"/>
              <a:t>Potremmo utilizzare una clausola </a:t>
            </a:r>
            <a:r>
              <a:rPr lang="it-IT" sz="2400" i="1" dirty="0"/>
              <a:t>default</a:t>
            </a:r>
            <a:r>
              <a:rPr lang="it-IT" sz="2400" dirty="0"/>
              <a:t> in luogo del case </a:t>
            </a:r>
            <a:r>
              <a:rPr lang="it-IT" sz="2400" i="1" dirty="0"/>
              <a:t>ROSSO</a:t>
            </a:r>
            <a:r>
              <a:rPr lang="it-IT" sz="2400" dirty="0"/>
              <a:t> mancante, ma tale soluzione, solo nel caso delle enumerazioni, potrebbe risultare dannosa! Potrebbe creare problemi anche nel caso volessimo aggiungere entrambe le clausole (case </a:t>
            </a:r>
            <a:r>
              <a:rPr lang="it-IT" sz="2400" i="1" dirty="0"/>
              <a:t>ROSSO</a:t>
            </a:r>
            <a:r>
              <a:rPr lang="it-IT" sz="2400" dirty="0"/>
              <a:t> e </a:t>
            </a:r>
            <a:r>
              <a:rPr lang="it-IT" sz="2400" i="1" dirty="0"/>
              <a:t>default</a:t>
            </a:r>
            <a:r>
              <a:rPr lang="it-IT" sz="2400" dirty="0"/>
              <a:t>) come di seguito:</a:t>
            </a:r>
          </a:p>
          <a:p>
            <a:r>
              <a:rPr lang="it-IT" sz="2400" dirty="0">
                <a:solidFill>
                  <a:schemeClr val="accent5"/>
                </a:solidFill>
              </a:rPr>
              <a:t>public void </a:t>
            </a:r>
            <a:r>
              <a:rPr lang="it-IT" sz="2400" dirty="0" err="1">
                <a:solidFill>
                  <a:schemeClr val="accent5"/>
                </a:solidFill>
              </a:rPr>
              <a:t>cambiaColore</a:t>
            </a:r>
            <a:r>
              <a:rPr lang="it-IT" sz="2400" dirty="0">
                <a:solidFill>
                  <a:schemeClr val="accent5"/>
                </a:solidFill>
              </a:rPr>
              <a:t>(Colore </a:t>
            </a:r>
            <a:r>
              <a:rPr lang="it-IT" sz="2400" dirty="0" err="1">
                <a:solidFill>
                  <a:schemeClr val="accent5"/>
                </a:solidFill>
              </a:rPr>
              <a:t>colore</a:t>
            </a:r>
            <a:r>
              <a:rPr lang="it-IT" sz="2400" dirty="0">
                <a:solidFill>
                  <a:schemeClr val="accent5"/>
                </a:solidFill>
              </a:rPr>
              <a:t>) {</a:t>
            </a:r>
          </a:p>
          <a:p>
            <a:r>
              <a:rPr lang="it-IT" sz="2400" dirty="0">
                <a:solidFill>
                  <a:schemeClr val="accent5"/>
                </a:solidFill>
              </a:rPr>
              <a:t>    stato = switch(colore) {</a:t>
            </a:r>
          </a:p>
          <a:p>
            <a:r>
              <a:rPr lang="it-IT" sz="2400" dirty="0">
                <a:solidFill>
                  <a:schemeClr val="accent5"/>
                </a:solidFill>
              </a:rPr>
              <a:t>        case VERDE-&gt; "La luce è verde";</a:t>
            </a:r>
          </a:p>
          <a:p>
            <a:r>
              <a:rPr lang="it-IT" sz="2400" dirty="0">
                <a:solidFill>
                  <a:schemeClr val="accent5"/>
                </a:solidFill>
              </a:rPr>
              <a:t>        case GIALLO -&gt; "La luce è gialla";</a:t>
            </a:r>
          </a:p>
          <a:p>
            <a:r>
              <a:rPr lang="it-IT" sz="2400" dirty="0">
                <a:solidFill>
                  <a:schemeClr val="accent5"/>
                </a:solidFill>
              </a:rPr>
              <a:t>        case ROSSO -&gt; "La luce è rossa";</a:t>
            </a:r>
          </a:p>
          <a:p>
            <a:r>
              <a:rPr lang="it-IT" sz="2400" dirty="0">
                <a:solidFill>
                  <a:schemeClr val="accent5"/>
                </a:solidFill>
              </a:rPr>
              <a:t>        default -&gt; "Caso imprevisto";</a:t>
            </a:r>
          </a:p>
          <a:p>
            <a:r>
              <a:rPr lang="it-IT" sz="2400" dirty="0">
                <a:solidFill>
                  <a:schemeClr val="accent5"/>
                </a:solidFill>
              </a:rPr>
              <a:t>    };</a:t>
            </a:r>
          </a:p>
          <a:p>
            <a:r>
              <a:rPr lang="it-IT" sz="2400" dirty="0">
                <a:solidFill>
                  <a:schemeClr val="accent5"/>
                </a:solidFill>
              </a:rPr>
              <a:t>}</a:t>
            </a:r>
          </a:p>
        </p:txBody>
      </p:sp>
    </p:spTree>
    <p:extLst>
      <p:ext uri="{BB962C8B-B14F-4D97-AF65-F5344CB8AC3E}">
        <p14:creationId xmlns:p14="http://schemas.microsoft.com/office/powerpoint/2010/main" val="278025846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0" y="-7496"/>
            <a:ext cx="9144000" cy="988156"/>
          </a:xfrm>
        </p:spPr>
        <p:txBody>
          <a:bodyPr>
            <a:normAutofit/>
          </a:bodyPr>
          <a:lstStyle/>
          <a:p>
            <a:pPr algn="ctr"/>
            <a:r>
              <a:rPr lang="it-IT" dirty="0"/>
              <a:t>Exhaustiveness (esaustività)</a:t>
            </a:r>
            <a:endParaRPr lang="it-IT" i="1"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56</a:t>
            </a:fld>
            <a:endParaRPr lang="it-IT"/>
          </a:p>
        </p:txBody>
      </p:sp>
      <p:sp>
        <p:nvSpPr>
          <p:cNvPr id="12" name="CasellaDiTesto 11">
            <a:extLst>
              <a:ext uri="{FF2B5EF4-FFF2-40B4-BE49-F238E27FC236}">
                <a16:creationId xmlns:a16="http://schemas.microsoft.com/office/drawing/2014/main" id="{68A2AFE3-6888-4AA5-8101-57FF0CFF8266}"/>
              </a:ext>
            </a:extLst>
          </p:cNvPr>
          <p:cNvSpPr txBox="1"/>
          <p:nvPr/>
        </p:nvSpPr>
        <p:spPr>
          <a:xfrm>
            <a:off x="0" y="1271733"/>
            <a:ext cx="9144000" cy="5016758"/>
          </a:xfrm>
          <a:prstGeom prst="rect">
            <a:avLst/>
          </a:prstGeom>
          <a:noFill/>
        </p:spPr>
        <p:txBody>
          <a:bodyPr wrap="square">
            <a:spAutoFit/>
          </a:bodyPr>
          <a:lstStyle/>
          <a:p>
            <a:r>
              <a:rPr lang="it-IT" sz="3200" dirty="0"/>
              <a:t>Infatti, supponiamo che l’enumerazione </a:t>
            </a:r>
            <a:r>
              <a:rPr lang="it-IT" sz="3200" i="1" dirty="0"/>
              <a:t>Colore</a:t>
            </a:r>
            <a:r>
              <a:rPr lang="it-IT" sz="3200" dirty="0"/>
              <a:t> si evolva per definire il colore </a:t>
            </a:r>
            <a:r>
              <a:rPr lang="it-IT" sz="3200" i="1" dirty="0"/>
              <a:t>NERO</a:t>
            </a:r>
            <a:r>
              <a:rPr lang="it-IT" sz="3200" dirty="0"/>
              <a:t>, che servirà per gestire le situazioni in cui il semaforo è spento:</a:t>
            </a:r>
          </a:p>
          <a:p>
            <a:r>
              <a:rPr lang="it-IT" sz="3200" dirty="0">
                <a:solidFill>
                  <a:schemeClr val="accent5"/>
                </a:solidFill>
              </a:rPr>
              <a:t>public enum Colore {</a:t>
            </a:r>
          </a:p>
          <a:p>
            <a:r>
              <a:rPr lang="it-IT" sz="3200" dirty="0">
                <a:solidFill>
                  <a:schemeClr val="accent5"/>
                </a:solidFill>
              </a:rPr>
              <a:t>    VERDE, GIALLO, ROSSO, NERO;</a:t>
            </a:r>
          </a:p>
          <a:p>
            <a:r>
              <a:rPr lang="it-IT" sz="3200" dirty="0">
                <a:solidFill>
                  <a:schemeClr val="accent5"/>
                </a:solidFill>
              </a:rPr>
              <a:t>}</a:t>
            </a:r>
          </a:p>
          <a:p>
            <a:r>
              <a:rPr lang="it-IT" sz="3200" dirty="0"/>
              <a:t>Quando compileremo, la clausola </a:t>
            </a:r>
            <a:r>
              <a:rPr lang="it-IT" sz="3200" i="1" dirty="0"/>
              <a:t>default</a:t>
            </a:r>
            <a:r>
              <a:rPr lang="it-IT" sz="3200" dirty="0"/>
              <a:t> impedirebbe al compilatore di avvertirci che non stiamo coprendo tutti i casi possibili, e il problema lo scopriremo solo al runtime. </a:t>
            </a:r>
          </a:p>
        </p:txBody>
      </p:sp>
    </p:spTree>
    <p:extLst>
      <p:ext uri="{BB962C8B-B14F-4D97-AF65-F5344CB8AC3E}">
        <p14:creationId xmlns:p14="http://schemas.microsoft.com/office/powerpoint/2010/main" val="70839474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0" y="-7496"/>
            <a:ext cx="9144000" cy="988156"/>
          </a:xfrm>
        </p:spPr>
        <p:txBody>
          <a:bodyPr>
            <a:normAutofit/>
          </a:bodyPr>
          <a:lstStyle/>
          <a:p>
            <a:pPr algn="ctr"/>
            <a:r>
              <a:rPr lang="it-IT" dirty="0"/>
              <a:t>Exhaustiveness (esaustività)</a:t>
            </a:r>
            <a:endParaRPr lang="it-IT" i="1"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57</a:t>
            </a:fld>
            <a:endParaRPr lang="it-IT"/>
          </a:p>
        </p:txBody>
      </p:sp>
      <p:sp>
        <p:nvSpPr>
          <p:cNvPr id="12" name="CasellaDiTesto 11">
            <a:extLst>
              <a:ext uri="{FF2B5EF4-FFF2-40B4-BE49-F238E27FC236}">
                <a16:creationId xmlns:a16="http://schemas.microsoft.com/office/drawing/2014/main" id="{68A2AFE3-6888-4AA5-8101-57FF0CFF8266}"/>
              </a:ext>
            </a:extLst>
          </p:cNvPr>
          <p:cNvSpPr txBox="1"/>
          <p:nvPr/>
        </p:nvSpPr>
        <p:spPr>
          <a:xfrm>
            <a:off x="0" y="1271733"/>
            <a:ext cx="9144000" cy="4893647"/>
          </a:xfrm>
          <a:prstGeom prst="rect">
            <a:avLst/>
          </a:prstGeom>
          <a:noFill/>
        </p:spPr>
        <p:txBody>
          <a:bodyPr wrap="square">
            <a:spAutoFit/>
          </a:bodyPr>
          <a:lstStyle/>
          <a:p>
            <a:r>
              <a:rPr lang="it-IT" sz="2400" dirty="0">
                <a:solidFill>
                  <a:schemeClr val="accent5"/>
                </a:solidFill>
              </a:rPr>
              <a:t>public class </a:t>
            </a:r>
            <a:r>
              <a:rPr lang="it-IT" sz="2400" dirty="0" err="1">
                <a:solidFill>
                  <a:schemeClr val="accent5"/>
                </a:solidFill>
              </a:rPr>
              <a:t>TestSemaforo</a:t>
            </a:r>
            <a:r>
              <a:rPr lang="it-IT" sz="2400" dirty="0">
                <a:solidFill>
                  <a:schemeClr val="accent5"/>
                </a:solidFill>
              </a:rPr>
              <a:t> {</a:t>
            </a:r>
          </a:p>
          <a:p>
            <a:r>
              <a:rPr lang="it-IT" sz="2400" dirty="0">
                <a:solidFill>
                  <a:schemeClr val="accent5"/>
                </a:solidFill>
              </a:rPr>
              <a:t>    public static void main(String args[]) {</a:t>
            </a:r>
          </a:p>
          <a:p>
            <a:r>
              <a:rPr lang="it-IT" sz="2400" dirty="0">
                <a:solidFill>
                  <a:schemeClr val="accent5"/>
                </a:solidFill>
              </a:rPr>
              <a:t>        Semaforo </a:t>
            </a:r>
            <a:r>
              <a:rPr lang="it-IT" sz="2400" dirty="0" err="1">
                <a:solidFill>
                  <a:schemeClr val="accent5"/>
                </a:solidFill>
              </a:rPr>
              <a:t>semaforo</a:t>
            </a:r>
            <a:r>
              <a:rPr lang="it-IT" sz="2400" dirty="0">
                <a:solidFill>
                  <a:schemeClr val="accent5"/>
                </a:solidFill>
              </a:rPr>
              <a:t> = new Semaforo();</a:t>
            </a:r>
          </a:p>
          <a:p>
            <a:r>
              <a:rPr lang="it-IT" sz="2400" dirty="0">
                <a:solidFill>
                  <a:schemeClr val="accent5"/>
                </a:solidFill>
              </a:rPr>
              <a:t>        </a:t>
            </a:r>
            <a:r>
              <a:rPr lang="it-IT" sz="2400" dirty="0" err="1">
                <a:solidFill>
                  <a:schemeClr val="accent5"/>
                </a:solidFill>
              </a:rPr>
              <a:t>semaforo.cambiaColore</a:t>
            </a:r>
            <a:r>
              <a:rPr lang="it-IT" sz="2400" dirty="0">
                <a:solidFill>
                  <a:schemeClr val="accent5"/>
                </a:solidFill>
              </a:rPr>
              <a:t>(</a:t>
            </a:r>
            <a:r>
              <a:rPr lang="it-IT" sz="2400" dirty="0" err="1">
                <a:solidFill>
                  <a:schemeClr val="accent5"/>
                </a:solidFill>
              </a:rPr>
              <a:t>Colore.ROSSO</a:t>
            </a:r>
            <a:r>
              <a:rPr lang="it-IT" sz="2400" dirty="0">
                <a:solidFill>
                  <a:schemeClr val="accent5"/>
                </a:solidFill>
              </a:rPr>
              <a:t>);</a:t>
            </a:r>
          </a:p>
          <a:p>
            <a:r>
              <a:rPr lang="it-IT" sz="2400" dirty="0">
                <a:solidFill>
                  <a:schemeClr val="accent5"/>
                </a:solidFill>
              </a:rPr>
              <a:t>        </a:t>
            </a:r>
            <a:r>
              <a:rPr lang="it-IT" sz="2400" dirty="0" err="1">
                <a:solidFill>
                  <a:schemeClr val="accent5"/>
                </a:solidFill>
              </a:rPr>
              <a:t>semaforo.stampaStato</a:t>
            </a:r>
            <a:r>
              <a:rPr lang="it-IT" sz="2400" dirty="0">
                <a:solidFill>
                  <a:schemeClr val="accent5"/>
                </a:solidFill>
              </a:rPr>
              <a:t>();</a:t>
            </a:r>
          </a:p>
          <a:p>
            <a:r>
              <a:rPr lang="it-IT" sz="2400" dirty="0">
                <a:solidFill>
                  <a:schemeClr val="accent5"/>
                </a:solidFill>
              </a:rPr>
              <a:t>        </a:t>
            </a:r>
            <a:r>
              <a:rPr lang="it-IT" sz="2400" dirty="0" err="1">
                <a:solidFill>
                  <a:schemeClr val="accent5"/>
                </a:solidFill>
              </a:rPr>
              <a:t>semaforo.cambiaColore</a:t>
            </a:r>
            <a:r>
              <a:rPr lang="it-IT" sz="2400" dirty="0">
                <a:solidFill>
                  <a:schemeClr val="accent5"/>
                </a:solidFill>
              </a:rPr>
              <a:t>(</a:t>
            </a:r>
            <a:r>
              <a:rPr lang="it-IT" sz="2400" dirty="0" err="1">
                <a:solidFill>
                  <a:schemeClr val="accent5"/>
                </a:solidFill>
              </a:rPr>
              <a:t>Colore.GIALLO</a:t>
            </a:r>
            <a:r>
              <a:rPr lang="it-IT" sz="2400" dirty="0">
                <a:solidFill>
                  <a:schemeClr val="accent5"/>
                </a:solidFill>
              </a:rPr>
              <a:t>);</a:t>
            </a:r>
          </a:p>
          <a:p>
            <a:r>
              <a:rPr lang="it-IT" sz="2400" dirty="0">
                <a:solidFill>
                  <a:schemeClr val="accent5"/>
                </a:solidFill>
              </a:rPr>
              <a:t>        </a:t>
            </a:r>
            <a:r>
              <a:rPr lang="it-IT" sz="2400" dirty="0" err="1">
                <a:solidFill>
                  <a:schemeClr val="accent5"/>
                </a:solidFill>
              </a:rPr>
              <a:t>semaforo.stampaStato</a:t>
            </a:r>
            <a:r>
              <a:rPr lang="it-IT" sz="2400" dirty="0">
                <a:solidFill>
                  <a:schemeClr val="accent5"/>
                </a:solidFill>
              </a:rPr>
              <a:t>();</a:t>
            </a:r>
          </a:p>
          <a:p>
            <a:r>
              <a:rPr lang="it-IT" sz="2400" dirty="0">
                <a:solidFill>
                  <a:schemeClr val="accent5"/>
                </a:solidFill>
              </a:rPr>
              <a:t>        </a:t>
            </a:r>
            <a:r>
              <a:rPr lang="it-IT" sz="2400" dirty="0" err="1">
                <a:solidFill>
                  <a:schemeClr val="accent5"/>
                </a:solidFill>
              </a:rPr>
              <a:t>semaforo.cambiaColore</a:t>
            </a:r>
            <a:r>
              <a:rPr lang="it-IT" sz="2400" dirty="0">
                <a:solidFill>
                  <a:schemeClr val="accent5"/>
                </a:solidFill>
              </a:rPr>
              <a:t>(</a:t>
            </a:r>
            <a:r>
              <a:rPr lang="it-IT" sz="2400" dirty="0" err="1">
                <a:solidFill>
                  <a:schemeClr val="accent5"/>
                </a:solidFill>
              </a:rPr>
              <a:t>Colore.VERDE</a:t>
            </a:r>
            <a:r>
              <a:rPr lang="it-IT" sz="2400" dirty="0">
                <a:solidFill>
                  <a:schemeClr val="accent5"/>
                </a:solidFill>
              </a:rPr>
              <a:t>);</a:t>
            </a:r>
          </a:p>
          <a:p>
            <a:r>
              <a:rPr lang="it-IT" sz="2400" dirty="0">
                <a:solidFill>
                  <a:schemeClr val="accent5"/>
                </a:solidFill>
              </a:rPr>
              <a:t>        </a:t>
            </a:r>
            <a:r>
              <a:rPr lang="it-IT" sz="2400" dirty="0" err="1">
                <a:solidFill>
                  <a:schemeClr val="accent5"/>
                </a:solidFill>
              </a:rPr>
              <a:t>semaforo.stampaStato</a:t>
            </a:r>
            <a:r>
              <a:rPr lang="it-IT" sz="2400" dirty="0">
                <a:solidFill>
                  <a:schemeClr val="accent5"/>
                </a:solidFill>
              </a:rPr>
              <a:t>();</a:t>
            </a:r>
          </a:p>
          <a:p>
            <a:r>
              <a:rPr lang="it-IT" sz="2400" dirty="0">
                <a:solidFill>
                  <a:schemeClr val="accent5"/>
                </a:solidFill>
              </a:rPr>
              <a:t>        </a:t>
            </a:r>
            <a:r>
              <a:rPr lang="it-IT" sz="2400" dirty="0" err="1">
                <a:solidFill>
                  <a:schemeClr val="accent5"/>
                </a:solidFill>
              </a:rPr>
              <a:t>semaforo.cambiaColore</a:t>
            </a:r>
            <a:r>
              <a:rPr lang="it-IT" sz="2400" dirty="0">
                <a:solidFill>
                  <a:schemeClr val="accent5"/>
                </a:solidFill>
              </a:rPr>
              <a:t>(Colore2.NERO);</a:t>
            </a:r>
          </a:p>
          <a:p>
            <a:r>
              <a:rPr lang="it-IT" sz="2400" dirty="0">
                <a:solidFill>
                  <a:schemeClr val="accent5"/>
                </a:solidFill>
              </a:rPr>
              <a:t>        </a:t>
            </a:r>
            <a:r>
              <a:rPr lang="it-IT" sz="2400" dirty="0" err="1">
                <a:solidFill>
                  <a:schemeClr val="accent5"/>
                </a:solidFill>
              </a:rPr>
              <a:t>semaforo.stampaStato</a:t>
            </a:r>
            <a:r>
              <a:rPr lang="it-IT" sz="2400" dirty="0">
                <a:solidFill>
                  <a:schemeClr val="accent5"/>
                </a:solidFill>
              </a:rPr>
              <a:t>();</a:t>
            </a:r>
          </a:p>
          <a:p>
            <a:r>
              <a:rPr lang="it-IT" sz="2400" dirty="0">
                <a:solidFill>
                  <a:schemeClr val="accent5"/>
                </a:solidFill>
              </a:rPr>
              <a:t>    }</a:t>
            </a:r>
          </a:p>
          <a:p>
            <a:r>
              <a:rPr lang="it-IT" sz="2400" dirty="0">
                <a:solidFill>
                  <a:schemeClr val="accent5"/>
                </a:solidFill>
              </a:rPr>
              <a:t>}</a:t>
            </a:r>
          </a:p>
        </p:txBody>
      </p:sp>
      <p:sp>
        <p:nvSpPr>
          <p:cNvPr id="7" name="CasellaDiTesto 6">
            <a:extLst>
              <a:ext uri="{FF2B5EF4-FFF2-40B4-BE49-F238E27FC236}">
                <a16:creationId xmlns:a16="http://schemas.microsoft.com/office/drawing/2014/main" id="{7BC996F1-3970-4139-86CE-A15FE6187DBB}"/>
              </a:ext>
            </a:extLst>
          </p:cNvPr>
          <p:cNvSpPr txBox="1"/>
          <p:nvPr/>
        </p:nvSpPr>
        <p:spPr>
          <a:xfrm>
            <a:off x="6382610" y="2276840"/>
            <a:ext cx="2761390" cy="1938992"/>
          </a:xfrm>
          <a:prstGeom prst="rect">
            <a:avLst/>
          </a:prstGeom>
          <a:noFill/>
        </p:spPr>
        <p:txBody>
          <a:bodyPr wrap="square">
            <a:spAutoFit/>
          </a:bodyPr>
          <a:lstStyle/>
          <a:p>
            <a:r>
              <a:rPr lang="it-IT" sz="2400" dirty="0">
                <a:solidFill>
                  <a:schemeClr val="accent3"/>
                </a:solidFill>
              </a:rPr>
              <a:t>java </a:t>
            </a:r>
            <a:r>
              <a:rPr lang="it-IT" sz="2400" dirty="0" err="1">
                <a:solidFill>
                  <a:schemeClr val="accent3"/>
                </a:solidFill>
              </a:rPr>
              <a:t>TestSemaforo</a:t>
            </a:r>
            <a:endParaRPr lang="it-IT" sz="2400" dirty="0">
              <a:solidFill>
                <a:schemeClr val="accent3"/>
              </a:solidFill>
            </a:endParaRPr>
          </a:p>
          <a:p>
            <a:r>
              <a:rPr lang="it-IT" sz="2400" dirty="0">
                <a:solidFill>
                  <a:schemeClr val="accent3"/>
                </a:solidFill>
              </a:rPr>
              <a:t>La luce è rossa</a:t>
            </a:r>
          </a:p>
          <a:p>
            <a:r>
              <a:rPr lang="it-IT" sz="2400" dirty="0">
                <a:solidFill>
                  <a:schemeClr val="accent3"/>
                </a:solidFill>
              </a:rPr>
              <a:t>La luce è gialla</a:t>
            </a:r>
          </a:p>
          <a:p>
            <a:r>
              <a:rPr lang="it-IT" sz="2400" dirty="0">
                <a:solidFill>
                  <a:schemeClr val="accent3"/>
                </a:solidFill>
              </a:rPr>
              <a:t>La luce è verde</a:t>
            </a:r>
          </a:p>
          <a:p>
            <a:r>
              <a:rPr lang="it-IT" sz="2400" dirty="0">
                <a:solidFill>
                  <a:schemeClr val="accent3"/>
                </a:solidFill>
              </a:rPr>
              <a:t>Caso imprevisto</a:t>
            </a:r>
          </a:p>
        </p:txBody>
      </p:sp>
    </p:spTree>
    <p:extLst>
      <p:ext uri="{BB962C8B-B14F-4D97-AF65-F5344CB8AC3E}">
        <p14:creationId xmlns:p14="http://schemas.microsoft.com/office/powerpoint/2010/main" val="19278914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0" y="-7496"/>
            <a:ext cx="9144000" cy="988156"/>
          </a:xfrm>
        </p:spPr>
        <p:txBody>
          <a:bodyPr>
            <a:normAutofit/>
          </a:bodyPr>
          <a:lstStyle/>
          <a:p>
            <a:pPr algn="ctr"/>
            <a:r>
              <a:rPr lang="it-IT" dirty="0"/>
              <a:t>Exhaustiveness (esaustività)</a:t>
            </a:r>
            <a:endParaRPr lang="it-IT" i="1"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58</a:t>
            </a:fld>
            <a:endParaRPr lang="it-IT"/>
          </a:p>
        </p:txBody>
      </p:sp>
      <p:sp>
        <p:nvSpPr>
          <p:cNvPr id="12" name="CasellaDiTesto 11">
            <a:extLst>
              <a:ext uri="{FF2B5EF4-FFF2-40B4-BE49-F238E27FC236}">
                <a16:creationId xmlns:a16="http://schemas.microsoft.com/office/drawing/2014/main" id="{68A2AFE3-6888-4AA5-8101-57FF0CFF8266}"/>
              </a:ext>
            </a:extLst>
          </p:cNvPr>
          <p:cNvSpPr txBox="1"/>
          <p:nvPr/>
        </p:nvSpPr>
        <p:spPr>
          <a:xfrm>
            <a:off x="0" y="1271733"/>
            <a:ext cx="9144000" cy="4893647"/>
          </a:xfrm>
          <a:prstGeom prst="rect">
            <a:avLst/>
          </a:prstGeom>
          <a:noFill/>
        </p:spPr>
        <p:txBody>
          <a:bodyPr wrap="square">
            <a:spAutoFit/>
          </a:bodyPr>
          <a:lstStyle/>
          <a:p>
            <a:r>
              <a:rPr lang="it-IT" sz="2400" dirty="0">
                <a:solidFill>
                  <a:schemeClr val="accent5"/>
                </a:solidFill>
              </a:rPr>
              <a:t>public class </a:t>
            </a:r>
            <a:r>
              <a:rPr lang="it-IT" sz="2400" dirty="0" err="1">
                <a:solidFill>
                  <a:schemeClr val="accent5"/>
                </a:solidFill>
              </a:rPr>
              <a:t>TestSemaforo</a:t>
            </a:r>
            <a:r>
              <a:rPr lang="it-IT" sz="2400" dirty="0">
                <a:solidFill>
                  <a:schemeClr val="accent5"/>
                </a:solidFill>
              </a:rPr>
              <a:t> {</a:t>
            </a:r>
          </a:p>
          <a:p>
            <a:r>
              <a:rPr lang="it-IT" sz="2400" dirty="0">
                <a:solidFill>
                  <a:schemeClr val="accent5"/>
                </a:solidFill>
              </a:rPr>
              <a:t>    public static void main(String args[]) {</a:t>
            </a:r>
          </a:p>
          <a:p>
            <a:r>
              <a:rPr lang="it-IT" sz="2400" dirty="0">
                <a:solidFill>
                  <a:schemeClr val="accent5"/>
                </a:solidFill>
              </a:rPr>
              <a:t>        Semaforo </a:t>
            </a:r>
            <a:r>
              <a:rPr lang="it-IT" sz="2400" dirty="0" err="1">
                <a:solidFill>
                  <a:schemeClr val="accent5"/>
                </a:solidFill>
              </a:rPr>
              <a:t>semaforo</a:t>
            </a:r>
            <a:r>
              <a:rPr lang="it-IT" sz="2400" dirty="0">
                <a:solidFill>
                  <a:schemeClr val="accent5"/>
                </a:solidFill>
              </a:rPr>
              <a:t> = new Semaforo();</a:t>
            </a:r>
          </a:p>
          <a:p>
            <a:r>
              <a:rPr lang="it-IT" sz="2400" dirty="0">
                <a:solidFill>
                  <a:schemeClr val="accent5"/>
                </a:solidFill>
              </a:rPr>
              <a:t>        </a:t>
            </a:r>
            <a:r>
              <a:rPr lang="it-IT" sz="2400" dirty="0" err="1">
                <a:solidFill>
                  <a:schemeClr val="accent5"/>
                </a:solidFill>
              </a:rPr>
              <a:t>semaforo.cambiaColore</a:t>
            </a:r>
            <a:r>
              <a:rPr lang="it-IT" sz="2400" dirty="0">
                <a:solidFill>
                  <a:schemeClr val="accent5"/>
                </a:solidFill>
              </a:rPr>
              <a:t>(</a:t>
            </a:r>
            <a:r>
              <a:rPr lang="it-IT" sz="2400" dirty="0" err="1">
                <a:solidFill>
                  <a:schemeClr val="accent5"/>
                </a:solidFill>
              </a:rPr>
              <a:t>Colore.ROSSO</a:t>
            </a:r>
            <a:r>
              <a:rPr lang="it-IT" sz="2400" dirty="0">
                <a:solidFill>
                  <a:schemeClr val="accent5"/>
                </a:solidFill>
              </a:rPr>
              <a:t>);</a:t>
            </a:r>
          </a:p>
          <a:p>
            <a:r>
              <a:rPr lang="it-IT" sz="2400" dirty="0">
                <a:solidFill>
                  <a:schemeClr val="accent5"/>
                </a:solidFill>
              </a:rPr>
              <a:t>        </a:t>
            </a:r>
            <a:r>
              <a:rPr lang="it-IT" sz="2400" dirty="0" err="1">
                <a:solidFill>
                  <a:schemeClr val="accent5"/>
                </a:solidFill>
              </a:rPr>
              <a:t>semaforo.stampaStato</a:t>
            </a:r>
            <a:r>
              <a:rPr lang="it-IT" sz="2400" dirty="0">
                <a:solidFill>
                  <a:schemeClr val="accent5"/>
                </a:solidFill>
              </a:rPr>
              <a:t>();</a:t>
            </a:r>
          </a:p>
          <a:p>
            <a:r>
              <a:rPr lang="it-IT" sz="2400" dirty="0">
                <a:solidFill>
                  <a:schemeClr val="accent5"/>
                </a:solidFill>
              </a:rPr>
              <a:t>        </a:t>
            </a:r>
            <a:r>
              <a:rPr lang="it-IT" sz="2400" dirty="0" err="1">
                <a:solidFill>
                  <a:schemeClr val="accent5"/>
                </a:solidFill>
              </a:rPr>
              <a:t>semaforo.cambiaColore</a:t>
            </a:r>
            <a:r>
              <a:rPr lang="it-IT" sz="2400" dirty="0">
                <a:solidFill>
                  <a:schemeClr val="accent5"/>
                </a:solidFill>
              </a:rPr>
              <a:t>(</a:t>
            </a:r>
            <a:r>
              <a:rPr lang="it-IT" sz="2400" dirty="0" err="1">
                <a:solidFill>
                  <a:schemeClr val="accent5"/>
                </a:solidFill>
              </a:rPr>
              <a:t>Colore.GIALLO</a:t>
            </a:r>
            <a:r>
              <a:rPr lang="it-IT" sz="2400" dirty="0">
                <a:solidFill>
                  <a:schemeClr val="accent5"/>
                </a:solidFill>
              </a:rPr>
              <a:t>);</a:t>
            </a:r>
          </a:p>
          <a:p>
            <a:r>
              <a:rPr lang="it-IT" sz="2400" dirty="0">
                <a:solidFill>
                  <a:schemeClr val="accent5"/>
                </a:solidFill>
              </a:rPr>
              <a:t>        </a:t>
            </a:r>
            <a:r>
              <a:rPr lang="it-IT" sz="2400" dirty="0" err="1">
                <a:solidFill>
                  <a:schemeClr val="accent5"/>
                </a:solidFill>
              </a:rPr>
              <a:t>semaforo.stampaStato</a:t>
            </a:r>
            <a:r>
              <a:rPr lang="it-IT" sz="2400" dirty="0">
                <a:solidFill>
                  <a:schemeClr val="accent5"/>
                </a:solidFill>
              </a:rPr>
              <a:t>();</a:t>
            </a:r>
          </a:p>
          <a:p>
            <a:r>
              <a:rPr lang="it-IT" sz="2400" dirty="0">
                <a:solidFill>
                  <a:schemeClr val="accent5"/>
                </a:solidFill>
              </a:rPr>
              <a:t>        </a:t>
            </a:r>
            <a:r>
              <a:rPr lang="it-IT" sz="2400" dirty="0" err="1">
                <a:solidFill>
                  <a:schemeClr val="accent5"/>
                </a:solidFill>
              </a:rPr>
              <a:t>semaforo.cambiaColore</a:t>
            </a:r>
            <a:r>
              <a:rPr lang="it-IT" sz="2400" dirty="0">
                <a:solidFill>
                  <a:schemeClr val="accent5"/>
                </a:solidFill>
              </a:rPr>
              <a:t>(</a:t>
            </a:r>
            <a:r>
              <a:rPr lang="it-IT" sz="2400" dirty="0" err="1">
                <a:solidFill>
                  <a:schemeClr val="accent5"/>
                </a:solidFill>
              </a:rPr>
              <a:t>Colore.VERDE</a:t>
            </a:r>
            <a:r>
              <a:rPr lang="it-IT" sz="2400" dirty="0">
                <a:solidFill>
                  <a:schemeClr val="accent5"/>
                </a:solidFill>
              </a:rPr>
              <a:t>);</a:t>
            </a:r>
          </a:p>
          <a:p>
            <a:r>
              <a:rPr lang="it-IT" sz="2400" dirty="0">
                <a:solidFill>
                  <a:schemeClr val="accent5"/>
                </a:solidFill>
              </a:rPr>
              <a:t>        </a:t>
            </a:r>
            <a:r>
              <a:rPr lang="it-IT" sz="2400" dirty="0" err="1">
                <a:solidFill>
                  <a:schemeClr val="accent5"/>
                </a:solidFill>
              </a:rPr>
              <a:t>semaforo.stampaStato</a:t>
            </a:r>
            <a:r>
              <a:rPr lang="it-IT" sz="2400" dirty="0">
                <a:solidFill>
                  <a:schemeClr val="accent5"/>
                </a:solidFill>
              </a:rPr>
              <a:t>();</a:t>
            </a:r>
          </a:p>
          <a:p>
            <a:r>
              <a:rPr lang="it-IT" sz="2400" dirty="0">
                <a:solidFill>
                  <a:schemeClr val="accent5"/>
                </a:solidFill>
              </a:rPr>
              <a:t>        </a:t>
            </a:r>
            <a:r>
              <a:rPr lang="it-IT" sz="2400" dirty="0" err="1">
                <a:solidFill>
                  <a:schemeClr val="accent5"/>
                </a:solidFill>
              </a:rPr>
              <a:t>semaforo.cambiaColore</a:t>
            </a:r>
            <a:r>
              <a:rPr lang="it-IT" sz="2400" dirty="0">
                <a:solidFill>
                  <a:schemeClr val="accent5"/>
                </a:solidFill>
              </a:rPr>
              <a:t>(Colore2.NERO);</a:t>
            </a:r>
          </a:p>
          <a:p>
            <a:r>
              <a:rPr lang="it-IT" sz="2400" dirty="0">
                <a:solidFill>
                  <a:schemeClr val="accent5"/>
                </a:solidFill>
              </a:rPr>
              <a:t>        </a:t>
            </a:r>
            <a:r>
              <a:rPr lang="it-IT" sz="2400" dirty="0" err="1">
                <a:solidFill>
                  <a:schemeClr val="accent5"/>
                </a:solidFill>
              </a:rPr>
              <a:t>semaforo.stampaStato</a:t>
            </a:r>
            <a:r>
              <a:rPr lang="it-IT" sz="2400" dirty="0">
                <a:solidFill>
                  <a:schemeClr val="accent5"/>
                </a:solidFill>
              </a:rPr>
              <a:t>();</a:t>
            </a:r>
          </a:p>
          <a:p>
            <a:r>
              <a:rPr lang="it-IT" sz="2400" dirty="0">
                <a:solidFill>
                  <a:schemeClr val="accent5"/>
                </a:solidFill>
              </a:rPr>
              <a:t>    }</a:t>
            </a:r>
          </a:p>
          <a:p>
            <a:r>
              <a:rPr lang="it-IT" sz="2400" dirty="0">
                <a:solidFill>
                  <a:schemeClr val="accent5"/>
                </a:solidFill>
              </a:rPr>
              <a:t>}</a:t>
            </a:r>
          </a:p>
        </p:txBody>
      </p:sp>
      <p:sp>
        <p:nvSpPr>
          <p:cNvPr id="7" name="CasellaDiTesto 6">
            <a:extLst>
              <a:ext uri="{FF2B5EF4-FFF2-40B4-BE49-F238E27FC236}">
                <a16:creationId xmlns:a16="http://schemas.microsoft.com/office/drawing/2014/main" id="{7BC996F1-3970-4139-86CE-A15FE6187DBB}"/>
              </a:ext>
            </a:extLst>
          </p:cNvPr>
          <p:cNvSpPr txBox="1"/>
          <p:nvPr/>
        </p:nvSpPr>
        <p:spPr>
          <a:xfrm>
            <a:off x="6382610" y="2276840"/>
            <a:ext cx="2761390" cy="1938992"/>
          </a:xfrm>
          <a:prstGeom prst="rect">
            <a:avLst/>
          </a:prstGeom>
          <a:noFill/>
        </p:spPr>
        <p:txBody>
          <a:bodyPr wrap="square">
            <a:spAutoFit/>
          </a:bodyPr>
          <a:lstStyle/>
          <a:p>
            <a:r>
              <a:rPr lang="it-IT" sz="2400" dirty="0">
                <a:solidFill>
                  <a:schemeClr val="accent3"/>
                </a:solidFill>
              </a:rPr>
              <a:t>java </a:t>
            </a:r>
            <a:r>
              <a:rPr lang="it-IT" sz="2400" dirty="0" err="1">
                <a:solidFill>
                  <a:schemeClr val="accent3"/>
                </a:solidFill>
              </a:rPr>
              <a:t>TestSemaforo</a:t>
            </a:r>
            <a:endParaRPr lang="it-IT" sz="2400" dirty="0">
              <a:solidFill>
                <a:schemeClr val="accent3"/>
              </a:solidFill>
            </a:endParaRPr>
          </a:p>
          <a:p>
            <a:r>
              <a:rPr lang="it-IT" sz="2400" dirty="0">
                <a:solidFill>
                  <a:schemeClr val="accent3"/>
                </a:solidFill>
              </a:rPr>
              <a:t>La luce è rossa</a:t>
            </a:r>
          </a:p>
          <a:p>
            <a:r>
              <a:rPr lang="it-IT" sz="2400" dirty="0">
                <a:solidFill>
                  <a:schemeClr val="accent3"/>
                </a:solidFill>
              </a:rPr>
              <a:t>La luce è gialla</a:t>
            </a:r>
          </a:p>
          <a:p>
            <a:r>
              <a:rPr lang="it-IT" sz="2400" dirty="0">
                <a:solidFill>
                  <a:schemeClr val="accent3"/>
                </a:solidFill>
              </a:rPr>
              <a:t>La luce è verde</a:t>
            </a:r>
          </a:p>
          <a:p>
            <a:r>
              <a:rPr lang="it-IT" sz="2400" dirty="0">
                <a:solidFill>
                  <a:schemeClr val="accent3"/>
                </a:solidFill>
              </a:rPr>
              <a:t>Caso imprevisto</a:t>
            </a:r>
          </a:p>
        </p:txBody>
      </p:sp>
    </p:spTree>
    <p:extLst>
      <p:ext uri="{BB962C8B-B14F-4D97-AF65-F5344CB8AC3E}">
        <p14:creationId xmlns:p14="http://schemas.microsoft.com/office/powerpoint/2010/main" val="24616106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0" y="-7496"/>
            <a:ext cx="9144000" cy="988156"/>
          </a:xfrm>
        </p:spPr>
        <p:txBody>
          <a:bodyPr>
            <a:normAutofit/>
          </a:bodyPr>
          <a:lstStyle/>
          <a:p>
            <a:pPr algn="ctr"/>
            <a:r>
              <a:rPr lang="it-IT" dirty="0"/>
              <a:t>Approccio alla programmazione</a:t>
            </a:r>
            <a:endParaRPr lang="it-IT" i="1"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59</a:t>
            </a:fld>
            <a:endParaRPr lang="it-IT"/>
          </a:p>
        </p:txBody>
      </p:sp>
      <p:sp>
        <p:nvSpPr>
          <p:cNvPr id="12" name="CasellaDiTesto 11">
            <a:extLst>
              <a:ext uri="{FF2B5EF4-FFF2-40B4-BE49-F238E27FC236}">
                <a16:creationId xmlns:a16="http://schemas.microsoft.com/office/drawing/2014/main" id="{68A2AFE3-6888-4AA5-8101-57FF0CFF8266}"/>
              </a:ext>
            </a:extLst>
          </p:cNvPr>
          <p:cNvSpPr txBox="1"/>
          <p:nvPr/>
        </p:nvSpPr>
        <p:spPr>
          <a:xfrm>
            <a:off x="0" y="1271733"/>
            <a:ext cx="9144000" cy="4832092"/>
          </a:xfrm>
          <a:prstGeom prst="rect">
            <a:avLst/>
          </a:prstGeom>
          <a:noFill/>
        </p:spPr>
        <p:txBody>
          <a:bodyPr wrap="square">
            <a:spAutoFit/>
          </a:bodyPr>
          <a:lstStyle/>
          <a:p>
            <a:pPr marL="285750" indent="-285750">
              <a:buFont typeface="Arial" panose="020B0604020202020204" pitchFamily="34" charset="0"/>
              <a:buChar char="•"/>
            </a:pPr>
            <a:r>
              <a:rPr lang="it-IT" sz="2800" dirty="0">
                <a:effectLst/>
                <a:latin typeface="Times New Roman" panose="02020603050405020304" pitchFamily="18" charset="0"/>
                <a:ea typeface="Times New Roman" panose="02020603050405020304" pitchFamily="18" charset="0"/>
              </a:rPr>
              <a:t>Quando è il momento di iniziare un nuovo programma, l’istinto del programmatore è quello di scrivere il codice al più presto. Può sembrare giusto, ma come abbiamo già accennato nel secondo capitolo, </a:t>
            </a:r>
            <a:r>
              <a:rPr lang="it-IT" sz="2800" i="1" dirty="0">
                <a:effectLst/>
                <a:latin typeface="Times New Roman" panose="02020603050405020304" pitchFamily="18" charset="0"/>
                <a:ea typeface="Times New Roman" panose="02020603050405020304" pitchFamily="18" charset="0"/>
              </a:rPr>
              <a:t>programmare</a:t>
            </a:r>
            <a:r>
              <a:rPr lang="it-IT" sz="2800" dirty="0">
                <a:effectLst/>
                <a:latin typeface="Times New Roman" panose="02020603050405020304" pitchFamily="18" charset="0"/>
                <a:ea typeface="Times New Roman" panose="02020603050405020304" pitchFamily="18" charset="0"/>
              </a:rPr>
              <a:t> significa eseguire un processo come questo:</a:t>
            </a:r>
          </a:p>
          <a:p>
            <a:pPr marL="923290" lvl="1" indent="-285750">
              <a:buFont typeface="Arial" panose="020B0604020202020204" pitchFamily="34" charset="0"/>
              <a:buChar char="•"/>
            </a:pPr>
            <a:r>
              <a:rPr lang="it-IT" sz="2800" dirty="0">
                <a:effectLst/>
                <a:latin typeface="Times New Roman" panose="02020603050405020304" pitchFamily="18" charset="0"/>
                <a:ea typeface="MS Mincho" panose="02020609040205080304" pitchFamily="49" charset="-128"/>
              </a:rPr>
              <a:t>capire bene cosa si deve fare;</a:t>
            </a:r>
          </a:p>
          <a:p>
            <a:pPr marL="923290" lvl="1" indent="-285750">
              <a:buFont typeface="Arial" panose="020B0604020202020204" pitchFamily="34" charset="0"/>
              <a:buChar char="•"/>
            </a:pPr>
            <a:r>
              <a:rPr lang="it-IT" sz="2800" dirty="0">
                <a:effectLst/>
                <a:latin typeface="Times New Roman" panose="02020603050405020304" pitchFamily="18" charset="0"/>
                <a:ea typeface="MS Mincho" panose="02020609040205080304" pitchFamily="49" charset="-128"/>
              </a:rPr>
              <a:t>decidere come farlo;</a:t>
            </a:r>
          </a:p>
          <a:p>
            <a:pPr marL="923290" lvl="1" indent="-285750">
              <a:buFont typeface="Arial" panose="020B0604020202020204" pitchFamily="34" charset="0"/>
              <a:buChar char="•"/>
            </a:pPr>
            <a:r>
              <a:rPr lang="it-IT" sz="2800" dirty="0">
                <a:effectLst/>
                <a:latin typeface="Times New Roman" panose="02020603050405020304" pitchFamily="18" charset="0"/>
                <a:ea typeface="MS Mincho" panose="02020609040205080304" pitchFamily="49" charset="-128"/>
              </a:rPr>
              <a:t>implementare la soluzione;</a:t>
            </a:r>
          </a:p>
          <a:p>
            <a:pPr marL="923290" lvl="1" indent="-285750">
              <a:buFont typeface="Arial" panose="020B0604020202020204" pitchFamily="34" charset="0"/>
              <a:buChar char="•"/>
            </a:pPr>
            <a:r>
              <a:rPr lang="it-IT" sz="2800" dirty="0">
                <a:effectLst/>
                <a:latin typeface="Times New Roman" panose="02020603050405020304" pitchFamily="18" charset="0"/>
                <a:ea typeface="MS Mincho" panose="02020609040205080304" pitchFamily="49" charset="-128"/>
              </a:rPr>
              <a:t>testare il programma e con tutta probabilità tornare sul codice per risolvere eventuali problemi o apportare migliorie.</a:t>
            </a:r>
          </a:p>
        </p:txBody>
      </p:sp>
    </p:spTree>
    <p:extLst>
      <p:ext uri="{BB962C8B-B14F-4D97-AF65-F5344CB8AC3E}">
        <p14:creationId xmlns:p14="http://schemas.microsoft.com/office/powerpoint/2010/main" val="22138324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0" y="-7496"/>
            <a:ext cx="9144000" cy="988156"/>
          </a:xfrm>
        </p:spPr>
        <p:txBody>
          <a:bodyPr>
            <a:normAutofit/>
          </a:bodyPr>
          <a:lstStyle/>
          <a:p>
            <a:pPr algn="ctr"/>
            <a:r>
              <a:rPr lang="it-IT" dirty="0"/>
              <a:t>Algoritmo</a:t>
            </a:r>
            <a:endParaRPr lang="it-IT" i="1"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60</a:t>
            </a:fld>
            <a:endParaRPr lang="it-IT"/>
          </a:p>
        </p:txBody>
      </p:sp>
      <p:sp>
        <p:nvSpPr>
          <p:cNvPr id="12" name="CasellaDiTesto 11">
            <a:extLst>
              <a:ext uri="{FF2B5EF4-FFF2-40B4-BE49-F238E27FC236}">
                <a16:creationId xmlns:a16="http://schemas.microsoft.com/office/drawing/2014/main" id="{68A2AFE3-6888-4AA5-8101-57FF0CFF8266}"/>
              </a:ext>
            </a:extLst>
          </p:cNvPr>
          <p:cNvSpPr txBox="1"/>
          <p:nvPr/>
        </p:nvSpPr>
        <p:spPr>
          <a:xfrm>
            <a:off x="0" y="1271733"/>
            <a:ext cx="9144000" cy="5016758"/>
          </a:xfrm>
          <a:prstGeom prst="rect">
            <a:avLst/>
          </a:prstGeom>
          <a:noFill/>
        </p:spPr>
        <p:txBody>
          <a:bodyPr wrap="square">
            <a:spAutoFit/>
          </a:bodyPr>
          <a:lstStyle/>
          <a:p>
            <a:pPr marL="285750" indent="-285750">
              <a:buFont typeface="Arial" panose="020B0604020202020204" pitchFamily="34" charset="0"/>
              <a:buChar char="•"/>
            </a:pPr>
            <a:r>
              <a:rPr lang="it-IT" sz="3200" dirty="0">
                <a:effectLst/>
                <a:latin typeface="Times New Roman" panose="02020603050405020304" pitchFamily="18" charset="0"/>
                <a:ea typeface="Times New Roman" panose="02020603050405020304" pitchFamily="18" charset="0"/>
              </a:rPr>
              <a:t>Un </a:t>
            </a:r>
            <a:r>
              <a:rPr lang="it-IT" sz="3200" b="1" dirty="0">
                <a:effectLst/>
                <a:latin typeface="Times New Roman" panose="02020603050405020304" pitchFamily="18" charset="0"/>
                <a:ea typeface="Times New Roman" panose="02020603050405020304" pitchFamily="18" charset="0"/>
              </a:rPr>
              <a:t>algoritmo</a:t>
            </a:r>
            <a:r>
              <a:rPr lang="it-IT" sz="3200" dirty="0">
                <a:effectLst/>
                <a:latin typeface="Times New Roman" panose="02020603050405020304" pitchFamily="18" charset="0"/>
                <a:ea typeface="Times New Roman" panose="02020603050405020304" pitchFamily="18" charset="0"/>
              </a:rPr>
              <a:t> è una successione di </a:t>
            </a:r>
            <a:r>
              <a:rPr lang="it-IT" sz="3200" i="1" dirty="0">
                <a:effectLst/>
                <a:latin typeface="Times New Roman" panose="02020603050405020304" pitchFamily="18" charset="0"/>
                <a:ea typeface="Times New Roman" panose="02020603050405020304" pitchFamily="18" charset="0"/>
              </a:rPr>
              <a:t>istruzioni</a:t>
            </a:r>
            <a:r>
              <a:rPr lang="it-IT" sz="3200" dirty="0">
                <a:effectLst/>
                <a:latin typeface="Times New Roman" panose="02020603050405020304" pitchFamily="18" charset="0"/>
                <a:ea typeface="Times New Roman" panose="02020603050405020304" pitchFamily="18" charset="0"/>
              </a:rPr>
              <a:t> o </a:t>
            </a:r>
            <a:r>
              <a:rPr lang="it-IT" sz="3200" i="1" dirty="0">
                <a:effectLst/>
                <a:latin typeface="Times New Roman" panose="02020603050405020304" pitchFamily="18" charset="0"/>
                <a:ea typeface="Times New Roman" panose="02020603050405020304" pitchFamily="18" charset="0"/>
              </a:rPr>
              <a:t>passi</a:t>
            </a:r>
            <a:r>
              <a:rPr lang="it-IT" sz="3200" dirty="0">
                <a:effectLst/>
                <a:latin typeface="Times New Roman" panose="02020603050405020304" pitchFamily="18" charset="0"/>
                <a:ea typeface="Times New Roman" panose="02020603050405020304" pitchFamily="18" charset="0"/>
              </a:rPr>
              <a:t> che definiscono le operazioni da eseguire su dei </a:t>
            </a:r>
            <a:r>
              <a:rPr lang="it-IT" sz="3200" i="1" dirty="0">
                <a:effectLst/>
                <a:latin typeface="Times New Roman" panose="02020603050405020304" pitchFamily="18" charset="0"/>
                <a:ea typeface="Times New Roman" panose="02020603050405020304" pitchFamily="18" charset="0"/>
              </a:rPr>
              <a:t>dati</a:t>
            </a:r>
            <a:r>
              <a:rPr lang="it-IT" sz="3200" dirty="0">
                <a:effectLst/>
                <a:latin typeface="Times New Roman" panose="02020603050405020304" pitchFamily="18" charset="0"/>
                <a:ea typeface="Times New Roman" panose="02020603050405020304" pitchFamily="18" charset="0"/>
              </a:rPr>
              <a:t> per risolve un determinato </a:t>
            </a:r>
            <a:r>
              <a:rPr lang="it-IT" sz="3200" i="1" dirty="0">
                <a:effectLst/>
                <a:latin typeface="Times New Roman" panose="02020603050405020304" pitchFamily="18" charset="0"/>
                <a:ea typeface="Times New Roman" panose="02020603050405020304" pitchFamily="18" charset="0"/>
              </a:rPr>
              <a:t>problema</a:t>
            </a:r>
          </a:p>
          <a:p>
            <a:pPr marL="285750" indent="-285750">
              <a:buFont typeface="Arial" panose="020B0604020202020204" pitchFamily="34" charset="0"/>
              <a:buChar char="•"/>
            </a:pPr>
            <a:r>
              <a:rPr lang="it-IT" sz="3200" dirty="0">
                <a:effectLst/>
                <a:latin typeface="Times New Roman" panose="02020603050405020304" pitchFamily="18" charset="0"/>
                <a:ea typeface="Times New Roman" panose="02020603050405020304" pitchFamily="18" charset="0"/>
              </a:rPr>
              <a:t>Molte persone identificano la programmazione stessa con il concetto di algoritmo, in realtà vedremo che la programmazione moderna non è fatta solo di algoritmi</a:t>
            </a:r>
          </a:p>
          <a:p>
            <a:pPr marL="285750" indent="-285750">
              <a:buFont typeface="Arial" panose="020B0604020202020204" pitchFamily="34" charset="0"/>
              <a:buChar char="•"/>
            </a:pPr>
            <a:r>
              <a:rPr lang="it-IT" sz="3200" dirty="0">
                <a:effectLst/>
                <a:latin typeface="Times New Roman" panose="02020603050405020304" pitchFamily="18" charset="0"/>
                <a:ea typeface="Times New Roman" panose="02020603050405020304" pitchFamily="18" charset="0"/>
              </a:rPr>
              <a:t>Il concetto di algoritmo non è esclusivo del campo informatico, e può essere applicato ad ogni campo, anche nella vita di tutti i giorni</a:t>
            </a:r>
          </a:p>
        </p:txBody>
      </p:sp>
    </p:spTree>
    <p:extLst>
      <p:ext uri="{BB962C8B-B14F-4D97-AF65-F5344CB8AC3E}">
        <p14:creationId xmlns:p14="http://schemas.microsoft.com/office/powerpoint/2010/main" val="216365786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0" y="-7496"/>
            <a:ext cx="9144000" cy="988156"/>
          </a:xfrm>
        </p:spPr>
        <p:txBody>
          <a:bodyPr>
            <a:normAutofit/>
          </a:bodyPr>
          <a:lstStyle/>
          <a:p>
            <a:pPr algn="ctr"/>
            <a:r>
              <a:rPr lang="it-IT" dirty="0"/>
              <a:t>Algoritmo</a:t>
            </a:r>
            <a:endParaRPr lang="it-IT" i="1"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61</a:t>
            </a:fld>
            <a:endParaRPr lang="it-IT"/>
          </a:p>
        </p:txBody>
      </p:sp>
      <p:sp>
        <p:nvSpPr>
          <p:cNvPr id="12" name="CasellaDiTesto 11">
            <a:extLst>
              <a:ext uri="{FF2B5EF4-FFF2-40B4-BE49-F238E27FC236}">
                <a16:creationId xmlns:a16="http://schemas.microsoft.com/office/drawing/2014/main" id="{68A2AFE3-6888-4AA5-8101-57FF0CFF8266}"/>
              </a:ext>
            </a:extLst>
          </p:cNvPr>
          <p:cNvSpPr txBox="1"/>
          <p:nvPr/>
        </p:nvSpPr>
        <p:spPr>
          <a:xfrm>
            <a:off x="0" y="764630"/>
            <a:ext cx="9144000" cy="6124754"/>
          </a:xfrm>
          <a:prstGeom prst="rect">
            <a:avLst/>
          </a:prstGeom>
          <a:noFill/>
        </p:spPr>
        <p:txBody>
          <a:bodyPr wrap="square">
            <a:spAutoFit/>
          </a:bodyPr>
          <a:lstStyle/>
          <a:p>
            <a:pPr marL="285750" indent="-285750">
              <a:buFont typeface="Arial" panose="020B0604020202020204" pitchFamily="34" charset="0"/>
              <a:buChar char="•"/>
            </a:pPr>
            <a:r>
              <a:rPr lang="it-IT" sz="2800" dirty="0">
                <a:effectLst/>
                <a:latin typeface="Times New Roman" panose="02020603050405020304" pitchFamily="18" charset="0"/>
                <a:ea typeface="Times New Roman" panose="02020603050405020304" pitchFamily="18" charset="0"/>
              </a:rPr>
              <a:t>Un esempio reale di algoritmo sono i libretti di istruzioni di montaggio di un mobile. Con una serie di istruzioni da eseguire in sequenza, essi ci permettono di realizzare un mobile usando oggetti vari (viti, assi di legno di diversa misura, vari attrezzi di lavoro etc.). </a:t>
            </a:r>
          </a:p>
          <a:p>
            <a:pPr marL="285750" indent="-285750">
              <a:buFont typeface="Arial" panose="020B0604020202020204" pitchFamily="34" charset="0"/>
              <a:buChar char="•"/>
            </a:pPr>
            <a:r>
              <a:rPr lang="it-IT" sz="2800" dirty="0">
                <a:effectLst/>
                <a:latin typeface="Times New Roman" panose="02020603050405020304" pitchFamily="18" charset="0"/>
                <a:ea typeface="Times New Roman" panose="02020603050405020304" pitchFamily="18" charset="0"/>
              </a:rPr>
              <a:t>In questo caso il problema è “costruire il mobile”, i dati sono i materiali che abbiamo a disposizione, l’algoritmo è rappresentato dal libretto d’istruzioni. Una volta definito l’algoritmo, risolvere il problema significa solo eseguire le istruzioni riportate in esso. Senza libretto d’istruzioni, e senza l’adeguata esperienza, non sarà facile montare il mobile, esattamente come nella programmazione non sarà facile creare un programma senza prima decidere quali attività eseguire.</a:t>
            </a:r>
          </a:p>
        </p:txBody>
      </p:sp>
    </p:spTree>
    <p:extLst>
      <p:ext uri="{BB962C8B-B14F-4D97-AF65-F5344CB8AC3E}">
        <p14:creationId xmlns:p14="http://schemas.microsoft.com/office/powerpoint/2010/main" val="15397864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0" y="-7496"/>
            <a:ext cx="9144000" cy="988156"/>
          </a:xfrm>
        </p:spPr>
        <p:txBody>
          <a:bodyPr>
            <a:normAutofit/>
          </a:bodyPr>
          <a:lstStyle/>
          <a:p>
            <a:pPr algn="ctr"/>
            <a:r>
              <a:rPr lang="it-IT" dirty="0"/>
              <a:t>Algoritmo</a:t>
            </a:r>
            <a:endParaRPr lang="it-IT" i="1"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62</a:t>
            </a:fld>
            <a:endParaRPr lang="it-IT"/>
          </a:p>
        </p:txBody>
      </p:sp>
      <p:sp>
        <p:nvSpPr>
          <p:cNvPr id="12" name="CasellaDiTesto 11">
            <a:extLst>
              <a:ext uri="{FF2B5EF4-FFF2-40B4-BE49-F238E27FC236}">
                <a16:creationId xmlns:a16="http://schemas.microsoft.com/office/drawing/2014/main" id="{68A2AFE3-6888-4AA5-8101-57FF0CFF8266}"/>
              </a:ext>
            </a:extLst>
          </p:cNvPr>
          <p:cNvSpPr txBox="1"/>
          <p:nvPr/>
        </p:nvSpPr>
        <p:spPr>
          <a:xfrm>
            <a:off x="0" y="764630"/>
            <a:ext cx="9144000" cy="6124754"/>
          </a:xfrm>
          <a:prstGeom prst="rect">
            <a:avLst/>
          </a:prstGeom>
          <a:noFill/>
        </p:spPr>
        <p:txBody>
          <a:bodyPr wrap="square">
            <a:spAutoFit/>
          </a:bodyPr>
          <a:lstStyle/>
          <a:p>
            <a:pPr marL="285750" indent="-285750">
              <a:buFont typeface="Arial" panose="020B0604020202020204" pitchFamily="34" charset="0"/>
              <a:buChar char="•"/>
            </a:pPr>
            <a:r>
              <a:rPr lang="it-IT" sz="2800" dirty="0">
                <a:effectLst/>
                <a:latin typeface="Times New Roman" panose="02020603050405020304" pitchFamily="18" charset="0"/>
                <a:ea typeface="Times New Roman" panose="02020603050405020304" pitchFamily="18" charset="0"/>
              </a:rPr>
              <a:t>In un esempio precedente avevamo scritto:</a:t>
            </a:r>
          </a:p>
          <a:p>
            <a:r>
              <a:rPr lang="it-IT" sz="2800" dirty="0">
                <a:solidFill>
                  <a:schemeClr val="accent5"/>
                </a:solidFill>
                <a:effectLst/>
                <a:latin typeface="Times New Roman" panose="02020603050405020304" pitchFamily="18" charset="0"/>
                <a:ea typeface="Times New Roman" panose="02020603050405020304" pitchFamily="18" charset="0"/>
              </a:rPr>
              <a:t>if (</a:t>
            </a:r>
            <a:r>
              <a:rPr lang="it-IT" sz="2800" dirty="0" err="1">
                <a:solidFill>
                  <a:schemeClr val="accent5"/>
                </a:solidFill>
                <a:effectLst/>
                <a:latin typeface="Times New Roman" panose="02020603050405020304" pitchFamily="18" charset="0"/>
                <a:ea typeface="Times New Roman" panose="02020603050405020304" pitchFamily="18" charset="0"/>
              </a:rPr>
              <a:t>numeroLati</a:t>
            </a:r>
            <a:r>
              <a:rPr lang="it-IT" sz="2800" dirty="0">
                <a:solidFill>
                  <a:schemeClr val="accent5"/>
                </a:solidFill>
                <a:effectLst/>
                <a:latin typeface="Times New Roman" panose="02020603050405020304" pitchFamily="18" charset="0"/>
                <a:ea typeface="Times New Roman" panose="02020603050405020304" pitchFamily="18" charset="0"/>
              </a:rPr>
              <a:t> == 3) </a:t>
            </a:r>
          </a:p>
          <a:p>
            <a:r>
              <a:rPr lang="it-IT" sz="2800" dirty="0">
                <a:solidFill>
                  <a:schemeClr val="accent5"/>
                </a:solidFill>
                <a:effectLst/>
                <a:latin typeface="Times New Roman" panose="02020603050405020304" pitchFamily="18" charset="0"/>
                <a:ea typeface="Times New Roman" panose="02020603050405020304" pitchFamily="18" charset="0"/>
              </a:rPr>
              <a:t>    System.out.println("Questo è un triangolo");</a:t>
            </a:r>
          </a:p>
          <a:p>
            <a:r>
              <a:rPr lang="it-IT" sz="2800" dirty="0">
                <a:solidFill>
                  <a:schemeClr val="accent5"/>
                </a:solidFill>
                <a:effectLst/>
                <a:latin typeface="Times New Roman" panose="02020603050405020304" pitchFamily="18" charset="0"/>
                <a:ea typeface="Times New Roman" panose="02020603050405020304" pitchFamily="18" charset="0"/>
              </a:rPr>
              <a:t>else</a:t>
            </a:r>
          </a:p>
          <a:p>
            <a:r>
              <a:rPr lang="it-IT" sz="2800" dirty="0">
                <a:solidFill>
                  <a:schemeClr val="accent5"/>
                </a:solidFill>
                <a:effectLst/>
                <a:latin typeface="Times New Roman" panose="02020603050405020304" pitchFamily="18" charset="0"/>
                <a:ea typeface="Times New Roman" panose="02020603050405020304" pitchFamily="18" charset="0"/>
              </a:rPr>
              <a:t>    System.out.println("Questo non è un triangolo");</a:t>
            </a:r>
          </a:p>
          <a:p>
            <a:pPr marL="285750" indent="-285750">
              <a:buFont typeface="Arial" panose="020B0604020202020204" pitchFamily="34" charset="0"/>
              <a:buChar char="•"/>
            </a:pPr>
            <a:r>
              <a:rPr lang="it-IT" sz="2800" dirty="0">
                <a:effectLst/>
                <a:latin typeface="Times New Roman" panose="02020603050405020304" pitchFamily="18" charset="0"/>
                <a:ea typeface="Times New Roman" panose="02020603050405020304" pitchFamily="18" charset="0"/>
              </a:rPr>
              <a:t>ed avevamo anche asserito che potevamo tradurre questo codice in italiano nel seguente modo:</a:t>
            </a:r>
          </a:p>
          <a:p>
            <a:r>
              <a:rPr lang="it-IT" sz="2800" dirty="0">
                <a:solidFill>
                  <a:schemeClr val="accent5"/>
                </a:solidFill>
                <a:effectLst/>
                <a:latin typeface="Times New Roman" panose="02020603050405020304" pitchFamily="18" charset="0"/>
                <a:ea typeface="Times New Roman" panose="02020603050405020304" pitchFamily="18" charset="0"/>
              </a:rPr>
              <a:t>Se il numero di lati è uguale a 3</a:t>
            </a:r>
          </a:p>
          <a:p>
            <a:r>
              <a:rPr lang="it-IT" sz="2800" dirty="0">
                <a:solidFill>
                  <a:schemeClr val="accent5"/>
                </a:solidFill>
                <a:effectLst/>
                <a:latin typeface="Times New Roman" panose="02020603050405020304" pitchFamily="18" charset="0"/>
                <a:ea typeface="Times New Roman" panose="02020603050405020304" pitchFamily="18" charset="0"/>
              </a:rPr>
              <a:t>    stampa "Questo è un triangolo"</a:t>
            </a:r>
          </a:p>
          <a:p>
            <a:r>
              <a:rPr lang="it-IT" sz="2800" dirty="0">
                <a:solidFill>
                  <a:schemeClr val="accent5"/>
                </a:solidFill>
                <a:effectLst/>
                <a:latin typeface="Times New Roman" panose="02020603050405020304" pitchFamily="18" charset="0"/>
                <a:ea typeface="Times New Roman" panose="02020603050405020304" pitchFamily="18" charset="0"/>
              </a:rPr>
              <a:t>altrimenti</a:t>
            </a:r>
          </a:p>
          <a:p>
            <a:r>
              <a:rPr lang="it-IT" sz="2800" dirty="0">
                <a:solidFill>
                  <a:schemeClr val="accent5"/>
                </a:solidFill>
                <a:effectLst/>
                <a:latin typeface="Times New Roman" panose="02020603050405020304" pitchFamily="18" charset="0"/>
                <a:ea typeface="Times New Roman" panose="02020603050405020304" pitchFamily="18" charset="0"/>
              </a:rPr>
              <a:t>    stampa "Questo non è un triangolo</a:t>
            </a:r>
            <a:r>
              <a:rPr lang="it-IT" sz="2800" dirty="0">
                <a:effectLst/>
                <a:latin typeface="Times New Roman" panose="02020603050405020304" pitchFamily="18" charset="0"/>
                <a:ea typeface="Times New Roman" panose="02020603050405020304" pitchFamily="18" charset="0"/>
              </a:rPr>
              <a:t>"</a:t>
            </a:r>
          </a:p>
          <a:p>
            <a:pPr marL="285750" indent="-285750">
              <a:buFont typeface="Arial" panose="020B0604020202020204" pitchFamily="34" charset="0"/>
              <a:buChar char="•"/>
            </a:pPr>
            <a:r>
              <a:rPr lang="it-IT" sz="2800" dirty="0">
                <a:effectLst/>
                <a:latin typeface="Times New Roman" panose="02020603050405020304" pitchFamily="18" charset="0"/>
                <a:ea typeface="Times New Roman" panose="02020603050405020304" pitchFamily="18" charset="0"/>
              </a:rPr>
              <a:t>Si noti che se avessimo scritto un algoritmo per l’esempio in questione, questo non sarebbe stato molto differente da questa traduzione.</a:t>
            </a:r>
          </a:p>
        </p:txBody>
      </p:sp>
    </p:spTree>
    <p:extLst>
      <p:ext uri="{BB962C8B-B14F-4D97-AF65-F5344CB8AC3E}">
        <p14:creationId xmlns:p14="http://schemas.microsoft.com/office/powerpoint/2010/main" val="416297027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0" y="-7496"/>
            <a:ext cx="9144000" cy="988156"/>
          </a:xfrm>
        </p:spPr>
        <p:txBody>
          <a:bodyPr>
            <a:normAutofit/>
          </a:bodyPr>
          <a:lstStyle/>
          <a:p>
            <a:pPr algn="ctr"/>
            <a:r>
              <a:rPr lang="it-IT" dirty="0"/>
              <a:t>Algoritmo: preparare una tazza di tè</a:t>
            </a:r>
            <a:endParaRPr lang="it-IT" i="1"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63</a:t>
            </a:fld>
            <a:endParaRPr lang="it-IT"/>
          </a:p>
        </p:txBody>
      </p:sp>
      <p:sp>
        <p:nvSpPr>
          <p:cNvPr id="12" name="CasellaDiTesto 11">
            <a:extLst>
              <a:ext uri="{FF2B5EF4-FFF2-40B4-BE49-F238E27FC236}">
                <a16:creationId xmlns:a16="http://schemas.microsoft.com/office/drawing/2014/main" id="{68A2AFE3-6888-4AA5-8101-57FF0CFF8266}"/>
              </a:ext>
            </a:extLst>
          </p:cNvPr>
          <p:cNvSpPr txBox="1"/>
          <p:nvPr/>
        </p:nvSpPr>
        <p:spPr>
          <a:xfrm>
            <a:off x="0" y="1124680"/>
            <a:ext cx="9144000" cy="5262979"/>
          </a:xfrm>
          <a:prstGeom prst="rect">
            <a:avLst/>
          </a:prstGeom>
          <a:noFill/>
        </p:spPr>
        <p:txBody>
          <a:bodyPr wrap="square">
            <a:spAutoFit/>
          </a:bodyPr>
          <a:lstStyle/>
          <a:p>
            <a:pPr marL="285750" indent="-285750">
              <a:buFont typeface="Arial" panose="020B0604020202020204" pitchFamily="34" charset="0"/>
              <a:buChar char="•"/>
            </a:pPr>
            <a:r>
              <a:rPr lang="it-IT" sz="2400" b="1" dirty="0">
                <a:effectLst/>
                <a:latin typeface="Times New Roman" panose="02020603050405020304" pitchFamily="18" charset="0"/>
                <a:ea typeface="Times New Roman" panose="02020603050405020304" pitchFamily="18" charset="0"/>
              </a:rPr>
              <a:t>Problema</a:t>
            </a:r>
            <a:r>
              <a:rPr lang="it-IT" sz="2400" dirty="0">
                <a:effectLst/>
                <a:latin typeface="Times New Roman" panose="02020603050405020304" pitchFamily="18" charset="0"/>
                <a:ea typeface="Times New Roman" panose="02020603050405020304" pitchFamily="18" charset="0"/>
              </a:rPr>
              <a:t>: preparare una tassa di tè</a:t>
            </a:r>
          </a:p>
          <a:p>
            <a:pPr marL="285750" indent="-285750">
              <a:buFont typeface="Arial" panose="020B0604020202020204" pitchFamily="34" charset="0"/>
              <a:buChar char="•"/>
            </a:pPr>
            <a:r>
              <a:rPr lang="it-IT" sz="2400" b="1" dirty="0">
                <a:effectLst/>
                <a:latin typeface="Times New Roman" panose="02020603050405020304" pitchFamily="18" charset="0"/>
                <a:ea typeface="Times New Roman" panose="02020603050405020304" pitchFamily="18" charset="0"/>
              </a:rPr>
              <a:t>Dati di input</a:t>
            </a:r>
            <a:r>
              <a:rPr lang="it-IT" sz="2400" dirty="0">
                <a:effectLst/>
                <a:latin typeface="Times New Roman" panose="02020603050405020304" pitchFamily="18" charset="0"/>
                <a:ea typeface="Times New Roman" panose="02020603050405020304" pitchFamily="18" charset="0"/>
              </a:rPr>
              <a:t>: tazza, acqua, bollitore elettrico, tè (varie tipologie)</a:t>
            </a:r>
          </a:p>
          <a:p>
            <a:pPr marL="285750" indent="-285750">
              <a:buFont typeface="Arial" panose="020B0604020202020204" pitchFamily="34" charset="0"/>
              <a:buChar char="•"/>
            </a:pPr>
            <a:r>
              <a:rPr lang="it-IT" sz="2400" b="1" dirty="0">
                <a:effectLst/>
                <a:latin typeface="Times New Roman" panose="02020603050405020304" pitchFamily="18" charset="0"/>
                <a:ea typeface="Times New Roman" panose="02020603050405020304" pitchFamily="18" charset="0"/>
              </a:rPr>
              <a:t>Algoritmo</a:t>
            </a:r>
            <a:r>
              <a:rPr lang="it-IT" sz="2400" dirty="0">
                <a:effectLst/>
                <a:latin typeface="Times New Roman" panose="02020603050405020304" pitchFamily="18" charset="0"/>
                <a:ea typeface="Times New Roman" panose="02020603050405020304" pitchFamily="18" charset="0"/>
              </a:rPr>
              <a:t>:</a:t>
            </a:r>
          </a:p>
          <a:p>
            <a:pPr marL="285750" indent="-285750">
              <a:buFont typeface="Arial" panose="020B0604020202020204" pitchFamily="34" charset="0"/>
              <a:buChar char="•"/>
            </a:pPr>
            <a:r>
              <a:rPr lang="it-IT" sz="2400" dirty="0">
                <a:effectLst/>
                <a:latin typeface="Times New Roman" panose="02020603050405020304" pitchFamily="18" charset="0"/>
                <a:ea typeface="Times New Roman" panose="02020603050405020304" pitchFamily="18" charset="0"/>
              </a:rPr>
              <a:t>riempire la tazza d’acqua sino al livello desiderato</a:t>
            </a:r>
          </a:p>
          <a:p>
            <a:pPr marL="285750" indent="-285750">
              <a:buFont typeface="Arial" panose="020B0604020202020204" pitchFamily="34" charset="0"/>
              <a:buChar char="•"/>
            </a:pPr>
            <a:r>
              <a:rPr lang="it-IT" sz="2400" dirty="0">
                <a:effectLst/>
                <a:latin typeface="Times New Roman" panose="02020603050405020304" pitchFamily="18" charset="0"/>
                <a:ea typeface="Times New Roman" panose="02020603050405020304" pitchFamily="18" charset="0"/>
              </a:rPr>
              <a:t>versare l’acqua dalla tazza nel bollitore elettrico</a:t>
            </a:r>
          </a:p>
          <a:p>
            <a:pPr marL="285750" indent="-285750">
              <a:buFont typeface="Arial" panose="020B0604020202020204" pitchFamily="34" charset="0"/>
              <a:buChar char="•"/>
            </a:pPr>
            <a:r>
              <a:rPr lang="it-IT" sz="2400" dirty="0">
                <a:effectLst/>
                <a:latin typeface="Times New Roman" panose="02020603050405020304" pitchFamily="18" charset="0"/>
                <a:ea typeface="Times New Roman" panose="02020603050405020304" pitchFamily="18" charset="0"/>
              </a:rPr>
              <a:t>accendere il bollitore elettrico</a:t>
            </a:r>
          </a:p>
          <a:p>
            <a:pPr marL="285750" indent="-285750">
              <a:buFont typeface="Arial" panose="020B0604020202020204" pitchFamily="34" charset="0"/>
              <a:buChar char="•"/>
            </a:pPr>
            <a:r>
              <a:rPr lang="it-IT" sz="2400" dirty="0">
                <a:effectLst/>
                <a:latin typeface="Times New Roman" panose="02020603050405020304" pitchFamily="18" charset="0"/>
                <a:ea typeface="Times New Roman" panose="02020603050405020304" pitchFamily="18" charset="0"/>
              </a:rPr>
              <a:t>scegliere la tipologia di tè</a:t>
            </a:r>
          </a:p>
          <a:p>
            <a:pPr marL="285750" indent="-285750">
              <a:buFont typeface="Arial" panose="020B0604020202020204" pitchFamily="34" charset="0"/>
              <a:buChar char="•"/>
            </a:pPr>
            <a:r>
              <a:rPr lang="it-IT" sz="2400" dirty="0">
                <a:effectLst/>
                <a:latin typeface="Times New Roman" panose="02020603050405020304" pitchFamily="18" charset="0"/>
                <a:ea typeface="Times New Roman" panose="02020603050405020304" pitchFamily="18" charset="0"/>
              </a:rPr>
              <a:t>posare la bustina di tè nella tazza</a:t>
            </a:r>
          </a:p>
          <a:p>
            <a:pPr marL="285750" indent="-285750">
              <a:buFont typeface="Arial" panose="020B0604020202020204" pitchFamily="34" charset="0"/>
              <a:buChar char="•"/>
            </a:pPr>
            <a:r>
              <a:rPr lang="it-IT" sz="2400" dirty="0">
                <a:effectLst/>
                <a:latin typeface="Times New Roman" panose="02020603050405020304" pitchFamily="18" charset="0"/>
                <a:ea typeface="Times New Roman" panose="02020603050405020304" pitchFamily="18" charset="0"/>
              </a:rPr>
              <a:t>quando il bollitore elettrico si spegne, versare il contenuto di acqua calda nella tazza </a:t>
            </a:r>
          </a:p>
          <a:p>
            <a:pPr marL="285750" indent="-285750">
              <a:buFont typeface="Arial" panose="020B0604020202020204" pitchFamily="34" charset="0"/>
              <a:buChar char="•"/>
            </a:pPr>
            <a:r>
              <a:rPr lang="it-IT" sz="2400" dirty="0">
                <a:effectLst/>
                <a:latin typeface="Times New Roman" panose="02020603050405020304" pitchFamily="18" charset="0"/>
                <a:ea typeface="Times New Roman" panose="02020603050405020304" pitchFamily="18" charset="0"/>
              </a:rPr>
              <a:t>aspettare i minuti necessari per la corretta infusione e rimuovere la bustina dalla tazza</a:t>
            </a:r>
          </a:p>
          <a:p>
            <a:pPr marL="285750" indent="-285750">
              <a:buFont typeface="Arial" panose="020B0604020202020204" pitchFamily="34" charset="0"/>
              <a:buChar char="•"/>
            </a:pPr>
            <a:r>
              <a:rPr lang="it-IT" sz="2400" dirty="0">
                <a:effectLst/>
                <a:latin typeface="Times New Roman" panose="02020603050405020304" pitchFamily="18" charset="0"/>
                <a:ea typeface="Times New Roman" panose="02020603050405020304" pitchFamily="18" charset="0"/>
              </a:rPr>
              <a:t>aggiungere zucchero se necessario</a:t>
            </a:r>
          </a:p>
          <a:p>
            <a:pPr marL="285750" indent="-285750">
              <a:buFont typeface="Arial" panose="020B0604020202020204" pitchFamily="34" charset="0"/>
              <a:buChar char="•"/>
            </a:pPr>
            <a:r>
              <a:rPr lang="it-IT" sz="2400" b="1" dirty="0">
                <a:effectLst/>
                <a:latin typeface="Times New Roman" panose="02020603050405020304" pitchFamily="18" charset="0"/>
                <a:ea typeface="Times New Roman" panose="02020603050405020304" pitchFamily="18" charset="0"/>
              </a:rPr>
              <a:t>Output</a:t>
            </a:r>
            <a:r>
              <a:rPr lang="it-IT" sz="2400" dirty="0">
                <a:effectLst/>
                <a:latin typeface="Times New Roman" panose="02020603050405020304" pitchFamily="18" charset="0"/>
                <a:ea typeface="Times New Roman" panose="02020603050405020304" pitchFamily="18" charset="0"/>
              </a:rPr>
              <a:t>: tazza di tè pronta </a:t>
            </a:r>
          </a:p>
        </p:txBody>
      </p:sp>
    </p:spTree>
    <p:extLst>
      <p:ext uri="{BB962C8B-B14F-4D97-AF65-F5344CB8AC3E}">
        <p14:creationId xmlns:p14="http://schemas.microsoft.com/office/powerpoint/2010/main" val="281459884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0" y="-7496"/>
            <a:ext cx="9144000" cy="988156"/>
          </a:xfrm>
        </p:spPr>
        <p:txBody>
          <a:bodyPr>
            <a:normAutofit/>
          </a:bodyPr>
          <a:lstStyle/>
          <a:p>
            <a:pPr algn="ctr"/>
            <a:r>
              <a:rPr lang="it-IT" dirty="0"/>
              <a:t>Algoritmo: preparare una tazza di tè</a:t>
            </a:r>
            <a:endParaRPr lang="it-IT" i="1"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64</a:t>
            </a:fld>
            <a:endParaRPr lang="it-IT"/>
          </a:p>
        </p:txBody>
      </p:sp>
      <p:sp>
        <p:nvSpPr>
          <p:cNvPr id="12" name="CasellaDiTesto 11">
            <a:extLst>
              <a:ext uri="{FF2B5EF4-FFF2-40B4-BE49-F238E27FC236}">
                <a16:creationId xmlns:a16="http://schemas.microsoft.com/office/drawing/2014/main" id="{68A2AFE3-6888-4AA5-8101-57FF0CFF8266}"/>
              </a:ext>
            </a:extLst>
          </p:cNvPr>
          <p:cNvSpPr txBox="1"/>
          <p:nvPr/>
        </p:nvSpPr>
        <p:spPr>
          <a:xfrm>
            <a:off x="0" y="1124680"/>
            <a:ext cx="9144000" cy="5262979"/>
          </a:xfrm>
          <a:prstGeom prst="rect">
            <a:avLst/>
          </a:prstGeom>
          <a:noFill/>
        </p:spPr>
        <p:txBody>
          <a:bodyPr wrap="square">
            <a:spAutoFit/>
          </a:bodyPr>
          <a:lstStyle/>
          <a:p>
            <a:pPr marL="285750" indent="-285750">
              <a:buFont typeface="Arial" panose="020B0604020202020204" pitchFamily="34" charset="0"/>
              <a:buChar char="•"/>
            </a:pPr>
            <a:r>
              <a:rPr lang="it-IT" sz="2400" b="1" dirty="0">
                <a:effectLst/>
                <a:latin typeface="Times New Roman" panose="02020603050405020304" pitchFamily="18" charset="0"/>
                <a:ea typeface="Times New Roman" panose="02020603050405020304" pitchFamily="18" charset="0"/>
              </a:rPr>
              <a:t>Problema</a:t>
            </a:r>
            <a:r>
              <a:rPr lang="it-IT" sz="2400" dirty="0">
                <a:effectLst/>
                <a:latin typeface="Times New Roman" panose="02020603050405020304" pitchFamily="18" charset="0"/>
                <a:ea typeface="Times New Roman" panose="02020603050405020304" pitchFamily="18" charset="0"/>
              </a:rPr>
              <a:t>: preparare una tassa di tè</a:t>
            </a:r>
          </a:p>
          <a:p>
            <a:pPr marL="285750" indent="-285750">
              <a:buFont typeface="Arial" panose="020B0604020202020204" pitchFamily="34" charset="0"/>
              <a:buChar char="•"/>
            </a:pPr>
            <a:r>
              <a:rPr lang="it-IT" sz="2400" b="1" dirty="0">
                <a:effectLst/>
                <a:latin typeface="Times New Roman" panose="02020603050405020304" pitchFamily="18" charset="0"/>
                <a:ea typeface="Times New Roman" panose="02020603050405020304" pitchFamily="18" charset="0"/>
              </a:rPr>
              <a:t>Dati di input</a:t>
            </a:r>
            <a:r>
              <a:rPr lang="it-IT" sz="2400" dirty="0">
                <a:effectLst/>
                <a:latin typeface="Times New Roman" panose="02020603050405020304" pitchFamily="18" charset="0"/>
                <a:ea typeface="Times New Roman" panose="02020603050405020304" pitchFamily="18" charset="0"/>
              </a:rPr>
              <a:t>: tazza, acqua, bollitore elettrico, tè (varie tipologie)</a:t>
            </a:r>
          </a:p>
          <a:p>
            <a:pPr marL="285750" indent="-285750">
              <a:buFont typeface="Arial" panose="020B0604020202020204" pitchFamily="34" charset="0"/>
              <a:buChar char="•"/>
            </a:pPr>
            <a:r>
              <a:rPr lang="it-IT" sz="2400" b="1" dirty="0">
                <a:effectLst/>
                <a:latin typeface="Times New Roman" panose="02020603050405020304" pitchFamily="18" charset="0"/>
                <a:ea typeface="Times New Roman" panose="02020603050405020304" pitchFamily="18" charset="0"/>
              </a:rPr>
              <a:t>Algoritmo</a:t>
            </a:r>
            <a:r>
              <a:rPr lang="it-IT" sz="2400" dirty="0">
                <a:effectLst/>
                <a:latin typeface="Times New Roman" panose="02020603050405020304" pitchFamily="18" charset="0"/>
                <a:ea typeface="Times New Roman" panose="02020603050405020304" pitchFamily="18" charset="0"/>
              </a:rPr>
              <a:t>:</a:t>
            </a:r>
          </a:p>
          <a:p>
            <a:pPr marL="285750" indent="-285750">
              <a:buFont typeface="Arial" panose="020B0604020202020204" pitchFamily="34" charset="0"/>
              <a:buChar char="•"/>
            </a:pPr>
            <a:r>
              <a:rPr lang="it-IT" sz="2400" dirty="0">
                <a:effectLst/>
                <a:latin typeface="Times New Roman" panose="02020603050405020304" pitchFamily="18" charset="0"/>
                <a:ea typeface="Times New Roman" panose="02020603050405020304" pitchFamily="18" charset="0"/>
              </a:rPr>
              <a:t>riempire la tazza d’acqua sino al livello desiderato</a:t>
            </a:r>
          </a:p>
          <a:p>
            <a:pPr marL="285750" indent="-285750">
              <a:buFont typeface="Arial" panose="020B0604020202020204" pitchFamily="34" charset="0"/>
              <a:buChar char="•"/>
            </a:pPr>
            <a:r>
              <a:rPr lang="it-IT" sz="2400" dirty="0">
                <a:effectLst/>
                <a:latin typeface="Times New Roman" panose="02020603050405020304" pitchFamily="18" charset="0"/>
                <a:ea typeface="Times New Roman" panose="02020603050405020304" pitchFamily="18" charset="0"/>
              </a:rPr>
              <a:t>versare l’acqua dalla tazza nel bollitore elettrico</a:t>
            </a:r>
          </a:p>
          <a:p>
            <a:pPr marL="285750" indent="-285750">
              <a:buFont typeface="Arial" panose="020B0604020202020204" pitchFamily="34" charset="0"/>
              <a:buChar char="•"/>
            </a:pPr>
            <a:r>
              <a:rPr lang="it-IT" sz="2400" dirty="0">
                <a:effectLst/>
                <a:latin typeface="Times New Roman" panose="02020603050405020304" pitchFamily="18" charset="0"/>
                <a:ea typeface="Times New Roman" panose="02020603050405020304" pitchFamily="18" charset="0"/>
              </a:rPr>
              <a:t>accendere il bollitore elettrico</a:t>
            </a:r>
          </a:p>
          <a:p>
            <a:pPr marL="285750" indent="-285750">
              <a:buFont typeface="Arial" panose="020B0604020202020204" pitchFamily="34" charset="0"/>
              <a:buChar char="•"/>
            </a:pPr>
            <a:r>
              <a:rPr lang="it-IT" sz="2400" dirty="0">
                <a:effectLst/>
                <a:latin typeface="Times New Roman" panose="02020603050405020304" pitchFamily="18" charset="0"/>
                <a:ea typeface="Times New Roman" panose="02020603050405020304" pitchFamily="18" charset="0"/>
              </a:rPr>
              <a:t>scegliere la tipologia di tè</a:t>
            </a:r>
          </a:p>
          <a:p>
            <a:pPr marL="285750" indent="-285750">
              <a:buFont typeface="Arial" panose="020B0604020202020204" pitchFamily="34" charset="0"/>
              <a:buChar char="•"/>
            </a:pPr>
            <a:r>
              <a:rPr lang="it-IT" sz="2400" dirty="0">
                <a:effectLst/>
                <a:latin typeface="Times New Roman" panose="02020603050405020304" pitchFamily="18" charset="0"/>
                <a:ea typeface="Times New Roman" panose="02020603050405020304" pitchFamily="18" charset="0"/>
              </a:rPr>
              <a:t>posare la bustina di tè nella tazza</a:t>
            </a:r>
          </a:p>
          <a:p>
            <a:pPr marL="285750" indent="-285750">
              <a:buFont typeface="Arial" panose="020B0604020202020204" pitchFamily="34" charset="0"/>
              <a:buChar char="•"/>
            </a:pPr>
            <a:r>
              <a:rPr lang="it-IT" sz="2400" dirty="0">
                <a:effectLst/>
                <a:latin typeface="Times New Roman" panose="02020603050405020304" pitchFamily="18" charset="0"/>
                <a:ea typeface="Times New Roman" panose="02020603050405020304" pitchFamily="18" charset="0"/>
              </a:rPr>
              <a:t>quando il bollitore elettrico si spegne, versare il contenuto di acqua calda nella tazza </a:t>
            </a:r>
          </a:p>
          <a:p>
            <a:pPr marL="285750" indent="-285750">
              <a:buFont typeface="Arial" panose="020B0604020202020204" pitchFamily="34" charset="0"/>
              <a:buChar char="•"/>
            </a:pPr>
            <a:r>
              <a:rPr lang="it-IT" sz="2400" dirty="0">
                <a:effectLst/>
                <a:latin typeface="Times New Roman" panose="02020603050405020304" pitchFamily="18" charset="0"/>
                <a:ea typeface="Times New Roman" panose="02020603050405020304" pitchFamily="18" charset="0"/>
              </a:rPr>
              <a:t>aspettare i minuti necessari per la corretta infusione e rimuovere la bustina dalla tazza</a:t>
            </a:r>
          </a:p>
          <a:p>
            <a:pPr marL="285750" indent="-285750">
              <a:buFont typeface="Arial" panose="020B0604020202020204" pitchFamily="34" charset="0"/>
              <a:buChar char="•"/>
            </a:pPr>
            <a:r>
              <a:rPr lang="it-IT" sz="2400" dirty="0">
                <a:effectLst/>
                <a:latin typeface="Times New Roman" panose="02020603050405020304" pitchFamily="18" charset="0"/>
                <a:ea typeface="Times New Roman" panose="02020603050405020304" pitchFamily="18" charset="0"/>
              </a:rPr>
              <a:t>aggiungere zucchero se necessario</a:t>
            </a:r>
          </a:p>
          <a:p>
            <a:pPr marL="285750" indent="-285750">
              <a:buFont typeface="Arial" panose="020B0604020202020204" pitchFamily="34" charset="0"/>
              <a:buChar char="•"/>
            </a:pPr>
            <a:r>
              <a:rPr lang="it-IT" sz="2400" b="1" dirty="0">
                <a:effectLst/>
                <a:latin typeface="Times New Roman" panose="02020603050405020304" pitchFamily="18" charset="0"/>
                <a:ea typeface="Times New Roman" panose="02020603050405020304" pitchFamily="18" charset="0"/>
              </a:rPr>
              <a:t>Output</a:t>
            </a:r>
            <a:r>
              <a:rPr lang="it-IT" sz="2400" dirty="0">
                <a:effectLst/>
                <a:latin typeface="Times New Roman" panose="02020603050405020304" pitchFamily="18" charset="0"/>
                <a:ea typeface="Times New Roman" panose="02020603050405020304" pitchFamily="18" charset="0"/>
              </a:rPr>
              <a:t>: tazza di tè pronta </a:t>
            </a:r>
          </a:p>
        </p:txBody>
      </p:sp>
    </p:spTree>
    <p:extLst>
      <p:ext uri="{BB962C8B-B14F-4D97-AF65-F5344CB8AC3E}">
        <p14:creationId xmlns:p14="http://schemas.microsoft.com/office/powerpoint/2010/main" val="271107640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0" y="-7496"/>
            <a:ext cx="9144000" cy="988156"/>
          </a:xfrm>
        </p:spPr>
        <p:txBody>
          <a:bodyPr>
            <a:normAutofit/>
          </a:bodyPr>
          <a:lstStyle/>
          <a:p>
            <a:pPr algn="ctr"/>
            <a:r>
              <a:rPr lang="it-IT" dirty="0"/>
              <a:t>Algoritmo</a:t>
            </a:r>
            <a:endParaRPr lang="it-IT" i="1"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65</a:t>
            </a:fld>
            <a:endParaRPr lang="it-IT"/>
          </a:p>
        </p:txBody>
      </p:sp>
      <p:sp>
        <p:nvSpPr>
          <p:cNvPr id="12" name="CasellaDiTesto 11">
            <a:extLst>
              <a:ext uri="{FF2B5EF4-FFF2-40B4-BE49-F238E27FC236}">
                <a16:creationId xmlns:a16="http://schemas.microsoft.com/office/drawing/2014/main" id="{68A2AFE3-6888-4AA5-8101-57FF0CFF8266}"/>
              </a:ext>
            </a:extLst>
          </p:cNvPr>
          <p:cNvSpPr txBox="1"/>
          <p:nvPr/>
        </p:nvSpPr>
        <p:spPr>
          <a:xfrm>
            <a:off x="0" y="1124680"/>
            <a:ext cx="9144000" cy="5262979"/>
          </a:xfrm>
          <a:prstGeom prst="rect">
            <a:avLst/>
          </a:prstGeom>
          <a:noFill/>
        </p:spPr>
        <p:txBody>
          <a:bodyPr wrap="square">
            <a:spAutoFit/>
          </a:bodyPr>
          <a:lstStyle/>
          <a:p>
            <a:pPr marL="285750" indent="-285750">
              <a:buFont typeface="Arial" panose="020B0604020202020204" pitchFamily="34" charset="0"/>
              <a:buChar char="•"/>
            </a:pPr>
            <a:r>
              <a:rPr lang="it-IT" sz="2400" b="1" dirty="0">
                <a:effectLst/>
                <a:latin typeface="Times New Roman" panose="02020603050405020304" pitchFamily="18" charset="0"/>
                <a:ea typeface="Times New Roman" panose="02020603050405020304" pitchFamily="18" charset="0"/>
              </a:rPr>
              <a:t>Per scrivere un algoritmo si possono usare vari strumenti, il linguaggio naturale, un linguaggio di programmazione, dello pseudocodice o anche un linguaggio di notazione.</a:t>
            </a:r>
          </a:p>
          <a:p>
            <a:pPr marL="285750" indent="-285750">
              <a:buFont typeface="Arial" panose="020B0604020202020204" pitchFamily="34" charset="0"/>
              <a:buChar char="•"/>
            </a:pPr>
            <a:r>
              <a:rPr lang="it-IT" sz="2400" b="1" dirty="0">
                <a:effectLst/>
                <a:latin typeface="Times New Roman" panose="02020603050405020304" pitchFamily="18" charset="0"/>
                <a:ea typeface="Times New Roman" panose="02020603050405020304" pitchFamily="18" charset="0"/>
              </a:rPr>
              <a:t>Scrivere un algoritmo in linguaggio naturale, sarà probabilmente la nostra prima scelta inizialmente (vedi esempio)</a:t>
            </a:r>
          </a:p>
          <a:p>
            <a:pPr marL="285750" indent="-285750">
              <a:buFont typeface="Arial" panose="020B0604020202020204" pitchFamily="34" charset="0"/>
              <a:buChar char="•"/>
            </a:pPr>
            <a:r>
              <a:rPr lang="it-IT" sz="2400" b="1" dirty="0">
                <a:effectLst/>
                <a:latin typeface="Times New Roman" panose="02020603050405020304" pitchFamily="18" charset="0"/>
                <a:ea typeface="Times New Roman" panose="02020603050405020304" pitchFamily="18" charset="0"/>
              </a:rPr>
              <a:t>Scrivere un algoritmo direttamente in un linguaggio di programmazione invece, è una scelta spesso troppo complessa, soprattutto quando si inizia</a:t>
            </a:r>
          </a:p>
          <a:p>
            <a:pPr marL="285750" indent="-285750">
              <a:buFont typeface="Arial" panose="020B0604020202020204" pitchFamily="34" charset="0"/>
              <a:buChar char="•"/>
            </a:pPr>
            <a:r>
              <a:rPr lang="it-IT" sz="2400" b="1" dirty="0">
                <a:effectLst/>
                <a:latin typeface="Times New Roman" panose="02020603050405020304" pitchFamily="18" charset="0"/>
                <a:ea typeface="Times New Roman" panose="02020603050405020304" pitchFamily="18" charset="0"/>
              </a:rPr>
              <a:t>Probabilmente utilizzare lo pseudocodice, ovvero creare l’algoritmo spiegando alcune parti con il linguaggio naturale ed altre con il linguaggio di programmazione, rappresenta il giusto compromesso</a:t>
            </a:r>
          </a:p>
          <a:p>
            <a:pPr marL="285750" indent="-285750">
              <a:buFont typeface="Arial" panose="020B0604020202020204" pitchFamily="34" charset="0"/>
              <a:buChar char="•"/>
            </a:pPr>
            <a:r>
              <a:rPr lang="it-IT" sz="2400" b="1" dirty="0">
                <a:effectLst/>
                <a:latin typeface="Times New Roman" panose="02020603050405020304" pitchFamily="18" charset="0"/>
                <a:ea typeface="Times New Roman" panose="02020603050405020304" pitchFamily="18" charset="0"/>
              </a:rPr>
              <a:t>Infine si potrebbe utilizzare un linguaggio di modellazione come l’UML per rappresentare graficamente un algoritmo</a:t>
            </a:r>
            <a:endParaRPr lang="it-IT"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85610192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0" y="-7496"/>
            <a:ext cx="9144000" cy="988156"/>
          </a:xfrm>
        </p:spPr>
        <p:txBody>
          <a:bodyPr>
            <a:normAutofit/>
          </a:bodyPr>
          <a:lstStyle/>
          <a:p>
            <a:pPr algn="ctr"/>
            <a:r>
              <a:rPr lang="it-IT" dirty="0"/>
              <a:t>Introduzione ad UML</a:t>
            </a:r>
            <a:endParaRPr lang="it-IT" i="1"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66</a:t>
            </a:fld>
            <a:endParaRPr lang="it-IT"/>
          </a:p>
        </p:txBody>
      </p:sp>
      <p:sp>
        <p:nvSpPr>
          <p:cNvPr id="12" name="CasellaDiTesto 11">
            <a:extLst>
              <a:ext uri="{FF2B5EF4-FFF2-40B4-BE49-F238E27FC236}">
                <a16:creationId xmlns:a16="http://schemas.microsoft.com/office/drawing/2014/main" id="{68A2AFE3-6888-4AA5-8101-57FF0CFF8266}"/>
              </a:ext>
            </a:extLst>
          </p:cNvPr>
          <p:cNvSpPr txBox="1"/>
          <p:nvPr/>
        </p:nvSpPr>
        <p:spPr>
          <a:xfrm>
            <a:off x="0" y="908650"/>
            <a:ext cx="9144000" cy="5632311"/>
          </a:xfrm>
          <a:prstGeom prst="rect">
            <a:avLst/>
          </a:prstGeom>
          <a:noFill/>
        </p:spPr>
        <p:txBody>
          <a:bodyPr wrap="square">
            <a:spAutoFit/>
          </a:bodyPr>
          <a:lstStyle/>
          <a:p>
            <a:pPr marL="285750" indent="-285750">
              <a:buFont typeface="Arial" panose="020B0604020202020204" pitchFamily="34" charset="0"/>
              <a:buChar char="•"/>
            </a:pPr>
            <a:r>
              <a:rPr lang="it-IT" sz="2400" b="1" dirty="0">
                <a:effectLst/>
                <a:latin typeface="Times New Roman" panose="02020603050405020304" pitchFamily="18" charset="0"/>
                <a:ea typeface="Times New Roman" panose="02020603050405020304" pitchFamily="18" charset="0"/>
              </a:rPr>
              <a:t>Lo Unified Modeling Language (UML), è un linguaggio i cui elementi costitutivi sono per lo più grafici elementari come rettangoli, ovali, omini stilizzati, frecce e così via. Questi elementi vengono utilizzati all’interno di diagrammi seguendo certe regole.</a:t>
            </a:r>
          </a:p>
          <a:p>
            <a:pPr marL="285750" indent="-285750">
              <a:buFont typeface="Arial" panose="020B0604020202020204" pitchFamily="34" charset="0"/>
              <a:buChar char="•"/>
            </a:pPr>
            <a:r>
              <a:rPr lang="it-IT" sz="2400" b="1" dirty="0">
                <a:effectLst/>
                <a:latin typeface="Times New Roman" panose="02020603050405020304" pitchFamily="18" charset="0"/>
                <a:ea typeface="Times New Roman" panose="02020603050405020304" pitchFamily="18" charset="0"/>
              </a:rPr>
              <a:t>È un linguaggio basato sul paradigma orientato agli oggetti, e mette a disposizione diverse tipologie di diagrammi che possono essere utilizzati in situazioni e per scopi diversi.</a:t>
            </a:r>
          </a:p>
          <a:p>
            <a:pPr marL="285750" indent="-285750">
              <a:buFont typeface="Arial" panose="020B0604020202020204" pitchFamily="34" charset="0"/>
              <a:buChar char="•"/>
            </a:pPr>
            <a:r>
              <a:rPr lang="it-IT" sz="2400" b="1" dirty="0">
                <a:effectLst/>
                <a:latin typeface="Times New Roman" panose="02020603050405020304" pitchFamily="18" charset="0"/>
                <a:ea typeface="Times New Roman" panose="02020603050405020304" pitchFamily="18" charset="0"/>
              </a:rPr>
              <a:t>Più formalmente possiamo definire UML come un linguaggio che permette ad un sistema software di:</a:t>
            </a:r>
          </a:p>
          <a:p>
            <a:pPr marL="285750" indent="-285750">
              <a:buFont typeface="Arial" panose="020B0604020202020204" pitchFamily="34" charset="0"/>
              <a:buChar char="•"/>
            </a:pPr>
            <a:r>
              <a:rPr lang="it-IT" sz="2400" b="1" dirty="0">
                <a:effectLst/>
                <a:latin typeface="Times New Roman" panose="02020603050405020304" pitchFamily="18" charset="0"/>
                <a:ea typeface="Times New Roman" panose="02020603050405020304" pitchFamily="18" charset="0"/>
              </a:rPr>
              <a:t>creare specifiche: può aiutare a definire cosa deve fare il sistema;</a:t>
            </a:r>
          </a:p>
          <a:p>
            <a:pPr marL="285750" indent="-285750">
              <a:buFont typeface="Arial" panose="020B0604020202020204" pitchFamily="34" charset="0"/>
              <a:buChar char="•"/>
            </a:pPr>
            <a:r>
              <a:rPr lang="it-IT" sz="2400" b="1" dirty="0">
                <a:effectLst/>
                <a:latin typeface="Times New Roman" panose="02020603050405020304" pitchFamily="18" charset="0"/>
                <a:ea typeface="Times New Roman" panose="02020603050405020304" pitchFamily="18" charset="0"/>
              </a:rPr>
              <a:t>costruire: può aiutare a capire come deve essere fatto il sistema;</a:t>
            </a:r>
          </a:p>
          <a:p>
            <a:pPr marL="285750" indent="-285750">
              <a:buFont typeface="Arial" panose="020B0604020202020204" pitchFamily="34" charset="0"/>
              <a:buChar char="•"/>
            </a:pPr>
            <a:r>
              <a:rPr lang="it-IT" sz="2400" b="1" dirty="0">
                <a:effectLst/>
                <a:latin typeface="Times New Roman" panose="02020603050405020304" pitchFamily="18" charset="0"/>
                <a:ea typeface="Times New Roman" panose="02020603050405020304" pitchFamily="18" charset="0"/>
              </a:rPr>
              <a:t>visualizzare: consente di visualizzare il software da altri punti di vista diversi dal codice;</a:t>
            </a:r>
          </a:p>
          <a:p>
            <a:pPr marL="285750" indent="-285750">
              <a:buFont typeface="Arial" panose="020B0604020202020204" pitchFamily="34" charset="0"/>
              <a:buChar char="•"/>
            </a:pPr>
            <a:r>
              <a:rPr lang="it-IT" sz="2400" b="1" dirty="0">
                <a:effectLst/>
                <a:latin typeface="Times New Roman" panose="02020603050405020304" pitchFamily="18" charset="0"/>
                <a:ea typeface="Times New Roman" panose="02020603050405020304" pitchFamily="18" charset="0"/>
              </a:rPr>
              <a:t>documentare: con i diagrammi UML possiamo spiegare il nostro software senza leggerne il codice.</a:t>
            </a:r>
          </a:p>
        </p:txBody>
      </p:sp>
    </p:spTree>
    <p:extLst>
      <p:ext uri="{BB962C8B-B14F-4D97-AF65-F5344CB8AC3E}">
        <p14:creationId xmlns:p14="http://schemas.microsoft.com/office/powerpoint/2010/main" val="268354997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0" y="-7496"/>
            <a:ext cx="9144000" cy="988156"/>
          </a:xfrm>
        </p:spPr>
        <p:txBody>
          <a:bodyPr>
            <a:normAutofit fontScale="90000"/>
          </a:bodyPr>
          <a:lstStyle/>
          <a:p>
            <a:pPr algn="ctr"/>
            <a:r>
              <a:rPr lang="it-IT" dirty="0"/>
              <a:t>Introduzione ad UML (activity diagram)</a:t>
            </a:r>
            <a:endParaRPr lang="it-IT" i="1"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67</a:t>
            </a:fld>
            <a:endParaRPr lang="it-IT"/>
          </a:p>
        </p:txBody>
      </p:sp>
      <p:pic>
        <p:nvPicPr>
          <p:cNvPr id="6" name="Immagine 5">
            <a:extLst>
              <a:ext uri="{FF2B5EF4-FFF2-40B4-BE49-F238E27FC236}">
                <a16:creationId xmlns:a16="http://schemas.microsoft.com/office/drawing/2014/main" id="{879CB168-CF38-4C2D-AB1E-A9C19592F9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3852" y="831565"/>
            <a:ext cx="3810108" cy="5499256"/>
          </a:xfrm>
          <a:prstGeom prst="rect">
            <a:avLst/>
          </a:prstGeom>
        </p:spPr>
      </p:pic>
      <p:sp>
        <p:nvSpPr>
          <p:cNvPr id="9" name="CasellaDiTesto 8">
            <a:extLst>
              <a:ext uri="{FF2B5EF4-FFF2-40B4-BE49-F238E27FC236}">
                <a16:creationId xmlns:a16="http://schemas.microsoft.com/office/drawing/2014/main" id="{F898E8CE-C3A3-4664-8FF0-3582C4231E4C}"/>
              </a:ext>
            </a:extLst>
          </p:cNvPr>
          <p:cNvSpPr txBox="1"/>
          <p:nvPr/>
        </p:nvSpPr>
        <p:spPr>
          <a:xfrm>
            <a:off x="4499990" y="1903504"/>
            <a:ext cx="4572000" cy="2677656"/>
          </a:xfrm>
          <a:prstGeom prst="rect">
            <a:avLst/>
          </a:prstGeom>
          <a:noFill/>
        </p:spPr>
        <p:txBody>
          <a:bodyPr wrap="square">
            <a:spAutoFit/>
          </a:bodyPr>
          <a:lstStyle/>
          <a:p>
            <a:r>
              <a:rPr lang="it-IT" sz="2800" dirty="0">
                <a:effectLst/>
                <a:latin typeface="Times New Roman" panose="02020603050405020304" pitchFamily="18" charset="0"/>
                <a:ea typeface="Times New Roman" panose="02020603050405020304" pitchFamily="18" charset="0"/>
              </a:rPr>
              <a:t>Riscrivendo l’algoritmo in linguaggio naturale:</a:t>
            </a:r>
          </a:p>
          <a:p>
            <a:pPr marL="694690" indent="-514350">
              <a:buFont typeface="+mj-lt"/>
              <a:buAutoNum type="arabicPeriod"/>
            </a:pPr>
            <a:r>
              <a:rPr lang="it-IT" sz="2800" dirty="0">
                <a:effectLst/>
                <a:latin typeface="Times New Roman" panose="02020603050405020304" pitchFamily="18" charset="0"/>
                <a:ea typeface="MS Mincho" panose="02020609040205080304" pitchFamily="49" charset="-128"/>
              </a:rPr>
              <a:t>leggi la nota</a:t>
            </a:r>
          </a:p>
          <a:p>
            <a:pPr marL="694690" indent="-514350">
              <a:buFont typeface="+mj-lt"/>
              <a:buAutoNum type="arabicPeriod"/>
            </a:pPr>
            <a:r>
              <a:rPr lang="it-IT" sz="2800" dirty="0">
                <a:effectLst/>
                <a:latin typeface="Times New Roman" panose="02020603050405020304" pitchFamily="18" charset="0"/>
                <a:ea typeface="MS Mincho" panose="02020609040205080304" pitchFamily="49" charset="-128"/>
              </a:rPr>
              <a:t>esegui la nota</a:t>
            </a:r>
          </a:p>
          <a:p>
            <a:pPr marL="694690" indent="-514350">
              <a:buFont typeface="+mj-lt"/>
              <a:buAutoNum type="arabicPeriod"/>
            </a:pPr>
            <a:r>
              <a:rPr lang="it-IT" sz="2800" dirty="0">
                <a:effectLst/>
                <a:latin typeface="Times New Roman" panose="02020603050405020304" pitchFamily="18" charset="0"/>
                <a:ea typeface="MS Mincho" panose="02020609040205080304" pitchFamily="49" charset="-128"/>
              </a:rPr>
              <a:t>se ci sono altre note sullo spartito torna al punto 1</a:t>
            </a:r>
          </a:p>
        </p:txBody>
      </p:sp>
    </p:spTree>
    <p:extLst>
      <p:ext uri="{BB962C8B-B14F-4D97-AF65-F5344CB8AC3E}">
        <p14:creationId xmlns:p14="http://schemas.microsoft.com/office/powerpoint/2010/main" val="15044460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72010"/>
            <a:ext cx="9144000" cy="1124680"/>
          </a:xfrm>
        </p:spPr>
        <p:txBody>
          <a:bodyPr>
            <a:normAutofit/>
          </a:bodyPr>
          <a:lstStyle/>
          <a:p>
            <a:pPr algn="ctr"/>
            <a:r>
              <a:rPr lang="it-IT" dirty="0"/>
              <a:t>Sommario</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NJ-004</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68</a:t>
            </a:fld>
            <a:endParaRPr lang="it-IT"/>
          </a:p>
        </p:txBody>
      </p:sp>
      <p:sp>
        <p:nvSpPr>
          <p:cNvPr id="8" name="Segnaposto contenuto 2">
            <a:extLst>
              <a:ext uri="{FF2B5EF4-FFF2-40B4-BE49-F238E27FC236}">
                <a16:creationId xmlns:a16="http://schemas.microsoft.com/office/drawing/2014/main" id="{C0CC9B9D-479A-4F78-8DB1-FA2D02912239}"/>
              </a:ext>
            </a:extLst>
          </p:cNvPr>
          <p:cNvSpPr>
            <a:spLocks noGrp="1"/>
          </p:cNvSpPr>
          <p:nvPr>
            <p:ph idx="1"/>
          </p:nvPr>
        </p:nvSpPr>
        <p:spPr>
          <a:xfrm>
            <a:off x="0" y="1085227"/>
            <a:ext cx="9144000" cy="5008143"/>
          </a:xfrm>
        </p:spPr>
        <p:txBody>
          <a:bodyPr>
            <a:noAutofit/>
          </a:bodyPr>
          <a:lstStyle/>
          <a:p>
            <a:pPr marL="180340" indent="180340">
              <a:tabLst>
                <a:tab pos="457200" algn="l"/>
              </a:tabLst>
            </a:pPr>
            <a:r>
              <a:rPr lang="it-IT" sz="3200" dirty="0">
                <a:effectLst/>
                <a:latin typeface="Calibri" panose="020F0502020204030204" pitchFamily="34" charset="0"/>
                <a:ea typeface="Times New Roman" panose="02020603050405020304" pitchFamily="18" charset="0"/>
                <a:cs typeface="Calibri" panose="020F0502020204030204" pitchFamily="34" charset="0"/>
              </a:rPr>
              <a:t>Conoscere e saper utilizzare i vari operatori (unità 4.1). </a:t>
            </a:r>
          </a:p>
          <a:p>
            <a:pPr marL="180340" indent="180340">
              <a:tabLst>
                <a:tab pos="457200" algn="l"/>
              </a:tabLst>
            </a:pPr>
            <a:r>
              <a:rPr lang="it-IT" sz="3200" dirty="0">
                <a:effectLst/>
                <a:latin typeface="Calibri" panose="020F0502020204030204" pitchFamily="34" charset="0"/>
                <a:ea typeface="Times New Roman" panose="02020603050405020304" pitchFamily="18" charset="0"/>
                <a:cs typeface="Calibri" panose="020F0502020204030204" pitchFamily="34" charset="0"/>
              </a:rPr>
              <a:t>Conoscere e saper utilizzare i costrutti di programmazione semplici (unità 4.2). </a:t>
            </a:r>
          </a:p>
          <a:p>
            <a:pPr marL="180340" indent="180340">
              <a:tabLst>
                <a:tab pos="457200" algn="l"/>
              </a:tabLst>
            </a:pPr>
            <a:r>
              <a:rPr lang="it-IT" sz="3200" dirty="0">
                <a:effectLst/>
                <a:latin typeface="Calibri" panose="020F0502020204030204" pitchFamily="34" charset="0"/>
                <a:ea typeface="Times New Roman" panose="02020603050405020304" pitchFamily="18" charset="0"/>
                <a:cs typeface="Calibri" panose="020F0502020204030204" pitchFamily="34" charset="0"/>
              </a:rPr>
              <a:t>Conoscere e saper utilizzare i costrutti di programmazione avanzati (unità 4.3). </a:t>
            </a:r>
          </a:p>
          <a:p>
            <a:pPr marL="180340" indent="180340">
              <a:tabLst>
                <a:tab pos="457200" algn="l"/>
              </a:tabLst>
            </a:pPr>
            <a:r>
              <a:rPr lang="it-IT" sz="3200" dirty="0">
                <a:effectLst/>
                <a:latin typeface="Calibri" panose="020F0502020204030204" pitchFamily="34" charset="0"/>
                <a:ea typeface="Times New Roman" panose="02020603050405020304" pitchFamily="18" charset="0"/>
                <a:cs typeface="Calibri" panose="020F0502020204030204" pitchFamily="34" charset="0"/>
              </a:rPr>
              <a:t>Conoscere e saper utilizzare il nuovo costrutto switch (unità 4.4).</a:t>
            </a:r>
          </a:p>
          <a:p>
            <a:pPr marL="180340" indent="180340">
              <a:tabLst>
                <a:tab pos="457200" algn="l"/>
              </a:tabLst>
            </a:pPr>
            <a:r>
              <a:rPr lang="it-IT" sz="3200" dirty="0">
                <a:effectLst/>
                <a:latin typeface="Calibri" panose="020F0502020204030204" pitchFamily="34" charset="0"/>
                <a:ea typeface="Times New Roman" panose="02020603050405020304" pitchFamily="18" charset="0"/>
                <a:cs typeface="Calibri" panose="020F0502020204030204" pitchFamily="34" charset="0"/>
              </a:rPr>
              <a:t>Comprendere che prima di iniziare a programmare è necessario prima avere chiari tutti i requisiti, e avere un piano per procedere nella codifica (unità 4.5) </a:t>
            </a:r>
          </a:p>
        </p:txBody>
      </p:sp>
    </p:spTree>
    <p:extLst>
      <p:ext uri="{BB962C8B-B14F-4D97-AF65-F5344CB8AC3E}">
        <p14:creationId xmlns:p14="http://schemas.microsoft.com/office/powerpoint/2010/main" val="3691854465"/>
      </p:ext>
    </p:extLst>
  </p:cSld>
  <p:clrMapOvr>
    <a:masterClrMapping/>
  </p:clrMapOvr>
</p:sld>
</file>

<file path=ppt/theme/theme1.xml><?xml version="1.0" encoding="utf-8"?>
<a:theme xmlns:a="http://schemas.openxmlformats.org/drawingml/2006/main" name="Academy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ersonalizza struttur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Academy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Profondità">
  <a:themeElements>
    <a:clrScheme name="Profondità">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Profondità">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rofondità">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5.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AcademyTheme</Template>
  <TotalTime>21815</TotalTime>
  <Words>20184</Words>
  <Application>Microsoft Office PowerPoint</Application>
  <PresentationFormat>Presentazione su schermo (4:3)</PresentationFormat>
  <Paragraphs>1538</Paragraphs>
  <Slides>68</Slides>
  <Notes>68</Notes>
  <HiddenSlides>0</HiddenSlides>
  <MMClips>0</MMClips>
  <ScaleCrop>false</ScaleCrop>
  <HeadingPairs>
    <vt:vector size="6" baseType="variant">
      <vt:variant>
        <vt:lpstr>Caratteri utilizzati</vt:lpstr>
      </vt:variant>
      <vt:variant>
        <vt:i4>5</vt:i4>
      </vt:variant>
      <vt:variant>
        <vt:lpstr>Tema</vt:lpstr>
      </vt:variant>
      <vt:variant>
        <vt:i4>4</vt:i4>
      </vt:variant>
      <vt:variant>
        <vt:lpstr>Titoli diapositive</vt:lpstr>
      </vt:variant>
      <vt:variant>
        <vt:i4>68</vt:i4>
      </vt:variant>
    </vt:vector>
  </HeadingPairs>
  <TitlesOfParts>
    <vt:vector size="77" baseType="lpstr">
      <vt:lpstr>Arial</vt:lpstr>
      <vt:lpstr>Calibri</vt:lpstr>
      <vt:lpstr>Corbel</vt:lpstr>
      <vt:lpstr>Courier New</vt:lpstr>
      <vt:lpstr>Times New Roman</vt:lpstr>
      <vt:lpstr>AcademyTheme</vt:lpstr>
      <vt:lpstr>Personalizza struttura</vt:lpstr>
      <vt:lpstr>1_AcademyTheme</vt:lpstr>
      <vt:lpstr>Profondità</vt:lpstr>
      <vt:lpstr>Claudio De Sio Cesari   Il nuovo Java Stile di codifica, tipi di dati ed array (NJ– 004)   https://www.nuovojava.it</vt:lpstr>
      <vt:lpstr>Operatori e Gestione del flusso di esecuzione</vt:lpstr>
      <vt:lpstr>Operatori di base</vt:lpstr>
      <vt:lpstr>Operatori di assegnazione composti</vt:lpstr>
      <vt:lpstr>Operatori (unari) di pre e post-incremento (e decremento)</vt:lpstr>
      <vt:lpstr>Operatori relazionali o di confronto</vt:lpstr>
      <vt:lpstr>Operatori relazionali o di confronto</vt:lpstr>
      <vt:lpstr>Operatori relazionali e reference</vt:lpstr>
      <vt:lpstr>Operatori logico - booleani</vt:lpstr>
      <vt:lpstr>Operatori logico - booleani</vt:lpstr>
      <vt:lpstr>Concatenazione di stringhe con +</vt:lpstr>
      <vt:lpstr>Priorità degli operatori</vt:lpstr>
      <vt:lpstr>Costrutti di programmazione semplici</vt:lpstr>
      <vt:lpstr>Il costrutto condizionale if </vt:lpstr>
      <vt:lpstr>Il costrutto condizionale if </vt:lpstr>
      <vt:lpstr>Il costrutto condizionale if </vt:lpstr>
      <vt:lpstr>Il costrutto condizionale if </vt:lpstr>
      <vt:lpstr>Il costrutto condizionale if </vt:lpstr>
      <vt:lpstr>Il costrutto while </vt:lpstr>
      <vt:lpstr>Il costrutto while </vt:lpstr>
      <vt:lpstr>Costrutti di programmazione avanzati</vt:lpstr>
      <vt:lpstr>Il costrutto for</vt:lpstr>
      <vt:lpstr>Il costrutto for</vt:lpstr>
      <vt:lpstr>Il costrutto for</vt:lpstr>
      <vt:lpstr>for o while?</vt:lpstr>
      <vt:lpstr>Il costrutto do</vt:lpstr>
      <vt:lpstr>Il costrutto do</vt:lpstr>
      <vt:lpstr>Ciclo for migliorato (foreach)</vt:lpstr>
      <vt:lpstr>L’operatore ternario (o condizionale)</vt:lpstr>
      <vt:lpstr>La parola chiave break</vt:lpstr>
      <vt:lpstr>La parola chiave continue</vt:lpstr>
      <vt:lpstr>Etichette (label)</vt:lpstr>
      <vt:lpstr>Il nuovo switch</vt:lpstr>
      <vt:lpstr>Il nuovo switch</vt:lpstr>
      <vt:lpstr>Il nuovo switch</vt:lpstr>
      <vt:lpstr>switch tradizionale: sintassi</vt:lpstr>
      <vt:lpstr>switch tradizionale: Fall through</vt:lpstr>
      <vt:lpstr>switch : Fall through con enum</vt:lpstr>
      <vt:lpstr>switch : Fall through con stringa</vt:lpstr>
      <vt:lpstr>Il nuovo switch: notazione freccia</vt:lpstr>
      <vt:lpstr>Il nuovo switch: notazione freccia</vt:lpstr>
      <vt:lpstr>Il nuovo switch: notazione freccia ed enum</vt:lpstr>
      <vt:lpstr>Come usare il costrutto switch</vt:lpstr>
      <vt:lpstr>Espressione switch</vt:lpstr>
      <vt:lpstr>Espressione switch</vt:lpstr>
      <vt:lpstr>Freccia vs due punti</vt:lpstr>
      <vt:lpstr>Freccia vs due punti</vt:lpstr>
      <vt:lpstr>Freccia vs due punti</vt:lpstr>
      <vt:lpstr>Freccia vs due punti</vt:lpstr>
      <vt:lpstr>Poly expression (poli-espressione)</vt:lpstr>
      <vt:lpstr>Poly expression (primo caso)</vt:lpstr>
      <vt:lpstr>Poly expression (secondo caso)</vt:lpstr>
      <vt:lpstr>switch come parametro di un metodo</vt:lpstr>
      <vt:lpstr>Exhaustiveness (esaustività)</vt:lpstr>
      <vt:lpstr>Exhaustiveness (esaustività)</vt:lpstr>
      <vt:lpstr>Exhaustiveness (esaustività)</vt:lpstr>
      <vt:lpstr>Exhaustiveness (esaustività)</vt:lpstr>
      <vt:lpstr>Exhaustiveness (esaustività)</vt:lpstr>
      <vt:lpstr>Approccio alla programmazione</vt:lpstr>
      <vt:lpstr>Algoritmo</vt:lpstr>
      <vt:lpstr>Algoritmo</vt:lpstr>
      <vt:lpstr>Algoritmo</vt:lpstr>
      <vt:lpstr>Algoritmo: preparare una tazza di tè</vt:lpstr>
      <vt:lpstr>Algoritmo: preparare una tazza di tè</vt:lpstr>
      <vt:lpstr>Algoritmo</vt:lpstr>
      <vt:lpstr>Introduzione ad UML</vt:lpstr>
      <vt:lpstr>Introduzione ad UML (activity diagram)</vt:lpstr>
      <vt:lpstr>Sommario</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cdsc</dc:creator>
  <cp:lastModifiedBy>Claudio De Sio Cesari</cp:lastModifiedBy>
  <cp:revision>375</cp:revision>
  <dcterms:created xsi:type="dcterms:W3CDTF">2012-03-20T22:57:36Z</dcterms:created>
  <dcterms:modified xsi:type="dcterms:W3CDTF">2021-03-13T21:13:36Z</dcterms:modified>
</cp:coreProperties>
</file>