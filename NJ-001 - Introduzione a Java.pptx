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60" r:id="rId1"/>
    <p:sldMasterId id="2147483664" r:id="rId2"/>
    <p:sldMasterId id="2147483670" r:id="rId3"/>
    <p:sldMasterId id="2147483677" r:id="rId4"/>
  </p:sldMasterIdLst>
  <p:notesMasterIdLst>
    <p:notesMasterId r:id="rId32"/>
  </p:notesMasterIdLst>
  <p:sldIdLst>
    <p:sldId id="257" r:id="rId5"/>
    <p:sldId id="745" r:id="rId6"/>
    <p:sldId id="721" r:id="rId7"/>
    <p:sldId id="722" r:id="rId8"/>
    <p:sldId id="724" r:id="rId9"/>
    <p:sldId id="723" r:id="rId10"/>
    <p:sldId id="725" r:id="rId11"/>
    <p:sldId id="733" r:id="rId12"/>
    <p:sldId id="726" r:id="rId13"/>
    <p:sldId id="732" r:id="rId14"/>
    <p:sldId id="727" r:id="rId15"/>
    <p:sldId id="734" r:id="rId16"/>
    <p:sldId id="728" r:id="rId17"/>
    <p:sldId id="729" r:id="rId18"/>
    <p:sldId id="735" r:id="rId19"/>
    <p:sldId id="730" r:id="rId20"/>
    <p:sldId id="731" r:id="rId21"/>
    <p:sldId id="736" r:id="rId22"/>
    <p:sldId id="740" r:id="rId23"/>
    <p:sldId id="739" r:id="rId24"/>
    <p:sldId id="737" r:id="rId25"/>
    <p:sldId id="738" r:id="rId26"/>
    <p:sldId id="741" r:id="rId27"/>
    <p:sldId id="742" r:id="rId28"/>
    <p:sldId id="744" r:id="rId29"/>
    <p:sldId id="743" r:id="rId30"/>
    <p:sldId id="746" r:id="rId31"/>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senza titolo" id="{7EAEB438-8BB2-4472-9D6B-5E6DC54C0E6B}">
          <p14:sldIdLst>
            <p14:sldId id="257"/>
            <p14:sldId id="745"/>
            <p14:sldId id="721"/>
            <p14:sldId id="722"/>
            <p14:sldId id="724"/>
            <p14:sldId id="723"/>
            <p14:sldId id="725"/>
            <p14:sldId id="733"/>
            <p14:sldId id="726"/>
            <p14:sldId id="732"/>
            <p14:sldId id="727"/>
            <p14:sldId id="734"/>
            <p14:sldId id="728"/>
            <p14:sldId id="729"/>
            <p14:sldId id="735"/>
            <p14:sldId id="730"/>
            <p14:sldId id="731"/>
            <p14:sldId id="736"/>
            <p14:sldId id="740"/>
            <p14:sldId id="739"/>
            <p14:sldId id="737"/>
            <p14:sldId id="738"/>
            <p14:sldId id="741"/>
            <p14:sldId id="742"/>
            <p14:sldId id="744"/>
            <p14:sldId id="743"/>
            <p14:sldId id="74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laudio De Sio Cesari" initials="CDSC" lastIdx="1" clrIdx="0">
    <p:extLst>
      <p:ext uri="{19B8F6BF-5375-455C-9EA6-DF929625EA0E}">
        <p15:presenceInfo xmlns:p15="http://schemas.microsoft.com/office/powerpoint/2012/main" userId="a29b13f1a3f3547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9" autoAdjust="0"/>
    <p:restoredTop sz="78622" autoAdjust="0"/>
  </p:normalViewPr>
  <p:slideViewPr>
    <p:cSldViewPr>
      <p:cViewPr varScale="1">
        <p:scale>
          <a:sx n="90" d="100"/>
          <a:sy n="90" d="100"/>
        </p:scale>
        <p:origin x="1968" y="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10" cy="7201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o De Sio Cesari" userId="a29b13f1a3f35475" providerId="LiveId" clId="{B8A0E6DB-47E1-49E8-BB84-493E754B0657}"/>
    <pc:docChg chg="undo redo custSel addSld delSld modSld sldOrd modSection">
      <pc:chgData name="Claudio De Sio Cesari" userId="a29b13f1a3f35475" providerId="LiveId" clId="{B8A0E6DB-47E1-49E8-BB84-493E754B0657}" dt="2021-03-03T08:36:39.531" v="7441" actId="20577"/>
      <pc:docMkLst>
        <pc:docMk/>
      </pc:docMkLst>
      <pc:sldChg chg="addSp delSp modSp mod">
        <pc:chgData name="Claudio De Sio Cesari" userId="a29b13f1a3f35475" providerId="LiveId" clId="{B8A0E6DB-47E1-49E8-BB84-493E754B0657}" dt="2021-03-03T08:36:39.531" v="7441" actId="20577"/>
        <pc:sldMkLst>
          <pc:docMk/>
          <pc:sldMk cId="4088286481" sldId="257"/>
        </pc:sldMkLst>
        <pc:spChg chg="mod">
          <ac:chgData name="Claudio De Sio Cesari" userId="a29b13f1a3f35475" providerId="LiveId" clId="{B8A0E6DB-47E1-49E8-BB84-493E754B0657}" dt="2021-03-03T08:36:39.531" v="7441" actId="20577"/>
          <ac:spMkLst>
            <pc:docMk/>
            <pc:sldMk cId="4088286481" sldId="257"/>
            <ac:spMk id="2" creationId="{00000000-0000-0000-0000-000000000000}"/>
          </ac:spMkLst>
        </pc:spChg>
        <pc:spChg chg="add del">
          <ac:chgData name="Claudio De Sio Cesari" userId="a29b13f1a3f35475" providerId="LiveId" clId="{B8A0E6DB-47E1-49E8-BB84-493E754B0657}" dt="2021-03-01T11:05:44.131" v="3486" actId="22"/>
          <ac:spMkLst>
            <pc:docMk/>
            <pc:sldMk cId="4088286481" sldId="257"/>
            <ac:spMk id="6" creationId="{A443CBF6-5CFA-46EE-B871-C78FD1F1ED25}"/>
          </ac:spMkLst>
        </pc:spChg>
      </pc:sldChg>
      <pc:sldChg chg="modSp mod">
        <pc:chgData name="Claudio De Sio Cesari" userId="a29b13f1a3f35475" providerId="LiveId" clId="{B8A0E6DB-47E1-49E8-BB84-493E754B0657}" dt="2021-03-01T12:41:51.852" v="6664" actId="20577"/>
        <pc:sldMkLst>
          <pc:docMk/>
          <pc:sldMk cId="2065225370" sldId="262"/>
        </pc:sldMkLst>
        <pc:spChg chg="mod">
          <ac:chgData name="Claudio De Sio Cesari" userId="a29b13f1a3f35475" providerId="LiveId" clId="{B8A0E6DB-47E1-49E8-BB84-493E754B0657}" dt="2021-03-01T12:33:33.876" v="6076" actId="20577"/>
          <ac:spMkLst>
            <pc:docMk/>
            <pc:sldMk cId="2065225370" sldId="262"/>
            <ac:spMk id="2" creationId="{00000000-0000-0000-0000-000000000000}"/>
          </ac:spMkLst>
        </pc:spChg>
        <pc:spChg chg="mod">
          <ac:chgData name="Claudio De Sio Cesari" userId="a29b13f1a3f35475" providerId="LiveId" clId="{B8A0E6DB-47E1-49E8-BB84-493E754B0657}" dt="2021-03-01T12:41:51.852" v="6664" actId="20577"/>
          <ac:spMkLst>
            <pc:docMk/>
            <pc:sldMk cId="2065225370" sldId="262"/>
            <ac:spMk id="3" creationId="{00000000-0000-0000-0000-000000000000}"/>
          </ac:spMkLst>
        </pc:spChg>
      </pc:sldChg>
      <pc:sldChg chg="addSp delSp modSp mod">
        <pc:chgData name="Claudio De Sio Cesari" userId="a29b13f1a3f35475" providerId="LiveId" clId="{B8A0E6DB-47E1-49E8-BB84-493E754B0657}" dt="2021-03-01T12:39:08.331" v="6542" actId="20577"/>
        <pc:sldMkLst>
          <pc:docMk/>
          <pc:sldMk cId="1533082551" sldId="718"/>
        </pc:sldMkLst>
        <pc:spChg chg="mod">
          <ac:chgData name="Claudio De Sio Cesari" userId="a29b13f1a3f35475" providerId="LiveId" clId="{B8A0E6DB-47E1-49E8-BB84-493E754B0657}" dt="2021-03-01T12:16:49.003" v="4758" actId="20577"/>
          <ac:spMkLst>
            <pc:docMk/>
            <pc:sldMk cId="1533082551" sldId="718"/>
            <ac:spMk id="2" creationId="{00000000-0000-0000-0000-000000000000}"/>
          </ac:spMkLst>
        </pc:spChg>
        <pc:spChg chg="del mod">
          <ac:chgData name="Claudio De Sio Cesari" userId="a29b13f1a3f35475" providerId="LiveId" clId="{B8A0E6DB-47E1-49E8-BB84-493E754B0657}" dt="2021-03-01T12:20:10.606" v="5041" actId="478"/>
          <ac:spMkLst>
            <pc:docMk/>
            <pc:sldMk cId="1533082551" sldId="718"/>
            <ac:spMk id="3" creationId="{00000000-0000-0000-0000-000000000000}"/>
          </ac:spMkLst>
        </pc:spChg>
        <pc:spChg chg="add del mod">
          <ac:chgData name="Claudio De Sio Cesari" userId="a29b13f1a3f35475" providerId="LiveId" clId="{B8A0E6DB-47E1-49E8-BB84-493E754B0657}" dt="2021-03-01T12:20:19.841" v="5046" actId="478"/>
          <ac:spMkLst>
            <pc:docMk/>
            <pc:sldMk cId="1533082551" sldId="718"/>
            <ac:spMk id="5" creationId="{8D55919B-7C59-4B88-AA67-68AEF4AC52BE}"/>
          </ac:spMkLst>
        </pc:spChg>
        <pc:spChg chg="add del mod">
          <ac:chgData name="Claudio De Sio Cesari" userId="a29b13f1a3f35475" providerId="LiveId" clId="{B8A0E6DB-47E1-49E8-BB84-493E754B0657}" dt="2021-03-01T12:20:13.724" v="5043"/>
          <ac:spMkLst>
            <pc:docMk/>
            <pc:sldMk cId="1533082551" sldId="718"/>
            <ac:spMk id="9" creationId="{FFF21F12-81E7-47C3-9EF5-04CA59F17B9B}"/>
          </ac:spMkLst>
        </pc:spChg>
        <pc:spChg chg="add del mod">
          <ac:chgData name="Claudio De Sio Cesari" userId="a29b13f1a3f35475" providerId="LiveId" clId="{B8A0E6DB-47E1-49E8-BB84-493E754B0657}" dt="2021-03-01T12:20:17.244" v="5045"/>
          <ac:spMkLst>
            <pc:docMk/>
            <pc:sldMk cId="1533082551" sldId="718"/>
            <ac:spMk id="10" creationId="{FBBE4631-CED7-4F13-9689-85BF726A2289}"/>
          </ac:spMkLst>
        </pc:spChg>
        <pc:spChg chg="add mod">
          <ac:chgData name="Claudio De Sio Cesari" userId="a29b13f1a3f35475" providerId="LiveId" clId="{B8A0E6DB-47E1-49E8-BB84-493E754B0657}" dt="2021-03-01T12:39:08.331" v="6542" actId="20577"/>
          <ac:spMkLst>
            <pc:docMk/>
            <pc:sldMk cId="1533082551" sldId="718"/>
            <ac:spMk id="11" creationId="{37DE5840-5767-4468-8D7A-9CC0D4527031}"/>
          </ac:spMkLst>
        </pc:spChg>
      </pc:sldChg>
      <pc:sldChg chg="modSp mod">
        <pc:chgData name="Claudio De Sio Cesari" userId="a29b13f1a3f35475" providerId="LiveId" clId="{B8A0E6DB-47E1-49E8-BB84-493E754B0657}" dt="2021-03-02T09:10:44.366" v="6765" actId="20577"/>
        <pc:sldMkLst>
          <pc:docMk/>
          <pc:sldMk cId="1384448537" sldId="719"/>
        </pc:sldMkLst>
        <pc:spChg chg="mod">
          <ac:chgData name="Claudio De Sio Cesari" userId="a29b13f1a3f35475" providerId="LiveId" clId="{B8A0E6DB-47E1-49E8-BB84-493E754B0657}" dt="2021-03-01T12:28:13.312" v="5790" actId="14100"/>
          <ac:spMkLst>
            <pc:docMk/>
            <pc:sldMk cId="1384448537" sldId="719"/>
            <ac:spMk id="2" creationId="{00000000-0000-0000-0000-000000000000}"/>
          </ac:spMkLst>
        </pc:spChg>
        <pc:spChg chg="mod">
          <ac:chgData name="Claudio De Sio Cesari" userId="a29b13f1a3f35475" providerId="LiveId" clId="{B8A0E6DB-47E1-49E8-BB84-493E754B0657}" dt="2021-03-02T09:10:44.366" v="6765" actId="20577"/>
          <ac:spMkLst>
            <pc:docMk/>
            <pc:sldMk cId="1384448537" sldId="719"/>
            <ac:spMk id="3" creationId="{00000000-0000-0000-0000-000000000000}"/>
          </ac:spMkLst>
        </pc:spChg>
      </pc:sldChg>
      <pc:sldChg chg="addSp delSp modSp mod modNotesTx">
        <pc:chgData name="Claudio De Sio Cesari" userId="a29b13f1a3f35475" providerId="LiveId" clId="{B8A0E6DB-47E1-49E8-BB84-493E754B0657}" dt="2021-03-01T09:41:10.894" v="705" actId="255"/>
        <pc:sldMkLst>
          <pc:docMk/>
          <pc:sldMk cId="3914847327" sldId="720"/>
        </pc:sldMkLst>
        <pc:spChg chg="mod">
          <ac:chgData name="Claudio De Sio Cesari" userId="a29b13f1a3f35475" providerId="LiveId" clId="{B8A0E6DB-47E1-49E8-BB84-493E754B0657}" dt="2021-03-01T09:37:10.128" v="486"/>
          <ac:spMkLst>
            <pc:docMk/>
            <pc:sldMk cId="3914847327" sldId="720"/>
            <ac:spMk id="2" creationId="{4F976724-0419-453A-AB45-889B3773DB64}"/>
          </ac:spMkLst>
        </pc:spChg>
        <pc:spChg chg="mod">
          <ac:chgData name="Claudio De Sio Cesari" userId="a29b13f1a3f35475" providerId="LiveId" clId="{B8A0E6DB-47E1-49E8-BB84-493E754B0657}" dt="2021-03-01T09:41:10.894" v="705" actId="255"/>
          <ac:spMkLst>
            <pc:docMk/>
            <pc:sldMk cId="3914847327" sldId="720"/>
            <ac:spMk id="3" creationId="{2F9035A2-CFEB-4003-B637-44AE887E334F}"/>
          </ac:spMkLst>
        </pc:spChg>
        <pc:picChg chg="add del">
          <ac:chgData name="Claudio De Sio Cesari" userId="a29b13f1a3f35475" providerId="LiveId" clId="{B8A0E6DB-47E1-49E8-BB84-493E754B0657}" dt="2021-03-01T09:19:41.658" v="277" actId="22"/>
          <ac:picMkLst>
            <pc:docMk/>
            <pc:sldMk cId="3914847327" sldId="720"/>
            <ac:picMk id="7" creationId="{A200615B-DB2A-4C12-B5DB-A680689F03AA}"/>
          </ac:picMkLst>
        </pc:picChg>
      </pc:sldChg>
      <pc:sldChg chg="modSp mod modNotesTx">
        <pc:chgData name="Claudio De Sio Cesari" userId="a29b13f1a3f35475" providerId="LiveId" clId="{B8A0E6DB-47E1-49E8-BB84-493E754B0657}" dt="2021-03-01T09:45:10.967" v="926" actId="20577"/>
        <pc:sldMkLst>
          <pc:docMk/>
          <pc:sldMk cId="805334480" sldId="721"/>
        </pc:sldMkLst>
        <pc:spChg chg="mod">
          <ac:chgData name="Claudio De Sio Cesari" userId="a29b13f1a3f35475" providerId="LiveId" clId="{B8A0E6DB-47E1-49E8-BB84-493E754B0657}" dt="2021-03-01T09:37:18.177" v="494" actId="20577"/>
          <ac:spMkLst>
            <pc:docMk/>
            <pc:sldMk cId="805334480" sldId="721"/>
            <ac:spMk id="2" creationId="{4F976724-0419-453A-AB45-889B3773DB64}"/>
          </ac:spMkLst>
        </pc:spChg>
        <pc:spChg chg="mod">
          <ac:chgData name="Claudio De Sio Cesari" userId="a29b13f1a3f35475" providerId="LiveId" clId="{B8A0E6DB-47E1-49E8-BB84-493E754B0657}" dt="2021-03-01T09:45:10.967" v="926" actId="20577"/>
          <ac:spMkLst>
            <pc:docMk/>
            <pc:sldMk cId="805334480" sldId="721"/>
            <ac:spMk id="3" creationId="{2F9035A2-CFEB-4003-B637-44AE887E334F}"/>
          </ac:spMkLst>
        </pc:spChg>
      </pc:sldChg>
      <pc:sldChg chg="modSp mod modNotesTx">
        <pc:chgData name="Claudio De Sio Cesari" userId="a29b13f1a3f35475" providerId="LiveId" clId="{B8A0E6DB-47E1-49E8-BB84-493E754B0657}" dt="2021-03-01T09:48:33.639" v="1148"/>
        <pc:sldMkLst>
          <pc:docMk/>
          <pc:sldMk cId="2845546892" sldId="722"/>
        </pc:sldMkLst>
        <pc:spChg chg="mod">
          <ac:chgData name="Claudio De Sio Cesari" userId="a29b13f1a3f35475" providerId="LiveId" clId="{B8A0E6DB-47E1-49E8-BB84-493E754B0657}" dt="2021-03-01T09:46:21.418" v="1000" actId="20577"/>
          <ac:spMkLst>
            <pc:docMk/>
            <pc:sldMk cId="2845546892" sldId="722"/>
            <ac:spMk id="2" creationId="{4F976724-0419-453A-AB45-889B3773DB64}"/>
          </ac:spMkLst>
        </pc:spChg>
        <pc:spChg chg="mod">
          <ac:chgData name="Claudio De Sio Cesari" userId="a29b13f1a3f35475" providerId="LiveId" clId="{B8A0E6DB-47E1-49E8-BB84-493E754B0657}" dt="2021-03-01T09:48:19.589" v="1147" actId="255"/>
          <ac:spMkLst>
            <pc:docMk/>
            <pc:sldMk cId="2845546892" sldId="722"/>
            <ac:spMk id="3" creationId="{2F9035A2-CFEB-4003-B637-44AE887E334F}"/>
          </ac:spMkLst>
        </pc:spChg>
      </pc:sldChg>
      <pc:sldChg chg="modSp mod modNotesTx">
        <pc:chgData name="Claudio De Sio Cesari" userId="a29b13f1a3f35475" providerId="LiveId" clId="{B8A0E6DB-47E1-49E8-BB84-493E754B0657}" dt="2021-03-01T09:54:32.274" v="1397" actId="20577"/>
        <pc:sldMkLst>
          <pc:docMk/>
          <pc:sldMk cId="4274646010" sldId="723"/>
        </pc:sldMkLst>
        <pc:spChg chg="mod">
          <ac:chgData name="Claudio De Sio Cesari" userId="a29b13f1a3f35475" providerId="LiveId" clId="{B8A0E6DB-47E1-49E8-BB84-493E754B0657}" dt="2021-03-01T09:51:34.561" v="1290" actId="20577"/>
          <ac:spMkLst>
            <pc:docMk/>
            <pc:sldMk cId="4274646010" sldId="723"/>
            <ac:spMk id="2" creationId="{4F976724-0419-453A-AB45-889B3773DB64}"/>
          </ac:spMkLst>
        </pc:spChg>
        <pc:spChg chg="mod">
          <ac:chgData name="Claudio De Sio Cesari" userId="a29b13f1a3f35475" providerId="LiveId" clId="{B8A0E6DB-47E1-49E8-BB84-493E754B0657}" dt="2021-03-01T09:54:32.274" v="1397" actId="20577"/>
          <ac:spMkLst>
            <pc:docMk/>
            <pc:sldMk cId="4274646010" sldId="723"/>
            <ac:spMk id="3" creationId="{2F9035A2-CFEB-4003-B637-44AE887E334F}"/>
          </ac:spMkLst>
        </pc:spChg>
      </pc:sldChg>
      <pc:sldChg chg="modSp mod modNotesTx">
        <pc:chgData name="Claudio De Sio Cesari" userId="a29b13f1a3f35475" providerId="LiveId" clId="{B8A0E6DB-47E1-49E8-BB84-493E754B0657}" dt="2021-03-01T09:51:01.149" v="1262" actId="20577"/>
        <pc:sldMkLst>
          <pc:docMk/>
          <pc:sldMk cId="3304286371" sldId="724"/>
        </pc:sldMkLst>
        <pc:spChg chg="mod">
          <ac:chgData name="Claudio De Sio Cesari" userId="a29b13f1a3f35475" providerId="LiveId" clId="{B8A0E6DB-47E1-49E8-BB84-493E754B0657}" dt="2021-03-01T09:49:17.216" v="1156" actId="20577"/>
          <ac:spMkLst>
            <pc:docMk/>
            <pc:sldMk cId="3304286371" sldId="724"/>
            <ac:spMk id="2" creationId="{4F976724-0419-453A-AB45-889B3773DB64}"/>
          </ac:spMkLst>
        </pc:spChg>
        <pc:spChg chg="mod">
          <ac:chgData name="Claudio De Sio Cesari" userId="a29b13f1a3f35475" providerId="LiveId" clId="{B8A0E6DB-47E1-49E8-BB84-493E754B0657}" dt="2021-03-01T09:51:01.149" v="1262" actId="20577"/>
          <ac:spMkLst>
            <pc:docMk/>
            <pc:sldMk cId="3304286371" sldId="724"/>
            <ac:spMk id="3" creationId="{2F9035A2-CFEB-4003-B637-44AE887E334F}"/>
          </ac:spMkLst>
        </pc:spChg>
      </pc:sldChg>
      <pc:sldChg chg="modSp mod modNotesTx">
        <pc:chgData name="Claudio De Sio Cesari" userId="a29b13f1a3f35475" providerId="LiveId" clId="{B8A0E6DB-47E1-49E8-BB84-493E754B0657}" dt="2021-03-01T10:07:32.455" v="1744" actId="27636"/>
        <pc:sldMkLst>
          <pc:docMk/>
          <pc:sldMk cId="2404731878" sldId="725"/>
        </pc:sldMkLst>
        <pc:spChg chg="mod">
          <ac:chgData name="Claudio De Sio Cesari" userId="a29b13f1a3f35475" providerId="LiveId" clId="{B8A0E6DB-47E1-49E8-BB84-493E754B0657}" dt="2021-03-01T09:54:52.221" v="1418" actId="20577"/>
          <ac:spMkLst>
            <pc:docMk/>
            <pc:sldMk cId="2404731878" sldId="725"/>
            <ac:spMk id="2" creationId="{4F976724-0419-453A-AB45-889B3773DB64}"/>
          </ac:spMkLst>
        </pc:spChg>
        <pc:spChg chg="mod">
          <ac:chgData name="Claudio De Sio Cesari" userId="a29b13f1a3f35475" providerId="LiveId" clId="{B8A0E6DB-47E1-49E8-BB84-493E754B0657}" dt="2021-03-01T10:07:32.455" v="1744" actId="27636"/>
          <ac:spMkLst>
            <pc:docMk/>
            <pc:sldMk cId="2404731878" sldId="725"/>
            <ac:spMk id="3" creationId="{2F9035A2-CFEB-4003-B637-44AE887E334F}"/>
          </ac:spMkLst>
        </pc:spChg>
      </pc:sldChg>
      <pc:sldChg chg="addSp delSp modSp mod modNotesTx">
        <pc:chgData name="Claudio De Sio Cesari" userId="a29b13f1a3f35475" providerId="LiveId" clId="{B8A0E6DB-47E1-49E8-BB84-493E754B0657}" dt="2021-03-01T10:16:50.044" v="2123" actId="20577"/>
        <pc:sldMkLst>
          <pc:docMk/>
          <pc:sldMk cId="761887705" sldId="726"/>
        </pc:sldMkLst>
        <pc:spChg chg="mod">
          <ac:chgData name="Claudio De Sio Cesari" userId="a29b13f1a3f35475" providerId="LiveId" clId="{B8A0E6DB-47E1-49E8-BB84-493E754B0657}" dt="2021-03-01T10:05:02.291" v="1731" actId="20577"/>
          <ac:spMkLst>
            <pc:docMk/>
            <pc:sldMk cId="761887705" sldId="726"/>
            <ac:spMk id="2" creationId="{4F976724-0419-453A-AB45-889B3773DB64}"/>
          </ac:spMkLst>
        </pc:spChg>
        <pc:spChg chg="del">
          <ac:chgData name="Claudio De Sio Cesari" userId="a29b13f1a3f35475" providerId="LiveId" clId="{B8A0E6DB-47E1-49E8-BB84-493E754B0657}" dt="2021-03-01T10:06:43.648" v="1734" actId="478"/>
          <ac:spMkLst>
            <pc:docMk/>
            <pc:sldMk cId="761887705" sldId="726"/>
            <ac:spMk id="3" creationId="{2F9035A2-CFEB-4003-B637-44AE887E334F}"/>
          </ac:spMkLst>
        </pc:spChg>
        <pc:spChg chg="add del mod">
          <ac:chgData name="Claudio De Sio Cesari" userId="a29b13f1a3f35475" providerId="LiveId" clId="{B8A0E6DB-47E1-49E8-BB84-493E754B0657}" dt="2021-03-01T10:16:50.044" v="2123" actId="20577"/>
          <ac:spMkLst>
            <pc:docMk/>
            <pc:sldMk cId="761887705" sldId="726"/>
            <ac:spMk id="10" creationId="{A3EF61EC-9655-49FA-9810-2704A9418A1C}"/>
          </ac:spMkLst>
        </pc:spChg>
        <pc:picChg chg="del mod">
          <ac:chgData name="Claudio De Sio Cesari" userId="a29b13f1a3f35475" providerId="LiveId" clId="{B8A0E6DB-47E1-49E8-BB84-493E754B0657}" dt="2021-03-01T10:03:46.601" v="1614" actId="478"/>
          <ac:picMkLst>
            <pc:docMk/>
            <pc:sldMk cId="761887705" sldId="726"/>
            <ac:picMk id="7" creationId="{BE303F7C-8A1F-4E2B-85BE-EF2CFE9EE073}"/>
          </ac:picMkLst>
        </pc:picChg>
        <pc:picChg chg="add del mod">
          <ac:chgData name="Claudio De Sio Cesari" userId="a29b13f1a3f35475" providerId="LiveId" clId="{B8A0E6DB-47E1-49E8-BB84-493E754B0657}" dt="2021-03-01T10:07:11.536" v="1742" actId="478"/>
          <ac:picMkLst>
            <pc:docMk/>
            <pc:sldMk cId="761887705" sldId="726"/>
            <ac:picMk id="8" creationId="{89A25D71-B827-4A8C-9077-5F399DB86051}"/>
          </ac:picMkLst>
        </pc:picChg>
      </pc:sldChg>
      <pc:sldChg chg="addSp delSp modSp mod modNotesTx">
        <pc:chgData name="Claudio De Sio Cesari" userId="a29b13f1a3f35475" providerId="LiveId" clId="{B8A0E6DB-47E1-49E8-BB84-493E754B0657}" dt="2021-03-01T10:19:24.086" v="2290" actId="255"/>
        <pc:sldMkLst>
          <pc:docMk/>
          <pc:sldMk cId="2594785291" sldId="727"/>
        </pc:sldMkLst>
        <pc:spChg chg="mod">
          <ac:chgData name="Claudio De Sio Cesari" userId="a29b13f1a3f35475" providerId="LiveId" clId="{B8A0E6DB-47E1-49E8-BB84-493E754B0657}" dt="2021-03-01T10:15:30.032" v="2092" actId="20577"/>
          <ac:spMkLst>
            <pc:docMk/>
            <pc:sldMk cId="2594785291" sldId="727"/>
            <ac:spMk id="2" creationId="{4F976724-0419-453A-AB45-889B3773DB64}"/>
          </ac:spMkLst>
        </pc:spChg>
        <pc:spChg chg="mod">
          <ac:chgData name="Claudio De Sio Cesari" userId="a29b13f1a3f35475" providerId="LiveId" clId="{B8A0E6DB-47E1-49E8-BB84-493E754B0657}" dt="2021-03-01T10:19:24.086" v="2290" actId="255"/>
          <ac:spMkLst>
            <pc:docMk/>
            <pc:sldMk cId="2594785291" sldId="727"/>
            <ac:spMk id="3" creationId="{2F9035A2-CFEB-4003-B637-44AE887E334F}"/>
          </ac:spMkLst>
        </pc:spChg>
        <pc:picChg chg="add del mod">
          <ac:chgData name="Claudio De Sio Cesari" userId="a29b13f1a3f35475" providerId="LiveId" clId="{B8A0E6DB-47E1-49E8-BB84-493E754B0657}" dt="2021-03-01T10:18:39.497" v="2219" actId="478"/>
          <ac:picMkLst>
            <pc:docMk/>
            <pc:sldMk cId="2594785291" sldId="727"/>
            <ac:picMk id="7" creationId="{10F19139-ED68-4790-9FAC-86822BF12C96}"/>
          </ac:picMkLst>
        </pc:picChg>
      </pc:sldChg>
      <pc:sldChg chg="modSp mod">
        <pc:chgData name="Claudio De Sio Cesari" userId="a29b13f1a3f35475" providerId="LiveId" clId="{B8A0E6DB-47E1-49E8-BB84-493E754B0657}" dt="2021-03-01T10:22:00.304" v="2360" actId="20577"/>
        <pc:sldMkLst>
          <pc:docMk/>
          <pc:sldMk cId="2654019919" sldId="728"/>
        </pc:sldMkLst>
        <pc:spChg chg="mod">
          <ac:chgData name="Claudio De Sio Cesari" userId="a29b13f1a3f35475" providerId="LiveId" clId="{B8A0E6DB-47E1-49E8-BB84-493E754B0657}" dt="2021-03-01T10:20:27.481" v="2309" actId="20577"/>
          <ac:spMkLst>
            <pc:docMk/>
            <pc:sldMk cId="2654019919" sldId="728"/>
            <ac:spMk id="2" creationId="{4F976724-0419-453A-AB45-889B3773DB64}"/>
          </ac:spMkLst>
        </pc:spChg>
        <pc:spChg chg="mod">
          <ac:chgData name="Claudio De Sio Cesari" userId="a29b13f1a3f35475" providerId="LiveId" clId="{B8A0E6DB-47E1-49E8-BB84-493E754B0657}" dt="2021-03-01T10:22:00.304" v="2360" actId="20577"/>
          <ac:spMkLst>
            <pc:docMk/>
            <pc:sldMk cId="2654019919" sldId="728"/>
            <ac:spMk id="3" creationId="{2F9035A2-CFEB-4003-B637-44AE887E334F}"/>
          </ac:spMkLst>
        </pc:spChg>
      </pc:sldChg>
      <pc:sldChg chg="modSp mod modNotesTx">
        <pc:chgData name="Claudio De Sio Cesari" userId="a29b13f1a3f35475" providerId="LiveId" clId="{B8A0E6DB-47E1-49E8-BB84-493E754B0657}" dt="2021-03-01T10:27:12.791" v="2637" actId="6549"/>
        <pc:sldMkLst>
          <pc:docMk/>
          <pc:sldMk cId="934814956" sldId="729"/>
        </pc:sldMkLst>
        <pc:spChg chg="mod">
          <ac:chgData name="Claudio De Sio Cesari" userId="a29b13f1a3f35475" providerId="LiveId" clId="{B8A0E6DB-47E1-49E8-BB84-493E754B0657}" dt="2021-03-01T10:22:26.347" v="2383" actId="20577"/>
          <ac:spMkLst>
            <pc:docMk/>
            <pc:sldMk cId="934814956" sldId="729"/>
            <ac:spMk id="2" creationId="{4F976724-0419-453A-AB45-889B3773DB64}"/>
          </ac:spMkLst>
        </pc:spChg>
        <pc:spChg chg="mod">
          <ac:chgData name="Claudio De Sio Cesari" userId="a29b13f1a3f35475" providerId="LiveId" clId="{B8A0E6DB-47E1-49E8-BB84-493E754B0657}" dt="2021-03-01T10:24:33.383" v="2575" actId="27636"/>
          <ac:spMkLst>
            <pc:docMk/>
            <pc:sldMk cId="934814956" sldId="729"/>
            <ac:spMk id="3" creationId="{2F9035A2-CFEB-4003-B637-44AE887E334F}"/>
          </ac:spMkLst>
        </pc:spChg>
      </pc:sldChg>
      <pc:sldChg chg="modSp mod modNotesTx">
        <pc:chgData name="Claudio De Sio Cesari" userId="a29b13f1a3f35475" providerId="LiveId" clId="{B8A0E6DB-47E1-49E8-BB84-493E754B0657}" dt="2021-03-01T10:30:59.494" v="2865" actId="20577"/>
        <pc:sldMkLst>
          <pc:docMk/>
          <pc:sldMk cId="3806857239" sldId="730"/>
        </pc:sldMkLst>
        <pc:spChg chg="mod">
          <ac:chgData name="Claudio De Sio Cesari" userId="a29b13f1a3f35475" providerId="LiveId" clId="{B8A0E6DB-47E1-49E8-BB84-493E754B0657}" dt="2021-03-01T10:28:18.376" v="2695" actId="20577"/>
          <ac:spMkLst>
            <pc:docMk/>
            <pc:sldMk cId="3806857239" sldId="730"/>
            <ac:spMk id="2" creationId="{4F976724-0419-453A-AB45-889B3773DB64}"/>
          </ac:spMkLst>
        </pc:spChg>
        <pc:spChg chg="mod">
          <ac:chgData name="Claudio De Sio Cesari" userId="a29b13f1a3f35475" providerId="LiveId" clId="{B8A0E6DB-47E1-49E8-BB84-493E754B0657}" dt="2021-03-01T10:30:59.494" v="2865" actId="20577"/>
          <ac:spMkLst>
            <pc:docMk/>
            <pc:sldMk cId="3806857239" sldId="730"/>
            <ac:spMk id="3" creationId="{2F9035A2-CFEB-4003-B637-44AE887E334F}"/>
          </ac:spMkLst>
        </pc:spChg>
      </pc:sldChg>
      <pc:sldChg chg="delSp modSp mod modNotesTx">
        <pc:chgData name="Claudio De Sio Cesari" userId="a29b13f1a3f35475" providerId="LiveId" clId="{B8A0E6DB-47E1-49E8-BB84-493E754B0657}" dt="2021-03-01T10:40:08.667" v="2904" actId="6549"/>
        <pc:sldMkLst>
          <pc:docMk/>
          <pc:sldMk cId="825804106" sldId="731"/>
        </pc:sldMkLst>
        <pc:spChg chg="mod">
          <ac:chgData name="Claudio De Sio Cesari" userId="a29b13f1a3f35475" providerId="LiveId" clId="{B8A0E6DB-47E1-49E8-BB84-493E754B0657}" dt="2021-03-01T10:38:34.801" v="2886" actId="20577"/>
          <ac:spMkLst>
            <pc:docMk/>
            <pc:sldMk cId="825804106" sldId="731"/>
            <ac:spMk id="2" creationId="{4F976724-0419-453A-AB45-889B3773DB64}"/>
          </ac:spMkLst>
        </pc:spChg>
        <pc:spChg chg="mod">
          <ac:chgData name="Claudio De Sio Cesari" userId="a29b13f1a3f35475" providerId="LiveId" clId="{B8A0E6DB-47E1-49E8-BB84-493E754B0657}" dt="2021-03-01T10:40:03.276" v="2903" actId="114"/>
          <ac:spMkLst>
            <pc:docMk/>
            <pc:sldMk cId="825804106" sldId="731"/>
            <ac:spMk id="3" creationId="{2F9035A2-CFEB-4003-B637-44AE887E334F}"/>
          </ac:spMkLst>
        </pc:spChg>
        <pc:picChg chg="del">
          <ac:chgData name="Claudio De Sio Cesari" userId="a29b13f1a3f35475" providerId="LiveId" clId="{B8A0E6DB-47E1-49E8-BB84-493E754B0657}" dt="2021-03-01T10:38:37.318" v="2887" actId="478"/>
          <ac:picMkLst>
            <pc:docMk/>
            <pc:sldMk cId="825804106" sldId="731"/>
            <ac:picMk id="9" creationId="{03815038-66C6-47C4-9EC5-8366E19E710A}"/>
          </ac:picMkLst>
        </pc:picChg>
      </pc:sldChg>
      <pc:sldChg chg="addSp delSp modSp add mod">
        <pc:chgData name="Claudio De Sio Cesari" userId="a29b13f1a3f35475" providerId="LiveId" clId="{B8A0E6DB-47E1-49E8-BB84-493E754B0657}" dt="2021-03-01T10:14:57.473" v="2067" actId="20577"/>
        <pc:sldMkLst>
          <pc:docMk/>
          <pc:sldMk cId="1125790553" sldId="732"/>
        </pc:sldMkLst>
        <pc:spChg chg="mod">
          <ac:chgData name="Claudio De Sio Cesari" userId="a29b13f1a3f35475" providerId="LiveId" clId="{B8A0E6DB-47E1-49E8-BB84-493E754B0657}" dt="2021-03-01T10:14:57.473" v="2067" actId="20577"/>
          <ac:spMkLst>
            <pc:docMk/>
            <pc:sldMk cId="1125790553" sldId="732"/>
            <ac:spMk id="2" creationId="{4F976724-0419-453A-AB45-889B3773DB64}"/>
          </ac:spMkLst>
        </pc:spChg>
        <pc:spChg chg="del">
          <ac:chgData name="Claudio De Sio Cesari" userId="a29b13f1a3f35475" providerId="LiveId" clId="{B8A0E6DB-47E1-49E8-BB84-493E754B0657}" dt="2021-03-01T10:14:11.005" v="2023" actId="478"/>
          <ac:spMkLst>
            <pc:docMk/>
            <pc:sldMk cId="1125790553" sldId="732"/>
            <ac:spMk id="10" creationId="{A3EF61EC-9655-49FA-9810-2704A9418A1C}"/>
          </ac:spMkLst>
        </pc:spChg>
        <pc:picChg chg="add del mod">
          <ac:chgData name="Claudio De Sio Cesari" userId="a29b13f1a3f35475" providerId="LiveId" clId="{B8A0E6DB-47E1-49E8-BB84-493E754B0657}" dt="2021-03-01T10:14:31.675" v="2056" actId="1036"/>
          <ac:picMkLst>
            <pc:docMk/>
            <pc:sldMk cId="1125790553" sldId="732"/>
            <ac:picMk id="8" creationId="{89A25D71-B827-4A8C-9077-5F399DB86051}"/>
          </ac:picMkLst>
        </pc:picChg>
      </pc:sldChg>
      <pc:sldChg chg="add del">
        <pc:chgData name="Claudio De Sio Cesari" userId="a29b13f1a3f35475" providerId="LiveId" clId="{B8A0E6DB-47E1-49E8-BB84-493E754B0657}" dt="2021-03-01T10:06:57.097" v="1737" actId="2890"/>
        <pc:sldMkLst>
          <pc:docMk/>
          <pc:sldMk cId="2154583084" sldId="732"/>
        </pc:sldMkLst>
      </pc:sldChg>
      <pc:sldChg chg="modSp new mod">
        <pc:chgData name="Claudio De Sio Cesari" userId="a29b13f1a3f35475" providerId="LiveId" clId="{B8A0E6DB-47E1-49E8-BB84-493E754B0657}" dt="2021-03-01T10:08:47.442" v="1823" actId="20577"/>
        <pc:sldMkLst>
          <pc:docMk/>
          <pc:sldMk cId="1256682743" sldId="733"/>
        </pc:sldMkLst>
        <pc:spChg chg="mod">
          <ac:chgData name="Claudio De Sio Cesari" userId="a29b13f1a3f35475" providerId="LiveId" clId="{B8A0E6DB-47E1-49E8-BB84-493E754B0657}" dt="2021-03-01T10:08:02.356" v="1776" actId="20577"/>
          <ac:spMkLst>
            <pc:docMk/>
            <pc:sldMk cId="1256682743" sldId="733"/>
            <ac:spMk id="2" creationId="{D62D6D6B-4C15-49B1-B550-586B9664DB81}"/>
          </ac:spMkLst>
        </pc:spChg>
        <pc:spChg chg="mod">
          <ac:chgData name="Claudio De Sio Cesari" userId="a29b13f1a3f35475" providerId="LiveId" clId="{B8A0E6DB-47E1-49E8-BB84-493E754B0657}" dt="2021-03-01T10:08:47.442" v="1823" actId="20577"/>
          <ac:spMkLst>
            <pc:docMk/>
            <pc:sldMk cId="1256682743" sldId="733"/>
            <ac:spMk id="3" creationId="{1B0AF8AC-F454-45E3-9B39-7A4B04435911}"/>
          </ac:spMkLst>
        </pc:spChg>
      </pc:sldChg>
      <pc:sldChg chg="addSp delSp modSp add mod">
        <pc:chgData name="Claudio De Sio Cesari" userId="a29b13f1a3f35475" providerId="LiveId" clId="{B8A0E6DB-47E1-49E8-BB84-493E754B0657}" dt="2021-03-01T10:18:36.118" v="2218" actId="1038"/>
        <pc:sldMkLst>
          <pc:docMk/>
          <pc:sldMk cId="3586185679" sldId="734"/>
        </pc:sldMkLst>
        <pc:spChg chg="del">
          <ac:chgData name="Claudio De Sio Cesari" userId="a29b13f1a3f35475" providerId="LiveId" clId="{B8A0E6DB-47E1-49E8-BB84-493E754B0657}" dt="2021-03-01T10:18:25.869" v="2195" actId="478"/>
          <ac:spMkLst>
            <pc:docMk/>
            <pc:sldMk cId="3586185679" sldId="734"/>
            <ac:spMk id="3" creationId="{2F9035A2-CFEB-4003-B637-44AE887E334F}"/>
          </ac:spMkLst>
        </pc:spChg>
        <pc:spChg chg="add del mod">
          <ac:chgData name="Claudio De Sio Cesari" userId="a29b13f1a3f35475" providerId="LiveId" clId="{B8A0E6DB-47E1-49E8-BB84-493E754B0657}" dt="2021-03-01T10:18:29.562" v="2196" actId="478"/>
          <ac:spMkLst>
            <pc:docMk/>
            <pc:sldMk cId="3586185679" sldId="734"/>
            <ac:spMk id="8" creationId="{4F5048F9-4010-44C7-ACB5-A4A2F303426C}"/>
          </ac:spMkLst>
        </pc:spChg>
        <pc:picChg chg="mod">
          <ac:chgData name="Claudio De Sio Cesari" userId="a29b13f1a3f35475" providerId="LiveId" clId="{B8A0E6DB-47E1-49E8-BB84-493E754B0657}" dt="2021-03-01T10:18:36.118" v="2218" actId="1038"/>
          <ac:picMkLst>
            <pc:docMk/>
            <pc:sldMk cId="3586185679" sldId="734"/>
            <ac:picMk id="7" creationId="{10F19139-ED68-4790-9FAC-86822BF12C96}"/>
          </ac:picMkLst>
        </pc:picChg>
      </pc:sldChg>
      <pc:sldChg chg="addSp delSp modSp add mod modNotesTx">
        <pc:chgData name="Claudio De Sio Cesari" userId="a29b13f1a3f35475" providerId="LiveId" clId="{B8A0E6DB-47E1-49E8-BB84-493E754B0657}" dt="2021-03-01T10:28:03.424" v="2670" actId="20577"/>
        <pc:sldMkLst>
          <pc:docMk/>
          <pc:sldMk cId="2688482045" sldId="735"/>
        </pc:sldMkLst>
        <pc:spChg chg="mod">
          <ac:chgData name="Claudio De Sio Cesari" userId="a29b13f1a3f35475" providerId="LiveId" clId="{B8A0E6DB-47E1-49E8-BB84-493E754B0657}" dt="2021-03-01T10:28:03.424" v="2670" actId="20577"/>
          <ac:spMkLst>
            <pc:docMk/>
            <pc:sldMk cId="2688482045" sldId="735"/>
            <ac:spMk id="2" creationId="{4F976724-0419-453A-AB45-889B3773DB64}"/>
          </ac:spMkLst>
        </pc:spChg>
        <pc:spChg chg="del">
          <ac:chgData name="Claudio De Sio Cesari" userId="a29b13f1a3f35475" providerId="LiveId" clId="{B8A0E6DB-47E1-49E8-BB84-493E754B0657}" dt="2021-03-01T10:25:18.018" v="2615" actId="478"/>
          <ac:spMkLst>
            <pc:docMk/>
            <pc:sldMk cId="2688482045" sldId="735"/>
            <ac:spMk id="3" creationId="{2F9035A2-CFEB-4003-B637-44AE887E334F}"/>
          </ac:spMkLst>
        </pc:spChg>
        <pc:spChg chg="add del mod">
          <ac:chgData name="Claudio De Sio Cesari" userId="a29b13f1a3f35475" providerId="LiveId" clId="{B8A0E6DB-47E1-49E8-BB84-493E754B0657}" dt="2021-03-01T10:26:20.831" v="2618"/>
          <ac:spMkLst>
            <pc:docMk/>
            <pc:sldMk cId="2688482045" sldId="735"/>
            <ac:spMk id="7" creationId="{C229D439-D5B2-4949-9683-F38657DC74E5}"/>
          </ac:spMkLst>
        </pc:spChg>
        <pc:picChg chg="add mod">
          <ac:chgData name="Claudio De Sio Cesari" userId="a29b13f1a3f35475" providerId="LiveId" clId="{B8A0E6DB-47E1-49E8-BB84-493E754B0657}" dt="2021-03-01T10:26:29.998" v="2636" actId="1035"/>
          <ac:picMkLst>
            <pc:docMk/>
            <pc:sldMk cId="2688482045" sldId="735"/>
            <ac:picMk id="9" creationId="{937F20FC-405B-4D9F-8F83-903B6455A2D4}"/>
          </ac:picMkLst>
        </pc:picChg>
      </pc:sldChg>
      <pc:sldChg chg="new del">
        <pc:chgData name="Claudio De Sio Cesari" userId="a29b13f1a3f35475" providerId="LiveId" clId="{B8A0E6DB-47E1-49E8-BB84-493E754B0657}" dt="2021-03-01T10:24:54.747" v="2577" actId="680"/>
        <pc:sldMkLst>
          <pc:docMk/>
          <pc:sldMk cId="3276902953" sldId="735"/>
        </pc:sldMkLst>
      </pc:sldChg>
      <pc:sldChg chg="modSp add mod modNotesTx">
        <pc:chgData name="Claudio De Sio Cesari" userId="a29b13f1a3f35475" providerId="LiveId" clId="{B8A0E6DB-47E1-49E8-BB84-493E754B0657}" dt="2021-03-01T10:47:00.361" v="3244"/>
        <pc:sldMkLst>
          <pc:docMk/>
          <pc:sldMk cId="2074314709" sldId="736"/>
        </pc:sldMkLst>
        <pc:spChg chg="mod">
          <ac:chgData name="Claudio De Sio Cesari" userId="a29b13f1a3f35475" providerId="LiveId" clId="{B8A0E6DB-47E1-49E8-BB84-493E754B0657}" dt="2021-03-01T10:40:35.995" v="2926" actId="20577"/>
          <ac:spMkLst>
            <pc:docMk/>
            <pc:sldMk cId="2074314709" sldId="736"/>
            <ac:spMk id="2" creationId="{4F976724-0419-453A-AB45-889B3773DB64}"/>
          </ac:spMkLst>
        </pc:spChg>
        <pc:spChg chg="mod">
          <ac:chgData name="Claudio De Sio Cesari" userId="a29b13f1a3f35475" providerId="LiveId" clId="{B8A0E6DB-47E1-49E8-BB84-493E754B0657}" dt="2021-03-01T10:47:00.361" v="3244"/>
          <ac:spMkLst>
            <pc:docMk/>
            <pc:sldMk cId="2074314709" sldId="736"/>
            <ac:spMk id="3" creationId="{2F9035A2-CFEB-4003-B637-44AE887E334F}"/>
          </ac:spMkLst>
        </pc:spChg>
      </pc:sldChg>
      <pc:sldChg chg="addSp delSp modSp add mod ord">
        <pc:chgData name="Claudio De Sio Cesari" userId="a29b13f1a3f35475" providerId="LiveId" clId="{B8A0E6DB-47E1-49E8-BB84-493E754B0657}" dt="2021-03-01T11:05:03.121" v="3484"/>
        <pc:sldMkLst>
          <pc:docMk/>
          <pc:sldMk cId="2289536399" sldId="737"/>
        </pc:sldMkLst>
        <pc:spChg chg="mod">
          <ac:chgData name="Claudio De Sio Cesari" userId="a29b13f1a3f35475" providerId="LiveId" clId="{B8A0E6DB-47E1-49E8-BB84-493E754B0657}" dt="2021-03-01T10:49:46.437" v="3325" actId="313"/>
          <ac:spMkLst>
            <pc:docMk/>
            <pc:sldMk cId="2289536399" sldId="737"/>
            <ac:spMk id="2" creationId="{4F976724-0419-453A-AB45-889B3773DB64}"/>
          </ac:spMkLst>
        </pc:spChg>
        <pc:spChg chg="del">
          <ac:chgData name="Claudio De Sio Cesari" userId="a29b13f1a3f35475" providerId="LiveId" clId="{B8A0E6DB-47E1-49E8-BB84-493E754B0657}" dt="2021-03-01T10:47:33.462" v="3246" actId="478"/>
          <ac:spMkLst>
            <pc:docMk/>
            <pc:sldMk cId="2289536399" sldId="737"/>
            <ac:spMk id="3" creationId="{2F9035A2-CFEB-4003-B637-44AE887E334F}"/>
          </ac:spMkLst>
        </pc:spChg>
        <pc:spChg chg="add del mod">
          <ac:chgData name="Claudio De Sio Cesari" userId="a29b13f1a3f35475" providerId="LiveId" clId="{B8A0E6DB-47E1-49E8-BB84-493E754B0657}" dt="2021-03-01T10:47:45.107" v="3250" actId="478"/>
          <ac:spMkLst>
            <pc:docMk/>
            <pc:sldMk cId="2289536399" sldId="737"/>
            <ac:spMk id="7" creationId="{87DD5920-6C10-4FC1-95B8-163161008D63}"/>
          </ac:spMkLst>
        </pc:spChg>
        <pc:spChg chg="add del">
          <ac:chgData name="Claudio De Sio Cesari" userId="a29b13f1a3f35475" providerId="LiveId" clId="{B8A0E6DB-47E1-49E8-BB84-493E754B0657}" dt="2021-03-01T10:47:36.077" v="3248" actId="22"/>
          <ac:spMkLst>
            <pc:docMk/>
            <pc:sldMk cId="2289536399" sldId="737"/>
            <ac:spMk id="9" creationId="{8A0220F6-AB7E-40C7-913F-F8377B738D30}"/>
          </ac:spMkLst>
        </pc:spChg>
        <pc:spChg chg="add mod">
          <ac:chgData name="Claudio De Sio Cesari" userId="a29b13f1a3f35475" providerId="LiveId" clId="{B8A0E6DB-47E1-49E8-BB84-493E754B0657}" dt="2021-03-01T10:49:18.462" v="3279" actId="1035"/>
          <ac:spMkLst>
            <pc:docMk/>
            <pc:sldMk cId="2289536399" sldId="737"/>
            <ac:spMk id="11" creationId="{1E5DF330-2586-4263-B701-9A5A8BC4B692}"/>
          </ac:spMkLst>
        </pc:spChg>
      </pc:sldChg>
      <pc:sldChg chg="modSp add mod modNotesTx">
        <pc:chgData name="Claudio De Sio Cesari" userId="a29b13f1a3f35475" providerId="LiveId" clId="{B8A0E6DB-47E1-49E8-BB84-493E754B0657}" dt="2021-03-01T11:05:49.439" v="3487"/>
        <pc:sldMkLst>
          <pc:docMk/>
          <pc:sldMk cId="3612738412" sldId="738"/>
        </pc:sldMkLst>
        <pc:spChg chg="mod">
          <ac:chgData name="Claudio De Sio Cesari" userId="a29b13f1a3f35475" providerId="LiveId" clId="{B8A0E6DB-47E1-49E8-BB84-493E754B0657}" dt="2021-03-01T10:50:09.096" v="3359" actId="20577"/>
          <ac:spMkLst>
            <pc:docMk/>
            <pc:sldMk cId="3612738412" sldId="738"/>
            <ac:spMk id="2" creationId="{4F976724-0419-453A-AB45-889B3773DB64}"/>
          </ac:spMkLst>
        </pc:spChg>
        <pc:spChg chg="mod">
          <ac:chgData name="Claudio De Sio Cesari" userId="a29b13f1a3f35475" providerId="LiveId" clId="{B8A0E6DB-47E1-49E8-BB84-493E754B0657}" dt="2021-03-01T10:50:12.610" v="3360" actId="6549"/>
          <ac:spMkLst>
            <pc:docMk/>
            <pc:sldMk cId="3612738412" sldId="738"/>
            <ac:spMk id="11" creationId="{1E5DF330-2586-4263-B701-9A5A8BC4B692}"/>
          </ac:spMkLst>
        </pc:spChg>
      </pc:sldChg>
      <pc:sldChg chg="addSp delSp modSp add mod">
        <pc:chgData name="Claudio De Sio Cesari" userId="a29b13f1a3f35475" providerId="LiveId" clId="{B8A0E6DB-47E1-49E8-BB84-493E754B0657}" dt="2021-03-01T10:55:02.368" v="3482" actId="1036"/>
        <pc:sldMkLst>
          <pc:docMk/>
          <pc:sldMk cId="248380436" sldId="739"/>
        </pc:sldMkLst>
        <pc:spChg chg="mod">
          <ac:chgData name="Claudio De Sio Cesari" userId="a29b13f1a3f35475" providerId="LiveId" clId="{B8A0E6DB-47E1-49E8-BB84-493E754B0657}" dt="2021-03-01T10:54:51.997" v="3475" actId="20577"/>
          <ac:spMkLst>
            <pc:docMk/>
            <pc:sldMk cId="248380436" sldId="739"/>
            <ac:spMk id="2" creationId="{4F976724-0419-453A-AB45-889B3773DB64}"/>
          </ac:spMkLst>
        </pc:spChg>
        <pc:spChg chg="add mod">
          <ac:chgData name="Claudio De Sio Cesari" userId="a29b13f1a3f35475" providerId="LiveId" clId="{B8A0E6DB-47E1-49E8-BB84-493E754B0657}" dt="2021-03-01T10:55:02.368" v="3482" actId="1036"/>
          <ac:spMkLst>
            <pc:docMk/>
            <pc:sldMk cId="248380436" sldId="739"/>
            <ac:spMk id="6" creationId="{D1DEE100-375A-493B-BD96-22BB30C59CC5}"/>
          </ac:spMkLst>
        </pc:spChg>
        <pc:spChg chg="del mod">
          <ac:chgData name="Claudio De Sio Cesari" userId="a29b13f1a3f35475" providerId="LiveId" clId="{B8A0E6DB-47E1-49E8-BB84-493E754B0657}" dt="2021-03-01T10:51:55.600" v="3408" actId="478"/>
          <ac:spMkLst>
            <pc:docMk/>
            <pc:sldMk cId="248380436" sldId="739"/>
            <ac:spMk id="11" creationId="{1E5DF330-2586-4263-B701-9A5A8BC4B692}"/>
          </ac:spMkLst>
        </pc:spChg>
      </pc:sldChg>
      <pc:sldChg chg="new del">
        <pc:chgData name="Claudio De Sio Cesari" userId="a29b13f1a3f35475" providerId="LiveId" clId="{B8A0E6DB-47E1-49E8-BB84-493E754B0657}" dt="2021-03-01T10:50:54.800" v="3362" actId="680"/>
        <pc:sldMkLst>
          <pc:docMk/>
          <pc:sldMk cId="544716757" sldId="739"/>
        </pc:sldMkLst>
      </pc:sldChg>
      <pc:sldChg chg="addSp delSp modSp add mod">
        <pc:chgData name="Claudio De Sio Cesari" userId="a29b13f1a3f35475" providerId="LiveId" clId="{B8A0E6DB-47E1-49E8-BB84-493E754B0657}" dt="2021-03-01T10:54:32.835" v="3461" actId="20577"/>
        <pc:sldMkLst>
          <pc:docMk/>
          <pc:sldMk cId="176215133" sldId="740"/>
        </pc:sldMkLst>
        <pc:spChg chg="mod">
          <ac:chgData name="Claudio De Sio Cesari" userId="a29b13f1a3f35475" providerId="LiveId" clId="{B8A0E6DB-47E1-49E8-BB84-493E754B0657}" dt="2021-03-01T10:54:32.835" v="3461" actId="20577"/>
          <ac:spMkLst>
            <pc:docMk/>
            <pc:sldMk cId="176215133" sldId="740"/>
            <ac:spMk id="2" creationId="{4F976724-0419-453A-AB45-889B3773DB64}"/>
          </ac:spMkLst>
        </pc:spChg>
        <pc:spChg chg="del">
          <ac:chgData name="Claudio De Sio Cesari" userId="a29b13f1a3f35475" providerId="LiveId" clId="{B8A0E6DB-47E1-49E8-BB84-493E754B0657}" dt="2021-03-01T10:54:13.586" v="3447" actId="478"/>
          <ac:spMkLst>
            <pc:docMk/>
            <pc:sldMk cId="176215133" sldId="740"/>
            <ac:spMk id="11" creationId="{1E5DF330-2586-4263-B701-9A5A8BC4B692}"/>
          </ac:spMkLst>
        </pc:spChg>
        <pc:picChg chg="add mod">
          <ac:chgData name="Claudio De Sio Cesari" userId="a29b13f1a3f35475" providerId="LiveId" clId="{B8A0E6DB-47E1-49E8-BB84-493E754B0657}" dt="2021-03-01T10:54:23.524" v="3454" actId="1036"/>
          <ac:picMkLst>
            <pc:docMk/>
            <pc:sldMk cId="176215133" sldId="740"/>
            <ac:picMk id="6" creationId="{41D994C6-51BB-4925-ABEF-0AF185FC803F}"/>
          </ac:picMkLst>
        </pc:picChg>
      </pc:sldChg>
      <pc:sldChg chg="modSp add mod ord">
        <pc:chgData name="Claudio De Sio Cesari" userId="a29b13f1a3f35475" providerId="LiveId" clId="{B8A0E6DB-47E1-49E8-BB84-493E754B0657}" dt="2021-03-01T11:13:14.268" v="3890" actId="20577"/>
        <pc:sldMkLst>
          <pc:docMk/>
          <pc:sldMk cId="3949219168" sldId="741"/>
        </pc:sldMkLst>
        <pc:spChg chg="mod">
          <ac:chgData name="Claudio De Sio Cesari" userId="a29b13f1a3f35475" providerId="LiveId" clId="{B8A0E6DB-47E1-49E8-BB84-493E754B0657}" dt="2021-03-01T11:12:30.304" v="3778" actId="20577"/>
          <ac:spMkLst>
            <pc:docMk/>
            <pc:sldMk cId="3949219168" sldId="741"/>
            <ac:spMk id="2" creationId="{4F976724-0419-453A-AB45-889B3773DB64}"/>
          </ac:spMkLst>
        </pc:spChg>
        <pc:spChg chg="mod">
          <ac:chgData name="Claudio De Sio Cesari" userId="a29b13f1a3f35475" providerId="LiveId" clId="{B8A0E6DB-47E1-49E8-BB84-493E754B0657}" dt="2021-03-01T11:13:14.268" v="3890" actId="20577"/>
          <ac:spMkLst>
            <pc:docMk/>
            <pc:sldMk cId="3949219168" sldId="741"/>
            <ac:spMk id="6" creationId="{D1DEE100-375A-493B-BD96-22BB30C59CC5}"/>
          </ac:spMkLst>
        </pc:spChg>
      </pc:sldChg>
      <pc:sldChg chg="modSp add mod ord">
        <pc:chgData name="Claudio De Sio Cesari" userId="a29b13f1a3f35475" providerId="LiveId" clId="{B8A0E6DB-47E1-49E8-BB84-493E754B0657}" dt="2021-03-01T11:18:32.095" v="4077" actId="20577"/>
        <pc:sldMkLst>
          <pc:docMk/>
          <pc:sldMk cId="344549154" sldId="742"/>
        </pc:sldMkLst>
        <pc:spChg chg="mod">
          <ac:chgData name="Claudio De Sio Cesari" userId="a29b13f1a3f35475" providerId="LiveId" clId="{B8A0E6DB-47E1-49E8-BB84-493E754B0657}" dt="2021-03-01T11:15:48.570" v="3969" actId="14100"/>
          <ac:spMkLst>
            <pc:docMk/>
            <pc:sldMk cId="344549154" sldId="742"/>
            <ac:spMk id="2" creationId="{4F976724-0419-453A-AB45-889B3773DB64}"/>
          </ac:spMkLst>
        </pc:spChg>
        <pc:spChg chg="mod">
          <ac:chgData name="Claudio De Sio Cesari" userId="a29b13f1a3f35475" providerId="LiveId" clId="{B8A0E6DB-47E1-49E8-BB84-493E754B0657}" dt="2021-03-01T11:18:32.095" v="4077" actId="20577"/>
          <ac:spMkLst>
            <pc:docMk/>
            <pc:sldMk cId="344549154" sldId="742"/>
            <ac:spMk id="11" creationId="{1E5DF330-2586-4263-B701-9A5A8BC4B692}"/>
          </ac:spMkLst>
        </pc:spChg>
      </pc:sldChg>
      <pc:sldChg chg="addSp delSp modSp add mod ord modNotesTx">
        <pc:chgData name="Claudio De Sio Cesari" userId="a29b13f1a3f35475" providerId="LiveId" clId="{B8A0E6DB-47E1-49E8-BB84-493E754B0657}" dt="2021-03-02T12:14:09.345" v="6996" actId="20577"/>
        <pc:sldMkLst>
          <pc:docMk/>
          <pc:sldMk cId="3691854465" sldId="743"/>
        </pc:sldMkLst>
        <pc:spChg chg="mod">
          <ac:chgData name="Claudio De Sio Cesari" userId="a29b13f1a3f35475" providerId="LiveId" clId="{B8A0E6DB-47E1-49E8-BB84-493E754B0657}" dt="2021-03-01T12:02:46.633" v="4102" actId="20577"/>
          <ac:spMkLst>
            <pc:docMk/>
            <pc:sldMk cId="3691854465" sldId="743"/>
            <ac:spMk id="2" creationId="{4F976724-0419-453A-AB45-889B3773DB64}"/>
          </ac:spMkLst>
        </pc:spChg>
        <pc:spChg chg="add mod">
          <ac:chgData name="Claudio De Sio Cesari" userId="a29b13f1a3f35475" providerId="LiveId" clId="{B8A0E6DB-47E1-49E8-BB84-493E754B0657}" dt="2021-03-02T12:14:09.345" v="6996" actId="20577"/>
          <ac:spMkLst>
            <pc:docMk/>
            <pc:sldMk cId="3691854465" sldId="743"/>
            <ac:spMk id="6" creationId="{682E1B67-E0B7-40B5-B5D5-4DF0FF84416C}"/>
          </ac:spMkLst>
        </pc:spChg>
        <pc:spChg chg="del">
          <ac:chgData name="Claudio De Sio Cesari" userId="a29b13f1a3f35475" providerId="LiveId" clId="{B8A0E6DB-47E1-49E8-BB84-493E754B0657}" dt="2021-03-01T11:20:17.014" v="4098" actId="478"/>
          <ac:spMkLst>
            <pc:docMk/>
            <pc:sldMk cId="3691854465" sldId="743"/>
            <ac:spMk id="11" creationId="{1E5DF330-2586-4263-B701-9A5A8BC4B692}"/>
          </ac:spMkLst>
        </pc:spChg>
      </pc:sldChg>
      <pc:sldChg chg="modSp add mod modNotesTx">
        <pc:chgData name="Claudio De Sio Cesari" userId="a29b13f1a3f35475" providerId="LiveId" clId="{B8A0E6DB-47E1-49E8-BB84-493E754B0657}" dt="2021-03-02T08:27:37.127" v="6761" actId="20577"/>
        <pc:sldMkLst>
          <pc:docMk/>
          <pc:sldMk cId="1582774526" sldId="744"/>
        </pc:sldMkLst>
        <pc:spChg chg="mod">
          <ac:chgData name="Claudio De Sio Cesari" userId="a29b13f1a3f35475" providerId="LiveId" clId="{B8A0E6DB-47E1-49E8-BB84-493E754B0657}" dt="2021-03-02T08:27:37.127" v="6761" actId="20577"/>
          <ac:spMkLst>
            <pc:docMk/>
            <pc:sldMk cId="1582774526" sldId="744"/>
            <ac:spMk id="2" creationId="{4F976724-0419-453A-AB45-889B3773DB64}"/>
          </ac:spMkLst>
        </pc:spChg>
        <pc:spChg chg="mod">
          <ac:chgData name="Claudio De Sio Cesari" userId="a29b13f1a3f35475" providerId="LiveId" clId="{B8A0E6DB-47E1-49E8-BB84-493E754B0657}" dt="2021-03-01T12:09:25.651" v="4449" actId="20577"/>
          <ac:spMkLst>
            <pc:docMk/>
            <pc:sldMk cId="1582774526" sldId="744"/>
            <ac:spMk id="6" creationId="{D1DEE100-375A-493B-BD96-22BB30C59CC5}"/>
          </ac:spMkLst>
        </pc:spChg>
      </pc:sldChg>
      <pc:sldChg chg="addSp delSp modSp add mod modNotesTx">
        <pc:chgData name="Claudio De Sio Cesari" userId="a29b13f1a3f35475" providerId="LiveId" clId="{B8A0E6DB-47E1-49E8-BB84-493E754B0657}" dt="2021-03-02T16:35:41.377" v="7437" actId="6549"/>
        <pc:sldMkLst>
          <pc:docMk/>
          <pc:sldMk cId="2064702627" sldId="745"/>
        </pc:sldMkLst>
        <pc:spChg chg="mod">
          <ac:chgData name="Claudio De Sio Cesari" userId="a29b13f1a3f35475" providerId="LiveId" clId="{B8A0E6DB-47E1-49E8-BB84-493E754B0657}" dt="2021-03-02T12:14:21.995" v="7005" actId="20577"/>
          <ac:spMkLst>
            <pc:docMk/>
            <pc:sldMk cId="2064702627" sldId="745"/>
            <ac:spMk id="2" creationId="{4F976724-0419-453A-AB45-889B3773DB64}"/>
          </ac:spMkLst>
        </pc:spChg>
        <pc:spChg chg="del">
          <ac:chgData name="Claudio De Sio Cesari" userId="a29b13f1a3f35475" providerId="LiveId" clId="{B8A0E6DB-47E1-49E8-BB84-493E754B0657}" dt="2021-03-02T12:14:31.545" v="7006" actId="478"/>
          <ac:spMkLst>
            <pc:docMk/>
            <pc:sldMk cId="2064702627" sldId="745"/>
            <ac:spMk id="6" creationId="{682E1B67-E0B7-40B5-B5D5-4DF0FF84416C}"/>
          </ac:spMkLst>
        </pc:spChg>
        <pc:spChg chg="add del mod">
          <ac:chgData name="Claudio De Sio Cesari" userId="a29b13f1a3f35475" providerId="LiveId" clId="{B8A0E6DB-47E1-49E8-BB84-493E754B0657}" dt="2021-03-02T12:14:48.398" v="7007"/>
          <ac:spMkLst>
            <pc:docMk/>
            <pc:sldMk cId="2064702627" sldId="745"/>
            <ac:spMk id="7" creationId="{31268EFD-A013-4C5B-AAA5-21DD39632359}"/>
          </ac:spMkLst>
        </pc:spChg>
        <pc:spChg chg="add mod">
          <ac:chgData name="Claudio De Sio Cesari" userId="a29b13f1a3f35475" providerId="LiveId" clId="{B8A0E6DB-47E1-49E8-BB84-493E754B0657}" dt="2021-03-02T16:35:21.606" v="7436" actId="20577"/>
          <ac:spMkLst>
            <pc:docMk/>
            <pc:sldMk cId="2064702627" sldId="745"/>
            <ac:spMk id="11" creationId="{9B76E6E8-AAD6-45A5-8342-72C4E7B4EF60}"/>
          </ac:spMkLst>
        </pc:spChg>
        <pc:picChg chg="add del mod">
          <ac:chgData name="Claudio De Sio Cesari" userId="a29b13f1a3f35475" providerId="LiveId" clId="{B8A0E6DB-47E1-49E8-BB84-493E754B0657}" dt="2021-03-02T12:15:20.514" v="7017" actId="478"/>
          <ac:picMkLst>
            <pc:docMk/>
            <pc:sldMk cId="2064702627" sldId="745"/>
            <ac:picMk id="9" creationId="{918602BF-51C5-4312-A679-CFD0E9902586}"/>
          </ac:picMkLst>
        </pc:picChg>
      </pc:sldChg>
      <pc:sldChg chg="modSp add mod">
        <pc:chgData name="Claudio De Sio Cesari" userId="a29b13f1a3f35475" providerId="LiveId" clId="{B8A0E6DB-47E1-49E8-BB84-493E754B0657}" dt="2021-03-02T12:15:17.705" v="7016" actId="6549"/>
        <pc:sldMkLst>
          <pc:docMk/>
          <pc:sldMk cId="2822491963" sldId="746"/>
        </pc:sldMkLst>
        <pc:spChg chg="mod">
          <ac:chgData name="Claudio De Sio Cesari" userId="a29b13f1a3f35475" providerId="LiveId" clId="{B8A0E6DB-47E1-49E8-BB84-493E754B0657}" dt="2021-03-02T12:15:17.705" v="7016" actId="6549"/>
          <ac:spMkLst>
            <pc:docMk/>
            <pc:sldMk cId="2822491963" sldId="746"/>
            <ac:spMk id="2" creationId="{4F976724-0419-453A-AB45-889B3773DB6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133C31-D34E-4EBE-ABC4-2DAA5A26C937}" type="datetimeFigureOut">
              <a:rPr lang="it-IT" smtClean="0"/>
              <a:t>08/03/2021</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5D8BF2-49EE-4CE2-A2D7-61B744D1E4D9}" type="slidenum">
              <a:rPr lang="it-IT" smtClean="0"/>
              <a:t>‹N›</a:t>
            </a:fld>
            <a:endParaRPr lang="it-IT"/>
          </a:p>
        </p:txBody>
      </p:sp>
    </p:spTree>
    <p:extLst>
      <p:ext uri="{BB962C8B-B14F-4D97-AF65-F5344CB8AC3E}">
        <p14:creationId xmlns:p14="http://schemas.microsoft.com/office/powerpoint/2010/main" val="1789352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www.nuovojava.it/"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www.nuovojava.it/"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www.nuovojava.it/"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www.nuovojava.it/"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www.nuovojava.it/"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545D8BF2-49EE-4CE2-A2D7-61B744D1E4D9}" type="slidenum">
              <a:rPr lang="it-IT" smtClean="0"/>
              <a:t>1</a:t>
            </a:fld>
            <a:endParaRPr lang="it-IT"/>
          </a:p>
        </p:txBody>
      </p:sp>
    </p:spTree>
    <p:extLst>
      <p:ext uri="{BB962C8B-B14F-4D97-AF65-F5344CB8AC3E}">
        <p14:creationId xmlns:p14="http://schemas.microsoft.com/office/powerpoint/2010/main" val="3656463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In questo capitolo familiarizzeremo con i concetti fondamentali che sono alla base di un programma Java, sia in maniera teorica che pratica. Nel primo capitolo abbiamo scritto dei programmi, ma abbiamo utilizzato alcuni concetti fondamentali, accennando solo alla loro definizione. Ora è il momento di iniziare a comprendere tutto il codice che scriviamo al fine di padroneggiarlo e non avere mai dubbi.</a:t>
            </a:r>
          </a:p>
          <a:p>
            <a:r>
              <a:rPr lang="it-IT" sz="1800" dirty="0">
                <a:effectLst/>
                <a:latin typeface="Times New Roman" panose="02020603050405020304" pitchFamily="18" charset="0"/>
                <a:ea typeface="Times New Roman" panose="02020603050405020304" pitchFamily="18" charset="0"/>
              </a:rPr>
              <a:t>Ecco una lista di concetti che sono alla base della conoscenza del linguaggio, e che studieremo in questo capitolo:</a:t>
            </a:r>
          </a:p>
          <a:p>
            <a:pPr marL="180340" indent="180340"/>
            <a:r>
              <a:rPr lang="it-IT" sz="1800" dirty="0">
                <a:effectLst/>
                <a:latin typeface="Times New Roman" panose="02020603050405020304" pitchFamily="18" charset="0"/>
                <a:ea typeface="MS Mincho" panose="02020609040205080304" pitchFamily="49" charset="-128"/>
              </a:rPr>
              <a:t>Classe</a:t>
            </a:r>
          </a:p>
          <a:p>
            <a:pPr marL="180340" indent="180340"/>
            <a:r>
              <a:rPr lang="it-IT" sz="1800" dirty="0">
                <a:effectLst/>
                <a:latin typeface="Times New Roman" panose="02020603050405020304" pitchFamily="18" charset="0"/>
                <a:ea typeface="MS Mincho" panose="02020609040205080304" pitchFamily="49" charset="-128"/>
              </a:rPr>
              <a:t>Oggetto</a:t>
            </a:r>
          </a:p>
          <a:p>
            <a:pPr marL="180340" indent="180340"/>
            <a:r>
              <a:rPr lang="it-IT" sz="1800" dirty="0">
                <a:effectLst/>
                <a:latin typeface="Times New Roman" panose="02020603050405020304" pitchFamily="18" charset="0"/>
                <a:ea typeface="MS Mincho" panose="02020609040205080304" pitchFamily="49" charset="-128"/>
              </a:rPr>
              <a:t>Variabile</a:t>
            </a:r>
          </a:p>
          <a:p>
            <a:pPr marL="180340" indent="180340"/>
            <a:r>
              <a:rPr lang="it-IT" sz="1800" dirty="0">
                <a:effectLst/>
                <a:latin typeface="Times New Roman" panose="02020603050405020304" pitchFamily="18" charset="0"/>
                <a:ea typeface="MS Mincho" panose="02020609040205080304" pitchFamily="49" charset="-128"/>
              </a:rPr>
              <a:t>Metodo</a:t>
            </a:r>
          </a:p>
          <a:p>
            <a:pPr marL="180340" indent="180340"/>
            <a:r>
              <a:rPr lang="it-IT" sz="1800" dirty="0">
                <a:effectLst/>
                <a:latin typeface="Times New Roman" panose="02020603050405020304" pitchFamily="18" charset="0"/>
                <a:ea typeface="MS Mincho" panose="02020609040205080304" pitchFamily="49" charset="-128"/>
              </a:rPr>
              <a:t>Costruttore</a:t>
            </a:r>
          </a:p>
          <a:p>
            <a:pPr marL="180340" indent="180340"/>
            <a:r>
              <a:rPr lang="it-IT" sz="1800" dirty="0">
                <a:effectLst/>
                <a:latin typeface="Times New Roman" panose="02020603050405020304" pitchFamily="18" charset="0"/>
                <a:ea typeface="MS Mincho" panose="02020609040205080304" pitchFamily="49" charset="-128"/>
              </a:rPr>
              <a:t>Package</a:t>
            </a:r>
          </a:p>
          <a:p>
            <a:r>
              <a:rPr lang="it-IT" sz="1800" dirty="0">
                <a:effectLst/>
                <a:latin typeface="Times New Roman" panose="02020603050405020304" pitchFamily="18" charset="0"/>
                <a:ea typeface="Times New Roman" panose="02020603050405020304" pitchFamily="18" charset="0"/>
              </a:rPr>
              <a:t>Esistono altri componenti importanti per programmare in Java, come per esempio le interfacce, le annotazioni, le classi innestate, le enumerazioni, i package, i record e i moduli. Per scelta didattica si è scelto di evitare di introdurre nozioni che attualmente non sono necessarie per iniziare a programmare. Questi altri concetti verranno presentati durante la lettura di questo libro nel momento in cui il lettore dovrebbe essere pronto per apprezzarne l’utilizzo. </a:t>
            </a:r>
          </a:p>
          <a:p>
            <a:r>
              <a:rPr lang="it-IT" sz="1800" b="1" dirty="0">
                <a:effectLst/>
                <a:latin typeface="Times New Roman" panose="02020603050405020304" pitchFamily="18" charset="0"/>
                <a:ea typeface="Times New Roman" panose="02020603050405020304" pitchFamily="18" charset="0"/>
              </a:rPr>
              <a:t>[ICONA APPROFONDIMENTO 2.1]</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Tuttavia, una panoramica con qualche esempio di questi altri componenti la trovate nell’approfondimento 2.1 on line. Potete leggerla dopo aver terminato lo studio di questo capitolo.</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Anche in questo capitolo non daremo nulla per scontato, quindi anche il lettore che non ha mai programmato dovrebbe essere messo nella condizione di poter iniziare. I concetti verranno introdotti gradualmente, e solo verso la fine del capitolo, alcuni concetti saranno coperti completamente. </a:t>
            </a:r>
          </a:p>
          <a:p>
            <a:r>
              <a:rPr lang="it-IT" sz="1800" dirty="0">
                <a:effectLst/>
                <a:latin typeface="Times New Roman" panose="02020603050405020304" pitchFamily="18" charset="0"/>
                <a:ea typeface="Times New Roman" panose="02020603050405020304" pitchFamily="18" charset="0"/>
              </a:rPr>
              <a:t>Questo capitolo è strutturato in tre parti distinte. La prima si occupa di definire alcuni concetti di base della programmazione. La seconda è dedicata alla spiegazione dei componenti fondamentali di dei programmi Java. La terza invece introduce il concetto di package.</a:t>
            </a:r>
          </a:p>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2</a:t>
            </a:fld>
            <a:endParaRPr lang="it-IT"/>
          </a:p>
        </p:txBody>
      </p:sp>
    </p:spTree>
    <p:extLst>
      <p:ext uri="{BB962C8B-B14F-4D97-AF65-F5344CB8AC3E}">
        <p14:creationId xmlns:p14="http://schemas.microsoft.com/office/powerpoint/2010/main" val="1124015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In questo contesto distingueremo tre tipologie di hardware. La prima tipologia si occupa di raccogliere dati di </a:t>
            </a:r>
            <a:r>
              <a:rPr lang="it-IT" sz="1800" b="1" dirty="0">
                <a:effectLst/>
                <a:latin typeface="Times New Roman" panose="02020603050405020304" pitchFamily="18" charset="0"/>
                <a:ea typeface="MS Mincho" panose="02020609040205080304" pitchFamily="49" charset="-128"/>
              </a:rPr>
              <a:t>input</a:t>
            </a:r>
            <a:r>
              <a:rPr lang="it-IT" sz="1800" dirty="0">
                <a:effectLst/>
                <a:latin typeface="Times New Roman" panose="02020603050405020304" pitchFamily="18" charset="0"/>
                <a:ea typeface="MS Mincho" panose="02020609040205080304" pitchFamily="49" charset="-128"/>
              </a:rPr>
              <a:t> (“in ingresso”). Appartengono a questa prima tipologia dispositivi come il </a:t>
            </a:r>
            <a:r>
              <a:rPr lang="it-IT" sz="1800" b="1" dirty="0">
                <a:effectLst/>
                <a:latin typeface="Times New Roman" panose="02020603050405020304" pitchFamily="18" charset="0"/>
                <a:ea typeface="MS Mincho" panose="02020609040205080304" pitchFamily="49" charset="-128"/>
              </a:rPr>
              <a:t>mouse</a:t>
            </a:r>
            <a:r>
              <a:rPr lang="it-IT" sz="1800" dirty="0">
                <a:effectLst/>
                <a:latin typeface="Times New Roman" panose="02020603050405020304" pitchFamily="18" charset="0"/>
                <a:ea typeface="MS Mincho" panose="02020609040205080304" pitchFamily="49" charset="-128"/>
              </a:rPr>
              <a:t> o la </a:t>
            </a:r>
            <a:r>
              <a:rPr lang="it-IT" sz="1800" b="1" dirty="0">
                <a:effectLst/>
                <a:latin typeface="Times New Roman" panose="02020603050405020304" pitchFamily="18" charset="0"/>
                <a:ea typeface="MS Mincho" panose="02020609040205080304" pitchFamily="49" charset="-128"/>
              </a:rPr>
              <a:t>tastiera</a:t>
            </a:r>
            <a:r>
              <a:rPr lang="it-IT" sz="1800" dirty="0">
                <a:effectLst/>
                <a:latin typeface="Times New Roman" panose="02020603050405020304" pitchFamily="18" charset="0"/>
                <a:ea typeface="MS Mincho" panose="02020609040205080304" pitchFamily="49" charset="-128"/>
              </a:rPr>
              <a:t>, che hanno il compito di accettare input dall’utente del computer. La seconda tipologia ha come compito quello di restituire dati in </a:t>
            </a:r>
            <a:r>
              <a:rPr lang="it-IT" sz="1800" b="1" dirty="0">
                <a:effectLst/>
                <a:latin typeface="Times New Roman" panose="02020603050405020304" pitchFamily="18" charset="0"/>
                <a:ea typeface="MS Mincho" panose="02020609040205080304" pitchFamily="49" charset="-128"/>
              </a:rPr>
              <a:t>output</a:t>
            </a:r>
            <a:r>
              <a:rPr lang="it-IT" sz="1800" dirty="0">
                <a:effectLst/>
                <a:latin typeface="Times New Roman" panose="02020603050405020304" pitchFamily="18" charset="0"/>
                <a:ea typeface="MS Mincho" panose="02020609040205080304" pitchFamily="49" charset="-128"/>
              </a:rPr>
              <a:t> (“in uscita”). Esempi di componenti che appartengono a questa seconda tipologia sono il </a:t>
            </a:r>
            <a:r>
              <a:rPr lang="it-IT" sz="1800" b="1" dirty="0">
                <a:effectLst/>
                <a:latin typeface="Times New Roman" panose="02020603050405020304" pitchFamily="18" charset="0"/>
                <a:ea typeface="MS Mincho" panose="02020609040205080304" pitchFamily="49" charset="-128"/>
              </a:rPr>
              <a:t>monitor</a:t>
            </a:r>
            <a:r>
              <a:rPr lang="it-IT" sz="1800" dirty="0">
                <a:effectLst/>
                <a:latin typeface="Times New Roman" panose="02020603050405020304" pitchFamily="18" charset="0"/>
                <a:ea typeface="MS Mincho" panose="02020609040205080304" pitchFamily="49" charset="-128"/>
              </a:rPr>
              <a:t> e la </a:t>
            </a:r>
            <a:r>
              <a:rPr lang="it-IT" sz="1800" b="1" dirty="0">
                <a:effectLst/>
                <a:latin typeface="Times New Roman" panose="02020603050405020304" pitchFamily="18" charset="0"/>
                <a:ea typeface="MS Mincho" panose="02020609040205080304" pitchFamily="49" charset="-128"/>
              </a:rPr>
              <a:t>stampante</a:t>
            </a:r>
            <a:r>
              <a:rPr lang="it-IT" sz="1800" dirty="0">
                <a:effectLst/>
                <a:latin typeface="Times New Roman" panose="02020603050405020304" pitchFamily="18" charset="0"/>
                <a:ea typeface="MS Mincho" panose="02020609040205080304" pitchFamily="49" charset="-128"/>
              </a:rPr>
              <a:t>. Queste due tipologie sono da considerare “hardware d’interfaccia” ovvero quelle con cui l’utente interagisce. Per tale ragione dovreste già avere una conoscenza basilare di questi componenti.</a:t>
            </a:r>
          </a:p>
          <a:p>
            <a:r>
              <a:rPr lang="it-IT" sz="1800" dirty="0">
                <a:effectLst/>
                <a:latin typeface="Times New Roman" panose="02020603050405020304" pitchFamily="18" charset="0"/>
                <a:ea typeface="MS Mincho" panose="02020609040205080304" pitchFamily="49" charset="-128"/>
              </a:rPr>
              <a:t>La tipologia di hardware che più ci interessa approfondire invece, è quella con cui non interagiamo direttamente: quella “interna alla scatola”. Prima di parlare di programmi infatti, bisogna avere almeno un’idea di come un computer memorizza i dati, ovvero come funzionano per esempio la memoria e il processore.</a:t>
            </a:r>
          </a:p>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3</a:t>
            </a:fld>
            <a:endParaRPr lang="it-IT"/>
          </a:p>
        </p:txBody>
      </p:sp>
    </p:spTree>
    <p:extLst>
      <p:ext uri="{BB962C8B-B14F-4D97-AF65-F5344CB8AC3E}">
        <p14:creationId xmlns:p14="http://schemas.microsoft.com/office/powerpoint/2010/main" val="1124015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1.1.1.1 Processore</a:t>
            </a:r>
          </a:p>
          <a:p>
            <a:r>
              <a:rPr lang="it-IT" sz="1800" dirty="0">
                <a:effectLst/>
                <a:latin typeface="Times New Roman" panose="02020603050405020304" pitchFamily="18" charset="0"/>
                <a:ea typeface="MS Mincho" panose="02020609040205080304" pitchFamily="49" charset="-128"/>
              </a:rPr>
              <a:t>Il </a:t>
            </a:r>
            <a:r>
              <a:rPr lang="it-IT" sz="1800" b="1" dirty="0">
                <a:effectLst/>
                <a:latin typeface="Times New Roman" panose="02020603050405020304" pitchFamily="18" charset="0"/>
                <a:ea typeface="MS Mincho" panose="02020609040205080304" pitchFamily="49" charset="-128"/>
              </a:rPr>
              <a:t>processore</a:t>
            </a:r>
            <a:r>
              <a:rPr lang="it-IT" sz="1800" dirty="0">
                <a:effectLst/>
                <a:latin typeface="Times New Roman" panose="02020603050405020304" pitchFamily="18" charset="0"/>
                <a:ea typeface="MS Mincho" panose="02020609040205080304" pitchFamily="49" charset="-128"/>
              </a:rPr>
              <a:t> o </a:t>
            </a:r>
            <a:r>
              <a:rPr lang="it-IT" sz="1800" b="1" dirty="0">
                <a:effectLst/>
                <a:latin typeface="Times New Roman" panose="02020603050405020304" pitchFamily="18" charset="0"/>
                <a:ea typeface="MS Mincho" panose="02020609040205080304" pitchFamily="49" charset="-128"/>
              </a:rPr>
              <a:t>CPU</a:t>
            </a:r>
            <a:r>
              <a:rPr lang="it-IT" sz="1800" dirty="0">
                <a:effectLst/>
                <a:latin typeface="Times New Roman" panose="02020603050405020304" pitchFamily="18" charset="0"/>
                <a:ea typeface="MS Mincho" panose="02020609040205080304" pitchFamily="49" charset="-128"/>
              </a:rPr>
              <a:t> (acronimo di “Central Processing Unit” ovvero “unità di elaborazione centrale”) è il componente hardware che esegue le istruzioni di un programma. Il suo principale compito è quello di eseguire operazioni aritmetiche elementari, e gestire gli spostamenti dei dati in memoria. Può sembrare strano, ma è il processore che rende possibile tutto quello che riusciamo a fare con un computer. </a:t>
            </a:r>
          </a:p>
          <a:p>
            <a:r>
              <a:rPr lang="it-IT" sz="1800" b="1" dirty="0">
                <a:effectLst/>
                <a:latin typeface="Times New Roman" panose="02020603050405020304" pitchFamily="18" charset="0"/>
                <a:ea typeface="MS Mincho" panose="02020609040205080304" pitchFamily="49" charset="-128"/>
              </a:rPr>
              <a:t>(ICONA CURIOSITÀ)</a:t>
            </a:r>
            <a:endParaRPr lang="it-IT" sz="1800" dirty="0">
              <a:effectLst/>
              <a:latin typeface="Times New Roman" panose="02020603050405020304" pitchFamily="18" charset="0"/>
              <a:ea typeface="MS Mincho" panose="02020609040205080304" pitchFamily="49" charset="-128"/>
            </a:endParaRP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Non è raro che la CPU venga definita come il “cervello del computer”, tuttavia non si tratta di una definizione corretta. Più che altro, il processore esegue le istruzioni che i programmatori scrivono all’interno dei programmi.</a:t>
            </a:r>
            <a:endParaRPr lang="it-IT" sz="1800" b="1" dirty="0">
              <a:effectLst/>
              <a:latin typeface="(Tipo di carattere testo asiati"/>
              <a:ea typeface="Times New Roman" panose="02020603050405020304" pitchFamily="18" charset="0"/>
              <a:cs typeface="(Tipo di carattere testo asiati"/>
            </a:endParaRP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1.1.1.2 Memoria</a:t>
            </a:r>
          </a:p>
          <a:p>
            <a:r>
              <a:rPr lang="it-IT" sz="1800" dirty="0">
                <a:effectLst/>
                <a:latin typeface="Times New Roman" panose="02020603050405020304" pitchFamily="18" charset="0"/>
                <a:ea typeface="MS Mincho" panose="02020609040205080304" pitchFamily="49" charset="-128"/>
              </a:rPr>
              <a:t>La </a:t>
            </a:r>
            <a:r>
              <a:rPr lang="it-IT" sz="1800" b="1" dirty="0">
                <a:effectLst/>
                <a:latin typeface="Times New Roman" panose="02020603050405020304" pitchFamily="18" charset="0"/>
                <a:ea typeface="MS Mincho" panose="02020609040205080304" pitchFamily="49" charset="-128"/>
              </a:rPr>
              <a:t>memoria</a:t>
            </a:r>
            <a:r>
              <a:rPr lang="it-IT" sz="1800" dirty="0">
                <a:effectLst/>
                <a:latin typeface="Times New Roman" panose="02020603050405020304" pitchFamily="18" charset="0"/>
                <a:ea typeface="MS Mincho" panose="02020609040205080304" pitchFamily="49" charset="-128"/>
              </a:rPr>
              <a:t> conserva i dati che vengono utilizzati dai programmi. Bisogna distinguerne due tipologie: una memoria principale ed una ausiliaria. La </a:t>
            </a:r>
            <a:r>
              <a:rPr lang="it-IT" sz="1800" b="1" dirty="0">
                <a:effectLst/>
                <a:latin typeface="Times New Roman" panose="02020603050405020304" pitchFamily="18" charset="0"/>
                <a:ea typeface="MS Mincho" panose="02020609040205080304" pitchFamily="49" charset="-128"/>
              </a:rPr>
              <a:t>memoria principale</a:t>
            </a:r>
            <a:r>
              <a:rPr lang="it-IT" sz="1800" dirty="0">
                <a:effectLst/>
                <a:latin typeface="Times New Roman" panose="02020603050405020304" pitchFamily="18" charset="0"/>
                <a:ea typeface="MS Mincho" panose="02020609040205080304" pitchFamily="49" charset="-128"/>
              </a:rPr>
              <a:t> solitamente è detta </a:t>
            </a:r>
            <a:r>
              <a:rPr lang="it-IT" sz="1800" b="1" dirty="0">
                <a:effectLst/>
                <a:latin typeface="Times New Roman" panose="02020603050405020304" pitchFamily="18" charset="0"/>
                <a:ea typeface="MS Mincho" panose="02020609040205080304" pitchFamily="49" charset="-128"/>
              </a:rPr>
              <a:t>memoria RAM</a:t>
            </a:r>
            <a:r>
              <a:rPr lang="it-IT" sz="1800" dirty="0">
                <a:effectLst/>
                <a:latin typeface="Times New Roman" panose="02020603050405020304" pitchFamily="18" charset="0"/>
                <a:ea typeface="MS Mincho" panose="02020609040205080304" pitchFamily="49" charset="-128"/>
              </a:rPr>
              <a:t> (acronimo per “Random Access Memory” ovvero “memoria ad accesso casuale”) ed è una memoria che contiene i programmi in esecuzione con i relativi dati. Questa memoria è temporanea (si dice anche “volatile”) e viene cancellata quando il computer viene spento. La memoria ausiliare invece conserva i dati anche a computer spento. La </a:t>
            </a:r>
            <a:r>
              <a:rPr lang="it-IT" sz="1800" b="1" dirty="0">
                <a:effectLst/>
                <a:latin typeface="Times New Roman" panose="02020603050405020304" pitchFamily="18" charset="0"/>
                <a:ea typeface="MS Mincho" panose="02020609040205080304" pitchFamily="49" charset="-128"/>
              </a:rPr>
              <a:t>memoria ausiliare</a:t>
            </a:r>
            <a:r>
              <a:rPr lang="it-IT" sz="1800" dirty="0">
                <a:effectLst/>
                <a:latin typeface="Times New Roman" panose="02020603050405020304" pitchFamily="18" charset="0"/>
                <a:ea typeface="MS Mincho" panose="02020609040205080304" pitchFamily="49" charset="-128"/>
              </a:rPr>
              <a:t> è solitamente molto più estesa di quella principale, ma anche meno performante dal punto di vista della velocità di immagazzinamento dati. In un computer, è di solito presente sotto forma di hard disk (in italiano “disco rigido”) e altri dispositivi come memorie a stato solido (SSD), penne USB, etc.</a:t>
            </a:r>
          </a:p>
          <a:p>
            <a:endParaRPr lang="it-IT" dirty="0"/>
          </a:p>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4</a:t>
            </a:fld>
            <a:endParaRPr lang="it-IT"/>
          </a:p>
        </p:txBody>
      </p:sp>
    </p:spTree>
    <p:extLst>
      <p:ext uri="{BB962C8B-B14F-4D97-AF65-F5344CB8AC3E}">
        <p14:creationId xmlns:p14="http://schemas.microsoft.com/office/powerpoint/2010/main" val="572347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Per utilizzare un computer c’è bisogno di programmi che contengano istruzioni da far eseguire all’hardware sottostante. Senza le istruzioni scritte all’interno di un programma, l’hardware di un computer, è poco utile. Noi quindi impareremo a scrivere software, ma cerchiamo di avere un’idea più chiara di cosa significa software.</a:t>
            </a: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1.1.2.1 Sistemi operativi</a:t>
            </a:r>
          </a:p>
          <a:p>
            <a:r>
              <a:rPr lang="it-IT" sz="1800" dirty="0">
                <a:effectLst/>
                <a:latin typeface="Times New Roman" panose="02020603050405020304" pitchFamily="18" charset="0"/>
                <a:ea typeface="MS Mincho" panose="02020609040205080304" pitchFamily="49" charset="-128"/>
              </a:rPr>
              <a:t>Un computer esegue almeno un programma principale che lo caratterizza, e che spesso viene identificato con il computer stesso: il </a:t>
            </a:r>
            <a:r>
              <a:rPr lang="it-IT" sz="1800" b="1" dirty="0">
                <a:effectLst/>
                <a:latin typeface="Times New Roman" panose="02020603050405020304" pitchFamily="18" charset="0"/>
                <a:ea typeface="MS Mincho" panose="02020609040205080304" pitchFamily="49" charset="-128"/>
              </a:rPr>
              <a:t>sistema operativo</a:t>
            </a:r>
            <a:r>
              <a:rPr lang="it-IT" sz="1800" dirty="0">
                <a:effectLst/>
                <a:latin typeface="Times New Roman" panose="02020603050405020304" pitchFamily="18" charset="0"/>
                <a:ea typeface="MS Mincho" panose="02020609040205080304" pitchFamily="49" charset="-128"/>
              </a:rPr>
              <a:t>. Esso gestisce il funzionamento del computer nel suo insieme, ed in particolare, i componenti hardware del computer.  Inoltre, mette a disposizione tra l’altro la possibilità di installare ed eseguire altri programmi, i quali saranno messi in comunicazione con l’hardware del computer, grazie al supporto del sistema operativo. Quando si scrive un programma quindi, bisogna tenere conto del sistema operativo su cui deve essere eseguito. Oggigiorno i più famosi sistemi operativi sono i sistemi Windows della Microsoft, i macOS della Apple, e i sistemi Linux e Unix. Per esempio, sui sistemi operativi Windows 10, troviamo spesso installati programmi come Word, Chrome, WinRar etc. </a:t>
            </a: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1.1.2.2 Tipologie di software</a:t>
            </a:r>
          </a:p>
          <a:p>
            <a:r>
              <a:rPr lang="it-IT" sz="1800" dirty="0">
                <a:effectLst/>
                <a:latin typeface="Times New Roman" panose="02020603050405020304" pitchFamily="18" charset="0"/>
                <a:ea typeface="MS Mincho" panose="02020609040205080304" pitchFamily="49" charset="-128"/>
              </a:rPr>
              <a:t>Esistono diverse tipologie di programmi, facciamo qualche esempio. </a:t>
            </a:r>
          </a:p>
          <a:p>
            <a:r>
              <a:rPr lang="it-IT" sz="1800" dirty="0">
                <a:effectLst/>
                <a:latin typeface="Times New Roman" panose="02020603050405020304" pitchFamily="18" charset="0"/>
                <a:ea typeface="MS Mincho" panose="02020609040205080304" pitchFamily="49" charset="-128"/>
              </a:rPr>
              <a:t>Un </a:t>
            </a:r>
            <a:r>
              <a:rPr lang="it-IT" sz="1800" b="1" dirty="0">
                <a:effectLst/>
                <a:latin typeface="Times New Roman" panose="02020603050405020304" pitchFamily="18" charset="0"/>
                <a:ea typeface="MS Mincho" panose="02020609040205080304" pitchFamily="49" charset="-128"/>
              </a:rPr>
              <a:t>browser</a:t>
            </a:r>
            <a:r>
              <a:rPr lang="it-IT" sz="1800" dirty="0">
                <a:effectLst/>
                <a:latin typeface="Times New Roman" panose="02020603050405020304" pitchFamily="18" charset="0"/>
                <a:ea typeface="MS Mincho" panose="02020609040205080304" pitchFamily="49" charset="-128"/>
              </a:rPr>
              <a:t> è un programma che permette di navigare in internet. Esempi famosi di browser sono Chrome, Firefox, Edge ed altri. Un </a:t>
            </a:r>
            <a:r>
              <a:rPr lang="it-IT" sz="1800" b="1" dirty="0">
                <a:effectLst/>
                <a:latin typeface="Times New Roman" panose="02020603050405020304" pitchFamily="18" charset="0"/>
                <a:ea typeface="MS Mincho" panose="02020609040205080304" pitchFamily="49" charset="-128"/>
              </a:rPr>
              <a:t>IDE</a:t>
            </a:r>
            <a:r>
              <a:rPr lang="it-IT" sz="1800" dirty="0">
                <a:effectLst/>
                <a:latin typeface="Times New Roman" panose="02020603050405020304" pitchFamily="18" charset="0"/>
                <a:ea typeface="MS Mincho" panose="02020609040205080304" pitchFamily="49" charset="-128"/>
              </a:rPr>
              <a:t> invece è un </a:t>
            </a:r>
            <a:r>
              <a:rPr lang="it-IT" sz="1800" i="1" dirty="0">
                <a:effectLst/>
                <a:latin typeface="Times New Roman" panose="02020603050405020304" pitchFamily="18" charset="0"/>
                <a:ea typeface="MS Mincho" panose="02020609040205080304" pitchFamily="49" charset="-128"/>
              </a:rPr>
              <a:t>ambiente di programmazione</a:t>
            </a:r>
            <a:r>
              <a:rPr lang="it-IT" sz="1800" dirty="0">
                <a:effectLst/>
                <a:latin typeface="Times New Roman" panose="02020603050405020304" pitchFamily="18" charset="0"/>
                <a:ea typeface="MS Mincho" panose="02020609040205080304" pitchFamily="49" charset="-128"/>
              </a:rPr>
              <a:t> che integra diversi strumenti (“IDE” è l’acronimo per “Integrated Development Environment” ovvero “ambiente di sviluppo integrato”). Per programmare, un IDE è un aiuto veramente importante, ! Gli IDE per Java più famosi sono sicuramente Eclipse, Netbeans ed IntelliJ IDEA. Un </a:t>
            </a:r>
            <a:r>
              <a:rPr lang="it-IT" sz="1800" b="1" dirty="0">
                <a:effectLst/>
                <a:latin typeface="Times New Roman" panose="02020603050405020304" pitchFamily="18" charset="0"/>
                <a:ea typeface="MS Mincho" panose="02020609040205080304" pitchFamily="49" charset="-128"/>
              </a:rPr>
              <a:t>lettore multimediale</a:t>
            </a:r>
            <a:r>
              <a:rPr lang="it-IT" sz="1800" dirty="0">
                <a:effectLst/>
                <a:latin typeface="Times New Roman" panose="02020603050405020304" pitchFamily="18" charset="0"/>
                <a:ea typeface="MS Mincho" panose="02020609040205080304" pitchFamily="49" charset="-128"/>
              </a:rPr>
              <a:t> invece, permette di visualizzare video o ascoltare audio. Esempi di lettori multimediali sono VLC e KMPlayer. Gli </a:t>
            </a:r>
            <a:r>
              <a:rPr lang="it-IT" sz="1800" b="1" dirty="0">
                <a:effectLst/>
                <a:latin typeface="Times New Roman" panose="02020603050405020304" pitchFamily="18" charset="0"/>
                <a:ea typeface="MS Mincho" panose="02020609040205080304" pitchFamily="49" charset="-128"/>
              </a:rPr>
              <a:t>editor</a:t>
            </a:r>
            <a:r>
              <a:rPr lang="it-IT" sz="1800" dirty="0">
                <a:effectLst/>
                <a:latin typeface="Times New Roman" panose="02020603050405020304" pitchFamily="18" charset="0"/>
                <a:ea typeface="MS Mincho" panose="02020609040205080304" pitchFamily="49" charset="-128"/>
              </a:rPr>
              <a:t> di testo permettono di scrivere e salvare dei file testuali. Un esempio “primitivo” di editor, è il Blocco Note di Windows, ma anche Microsoft Word ricade in questa tipologia di software, anche se è molto più complesso e solitamente si parla di </a:t>
            </a:r>
            <a:r>
              <a:rPr lang="it-IT" sz="1800" b="1" dirty="0">
                <a:effectLst/>
                <a:latin typeface="Times New Roman" panose="02020603050405020304" pitchFamily="18" charset="0"/>
                <a:ea typeface="MS Mincho" panose="02020609040205080304" pitchFamily="49" charset="-128"/>
              </a:rPr>
              <a:t>programma di videoscrittura</a:t>
            </a:r>
            <a:r>
              <a:rPr lang="it-IT" sz="1800" dirty="0">
                <a:effectLst/>
                <a:latin typeface="Times New Roman" panose="02020603050405020304" pitchFamily="18" charset="0"/>
                <a:ea typeface="MS Mincho" panose="02020609040205080304" pitchFamily="49" charset="-128"/>
              </a:rPr>
              <a:t>.</a:t>
            </a:r>
          </a:p>
          <a:p>
            <a:r>
              <a:rPr lang="it-IT" sz="1800" dirty="0">
                <a:effectLst/>
                <a:latin typeface="Times New Roman" panose="02020603050405020304" pitchFamily="18" charset="0"/>
                <a:ea typeface="MS Mincho" panose="02020609040205080304" pitchFamily="49" charset="-128"/>
              </a:rPr>
              <a:t>Quindi i programmi hanno funzionalità completamente diverse tra loro. Tutti i programmi però, sono accomunati dal fatto che eseguono istruzioni che si basano su dati di input, eseguono determinate attività e producono un risultato come output. Per esempio, il programma Calcolatrice di Windows, prende come input gli operatori e gli operandi specificati dall’utente, esegue i calcoli, e restituisce come output un risultato. Un browser invece può prendere in input un indirizzo internet inserito dall’utente mediante la tastiera. Può eseguire un processo che comprende l’individuazione della risorsa richiesta on line, il recupero del codice che costituisce la pagina web, l’interpretazione dei linguaggi e delle tecnologie che vengono utilizzate nel codice della pagina. Può infine produrre in output la formattazione della pagina così come la vede l’utente. Quindi i programmi ricevono degli input, eseguono delle operazioni, e producono degli output.</a:t>
            </a:r>
          </a:p>
        </p:txBody>
      </p:sp>
    </p:spTree>
    <p:extLst>
      <p:ext uri="{BB962C8B-B14F-4D97-AF65-F5344CB8AC3E}">
        <p14:creationId xmlns:p14="http://schemas.microsoft.com/office/powerpoint/2010/main" val="1854994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Per realizzare un programma bisogna utilizzare un linguaggio di programmazione. Un </a:t>
            </a:r>
            <a:r>
              <a:rPr lang="it-IT" sz="1800" b="1" dirty="0">
                <a:effectLst/>
                <a:latin typeface="Times New Roman" panose="02020603050405020304" pitchFamily="18" charset="0"/>
                <a:ea typeface="MS Mincho" panose="02020609040205080304" pitchFamily="49" charset="-128"/>
              </a:rPr>
              <a:t>linguaggio di programmazione</a:t>
            </a:r>
            <a:r>
              <a:rPr lang="it-IT" sz="1800" dirty="0">
                <a:effectLst/>
                <a:latin typeface="Times New Roman" panose="02020603050405020304" pitchFamily="18" charset="0"/>
                <a:ea typeface="MS Mincho" panose="02020609040205080304" pitchFamily="49" charset="-128"/>
              </a:rPr>
              <a:t> è un mezzo che permette di comunicare delle istruzioni al computer in modo che esso le esegua nel contesto di un programma. Si tratta appunto di un linguaggio con un suo vocabolario e le sue regole. Il vocabolario è quasi sempre piuttosto scarno ma le regole sono solitamente tante.</a:t>
            </a: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L’insieme delle sue regole è detto talvolta “grammatica del linguaggio”.</a:t>
            </a:r>
            <a:endParaRPr lang="it-IT" sz="1800" b="1" dirty="0">
              <a:effectLst/>
              <a:latin typeface="(Tipo di carattere testo asiati"/>
              <a:ea typeface="Times New Roman" panose="02020603050405020304" pitchFamily="18" charset="0"/>
              <a:cs typeface="(Tipo di carattere testo asiati"/>
            </a:endParaRPr>
          </a:p>
          <a:p>
            <a:r>
              <a:rPr lang="it-IT" sz="1800" dirty="0">
                <a:effectLst/>
                <a:latin typeface="Times New Roman" panose="02020603050405020304" pitchFamily="18" charset="0"/>
                <a:ea typeface="MS Mincho" panose="02020609040205080304" pitchFamily="49" charset="-128"/>
              </a:rPr>
              <a:t>Esistono tantissimi linguaggi di programmazione e il racconto della loro storia è affascinante. Linguaggi come Assembly, Fortran, Basic, COBOL, Pascal, C, C++, LISP, Prolog, SmallTalk, Visual Basic, Javascript e Java, sono solo alcuni dei linguaggi che hanno fatto la storia della programmazione (la lista sarebbe lunghissima). La domanda sorge spontanea: un computer riesce a comprendere tutti questi linguaggi? Ovviamente no! </a:t>
            </a:r>
            <a:endParaRPr lang="it-IT"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L’hardware di un computer è in grado di comprendere un unico linguaggio, detto </a:t>
            </a:r>
            <a:r>
              <a:rPr lang="it-IT" sz="1800" b="1" dirty="0">
                <a:effectLst/>
                <a:latin typeface="Times New Roman" panose="02020603050405020304" pitchFamily="18" charset="0"/>
                <a:ea typeface="MS Mincho" panose="02020609040205080304" pitchFamily="49" charset="-128"/>
              </a:rPr>
              <a:t>linguaggio macchina</a:t>
            </a:r>
            <a:r>
              <a:rPr lang="it-IT" sz="1800" dirty="0">
                <a:effectLst/>
                <a:latin typeface="Times New Roman" panose="02020603050405020304" pitchFamily="18" charset="0"/>
                <a:ea typeface="MS Mincho" panose="02020609040205080304" pitchFamily="49" charset="-128"/>
              </a:rPr>
              <a:t>. Il linguaggio macchina ha un vocabolario definito convenzionalmente dal </a:t>
            </a:r>
            <a:r>
              <a:rPr lang="it-IT" sz="1800" b="1" dirty="0">
                <a:effectLst/>
                <a:latin typeface="Times New Roman" panose="02020603050405020304" pitchFamily="18" charset="0"/>
                <a:ea typeface="MS Mincho" panose="02020609040205080304" pitchFamily="49" charset="-128"/>
              </a:rPr>
              <a:t>sistema numerico binario</a:t>
            </a:r>
            <a:r>
              <a:rPr lang="it-IT" sz="1800" dirty="0">
                <a:effectLst/>
                <a:latin typeface="Times New Roman" panose="02020603050405020304" pitchFamily="18" charset="0"/>
                <a:ea typeface="MS Mincho" panose="02020609040205080304" pitchFamily="49" charset="-128"/>
              </a:rPr>
              <a:t> (di cui parleremo più avanti), e quindi formato solamente da due simboli: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MS Mincho" panose="02020609040205080304" pitchFamily="49" charset="-128"/>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MS Mincho" panose="02020609040205080304" pitchFamily="49" charset="-128"/>
              </a:rPr>
              <a:t>. Componendo in sequenza questi simboli si ottengono delle “parole”, e con tali parole è possibile creare delle istruzioni da far eseguire al processore. Sembra evidente che scrivere un programma con il linguaggio macchina, richiederebbe molto sforzo, ecco perché esistono i linguaggi di programmazione.</a:t>
            </a:r>
          </a:p>
          <a:p>
            <a:r>
              <a:rPr lang="it-IT" sz="1800" b="1" dirty="0">
                <a:effectLst/>
                <a:latin typeface="Times New Roman" panose="02020603050405020304" pitchFamily="18" charset="0"/>
                <a:ea typeface="MS Mincho" panose="02020609040205080304" pitchFamily="49" charset="-128"/>
              </a:rPr>
              <a:t>(ICONA CURIOSITÀ)</a:t>
            </a:r>
            <a:endParaRPr lang="it-IT" sz="1800" dirty="0">
              <a:effectLst/>
              <a:latin typeface="Times New Roman" panose="02020603050405020304" pitchFamily="18" charset="0"/>
              <a:ea typeface="MS Mincho" panose="02020609040205080304" pitchFamily="49" charset="-128"/>
            </a:endParaRP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Esistendo diverse tipologie di processori è scorretto tecnicamente parlare dell’esistenza di un unico linguaggio macchina, in realtà ne esistono tanti. Ogni processore sa interpretare uno specifico linguaggio macchina. </a:t>
            </a:r>
            <a:endParaRPr lang="it-IT" sz="1800" b="1" dirty="0">
              <a:effectLst/>
              <a:latin typeface="(Tipo di carattere testo asiati"/>
              <a:ea typeface="Times New Roman" panose="02020603050405020304" pitchFamily="18" charset="0"/>
              <a:cs typeface="(Tipo di carattere testo asiati"/>
            </a:endParaRPr>
          </a:p>
          <a:p>
            <a:r>
              <a:rPr lang="it-IT" sz="1800" dirty="0">
                <a:effectLst/>
                <a:latin typeface="Times New Roman" panose="02020603050405020304" pitchFamily="18" charset="0"/>
                <a:ea typeface="MS Mincho" panose="02020609040205080304" pitchFamily="49" charset="-128"/>
              </a:rPr>
              <a:t>Allora come fa un computer a capire un programma scritto in un qualsiasi linguaggio di programmazione quando è capace di comprendere solo il linguaggio macchina? E come possiamo creare un programma per computer di cui non si conosce a priori il processore e quindi il linguaggio macchina? Sembra proprio che manchi un “traduttore”, ed infatti è così.</a:t>
            </a:r>
          </a:p>
        </p:txBody>
      </p:sp>
    </p:spTree>
    <p:extLst>
      <p:ext uri="{BB962C8B-B14F-4D97-AF65-F5344CB8AC3E}">
        <p14:creationId xmlns:p14="http://schemas.microsoft.com/office/powerpoint/2010/main" val="796897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I linguaggi moderni come Java, sono detti </a:t>
            </a:r>
            <a:r>
              <a:rPr lang="it-IT" sz="1800" b="1" dirty="0">
                <a:effectLst/>
                <a:latin typeface="Times New Roman" panose="02020603050405020304" pitchFamily="18" charset="0"/>
                <a:ea typeface="MS Mincho" panose="02020609040205080304" pitchFamily="49" charset="-128"/>
              </a:rPr>
              <a:t>linguaggi di alto livello</a:t>
            </a:r>
            <a:r>
              <a:rPr lang="it-IT" sz="1800" dirty="0">
                <a:effectLst/>
                <a:latin typeface="Times New Roman" panose="02020603050405020304" pitchFamily="18" charset="0"/>
                <a:ea typeface="MS Mincho" panose="02020609040205080304" pitchFamily="49" charset="-128"/>
              </a:rPr>
              <a:t>, ovvero linguaggi che sono molto vicini al linguaggio che noi utilizziamo ogni giorno per comunicare, e di conseguenza molto distanti dal linguaggio macchina (che ricordiamo può usare solo i simboli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MS Mincho" panose="02020609040205080304" pitchFamily="49" charset="-128"/>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MS Mincho" panose="02020609040205080304" pitchFamily="49" charset="-128"/>
              </a:rPr>
              <a:t> per formulare le sue istruzioni). Invece i linguaggi come l’Assembly che sono invece molto vicini al linguaggio macchina, sono detti </a:t>
            </a:r>
            <a:r>
              <a:rPr lang="it-IT" sz="1800" b="1" dirty="0">
                <a:effectLst/>
                <a:latin typeface="Times New Roman" panose="02020603050405020304" pitchFamily="18" charset="0"/>
                <a:ea typeface="MS Mincho" panose="02020609040205080304" pitchFamily="49" charset="-128"/>
              </a:rPr>
              <a:t>linguaggi di basso livello</a:t>
            </a:r>
            <a:r>
              <a:rPr lang="it-IT" sz="1800" dirty="0">
                <a:effectLst/>
                <a:latin typeface="Times New Roman" panose="02020603050405020304" pitchFamily="18" charset="0"/>
                <a:ea typeface="MS Mincho" panose="02020609040205080304" pitchFamily="49" charset="-128"/>
              </a:rPr>
              <a:t>. Ma sia i programmi scritti con Assembly, che quelli scritti con Java ,richiedono una traduzione in linguaggio macchina per essere compresi dal processore. Questa traduzione viene fatta da un software che fa parte dell’ambiente di programmazione del linguaggio, chiamato </a:t>
            </a:r>
            <a:r>
              <a:rPr lang="it-IT" sz="1800" b="1" dirty="0">
                <a:effectLst/>
                <a:latin typeface="Times New Roman" panose="02020603050405020304" pitchFamily="18" charset="0"/>
                <a:ea typeface="MS Mincho" panose="02020609040205080304" pitchFamily="49" charset="-128"/>
              </a:rPr>
              <a:t>compilatore</a:t>
            </a:r>
            <a:r>
              <a:rPr lang="it-IT" sz="1800" dirty="0">
                <a:effectLst/>
                <a:latin typeface="Times New Roman" panose="02020603050405020304" pitchFamily="18" charset="0"/>
                <a:ea typeface="MS Mincho" panose="02020609040205080304" pitchFamily="49" charset="-128"/>
              </a:rPr>
              <a:t>. Un compilatore quindi è un software che traduce le istruzioni scritte con un linguaggio di programmazione, in istruzioni scritte in linguaggio macchina.</a:t>
            </a:r>
          </a:p>
          <a:p>
            <a:r>
              <a:rPr lang="it-IT" sz="1800" dirty="0">
                <a:effectLst/>
                <a:latin typeface="Times New Roman" panose="02020603050405020304" pitchFamily="18" charset="0"/>
                <a:ea typeface="MS Mincho" panose="02020609040205080304" pitchFamily="49" charset="-128"/>
              </a:rPr>
              <a:t>Il processo di sviluppo di un programma comprenderà quindi i seguenti passi:</a:t>
            </a:r>
          </a:p>
          <a:p>
            <a:pPr marL="180340" indent="180340"/>
            <a:r>
              <a:rPr lang="it-IT" sz="1800" dirty="0">
                <a:effectLst/>
                <a:latin typeface="Times New Roman" panose="02020603050405020304" pitchFamily="18" charset="0"/>
                <a:ea typeface="MS Mincho" panose="02020609040205080304" pitchFamily="49" charset="-128"/>
              </a:rPr>
              <a:t>il programmatore scrive un programma utilizzando un linguaggio di programmazione. Rispettando le regole del linguaggio salva le istruzioni all’interno di uno o più file testuali. Si dice che tali file contengono il </a:t>
            </a:r>
            <a:r>
              <a:rPr lang="it-IT" sz="1800" b="1" dirty="0">
                <a:effectLst/>
                <a:latin typeface="Times New Roman" panose="02020603050405020304" pitchFamily="18" charset="0"/>
                <a:ea typeface="MS Mincho" panose="02020609040205080304" pitchFamily="49" charset="-128"/>
              </a:rPr>
              <a:t>codice sorgente</a:t>
            </a:r>
            <a:r>
              <a:rPr lang="it-IT" sz="1800" dirty="0">
                <a:effectLst/>
                <a:latin typeface="Times New Roman" panose="02020603050405020304" pitchFamily="18" charset="0"/>
                <a:ea typeface="MS Mincho" panose="02020609040205080304" pitchFamily="49" charset="-128"/>
              </a:rPr>
              <a:t> (in inglese </a:t>
            </a:r>
            <a:r>
              <a:rPr lang="it-IT" sz="1800" b="1" dirty="0">
                <a:effectLst/>
                <a:latin typeface="Times New Roman" panose="02020603050405020304" pitchFamily="18" charset="0"/>
                <a:ea typeface="MS Mincho" panose="02020609040205080304" pitchFamily="49" charset="-128"/>
              </a:rPr>
              <a:t>source code</a:t>
            </a:r>
            <a:r>
              <a:rPr lang="it-IT" sz="1800" dirty="0">
                <a:effectLst/>
                <a:latin typeface="Times New Roman" panose="02020603050405020304" pitchFamily="18" charset="0"/>
                <a:ea typeface="MS Mincho" panose="02020609040205080304" pitchFamily="49" charset="-128"/>
              </a:rPr>
              <a:t>) del programma, ed i file testuali stessi vengono detti </a:t>
            </a:r>
            <a:r>
              <a:rPr lang="it-IT" sz="1800" b="1" dirty="0">
                <a:effectLst/>
                <a:latin typeface="Times New Roman" panose="02020603050405020304" pitchFamily="18" charset="0"/>
                <a:ea typeface="MS Mincho" panose="02020609040205080304" pitchFamily="49" charset="-128"/>
              </a:rPr>
              <a:t>file sorgente</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Il programmatore darà in input i file sorgente ad un compilatore. Esso, dopo aver verificato la correttezza del codice sorgente, tradurrà le istruzioni dal codice sorgente in istruzioni scritte in linguaggio macchina. Per fare questo il compilatore creerà a partire da file di testo i cosiddetti </a:t>
            </a:r>
            <a:r>
              <a:rPr lang="it-IT" sz="1800" b="1" dirty="0">
                <a:effectLst/>
                <a:latin typeface="Times New Roman" panose="02020603050405020304" pitchFamily="18" charset="0"/>
                <a:ea typeface="MS Mincho" panose="02020609040205080304" pitchFamily="49" charset="-128"/>
              </a:rPr>
              <a:t>file binari</a:t>
            </a:r>
            <a:r>
              <a:rPr lang="it-IT" sz="1800" dirty="0">
                <a:effectLst/>
                <a:latin typeface="Times New Roman" panose="02020603050405020304" pitchFamily="18" charset="0"/>
                <a:ea typeface="MS Mincho" panose="02020609040205080304" pitchFamily="49" charset="-128"/>
              </a:rPr>
              <a:t> (detti anche detti </a:t>
            </a:r>
            <a:r>
              <a:rPr lang="it-IT" sz="1800" b="1" dirty="0">
                <a:effectLst/>
                <a:latin typeface="Times New Roman" panose="02020603050405020304" pitchFamily="18" charset="0"/>
                <a:ea typeface="MS Mincho" panose="02020609040205080304" pitchFamily="49" charset="-128"/>
              </a:rPr>
              <a:t>file eseguibili</a:t>
            </a:r>
            <a:r>
              <a:rPr lang="it-IT" sz="1800" dirty="0">
                <a:effectLst/>
                <a:latin typeface="Times New Roman" panose="02020603050405020304" pitchFamily="18" charset="0"/>
                <a:ea typeface="MS Mincho" panose="02020609040205080304" pitchFamily="49" charset="-128"/>
              </a:rPr>
              <a:t>, o </a:t>
            </a:r>
            <a:r>
              <a:rPr lang="it-IT" sz="1800" b="1" dirty="0">
                <a:effectLst/>
                <a:latin typeface="Times New Roman" panose="02020603050405020304" pitchFamily="18" charset="0"/>
                <a:ea typeface="MS Mincho" panose="02020609040205080304" pitchFamily="49" charset="-128"/>
              </a:rPr>
              <a:t>file oggetto</a:t>
            </a:r>
            <a:r>
              <a:rPr lang="it-IT" sz="1800" dirty="0">
                <a:effectLst/>
                <a:latin typeface="Times New Roman" panose="02020603050405020304" pitchFamily="18" charset="0"/>
                <a:ea typeface="MS Mincho" panose="02020609040205080304" pitchFamily="49" charset="-128"/>
              </a:rPr>
              <a:t>). I file binari sono direttamente eseguibili dal processore ogni volta che verranno eseguiti, e rappresentano il programma stesso. Per esempio sui sistemi operativi Windows, i programmi eseguibili sono solitamente identificati dal suffisso “.exe” (</a:t>
            </a:r>
            <a:r>
              <a:rPr lang="it-IT" sz="1800" dirty="0">
                <a:effectLst/>
                <a:latin typeface="Arial" panose="020B0604020202020204" pitchFamily="34" charset="0"/>
                <a:ea typeface="MS Mincho" panose="02020609040205080304" pitchFamily="49" charset="-128"/>
                <a:cs typeface="Arial" panose="020B0604020202020204" pitchFamily="34" charset="0"/>
              </a:rPr>
              <a:t>Skype.exe</a:t>
            </a:r>
            <a:r>
              <a:rPr lang="it-IT" sz="1800" dirty="0">
                <a:effectLst/>
                <a:latin typeface="Times New Roman" panose="02020603050405020304" pitchFamily="18" charset="0"/>
                <a:ea typeface="MS Mincho" panose="02020609040205080304" pitchFamily="49" charset="-128"/>
              </a:rPr>
              <a:t>, </a:t>
            </a:r>
            <a:r>
              <a:rPr lang="it-IT" sz="1800" dirty="0">
                <a:effectLst/>
                <a:latin typeface="Arial" panose="020B0604020202020204" pitchFamily="34" charset="0"/>
                <a:ea typeface="MS Mincho" panose="02020609040205080304" pitchFamily="49" charset="-128"/>
                <a:cs typeface="Arial" panose="020B0604020202020204" pitchFamily="34" charset="0"/>
              </a:rPr>
              <a:t>Calc.exe</a:t>
            </a:r>
            <a:r>
              <a:rPr lang="it-IT" sz="1800" dirty="0">
                <a:effectLst/>
                <a:latin typeface="Times New Roman" panose="02020603050405020304" pitchFamily="18" charset="0"/>
                <a:ea typeface="MS Mincho" panose="02020609040205080304" pitchFamily="49" charset="-128"/>
              </a:rPr>
              <a:t>, </a:t>
            </a:r>
            <a:r>
              <a:rPr lang="it-IT" sz="1800" dirty="0">
                <a:effectLst/>
                <a:latin typeface="Arial" panose="020B0604020202020204" pitchFamily="34" charset="0"/>
                <a:ea typeface="MS Mincho" panose="02020609040205080304" pitchFamily="49" charset="-128"/>
                <a:cs typeface="Arial" panose="020B0604020202020204" pitchFamily="34" charset="0"/>
              </a:rPr>
              <a:t>Zoom.exe</a:t>
            </a:r>
            <a:r>
              <a:rPr lang="it-IT" sz="1800" dirty="0">
                <a:effectLst/>
                <a:latin typeface="Times New Roman" panose="02020603050405020304" pitchFamily="18" charset="0"/>
                <a:ea typeface="MS Mincho" panose="02020609040205080304" pitchFamily="49" charset="-128"/>
              </a:rPr>
              <a:t> etc.).</a:t>
            </a:r>
          </a:p>
          <a:p>
            <a:r>
              <a:rPr lang="it-IT" sz="1800" dirty="0">
                <a:effectLst/>
                <a:latin typeface="Times New Roman" panose="02020603050405020304" pitchFamily="18" charset="0"/>
                <a:ea typeface="MS Mincho" panose="02020609040205080304" pitchFamily="49" charset="-128"/>
              </a:rPr>
              <a:t>I linguaggi che godono del supporto di un compilatore vengono detti </a:t>
            </a:r>
            <a:r>
              <a:rPr lang="it-IT" sz="1800" b="1" dirty="0">
                <a:effectLst/>
                <a:latin typeface="Times New Roman" panose="02020603050405020304" pitchFamily="18" charset="0"/>
                <a:ea typeface="MS Mincho" panose="02020609040205080304" pitchFamily="49" charset="-128"/>
              </a:rPr>
              <a:t>linguaggi compilati</a:t>
            </a:r>
            <a:r>
              <a:rPr lang="it-IT" sz="1800" dirty="0">
                <a:effectLst/>
                <a:latin typeface="Times New Roman" panose="02020603050405020304" pitchFamily="18" charset="0"/>
                <a:ea typeface="MS Mincho" panose="02020609040205080304" pitchFamily="49" charset="-128"/>
              </a:rPr>
              <a:t>, e seguono lo schema rappresentato nella Figura 1.1. In tale schema viene riportato un esempio dei passi che occorrono per realizzare un programma eseguibile su varie piattaforme.</a:t>
            </a:r>
          </a:p>
          <a:p>
            <a:r>
              <a:rPr lang="it-IT" sz="1800" b="1" dirty="0">
                <a:solidFill>
                  <a:srgbClr val="0000FF"/>
                </a:solidFill>
                <a:effectLst/>
                <a:latin typeface="Arial" panose="020B0604020202020204" pitchFamily="34" charset="0"/>
                <a:ea typeface="MS Mincho" panose="02020609040205080304" pitchFamily="49" charset="-128"/>
              </a:rPr>
              <a:t>Figura 1.1 – Processo per creare programmi per più piattaforme con un linguaggio compilato.</a:t>
            </a:r>
          </a:p>
          <a:p>
            <a:r>
              <a:rPr lang="it-IT" sz="1800" dirty="0">
                <a:effectLst/>
                <a:latin typeface="Times New Roman" panose="02020603050405020304" pitchFamily="18" charset="0"/>
                <a:ea typeface="MS Mincho" panose="02020609040205080304" pitchFamily="49" charset="-128"/>
              </a:rPr>
              <a:t>Notare che per creare un programma che giri su più piattaforme, è necessario compilare il codice sorgente sulle varie piattaforme con compilatori specifici. La compilazione è però un processo relativamente semplice, che di solito richiede all’utente di premere un bottone su un certo IDE. Il problema è che spesso, affinché un programma sia eseguibile su più piattaforme, bisogna modificarne il codice sorgente. </a:t>
            </a:r>
          </a:p>
        </p:txBody>
      </p:sp>
    </p:spTree>
    <p:extLst>
      <p:ext uri="{BB962C8B-B14F-4D97-AF65-F5344CB8AC3E}">
        <p14:creationId xmlns:p14="http://schemas.microsoft.com/office/powerpoint/2010/main" val="3326710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I linguaggi moderni come Java, sono detti </a:t>
            </a:r>
            <a:r>
              <a:rPr lang="it-IT" sz="1800" b="1" dirty="0">
                <a:effectLst/>
                <a:latin typeface="Times New Roman" panose="02020603050405020304" pitchFamily="18" charset="0"/>
                <a:ea typeface="MS Mincho" panose="02020609040205080304" pitchFamily="49" charset="-128"/>
              </a:rPr>
              <a:t>linguaggi di alto livello</a:t>
            </a:r>
            <a:r>
              <a:rPr lang="it-IT" sz="1800" dirty="0">
                <a:effectLst/>
                <a:latin typeface="Times New Roman" panose="02020603050405020304" pitchFamily="18" charset="0"/>
                <a:ea typeface="MS Mincho" panose="02020609040205080304" pitchFamily="49" charset="-128"/>
              </a:rPr>
              <a:t>, ovvero linguaggi che sono molto vicini al linguaggio che noi utilizziamo ogni giorno per comunicare, e di conseguenza molto distanti dal linguaggio macchina (che ricordiamo può usare solo i simboli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MS Mincho" panose="02020609040205080304" pitchFamily="49" charset="-128"/>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MS Mincho" panose="02020609040205080304" pitchFamily="49" charset="-128"/>
              </a:rPr>
              <a:t> per formulare le sue istruzioni). Invece i linguaggi come l’Assembly che sono invece molto vicini al linguaggio macchina, sono detti </a:t>
            </a:r>
            <a:r>
              <a:rPr lang="it-IT" sz="1800" b="1" dirty="0">
                <a:effectLst/>
                <a:latin typeface="Times New Roman" panose="02020603050405020304" pitchFamily="18" charset="0"/>
                <a:ea typeface="MS Mincho" panose="02020609040205080304" pitchFamily="49" charset="-128"/>
              </a:rPr>
              <a:t>linguaggi di basso livello</a:t>
            </a:r>
            <a:r>
              <a:rPr lang="it-IT" sz="1800" dirty="0">
                <a:effectLst/>
                <a:latin typeface="Times New Roman" panose="02020603050405020304" pitchFamily="18" charset="0"/>
                <a:ea typeface="MS Mincho" panose="02020609040205080304" pitchFamily="49" charset="-128"/>
              </a:rPr>
              <a:t>. Ma sia i programmi scritti con Assembly, che quelli scritti con Java ,richiedono una traduzione in linguaggio macchina per essere compresi dal processore. Questa traduzione viene fatta da un software che fa parte dell’ambiente di programmazione del linguaggio, chiamato </a:t>
            </a:r>
            <a:r>
              <a:rPr lang="it-IT" sz="1800" b="1" dirty="0">
                <a:effectLst/>
                <a:latin typeface="Times New Roman" panose="02020603050405020304" pitchFamily="18" charset="0"/>
                <a:ea typeface="MS Mincho" panose="02020609040205080304" pitchFamily="49" charset="-128"/>
              </a:rPr>
              <a:t>compilatore</a:t>
            </a:r>
            <a:r>
              <a:rPr lang="it-IT" sz="1800" dirty="0">
                <a:effectLst/>
                <a:latin typeface="Times New Roman" panose="02020603050405020304" pitchFamily="18" charset="0"/>
                <a:ea typeface="MS Mincho" panose="02020609040205080304" pitchFamily="49" charset="-128"/>
              </a:rPr>
              <a:t>. Un compilatore quindi è un software che traduce le istruzioni scritte con un linguaggio di programmazione, in istruzioni scritte in linguaggio macchina.</a:t>
            </a:r>
          </a:p>
          <a:p>
            <a:r>
              <a:rPr lang="it-IT" sz="1800" dirty="0">
                <a:effectLst/>
                <a:latin typeface="Times New Roman" panose="02020603050405020304" pitchFamily="18" charset="0"/>
                <a:ea typeface="MS Mincho" panose="02020609040205080304" pitchFamily="49" charset="-128"/>
              </a:rPr>
              <a:t>Il processo di sviluppo di un programma comprenderà quindi i seguenti passi:</a:t>
            </a:r>
          </a:p>
          <a:p>
            <a:pPr marL="180340" indent="180340"/>
            <a:r>
              <a:rPr lang="it-IT" sz="1800" dirty="0">
                <a:effectLst/>
                <a:latin typeface="Times New Roman" panose="02020603050405020304" pitchFamily="18" charset="0"/>
                <a:ea typeface="MS Mincho" panose="02020609040205080304" pitchFamily="49" charset="-128"/>
              </a:rPr>
              <a:t>il programmatore scrive un programma utilizzando un linguaggio di programmazione. Rispettando le regole del linguaggio salva le istruzioni all’interno di uno o più file testuali. Si dice che tali file contengono il </a:t>
            </a:r>
            <a:r>
              <a:rPr lang="it-IT" sz="1800" b="1" dirty="0">
                <a:effectLst/>
                <a:latin typeface="Times New Roman" panose="02020603050405020304" pitchFamily="18" charset="0"/>
                <a:ea typeface="MS Mincho" panose="02020609040205080304" pitchFamily="49" charset="-128"/>
              </a:rPr>
              <a:t>codice sorgente</a:t>
            </a:r>
            <a:r>
              <a:rPr lang="it-IT" sz="1800" dirty="0">
                <a:effectLst/>
                <a:latin typeface="Times New Roman" panose="02020603050405020304" pitchFamily="18" charset="0"/>
                <a:ea typeface="MS Mincho" panose="02020609040205080304" pitchFamily="49" charset="-128"/>
              </a:rPr>
              <a:t> (in inglese </a:t>
            </a:r>
            <a:r>
              <a:rPr lang="it-IT" sz="1800" b="1" dirty="0">
                <a:effectLst/>
                <a:latin typeface="Times New Roman" panose="02020603050405020304" pitchFamily="18" charset="0"/>
                <a:ea typeface="MS Mincho" panose="02020609040205080304" pitchFamily="49" charset="-128"/>
              </a:rPr>
              <a:t>source code</a:t>
            </a:r>
            <a:r>
              <a:rPr lang="it-IT" sz="1800" dirty="0">
                <a:effectLst/>
                <a:latin typeface="Times New Roman" panose="02020603050405020304" pitchFamily="18" charset="0"/>
                <a:ea typeface="MS Mincho" panose="02020609040205080304" pitchFamily="49" charset="-128"/>
              </a:rPr>
              <a:t>) del programma, ed i file testuali stessi vengono detti </a:t>
            </a:r>
            <a:r>
              <a:rPr lang="it-IT" sz="1800" b="1" dirty="0">
                <a:effectLst/>
                <a:latin typeface="Times New Roman" panose="02020603050405020304" pitchFamily="18" charset="0"/>
                <a:ea typeface="MS Mincho" panose="02020609040205080304" pitchFamily="49" charset="-128"/>
              </a:rPr>
              <a:t>file sorgente</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Il programmatore darà in input i file sorgente ad un compilatore. Esso, dopo aver verificato la correttezza del codice sorgente, tradurrà le istruzioni dal codice sorgente in istruzioni scritte in linguaggio macchina. Per fare questo il compilatore creerà a partire da file di testo i cosiddetti </a:t>
            </a:r>
            <a:r>
              <a:rPr lang="it-IT" sz="1800" b="1" dirty="0">
                <a:effectLst/>
                <a:latin typeface="Times New Roman" panose="02020603050405020304" pitchFamily="18" charset="0"/>
                <a:ea typeface="MS Mincho" panose="02020609040205080304" pitchFamily="49" charset="-128"/>
              </a:rPr>
              <a:t>file binari</a:t>
            </a:r>
            <a:r>
              <a:rPr lang="it-IT" sz="1800" dirty="0">
                <a:effectLst/>
                <a:latin typeface="Times New Roman" panose="02020603050405020304" pitchFamily="18" charset="0"/>
                <a:ea typeface="MS Mincho" panose="02020609040205080304" pitchFamily="49" charset="-128"/>
              </a:rPr>
              <a:t> (detti anche detti </a:t>
            </a:r>
            <a:r>
              <a:rPr lang="it-IT" sz="1800" b="1" dirty="0">
                <a:effectLst/>
                <a:latin typeface="Times New Roman" panose="02020603050405020304" pitchFamily="18" charset="0"/>
                <a:ea typeface="MS Mincho" panose="02020609040205080304" pitchFamily="49" charset="-128"/>
              </a:rPr>
              <a:t>file eseguibili</a:t>
            </a:r>
            <a:r>
              <a:rPr lang="it-IT" sz="1800" dirty="0">
                <a:effectLst/>
                <a:latin typeface="Times New Roman" panose="02020603050405020304" pitchFamily="18" charset="0"/>
                <a:ea typeface="MS Mincho" panose="02020609040205080304" pitchFamily="49" charset="-128"/>
              </a:rPr>
              <a:t>, o </a:t>
            </a:r>
            <a:r>
              <a:rPr lang="it-IT" sz="1800" b="1" dirty="0">
                <a:effectLst/>
                <a:latin typeface="Times New Roman" panose="02020603050405020304" pitchFamily="18" charset="0"/>
                <a:ea typeface="MS Mincho" panose="02020609040205080304" pitchFamily="49" charset="-128"/>
              </a:rPr>
              <a:t>file oggetto</a:t>
            </a:r>
            <a:r>
              <a:rPr lang="it-IT" sz="1800" dirty="0">
                <a:effectLst/>
                <a:latin typeface="Times New Roman" panose="02020603050405020304" pitchFamily="18" charset="0"/>
                <a:ea typeface="MS Mincho" panose="02020609040205080304" pitchFamily="49" charset="-128"/>
              </a:rPr>
              <a:t>). I file binari sono direttamente eseguibili dal processore ogni volta che verranno eseguiti, e rappresentano il programma stesso. Per esempio sui sistemi operativi Windows, i programmi eseguibili sono solitamente identificati dal suffisso “.exe” (</a:t>
            </a:r>
            <a:r>
              <a:rPr lang="it-IT" sz="1800" dirty="0">
                <a:effectLst/>
                <a:latin typeface="Arial" panose="020B0604020202020204" pitchFamily="34" charset="0"/>
                <a:ea typeface="MS Mincho" panose="02020609040205080304" pitchFamily="49" charset="-128"/>
                <a:cs typeface="Arial" panose="020B0604020202020204" pitchFamily="34" charset="0"/>
              </a:rPr>
              <a:t>Skype.exe</a:t>
            </a:r>
            <a:r>
              <a:rPr lang="it-IT" sz="1800" dirty="0">
                <a:effectLst/>
                <a:latin typeface="Times New Roman" panose="02020603050405020304" pitchFamily="18" charset="0"/>
                <a:ea typeface="MS Mincho" panose="02020609040205080304" pitchFamily="49" charset="-128"/>
              </a:rPr>
              <a:t>, </a:t>
            </a:r>
            <a:r>
              <a:rPr lang="it-IT" sz="1800" dirty="0">
                <a:effectLst/>
                <a:latin typeface="Arial" panose="020B0604020202020204" pitchFamily="34" charset="0"/>
                <a:ea typeface="MS Mincho" panose="02020609040205080304" pitchFamily="49" charset="-128"/>
                <a:cs typeface="Arial" panose="020B0604020202020204" pitchFamily="34" charset="0"/>
              </a:rPr>
              <a:t>Calc.exe</a:t>
            </a:r>
            <a:r>
              <a:rPr lang="it-IT" sz="1800" dirty="0">
                <a:effectLst/>
                <a:latin typeface="Times New Roman" panose="02020603050405020304" pitchFamily="18" charset="0"/>
                <a:ea typeface="MS Mincho" panose="02020609040205080304" pitchFamily="49" charset="-128"/>
              </a:rPr>
              <a:t>, </a:t>
            </a:r>
            <a:r>
              <a:rPr lang="it-IT" sz="1800" dirty="0">
                <a:effectLst/>
                <a:latin typeface="Arial" panose="020B0604020202020204" pitchFamily="34" charset="0"/>
                <a:ea typeface="MS Mincho" panose="02020609040205080304" pitchFamily="49" charset="-128"/>
                <a:cs typeface="Arial" panose="020B0604020202020204" pitchFamily="34" charset="0"/>
              </a:rPr>
              <a:t>Zoom.exe</a:t>
            </a:r>
            <a:r>
              <a:rPr lang="it-IT" sz="1800" dirty="0">
                <a:effectLst/>
                <a:latin typeface="Times New Roman" panose="02020603050405020304" pitchFamily="18" charset="0"/>
                <a:ea typeface="MS Mincho" panose="02020609040205080304" pitchFamily="49" charset="-128"/>
              </a:rPr>
              <a:t> etc.).</a:t>
            </a:r>
          </a:p>
          <a:p>
            <a:r>
              <a:rPr lang="it-IT" sz="1800" dirty="0">
                <a:effectLst/>
                <a:latin typeface="Times New Roman" panose="02020603050405020304" pitchFamily="18" charset="0"/>
                <a:ea typeface="MS Mincho" panose="02020609040205080304" pitchFamily="49" charset="-128"/>
              </a:rPr>
              <a:t>I linguaggi che godono del supporto di un compilatore vengono detti </a:t>
            </a:r>
            <a:r>
              <a:rPr lang="it-IT" sz="1800" b="1" dirty="0">
                <a:effectLst/>
                <a:latin typeface="Times New Roman" panose="02020603050405020304" pitchFamily="18" charset="0"/>
                <a:ea typeface="MS Mincho" panose="02020609040205080304" pitchFamily="49" charset="-128"/>
              </a:rPr>
              <a:t>linguaggi compilati</a:t>
            </a:r>
            <a:r>
              <a:rPr lang="it-IT" sz="1800" dirty="0">
                <a:effectLst/>
                <a:latin typeface="Times New Roman" panose="02020603050405020304" pitchFamily="18" charset="0"/>
                <a:ea typeface="MS Mincho" panose="02020609040205080304" pitchFamily="49" charset="-128"/>
              </a:rPr>
              <a:t>, e seguono lo schema rappresentato nella Figura 1.1. In tale schema viene riportato un esempio dei passi che occorrono per realizzare un programma eseguibile su varie piattaforme.</a:t>
            </a:r>
          </a:p>
          <a:p>
            <a:r>
              <a:rPr lang="it-IT" sz="1800" b="1" dirty="0">
                <a:solidFill>
                  <a:srgbClr val="0000FF"/>
                </a:solidFill>
                <a:effectLst/>
                <a:latin typeface="Arial" panose="020B0604020202020204" pitchFamily="34" charset="0"/>
                <a:ea typeface="MS Mincho" panose="02020609040205080304" pitchFamily="49" charset="-128"/>
              </a:rPr>
              <a:t>Figura 1.1 – Processo per creare programmi per più piattaforme con un linguaggio compilato.</a:t>
            </a:r>
          </a:p>
          <a:p>
            <a:r>
              <a:rPr lang="it-IT" sz="1800" dirty="0">
                <a:effectLst/>
                <a:latin typeface="Times New Roman" panose="02020603050405020304" pitchFamily="18" charset="0"/>
                <a:ea typeface="MS Mincho" panose="02020609040205080304" pitchFamily="49" charset="-128"/>
              </a:rPr>
              <a:t>Notare che per creare un programma che giri su più piattaforme, è necessario compilare il codice sorgente sulle varie piattaforme con compilatori specifici. La compilazione è però un processo relativamente semplice, che di solito richiede all’utente di premere un bottone su un certo IDE. Il problema è che spesso, affinché un programma sia eseguibile su più piattaforme, bisogna modificarne il codice sorgente. </a:t>
            </a:r>
          </a:p>
        </p:txBody>
      </p:sp>
    </p:spTree>
    <p:extLst>
      <p:ext uri="{BB962C8B-B14F-4D97-AF65-F5344CB8AC3E}">
        <p14:creationId xmlns:p14="http://schemas.microsoft.com/office/powerpoint/2010/main" val="18485339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Esistono però anche linguaggi che non usano un compilatore per tradurre il codice sorgente in linguaggio macchina ma un software che viene chiamato </a:t>
            </a:r>
            <a:r>
              <a:rPr lang="it-IT" sz="1800" b="1" dirty="0">
                <a:effectLst/>
                <a:latin typeface="Times New Roman" panose="02020603050405020304" pitchFamily="18" charset="0"/>
                <a:ea typeface="MS Mincho" panose="02020609040205080304" pitchFamily="49" charset="-128"/>
              </a:rPr>
              <a:t>interprete</a:t>
            </a:r>
            <a:r>
              <a:rPr lang="it-IT" sz="1800" dirty="0">
                <a:effectLst/>
                <a:latin typeface="Times New Roman" panose="02020603050405020304" pitchFamily="18" charset="0"/>
                <a:ea typeface="MS Mincho" panose="02020609040205080304" pitchFamily="49" charset="-128"/>
              </a:rPr>
              <a:t>. A differenza di un compilatore, un interprete è uno strumento che riesce ad eseguire il programma, traducendo al volo il codice sorgente in codice oggetto, istruzione dopo istruzione. Un linguaggio che utilizza un interprete invece di un compilatore, viene detto </a:t>
            </a:r>
            <a:r>
              <a:rPr lang="it-IT" sz="1800" b="1" dirty="0">
                <a:effectLst/>
                <a:latin typeface="Times New Roman" panose="02020603050405020304" pitchFamily="18" charset="0"/>
                <a:ea typeface="MS Mincho" panose="02020609040205080304" pitchFamily="49" charset="-128"/>
              </a:rPr>
              <a:t>linguaggio interpretato</a:t>
            </a:r>
            <a:r>
              <a:rPr lang="it-IT" sz="1800" dirty="0">
                <a:effectLst/>
                <a:latin typeface="Times New Roman" panose="02020603050405020304" pitchFamily="18" charset="0"/>
                <a:ea typeface="MS Mincho" panose="02020609040205080304" pitchFamily="49" charset="-128"/>
              </a:rPr>
              <a:t>. Un interprete rappresenta una soluzione più flessibile nella dinamica di sviluppo rispetto ad un compilatore. Infatti, ci permette di alternare la scrittura del codice e la sua esecuzione senza dover passare per la fase di compilazione. Inoltre, come si può vedere nella Figura 1.2, lo stesso codice è teoricamente lo stesso per tutte le piattaforme, in quanto l’interprete sarà in grado di adattarlo alla piattaforma sottostante. </a:t>
            </a:r>
          </a:p>
          <a:p>
            <a:r>
              <a:rPr lang="it-IT" sz="1800" b="1" dirty="0">
                <a:solidFill>
                  <a:srgbClr val="0000FF"/>
                </a:solidFill>
                <a:effectLst/>
                <a:latin typeface="Arial" panose="020B0604020202020204" pitchFamily="34" charset="0"/>
                <a:ea typeface="MS Mincho" panose="02020609040205080304" pitchFamily="49" charset="-128"/>
              </a:rPr>
              <a:t>Figura 1.2 – Processo per creare programmi per più piattaforme con un linguaggio interpretato.</a:t>
            </a:r>
          </a:p>
          <a:p>
            <a:r>
              <a:rPr lang="it-IT" sz="1800" dirty="0">
                <a:effectLst/>
                <a:latin typeface="Times New Roman" panose="02020603050405020304" pitchFamily="18" charset="0"/>
                <a:ea typeface="MS Mincho" panose="02020609040205080304" pitchFamily="49" charset="-128"/>
              </a:rPr>
              <a:t>I linguaggi interpretati però soffrono di uno svantaggio evidente rispetto a quelli compilati. Infatti la traduzione del codice sorgente in codice macchina, è contenuta nella fase di esecuzione del programma, che inevitabilmente diventa più lenta rispetto all’esecuzione di un programma che è stato compilato. </a:t>
            </a: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Notare che ogni linguaggio di programmazione richiede comunque un compilatore o un interprete diverso, a seconda dell’hardware dove il programma deve essere eseguito. In molti linguaggi questo può provocare comportamenti diversi dei programmi lanciati su computer diversi e generati a partire dallo stesso sorgente. Questo problema però, è brillantemente risolto dai linguaggi come Java.</a:t>
            </a:r>
            <a:endParaRPr lang="it-IT" sz="1800" b="1" dirty="0">
              <a:effectLst/>
              <a:latin typeface="(Tipo di carattere testo asiati"/>
              <a:ea typeface="Times New Roman" panose="02020603050405020304" pitchFamily="18" charset="0"/>
              <a:cs typeface="(Tipo di carattere testo asiati"/>
            </a:endParaRPr>
          </a:p>
          <a:p>
            <a:endParaRPr lang="it-IT" dirty="0"/>
          </a:p>
        </p:txBody>
      </p:sp>
    </p:spTree>
    <p:extLst>
      <p:ext uri="{BB962C8B-B14F-4D97-AF65-F5344CB8AC3E}">
        <p14:creationId xmlns:p14="http://schemas.microsoft.com/office/powerpoint/2010/main" val="83243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Esistono però anche linguaggi che non usano un compilatore per tradurre il codice sorgente in linguaggio macchina ma un software che viene chiamato </a:t>
            </a:r>
            <a:r>
              <a:rPr lang="it-IT" sz="1800" b="1" dirty="0">
                <a:effectLst/>
                <a:latin typeface="Times New Roman" panose="02020603050405020304" pitchFamily="18" charset="0"/>
                <a:ea typeface="MS Mincho" panose="02020609040205080304" pitchFamily="49" charset="-128"/>
              </a:rPr>
              <a:t>interprete</a:t>
            </a:r>
            <a:r>
              <a:rPr lang="it-IT" sz="1800" dirty="0">
                <a:effectLst/>
                <a:latin typeface="Times New Roman" panose="02020603050405020304" pitchFamily="18" charset="0"/>
                <a:ea typeface="MS Mincho" panose="02020609040205080304" pitchFamily="49" charset="-128"/>
              </a:rPr>
              <a:t>. A differenza di un compilatore, un interprete è uno strumento che riesce ad eseguire il programma, traducendo al volo il codice sorgente in codice oggetto, istruzione dopo istruzione. Un linguaggio che utilizza un interprete invece di un compilatore, viene detto </a:t>
            </a:r>
            <a:r>
              <a:rPr lang="it-IT" sz="1800" b="1" dirty="0">
                <a:effectLst/>
                <a:latin typeface="Times New Roman" panose="02020603050405020304" pitchFamily="18" charset="0"/>
                <a:ea typeface="MS Mincho" panose="02020609040205080304" pitchFamily="49" charset="-128"/>
              </a:rPr>
              <a:t>linguaggio interpretato</a:t>
            </a:r>
            <a:r>
              <a:rPr lang="it-IT" sz="1800" dirty="0">
                <a:effectLst/>
                <a:latin typeface="Times New Roman" panose="02020603050405020304" pitchFamily="18" charset="0"/>
                <a:ea typeface="MS Mincho" panose="02020609040205080304" pitchFamily="49" charset="-128"/>
              </a:rPr>
              <a:t>. Un interprete rappresenta una soluzione più flessibile nella dinamica di sviluppo rispetto ad un compilatore. Infatti, ci permette di alternare la scrittura del codice e la sua esecuzione senza dover passare per la fase di compilazione. Inoltre, come si può vedere nella Figura 1.2, lo stesso codice è teoricamente lo stesso per tutte le piattaforme, in quanto l’interprete sarà in grado di adattarlo alla piattaforma sottostante. </a:t>
            </a:r>
          </a:p>
          <a:p>
            <a:r>
              <a:rPr lang="it-IT" sz="1800" b="1" dirty="0">
                <a:solidFill>
                  <a:srgbClr val="0000FF"/>
                </a:solidFill>
                <a:effectLst/>
                <a:latin typeface="Arial" panose="020B0604020202020204" pitchFamily="34" charset="0"/>
                <a:ea typeface="MS Mincho" panose="02020609040205080304" pitchFamily="49" charset="-128"/>
              </a:rPr>
              <a:t>Figura 1.2 – Processo per creare programmi per più piattaforme con un linguaggio interpretato.</a:t>
            </a:r>
          </a:p>
          <a:p>
            <a:r>
              <a:rPr lang="it-IT" sz="1800" dirty="0">
                <a:effectLst/>
                <a:latin typeface="Times New Roman" panose="02020603050405020304" pitchFamily="18" charset="0"/>
                <a:ea typeface="MS Mincho" panose="02020609040205080304" pitchFamily="49" charset="-128"/>
              </a:rPr>
              <a:t>I linguaggi interpretati però soffrono di uno svantaggio evidente rispetto a quelli compilati. Infatti la traduzione del codice sorgente in codice macchina, è contenuta nella fase di esecuzione del programma, che inevitabilmente diventa più lenta rispetto all’esecuzione di un programma che è stato compilato. </a:t>
            </a: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Notare che ogni linguaggio di programmazione richiede comunque un compilatore o un interprete diverso, a seconda dell’hardware dove il programma deve essere eseguito. In molti linguaggi questo può provocare comportamenti diversi dei programmi lanciati su computer diversi e generati a partire dallo stesso sorgente. Questo problema però, è brillantemente risolto dai linguaggi come Java.</a:t>
            </a:r>
            <a:endParaRPr lang="it-IT" sz="1800" b="1" dirty="0">
              <a:effectLst/>
              <a:latin typeface="(Tipo di carattere testo asiati"/>
              <a:ea typeface="Times New Roman" panose="02020603050405020304" pitchFamily="18" charset="0"/>
              <a:cs typeface="(Tipo di carattere testo asiati"/>
            </a:endParaRPr>
          </a:p>
          <a:p>
            <a:endParaRPr lang="it-IT" dirty="0"/>
          </a:p>
        </p:txBody>
      </p:sp>
    </p:spTree>
    <p:extLst>
      <p:ext uri="{BB962C8B-B14F-4D97-AF65-F5344CB8AC3E}">
        <p14:creationId xmlns:p14="http://schemas.microsoft.com/office/powerpoint/2010/main" val="2147754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dirty="0"/>
              <a:t>2 minuti</a:t>
            </a:r>
          </a:p>
          <a:p>
            <a:endParaRPr lang="it-IT" dirty="0"/>
          </a:p>
          <a:p>
            <a:r>
              <a:rPr lang="it-IT" dirty="0"/>
              <a:t>Quando usare cosa?</a:t>
            </a:r>
          </a:p>
          <a:p>
            <a:r>
              <a:rPr lang="it-IT" dirty="0"/>
              <a:t>Le modifiche apportate da un ripristino alla cronologia rendono un </a:t>
            </a:r>
            <a:r>
              <a:rPr lang="it-IT" dirty="0" err="1"/>
              <a:t>po</a:t>
            </a:r>
            <a:r>
              <a:rPr lang="it-IT" dirty="0"/>
              <a:t> 'più problematico quando si lavora in una squadra: tu</a:t>
            </a:r>
          </a:p>
          <a:p>
            <a:r>
              <a:rPr lang="it-IT" dirty="0"/>
              <a:t>dovresti cercare di limitarne l'uso ai tuoi rami e usarlo raramente su rami dove c'è collaborazione,</a:t>
            </a:r>
          </a:p>
          <a:p>
            <a:r>
              <a:rPr lang="it-IT" dirty="0"/>
              <a:t>un ramo a cui invia più di una persona o un ramo che hai già condiviso con altri.</a:t>
            </a:r>
          </a:p>
          <a:p>
            <a:r>
              <a:rPr lang="it-IT" dirty="0"/>
              <a:t>E il potenziale conflitto di Reverse lo rende troppo problematico quando si invertono più file. Sebbene</a:t>
            </a:r>
          </a:p>
          <a:p>
            <a:r>
              <a:rPr lang="it-IT" dirty="0"/>
              <a:t>è facile risolvere i conflitti generati dai commit inversi, come ho mostrato in precedenza.</a:t>
            </a:r>
          </a:p>
          <a:p>
            <a:r>
              <a:rPr lang="it-IT" dirty="0"/>
              <a:t>Quindi immaginiamo un esempio in cui hai una serie di commit A, B, C e D. con D come HEAD.</a:t>
            </a:r>
          </a:p>
          <a:p>
            <a:r>
              <a:rPr lang="it-IT" dirty="0"/>
              <a:t>Se desideri annullare più commit e conservare comunque una copia delle loro modifiche, usa Reverse.</a:t>
            </a:r>
          </a:p>
          <a:p>
            <a:r>
              <a:rPr lang="it-IT" dirty="0"/>
              <a:t>Nel nostro esempio, se vuoi tornare indietro per eseguire il commit A, inverti B. Probabilmente otterrai un conflitto, e tu</a:t>
            </a:r>
          </a:p>
          <a:p>
            <a:r>
              <a:rPr lang="it-IT" dirty="0"/>
              <a:t>puoi scegliere di risolverlo con l'opzione "Using </a:t>
            </a:r>
            <a:r>
              <a:rPr lang="it-IT" dirty="0" err="1"/>
              <a:t>Theirs</a:t>
            </a:r>
            <a:r>
              <a:rPr lang="it-IT" dirty="0"/>
              <a:t>" che restituirà lo stato del progetto ad A.</a:t>
            </a:r>
          </a:p>
          <a:p>
            <a:r>
              <a:rPr lang="it-IT" dirty="0"/>
              <a:t>Se stai lavorando sul tuo ramo e sai che non vuoi che B, C e D rimangano nel grafico,</a:t>
            </a:r>
          </a:p>
          <a:p>
            <a:r>
              <a:rPr lang="it-IT" dirty="0"/>
              <a:t>allora dovresti usare Reset per tornare ad A ed essenzialmente cancellare B, C e D. E se sai che non lo fai</a:t>
            </a:r>
          </a:p>
          <a:p>
            <a:r>
              <a:rPr lang="it-IT" dirty="0"/>
              <a:t>Se vuoi mantenere qualsiasi cosa fatta nel commit B, C e D, potresti anche usare Reset Hard.</a:t>
            </a:r>
          </a:p>
          <a:p>
            <a:r>
              <a:rPr lang="it-IT" dirty="0"/>
              <a:t>Se desideri annullare l'ultimo commit di un ramo, entrambe le soluzioni vanno bene e di nuovo dipenderà da ciò che hai</a:t>
            </a:r>
          </a:p>
          <a:p>
            <a:r>
              <a:rPr lang="it-IT" dirty="0"/>
              <a:t>voglio rimanere nel grafico.</a:t>
            </a:r>
          </a:p>
          <a:p>
            <a:r>
              <a:rPr lang="it-IT" dirty="0"/>
              <a:t>Sommario</a:t>
            </a:r>
          </a:p>
          <a:p>
            <a:r>
              <a:rPr lang="it-IT" dirty="0"/>
              <a:t>In </a:t>
            </a:r>
            <a:r>
              <a:rPr lang="it-IT" dirty="0" err="1"/>
              <a:t>SourceTree</a:t>
            </a:r>
            <a:r>
              <a:rPr lang="it-IT" dirty="0"/>
              <a:t> puoi eliminare le modifiche apportate a un file, invece di eseguire il commit di queste modifiche, essenzialmente</a:t>
            </a:r>
          </a:p>
          <a:p>
            <a:r>
              <a:rPr lang="it-IT" dirty="0"/>
              <a:t>annullare tutte le modifiche recenti e ripristinare il file all'ultimo stato di cui è stato eseguito il commit. Puoi anche reimpostare un commit</a:t>
            </a:r>
          </a:p>
          <a:p>
            <a:r>
              <a:rPr lang="it-IT" dirty="0"/>
              <a:t>o invertirlo. Con un reset si elimina essenzialmente un commit e tutte le modifiche che comprende. Con un rovescio</a:t>
            </a:r>
          </a:p>
          <a:p>
            <a:r>
              <a:rPr lang="it-IT" dirty="0"/>
              <a:t>crei un nuovo commit in cui le modifiche in un commit precedente vengono riprodotte all'indietro.</a:t>
            </a:r>
          </a:p>
        </p:txBody>
      </p:sp>
    </p:spTree>
    <p:extLst>
      <p:ext uri="{BB962C8B-B14F-4D97-AF65-F5344CB8AC3E}">
        <p14:creationId xmlns:p14="http://schemas.microsoft.com/office/powerpoint/2010/main" val="378942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180340" indent="180340"/>
            <a:r>
              <a:rPr lang="it-IT" sz="1800" b="1" dirty="0">
                <a:effectLst/>
                <a:latin typeface="Times New Roman" panose="02020603050405020304" pitchFamily="18" charset="0"/>
                <a:ea typeface="MS Mincho" panose="02020609040205080304" pitchFamily="49" charset="-128"/>
              </a:rPr>
              <a:t>sintassi:</a:t>
            </a:r>
            <a:r>
              <a:rPr lang="it-IT" sz="1800" dirty="0">
                <a:effectLst/>
                <a:latin typeface="Times New Roman" panose="02020603050405020304" pitchFamily="18" charset="0"/>
                <a:ea typeface="MS Mincho" panose="02020609040205080304" pitchFamily="49" charset="-128"/>
              </a:rPr>
              <a:t> è simile a quella di altri linguaggi di programmazione storici come il C e il C++. Altri linguaggi con sintassi molto simile, sono linguaggi che sono nati dopo Java come C# e JavaScript. Questo significa che se il lettore ha già conoscenze di uno di questi linguaggi, avrà un vantaggio evidente in questa prima parte dello studio. Tuttavia è una sintassi considerata tra le più chiare tra i linguaggi di programmazione, caratterizzata da un’alta leggibilità (a volte sembra di scrivere in linguaggio naturale).</a:t>
            </a:r>
          </a:p>
          <a:p>
            <a:pPr marL="180340" indent="180340"/>
            <a:r>
              <a:rPr lang="it-IT" sz="1800" b="1" dirty="0">
                <a:effectLst/>
                <a:latin typeface="Times New Roman" panose="02020603050405020304" pitchFamily="18" charset="0"/>
                <a:ea typeface="MS Mincho" panose="02020609040205080304" pitchFamily="49" charset="-128"/>
              </a:rPr>
              <a:t>Robustezza:</a:t>
            </a:r>
            <a:r>
              <a:rPr lang="it-IT" sz="1800" dirty="0">
                <a:effectLst/>
                <a:latin typeface="Times New Roman" panose="02020603050405020304" pitchFamily="18" charset="0"/>
                <a:ea typeface="MS Mincho" panose="02020609040205080304" pitchFamily="49" charset="-128"/>
              </a:rPr>
              <a:t> un linguaggio è più robusto di un altro quando ha maggiori capacità di prevenire gli errori di programmazione, e Java è uno dei linguaggi più robusti in circolazione. Definisce una gestione delle eccezioni chiara e funzionale, e possiede un meccanismo automatico della gestione della memoria (Garbage Collection) che esonera il programmatore dall’obbligo di dover deallocare memoria quando ce n’è bisogno (punto tra i più delicati nella programmazione). Inoltre il compilatore Java, è molto “severo”. Il programmatore è infatti costretto a risolvere tutte le situazioni poco chiare, garantendo al programma maggiori chance di corretto funzionamento. La logica è: “meglio ottenere un errore in compilazione che durante l’esecuzione”.</a:t>
            </a:r>
          </a:p>
          <a:p>
            <a:pPr marL="180340" indent="180340"/>
            <a:r>
              <a:rPr lang="it-IT" sz="1800" b="1" dirty="0">
                <a:effectLst/>
                <a:latin typeface="Times New Roman" panose="02020603050405020304" pitchFamily="18" charset="0"/>
                <a:ea typeface="MS Mincho" panose="02020609040205080304" pitchFamily="49" charset="-128"/>
              </a:rPr>
              <a:t>Orientato agli oggetti:</a:t>
            </a:r>
            <a:r>
              <a:rPr lang="it-IT" sz="1800" dirty="0">
                <a:effectLst/>
                <a:latin typeface="Times New Roman" panose="02020603050405020304" pitchFamily="18" charset="0"/>
                <a:ea typeface="MS Mincho" panose="02020609040205080304" pitchFamily="49" charset="-128"/>
              </a:rPr>
              <a:t> la </a:t>
            </a:r>
            <a:r>
              <a:rPr lang="it-IT" sz="1800" b="1" dirty="0">
                <a:effectLst/>
                <a:latin typeface="Times New Roman" panose="02020603050405020304" pitchFamily="18" charset="0"/>
                <a:ea typeface="MS Mincho" panose="02020609040205080304" pitchFamily="49" charset="-128"/>
              </a:rPr>
              <a:t>programmazione Object Oriented</a:t>
            </a:r>
            <a:r>
              <a:rPr lang="it-IT" sz="1800" dirty="0">
                <a:effectLst/>
                <a:latin typeface="Times New Roman" panose="02020603050405020304" pitchFamily="18" charset="0"/>
                <a:ea typeface="MS Mincho" panose="02020609040205080304" pitchFamily="49" charset="-128"/>
              </a:rPr>
              <a:t> (letteralmente “orientata agli oggetti”) è uno stile di programmazione che ci permette di programmare in maniera più “naturale”. Parleremo ampiamente di questo argomento più avanti. Java ci fornisce infatti alcuni strumenti che praticamente ci “obbligano” a programmare ad oggetti. I paradigmi fondamentali della programmazione ad oggetti (ereditarietà, incapsulamento, polimorfismo) sono più facilmente apprezzabili e comprensibili. Java è più chiaro e schematico di qualsiasi altro linguaggio orientato agli oggetti. Sicuramente, chi impara Java, potrà in un secondo momento accedere in modo più naturale alla conoscenza di altri linguaggi orientati agli oggetti, giacché avrà di certo un modo di pensare alla programmazione, già orientato agli oggetti. Tuttavia, durante la sua evoluzione, il linguaggio si è aperto anche ad altri modelli di programmazione.</a:t>
            </a:r>
          </a:p>
          <a:p>
            <a:pPr marL="180340" indent="180340"/>
            <a:r>
              <a:rPr lang="it-IT" sz="1800" b="1" dirty="0">
                <a:effectLst/>
                <a:latin typeface="Times New Roman" panose="02020603050405020304" pitchFamily="18" charset="0"/>
                <a:ea typeface="MS Mincho" panose="02020609040205080304" pitchFamily="49" charset="-128"/>
              </a:rPr>
              <a:t>Facilità di sviluppo:</a:t>
            </a:r>
            <a:r>
              <a:rPr lang="it-IT" sz="1800" dirty="0">
                <a:effectLst/>
                <a:latin typeface="Times New Roman" panose="02020603050405020304" pitchFamily="18" charset="0"/>
                <a:ea typeface="MS Mincho" panose="02020609040205080304" pitchFamily="49" charset="-128"/>
              </a:rPr>
              <a:t> prima della pubblicazione della versione 5, Java era pubblicizzato come un linguaggio semplice da imparare. Dalla pubblicazione della release 5 in poi, il termine </a:t>
            </a:r>
            <a:r>
              <a:rPr lang="it-IT" sz="1800" i="1" dirty="0">
                <a:effectLst/>
                <a:latin typeface="Times New Roman" panose="02020603050405020304" pitchFamily="18" charset="0"/>
                <a:ea typeface="MS Mincho" panose="02020609040205080304" pitchFamily="49" charset="-128"/>
              </a:rPr>
              <a:t>simplicity</a:t>
            </a:r>
            <a:r>
              <a:rPr lang="it-IT" sz="1800" dirty="0">
                <a:effectLst/>
                <a:latin typeface="Times New Roman" panose="02020603050405020304" pitchFamily="18" charset="0"/>
                <a:ea typeface="MS Mincho" panose="02020609040205080304" pitchFamily="49" charset="-128"/>
              </a:rPr>
              <a:t> (letteralmente “semplicità”) è stato sostituito con </a:t>
            </a:r>
            <a:r>
              <a:rPr lang="it-IT" sz="1800" i="1" dirty="0">
                <a:effectLst/>
                <a:latin typeface="Times New Roman" panose="02020603050405020304" pitchFamily="18" charset="0"/>
                <a:ea typeface="MS Mincho" panose="02020609040205080304" pitchFamily="49" charset="-128"/>
              </a:rPr>
              <a:t>ease of development</a:t>
            </a:r>
            <a:r>
              <a:rPr lang="it-IT" sz="1800" dirty="0">
                <a:effectLst/>
                <a:latin typeface="Times New Roman" panose="02020603050405020304" pitchFamily="18" charset="0"/>
                <a:ea typeface="MS Mincho" panose="02020609040205080304" pitchFamily="49" charset="-128"/>
              </a:rPr>
              <a:t> (in italiano “facilità di sviluppo”). Infatti, con l’introduzione di rivoluzionarie caratteristiche come i generics o le annotazioni, ci si è incanalati in una strada delineata chiaramente: quella di far evolvere il linguaggio per non perdere il treno della modernità, anche a scapito della semplicità. Il linguaggio oggi è diventato più difficile da imparare, ma i programmi dovrebbero essere più semplici da scrivere. Insomma, imparare Java non sarà una passeggiata, ma una volta comprese le logiche fondamentali, avremo tra le mani uno strumento potentissimo. </a:t>
            </a:r>
          </a:p>
          <a:p>
            <a:pPr marL="180340" indent="180340"/>
            <a:r>
              <a:rPr lang="it-IT" sz="1800" b="1" dirty="0">
                <a:effectLst/>
                <a:latin typeface="Times New Roman" panose="02020603050405020304" pitchFamily="18" charset="0"/>
                <a:ea typeface="MS Mincho" panose="02020609040205080304" pitchFamily="49" charset="-128"/>
              </a:rPr>
              <a:t>Libreria e standardizzazione:</a:t>
            </a:r>
            <a:r>
              <a:rPr lang="it-IT" sz="1800" dirty="0">
                <a:effectLst/>
                <a:latin typeface="Times New Roman" panose="02020603050405020304" pitchFamily="18" charset="0"/>
                <a:ea typeface="MS Mincho" panose="02020609040205080304" pitchFamily="49" charset="-128"/>
              </a:rPr>
              <a:t> Java possiede un’enorme libreria di classi standard ottimamente documentate. Questo significa che possiamo utilizzare nel nostro programma migliaia di soluzioni software già pronte per essere utilizzate. Ciò rende Java un linguaggio di altissimo livello, e permette anche ai neofiti di creare applicazioni complesse in un tempo relativamente breve. Per esempio, è semplice creare interfacce grafiche, collegamenti a database e connessioni di rete. E questo indipendentemente dal computer su cui si sviluppa. Inoltre, grazie alle specifiche di Oracle, non esisteranno per lo sviluppatore problemi di standardizzazione come compilatori che compilano in modo differente.</a:t>
            </a:r>
          </a:p>
          <a:p>
            <a:pPr marL="180340" indent="180340"/>
            <a:r>
              <a:rPr lang="it-IT" sz="1800" b="1" dirty="0">
                <a:effectLst/>
                <a:latin typeface="Times New Roman" panose="02020603050405020304" pitchFamily="18" charset="0"/>
                <a:ea typeface="MS Mincho" panose="02020609040205080304" pitchFamily="49" charset="-128"/>
              </a:rPr>
              <a:t>Aperto:</a:t>
            </a:r>
            <a:r>
              <a:rPr lang="it-IT" sz="1800" dirty="0">
                <a:effectLst/>
                <a:latin typeface="Times New Roman" panose="02020603050405020304" pitchFamily="18" charset="0"/>
                <a:ea typeface="MS Mincho" panose="02020609040205080304" pitchFamily="49" charset="-128"/>
              </a:rPr>
              <a:t> utilizzare Java non significa muoversi in un ambiente chiuso dove tutto è standard. Dalla scelta del tool di sviluppo (Eclipse, Netbeans, etc.) all’interazione con altri linguaggi, librerie esterne e tecnologie (SQL, XML, framework open source, etc.), non si finisce mai di imparare! Il codice di Java è inoltre </a:t>
            </a:r>
            <a:r>
              <a:rPr lang="it-IT" sz="1800" i="1" dirty="0">
                <a:effectLst/>
                <a:latin typeface="Times New Roman" panose="02020603050405020304" pitchFamily="18" charset="0"/>
                <a:ea typeface="MS Mincho" panose="02020609040205080304" pitchFamily="49" charset="-128"/>
              </a:rPr>
              <a:t>open source</a:t>
            </a:r>
            <a:r>
              <a:rPr lang="it-IT" sz="1800" dirty="0">
                <a:effectLst/>
                <a:latin typeface="Times New Roman" panose="02020603050405020304" pitchFamily="18" charset="0"/>
                <a:ea typeface="MS Mincho" panose="02020609040205080304" pitchFamily="49" charset="-128"/>
              </a:rPr>
              <a:t> (in italiano </a:t>
            </a:r>
            <a:r>
              <a:rPr lang="it-IT" sz="1800" i="1" dirty="0">
                <a:effectLst/>
                <a:latin typeface="Times New Roman" panose="02020603050405020304" pitchFamily="18" charset="0"/>
                <a:ea typeface="MS Mincho" panose="02020609040205080304" pitchFamily="49" charset="-128"/>
              </a:rPr>
              <a:t>codice aperto</a:t>
            </a:r>
            <a:r>
              <a:rPr lang="it-IT" sz="1800" dirty="0">
                <a:effectLst/>
                <a:latin typeface="Times New Roman" panose="02020603050405020304" pitchFamily="18" charset="0"/>
                <a:ea typeface="MS Mincho" panose="02020609040205080304" pitchFamily="49" charset="-128"/>
              </a:rPr>
              <a:t>), il che significa che è possibile leggerne il codice sorgente. Dalla sua nascita Java è sempre stato considerato un linguaggio “aperto”, e l’interazione con gli sviluppatori è stato sempre un punto di forza della sua evoluzione. Il sito di riferimento oggi è </a:t>
            </a:r>
            <a:r>
              <a:rPr lang="it-IT" sz="1800" dirty="0">
                <a:effectLst/>
                <a:latin typeface="Arial" panose="020B0604020202020204" pitchFamily="34" charset="0"/>
                <a:ea typeface="MS Mincho" panose="02020609040205080304" pitchFamily="49" charset="-128"/>
                <a:cs typeface="Arial" panose="020B0604020202020204" pitchFamily="34" charset="0"/>
              </a:rPr>
              <a:t>http://openjdk.java.net/</a:t>
            </a:r>
            <a:r>
              <a:rPr lang="it-IT" sz="1800" dirty="0">
                <a:effectLst/>
                <a:latin typeface="Times New Roman" panose="02020603050405020304" pitchFamily="18" charset="0"/>
                <a:ea typeface="MS Mincho" panose="02020609040205080304" pitchFamily="49" charset="-128"/>
              </a:rPr>
              <a:t> ed è possibile anche attivamente contribuire allo sviluppo di Java con test, proposte e bug fixing. Le nuove caratteristiche delle ultime versioni sono tutte state proposte da sviluppatori che hanno dato il loro contributo con le proprie idee ed esperienze. Java è fatto dagli sviluppatori per gli sviluppatori.</a:t>
            </a:r>
          </a:p>
          <a:p>
            <a:r>
              <a:rPr lang="it-IT" sz="1800" dirty="0">
                <a:effectLst/>
                <a:latin typeface="Times New Roman" panose="02020603050405020304" pitchFamily="18" charset="0"/>
                <a:ea typeface="MS Mincho" panose="02020609040205080304" pitchFamily="49" charset="-128"/>
              </a:rPr>
              <a:t>Esistono tante altre caratteristiche che potrebbero essere menzionate, ma queste sono quelle che più dovrebbero interessare ai lettori di questo libro.</a:t>
            </a:r>
          </a:p>
        </p:txBody>
      </p:sp>
    </p:spTree>
    <p:extLst>
      <p:ext uri="{BB962C8B-B14F-4D97-AF65-F5344CB8AC3E}">
        <p14:creationId xmlns:p14="http://schemas.microsoft.com/office/powerpoint/2010/main" val="2191715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180340" indent="180340"/>
            <a:r>
              <a:rPr lang="it-IT" sz="1800" b="1" dirty="0">
                <a:effectLst/>
                <a:latin typeface="Times New Roman" panose="02020603050405020304" pitchFamily="18" charset="0"/>
                <a:ea typeface="MS Mincho" panose="02020609040205080304" pitchFamily="49" charset="-128"/>
              </a:rPr>
              <a:t>Indipendenza dalla piattaforma:</a:t>
            </a:r>
            <a:r>
              <a:rPr lang="it-IT" sz="1800" dirty="0">
                <a:effectLst/>
                <a:latin typeface="Times New Roman" panose="02020603050405020304" pitchFamily="18" charset="0"/>
                <a:ea typeface="MS Mincho" panose="02020609040205080304" pitchFamily="49" charset="-128"/>
              </a:rPr>
              <a:t> grazie al concetto di Java Virtual Machine, ogni applicazione, una volta compilata, potrà essere eseguita su di una qualsiasi piattaforma. Questa è sicuramente la caratteristica più importante di Java. Infatti, nel caso in cui si debba implementare un programma destinato a girare su diverse piattaforme, non ci sarà la necessità di dover creare versioni specifiche differenti modificandone il codice sorgente. Si tratta ovviamente di un vantaggio enorme.</a:t>
            </a:r>
          </a:p>
          <a:p>
            <a:pPr marL="180340" indent="180340"/>
            <a:r>
              <a:rPr lang="it-IT" sz="1800" b="1" dirty="0">
                <a:effectLst/>
                <a:latin typeface="Times New Roman" panose="02020603050405020304" pitchFamily="18" charset="0"/>
                <a:ea typeface="MS Mincho" panose="02020609040205080304" pitchFamily="49" charset="-128"/>
              </a:rPr>
              <a:t>Java Virtual Machine:</a:t>
            </a:r>
            <a:r>
              <a:rPr lang="it-IT" sz="1800" dirty="0">
                <a:effectLst/>
                <a:latin typeface="Times New Roman" panose="02020603050405020304" pitchFamily="18" charset="0"/>
                <a:ea typeface="MS Mincho" panose="02020609040205080304" pitchFamily="49" charset="-128"/>
              </a:rPr>
              <a:t> ciò che rende di fatto possibile l’indipendenza dalla piattaforma, è la Java Virtual Machine (da ora in poi </a:t>
            </a:r>
            <a:r>
              <a:rPr lang="it-IT" sz="1800" b="1" dirty="0">
                <a:effectLst/>
                <a:latin typeface="Times New Roman" panose="02020603050405020304" pitchFamily="18" charset="0"/>
                <a:ea typeface="MS Mincho" panose="02020609040205080304" pitchFamily="49" charset="-128"/>
              </a:rPr>
              <a:t>JVM</a:t>
            </a:r>
            <a:r>
              <a:rPr lang="it-IT" sz="1800" dirty="0">
                <a:effectLst/>
                <a:latin typeface="Times New Roman" panose="02020603050405020304" pitchFamily="18" charset="0"/>
                <a:ea typeface="MS Mincho" panose="02020609040205080304" pitchFamily="49" charset="-128"/>
              </a:rPr>
              <a:t>). Si tratta di un software che svolge il ruolo di interprete. Java in effetti può essere considerato un linguaggio sia compilato che interpretato. Il processo per creare programmi Java, di loro natura indipendenti dalla piattaforma, può sembrare complesso, ma in realtà non lo è. Dopo aver scritto il nostro codice sorgente con Java, dovremo comunque prima utilizzare il compilatore Java per compilarlo. Otterremo però, non direttamente un file eseguibile contenente istruzioni in linguaggio macchina, ma un file che contiene la traduzione del nostro listato in un linguaggio molto vicino al linguaggio macchina detto </a:t>
            </a:r>
            <a:r>
              <a:rPr lang="it-IT" sz="1800" b="1" dirty="0">
                <a:effectLst/>
                <a:latin typeface="Times New Roman" panose="02020603050405020304" pitchFamily="18" charset="0"/>
                <a:ea typeface="MS Mincho" panose="02020609040205080304" pitchFamily="49" charset="-128"/>
              </a:rPr>
              <a:t>bytecode</a:t>
            </a:r>
            <a:r>
              <a:rPr lang="it-IT" sz="1800" dirty="0">
                <a:effectLst/>
                <a:latin typeface="Times New Roman" panose="02020603050405020304" pitchFamily="18" charset="0"/>
                <a:ea typeface="MS Mincho" panose="02020609040205080304" pitchFamily="49" charset="-128"/>
              </a:rPr>
              <a:t>. Una volta ottenuto questo file, il programmatore potrà passarlo in input alla JVM che interpreterà il bytecode ed il nostro programma verrà finalmente eseguito. Il tutto è schematizzato nella Figura 1.3. </a:t>
            </a:r>
          </a:p>
          <a:p>
            <a:r>
              <a:rPr lang="it-IT" sz="1800" b="1" dirty="0">
                <a:solidFill>
                  <a:srgbClr val="0000FF"/>
                </a:solidFill>
                <a:effectLst/>
                <a:latin typeface="Arial" panose="020B0604020202020204" pitchFamily="34" charset="0"/>
                <a:ea typeface="MS Mincho" panose="02020609040205080304" pitchFamily="49" charset="-128"/>
              </a:rPr>
              <a:t>Figura 1.3 – Processo per creare programmi per più piattaforme con Java.</a:t>
            </a: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Notare che il file sorgente debba essere salvato con suffisso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.java</a:t>
            </a:r>
            <a:r>
              <a:rPr lang="it-IT" sz="1800" b="1" dirty="0">
                <a:solidFill>
                  <a:srgbClr val="000000"/>
                </a:solidFill>
                <a:effectLst/>
                <a:latin typeface="(Tipo di carattere testo asiati"/>
                <a:ea typeface="Times New Roman" panose="02020603050405020304" pitchFamily="18" charset="0"/>
                <a:cs typeface="(Tipo di carattere testo asiati"/>
              </a:rPr>
              <a:t> (per esempio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programma1.java</a:t>
            </a:r>
            <a:r>
              <a:rPr lang="it-IT" sz="1800" b="1" dirty="0">
                <a:solidFill>
                  <a:srgbClr val="000000"/>
                </a:solidFill>
                <a:effectLst/>
                <a:latin typeface="(Tipo di carattere testo asiati"/>
                <a:ea typeface="Times New Roman" panose="02020603050405020304" pitchFamily="18" charset="0"/>
                <a:cs typeface="(Tipo di carattere testo asiati"/>
              </a:rPr>
              <a:t>), mentre il file risultato della compilazione avrà lo stesso nome del file che sorgente ma con suffisso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.class</a:t>
            </a:r>
            <a:r>
              <a:rPr lang="it-IT" sz="1800" b="1" dirty="0">
                <a:solidFill>
                  <a:srgbClr val="000000"/>
                </a:solidFill>
                <a:effectLst/>
                <a:latin typeface="(Tipo di carattere testo asiati"/>
                <a:ea typeface="Times New Roman" panose="02020603050405020304" pitchFamily="18" charset="0"/>
                <a:cs typeface="(Tipo di carattere testo asiati"/>
              </a:rPr>
              <a:t> (per esempio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programma1.class</a:t>
            </a:r>
            <a:r>
              <a:rPr lang="it-IT" sz="1800" b="1" dirty="0">
                <a:solidFill>
                  <a:srgbClr val="000000"/>
                </a:solidFill>
                <a:effectLst/>
                <a:latin typeface="(Tipo di carattere testo asiati"/>
                <a:ea typeface="Times New Roman" panose="02020603050405020304" pitchFamily="18" charset="0"/>
                <a:cs typeface="(Tipo di carattere testo asiati"/>
              </a:rPr>
              <a:t>), e conterrà il bytecode.</a:t>
            </a:r>
            <a:endParaRPr lang="it-IT" sz="1800" b="1" dirty="0">
              <a:effectLst/>
              <a:latin typeface="(Tipo di carattere testo asiati"/>
              <a:ea typeface="Times New Roman" panose="02020603050405020304" pitchFamily="18" charset="0"/>
              <a:cs typeface="(Tipo di carattere testo asiati"/>
            </a:endParaRPr>
          </a:p>
          <a:p>
            <a:r>
              <a:rPr lang="it-IT" sz="1800" dirty="0">
                <a:effectLst/>
                <a:latin typeface="Times New Roman" panose="02020603050405020304" pitchFamily="18" charset="0"/>
                <a:ea typeface="MS Mincho" panose="02020609040205080304" pitchFamily="49" charset="-128"/>
              </a:rPr>
              <a:t>Quindi, se una piattaforma qualsiasi possiede una Java Virtual Machine, ciò sarà sufficiente per renderla esecutrice di bytecode, ovvero di programmi scritti in Java. Per esempio possiamo considerare il sistema operativo mobile più diffuso (Android di Google) dove le maggior parte delle applicazioni native sono scritte in Java. Ecco perché esistono così tanti modelli diversi di smartphone e tablet (ma anche di fornelli, lavatrici, frigoriferi, robot etc.) che usano il sistema operativo Android, il segreto è la virtual machine. Dopo aver tradotto in bytecode il nostro codice sorgente, il nostro programma è potenzialmente eseguibile su tantissime tipologie di dispositivi.</a:t>
            </a:r>
            <a:br>
              <a:rPr lang="it-IT" sz="1800" dirty="0">
                <a:effectLst/>
                <a:latin typeface="Times New Roman" panose="02020603050405020304" pitchFamily="18" charset="0"/>
                <a:ea typeface="MS Mincho" panose="02020609040205080304" pitchFamily="49" charset="-128"/>
              </a:rPr>
            </a:br>
            <a:r>
              <a:rPr lang="it-IT" sz="1800" dirty="0">
                <a:effectLst/>
                <a:latin typeface="Times New Roman" panose="02020603050405020304" pitchFamily="18" charset="0"/>
                <a:ea typeface="MS Mincho" panose="02020609040205080304" pitchFamily="49" charset="-128"/>
              </a:rPr>
              <a:t>La Java Virtual Machine è detta “macchina virtuale” perché questo software è stato implementato per simulare un hardware. Si potrebbe affermare che “il linguaggio macchina sta ad un computer come il bytecode sta ad una Java Virtual Machine”. </a:t>
            </a:r>
            <a:br>
              <a:rPr lang="it-IT" sz="1800" dirty="0">
                <a:effectLst/>
                <a:latin typeface="Times New Roman" panose="02020603050405020304" pitchFamily="18" charset="0"/>
                <a:ea typeface="MS Mincho" panose="02020609040205080304" pitchFamily="49" charset="-128"/>
              </a:rPr>
            </a:br>
            <a:r>
              <a:rPr lang="it-IT" sz="1800" dirty="0">
                <a:effectLst/>
                <a:latin typeface="Times New Roman" panose="02020603050405020304" pitchFamily="18" charset="0"/>
                <a:ea typeface="MS Mincho" panose="02020609040205080304" pitchFamily="49" charset="-128"/>
              </a:rPr>
              <a:t>Oltre che permettere l’indipendenza dalla piattaforma, la JVM garantisce a Java tanti altri vantaggi. Per esempio quello di essere un linguaggio multi-threaded (caratteristica di solito dei sistemi operativi) ovvero capace di mandare in esecuzione più processi in maniera parallela. Inoltre, garantisce dei meccanismi di sicurezza molto potenti, la “supervisione” del codice da parte del Garbage Collector per la gestione automatica della memoria, e tanto altro.</a:t>
            </a:r>
            <a:endParaRPr lang="it-IT" dirty="0"/>
          </a:p>
        </p:txBody>
      </p:sp>
    </p:spTree>
    <p:extLst>
      <p:ext uri="{BB962C8B-B14F-4D97-AF65-F5344CB8AC3E}">
        <p14:creationId xmlns:p14="http://schemas.microsoft.com/office/powerpoint/2010/main" val="19420259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Seguono una serie di voci, pregiudizi, idee sbagliate, imprecise o quantomeno superficiali, che riguardano il linguaggio Java:</a:t>
            </a:r>
          </a:p>
          <a:p>
            <a:pPr marL="180340" indent="180340"/>
            <a:r>
              <a:rPr lang="it-IT" sz="1800" b="1" dirty="0">
                <a:effectLst/>
                <a:latin typeface="Times New Roman" panose="02020603050405020304" pitchFamily="18" charset="0"/>
                <a:ea typeface="MS Mincho" panose="02020609040205080304" pitchFamily="49" charset="-128"/>
              </a:rPr>
              <a:t>Java è lento</a:t>
            </a:r>
            <a:r>
              <a:rPr lang="it-IT" sz="1800" dirty="0">
                <a:effectLst/>
                <a:latin typeface="Times New Roman" panose="02020603050405020304" pitchFamily="18" charset="0"/>
                <a:ea typeface="MS Mincho" panose="02020609040205080304" pitchFamily="49" charset="-128"/>
              </a:rPr>
              <a:t>: Nei primi anni Java era un linguaggio effettivamente lento se comparato ad altri linguaggi compilati. Le performance dell’interpretazione del bytecode da parte della JVM non erano ottimizzate e la lentezza era palese. Dopo pochi anni dalla nascita di Java però, Sun Microsystems creò la sua prima JVM basata </a:t>
            </a:r>
            <a:r>
              <a:rPr lang="it-IT" sz="1800" dirty="0" err="1">
                <a:effectLst/>
                <a:latin typeface="Times New Roman" panose="02020603050405020304" pitchFamily="18" charset="0"/>
                <a:ea typeface="MS Mincho" panose="02020609040205080304" pitchFamily="49" charset="-128"/>
              </a:rPr>
              <a:t>sull’</a:t>
            </a:r>
            <a:r>
              <a:rPr lang="it-IT" sz="1800" b="1" dirty="0" err="1">
                <a:effectLst/>
                <a:latin typeface="Times New Roman" panose="02020603050405020304" pitchFamily="18" charset="0"/>
                <a:ea typeface="MS Mincho" panose="02020609040205080304" pitchFamily="49" charset="-128"/>
              </a:rPr>
              <a:t>HotSpot</a:t>
            </a:r>
            <a:r>
              <a:rPr lang="it-IT" sz="1800" b="1" dirty="0">
                <a:effectLst/>
                <a:latin typeface="Times New Roman" panose="02020603050405020304" pitchFamily="18" charset="0"/>
                <a:ea typeface="MS Mincho" panose="02020609040205080304" pitchFamily="49" charset="-128"/>
              </a:rPr>
              <a:t> Performance Engine</a:t>
            </a:r>
            <a:r>
              <a:rPr lang="it-IT" sz="1800" dirty="0">
                <a:effectLst/>
                <a:latin typeface="Times New Roman" panose="02020603050405020304" pitchFamily="18" charset="0"/>
                <a:ea typeface="MS Mincho" panose="02020609040205080304" pitchFamily="49" charset="-128"/>
              </a:rPr>
              <a:t>, che divenne la JVM di default già dalla versione 1.3 di Java. Si tratta di una JVM con compilazione </a:t>
            </a:r>
            <a:r>
              <a:rPr lang="it-IT" sz="1800" b="1" dirty="0">
                <a:effectLst/>
                <a:latin typeface="Times New Roman" panose="02020603050405020304" pitchFamily="18" charset="0"/>
                <a:ea typeface="MS Mincho" panose="02020609040205080304" pitchFamily="49" charset="-128"/>
              </a:rPr>
              <a:t>Just-In-Time</a:t>
            </a:r>
            <a:r>
              <a:rPr lang="it-IT" sz="1800" dirty="0">
                <a:effectLst/>
                <a:latin typeface="Times New Roman" panose="02020603050405020304" pitchFamily="18" charset="0"/>
                <a:ea typeface="MS Mincho" panose="02020609040205080304" pitchFamily="49" charset="-128"/>
              </a:rPr>
              <a:t> (in inglese </a:t>
            </a:r>
            <a:r>
              <a:rPr lang="it-IT" sz="1800" b="1" dirty="0">
                <a:effectLst/>
                <a:latin typeface="Times New Roman" panose="02020603050405020304" pitchFamily="18" charset="0"/>
                <a:ea typeface="MS Mincho" panose="02020609040205080304" pitchFamily="49" charset="-128"/>
              </a:rPr>
              <a:t>JIT</a:t>
            </a:r>
            <a:r>
              <a:rPr lang="it-IT" sz="1800" dirty="0">
                <a:effectLst/>
                <a:latin typeface="Times New Roman" panose="02020603050405020304" pitchFamily="18" charset="0"/>
                <a:ea typeface="MS Mincho" panose="02020609040205080304" pitchFamily="49" charset="-128"/>
              </a:rPr>
              <a:t> compilation che potremmo tradurre come </a:t>
            </a:r>
            <a:r>
              <a:rPr lang="it-IT" sz="1800" i="1" dirty="0">
                <a:effectLst/>
                <a:latin typeface="Times New Roman" panose="02020603050405020304" pitchFamily="18" charset="0"/>
                <a:ea typeface="MS Mincho" panose="02020609040205080304" pitchFamily="49" charset="-128"/>
              </a:rPr>
              <a:t>compilazione al volo</a:t>
            </a:r>
            <a:r>
              <a:rPr lang="it-IT" sz="1800" dirty="0">
                <a:effectLst/>
                <a:latin typeface="Times New Roman" panose="02020603050405020304" pitchFamily="18" charset="0"/>
                <a:ea typeface="MS Mincho" panose="02020609040205080304" pitchFamily="49" charset="-128"/>
              </a:rPr>
              <a:t>) che durante l’esecuzione analizza continuamente il programma, individua le parti di codice che vengono eseguite più frequentemente (chiamate appunto </a:t>
            </a:r>
            <a:r>
              <a:rPr lang="it-IT" sz="1800" b="1" dirty="0">
                <a:effectLst/>
                <a:latin typeface="Times New Roman" panose="02020603050405020304" pitchFamily="18" charset="0"/>
                <a:ea typeface="MS Mincho" panose="02020609040205080304" pitchFamily="49" charset="-128"/>
              </a:rPr>
              <a:t>HotSpot</a:t>
            </a:r>
            <a:r>
              <a:rPr lang="it-IT" sz="1800" dirty="0">
                <a:effectLst/>
                <a:latin typeface="Times New Roman" panose="02020603050405020304" pitchFamily="18" charset="0"/>
                <a:ea typeface="MS Mincho" panose="02020609040205080304" pitchFamily="49" charset="-128"/>
              </a:rPr>
              <a:t>) e le traduce in linguaggio macchina, ottimizzando al massimo la traduzione. Inoltre anche il compilatore Java esegue tante ottimizzazioni quando viene creato il bytecode. Oggi, la JVM ha prestazioni comparabili tranquillamente a quelle dei linguaggi compilati più performanti come C e C++, che in alcuni benchmark sono addirittura superati. </a:t>
            </a: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Attualmente con lo sviluppo di una nuova virtual machine sperimentale chiamata Graal VM, si è dato inizio alla sperimentazione di una nuova generazione di JVM basato su compilazione </a:t>
            </a:r>
            <a:r>
              <a:rPr lang="it-IT" sz="1800" b="1" i="1" dirty="0" err="1">
                <a:solidFill>
                  <a:srgbClr val="000000"/>
                </a:solidFill>
                <a:effectLst/>
                <a:latin typeface="(Tipo di carattere testo asiati"/>
                <a:ea typeface="Times New Roman" panose="02020603050405020304" pitchFamily="18" charset="0"/>
                <a:cs typeface="(Tipo di carattere testo asiati"/>
              </a:rPr>
              <a:t>Ahead</a:t>
            </a:r>
            <a:r>
              <a:rPr lang="it-IT" sz="1800" b="1" i="1" dirty="0">
                <a:solidFill>
                  <a:srgbClr val="000000"/>
                </a:solidFill>
                <a:effectLst/>
                <a:latin typeface="(Tipo di carattere testo asiati"/>
                <a:ea typeface="Times New Roman" panose="02020603050405020304" pitchFamily="18" charset="0"/>
                <a:cs typeface="(Tipo di carattere testo asiati"/>
              </a:rPr>
              <a:t>-Of-Time</a:t>
            </a:r>
            <a:r>
              <a:rPr lang="it-IT" sz="1800" b="1" dirty="0">
                <a:solidFill>
                  <a:srgbClr val="000000"/>
                </a:solidFill>
                <a:effectLst/>
                <a:latin typeface="(Tipo di carattere testo asiati"/>
                <a:ea typeface="Times New Roman" panose="02020603050405020304" pitchFamily="18" charset="0"/>
                <a:cs typeface="(Tipo di carattere testo asiati"/>
              </a:rPr>
              <a:t> (in inglese </a:t>
            </a:r>
            <a:r>
              <a:rPr lang="it-IT" sz="1800" b="1" i="1" dirty="0">
                <a:solidFill>
                  <a:srgbClr val="000000"/>
                </a:solidFill>
                <a:effectLst/>
                <a:latin typeface="(Tipo di carattere testo asiati"/>
                <a:ea typeface="Times New Roman" panose="02020603050405020304" pitchFamily="18" charset="0"/>
                <a:cs typeface="(Tipo di carattere testo asiati"/>
              </a:rPr>
              <a:t>AOT</a:t>
            </a:r>
            <a:r>
              <a:rPr lang="it-IT" sz="1800" b="1" dirty="0">
                <a:solidFill>
                  <a:srgbClr val="000000"/>
                </a:solidFill>
                <a:effectLst/>
                <a:latin typeface="(Tipo di carattere testo asiati"/>
                <a:ea typeface="Times New Roman" panose="02020603050405020304" pitchFamily="18" charset="0"/>
                <a:cs typeface="(Tipo di carattere testo asiati"/>
              </a:rPr>
              <a:t> </a:t>
            </a:r>
            <a:r>
              <a:rPr lang="it-IT" sz="1800" b="1" i="1" dirty="0">
                <a:solidFill>
                  <a:srgbClr val="000000"/>
                </a:solidFill>
                <a:effectLst/>
                <a:latin typeface="(Tipo di carattere testo asiati"/>
                <a:ea typeface="Times New Roman" panose="02020603050405020304" pitchFamily="18" charset="0"/>
                <a:cs typeface="(Tipo di carattere testo asiati"/>
              </a:rPr>
              <a:t>compilation</a:t>
            </a:r>
            <a:r>
              <a:rPr lang="it-IT" sz="1800" b="1" dirty="0">
                <a:solidFill>
                  <a:srgbClr val="000000"/>
                </a:solidFill>
                <a:effectLst/>
                <a:latin typeface="(Tipo di carattere testo asiati"/>
                <a:ea typeface="Times New Roman" panose="02020603050405020304" pitchFamily="18" charset="0"/>
                <a:cs typeface="(Tipo di carattere testo asiati"/>
              </a:rPr>
              <a:t>, che potremmo tradurre come </a:t>
            </a:r>
            <a:r>
              <a:rPr lang="it-IT" sz="1800" b="1" i="1" dirty="0">
                <a:solidFill>
                  <a:srgbClr val="000000"/>
                </a:solidFill>
                <a:effectLst/>
                <a:latin typeface="(Tipo di carattere testo asiati"/>
                <a:ea typeface="Times New Roman" panose="02020603050405020304" pitchFamily="18" charset="0"/>
                <a:cs typeface="(Tipo di carattere testo asiati"/>
              </a:rPr>
              <a:t>compilazione prima del tempo</a:t>
            </a:r>
            <a:r>
              <a:rPr lang="it-IT" sz="1800" b="1" dirty="0">
                <a:solidFill>
                  <a:srgbClr val="000000"/>
                </a:solidFill>
                <a:effectLst/>
                <a:latin typeface="(Tipo di carattere testo asiati"/>
                <a:ea typeface="Times New Roman" panose="02020603050405020304" pitchFamily="18" charset="0"/>
                <a:cs typeface="(Tipo di carattere testo asiati"/>
              </a:rPr>
              <a:t>). AOT si pone l’obiettivo di diminuire sensibilmente i tempi di compilazione al volo (JIT), soprattutto nella fase di startup dell’applicazione. Quindi in futuro le prestazioni dovrebbero migliorare ulteriormente.</a:t>
            </a:r>
            <a:endParaRPr lang="it-IT" sz="1800" b="1" dirty="0">
              <a:effectLst/>
              <a:latin typeface="(Tipo di carattere testo asiati"/>
              <a:ea typeface="Times New Roman" panose="02020603050405020304" pitchFamily="18" charset="0"/>
              <a:cs typeface="(Tipo di carattere testo asiati"/>
            </a:endParaRPr>
          </a:p>
          <a:p>
            <a:pPr marL="180340" indent="180340"/>
            <a:r>
              <a:rPr lang="it-IT" sz="1800" b="1" dirty="0">
                <a:effectLst/>
                <a:latin typeface="Times New Roman" panose="02020603050405020304" pitchFamily="18" charset="0"/>
                <a:ea typeface="MS Mincho" panose="02020609040205080304" pitchFamily="49" charset="-128"/>
              </a:rPr>
              <a:t>Java non è sicuro</a:t>
            </a:r>
            <a:r>
              <a:rPr lang="it-IT" sz="1800" dirty="0">
                <a:effectLst/>
                <a:latin typeface="Times New Roman" panose="02020603050405020304" pitchFamily="18" charset="0"/>
                <a:ea typeface="MS Mincho" panose="02020609040205080304" pitchFamily="49" charset="-128"/>
              </a:rPr>
              <a:t>: nei primi anni ci fu una sorta di gara a trovare le criticità di alcune tecnologie Java come le Applet, a cui fu data grande pubblicità, ma che in realtà Sun risolse molto presto. Ancora più risalto fu dato ad alcune falle trovate nel Java Plug-in all’inizio degli anni ‘10, tanto da far rimuovere lo stesso dai più importanti browser nel giro di pochi mesi. Niente di comparabile ai danni provocati in tutti questi anni da virus e worm distribuiti con programmi eseguibili su Windows! In realtà, Java è tra i linguaggi più importanti, indubbiamente il più sicuro, soprattutto dopo i passi da gigante fatti negli ultimi anni da Oracle. </a:t>
            </a:r>
            <a:br>
              <a:rPr lang="it-IT" sz="1800" dirty="0">
                <a:effectLst/>
                <a:latin typeface="Times New Roman" panose="02020603050405020304" pitchFamily="18" charset="0"/>
                <a:ea typeface="MS Mincho" panose="02020609040205080304" pitchFamily="49" charset="-128"/>
              </a:rPr>
            </a:br>
            <a:r>
              <a:rPr lang="it-IT" sz="1800" b="1" dirty="0">
                <a:effectLst/>
                <a:latin typeface="Times New Roman" panose="02020603050405020304" pitchFamily="18" charset="0"/>
                <a:ea typeface="MS Mincho" panose="02020609040205080304" pitchFamily="49" charset="-128"/>
              </a:rPr>
              <a:t>(ICONA CURIOSITÀ)</a:t>
            </a:r>
            <a:endParaRPr lang="it-IT" sz="1800" dirty="0">
              <a:effectLst/>
              <a:latin typeface="Times New Roman" panose="02020603050405020304" pitchFamily="18" charset="0"/>
              <a:ea typeface="MS Mincho" panose="02020609040205080304" pitchFamily="49" charset="-128"/>
            </a:endParaRPr>
          </a:p>
          <a:p>
            <a:pPr marL="180340" indent="180340"/>
            <a:r>
              <a:rPr lang="it-IT" sz="1800" dirty="0">
                <a:effectLst/>
                <a:latin typeface="Times New Roman" panose="02020603050405020304" pitchFamily="18" charset="0"/>
                <a:ea typeface="MS Mincho" panose="02020609040205080304" pitchFamily="49" charset="-128"/>
              </a:rPr>
              <a:t>Una video ironico fu creato per pubblicizzare la conferenza di </a:t>
            </a:r>
            <a:r>
              <a:rPr lang="it-IT" sz="1800" dirty="0" err="1">
                <a:effectLst/>
                <a:latin typeface="Times New Roman" panose="02020603050405020304" pitchFamily="18" charset="0"/>
                <a:ea typeface="MS Mincho" panose="02020609040205080304" pitchFamily="49" charset="-128"/>
              </a:rPr>
              <a:t>JavaZone</a:t>
            </a:r>
            <a:r>
              <a:rPr lang="it-IT" sz="1800" dirty="0">
                <a:effectLst/>
                <a:latin typeface="Times New Roman" panose="02020603050405020304" pitchFamily="18" charset="0"/>
                <a:ea typeface="MS Mincho" panose="02020609040205080304" pitchFamily="49" charset="-128"/>
              </a:rPr>
              <a:t> ad Oslo del 2013, lo trovate al link 1.1 su </a:t>
            </a:r>
            <a:r>
              <a:rPr lang="it-IT" sz="1800" dirty="0">
                <a:effectLst/>
                <a:latin typeface="Arial" panose="020B0604020202020204" pitchFamily="34" charset="0"/>
                <a:ea typeface="MS Mincho" panose="02020609040205080304" pitchFamily="49" charset="-128"/>
                <a:cs typeface="Arial" panose="020B0604020202020204" pitchFamily="34" charset="0"/>
              </a:rPr>
              <a:t>www.nuovojava.it</a:t>
            </a:r>
            <a:r>
              <a:rPr lang="it-IT" sz="1800" dirty="0">
                <a:effectLst/>
                <a:latin typeface="Times New Roman" panose="02020603050405020304" pitchFamily="18" charset="0"/>
                <a:ea typeface="MS Mincho" panose="02020609040205080304" pitchFamily="49" charset="-128"/>
              </a:rPr>
              <a:t>.</a:t>
            </a:r>
            <a:r>
              <a:rPr lang="it-IT" sz="1800" b="1" dirty="0">
                <a:effectLst/>
                <a:latin typeface="Times New Roman" panose="02020603050405020304" pitchFamily="18" charset="0"/>
                <a:ea typeface="MS Mincho" panose="02020609040205080304" pitchFamily="49" charset="-128"/>
              </a:rPr>
              <a:t> [ICONA LINK 1.1]</a:t>
            </a:r>
            <a:endParaRPr lang="it-IT" sz="1800" dirty="0">
              <a:effectLst/>
              <a:latin typeface="Times New Roman" panose="02020603050405020304" pitchFamily="18" charset="0"/>
              <a:ea typeface="MS Mincho" panose="02020609040205080304" pitchFamily="49" charset="-128"/>
            </a:endParaRPr>
          </a:p>
          <a:p>
            <a:pPr marL="180340" indent="180340"/>
            <a:r>
              <a:rPr lang="it-IT" sz="1800" b="1" dirty="0">
                <a:effectLst/>
                <a:latin typeface="Times New Roman" panose="02020603050405020304" pitchFamily="18" charset="0"/>
                <a:ea typeface="MS Mincho" panose="02020609040205080304" pitchFamily="49" charset="-128"/>
              </a:rPr>
              <a:t>Java è prolisso</a:t>
            </a:r>
            <a:r>
              <a:rPr lang="it-IT" sz="1800" dirty="0">
                <a:effectLst/>
                <a:latin typeface="Times New Roman" panose="02020603050405020304" pitchFamily="18" charset="0"/>
                <a:ea typeface="MS Mincho" panose="02020609040205080304" pitchFamily="49" charset="-128"/>
              </a:rPr>
              <a:t>: indubbiamente, rispetto ad altri linguaggi Java è un linguaggio prolisso (si usa spesso il termine “verboso”). È anche vero però, che negli ultimi anni una buona parte dell’evoluzione del linguaggio si è concentrata sul rendere la sua sintassi più sintetica. Il multi-</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catch</a:t>
            </a:r>
            <a:r>
              <a:rPr lang="it-IT" sz="1800" dirty="0">
                <a:effectLst/>
                <a:latin typeface="Times New Roman" panose="02020603050405020304" pitchFamily="18" charset="0"/>
                <a:ea typeface="MS Mincho" panose="02020609040205080304" pitchFamily="49" charset="-128"/>
              </a:rPr>
              <a:t>, il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try</a:t>
            </a:r>
            <a:r>
              <a:rPr lang="it-IT" sz="1800" dirty="0">
                <a:effectLst/>
                <a:latin typeface="Times New Roman" panose="02020603050405020304" pitchFamily="18" charset="0"/>
                <a:ea typeface="MS Mincho" panose="02020609040205080304" pitchFamily="49" charset="-128"/>
              </a:rPr>
              <a:t>-with-resources, i factory method per le collection, le espressioni Lambda, gli stream e le pipeline, la deduzione per i tipi delle variabili locali, ed i record sono solo alcuni degli ultimi cambiamenti che rendono Java un linguaggio molto diverso e più moderno. Purtroppo, spesso la criticità di alcuni progetti, porta gli sviluppatori a rimanere bloccati su versioni di Java antiquate, e di non potersi aggiornare per usufruire delle nuove feature.</a:t>
            </a:r>
          </a:p>
          <a:p>
            <a:pPr marL="180340" indent="180340"/>
            <a:r>
              <a:rPr lang="it-IT" sz="1800" b="1" dirty="0">
                <a:effectLst/>
                <a:latin typeface="Times New Roman" panose="02020603050405020304" pitchFamily="18" charset="0"/>
                <a:ea typeface="MS Mincho" panose="02020609040205080304" pitchFamily="49" charset="-128"/>
              </a:rPr>
              <a:t>Java è facile da imparare</a:t>
            </a:r>
            <a:r>
              <a:rPr lang="it-IT" sz="1800" dirty="0">
                <a:effectLst/>
                <a:latin typeface="Times New Roman" panose="02020603050405020304" pitchFamily="18" charset="0"/>
                <a:ea typeface="MS Mincho" panose="02020609040205080304" pitchFamily="49" charset="-128"/>
              </a:rPr>
              <a:t>: una volta Java era davvero un linguaggio facile da imparare. Oggi invece è un linguaggio molto complesso. Tuttavia in questo libro verrà usato un metodo collaudato, affinché lo studio sia semplificato al massimo. Quindi anche le caratteristiche avanzate più complesse di Java dovrebbero sempre risultare comprensibili. </a:t>
            </a:r>
          </a:p>
          <a:p>
            <a:pPr marL="180340" indent="180340"/>
            <a:r>
              <a:rPr lang="it-IT" sz="1800" b="1" dirty="0">
                <a:effectLst/>
                <a:latin typeface="Times New Roman" panose="02020603050405020304" pitchFamily="18" charset="0"/>
                <a:ea typeface="MS Mincho" panose="02020609040205080304" pitchFamily="49" charset="-128"/>
              </a:rPr>
              <a:t>Java è a pagamento</a:t>
            </a:r>
            <a:r>
              <a:rPr lang="it-IT" sz="1800" dirty="0">
                <a:effectLst/>
                <a:latin typeface="Times New Roman" panose="02020603050405020304" pitchFamily="18" charset="0"/>
                <a:ea typeface="MS Mincho" panose="02020609040205080304" pitchFamily="49" charset="-128"/>
              </a:rPr>
              <a:t>: dopo Java 8, è vero che Oracle ha introdotto una nuova politica a pagamento per il supporto in produzione dei programmi che girano sul JDK Oracle, ma è anche vero che è possibile scaricare l’OpenJDK, che è allineato con il JDK Oracle. Il “prezzo da pagare” per ottenere le patch di sicurezza gratuitamente, è quello di aggiornare il JDK ogni volta che esce una nuova versione. È possibile anche scegliere altri JDK come quelli che offrono per esempio AdoptOpenJDK, e Azul (ma anche tanti altri) che offrono soluzioni diverse per il supporto. Quindi la risposta è no, Java è ancora un linguaggio che si può usare gratuitamente.</a:t>
            </a:r>
          </a:p>
          <a:p>
            <a:pPr marL="180340" indent="180340"/>
            <a:r>
              <a:rPr lang="it-IT" sz="1800" b="1" dirty="0">
                <a:effectLst/>
                <a:latin typeface="Times New Roman" panose="02020603050405020304" pitchFamily="18" charset="0"/>
                <a:ea typeface="MS Mincho" panose="02020609040205080304" pitchFamily="49" charset="-128"/>
              </a:rPr>
              <a:t>JavaScript è una versione semplificata di Java</a:t>
            </a:r>
            <a:r>
              <a:rPr lang="it-IT" sz="1800" dirty="0">
                <a:effectLst/>
                <a:latin typeface="Times New Roman" panose="02020603050405020304" pitchFamily="18" charset="0"/>
                <a:ea typeface="MS Mincho" panose="02020609040205080304" pitchFamily="49" charset="-128"/>
              </a:rPr>
              <a:t>: in realtà a parte il nome (che fu scelto perché all’epoca Java era sulla bocca di tutti) e la sintassi abbastanza simile, Javascript non ha nulla a che fare con Java. Javascript è un linguaggio di scripting che gira sulle pagine web, grazie al fatto che ogni browser ne implementa un interprete. È un linguaggio non tipizzato (al contrario di Java che come vedremo presto è </a:t>
            </a:r>
            <a:r>
              <a:rPr lang="it-IT" sz="1800" i="1" dirty="0">
                <a:effectLst/>
                <a:latin typeface="Times New Roman" panose="02020603050405020304" pitchFamily="18" charset="0"/>
                <a:ea typeface="MS Mincho" panose="02020609040205080304" pitchFamily="49" charset="-128"/>
              </a:rPr>
              <a:t>fortemente tipizzato</a:t>
            </a:r>
            <a:r>
              <a:rPr lang="it-IT" sz="1800" dirty="0">
                <a:effectLst/>
                <a:latin typeface="Times New Roman" panose="02020603050405020304" pitchFamily="18" charset="0"/>
                <a:ea typeface="MS Mincho" panose="02020609040205080304" pitchFamily="49" charset="-128"/>
              </a:rPr>
              <a:t>) e non ha un compilatore.</a:t>
            </a:r>
          </a:p>
        </p:txBody>
      </p:sp>
    </p:spTree>
    <p:extLst>
      <p:ext uri="{BB962C8B-B14F-4D97-AF65-F5344CB8AC3E}">
        <p14:creationId xmlns:p14="http://schemas.microsoft.com/office/powerpoint/2010/main" val="3904882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27668225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Esistono vari ambienti di sviluppo per programmare in Java. Introduciamo velocemente alcune possibilità. Partiamo dall’ambiente di sviluppo ufficiale: il Java Development Kit.</a:t>
            </a: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1.3.1.1 Soluzione classica</a:t>
            </a:r>
          </a:p>
          <a:p>
            <a:r>
              <a:rPr lang="it-IT" sz="1800" dirty="0">
                <a:effectLst/>
                <a:latin typeface="Times New Roman" panose="02020603050405020304" pitchFamily="18" charset="0"/>
                <a:ea typeface="MS Mincho" panose="02020609040205080304" pitchFamily="49" charset="-128"/>
              </a:rPr>
              <a:t>In teoria, per scrivere un programma Java basterebbero:</a:t>
            </a:r>
          </a:p>
          <a:p>
            <a:pPr marL="180340" indent="180340"/>
            <a:r>
              <a:rPr lang="it-IT" sz="1800" b="1" dirty="0">
                <a:effectLst/>
                <a:latin typeface="Times New Roman" panose="02020603050405020304" pitchFamily="18" charset="0"/>
                <a:ea typeface="MS Mincho" panose="02020609040205080304" pitchFamily="49" charset="-128"/>
              </a:rPr>
              <a:t>un programma che ci permetta di scrivere codice Java</a:t>
            </a:r>
            <a:r>
              <a:rPr lang="it-IT" sz="1800" dirty="0">
                <a:effectLst/>
                <a:latin typeface="Times New Roman" panose="02020603050405020304" pitchFamily="18" charset="0"/>
                <a:ea typeface="MS Mincho" panose="02020609040205080304" pitchFamily="49" charset="-128"/>
              </a:rPr>
              <a:t>. Per iniziare potrebbe andar bene un semplice editor di testo, come il Blocco Note di Windows.</a:t>
            </a:r>
          </a:p>
          <a:p>
            <a:pPr marL="180340" indent="180340"/>
            <a:r>
              <a:rPr lang="it-IT" sz="1800" b="1" dirty="0">
                <a:effectLst/>
                <a:latin typeface="Times New Roman" panose="02020603050405020304" pitchFamily="18" charset="0"/>
                <a:ea typeface="MS Mincho" panose="02020609040205080304" pitchFamily="49" charset="-128"/>
              </a:rPr>
              <a:t>Il Java Development Kit versione Standard Edition</a:t>
            </a:r>
            <a:r>
              <a:rPr lang="it-IT" sz="1800" dirty="0">
                <a:effectLst/>
                <a:latin typeface="Times New Roman" panose="02020603050405020304" pitchFamily="18" charset="0"/>
                <a:ea typeface="MS Mincho" panose="02020609040205080304" pitchFamily="49" charset="-128"/>
              </a:rPr>
              <a:t> (da ora in poi </a:t>
            </a:r>
            <a:r>
              <a:rPr lang="it-IT" sz="1800" b="1" dirty="0">
                <a:effectLst/>
                <a:latin typeface="Times New Roman" panose="02020603050405020304" pitchFamily="18" charset="0"/>
                <a:ea typeface="MS Mincho" panose="02020609040205080304" pitchFamily="49" charset="-128"/>
              </a:rPr>
              <a:t>JDK</a:t>
            </a:r>
            <a:r>
              <a:rPr lang="it-IT" sz="1800" dirty="0">
                <a:effectLst/>
                <a:latin typeface="Times New Roman" panose="02020603050405020304" pitchFamily="18" charset="0"/>
                <a:ea typeface="MS Mincho" panose="02020609040205080304" pitchFamily="49" charset="-128"/>
              </a:rPr>
              <a:t>). Si tratta dell’ambiente di sviluppo ufficiale di Java che ci fornisce una suite di software tra i quali un compilatore e la Java Virtual Machine di cui abbiamo accennato nel paragrafo precedente. Per utilizzare il JDK, è necessario lavorare con la </a:t>
            </a:r>
            <a:r>
              <a:rPr lang="it-IT" sz="1800" b="1" dirty="0">
                <a:effectLst/>
                <a:latin typeface="Times New Roman" panose="02020603050405020304" pitchFamily="18" charset="0"/>
                <a:ea typeface="MS Mincho" panose="02020609040205080304" pitchFamily="49" charset="-128"/>
              </a:rPr>
              <a:t>prompt dei comandi</a:t>
            </a:r>
            <a:r>
              <a:rPr lang="it-IT" sz="1800" dirty="0">
                <a:effectLst/>
                <a:latin typeface="Times New Roman" panose="02020603050405020304" pitchFamily="18" charset="0"/>
                <a:ea typeface="MS Mincho" panose="02020609040205080304" pitchFamily="49" charset="-128"/>
              </a:rPr>
              <a:t> (detta anche </a:t>
            </a:r>
            <a:r>
              <a:rPr lang="it-IT" sz="1800" b="1" dirty="0">
                <a:effectLst/>
                <a:latin typeface="Times New Roman" panose="02020603050405020304" pitchFamily="18" charset="0"/>
                <a:ea typeface="MS Mincho" panose="02020609040205080304" pitchFamily="49" charset="-128"/>
              </a:rPr>
              <a:t>linea di comando</a:t>
            </a:r>
            <a:r>
              <a:rPr lang="it-IT" sz="1800" dirty="0">
                <a:effectLst/>
                <a:latin typeface="Times New Roman" panose="02020603050405020304" pitchFamily="18" charset="0"/>
                <a:ea typeface="MS Mincho" panose="02020609040205080304" pitchFamily="49" charset="-128"/>
              </a:rPr>
              <a:t>) di Windows.</a:t>
            </a:r>
          </a:p>
          <a:p>
            <a:pPr marL="180340" indent="180340"/>
            <a:r>
              <a:rPr lang="it-IT" sz="1800" b="0" dirty="0">
                <a:effectLst/>
                <a:latin typeface="Times New Roman" panose="02020603050405020304" pitchFamily="18" charset="0"/>
                <a:ea typeface="MS Mincho" panose="02020609040205080304" pitchFamily="49" charset="-128"/>
              </a:rPr>
              <a:t>Una conoscenza del JDK e della prompt dei comandi è fondamentale per poter programmare in Java, ma oggettivamente scomoda e per ora non necessaria. Solitamente infatti, si usano strumenti più evoluti per sviluppare software. Per rendere più agevole l’impatto con il codice quindi, preferiamo rimandare l’introduzione di questo ambiente di sviluppo nel paragrafo 1.5.</a:t>
            </a:r>
            <a:endParaRPr lang="it-IT" sz="1800" dirty="0">
              <a:effectLst/>
              <a:latin typeface="Times New Roman" panose="02020603050405020304" pitchFamily="18" charset="0"/>
              <a:ea typeface="MS Mincho" panose="02020609040205080304" pitchFamily="49" charset="-128"/>
            </a:endParaRP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1.3.1.2 Soluzione per esperti</a:t>
            </a:r>
          </a:p>
          <a:p>
            <a:pPr marL="180340" indent="180340"/>
            <a:r>
              <a:rPr lang="it-IT" sz="1800" b="0" dirty="0">
                <a:effectLst/>
                <a:latin typeface="Times New Roman" panose="02020603050405020304" pitchFamily="18" charset="0"/>
                <a:ea typeface="MS Mincho" panose="02020609040205080304" pitchFamily="49" charset="-128"/>
              </a:rPr>
              <a:t>Piuttosto, se siete già programmatori Java e state leggendo questo libro solo al fine di aggiornare le vostre conoscenze, allora probabilmente già utilizzate un IDE come Eclipse, IntelliJ IDEA o Netbeans per sviluppare. Se vi sentite confidenti nell’utilizzo del vostro IDE, potete tranquillamente utilizzarlo per lo studio di questo testo, a patto che esso sia aggiornato alla versione 15 di Java.</a:t>
            </a:r>
            <a:endParaRPr lang="it-IT" sz="1800" dirty="0">
              <a:effectLst/>
              <a:latin typeface="Times New Roman" panose="02020603050405020304" pitchFamily="18" charset="0"/>
              <a:ea typeface="MS Mincho" panose="02020609040205080304" pitchFamily="49" charset="-128"/>
            </a:endParaRPr>
          </a:p>
          <a:p>
            <a:pPr marL="180340" indent="180340"/>
            <a:r>
              <a:rPr lang="it-IT" sz="1800" b="1" dirty="0">
                <a:effectLst/>
                <a:latin typeface="Times New Roman" panose="02020603050405020304" pitchFamily="18" charset="0"/>
                <a:ea typeface="MS Mincho" panose="02020609040205080304" pitchFamily="49" charset="-128"/>
              </a:rPr>
              <a:t>(ICONA IMPORTANTE)</a:t>
            </a:r>
            <a:endParaRPr lang="it-IT" sz="1800" dirty="0">
              <a:effectLst/>
              <a:latin typeface="Times New Roman" panose="02020603050405020304" pitchFamily="18" charset="0"/>
              <a:ea typeface="MS Mincho" panose="02020609040205080304" pitchFamily="49" charset="-128"/>
            </a:endParaRPr>
          </a:p>
          <a:p>
            <a:pPr marL="180340" indent="180340"/>
            <a:r>
              <a:rPr lang="it-IT" sz="1800" b="0" dirty="0">
                <a:effectLst/>
                <a:latin typeface="Times New Roman" panose="02020603050405020304" pitchFamily="18" charset="0"/>
                <a:ea typeface="MS Mincho" panose="02020609040205080304" pitchFamily="49" charset="-128"/>
              </a:rPr>
              <a:t>Per chi non ha mai usato uno di questi strumenti, è altamente sconsigliato l’utilizzo di un IDE da subito. </a:t>
            </a:r>
            <a:r>
              <a:rPr lang="it-IT" sz="1800" dirty="0">
                <a:effectLst/>
                <a:latin typeface="Times New Roman" panose="02020603050405020304" pitchFamily="18" charset="0"/>
                <a:ea typeface="MS Mincho" panose="02020609040205080304" pitchFamily="49" charset="-128"/>
              </a:rPr>
              <a:t>Questi fantastici strumenti infatti sono complessi, e vanno prima padroneggiati per risultare utili. La loro complessità può distrarre dal vero obiettivo, ovvero quello di studiare Java. Se dobbiamo anche imparare ad utilizzare l’IDE, non ci troveremo nelle condizioni ideali per concentrarci sul linguaggio. Inoltre utilizzare un IDE per i piccoli programmi che scriveremo inizialmente, è un po’ come sparare ad una mosca con un cannone. Paradossalmente infine, le comodità offerte da un IDE come l’auto-completamento del codice e i suggerimenti, possono essere dannosi per chi inizia! Non è raro incontrare persone che programmano con questi strumenti da anni, senza avere chiari alcuni concetti basilari.</a:t>
            </a: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1.3.1.3 Soluzione per chi inizia</a:t>
            </a:r>
          </a:p>
          <a:p>
            <a:r>
              <a:rPr lang="it-IT" sz="1800" dirty="0">
                <a:effectLst/>
                <a:latin typeface="Times New Roman" panose="02020603050405020304" pitchFamily="18" charset="0"/>
                <a:ea typeface="MS Mincho" panose="02020609040205080304" pitchFamily="49" charset="-128"/>
              </a:rPr>
              <a:t>Ho creato un editor Java open source pensato proprio per chi inizia a programmare: </a:t>
            </a:r>
            <a:r>
              <a:rPr lang="it-IT" sz="1800" b="1" dirty="0">
                <a:effectLst/>
                <a:latin typeface="Times New Roman" panose="02020603050405020304" pitchFamily="18" charset="0"/>
                <a:ea typeface="MS Mincho" panose="02020609040205080304" pitchFamily="49" charset="-128"/>
              </a:rPr>
              <a:t>EJE</a:t>
            </a:r>
            <a:r>
              <a:rPr lang="it-IT" sz="1800" dirty="0">
                <a:effectLst/>
                <a:latin typeface="Times New Roman" panose="02020603050405020304" pitchFamily="18" charset="0"/>
                <a:ea typeface="MS Mincho" panose="02020609040205080304" pitchFamily="49" charset="-128"/>
              </a:rPr>
              <a:t> (acronimo di </a:t>
            </a:r>
            <a:r>
              <a:rPr lang="it-IT" sz="1800" b="1" dirty="0" err="1">
                <a:effectLst/>
                <a:latin typeface="Times New Roman" panose="02020603050405020304" pitchFamily="18" charset="0"/>
                <a:ea typeface="MS Mincho" panose="02020609040205080304" pitchFamily="49" charset="-128"/>
              </a:rPr>
              <a:t>Everyone’s</a:t>
            </a:r>
            <a:r>
              <a:rPr lang="it-IT" sz="1800" b="1" dirty="0">
                <a:effectLst/>
                <a:latin typeface="Times New Roman" panose="02020603050405020304" pitchFamily="18" charset="0"/>
                <a:ea typeface="MS Mincho" panose="02020609040205080304" pitchFamily="49" charset="-128"/>
              </a:rPr>
              <a:t> Java Editor</a:t>
            </a:r>
            <a:r>
              <a:rPr lang="it-IT" sz="1800" dirty="0">
                <a:effectLst/>
                <a:latin typeface="Times New Roman" panose="02020603050405020304" pitchFamily="18" charset="0"/>
                <a:ea typeface="MS Mincho" panose="02020609040205080304" pitchFamily="49" charset="-128"/>
              </a:rPr>
              <a:t>). Non è un vero e proprio IDE, ma un semplice editor che vi permetterà di programmare comodamente da subito. Offre diverse utilità che facilitano quelle operazioni che nelle prime fasi di studio risultano noiose, come il dover scaricare e configurare l’ultimo JDK, oppure utilizzare due programmi diversi (editor e prompt dei comandi) per sviluppare. Su </a:t>
            </a:r>
            <a:r>
              <a:rPr lang="it-IT" sz="1800" u="none" strike="noStrike" dirty="0">
                <a:effectLst/>
                <a:latin typeface="Arial" panose="020B0604020202020204" pitchFamily="34" charset="0"/>
                <a:ea typeface="MS Mincho" panose="02020609040205080304" pitchFamily="49" charset="-128"/>
                <a:cs typeface="Arial" panose="020B0604020202020204" pitchFamily="34" charset="0"/>
                <a:hlinkClick r:id="rId3"/>
              </a:rPr>
              <a:t>www.nuovojava.it</a:t>
            </a:r>
            <a:r>
              <a:rPr lang="it-IT" sz="1800" dirty="0">
                <a:effectLst/>
                <a:latin typeface="Times New Roman" panose="02020603050405020304" pitchFamily="18" charset="0"/>
                <a:ea typeface="MS Mincho" panose="02020609040205080304" pitchFamily="49" charset="-128"/>
              </a:rPr>
              <a:t> troverete dei pulsanti dedicati per il download diretto di EJE per la vostra piattaforma. Non c’è bisogni di installarlo: una volta scaricato il file ZIP, basta decomprimerlo tramite un programma come WinRar o 7Zip, o semplicemente cliccando sul file con il tasto destro, e selezionando la voce “Estrai tutto”. Verrà creata una cartella chiamata </a:t>
            </a:r>
            <a:r>
              <a:rPr lang="it-IT" sz="1800" dirty="0">
                <a:effectLst/>
                <a:latin typeface="Arial" panose="020B0604020202020204" pitchFamily="34" charset="0"/>
                <a:ea typeface="MS Mincho" panose="02020609040205080304" pitchFamily="49" charset="-128"/>
                <a:cs typeface="Arial" panose="020B0604020202020204" pitchFamily="34" charset="0"/>
              </a:rPr>
              <a:t>EJE</a:t>
            </a:r>
            <a:r>
              <a:rPr lang="it-IT" sz="1800" dirty="0">
                <a:effectLst/>
                <a:latin typeface="Times New Roman" panose="02020603050405020304" pitchFamily="18" charset="0"/>
                <a:ea typeface="MS Mincho" panose="02020609040205080304" pitchFamily="49" charset="-128"/>
              </a:rPr>
              <a:t>, al cui interno troverete il file </a:t>
            </a:r>
            <a:r>
              <a:rPr lang="it-IT" sz="1800" dirty="0">
                <a:effectLst/>
                <a:latin typeface="Arial" panose="020B0604020202020204" pitchFamily="34" charset="0"/>
                <a:ea typeface="MS Mincho" panose="02020609040205080304" pitchFamily="49" charset="-128"/>
                <a:cs typeface="Arial" panose="020B0604020202020204" pitchFamily="34" charset="0"/>
              </a:rPr>
              <a:t>eje.exe</a:t>
            </a:r>
            <a:r>
              <a:rPr lang="it-IT" sz="1800" dirty="0">
                <a:effectLst/>
                <a:latin typeface="Times New Roman" panose="02020603050405020304" pitchFamily="18" charset="0"/>
                <a:ea typeface="MS Mincho" panose="02020609040205080304" pitchFamily="49" charset="-128"/>
              </a:rPr>
              <a:t> per eseguire il programma. A quel punto siamo già pronti per iniziare a programmare in Java.</a:t>
            </a: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L’appendice M è dedicata ad EJE, e può essere utile soprattutto a chi usa piattaforme diverse da Windows. </a:t>
            </a:r>
            <a:endParaRPr lang="it-IT" sz="1800" b="1" dirty="0">
              <a:effectLst/>
              <a:latin typeface="(Tipo di carattere testo asiati"/>
              <a:ea typeface="Times New Roman" panose="02020603050405020304" pitchFamily="18" charset="0"/>
              <a:cs typeface="(Tipo di carattere testo asiati"/>
            </a:endParaRPr>
          </a:p>
          <a:p>
            <a:r>
              <a:rPr lang="it-IT" sz="1800" dirty="0">
                <a:effectLst/>
                <a:latin typeface="Times New Roman" panose="02020603050405020304" pitchFamily="18" charset="0"/>
                <a:ea typeface="MS Mincho" panose="02020609040205080304" pitchFamily="49" charset="-128"/>
              </a:rPr>
              <a:t>Riassumendo, se avete già una certa confidenza con ambienti di sviluppo integrati (IDE) allora potreste anche scegliere di utilizzare IntelliJ IDEA, Netbeans o Eclipse. Se invece state iniziando a programmare solo ora, o comunque volete cercare di focalizzarvi solo sullo studio del linguaggio, il consiglio è di utilizzare per i primi tempi EJE, per poi passare ad un IDE dopo aver letto il capitolo 4. Un’altra scelta potrebbe essere quella di utilizzare direttamente il JDK, con un editor e la riga di comando. Questo potrebbe aiutarvi a comprendere particolari situazioni e a scoprire delle opzioni del JDK interessanti. Tuttavia potrebbe anche rallentare il vostro percorso di studio del linguaggio.</a:t>
            </a:r>
          </a:p>
          <a:p>
            <a:pPr marL="180340" indent="180340"/>
            <a:r>
              <a:rPr lang="it-IT" sz="1800" dirty="0">
                <a:effectLst/>
                <a:latin typeface="Times New Roman" panose="02020603050405020304" pitchFamily="18" charset="0"/>
                <a:ea typeface="MS Mincho" panose="02020609040205080304" pitchFamily="49" charset="-128"/>
              </a:rPr>
              <a:t>Nelle prossime pagine quindi, spiegheremo la programmazione dando per scontato che stiate utilizzando EJE.</a:t>
            </a:r>
          </a:p>
          <a:p>
            <a:endParaRPr lang="it-IT" dirty="0"/>
          </a:p>
        </p:txBody>
      </p:sp>
    </p:spTree>
    <p:extLst>
      <p:ext uri="{BB962C8B-B14F-4D97-AF65-F5344CB8AC3E}">
        <p14:creationId xmlns:p14="http://schemas.microsoft.com/office/powerpoint/2010/main" val="18573835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Esistono vari ambienti di sviluppo per programmare in Java. Introduciamo velocemente alcune possibilità. Partiamo dall’ambiente di sviluppo ufficiale: il Java Development Kit.</a:t>
            </a: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1.3.1.1 Soluzione classica</a:t>
            </a:r>
          </a:p>
          <a:p>
            <a:r>
              <a:rPr lang="it-IT" sz="1800" dirty="0">
                <a:effectLst/>
                <a:latin typeface="Times New Roman" panose="02020603050405020304" pitchFamily="18" charset="0"/>
                <a:ea typeface="MS Mincho" panose="02020609040205080304" pitchFamily="49" charset="-128"/>
              </a:rPr>
              <a:t>In teoria, per scrivere un programma Java basterebbero:</a:t>
            </a:r>
          </a:p>
          <a:p>
            <a:pPr marL="180340" indent="180340"/>
            <a:r>
              <a:rPr lang="it-IT" sz="1800" b="1" dirty="0">
                <a:effectLst/>
                <a:latin typeface="Times New Roman" panose="02020603050405020304" pitchFamily="18" charset="0"/>
                <a:ea typeface="MS Mincho" panose="02020609040205080304" pitchFamily="49" charset="-128"/>
              </a:rPr>
              <a:t>un programma che ci permetta di scrivere codice Java</a:t>
            </a:r>
            <a:r>
              <a:rPr lang="it-IT" sz="1800" dirty="0">
                <a:effectLst/>
                <a:latin typeface="Times New Roman" panose="02020603050405020304" pitchFamily="18" charset="0"/>
                <a:ea typeface="MS Mincho" panose="02020609040205080304" pitchFamily="49" charset="-128"/>
              </a:rPr>
              <a:t>. Per iniziare potrebbe andar bene un semplice editor di testo, come il Blocco Note di Windows.</a:t>
            </a:r>
          </a:p>
          <a:p>
            <a:pPr marL="180340" indent="180340"/>
            <a:r>
              <a:rPr lang="it-IT" sz="1800" b="1" dirty="0">
                <a:effectLst/>
                <a:latin typeface="Times New Roman" panose="02020603050405020304" pitchFamily="18" charset="0"/>
                <a:ea typeface="MS Mincho" panose="02020609040205080304" pitchFamily="49" charset="-128"/>
              </a:rPr>
              <a:t>Il Java Development Kit versione Standard Edition</a:t>
            </a:r>
            <a:r>
              <a:rPr lang="it-IT" sz="1800" dirty="0">
                <a:effectLst/>
                <a:latin typeface="Times New Roman" panose="02020603050405020304" pitchFamily="18" charset="0"/>
                <a:ea typeface="MS Mincho" panose="02020609040205080304" pitchFamily="49" charset="-128"/>
              </a:rPr>
              <a:t> (da ora in poi </a:t>
            </a:r>
            <a:r>
              <a:rPr lang="it-IT" sz="1800" b="1" dirty="0">
                <a:effectLst/>
                <a:latin typeface="Times New Roman" panose="02020603050405020304" pitchFamily="18" charset="0"/>
                <a:ea typeface="MS Mincho" panose="02020609040205080304" pitchFamily="49" charset="-128"/>
              </a:rPr>
              <a:t>JDK</a:t>
            </a:r>
            <a:r>
              <a:rPr lang="it-IT" sz="1800" dirty="0">
                <a:effectLst/>
                <a:latin typeface="Times New Roman" panose="02020603050405020304" pitchFamily="18" charset="0"/>
                <a:ea typeface="MS Mincho" panose="02020609040205080304" pitchFamily="49" charset="-128"/>
              </a:rPr>
              <a:t>). Si tratta dell’ambiente di sviluppo ufficiale di Java che ci fornisce una suite di software tra i quali un compilatore e la Java Virtual Machine di cui abbiamo accennato nel paragrafo precedente. Per utilizzare il JDK, è necessario lavorare con la </a:t>
            </a:r>
            <a:r>
              <a:rPr lang="it-IT" sz="1800" b="1" dirty="0">
                <a:effectLst/>
                <a:latin typeface="Times New Roman" panose="02020603050405020304" pitchFamily="18" charset="0"/>
                <a:ea typeface="MS Mincho" panose="02020609040205080304" pitchFamily="49" charset="-128"/>
              </a:rPr>
              <a:t>prompt dei comandi</a:t>
            </a:r>
            <a:r>
              <a:rPr lang="it-IT" sz="1800" dirty="0">
                <a:effectLst/>
                <a:latin typeface="Times New Roman" panose="02020603050405020304" pitchFamily="18" charset="0"/>
                <a:ea typeface="MS Mincho" panose="02020609040205080304" pitchFamily="49" charset="-128"/>
              </a:rPr>
              <a:t> (detta anche </a:t>
            </a:r>
            <a:r>
              <a:rPr lang="it-IT" sz="1800" b="1" dirty="0">
                <a:effectLst/>
                <a:latin typeface="Times New Roman" panose="02020603050405020304" pitchFamily="18" charset="0"/>
                <a:ea typeface="MS Mincho" panose="02020609040205080304" pitchFamily="49" charset="-128"/>
              </a:rPr>
              <a:t>linea di comando</a:t>
            </a:r>
            <a:r>
              <a:rPr lang="it-IT" sz="1800" dirty="0">
                <a:effectLst/>
                <a:latin typeface="Times New Roman" panose="02020603050405020304" pitchFamily="18" charset="0"/>
                <a:ea typeface="MS Mincho" panose="02020609040205080304" pitchFamily="49" charset="-128"/>
              </a:rPr>
              <a:t>) di Windows.</a:t>
            </a:r>
          </a:p>
          <a:p>
            <a:pPr marL="180340" indent="180340"/>
            <a:r>
              <a:rPr lang="it-IT" sz="1800" b="0" dirty="0">
                <a:effectLst/>
                <a:latin typeface="Times New Roman" panose="02020603050405020304" pitchFamily="18" charset="0"/>
                <a:ea typeface="MS Mincho" panose="02020609040205080304" pitchFamily="49" charset="-128"/>
              </a:rPr>
              <a:t>Una conoscenza del JDK e della prompt dei comandi è fondamentale per poter programmare in Java, ma oggettivamente scomoda e per ora non necessaria. Solitamente infatti, si usano strumenti più evoluti per sviluppare software. Per rendere più agevole l’impatto con il codice quindi, preferiamo rimandare l’introduzione di questo ambiente di sviluppo nel paragrafo 1.5.</a:t>
            </a:r>
            <a:endParaRPr lang="it-IT" sz="1800" dirty="0">
              <a:effectLst/>
              <a:latin typeface="Times New Roman" panose="02020603050405020304" pitchFamily="18" charset="0"/>
              <a:ea typeface="MS Mincho" panose="02020609040205080304" pitchFamily="49" charset="-128"/>
            </a:endParaRP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1.3.1.2 Soluzione per esperti</a:t>
            </a:r>
          </a:p>
          <a:p>
            <a:pPr marL="180340" indent="180340"/>
            <a:r>
              <a:rPr lang="it-IT" sz="1800" b="0" dirty="0">
                <a:effectLst/>
                <a:latin typeface="Times New Roman" panose="02020603050405020304" pitchFamily="18" charset="0"/>
                <a:ea typeface="MS Mincho" panose="02020609040205080304" pitchFamily="49" charset="-128"/>
              </a:rPr>
              <a:t>Piuttosto, se siete già programmatori Java e state leggendo questo libro solo al fine di aggiornare le vostre conoscenze, allora probabilmente già utilizzate un IDE come Eclipse, IntelliJ IDEA o Netbeans per sviluppare. Se vi sentite confidenti nell’utilizzo del vostro IDE, potete tranquillamente utilizzarlo per lo studio di questo testo, a patto che esso sia aggiornato alla versione 15 di Java.</a:t>
            </a:r>
            <a:endParaRPr lang="it-IT" sz="1800" dirty="0">
              <a:effectLst/>
              <a:latin typeface="Times New Roman" panose="02020603050405020304" pitchFamily="18" charset="0"/>
              <a:ea typeface="MS Mincho" panose="02020609040205080304" pitchFamily="49" charset="-128"/>
            </a:endParaRPr>
          </a:p>
          <a:p>
            <a:pPr marL="180340" indent="180340"/>
            <a:r>
              <a:rPr lang="it-IT" sz="1800" b="1" dirty="0">
                <a:effectLst/>
                <a:latin typeface="Times New Roman" panose="02020603050405020304" pitchFamily="18" charset="0"/>
                <a:ea typeface="MS Mincho" panose="02020609040205080304" pitchFamily="49" charset="-128"/>
              </a:rPr>
              <a:t>(ICONA IMPORTANTE)</a:t>
            </a:r>
            <a:endParaRPr lang="it-IT" sz="1800" dirty="0">
              <a:effectLst/>
              <a:latin typeface="Times New Roman" panose="02020603050405020304" pitchFamily="18" charset="0"/>
              <a:ea typeface="MS Mincho" panose="02020609040205080304" pitchFamily="49" charset="-128"/>
            </a:endParaRPr>
          </a:p>
          <a:p>
            <a:pPr marL="180340" indent="180340"/>
            <a:r>
              <a:rPr lang="it-IT" sz="1800" b="0" dirty="0">
                <a:effectLst/>
                <a:latin typeface="Times New Roman" panose="02020603050405020304" pitchFamily="18" charset="0"/>
                <a:ea typeface="MS Mincho" panose="02020609040205080304" pitchFamily="49" charset="-128"/>
              </a:rPr>
              <a:t>Per chi non ha mai usato uno di questi strumenti, è altamente sconsigliato l’utilizzo di un IDE da subito. </a:t>
            </a:r>
            <a:r>
              <a:rPr lang="it-IT" sz="1800" dirty="0">
                <a:effectLst/>
                <a:latin typeface="Times New Roman" panose="02020603050405020304" pitchFamily="18" charset="0"/>
                <a:ea typeface="MS Mincho" panose="02020609040205080304" pitchFamily="49" charset="-128"/>
              </a:rPr>
              <a:t>Questi fantastici strumenti infatti sono complessi, e vanno prima padroneggiati per risultare utili. La loro complessità può distrarre dal vero obiettivo, ovvero quello di studiare Java. Se dobbiamo anche imparare ad utilizzare l’IDE, non ci troveremo nelle condizioni ideali per concentrarci sul linguaggio. Inoltre utilizzare un IDE per i piccoli programmi che scriveremo inizialmente, è un po’ come sparare ad una mosca con un cannone. Paradossalmente infine, le comodità offerte da un IDE come l’auto-completamento del codice e i suggerimenti, possono essere dannosi per chi inizia! Non è raro incontrare persone che programmano con questi strumenti da anni, senza avere chiari alcuni concetti basilari.</a:t>
            </a: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1.3.1.3 Soluzione per chi inizia</a:t>
            </a:r>
          </a:p>
          <a:p>
            <a:r>
              <a:rPr lang="it-IT" sz="1800" dirty="0">
                <a:effectLst/>
                <a:latin typeface="Times New Roman" panose="02020603050405020304" pitchFamily="18" charset="0"/>
                <a:ea typeface="MS Mincho" panose="02020609040205080304" pitchFamily="49" charset="-128"/>
              </a:rPr>
              <a:t>Ho creato un editor Java open source pensato proprio per chi inizia a programmare: </a:t>
            </a:r>
            <a:r>
              <a:rPr lang="it-IT" sz="1800" b="1" dirty="0">
                <a:effectLst/>
                <a:latin typeface="Times New Roman" panose="02020603050405020304" pitchFamily="18" charset="0"/>
                <a:ea typeface="MS Mincho" panose="02020609040205080304" pitchFamily="49" charset="-128"/>
              </a:rPr>
              <a:t>EJE</a:t>
            </a:r>
            <a:r>
              <a:rPr lang="it-IT" sz="1800" dirty="0">
                <a:effectLst/>
                <a:latin typeface="Times New Roman" panose="02020603050405020304" pitchFamily="18" charset="0"/>
                <a:ea typeface="MS Mincho" panose="02020609040205080304" pitchFamily="49" charset="-128"/>
              </a:rPr>
              <a:t> (acronimo di </a:t>
            </a:r>
            <a:r>
              <a:rPr lang="it-IT" sz="1800" b="1" dirty="0" err="1">
                <a:effectLst/>
                <a:latin typeface="Times New Roman" panose="02020603050405020304" pitchFamily="18" charset="0"/>
                <a:ea typeface="MS Mincho" panose="02020609040205080304" pitchFamily="49" charset="-128"/>
              </a:rPr>
              <a:t>Everyone’s</a:t>
            </a:r>
            <a:r>
              <a:rPr lang="it-IT" sz="1800" b="1" dirty="0">
                <a:effectLst/>
                <a:latin typeface="Times New Roman" panose="02020603050405020304" pitchFamily="18" charset="0"/>
                <a:ea typeface="MS Mincho" panose="02020609040205080304" pitchFamily="49" charset="-128"/>
              </a:rPr>
              <a:t> Java Editor</a:t>
            </a:r>
            <a:r>
              <a:rPr lang="it-IT" sz="1800" dirty="0">
                <a:effectLst/>
                <a:latin typeface="Times New Roman" panose="02020603050405020304" pitchFamily="18" charset="0"/>
                <a:ea typeface="MS Mincho" panose="02020609040205080304" pitchFamily="49" charset="-128"/>
              </a:rPr>
              <a:t>). Non è un vero e proprio IDE, ma un semplice editor che vi permetterà di programmare comodamente da subito. Offre diverse utilità che facilitano quelle operazioni che nelle prime fasi di studio risultano noiose, come il dover scaricare e configurare l’ultimo JDK, oppure utilizzare due programmi diversi (editor e prompt dei comandi) per sviluppare. Su </a:t>
            </a:r>
            <a:r>
              <a:rPr lang="it-IT" sz="1800" u="none" strike="noStrike" dirty="0">
                <a:effectLst/>
                <a:latin typeface="Arial" panose="020B0604020202020204" pitchFamily="34" charset="0"/>
                <a:ea typeface="MS Mincho" panose="02020609040205080304" pitchFamily="49" charset="-128"/>
                <a:cs typeface="Arial" panose="020B0604020202020204" pitchFamily="34" charset="0"/>
                <a:hlinkClick r:id="rId3"/>
              </a:rPr>
              <a:t>www.nuovojava.it</a:t>
            </a:r>
            <a:r>
              <a:rPr lang="it-IT" sz="1800" dirty="0">
                <a:effectLst/>
                <a:latin typeface="Times New Roman" panose="02020603050405020304" pitchFamily="18" charset="0"/>
                <a:ea typeface="MS Mincho" panose="02020609040205080304" pitchFamily="49" charset="-128"/>
              </a:rPr>
              <a:t> troverete dei pulsanti dedicati per il download diretto di EJE per la vostra piattaforma. Non c’è bisogni di installarlo: una volta scaricato il file ZIP, basta decomprimerlo tramite un programma come WinRar o 7Zip, o semplicemente cliccando sul file con il tasto destro, e selezionando la voce “Estrai tutto”. Verrà creata una cartella chiamata </a:t>
            </a:r>
            <a:r>
              <a:rPr lang="it-IT" sz="1800" dirty="0">
                <a:effectLst/>
                <a:latin typeface="Arial" panose="020B0604020202020204" pitchFamily="34" charset="0"/>
                <a:ea typeface="MS Mincho" panose="02020609040205080304" pitchFamily="49" charset="-128"/>
                <a:cs typeface="Arial" panose="020B0604020202020204" pitchFamily="34" charset="0"/>
              </a:rPr>
              <a:t>EJE</a:t>
            </a:r>
            <a:r>
              <a:rPr lang="it-IT" sz="1800" dirty="0">
                <a:effectLst/>
                <a:latin typeface="Times New Roman" panose="02020603050405020304" pitchFamily="18" charset="0"/>
                <a:ea typeface="MS Mincho" panose="02020609040205080304" pitchFamily="49" charset="-128"/>
              </a:rPr>
              <a:t>, al cui interno troverete il file </a:t>
            </a:r>
            <a:r>
              <a:rPr lang="it-IT" sz="1800" dirty="0">
                <a:effectLst/>
                <a:latin typeface="Arial" panose="020B0604020202020204" pitchFamily="34" charset="0"/>
                <a:ea typeface="MS Mincho" panose="02020609040205080304" pitchFamily="49" charset="-128"/>
                <a:cs typeface="Arial" panose="020B0604020202020204" pitchFamily="34" charset="0"/>
              </a:rPr>
              <a:t>eje.exe</a:t>
            </a:r>
            <a:r>
              <a:rPr lang="it-IT" sz="1800" dirty="0">
                <a:effectLst/>
                <a:latin typeface="Times New Roman" panose="02020603050405020304" pitchFamily="18" charset="0"/>
                <a:ea typeface="MS Mincho" panose="02020609040205080304" pitchFamily="49" charset="-128"/>
              </a:rPr>
              <a:t> per eseguire il programma. A quel punto siamo già pronti per iniziare a programmare in Java.</a:t>
            </a: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L’appendice M è dedicata ad EJE, e può essere utile soprattutto a chi usa piattaforme diverse da Windows. </a:t>
            </a:r>
            <a:endParaRPr lang="it-IT" sz="1800" b="1" dirty="0">
              <a:effectLst/>
              <a:latin typeface="(Tipo di carattere testo asiati"/>
              <a:ea typeface="Times New Roman" panose="02020603050405020304" pitchFamily="18" charset="0"/>
              <a:cs typeface="(Tipo di carattere testo asiati"/>
            </a:endParaRPr>
          </a:p>
          <a:p>
            <a:r>
              <a:rPr lang="it-IT" sz="1800" dirty="0">
                <a:effectLst/>
                <a:latin typeface="Times New Roman" panose="02020603050405020304" pitchFamily="18" charset="0"/>
                <a:ea typeface="MS Mincho" panose="02020609040205080304" pitchFamily="49" charset="-128"/>
              </a:rPr>
              <a:t>Riassumendo, se avete già una certa confidenza con ambienti di sviluppo integrati (IDE) allora potreste anche scegliere di utilizzare IntelliJ IDEA, Netbeans o Eclipse. Se invece state iniziando a programmare solo ora, o comunque volete cercare di focalizzarvi solo sullo studio del linguaggio, il consiglio è di utilizzare per i primi tempi EJE, per poi passare ad un IDE dopo aver letto il capitolo 4. Un’altra scelta potrebbe essere quella di utilizzare direttamente il JDK, con un editor e la riga di comando. Questo potrebbe aiutarvi a comprendere particolari situazioni e a scoprire delle opzioni del JDK interessanti. Tuttavia potrebbe anche rallentare il vostro percorso di studio del linguaggio.</a:t>
            </a:r>
          </a:p>
          <a:p>
            <a:pPr marL="180340" indent="180340"/>
            <a:r>
              <a:rPr lang="it-IT" sz="1800" dirty="0">
                <a:effectLst/>
                <a:latin typeface="Times New Roman" panose="02020603050405020304" pitchFamily="18" charset="0"/>
                <a:ea typeface="MS Mincho" panose="02020609040205080304" pitchFamily="49" charset="-128"/>
              </a:rPr>
              <a:t>Nelle prossime pagine quindi, spiegheremo la programmazione dando per scontato che stiate utilizzando EJE.</a:t>
            </a:r>
          </a:p>
          <a:p>
            <a:endParaRPr lang="it-IT" dirty="0"/>
          </a:p>
        </p:txBody>
      </p:sp>
    </p:spTree>
    <p:extLst>
      <p:ext uri="{BB962C8B-B14F-4D97-AF65-F5344CB8AC3E}">
        <p14:creationId xmlns:p14="http://schemas.microsoft.com/office/powerpoint/2010/main" val="17688277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Esistono vari ambienti di sviluppo per programmare in Java. Introduciamo velocemente alcune possibilità. Partiamo dall’ambiente di sviluppo ufficiale: il Java Development Kit.</a:t>
            </a: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1.3.1.1 Soluzione classica</a:t>
            </a:r>
          </a:p>
          <a:p>
            <a:r>
              <a:rPr lang="it-IT" sz="1800" dirty="0">
                <a:effectLst/>
                <a:latin typeface="Times New Roman" panose="02020603050405020304" pitchFamily="18" charset="0"/>
                <a:ea typeface="MS Mincho" panose="02020609040205080304" pitchFamily="49" charset="-128"/>
              </a:rPr>
              <a:t>In teoria, per scrivere un programma Java basterebbero:</a:t>
            </a:r>
          </a:p>
          <a:p>
            <a:pPr marL="180340" indent="180340"/>
            <a:r>
              <a:rPr lang="it-IT" sz="1800" b="1" dirty="0">
                <a:effectLst/>
                <a:latin typeface="Times New Roman" panose="02020603050405020304" pitchFamily="18" charset="0"/>
                <a:ea typeface="MS Mincho" panose="02020609040205080304" pitchFamily="49" charset="-128"/>
              </a:rPr>
              <a:t>un programma che ci permetta di scrivere codice Java</a:t>
            </a:r>
            <a:r>
              <a:rPr lang="it-IT" sz="1800" dirty="0">
                <a:effectLst/>
                <a:latin typeface="Times New Roman" panose="02020603050405020304" pitchFamily="18" charset="0"/>
                <a:ea typeface="MS Mincho" panose="02020609040205080304" pitchFamily="49" charset="-128"/>
              </a:rPr>
              <a:t>. Per iniziare potrebbe andar bene un semplice editor di testo, come il Blocco Note di Windows.</a:t>
            </a:r>
          </a:p>
          <a:p>
            <a:pPr marL="180340" indent="180340"/>
            <a:r>
              <a:rPr lang="it-IT" sz="1800" b="1" dirty="0">
                <a:effectLst/>
                <a:latin typeface="Times New Roman" panose="02020603050405020304" pitchFamily="18" charset="0"/>
                <a:ea typeface="MS Mincho" panose="02020609040205080304" pitchFamily="49" charset="-128"/>
              </a:rPr>
              <a:t>Il Java Development Kit versione Standard Edition</a:t>
            </a:r>
            <a:r>
              <a:rPr lang="it-IT" sz="1800" dirty="0">
                <a:effectLst/>
                <a:latin typeface="Times New Roman" panose="02020603050405020304" pitchFamily="18" charset="0"/>
                <a:ea typeface="MS Mincho" panose="02020609040205080304" pitchFamily="49" charset="-128"/>
              </a:rPr>
              <a:t> (da ora in poi </a:t>
            </a:r>
            <a:r>
              <a:rPr lang="it-IT" sz="1800" b="1" dirty="0">
                <a:effectLst/>
                <a:latin typeface="Times New Roman" panose="02020603050405020304" pitchFamily="18" charset="0"/>
                <a:ea typeface="MS Mincho" panose="02020609040205080304" pitchFamily="49" charset="-128"/>
              </a:rPr>
              <a:t>JDK</a:t>
            </a:r>
            <a:r>
              <a:rPr lang="it-IT" sz="1800" dirty="0">
                <a:effectLst/>
                <a:latin typeface="Times New Roman" panose="02020603050405020304" pitchFamily="18" charset="0"/>
                <a:ea typeface="MS Mincho" panose="02020609040205080304" pitchFamily="49" charset="-128"/>
              </a:rPr>
              <a:t>). Si tratta dell’ambiente di sviluppo ufficiale di Java che ci fornisce una suite di software tra i quali un compilatore e la Java Virtual Machine di cui abbiamo accennato nel paragrafo precedente. Per utilizzare il JDK, è necessario lavorare con la </a:t>
            </a:r>
            <a:r>
              <a:rPr lang="it-IT" sz="1800" b="1" dirty="0">
                <a:effectLst/>
                <a:latin typeface="Times New Roman" panose="02020603050405020304" pitchFamily="18" charset="0"/>
                <a:ea typeface="MS Mincho" panose="02020609040205080304" pitchFamily="49" charset="-128"/>
              </a:rPr>
              <a:t>prompt dei comandi</a:t>
            </a:r>
            <a:r>
              <a:rPr lang="it-IT" sz="1800" dirty="0">
                <a:effectLst/>
                <a:latin typeface="Times New Roman" panose="02020603050405020304" pitchFamily="18" charset="0"/>
                <a:ea typeface="MS Mincho" panose="02020609040205080304" pitchFamily="49" charset="-128"/>
              </a:rPr>
              <a:t> (detta anche </a:t>
            </a:r>
            <a:r>
              <a:rPr lang="it-IT" sz="1800" b="1" dirty="0">
                <a:effectLst/>
                <a:latin typeface="Times New Roman" panose="02020603050405020304" pitchFamily="18" charset="0"/>
                <a:ea typeface="MS Mincho" panose="02020609040205080304" pitchFamily="49" charset="-128"/>
              </a:rPr>
              <a:t>linea di comando</a:t>
            </a:r>
            <a:r>
              <a:rPr lang="it-IT" sz="1800" dirty="0">
                <a:effectLst/>
                <a:latin typeface="Times New Roman" panose="02020603050405020304" pitchFamily="18" charset="0"/>
                <a:ea typeface="MS Mincho" panose="02020609040205080304" pitchFamily="49" charset="-128"/>
              </a:rPr>
              <a:t>) di Windows.</a:t>
            </a:r>
          </a:p>
          <a:p>
            <a:pPr marL="180340" indent="180340"/>
            <a:r>
              <a:rPr lang="it-IT" sz="1800" b="0" dirty="0">
                <a:effectLst/>
                <a:latin typeface="Times New Roman" panose="02020603050405020304" pitchFamily="18" charset="0"/>
                <a:ea typeface="MS Mincho" panose="02020609040205080304" pitchFamily="49" charset="-128"/>
              </a:rPr>
              <a:t>Una conoscenza del JDK e della prompt dei comandi è fondamentale per poter programmare in Java, ma oggettivamente scomoda e per ora non necessaria. Solitamente infatti, si usano strumenti più evoluti per sviluppare software. Per rendere più agevole l’impatto con il codice quindi, preferiamo rimandare l’introduzione di questo ambiente di sviluppo nel paragrafo 1.5.</a:t>
            </a:r>
            <a:endParaRPr lang="it-IT" sz="1800" dirty="0">
              <a:effectLst/>
              <a:latin typeface="Times New Roman" panose="02020603050405020304" pitchFamily="18" charset="0"/>
              <a:ea typeface="MS Mincho" panose="02020609040205080304" pitchFamily="49" charset="-128"/>
            </a:endParaRP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1.3.1.2 Soluzione per esperti</a:t>
            </a:r>
          </a:p>
          <a:p>
            <a:pPr marL="180340" indent="180340"/>
            <a:r>
              <a:rPr lang="it-IT" sz="1800" b="0" dirty="0">
                <a:effectLst/>
                <a:latin typeface="Times New Roman" panose="02020603050405020304" pitchFamily="18" charset="0"/>
                <a:ea typeface="MS Mincho" panose="02020609040205080304" pitchFamily="49" charset="-128"/>
              </a:rPr>
              <a:t>Piuttosto, se siete già programmatori Java e state leggendo questo libro solo al fine di aggiornare le vostre conoscenze, allora probabilmente già utilizzate un IDE come Eclipse, IntelliJ IDEA o Netbeans per sviluppare. Se vi sentite confidenti nell’utilizzo del vostro IDE, potete tranquillamente utilizzarlo per lo studio di questo testo, a patto che esso sia aggiornato alla versione 15 di Java.</a:t>
            </a:r>
            <a:endParaRPr lang="it-IT" sz="1800" dirty="0">
              <a:effectLst/>
              <a:latin typeface="Times New Roman" panose="02020603050405020304" pitchFamily="18" charset="0"/>
              <a:ea typeface="MS Mincho" panose="02020609040205080304" pitchFamily="49" charset="-128"/>
            </a:endParaRPr>
          </a:p>
          <a:p>
            <a:pPr marL="180340" indent="180340"/>
            <a:r>
              <a:rPr lang="it-IT" sz="1800" b="1" dirty="0">
                <a:effectLst/>
                <a:latin typeface="Times New Roman" panose="02020603050405020304" pitchFamily="18" charset="0"/>
                <a:ea typeface="MS Mincho" panose="02020609040205080304" pitchFamily="49" charset="-128"/>
              </a:rPr>
              <a:t>(ICONA IMPORTANTE)</a:t>
            </a:r>
            <a:endParaRPr lang="it-IT" sz="1800" dirty="0">
              <a:effectLst/>
              <a:latin typeface="Times New Roman" panose="02020603050405020304" pitchFamily="18" charset="0"/>
              <a:ea typeface="MS Mincho" panose="02020609040205080304" pitchFamily="49" charset="-128"/>
            </a:endParaRPr>
          </a:p>
          <a:p>
            <a:pPr marL="180340" indent="180340"/>
            <a:r>
              <a:rPr lang="it-IT" sz="1800" b="0" dirty="0">
                <a:effectLst/>
                <a:latin typeface="Times New Roman" panose="02020603050405020304" pitchFamily="18" charset="0"/>
                <a:ea typeface="MS Mincho" panose="02020609040205080304" pitchFamily="49" charset="-128"/>
              </a:rPr>
              <a:t>Per chi non ha mai usato uno di questi strumenti, è altamente sconsigliato l’utilizzo di un IDE da subito. </a:t>
            </a:r>
            <a:r>
              <a:rPr lang="it-IT" sz="1800" dirty="0">
                <a:effectLst/>
                <a:latin typeface="Times New Roman" panose="02020603050405020304" pitchFamily="18" charset="0"/>
                <a:ea typeface="MS Mincho" panose="02020609040205080304" pitchFamily="49" charset="-128"/>
              </a:rPr>
              <a:t>Questi fantastici strumenti infatti sono complessi, e vanno prima padroneggiati per risultare utili. La loro complessità può distrarre dal vero obiettivo, ovvero quello di studiare Java. Se dobbiamo anche imparare ad utilizzare l’IDE, non ci troveremo nelle condizioni ideali per concentrarci sul linguaggio. Inoltre utilizzare un IDE per i piccoli programmi che scriveremo inizialmente, è un po’ come sparare ad una mosca con un cannone. Paradossalmente infine, le comodità offerte da un IDE come l’auto-completamento del codice e i suggerimenti, possono essere dannosi per chi inizia! Non è raro incontrare persone che programmano con questi strumenti da anni, senza avere chiari alcuni concetti basilari.</a:t>
            </a: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1.3.1.3 Soluzione per chi inizia</a:t>
            </a:r>
          </a:p>
          <a:p>
            <a:r>
              <a:rPr lang="it-IT" sz="1800" dirty="0">
                <a:effectLst/>
                <a:latin typeface="Times New Roman" panose="02020603050405020304" pitchFamily="18" charset="0"/>
                <a:ea typeface="MS Mincho" panose="02020609040205080304" pitchFamily="49" charset="-128"/>
              </a:rPr>
              <a:t>Ho creato un editor Java open source pensato proprio per chi inizia a programmare: </a:t>
            </a:r>
            <a:r>
              <a:rPr lang="it-IT" sz="1800" b="1" dirty="0">
                <a:effectLst/>
                <a:latin typeface="Times New Roman" panose="02020603050405020304" pitchFamily="18" charset="0"/>
                <a:ea typeface="MS Mincho" panose="02020609040205080304" pitchFamily="49" charset="-128"/>
              </a:rPr>
              <a:t>EJE</a:t>
            </a:r>
            <a:r>
              <a:rPr lang="it-IT" sz="1800" dirty="0">
                <a:effectLst/>
                <a:latin typeface="Times New Roman" panose="02020603050405020304" pitchFamily="18" charset="0"/>
                <a:ea typeface="MS Mincho" panose="02020609040205080304" pitchFamily="49" charset="-128"/>
              </a:rPr>
              <a:t> (acronimo di </a:t>
            </a:r>
            <a:r>
              <a:rPr lang="it-IT" sz="1800" b="1" dirty="0" err="1">
                <a:effectLst/>
                <a:latin typeface="Times New Roman" panose="02020603050405020304" pitchFamily="18" charset="0"/>
                <a:ea typeface="MS Mincho" panose="02020609040205080304" pitchFamily="49" charset="-128"/>
              </a:rPr>
              <a:t>Everyone’s</a:t>
            </a:r>
            <a:r>
              <a:rPr lang="it-IT" sz="1800" b="1" dirty="0">
                <a:effectLst/>
                <a:latin typeface="Times New Roman" panose="02020603050405020304" pitchFamily="18" charset="0"/>
                <a:ea typeface="MS Mincho" panose="02020609040205080304" pitchFamily="49" charset="-128"/>
              </a:rPr>
              <a:t> Java Editor</a:t>
            </a:r>
            <a:r>
              <a:rPr lang="it-IT" sz="1800" dirty="0">
                <a:effectLst/>
                <a:latin typeface="Times New Roman" panose="02020603050405020304" pitchFamily="18" charset="0"/>
                <a:ea typeface="MS Mincho" panose="02020609040205080304" pitchFamily="49" charset="-128"/>
              </a:rPr>
              <a:t>). Non è un vero e proprio IDE, ma un semplice editor che vi permetterà di programmare comodamente da subito. Offre diverse utilità che facilitano quelle operazioni che nelle prime fasi di studio risultano noiose, come il dover scaricare e configurare l’ultimo JDK, oppure utilizzare due programmi diversi (editor e prompt dei comandi) per sviluppare. Su </a:t>
            </a:r>
            <a:r>
              <a:rPr lang="it-IT" sz="1800" u="none" strike="noStrike" dirty="0">
                <a:effectLst/>
                <a:latin typeface="Arial" panose="020B0604020202020204" pitchFamily="34" charset="0"/>
                <a:ea typeface="MS Mincho" panose="02020609040205080304" pitchFamily="49" charset="-128"/>
                <a:cs typeface="Arial" panose="020B0604020202020204" pitchFamily="34" charset="0"/>
                <a:hlinkClick r:id="rId3"/>
              </a:rPr>
              <a:t>www.nuovojava.it</a:t>
            </a:r>
            <a:r>
              <a:rPr lang="it-IT" sz="1800" dirty="0">
                <a:effectLst/>
                <a:latin typeface="Times New Roman" panose="02020603050405020304" pitchFamily="18" charset="0"/>
                <a:ea typeface="MS Mincho" panose="02020609040205080304" pitchFamily="49" charset="-128"/>
              </a:rPr>
              <a:t> troverete dei pulsanti dedicati per il download diretto di EJE per la vostra piattaforma. Non c’è bisogni di installarlo: una volta scaricato il file ZIP, basta decomprimerlo tramite un programma come WinRar o 7Zip, o semplicemente cliccando sul file con il tasto destro, e selezionando la voce “Estrai tutto”. Verrà creata una cartella chiamata </a:t>
            </a:r>
            <a:r>
              <a:rPr lang="it-IT" sz="1800" dirty="0">
                <a:effectLst/>
                <a:latin typeface="Arial" panose="020B0604020202020204" pitchFamily="34" charset="0"/>
                <a:ea typeface="MS Mincho" panose="02020609040205080304" pitchFamily="49" charset="-128"/>
                <a:cs typeface="Arial" panose="020B0604020202020204" pitchFamily="34" charset="0"/>
              </a:rPr>
              <a:t>EJE</a:t>
            </a:r>
            <a:r>
              <a:rPr lang="it-IT" sz="1800" dirty="0">
                <a:effectLst/>
                <a:latin typeface="Times New Roman" panose="02020603050405020304" pitchFamily="18" charset="0"/>
                <a:ea typeface="MS Mincho" panose="02020609040205080304" pitchFamily="49" charset="-128"/>
              </a:rPr>
              <a:t>, al cui interno troverete il file </a:t>
            </a:r>
            <a:r>
              <a:rPr lang="it-IT" sz="1800" dirty="0">
                <a:effectLst/>
                <a:latin typeface="Arial" panose="020B0604020202020204" pitchFamily="34" charset="0"/>
                <a:ea typeface="MS Mincho" panose="02020609040205080304" pitchFamily="49" charset="-128"/>
                <a:cs typeface="Arial" panose="020B0604020202020204" pitchFamily="34" charset="0"/>
              </a:rPr>
              <a:t>eje.exe</a:t>
            </a:r>
            <a:r>
              <a:rPr lang="it-IT" sz="1800" dirty="0">
                <a:effectLst/>
                <a:latin typeface="Times New Roman" panose="02020603050405020304" pitchFamily="18" charset="0"/>
                <a:ea typeface="MS Mincho" panose="02020609040205080304" pitchFamily="49" charset="-128"/>
              </a:rPr>
              <a:t> per eseguire il programma. A quel punto siamo già pronti per iniziare a programmare in Java.</a:t>
            </a: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L’appendice M è dedicata ad EJE, e può essere utile soprattutto a chi usa piattaforme diverse da Windows. </a:t>
            </a:r>
            <a:endParaRPr lang="it-IT" sz="1800" b="1" dirty="0">
              <a:effectLst/>
              <a:latin typeface="(Tipo di carattere testo asiati"/>
              <a:ea typeface="Times New Roman" panose="02020603050405020304" pitchFamily="18" charset="0"/>
              <a:cs typeface="(Tipo di carattere testo asiati"/>
            </a:endParaRPr>
          </a:p>
          <a:p>
            <a:r>
              <a:rPr lang="it-IT" sz="1800" dirty="0">
                <a:effectLst/>
                <a:latin typeface="Times New Roman" panose="02020603050405020304" pitchFamily="18" charset="0"/>
                <a:ea typeface="MS Mincho" panose="02020609040205080304" pitchFamily="49" charset="-128"/>
              </a:rPr>
              <a:t>Riassumendo, se avete già una certa confidenza con ambienti di sviluppo integrati (IDE) allora potreste anche scegliere di utilizzare IntelliJ IDEA, Netbeans o Eclipse. Se invece state iniziando a programmare solo ora, o comunque volete cercare di focalizzarvi solo sullo studio del linguaggio, il consiglio è di utilizzare per i primi tempi EJE, per poi passare ad un IDE dopo aver letto il capitolo 4. Un’altra scelta potrebbe essere quella di utilizzare direttamente il JDK, con un editor e la riga di comando. Questo potrebbe aiutarvi a comprendere particolari situazioni e a scoprire delle opzioni del JDK interessanti. Tuttavia potrebbe anche rallentare il vostro percorso di studio del linguaggio.</a:t>
            </a:r>
          </a:p>
          <a:p>
            <a:pPr marL="180340" indent="180340"/>
            <a:r>
              <a:rPr lang="it-IT" sz="1800" dirty="0">
                <a:effectLst/>
                <a:latin typeface="Times New Roman" panose="02020603050405020304" pitchFamily="18" charset="0"/>
                <a:ea typeface="MS Mincho" panose="02020609040205080304" pitchFamily="49" charset="-128"/>
              </a:rPr>
              <a:t>Nelle prossime pagine quindi, spiegheremo la programmazione dando per scontato che stiate utilizzando EJE.</a:t>
            </a:r>
          </a:p>
          <a:p>
            <a:endParaRPr lang="it-IT" dirty="0"/>
          </a:p>
        </p:txBody>
      </p:sp>
    </p:spTree>
    <p:extLst>
      <p:ext uri="{BB962C8B-B14F-4D97-AF65-F5344CB8AC3E}">
        <p14:creationId xmlns:p14="http://schemas.microsoft.com/office/powerpoint/2010/main" val="361784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Esistono vari ambienti di sviluppo per programmare in Java. Introduciamo velocemente alcune possibilità. Partiamo dall’ambiente di sviluppo ufficiale: il Java Development Kit.</a:t>
            </a: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1.3.1.1 Soluzione classica</a:t>
            </a:r>
          </a:p>
          <a:p>
            <a:r>
              <a:rPr lang="it-IT" sz="1800" dirty="0">
                <a:effectLst/>
                <a:latin typeface="Times New Roman" panose="02020603050405020304" pitchFamily="18" charset="0"/>
                <a:ea typeface="MS Mincho" panose="02020609040205080304" pitchFamily="49" charset="-128"/>
              </a:rPr>
              <a:t>In teoria, per scrivere un programma Java basterebbero:</a:t>
            </a:r>
          </a:p>
          <a:p>
            <a:pPr marL="180340" indent="180340"/>
            <a:r>
              <a:rPr lang="it-IT" sz="1800" b="1" dirty="0">
                <a:effectLst/>
                <a:latin typeface="Times New Roman" panose="02020603050405020304" pitchFamily="18" charset="0"/>
                <a:ea typeface="MS Mincho" panose="02020609040205080304" pitchFamily="49" charset="-128"/>
              </a:rPr>
              <a:t>un programma che ci permetta di scrivere codice Java</a:t>
            </a:r>
            <a:r>
              <a:rPr lang="it-IT" sz="1800" dirty="0">
                <a:effectLst/>
                <a:latin typeface="Times New Roman" panose="02020603050405020304" pitchFamily="18" charset="0"/>
                <a:ea typeface="MS Mincho" panose="02020609040205080304" pitchFamily="49" charset="-128"/>
              </a:rPr>
              <a:t>. Per iniziare potrebbe andar bene un semplice editor di testo, come il Blocco Note di Windows.</a:t>
            </a:r>
          </a:p>
          <a:p>
            <a:pPr marL="180340" indent="180340"/>
            <a:r>
              <a:rPr lang="it-IT" sz="1800" b="1" dirty="0">
                <a:effectLst/>
                <a:latin typeface="Times New Roman" panose="02020603050405020304" pitchFamily="18" charset="0"/>
                <a:ea typeface="MS Mincho" panose="02020609040205080304" pitchFamily="49" charset="-128"/>
              </a:rPr>
              <a:t>Il Java Development Kit versione Standard Edition</a:t>
            </a:r>
            <a:r>
              <a:rPr lang="it-IT" sz="1800" dirty="0">
                <a:effectLst/>
                <a:latin typeface="Times New Roman" panose="02020603050405020304" pitchFamily="18" charset="0"/>
                <a:ea typeface="MS Mincho" panose="02020609040205080304" pitchFamily="49" charset="-128"/>
              </a:rPr>
              <a:t> (da ora in poi </a:t>
            </a:r>
            <a:r>
              <a:rPr lang="it-IT" sz="1800" b="1" dirty="0">
                <a:effectLst/>
                <a:latin typeface="Times New Roman" panose="02020603050405020304" pitchFamily="18" charset="0"/>
                <a:ea typeface="MS Mincho" panose="02020609040205080304" pitchFamily="49" charset="-128"/>
              </a:rPr>
              <a:t>JDK</a:t>
            </a:r>
            <a:r>
              <a:rPr lang="it-IT" sz="1800" dirty="0">
                <a:effectLst/>
                <a:latin typeface="Times New Roman" panose="02020603050405020304" pitchFamily="18" charset="0"/>
                <a:ea typeface="MS Mincho" panose="02020609040205080304" pitchFamily="49" charset="-128"/>
              </a:rPr>
              <a:t>). Si tratta dell’ambiente di sviluppo ufficiale di Java che ci fornisce una suite di software tra i quali un compilatore e la Java Virtual Machine di cui abbiamo accennato nel paragrafo precedente. Per utilizzare il JDK, è necessario lavorare con la </a:t>
            </a:r>
            <a:r>
              <a:rPr lang="it-IT" sz="1800" b="1" dirty="0">
                <a:effectLst/>
                <a:latin typeface="Times New Roman" panose="02020603050405020304" pitchFamily="18" charset="0"/>
                <a:ea typeface="MS Mincho" panose="02020609040205080304" pitchFamily="49" charset="-128"/>
              </a:rPr>
              <a:t>prompt dei comandi</a:t>
            </a:r>
            <a:r>
              <a:rPr lang="it-IT" sz="1800" dirty="0">
                <a:effectLst/>
                <a:latin typeface="Times New Roman" panose="02020603050405020304" pitchFamily="18" charset="0"/>
                <a:ea typeface="MS Mincho" panose="02020609040205080304" pitchFamily="49" charset="-128"/>
              </a:rPr>
              <a:t> (detta anche </a:t>
            </a:r>
            <a:r>
              <a:rPr lang="it-IT" sz="1800" b="1" dirty="0">
                <a:effectLst/>
                <a:latin typeface="Times New Roman" panose="02020603050405020304" pitchFamily="18" charset="0"/>
                <a:ea typeface="MS Mincho" panose="02020609040205080304" pitchFamily="49" charset="-128"/>
              </a:rPr>
              <a:t>linea di comando</a:t>
            </a:r>
            <a:r>
              <a:rPr lang="it-IT" sz="1800" dirty="0">
                <a:effectLst/>
                <a:latin typeface="Times New Roman" panose="02020603050405020304" pitchFamily="18" charset="0"/>
                <a:ea typeface="MS Mincho" panose="02020609040205080304" pitchFamily="49" charset="-128"/>
              </a:rPr>
              <a:t>) di Windows.</a:t>
            </a:r>
          </a:p>
          <a:p>
            <a:pPr marL="180340" indent="180340"/>
            <a:r>
              <a:rPr lang="it-IT" sz="1800" b="0" dirty="0">
                <a:effectLst/>
                <a:latin typeface="Times New Roman" panose="02020603050405020304" pitchFamily="18" charset="0"/>
                <a:ea typeface="MS Mincho" panose="02020609040205080304" pitchFamily="49" charset="-128"/>
              </a:rPr>
              <a:t>Una conoscenza del JDK e della prompt dei comandi è fondamentale per poter programmare in Java, ma oggettivamente scomoda e per ora non necessaria. Solitamente infatti, si usano strumenti più evoluti per sviluppare software. Per rendere più agevole l’impatto con il codice quindi, preferiamo rimandare l’introduzione di questo ambiente di sviluppo nel paragrafo 1.5.</a:t>
            </a:r>
            <a:endParaRPr lang="it-IT" sz="1800" dirty="0">
              <a:effectLst/>
              <a:latin typeface="Times New Roman" panose="02020603050405020304" pitchFamily="18" charset="0"/>
              <a:ea typeface="MS Mincho" panose="02020609040205080304" pitchFamily="49" charset="-128"/>
            </a:endParaRP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1.3.1.2 Soluzione per esperti</a:t>
            </a:r>
          </a:p>
          <a:p>
            <a:pPr marL="180340" indent="180340"/>
            <a:r>
              <a:rPr lang="it-IT" sz="1800" b="0" dirty="0">
                <a:effectLst/>
                <a:latin typeface="Times New Roman" panose="02020603050405020304" pitchFamily="18" charset="0"/>
                <a:ea typeface="MS Mincho" panose="02020609040205080304" pitchFamily="49" charset="-128"/>
              </a:rPr>
              <a:t>Piuttosto, se siete già programmatori Java e state leggendo questo libro solo al fine di aggiornare le vostre conoscenze, allora probabilmente già utilizzate un IDE come Eclipse, IntelliJ IDEA o Netbeans per sviluppare. Se vi sentite confidenti nell’utilizzo del vostro IDE, potete tranquillamente utilizzarlo per lo studio di questo testo, a patto che esso sia aggiornato alla versione 15 di Java.</a:t>
            </a:r>
            <a:endParaRPr lang="it-IT" sz="1800" dirty="0">
              <a:effectLst/>
              <a:latin typeface="Times New Roman" panose="02020603050405020304" pitchFamily="18" charset="0"/>
              <a:ea typeface="MS Mincho" panose="02020609040205080304" pitchFamily="49" charset="-128"/>
            </a:endParaRPr>
          </a:p>
          <a:p>
            <a:pPr marL="180340" indent="180340"/>
            <a:r>
              <a:rPr lang="it-IT" sz="1800" b="1" dirty="0">
                <a:effectLst/>
                <a:latin typeface="Times New Roman" panose="02020603050405020304" pitchFamily="18" charset="0"/>
                <a:ea typeface="MS Mincho" panose="02020609040205080304" pitchFamily="49" charset="-128"/>
              </a:rPr>
              <a:t>(ICONA IMPORTANTE)</a:t>
            </a:r>
            <a:endParaRPr lang="it-IT" sz="1800" dirty="0">
              <a:effectLst/>
              <a:latin typeface="Times New Roman" panose="02020603050405020304" pitchFamily="18" charset="0"/>
              <a:ea typeface="MS Mincho" panose="02020609040205080304" pitchFamily="49" charset="-128"/>
            </a:endParaRPr>
          </a:p>
          <a:p>
            <a:pPr marL="180340" indent="180340"/>
            <a:r>
              <a:rPr lang="it-IT" sz="1800" b="0" dirty="0">
                <a:effectLst/>
                <a:latin typeface="Times New Roman" panose="02020603050405020304" pitchFamily="18" charset="0"/>
                <a:ea typeface="MS Mincho" panose="02020609040205080304" pitchFamily="49" charset="-128"/>
              </a:rPr>
              <a:t>Per chi non ha mai usato uno di questi strumenti, è altamente sconsigliato l’utilizzo di un IDE da subito. </a:t>
            </a:r>
            <a:r>
              <a:rPr lang="it-IT" sz="1800" dirty="0">
                <a:effectLst/>
                <a:latin typeface="Times New Roman" panose="02020603050405020304" pitchFamily="18" charset="0"/>
                <a:ea typeface="MS Mincho" panose="02020609040205080304" pitchFamily="49" charset="-128"/>
              </a:rPr>
              <a:t>Questi fantastici strumenti infatti sono complessi, e vanno prima padroneggiati per risultare utili. La loro complessità può distrarre dal vero obiettivo, ovvero quello di studiare Java. Se dobbiamo anche imparare ad utilizzare l’IDE, non ci troveremo nelle condizioni ideali per concentrarci sul linguaggio. Inoltre utilizzare un IDE per i piccoli programmi che scriveremo inizialmente, è un po’ come sparare ad una mosca con un cannone. Paradossalmente infine, le comodità offerte da un IDE come l’auto-completamento del codice e i suggerimenti, possono essere dannosi per chi inizia! Non è raro incontrare persone che programmano con questi strumenti da anni, senza avere chiari alcuni concetti basilari.</a:t>
            </a: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1.3.1.3 Soluzione per chi inizia</a:t>
            </a:r>
          </a:p>
          <a:p>
            <a:r>
              <a:rPr lang="it-IT" sz="1800" dirty="0">
                <a:effectLst/>
                <a:latin typeface="Times New Roman" panose="02020603050405020304" pitchFamily="18" charset="0"/>
                <a:ea typeface="MS Mincho" panose="02020609040205080304" pitchFamily="49" charset="-128"/>
              </a:rPr>
              <a:t>Ho creato un editor Java open source pensato proprio per chi inizia a programmare: </a:t>
            </a:r>
            <a:r>
              <a:rPr lang="it-IT" sz="1800" b="1" dirty="0">
                <a:effectLst/>
                <a:latin typeface="Times New Roman" panose="02020603050405020304" pitchFamily="18" charset="0"/>
                <a:ea typeface="MS Mincho" panose="02020609040205080304" pitchFamily="49" charset="-128"/>
              </a:rPr>
              <a:t>EJE</a:t>
            </a:r>
            <a:r>
              <a:rPr lang="it-IT" sz="1800" dirty="0">
                <a:effectLst/>
                <a:latin typeface="Times New Roman" panose="02020603050405020304" pitchFamily="18" charset="0"/>
                <a:ea typeface="MS Mincho" panose="02020609040205080304" pitchFamily="49" charset="-128"/>
              </a:rPr>
              <a:t> (acronimo di </a:t>
            </a:r>
            <a:r>
              <a:rPr lang="it-IT" sz="1800" b="1" dirty="0" err="1">
                <a:effectLst/>
                <a:latin typeface="Times New Roman" panose="02020603050405020304" pitchFamily="18" charset="0"/>
                <a:ea typeface="MS Mincho" panose="02020609040205080304" pitchFamily="49" charset="-128"/>
              </a:rPr>
              <a:t>Everyone’s</a:t>
            </a:r>
            <a:r>
              <a:rPr lang="it-IT" sz="1800" b="1" dirty="0">
                <a:effectLst/>
                <a:latin typeface="Times New Roman" panose="02020603050405020304" pitchFamily="18" charset="0"/>
                <a:ea typeface="MS Mincho" panose="02020609040205080304" pitchFamily="49" charset="-128"/>
              </a:rPr>
              <a:t> Java Editor</a:t>
            </a:r>
            <a:r>
              <a:rPr lang="it-IT" sz="1800" dirty="0">
                <a:effectLst/>
                <a:latin typeface="Times New Roman" panose="02020603050405020304" pitchFamily="18" charset="0"/>
                <a:ea typeface="MS Mincho" panose="02020609040205080304" pitchFamily="49" charset="-128"/>
              </a:rPr>
              <a:t>). Non è un vero e proprio IDE, ma un semplice editor che vi permetterà di programmare comodamente da subito. Offre diverse utilità che facilitano quelle operazioni che nelle prime fasi di studio risultano noiose, come il dover scaricare e configurare l’ultimo JDK, oppure utilizzare due programmi diversi (editor e prompt dei comandi) per sviluppare. Su </a:t>
            </a:r>
            <a:r>
              <a:rPr lang="it-IT" sz="1800" u="none" strike="noStrike" dirty="0">
                <a:effectLst/>
                <a:latin typeface="Arial" panose="020B0604020202020204" pitchFamily="34" charset="0"/>
                <a:ea typeface="MS Mincho" panose="02020609040205080304" pitchFamily="49" charset="-128"/>
                <a:cs typeface="Arial" panose="020B0604020202020204" pitchFamily="34" charset="0"/>
                <a:hlinkClick r:id="rId3"/>
              </a:rPr>
              <a:t>www.nuovojava.it</a:t>
            </a:r>
            <a:r>
              <a:rPr lang="it-IT" sz="1800" dirty="0">
                <a:effectLst/>
                <a:latin typeface="Times New Roman" panose="02020603050405020304" pitchFamily="18" charset="0"/>
                <a:ea typeface="MS Mincho" panose="02020609040205080304" pitchFamily="49" charset="-128"/>
              </a:rPr>
              <a:t> troverete dei pulsanti dedicati per il download diretto di EJE per la vostra piattaforma. Non c’è bisogni di installarlo: una volta scaricato il file ZIP, basta decomprimerlo tramite un programma come WinRar o 7Zip, o semplicemente cliccando sul file con il tasto destro, e selezionando la voce “Estrai tutto”. Verrà creata una cartella chiamata </a:t>
            </a:r>
            <a:r>
              <a:rPr lang="it-IT" sz="1800" dirty="0">
                <a:effectLst/>
                <a:latin typeface="Arial" panose="020B0604020202020204" pitchFamily="34" charset="0"/>
                <a:ea typeface="MS Mincho" panose="02020609040205080304" pitchFamily="49" charset="-128"/>
                <a:cs typeface="Arial" panose="020B0604020202020204" pitchFamily="34" charset="0"/>
              </a:rPr>
              <a:t>EJE</a:t>
            </a:r>
            <a:r>
              <a:rPr lang="it-IT" sz="1800" dirty="0">
                <a:effectLst/>
                <a:latin typeface="Times New Roman" panose="02020603050405020304" pitchFamily="18" charset="0"/>
                <a:ea typeface="MS Mincho" panose="02020609040205080304" pitchFamily="49" charset="-128"/>
              </a:rPr>
              <a:t>, al cui interno troverete il file </a:t>
            </a:r>
            <a:r>
              <a:rPr lang="it-IT" sz="1800" dirty="0">
                <a:effectLst/>
                <a:latin typeface="Arial" panose="020B0604020202020204" pitchFamily="34" charset="0"/>
                <a:ea typeface="MS Mincho" panose="02020609040205080304" pitchFamily="49" charset="-128"/>
                <a:cs typeface="Arial" panose="020B0604020202020204" pitchFamily="34" charset="0"/>
              </a:rPr>
              <a:t>eje.exe</a:t>
            </a:r>
            <a:r>
              <a:rPr lang="it-IT" sz="1800" dirty="0">
                <a:effectLst/>
                <a:latin typeface="Times New Roman" panose="02020603050405020304" pitchFamily="18" charset="0"/>
                <a:ea typeface="MS Mincho" panose="02020609040205080304" pitchFamily="49" charset="-128"/>
              </a:rPr>
              <a:t> per eseguire il programma. A quel punto siamo già pronti per iniziare a programmare in Java.</a:t>
            </a: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L’appendice M è dedicata ad EJE, e può essere utile soprattutto a chi usa piattaforme diverse da Windows. </a:t>
            </a:r>
            <a:endParaRPr lang="it-IT" sz="1800" b="1" dirty="0">
              <a:effectLst/>
              <a:latin typeface="(Tipo di carattere testo asiati"/>
              <a:ea typeface="Times New Roman" panose="02020603050405020304" pitchFamily="18" charset="0"/>
              <a:cs typeface="(Tipo di carattere testo asiati"/>
            </a:endParaRPr>
          </a:p>
          <a:p>
            <a:r>
              <a:rPr lang="it-IT" sz="1800" dirty="0">
                <a:effectLst/>
                <a:latin typeface="Times New Roman" panose="02020603050405020304" pitchFamily="18" charset="0"/>
                <a:ea typeface="MS Mincho" panose="02020609040205080304" pitchFamily="49" charset="-128"/>
              </a:rPr>
              <a:t>Riassumendo, se avete già una certa confidenza con ambienti di sviluppo integrati (IDE) allora potreste anche scegliere di utilizzare IntelliJ IDEA, Netbeans o Eclipse. Se invece state iniziando a programmare solo ora, o comunque volete cercare di focalizzarvi solo sullo studio del linguaggio, il consiglio è di utilizzare per i primi tempi EJE, per poi passare ad un IDE dopo aver letto il capitolo 4. Un’altra scelta potrebbe essere quella di utilizzare direttamente il JDK, con un editor e la riga di comando. Questo potrebbe aiutarvi a comprendere particolari situazioni e a scoprire delle opzioni del JDK interessanti. Tuttavia potrebbe anche rallentare il vostro percorso di studio del linguaggio.</a:t>
            </a:r>
          </a:p>
          <a:p>
            <a:pPr marL="180340" indent="180340"/>
            <a:r>
              <a:rPr lang="it-IT" sz="1800" dirty="0">
                <a:effectLst/>
                <a:latin typeface="Times New Roman" panose="02020603050405020304" pitchFamily="18" charset="0"/>
                <a:ea typeface="MS Mincho" panose="02020609040205080304" pitchFamily="49" charset="-128"/>
              </a:rPr>
              <a:t>Nelle prossime pagine quindi, spiegheremo la programmazione dando per scontato che stiate utilizzando EJE.</a:t>
            </a:r>
          </a:p>
          <a:p>
            <a:endParaRPr lang="it-IT" dirty="0"/>
          </a:p>
        </p:txBody>
      </p:sp>
    </p:spTree>
    <p:extLst>
      <p:ext uri="{BB962C8B-B14F-4D97-AF65-F5344CB8AC3E}">
        <p14:creationId xmlns:p14="http://schemas.microsoft.com/office/powerpoint/2010/main" val="10727101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Una volta scritto l’intero listato, dobbiamo salvare il nostro file sorgente in una cartella di lavoro. Per esempio nella cartella radice </a:t>
            </a:r>
            <a:r>
              <a:rPr lang="it-IT" sz="1800" dirty="0">
                <a:effectLst/>
                <a:latin typeface="Arial" panose="020B0604020202020204" pitchFamily="34" charset="0"/>
                <a:ea typeface="MS Mincho" panose="02020609040205080304" pitchFamily="49" charset="-128"/>
                <a:cs typeface="Arial" panose="020B0604020202020204" pitchFamily="34" charset="0"/>
              </a:rPr>
              <a:t>C:\</a:t>
            </a:r>
            <a:r>
              <a:rPr lang="it-IT" sz="1800" dirty="0">
                <a:effectLst/>
                <a:latin typeface="Times New Roman" panose="02020603050405020304" pitchFamily="18" charset="0"/>
                <a:ea typeface="MS Mincho" panose="02020609040205080304" pitchFamily="49" charset="-128"/>
              </a:rPr>
              <a:t>,potremmo creare la cartella </a:t>
            </a:r>
            <a:r>
              <a:rPr lang="it-IT" sz="1800" dirty="0">
                <a:effectLst/>
                <a:latin typeface="Arial" panose="020B0604020202020204" pitchFamily="34" charset="0"/>
                <a:ea typeface="MS Mincho" panose="02020609040205080304" pitchFamily="49" charset="-128"/>
                <a:cs typeface="Arial" panose="020B0604020202020204" pitchFamily="34" charset="0"/>
              </a:rPr>
              <a:t>NuovoJava</a:t>
            </a:r>
            <a:r>
              <a:rPr lang="it-IT" sz="1800" dirty="0">
                <a:effectLst/>
                <a:latin typeface="Times New Roman" panose="02020603050405020304" pitchFamily="18" charset="0"/>
                <a:ea typeface="MS Mincho" panose="02020609040205080304" pitchFamily="49" charset="-128"/>
              </a:rPr>
              <a:t>, e salvare il nostro file all’interno di tale cartella. Ma potete chiamare questa cartella di lavoro come volete e salvarla dove volete. Il consiglio è quello di avere un nome che non contenga spazi al suo interno per non introdurre inutili complicazioni, e magari di creare delle sottocartelle, chiamate </a:t>
            </a:r>
            <a:r>
              <a:rPr lang="it-IT" sz="1800" dirty="0">
                <a:effectLst/>
                <a:latin typeface="Arial" panose="020B0604020202020204" pitchFamily="34" charset="0"/>
                <a:ea typeface="MS Mincho" panose="02020609040205080304" pitchFamily="49" charset="-128"/>
                <a:cs typeface="Arial" panose="020B0604020202020204" pitchFamily="34" charset="0"/>
              </a:rPr>
              <a:t>Capitolo01</a:t>
            </a:r>
            <a:r>
              <a:rPr lang="it-IT" sz="1800" dirty="0">
                <a:effectLst/>
                <a:latin typeface="Times New Roman" panose="02020603050405020304" pitchFamily="18" charset="0"/>
                <a:ea typeface="MS Mincho" panose="02020609040205080304" pitchFamily="49" charset="-128"/>
              </a:rPr>
              <a:t>, </a:t>
            </a:r>
            <a:r>
              <a:rPr lang="it-IT" sz="1800" dirty="0">
                <a:effectLst/>
                <a:latin typeface="Arial" panose="020B0604020202020204" pitchFamily="34" charset="0"/>
                <a:ea typeface="MS Mincho" panose="02020609040205080304" pitchFamily="49" charset="-128"/>
                <a:cs typeface="Arial" panose="020B0604020202020204" pitchFamily="34" charset="0"/>
              </a:rPr>
              <a:t>Capitolo02</a:t>
            </a:r>
            <a:r>
              <a:rPr lang="it-IT" sz="1800" dirty="0">
                <a:effectLst/>
                <a:latin typeface="Times New Roman" panose="02020603050405020304" pitchFamily="18" charset="0"/>
                <a:ea typeface="MS Mincho" panose="02020609040205080304" pitchFamily="49" charset="-128"/>
              </a:rPr>
              <a:t>, etc., dove salvare i nostri programmi. Insomma, avere ben presente dove salvate i vostri file. In EJE potete creare una o più cartelle di lavoro, che verranno aperte nell’albero nell’area 1 di EJE (vedi Figura 1.4). In questo modo potete accedere facilmente ai file che salvate.</a:t>
            </a:r>
          </a:p>
          <a:p>
            <a:r>
              <a:rPr lang="it-IT" sz="1800" dirty="0">
                <a:effectLst/>
                <a:latin typeface="Times New Roman" panose="02020603050405020304" pitchFamily="18" charset="0"/>
                <a:ea typeface="MS Mincho" panose="02020609040205080304" pitchFamily="49" charset="-128"/>
              </a:rPr>
              <a:t>Quando salvate il file, EJE automaticamente proporrà di chiamarlo con lo stesso nome della classe e con suffisso </a:t>
            </a:r>
            <a:r>
              <a:rPr lang="it-IT" sz="1800" dirty="0">
                <a:effectLst/>
                <a:latin typeface="Arial" panose="020B0604020202020204" pitchFamily="34" charset="0"/>
                <a:ea typeface="MS Mincho" panose="02020609040205080304" pitchFamily="49" charset="-128"/>
                <a:cs typeface="Arial" panose="020B0604020202020204" pitchFamily="34" charset="0"/>
              </a:rPr>
              <a:t>.java</a:t>
            </a:r>
            <a:r>
              <a:rPr lang="it-IT" sz="1800" dirty="0">
                <a:effectLst/>
                <a:latin typeface="Times New Roman" panose="02020603050405020304" pitchFamily="18" charset="0"/>
                <a:ea typeface="MS Mincho" panose="02020609040205080304" pitchFamily="49" charset="-128"/>
              </a:rPr>
              <a:t>, ovvero </a:t>
            </a:r>
            <a:r>
              <a:rPr lang="it-IT" sz="1800" dirty="0">
                <a:effectLst/>
                <a:latin typeface="Arial" panose="020B0604020202020204" pitchFamily="34" charset="0"/>
                <a:ea typeface="MS Mincho" panose="02020609040205080304" pitchFamily="49" charset="-128"/>
                <a:cs typeface="Arial" panose="020B0604020202020204" pitchFamily="34" charset="0"/>
              </a:rPr>
              <a:t>HelloWorld.java</a:t>
            </a:r>
            <a:r>
              <a:rPr lang="it-IT" sz="1800" dirty="0">
                <a:effectLst/>
                <a:latin typeface="Times New Roman" panose="02020603050405020304" pitchFamily="18" charset="0"/>
                <a:ea typeface="MS Mincho" panose="02020609040205080304" pitchFamily="49" charset="-128"/>
              </a:rPr>
              <a:t>. Affinché tutto funzioni infatti, è necessario che il file abbia lo stesso nome della classe che abbiamo dichiarato al suo interno. Quindi non dovete fare altro che salvarlo nella cartella che avete scelto. </a:t>
            </a:r>
          </a:p>
          <a:p>
            <a:r>
              <a:rPr lang="it-IT" sz="1800" dirty="0">
                <a:effectLst/>
                <a:latin typeface="Times New Roman" panose="02020603050405020304" pitchFamily="18" charset="0"/>
                <a:ea typeface="MS Mincho" panose="02020609040205080304" pitchFamily="49" charset="-128"/>
              </a:rPr>
              <a:t>Una volta salvato potete verificare l’esistenza del file </a:t>
            </a:r>
            <a:r>
              <a:rPr lang="it-IT" sz="1800" dirty="0">
                <a:effectLst/>
                <a:latin typeface="Arial" panose="020B0604020202020204" pitchFamily="34" charset="0"/>
                <a:ea typeface="MS Mincho" panose="02020609040205080304" pitchFamily="49" charset="-128"/>
                <a:cs typeface="Arial" panose="020B0604020202020204" pitchFamily="34" charset="0"/>
              </a:rPr>
              <a:t>HelloWorld.java</a:t>
            </a:r>
            <a:r>
              <a:rPr lang="it-IT" sz="1800" dirty="0">
                <a:effectLst/>
                <a:latin typeface="Times New Roman" panose="02020603050405020304" pitchFamily="18" charset="0"/>
                <a:ea typeface="MS Mincho" panose="02020609040205080304" pitchFamily="49" charset="-128"/>
              </a:rPr>
              <a:t>, nella cartella che avete scelto.</a:t>
            </a:r>
          </a:p>
          <a:p>
            <a:r>
              <a:rPr lang="it-IT" sz="1800" b="1" dirty="0">
                <a:effectLst/>
                <a:latin typeface="Times New Roman" panose="02020603050405020304" pitchFamily="18" charset="0"/>
                <a:ea typeface="MS Mincho" panose="02020609040205080304" pitchFamily="49" charset="-128"/>
              </a:rPr>
              <a:t>[ICONA VIDEO 1.2]</a:t>
            </a:r>
            <a:endParaRPr lang="it-IT" sz="1800" dirty="0">
              <a:effectLst/>
              <a:latin typeface="Times New Roman" panose="02020603050405020304" pitchFamily="18" charset="0"/>
              <a:ea typeface="MS Mincho" panose="02020609040205080304" pitchFamily="49" charset="-128"/>
            </a:endParaRP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Purtroppo, l’impostazione di default dei sistemi Windows, prevede che per i file di tipo più comune non sia visibile il suffisso. Questo implicherà che per esempio, un file chiamato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Programma1.java</a:t>
            </a:r>
            <a:r>
              <a:rPr lang="it-IT" sz="1800" b="1" dirty="0">
                <a:solidFill>
                  <a:srgbClr val="000000"/>
                </a:solidFill>
                <a:effectLst/>
                <a:latin typeface="(Tipo di carattere testo asiati"/>
                <a:ea typeface="Times New Roman" panose="02020603050405020304" pitchFamily="18" charset="0"/>
                <a:cs typeface="(Tipo di carattere testo asiati"/>
              </a:rPr>
              <a:t> verrà visualizzato in Windows solo come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Programma1</a:t>
            </a:r>
            <a:r>
              <a:rPr lang="it-IT" sz="1800" b="1" dirty="0">
                <a:solidFill>
                  <a:srgbClr val="000000"/>
                </a:solidFill>
                <a:effectLst/>
                <a:latin typeface="(Tipo di carattere testo asiati"/>
                <a:ea typeface="Times New Roman" panose="02020603050405020304" pitchFamily="18" charset="0"/>
                <a:cs typeface="(Tipo di carattere testo asiati"/>
              </a:rPr>
              <a:t>, e questo potrebbe impedirci di capire se si tratta di un file con suffisso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.java</a:t>
            </a:r>
            <a:r>
              <a:rPr lang="it-IT" sz="1800" b="1" dirty="0">
                <a:solidFill>
                  <a:srgbClr val="000000"/>
                </a:solidFill>
                <a:effectLst/>
                <a:latin typeface="(Tipo di carattere testo asiati"/>
                <a:ea typeface="Times New Roman" panose="02020603050405020304" pitchFamily="18" charset="0"/>
                <a:cs typeface="(Tipo di carattere testo asiati"/>
              </a:rPr>
              <a:t> o suffisso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.txt</a:t>
            </a:r>
            <a:r>
              <a:rPr lang="it-IT" sz="1800" b="1" dirty="0">
                <a:solidFill>
                  <a:srgbClr val="000000"/>
                </a:solidFill>
                <a:effectLst/>
                <a:latin typeface="(Tipo di carattere testo asiati"/>
                <a:ea typeface="Times New Roman" panose="02020603050405020304" pitchFamily="18" charset="0"/>
                <a:cs typeface="(Tipo di carattere testo asiati"/>
              </a:rPr>
              <a:t>. Per evitare queste situazioni, bisogna: aprire il Pannello di controllo di Windows, selezionare la voce “Opzioni Esplora file” (sui vecchi sistemi Windows selezionate la voce “Esplora Cartella”), selezionare il tab “Visualizzazione” e deselezionare il checkbox “Nascondi le estensioni per i tipi di file conosciuti”. Dopo aver fatto questo vedremo i suffissi di ogni singolo file sul nostro hard disk.</a:t>
            </a:r>
            <a:endParaRPr lang="it-IT" sz="1800" b="1" dirty="0">
              <a:effectLst/>
              <a:latin typeface="(Tipo di carattere testo asiati"/>
              <a:ea typeface="Times New Roman" panose="02020603050405020304" pitchFamily="18" charset="0"/>
              <a:cs typeface="(Tipo di carattere testo asiati"/>
            </a:endParaRP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1.3.2.3 Compilare il file sorgente</a:t>
            </a:r>
          </a:p>
          <a:p>
            <a:r>
              <a:rPr lang="it-IT" sz="1800" dirty="0">
                <a:effectLst/>
                <a:latin typeface="Times New Roman" panose="02020603050405020304" pitchFamily="18" charset="0"/>
                <a:ea typeface="MS Mincho" panose="02020609040205080304" pitchFamily="49" charset="-128"/>
              </a:rPr>
              <a:t>Per compilare il file con EJE potete:</a:t>
            </a:r>
          </a:p>
          <a:p>
            <a:pPr marL="180340" indent="180340"/>
            <a:r>
              <a:rPr lang="it-IT" sz="1800" dirty="0">
                <a:effectLst/>
                <a:latin typeface="Times New Roman" panose="02020603050405020304" pitchFamily="18" charset="0"/>
                <a:ea typeface="MS Mincho" panose="02020609040205080304" pitchFamily="49" charset="-128"/>
              </a:rPr>
              <a:t>selezionare la voce “Compila” sotto il menu “Sviluppo”;</a:t>
            </a:r>
          </a:p>
          <a:p>
            <a:pPr marL="180340" indent="180340"/>
            <a:r>
              <a:rPr lang="it-IT" sz="1800" dirty="0">
                <a:effectLst/>
                <a:latin typeface="Times New Roman" panose="02020603050405020304" pitchFamily="18" charset="0"/>
                <a:ea typeface="MS Mincho" panose="02020609040205080304" pitchFamily="49" charset="-128"/>
              </a:rPr>
              <a:t>cliccare sul bottone con l’icona dell’ingranaggio sulla barra degli strumenti;</a:t>
            </a:r>
          </a:p>
          <a:p>
            <a:pPr marL="180340" indent="180340"/>
            <a:r>
              <a:rPr lang="it-IT" sz="1800" dirty="0">
                <a:effectLst/>
                <a:latin typeface="Times New Roman" panose="02020603050405020304" pitchFamily="18" charset="0"/>
                <a:ea typeface="MS Mincho" panose="02020609040205080304" pitchFamily="49" charset="-128"/>
              </a:rPr>
              <a:t>cliccare il tasto </a:t>
            </a:r>
            <a:r>
              <a:rPr lang="it-IT" sz="1800" dirty="0">
                <a:effectLst/>
                <a:latin typeface="Arial" panose="020B0604020202020204" pitchFamily="34" charset="0"/>
                <a:ea typeface="MS Mincho" panose="02020609040205080304" pitchFamily="49" charset="-128"/>
                <a:cs typeface="Arial" panose="020B0604020202020204" pitchFamily="34" charset="0"/>
              </a:rPr>
              <a:t>F7</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Nella console apparirà il messaggio che riporta il risultato della compilazione, che dovrebbe essere simile al seguente:</a:t>
            </a:r>
          </a:p>
          <a:p>
            <a:r>
              <a:rPr lang="it-IT" sz="1800" dirty="0">
                <a:solidFill>
                  <a:srgbClr val="FFFFFF"/>
                </a:solidFill>
                <a:effectLst/>
                <a:latin typeface="Courier New" panose="02070309020205020404" pitchFamily="49" charset="0"/>
                <a:ea typeface="MS Mincho" panose="02020609040205080304" pitchFamily="49" charset="-128"/>
              </a:rPr>
              <a:t>C:\NuovoJava\Capitolo01\esempi\HelloWorld.java compilato. </a:t>
            </a:r>
          </a:p>
          <a:p>
            <a:r>
              <a:rPr lang="it-IT" sz="1800" dirty="0">
                <a:solidFill>
                  <a:srgbClr val="FFFFFF"/>
                </a:solidFill>
                <a:effectLst/>
                <a:latin typeface="Courier New" panose="02070309020205020404" pitchFamily="49" charset="0"/>
                <a:ea typeface="MS Mincho" panose="02020609040205080304" pitchFamily="49" charset="-128"/>
              </a:rPr>
              <a:t>Processo terminato, nessun errore.</a:t>
            </a:r>
          </a:p>
          <a:p>
            <a:r>
              <a:rPr lang="it-IT" sz="1800" dirty="0">
                <a:solidFill>
                  <a:srgbClr val="FFFFFF"/>
                </a:solidFill>
                <a:effectLst/>
                <a:latin typeface="Courier New" panose="02070309020205020404" pitchFamily="49" charset="0"/>
                <a:ea typeface="MS Mincho" panose="02020609040205080304" pitchFamily="49" charset="-128"/>
              </a:rPr>
              <a:t>Directory di output:  C:\NuovoJava\Capitolo01\esempi</a:t>
            </a:r>
          </a:p>
          <a:p>
            <a:r>
              <a:rPr lang="it-IT" sz="1800" b="1" dirty="0">
                <a:effectLst/>
                <a:latin typeface="Times New Roman" panose="02020603050405020304" pitchFamily="18" charset="0"/>
                <a:ea typeface="MS Mincho" panose="02020609040205080304" pitchFamily="49" charset="-128"/>
              </a:rPr>
              <a:t>[ICONA APPROFONDIMENTO 1.3]</a:t>
            </a:r>
            <a:endParaRPr lang="it-IT" sz="1800" dirty="0">
              <a:effectLst/>
              <a:latin typeface="Times New Roman" panose="02020603050405020304" pitchFamily="18" charset="0"/>
              <a:ea typeface="MS Mincho" panose="02020609040205080304" pitchFamily="49" charset="-128"/>
            </a:endParaRPr>
          </a:p>
          <a:p>
            <a:pPr marL="914400" algn="just"/>
            <a:r>
              <a:rPr lang="it-IT" sz="1800" b="1" dirty="0">
                <a:solidFill>
                  <a:srgbClr val="000000"/>
                </a:solidFill>
                <a:effectLst/>
                <a:latin typeface="(Tipo di carattere testo asiati"/>
                <a:ea typeface="Times New Roman" panose="02020603050405020304" pitchFamily="18" charset="0"/>
                <a:cs typeface="(Tipo di carattere testo asiati"/>
              </a:rPr>
              <a:t>Nel caso otteniate un errore in compilazione, e non riusciate a risolverlo, potete consultare l’approfondimento 1.3 prima di passare al prossimo paragrafo. Troverete la descrizione degli errori più comuni che si commettono nelle prime fasi di apprendimento, con le relative soluzioni. </a:t>
            </a:r>
            <a:endParaRPr lang="it-IT" sz="1800" b="1" dirty="0">
              <a:effectLst/>
              <a:latin typeface="(Tipo di carattere testo asiati"/>
              <a:ea typeface="Times New Roman" panose="02020603050405020304" pitchFamily="18" charset="0"/>
              <a:cs typeface="(Tipo di carattere testo asiati"/>
            </a:endParaRPr>
          </a:p>
          <a:p>
            <a:r>
              <a:rPr lang="it-IT" sz="1800" dirty="0">
                <a:effectLst/>
                <a:latin typeface="Times New Roman" panose="02020603050405020304" pitchFamily="18" charset="0"/>
                <a:ea typeface="MS Mincho" panose="02020609040205080304" pitchFamily="49" charset="-128"/>
              </a:rPr>
              <a:t>Ora nella cartella di sviluppo, potete verificare che sia stato creato il file </a:t>
            </a:r>
            <a:r>
              <a:rPr lang="it-IT" sz="1800" dirty="0">
                <a:effectLst/>
                <a:latin typeface="Arial" panose="020B0604020202020204" pitchFamily="34" charset="0"/>
                <a:ea typeface="MS Mincho" panose="02020609040205080304" pitchFamily="49" charset="-128"/>
                <a:cs typeface="Arial" panose="020B0604020202020204" pitchFamily="34" charset="0"/>
              </a:rPr>
              <a:t>HelloWorld.class</a:t>
            </a:r>
            <a:r>
              <a:rPr lang="it-IT" sz="1800" dirty="0">
                <a:effectLst/>
                <a:latin typeface="Times New Roman" panose="02020603050405020304" pitchFamily="18" charset="0"/>
                <a:ea typeface="MS Mincho" panose="02020609040205080304" pitchFamily="49" charset="-128"/>
              </a:rPr>
              <a:t> accanto al file </a:t>
            </a:r>
            <a:r>
              <a:rPr lang="it-IT" sz="1800" dirty="0">
                <a:effectLst/>
                <a:latin typeface="Arial" panose="020B0604020202020204" pitchFamily="34" charset="0"/>
                <a:ea typeface="MS Mincho" panose="02020609040205080304" pitchFamily="49" charset="-128"/>
                <a:cs typeface="Arial" panose="020B0604020202020204" pitchFamily="34" charset="0"/>
              </a:rPr>
              <a:t>HelloWorld.java</a:t>
            </a:r>
            <a:r>
              <a:rPr lang="it-IT" sz="1800" dirty="0">
                <a:effectLst/>
                <a:latin typeface="Times New Roman" panose="02020603050405020304" pitchFamily="18" charset="0"/>
                <a:ea typeface="MS Mincho" panose="02020609040205080304" pitchFamily="49" charset="-128"/>
              </a:rPr>
              <a:t>. Questo è appunto il file sorgente tradotto in bytecode.</a:t>
            </a: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1.3.2.4 Eseguire il programma</a:t>
            </a:r>
          </a:p>
          <a:p>
            <a:r>
              <a:rPr lang="it-IT" sz="1800" dirty="0">
                <a:effectLst/>
                <a:latin typeface="Times New Roman" panose="02020603050405020304" pitchFamily="18" charset="0"/>
                <a:ea typeface="MS Mincho" panose="02020609040205080304" pitchFamily="49" charset="-128"/>
              </a:rPr>
              <a:t>Per eseguire il programma con EJE potete:</a:t>
            </a:r>
          </a:p>
          <a:p>
            <a:pPr marL="180340" indent="180340"/>
            <a:r>
              <a:rPr lang="it-IT" sz="1800" dirty="0">
                <a:effectLst/>
                <a:latin typeface="Times New Roman" panose="02020603050405020304" pitchFamily="18" charset="0"/>
                <a:ea typeface="MS Mincho" panose="02020609040205080304" pitchFamily="49" charset="-128"/>
              </a:rPr>
              <a:t>selezionare la voce “Esegui” sotto il menu “Sviluppo”;</a:t>
            </a:r>
          </a:p>
          <a:p>
            <a:pPr marL="180340" indent="180340"/>
            <a:r>
              <a:rPr lang="it-IT" sz="1800" dirty="0">
                <a:effectLst/>
                <a:latin typeface="Times New Roman" panose="02020603050405020304" pitchFamily="18" charset="0"/>
                <a:ea typeface="MS Mincho" panose="02020609040205080304" pitchFamily="49" charset="-128"/>
              </a:rPr>
              <a:t>cliccare sul bottone con l’icona con una freccia verde e sullo sfondo una finestra sulla barra degli strumenti;</a:t>
            </a:r>
          </a:p>
          <a:p>
            <a:pPr marL="180340" indent="180340"/>
            <a:r>
              <a:rPr lang="it-IT" sz="1800" dirty="0">
                <a:effectLst/>
                <a:latin typeface="Times New Roman" panose="02020603050405020304" pitchFamily="18" charset="0"/>
                <a:ea typeface="MS Mincho" panose="02020609040205080304" pitchFamily="49" charset="-128"/>
              </a:rPr>
              <a:t>cliccare il tasto </a:t>
            </a:r>
            <a:r>
              <a:rPr lang="it-IT" sz="1800" dirty="0">
                <a:effectLst/>
                <a:latin typeface="Arial" panose="020B0604020202020204" pitchFamily="34" charset="0"/>
                <a:ea typeface="MS Mincho" panose="02020609040205080304" pitchFamily="49" charset="-128"/>
                <a:cs typeface="Arial" panose="020B0604020202020204" pitchFamily="34" charset="0"/>
              </a:rPr>
              <a:t>F9</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Nella console apparirà il messaggio che riporta l’output del programma che volevamo:</a:t>
            </a:r>
          </a:p>
          <a:p>
            <a:r>
              <a:rPr lang="it-IT" sz="1800" dirty="0">
                <a:solidFill>
                  <a:srgbClr val="FFFFFF"/>
                </a:solidFill>
                <a:effectLst/>
                <a:latin typeface="Courier New" panose="02070309020205020404" pitchFamily="49" charset="0"/>
                <a:ea typeface="MS Mincho" panose="02020609040205080304" pitchFamily="49" charset="-128"/>
              </a:rPr>
              <a:t>Hello World!</a:t>
            </a:r>
          </a:p>
          <a:p>
            <a:r>
              <a:rPr lang="it-IT" sz="1800" b="1" dirty="0">
                <a:effectLst/>
                <a:latin typeface="Times New Roman" panose="02020603050405020304" pitchFamily="18" charset="0"/>
                <a:ea typeface="MS Mincho" panose="02020609040205080304" pitchFamily="49" charset="-128"/>
              </a:rPr>
              <a:t>[ICONA APPROFONDIMENTO 1.3]</a:t>
            </a:r>
            <a:endParaRPr lang="it-IT" sz="1800" dirty="0">
              <a:effectLst/>
              <a:latin typeface="Times New Roman" panose="02020603050405020304" pitchFamily="18" charset="0"/>
              <a:ea typeface="MS Mincho" panose="02020609040205080304" pitchFamily="49" charset="-128"/>
            </a:endParaRPr>
          </a:p>
          <a:p>
            <a:pPr marL="914400" algn="just"/>
            <a:r>
              <a:rPr lang="it-IT" sz="1800" b="1" dirty="0">
                <a:solidFill>
                  <a:srgbClr val="000000"/>
                </a:solidFill>
                <a:effectLst/>
                <a:latin typeface="(Tipo di carattere testo asiati"/>
                <a:ea typeface="Times New Roman" panose="02020603050405020304" pitchFamily="18" charset="0"/>
                <a:cs typeface="(Tipo di carattere testo asiati"/>
              </a:rPr>
              <a:t>Nel caso otteniate un errore invece, consultate l’approfondimento 1.3 prima di passare al prossimo paragrafo.</a:t>
            </a:r>
            <a:endParaRPr lang="it-IT" sz="1800" b="1" dirty="0">
              <a:effectLst/>
              <a:latin typeface="(Tipo di carattere testo asiati"/>
              <a:ea typeface="Times New Roman" panose="02020603050405020304" pitchFamily="18" charset="0"/>
              <a:cs typeface="(Tipo di carattere testo asiati"/>
            </a:endParaRPr>
          </a:p>
          <a:p>
            <a:r>
              <a:rPr lang="it-IT" sz="1800" dirty="0">
                <a:effectLst/>
                <a:latin typeface="Times New Roman" panose="02020603050405020304" pitchFamily="18" charset="0"/>
                <a:ea typeface="MS Mincho" panose="02020609040205080304" pitchFamily="49" charset="-128"/>
              </a:rPr>
              <a:t>Abbiamo ottenuto il nostro primo risultato: in breve tempo siamo riusciti ad eseguire un semplice programma Java. Potete provare a cambiare la frase “Hello World!” con un’altra a vostro piacimento (sempre includendola tra virgolette), per ottenere output diversi. Ricordatevi che dopo aver modificato il codice sorgente, bisogna prima compilare il file, e dopo mandarlo in esecuzione per vedere il nuovo output. </a:t>
            </a:r>
          </a:p>
        </p:txBody>
      </p:sp>
    </p:spTree>
    <p:extLst>
      <p:ext uri="{BB962C8B-B14F-4D97-AF65-F5344CB8AC3E}">
        <p14:creationId xmlns:p14="http://schemas.microsoft.com/office/powerpoint/2010/main" val="25660731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Esistono vari ambienti di sviluppo per programmare in Java. Introduciamo velocemente alcune possibilità. Partiamo dall’ambiente di sviluppo ufficiale: il Java Development Kit.</a:t>
            </a: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1.3.1.1 Soluzione classica</a:t>
            </a:r>
          </a:p>
          <a:p>
            <a:r>
              <a:rPr lang="it-IT" sz="1800" dirty="0">
                <a:effectLst/>
                <a:latin typeface="Times New Roman" panose="02020603050405020304" pitchFamily="18" charset="0"/>
                <a:ea typeface="MS Mincho" panose="02020609040205080304" pitchFamily="49" charset="-128"/>
              </a:rPr>
              <a:t>In teoria, per scrivere un programma Java basterebbero:</a:t>
            </a:r>
          </a:p>
          <a:p>
            <a:pPr marL="180340" indent="180340"/>
            <a:r>
              <a:rPr lang="it-IT" sz="1800" b="1" dirty="0">
                <a:effectLst/>
                <a:latin typeface="Times New Roman" panose="02020603050405020304" pitchFamily="18" charset="0"/>
                <a:ea typeface="MS Mincho" panose="02020609040205080304" pitchFamily="49" charset="-128"/>
              </a:rPr>
              <a:t>un programma che ci permetta di scrivere codice Java</a:t>
            </a:r>
            <a:r>
              <a:rPr lang="it-IT" sz="1800" dirty="0">
                <a:effectLst/>
                <a:latin typeface="Times New Roman" panose="02020603050405020304" pitchFamily="18" charset="0"/>
                <a:ea typeface="MS Mincho" panose="02020609040205080304" pitchFamily="49" charset="-128"/>
              </a:rPr>
              <a:t>. Per iniziare potrebbe andar bene un semplice editor di testo, come il Blocco Note di Windows.</a:t>
            </a:r>
          </a:p>
          <a:p>
            <a:pPr marL="180340" indent="180340"/>
            <a:r>
              <a:rPr lang="it-IT" sz="1800" b="1" dirty="0">
                <a:effectLst/>
                <a:latin typeface="Times New Roman" panose="02020603050405020304" pitchFamily="18" charset="0"/>
                <a:ea typeface="MS Mincho" panose="02020609040205080304" pitchFamily="49" charset="-128"/>
              </a:rPr>
              <a:t>Il Java Development Kit versione Standard Edition</a:t>
            </a:r>
            <a:r>
              <a:rPr lang="it-IT" sz="1800" dirty="0">
                <a:effectLst/>
                <a:latin typeface="Times New Roman" panose="02020603050405020304" pitchFamily="18" charset="0"/>
                <a:ea typeface="MS Mincho" panose="02020609040205080304" pitchFamily="49" charset="-128"/>
              </a:rPr>
              <a:t> (da ora in poi </a:t>
            </a:r>
            <a:r>
              <a:rPr lang="it-IT" sz="1800" b="1" dirty="0">
                <a:effectLst/>
                <a:latin typeface="Times New Roman" panose="02020603050405020304" pitchFamily="18" charset="0"/>
                <a:ea typeface="MS Mincho" panose="02020609040205080304" pitchFamily="49" charset="-128"/>
              </a:rPr>
              <a:t>JDK</a:t>
            </a:r>
            <a:r>
              <a:rPr lang="it-IT" sz="1800" dirty="0">
                <a:effectLst/>
                <a:latin typeface="Times New Roman" panose="02020603050405020304" pitchFamily="18" charset="0"/>
                <a:ea typeface="MS Mincho" panose="02020609040205080304" pitchFamily="49" charset="-128"/>
              </a:rPr>
              <a:t>). Si tratta dell’ambiente di sviluppo ufficiale di Java che ci fornisce una suite di software tra i quali un compilatore e la Java Virtual Machine di cui abbiamo accennato nel paragrafo precedente. Per utilizzare il JDK, è necessario lavorare con la </a:t>
            </a:r>
            <a:r>
              <a:rPr lang="it-IT" sz="1800" b="1" dirty="0">
                <a:effectLst/>
                <a:latin typeface="Times New Roman" panose="02020603050405020304" pitchFamily="18" charset="0"/>
                <a:ea typeface="MS Mincho" panose="02020609040205080304" pitchFamily="49" charset="-128"/>
              </a:rPr>
              <a:t>prompt dei comandi</a:t>
            </a:r>
            <a:r>
              <a:rPr lang="it-IT" sz="1800" dirty="0">
                <a:effectLst/>
                <a:latin typeface="Times New Roman" panose="02020603050405020304" pitchFamily="18" charset="0"/>
                <a:ea typeface="MS Mincho" panose="02020609040205080304" pitchFamily="49" charset="-128"/>
              </a:rPr>
              <a:t> (detta anche </a:t>
            </a:r>
            <a:r>
              <a:rPr lang="it-IT" sz="1800" b="1" dirty="0">
                <a:effectLst/>
                <a:latin typeface="Times New Roman" panose="02020603050405020304" pitchFamily="18" charset="0"/>
                <a:ea typeface="MS Mincho" panose="02020609040205080304" pitchFamily="49" charset="-128"/>
              </a:rPr>
              <a:t>linea di comando</a:t>
            </a:r>
            <a:r>
              <a:rPr lang="it-IT" sz="1800" dirty="0">
                <a:effectLst/>
                <a:latin typeface="Times New Roman" panose="02020603050405020304" pitchFamily="18" charset="0"/>
                <a:ea typeface="MS Mincho" panose="02020609040205080304" pitchFamily="49" charset="-128"/>
              </a:rPr>
              <a:t>) di Windows.</a:t>
            </a:r>
          </a:p>
          <a:p>
            <a:pPr marL="180340" indent="180340"/>
            <a:r>
              <a:rPr lang="it-IT" sz="1800" b="0" dirty="0">
                <a:effectLst/>
                <a:latin typeface="Times New Roman" panose="02020603050405020304" pitchFamily="18" charset="0"/>
                <a:ea typeface="MS Mincho" panose="02020609040205080304" pitchFamily="49" charset="-128"/>
              </a:rPr>
              <a:t>Una conoscenza del JDK e della prompt dei comandi è fondamentale per poter programmare in Java, ma oggettivamente scomoda e per ora non necessaria. Solitamente infatti, si usano strumenti più evoluti per sviluppare software. Per rendere più agevole l’impatto con il codice quindi, preferiamo rimandare l’introduzione di questo ambiente di sviluppo nel paragrafo 1.5.</a:t>
            </a:r>
            <a:endParaRPr lang="it-IT" sz="1800" dirty="0">
              <a:effectLst/>
              <a:latin typeface="Times New Roman" panose="02020603050405020304" pitchFamily="18" charset="0"/>
              <a:ea typeface="MS Mincho" panose="02020609040205080304" pitchFamily="49" charset="-128"/>
            </a:endParaRP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1.3.1.2 Soluzione per esperti</a:t>
            </a:r>
          </a:p>
          <a:p>
            <a:pPr marL="180340" indent="180340"/>
            <a:r>
              <a:rPr lang="it-IT" sz="1800" b="0" dirty="0">
                <a:effectLst/>
                <a:latin typeface="Times New Roman" panose="02020603050405020304" pitchFamily="18" charset="0"/>
                <a:ea typeface="MS Mincho" panose="02020609040205080304" pitchFamily="49" charset="-128"/>
              </a:rPr>
              <a:t>Piuttosto, se siete già programmatori Java e state leggendo questo libro solo al fine di aggiornare le vostre conoscenze, allora probabilmente già utilizzate un IDE come Eclipse, IntelliJ IDEA o Netbeans per sviluppare. Se vi sentite confidenti nell’utilizzo del vostro IDE, potete tranquillamente utilizzarlo per lo studio di questo testo, a patto che esso sia aggiornato alla versione 15 di Java.</a:t>
            </a:r>
            <a:endParaRPr lang="it-IT" sz="1800" dirty="0">
              <a:effectLst/>
              <a:latin typeface="Times New Roman" panose="02020603050405020304" pitchFamily="18" charset="0"/>
              <a:ea typeface="MS Mincho" panose="02020609040205080304" pitchFamily="49" charset="-128"/>
            </a:endParaRPr>
          </a:p>
          <a:p>
            <a:pPr marL="180340" indent="180340"/>
            <a:r>
              <a:rPr lang="it-IT" sz="1800" b="1" dirty="0">
                <a:effectLst/>
                <a:latin typeface="Times New Roman" panose="02020603050405020304" pitchFamily="18" charset="0"/>
                <a:ea typeface="MS Mincho" panose="02020609040205080304" pitchFamily="49" charset="-128"/>
              </a:rPr>
              <a:t>(ICONA IMPORTANTE)</a:t>
            </a:r>
            <a:endParaRPr lang="it-IT" sz="1800" dirty="0">
              <a:effectLst/>
              <a:latin typeface="Times New Roman" panose="02020603050405020304" pitchFamily="18" charset="0"/>
              <a:ea typeface="MS Mincho" panose="02020609040205080304" pitchFamily="49" charset="-128"/>
            </a:endParaRPr>
          </a:p>
          <a:p>
            <a:pPr marL="180340" indent="180340"/>
            <a:r>
              <a:rPr lang="it-IT" sz="1800" b="0" dirty="0">
                <a:effectLst/>
                <a:latin typeface="Times New Roman" panose="02020603050405020304" pitchFamily="18" charset="0"/>
                <a:ea typeface="MS Mincho" panose="02020609040205080304" pitchFamily="49" charset="-128"/>
              </a:rPr>
              <a:t>Per chi non ha mai usato uno di questi strumenti, è altamente sconsigliato l’utilizzo di un IDE da subito. </a:t>
            </a:r>
            <a:r>
              <a:rPr lang="it-IT" sz="1800" dirty="0">
                <a:effectLst/>
                <a:latin typeface="Times New Roman" panose="02020603050405020304" pitchFamily="18" charset="0"/>
                <a:ea typeface="MS Mincho" panose="02020609040205080304" pitchFamily="49" charset="-128"/>
              </a:rPr>
              <a:t>Questi fantastici strumenti infatti sono complessi, e vanno prima padroneggiati per risultare utili. La loro complessità può distrarre dal vero obiettivo, ovvero quello di studiare Java. Se dobbiamo anche imparare ad utilizzare l’IDE, non ci troveremo nelle condizioni ideali per concentrarci sul linguaggio. Inoltre utilizzare un IDE per i piccoli programmi che scriveremo inizialmente, è un po’ come sparare ad una mosca con un cannone. Paradossalmente infine, le comodità offerte da un IDE come l’auto-completamento del codice e i suggerimenti, possono essere dannosi per chi inizia! Non è raro incontrare persone che programmano con questi strumenti da anni, senza avere chiari alcuni concetti basilari.</a:t>
            </a: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1.3.1.3 Soluzione per chi inizia</a:t>
            </a:r>
          </a:p>
          <a:p>
            <a:r>
              <a:rPr lang="it-IT" sz="1800" dirty="0">
                <a:effectLst/>
                <a:latin typeface="Times New Roman" panose="02020603050405020304" pitchFamily="18" charset="0"/>
                <a:ea typeface="MS Mincho" panose="02020609040205080304" pitchFamily="49" charset="-128"/>
              </a:rPr>
              <a:t>Ho creato un editor Java open source pensato proprio per chi inizia a programmare: </a:t>
            </a:r>
            <a:r>
              <a:rPr lang="it-IT" sz="1800" b="1" dirty="0">
                <a:effectLst/>
                <a:latin typeface="Times New Roman" panose="02020603050405020304" pitchFamily="18" charset="0"/>
                <a:ea typeface="MS Mincho" panose="02020609040205080304" pitchFamily="49" charset="-128"/>
              </a:rPr>
              <a:t>EJE</a:t>
            </a:r>
            <a:r>
              <a:rPr lang="it-IT" sz="1800" dirty="0">
                <a:effectLst/>
                <a:latin typeface="Times New Roman" panose="02020603050405020304" pitchFamily="18" charset="0"/>
                <a:ea typeface="MS Mincho" panose="02020609040205080304" pitchFamily="49" charset="-128"/>
              </a:rPr>
              <a:t> (acronimo di </a:t>
            </a:r>
            <a:r>
              <a:rPr lang="it-IT" sz="1800" b="1" dirty="0" err="1">
                <a:effectLst/>
                <a:latin typeface="Times New Roman" panose="02020603050405020304" pitchFamily="18" charset="0"/>
                <a:ea typeface="MS Mincho" panose="02020609040205080304" pitchFamily="49" charset="-128"/>
              </a:rPr>
              <a:t>Everyone’s</a:t>
            </a:r>
            <a:r>
              <a:rPr lang="it-IT" sz="1800" b="1" dirty="0">
                <a:effectLst/>
                <a:latin typeface="Times New Roman" panose="02020603050405020304" pitchFamily="18" charset="0"/>
                <a:ea typeface="MS Mincho" panose="02020609040205080304" pitchFamily="49" charset="-128"/>
              </a:rPr>
              <a:t> Java Editor</a:t>
            </a:r>
            <a:r>
              <a:rPr lang="it-IT" sz="1800" dirty="0">
                <a:effectLst/>
                <a:latin typeface="Times New Roman" panose="02020603050405020304" pitchFamily="18" charset="0"/>
                <a:ea typeface="MS Mincho" panose="02020609040205080304" pitchFamily="49" charset="-128"/>
              </a:rPr>
              <a:t>). Non è un vero e proprio IDE, ma un semplice editor che vi permetterà di programmare comodamente da subito. Offre diverse utilità che facilitano quelle operazioni che nelle prime fasi di studio risultano noiose, come il dover scaricare e configurare l’ultimo JDK, oppure utilizzare due programmi diversi (editor e prompt dei comandi) per sviluppare. Su </a:t>
            </a:r>
            <a:r>
              <a:rPr lang="it-IT" sz="1800" u="none" strike="noStrike" dirty="0">
                <a:effectLst/>
                <a:latin typeface="Arial" panose="020B0604020202020204" pitchFamily="34" charset="0"/>
                <a:ea typeface="MS Mincho" panose="02020609040205080304" pitchFamily="49" charset="-128"/>
                <a:cs typeface="Arial" panose="020B0604020202020204" pitchFamily="34" charset="0"/>
                <a:hlinkClick r:id="rId3"/>
              </a:rPr>
              <a:t>www.nuovojava.it</a:t>
            </a:r>
            <a:r>
              <a:rPr lang="it-IT" sz="1800" dirty="0">
                <a:effectLst/>
                <a:latin typeface="Times New Roman" panose="02020603050405020304" pitchFamily="18" charset="0"/>
                <a:ea typeface="MS Mincho" panose="02020609040205080304" pitchFamily="49" charset="-128"/>
              </a:rPr>
              <a:t> troverete dei pulsanti dedicati per il download diretto di EJE per la vostra piattaforma. Non c’è bisogni di installarlo: una volta scaricato il file ZIP, basta decomprimerlo tramite un programma come WinRar o 7Zip, o semplicemente cliccando sul file con il tasto destro, e selezionando la voce “Estrai tutto”. Verrà creata una cartella chiamata </a:t>
            </a:r>
            <a:r>
              <a:rPr lang="it-IT" sz="1800" dirty="0">
                <a:effectLst/>
                <a:latin typeface="Arial" panose="020B0604020202020204" pitchFamily="34" charset="0"/>
                <a:ea typeface="MS Mincho" panose="02020609040205080304" pitchFamily="49" charset="-128"/>
                <a:cs typeface="Arial" panose="020B0604020202020204" pitchFamily="34" charset="0"/>
              </a:rPr>
              <a:t>EJE</a:t>
            </a:r>
            <a:r>
              <a:rPr lang="it-IT" sz="1800" dirty="0">
                <a:effectLst/>
                <a:latin typeface="Times New Roman" panose="02020603050405020304" pitchFamily="18" charset="0"/>
                <a:ea typeface="MS Mincho" panose="02020609040205080304" pitchFamily="49" charset="-128"/>
              </a:rPr>
              <a:t>, al cui interno troverete il file </a:t>
            </a:r>
            <a:r>
              <a:rPr lang="it-IT" sz="1800" dirty="0">
                <a:effectLst/>
                <a:latin typeface="Arial" panose="020B0604020202020204" pitchFamily="34" charset="0"/>
                <a:ea typeface="MS Mincho" panose="02020609040205080304" pitchFamily="49" charset="-128"/>
                <a:cs typeface="Arial" panose="020B0604020202020204" pitchFamily="34" charset="0"/>
              </a:rPr>
              <a:t>eje.exe</a:t>
            </a:r>
            <a:r>
              <a:rPr lang="it-IT" sz="1800" dirty="0">
                <a:effectLst/>
                <a:latin typeface="Times New Roman" panose="02020603050405020304" pitchFamily="18" charset="0"/>
                <a:ea typeface="MS Mincho" panose="02020609040205080304" pitchFamily="49" charset="-128"/>
              </a:rPr>
              <a:t> per eseguire il programma. A quel punto siamo già pronti per iniziare a programmare in Java.</a:t>
            </a: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L’appendice M è dedicata ad EJE, e può essere utile soprattutto a chi usa piattaforme diverse da Windows. </a:t>
            </a:r>
            <a:endParaRPr lang="it-IT" sz="1800" b="1" dirty="0">
              <a:effectLst/>
              <a:latin typeface="(Tipo di carattere testo asiati"/>
              <a:ea typeface="Times New Roman" panose="02020603050405020304" pitchFamily="18" charset="0"/>
              <a:cs typeface="(Tipo di carattere testo asiati"/>
            </a:endParaRPr>
          </a:p>
          <a:p>
            <a:r>
              <a:rPr lang="it-IT" sz="1800" dirty="0">
                <a:effectLst/>
                <a:latin typeface="Times New Roman" panose="02020603050405020304" pitchFamily="18" charset="0"/>
                <a:ea typeface="MS Mincho" panose="02020609040205080304" pitchFamily="49" charset="-128"/>
              </a:rPr>
              <a:t>Riassumendo, se avete già una certa confidenza con ambienti di sviluppo integrati (IDE) allora potreste anche scegliere di utilizzare IntelliJ IDEA, Netbeans o Eclipse. Se invece state iniziando a programmare solo ora, o comunque volete cercare di focalizzarvi solo sullo studio del linguaggio, il consiglio è di utilizzare per i primi tempi EJE, per poi passare ad un IDE dopo aver letto il capitolo 4. Un’altra scelta potrebbe essere quella di utilizzare direttamente il JDK, con un editor e la riga di comando. Questo potrebbe aiutarvi a comprendere particolari situazioni e a scoprire delle opzioni del JDK interessanti. Tuttavia potrebbe anche rallentare il vostro percorso di studio del linguaggio.</a:t>
            </a:r>
          </a:p>
          <a:p>
            <a:pPr marL="180340" indent="180340"/>
            <a:r>
              <a:rPr lang="it-IT" sz="1800" dirty="0">
                <a:effectLst/>
                <a:latin typeface="Times New Roman" panose="02020603050405020304" pitchFamily="18" charset="0"/>
                <a:ea typeface="MS Mincho" panose="02020609040205080304" pitchFamily="49" charset="-128"/>
              </a:rPr>
              <a:t>Nelle prossime pagine quindi, spiegheremo la programmazione dando per scontato che stiate utilizzando EJE.</a:t>
            </a:r>
          </a:p>
          <a:p>
            <a:endParaRPr lang="it-IT" dirty="0"/>
          </a:p>
        </p:txBody>
      </p:sp>
    </p:spTree>
    <p:extLst>
      <p:ext uri="{BB962C8B-B14F-4D97-AF65-F5344CB8AC3E}">
        <p14:creationId xmlns:p14="http://schemas.microsoft.com/office/powerpoint/2010/main" val="37787807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Una volta scritto l’intero listato, dobbiamo salvare il nostro file sorgente in una cartella di lavoro. Per esempio nella cartella radice </a:t>
            </a:r>
            <a:r>
              <a:rPr lang="it-IT" sz="1800" dirty="0">
                <a:effectLst/>
                <a:latin typeface="Arial" panose="020B0604020202020204" pitchFamily="34" charset="0"/>
                <a:ea typeface="MS Mincho" panose="02020609040205080304" pitchFamily="49" charset="-128"/>
                <a:cs typeface="Arial" panose="020B0604020202020204" pitchFamily="34" charset="0"/>
              </a:rPr>
              <a:t>C:\</a:t>
            </a:r>
            <a:r>
              <a:rPr lang="it-IT" sz="1800" dirty="0">
                <a:effectLst/>
                <a:latin typeface="Times New Roman" panose="02020603050405020304" pitchFamily="18" charset="0"/>
                <a:ea typeface="MS Mincho" panose="02020609040205080304" pitchFamily="49" charset="-128"/>
              </a:rPr>
              <a:t>,potremmo creare la cartella </a:t>
            </a:r>
            <a:r>
              <a:rPr lang="it-IT" sz="1800" dirty="0">
                <a:effectLst/>
                <a:latin typeface="Arial" panose="020B0604020202020204" pitchFamily="34" charset="0"/>
                <a:ea typeface="MS Mincho" panose="02020609040205080304" pitchFamily="49" charset="-128"/>
                <a:cs typeface="Arial" panose="020B0604020202020204" pitchFamily="34" charset="0"/>
              </a:rPr>
              <a:t>NuovoJava</a:t>
            </a:r>
            <a:r>
              <a:rPr lang="it-IT" sz="1800" dirty="0">
                <a:effectLst/>
                <a:latin typeface="Times New Roman" panose="02020603050405020304" pitchFamily="18" charset="0"/>
                <a:ea typeface="MS Mincho" panose="02020609040205080304" pitchFamily="49" charset="-128"/>
              </a:rPr>
              <a:t>, e salvare il nostro file all’interno di tale cartella. Ma potete chiamare questa cartella di lavoro come volete e salvarla dove volete. Il consiglio è quello di avere un nome che non contenga spazi al suo interno per non introdurre inutili complicazioni, e magari di creare delle sottocartelle, chiamate </a:t>
            </a:r>
            <a:r>
              <a:rPr lang="it-IT" sz="1800" dirty="0">
                <a:effectLst/>
                <a:latin typeface="Arial" panose="020B0604020202020204" pitchFamily="34" charset="0"/>
                <a:ea typeface="MS Mincho" panose="02020609040205080304" pitchFamily="49" charset="-128"/>
                <a:cs typeface="Arial" panose="020B0604020202020204" pitchFamily="34" charset="0"/>
              </a:rPr>
              <a:t>Capitolo01</a:t>
            </a:r>
            <a:r>
              <a:rPr lang="it-IT" sz="1800" dirty="0">
                <a:effectLst/>
                <a:latin typeface="Times New Roman" panose="02020603050405020304" pitchFamily="18" charset="0"/>
                <a:ea typeface="MS Mincho" panose="02020609040205080304" pitchFamily="49" charset="-128"/>
              </a:rPr>
              <a:t>, </a:t>
            </a:r>
            <a:r>
              <a:rPr lang="it-IT" sz="1800" dirty="0">
                <a:effectLst/>
                <a:latin typeface="Arial" panose="020B0604020202020204" pitchFamily="34" charset="0"/>
                <a:ea typeface="MS Mincho" panose="02020609040205080304" pitchFamily="49" charset="-128"/>
                <a:cs typeface="Arial" panose="020B0604020202020204" pitchFamily="34" charset="0"/>
              </a:rPr>
              <a:t>Capitolo02</a:t>
            </a:r>
            <a:r>
              <a:rPr lang="it-IT" sz="1800" dirty="0">
                <a:effectLst/>
                <a:latin typeface="Times New Roman" panose="02020603050405020304" pitchFamily="18" charset="0"/>
                <a:ea typeface="MS Mincho" panose="02020609040205080304" pitchFamily="49" charset="-128"/>
              </a:rPr>
              <a:t>, etc., dove salvare i nostri programmi. Insomma, avere ben presente dove salvate i vostri file. In EJE potete creare una o più cartelle di lavoro, che verranno aperte nell’albero nell’area 1 di EJE (vedi Figura 1.4). In questo modo potete accedere facilmente ai file che salvate.</a:t>
            </a:r>
          </a:p>
          <a:p>
            <a:r>
              <a:rPr lang="it-IT" sz="1800" dirty="0">
                <a:effectLst/>
                <a:latin typeface="Times New Roman" panose="02020603050405020304" pitchFamily="18" charset="0"/>
                <a:ea typeface="MS Mincho" panose="02020609040205080304" pitchFamily="49" charset="-128"/>
              </a:rPr>
              <a:t>Quando salvate il file, EJE automaticamente proporrà di chiamarlo con lo stesso nome della classe e con suffisso </a:t>
            </a:r>
            <a:r>
              <a:rPr lang="it-IT" sz="1800" dirty="0">
                <a:effectLst/>
                <a:latin typeface="Arial" panose="020B0604020202020204" pitchFamily="34" charset="0"/>
                <a:ea typeface="MS Mincho" panose="02020609040205080304" pitchFamily="49" charset="-128"/>
                <a:cs typeface="Arial" panose="020B0604020202020204" pitchFamily="34" charset="0"/>
              </a:rPr>
              <a:t>.java</a:t>
            </a:r>
            <a:r>
              <a:rPr lang="it-IT" sz="1800" dirty="0">
                <a:effectLst/>
                <a:latin typeface="Times New Roman" panose="02020603050405020304" pitchFamily="18" charset="0"/>
                <a:ea typeface="MS Mincho" panose="02020609040205080304" pitchFamily="49" charset="-128"/>
              </a:rPr>
              <a:t>, ovvero </a:t>
            </a:r>
            <a:r>
              <a:rPr lang="it-IT" sz="1800" dirty="0">
                <a:effectLst/>
                <a:latin typeface="Arial" panose="020B0604020202020204" pitchFamily="34" charset="0"/>
                <a:ea typeface="MS Mincho" panose="02020609040205080304" pitchFamily="49" charset="-128"/>
                <a:cs typeface="Arial" panose="020B0604020202020204" pitchFamily="34" charset="0"/>
              </a:rPr>
              <a:t>HelloWorld.java</a:t>
            </a:r>
            <a:r>
              <a:rPr lang="it-IT" sz="1800" dirty="0">
                <a:effectLst/>
                <a:latin typeface="Times New Roman" panose="02020603050405020304" pitchFamily="18" charset="0"/>
                <a:ea typeface="MS Mincho" panose="02020609040205080304" pitchFamily="49" charset="-128"/>
              </a:rPr>
              <a:t>. Affinché tutto funzioni infatti, è necessario che il file abbia lo stesso nome della classe che abbiamo dichiarato al suo interno. Quindi non dovete fare altro che salvarlo nella cartella che avete scelto. </a:t>
            </a:r>
          </a:p>
          <a:p>
            <a:r>
              <a:rPr lang="it-IT" sz="1800" dirty="0">
                <a:effectLst/>
                <a:latin typeface="Times New Roman" panose="02020603050405020304" pitchFamily="18" charset="0"/>
                <a:ea typeface="MS Mincho" panose="02020609040205080304" pitchFamily="49" charset="-128"/>
              </a:rPr>
              <a:t>Una volta salvato potete verificare l’esistenza del file </a:t>
            </a:r>
            <a:r>
              <a:rPr lang="it-IT" sz="1800" dirty="0">
                <a:effectLst/>
                <a:latin typeface="Arial" panose="020B0604020202020204" pitchFamily="34" charset="0"/>
                <a:ea typeface="MS Mincho" panose="02020609040205080304" pitchFamily="49" charset="-128"/>
                <a:cs typeface="Arial" panose="020B0604020202020204" pitchFamily="34" charset="0"/>
              </a:rPr>
              <a:t>HelloWorld.java</a:t>
            </a:r>
            <a:r>
              <a:rPr lang="it-IT" sz="1800" dirty="0">
                <a:effectLst/>
                <a:latin typeface="Times New Roman" panose="02020603050405020304" pitchFamily="18" charset="0"/>
                <a:ea typeface="MS Mincho" panose="02020609040205080304" pitchFamily="49" charset="-128"/>
              </a:rPr>
              <a:t>, nella cartella che avete scelto.</a:t>
            </a:r>
          </a:p>
          <a:p>
            <a:r>
              <a:rPr lang="it-IT" sz="1800" b="1" dirty="0">
                <a:effectLst/>
                <a:latin typeface="Times New Roman" panose="02020603050405020304" pitchFamily="18" charset="0"/>
                <a:ea typeface="MS Mincho" panose="02020609040205080304" pitchFamily="49" charset="-128"/>
              </a:rPr>
              <a:t>[ICONA VIDEO 1.2]</a:t>
            </a:r>
            <a:endParaRPr lang="it-IT" sz="1800" dirty="0">
              <a:effectLst/>
              <a:latin typeface="Times New Roman" panose="02020603050405020304" pitchFamily="18" charset="0"/>
              <a:ea typeface="MS Mincho" panose="02020609040205080304" pitchFamily="49" charset="-128"/>
            </a:endParaRP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Purtroppo, l’impostazione di default dei sistemi Windows, prevede che per i file di tipo più comune non sia visibile il suffisso. Questo implicherà che per esempio, un file chiamato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Programma1.java</a:t>
            </a:r>
            <a:r>
              <a:rPr lang="it-IT" sz="1800" b="1" dirty="0">
                <a:solidFill>
                  <a:srgbClr val="000000"/>
                </a:solidFill>
                <a:effectLst/>
                <a:latin typeface="(Tipo di carattere testo asiati"/>
                <a:ea typeface="Times New Roman" panose="02020603050405020304" pitchFamily="18" charset="0"/>
                <a:cs typeface="(Tipo di carattere testo asiati"/>
              </a:rPr>
              <a:t> verrà visualizzato in Windows solo come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Programma1</a:t>
            </a:r>
            <a:r>
              <a:rPr lang="it-IT" sz="1800" b="1" dirty="0">
                <a:solidFill>
                  <a:srgbClr val="000000"/>
                </a:solidFill>
                <a:effectLst/>
                <a:latin typeface="(Tipo di carattere testo asiati"/>
                <a:ea typeface="Times New Roman" panose="02020603050405020304" pitchFamily="18" charset="0"/>
                <a:cs typeface="(Tipo di carattere testo asiati"/>
              </a:rPr>
              <a:t>, e questo potrebbe impedirci di capire se si tratta di un file con suffisso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.java</a:t>
            </a:r>
            <a:r>
              <a:rPr lang="it-IT" sz="1800" b="1" dirty="0">
                <a:solidFill>
                  <a:srgbClr val="000000"/>
                </a:solidFill>
                <a:effectLst/>
                <a:latin typeface="(Tipo di carattere testo asiati"/>
                <a:ea typeface="Times New Roman" panose="02020603050405020304" pitchFamily="18" charset="0"/>
                <a:cs typeface="(Tipo di carattere testo asiati"/>
              </a:rPr>
              <a:t> o suffisso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.txt</a:t>
            </a:r>
            <a:r>
              <a:rPr lang="it-IT" sz="1800" b="1" dirty="0">
                <a:solidFill>
                  <a:srgbClr val="000000"/>
                </a:solidFill>
                <a:effectLst/>
                <a:latin typeface="(Tipo di carattere testo asiati"/>
                <a:ea typeface="Times New Roman" panose="02020603050405020304" pitchFamily="18" charset="0"/>
                <a:cs typeface="(Tipo di carattere testo asiati"/>
              </a:rPr>
              <a:t>. Per evitare queste situazioni, bisogna: aprire il Pannello di controllo di Windows, selezionare la voce “Opzioni Esplora file” (sui vecchi sistemi Windows selezionate la voce “Esplora Cartella”), selezionare il tab “Visualizzazione” e deselezionare il checkbox “Nascondi le estensioni per i tipi di file conosciuti”. Dopo aver fatto questo vedremo i suffissi di ogni singolo file sul nostro hard disk.</a:t>
            </a:r>
            <a:endParaRPr lang="it-IT" sz="1800" b="1" dirty="0">
              <a:effectLst/>
              <a:latin typeface="(Tipo di carattere testo asiati"/>
              <a:ea typeface="Times New Roman" panose="02020603050405020304" pitchFamily="18" charset="0"/>
              <a:cs typeface="(Tipo di carattere testo asiati"/>
            </a:endParaRP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1.3.2.3 Compilare il file sorgente</a:t>
            </a:r>
          </a:p>
          <a:p>
            <a:r>
              <a:rPr lang="it-IT" sz="1800" dirty="0">
                <a:effectLst/>
                <a:latin typeface="Times New Roman" panose="02020603050405020304" pitchFamily="18" charset="0"/>
                <a:ea typeface="MS Mincho" panose="02020609040205080304" pitchFamily="49" charset="-128"/>
              </a:rPr>
              <a:t>Per compilare il file con EJE potete:</a:t>
            </a:r>
          </a:p>
          <a:p>
            <a:pPr marL="180340" indent="180340"/>
            <a:r>
              <a:rPr lang="it-IT" sz="1800" dirty="0">
                <a:effectLst/>
                <a:latin typeface="Times New Roman" panose="02020603050405020304" pitchFamily="18" charset="0"/>
                <a:ea typeface="MS Mincho" panose="02020609040205080304" pitchFamily="49" charset="-128"/>
              </a:rPr>
              <a:t>selezionare la voce “Compila” sotto il menu “Sviluppo”;</a:t>
            </a:r>
          </a:p>
          <a:p>
            <a:pPr marL="180340" indent="180340"/>
            <a:r>
              <a:rPr lang="it-IT" sz="1800" dirty="0">
                <a:effectLst/>
                <a:latin typeface="Times New Roman" panose="02020603050405020304" pitchFamily="18" charset="0"/>
                <a:ea typeface="MS Mincho" panose="02020609040205080304" pitchFamily="49" charset="-128"/>
              </a:rPr>
              <a:t>cliccare sul bottone con l’icona dell’ingranaggio sulla barra degli strumenti;</a:t>
            </a:r>
          </a:p>
          <a:p>
            <a:pPr marL="180340" indent="180340"/>
            <a:r>
              <a:rPr lang="it-IT" sz="1800" dirty="0">
                <a:effectLst/>
                <a:latin typeface="Times New Roman" panose="02020603050405020304" pitchFamily="18" charset="0"/>
                <a:ea typeface="MS Mincho" panose="02020609040205080304" pitchFamily="49" charset="-128"/>
              </a:rPr>
              <a:t>cliccare il tasto </a:t>
            </a:r>
            <a:r>
              <a:rPr lang="it-IT" sz="1800" dirty="0">
                <a:effectLst/>
                <a:latin typeface="Arial" panose="020B0604020202020204" pitchFamily="34" charset="0"/>
                <a:ea typeface="MS Mincho" panose="02020609040205080304" pitchFamily="49" charset="-128"/>
                <a:cs typeface="Arial" panose="020B0604020202020204" pitchFamily="34" charset="0"/>
              </a:rPr>
              <a:t>F7</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Nella console apparirà il messaggio che riporta il risultato della compilazione, che dovrebbe essere simile al seguente:</a:t>
            </a:r>
          </a:p>
          <a:p>
            <a:r>
              <a:rPr lang="it-IT" sz="1800" dirty="0">
                <a:solidFill>
                  <a:srgbClr val="FFFFFF"/>
                </a:solidFill>
                <a:effectLst/>
                <a:latin typeface="Courier New" panose="02070309020205020404" pitchFamily="49" charset="0"/>
                <a:ea typeface="MS Mincho" panose="02020609040205080304" pitchFamily="49" charset="-128"/>
              </a:rPr>
              <a:t>C:\NuovoJava\Capitolo01\esempi\HelloWorld.java compilato. </a:t>
            </a:r>
          </a:p>
          <a:p>
            <a:r>
              <a:rPr lang="it-IT" sz="1800" dirty="0">
                <a:solidFill>
                  <a:srgbClr val="FFFFFF"/>
                </a:solidFill>
                <a:effectLst/>
                <a:latin typeface="Courier New" panose="02070309020205020404" pitchFamily="49" charset="0"/>
                <a:ea typeface="MS Mincho" panose="02020609040205080304" pitchFamily="49" charset="-128"/>
              </a:rPr>
              <a:t>Processo terminato, nessun errore.</a:t>
            </a:r>
          </a:p>
          <a:p>
            <a:r>
              <a:rPr lang="it-IT" sz="1800" dirty="0">
                <a:solidFill>
                  <a:srgbClr val="FFFFFF"/>
                </a:solidFill>
                <a:effectLst/>
                <a:latin typeface="Courier New" panose="02070309020205020404" pitchFamily="49" charset="0"/>
                <a:ea typeface="MS Mincho" panose="02020609040205080304" pitchFamily="49" charset="-128"/>
              </a:rPr>
              <a:t>Directory di output:  C:\NuovoJava\Capitolo01\esempi</a:t>
            </a:r>
          </a:p>
          <a:p>
            <a:r>
              <a:rPr lang="it-IT" sz="1800" b="1" dirty="0">
                <a:effectLst/>
                <a:latin typeface="Times New Roman" panose="02020603050405020304" pitchFamily="18" charset="0"/>
                <a:ea typeface="MS Mincho" panose="02020609040205080304" pitchFamily="49" charset="-128"/>
              </a:rPr>
              <a:t>[ICONA APPROFONDIMENTO 1.3]</a:t>
            </a:r>
            <a:endParaRPr lang="it-IT" sz="1800" dirty="0">
              <a:effectLst/>
              <a:latin typeface="Times New Roman" panose="02020603050405020304" pitchFamily="18" charset="0"/>
              <a:ea typeface="MS Mincho" panose="02020609040205080304" pitchFamily="49" charset="-128"/>
            </a:endParaRPr>
          </a:p>
          <a:p>
            <a:pPr marL="914400" algn="just"/>
            <a:r>
              <a:rPr lang="it-IT" sz="1800" b="1" dirty="0">
                <a:solidFill>
                  <a:srgbClr val="000000"/>
                </a:solidFill>
                <a:effectLst/>
                <a:latin typeface="(Tipo di carattere testo asiati"/>
                <a:ea typeface="Times New Roman" panose="02020603050405020304" pitchFamily="18" charset="0"/>
                <a:cs typeface="(Tipo di carattere testo asiati"/>
              </a:rPr>
              <a:t>Nel caso otteniate un errore in compilazione, e non riusciate a risolverlo, potete consultare l’approfondimento 1.3 prima di passare al prossimo paragrafo. Troverete la descrizione degli errori più comuni che si commettono nelle prime fasi di apprendimento, con le relative soluzioni. </a:t>
            </a:r>
            <a:endParaRPr lang="it-IT" sz="1800" b="1" dirty="0">
              <a:effectLst/>
              <a:latin typeface="(Tipo di carattere testo asiati"/>
              <a:ea typeface="Times New Roman" panose="02020603050405020304" pitchFamily="18" charset="0"/>
              <a:cs typeface="(Tipo di carattere testo asiati"/>
            </a:endParaRPr>
          </a:p>
          <a:p>
            <a:r>
              <a:rPr lang="it-IT" sz="1800" dirty="0">
                <a:effectLst/>
                <a:latin typeface="Times New Roman" panose="02020603050405020304" pitchFamily="18" charset="0"/>
                <a:ea typeface="MS Mincho" panose="02020609040205080304" pitchFamily="49" charset="-128"/>
              </a:rPr>
              <a:t>Ora nella cartella di sviluppo, potete verificare che sia stato creato il file </a:t>
            </a:r>
            <a:r>
              <a:rPr lang="it-IT" sz="1800" dirty="0">
                <a:effectLst/>
                <a:latin typeface="Arial" panose="020B0604020202020204" pitchFamily="34" charset="0"/>
                <a:ea typeface="MS Mincho" panose="02020609040205080304" pitchFamily="49" charset="-128"/>
                <a:cs typeface="Arial" panose="020B0604020202020204" pitchFamily="34" charset="0"/>
              </a:rPr>
              <a:t>HelloWorld.class</a:t>
            </a:r>
            <a:r>
              <a:rPr lang="it-IT" sz="1800" dirty="0">
                <a:effectLst/>
                <a:latin typeface="Times New Roman" panose="02020603050405020304" pitchFamily="18" charset="0"/>
                <a:ea typeface="MS Mincho" panose="02020609040205080304" pitchFamily="49" charset="-128"/>
              </a:rPr>
              <a:t> accanto al file </a:t>
            </a:r>
            <a:r>
              <a:rPr lang="it-IT" sz="1800" dirty="0">
                <a:effectLst/>
                <a:latin typeface="Arial" panose="020B0604020202020204" pitchFamily="34" charset="0"/>
                <a:ea typeface="MS Mincho" panose="02020609040205080304" pitchFamily="49" charset="-128"/>
                <a:cs typeface="Arial" panose="020B0604020202020204" pitchFamily="34" charset="0"/>
              </a:rPr>
              <a:t>HelloWorld.java</a:t>
            </a:r>
            <a:r>
              <a:rPr lang="it-IT" sz="1800" dirty="0">
                <a:effectLst/>
                <a:latin typeface="Times New Roman" panose="02020603050405020304" pitchFamily="18" charset="0"/>
                <a:ea typeface="MS Mincho" panose="02020609040205080304" pitchFamily="49" charset="-128"/>
              </a:rPr>
              <a:t>. Questo è appunto il file sorgente tradotto in bytecode.</a:t>
            </a:r>
          </a:p>
          <a:p>
            <a:pPr marL="548640" indent="-548640">
              <a:spcBef>
                <a:spcPts val="1200"/>
              </a:spcBef>
              <a:spcAft>
                <a:spcPts val="300"/>
              </a:spcAft>
            </a:pPr>
            <a:r>
              <a:rPr lang="it-IT" sz="1800" b="1" dirty="0">
                <a:effectLst/>
                <a:latin typeface="Times New Roman" panose="02020603050405020304" pitchFamily="18" charset="0"/>
                <a:ea typeface="MS Mincho" panose="02020609040205080304" pitchFamily="49" charset="-128"/>
              </a:rPr>
              <a:t>1.3.2.4 Eseguire il programma</a:t>
            </a:r>
          </a:p>
          <a:p>
            <a:r>
              <a:rPr lang="it-IT" sz="1800" dirty="0">
                <a:effectLst/>
                <a:latin typeface="Times New Roman" panose="02020603050405020304" pitchFamily="18" charset="0"/>
                <a:ea typeface="MS Mincho" panose="02020609040205080304" pitchFamily="49" charset="-128"/>
              </a:rPr>
              <a:t>Per eseguire il programma con EJE potete:</a:t>
            </a:r>
          </a:p>
          <a:p>
            <a:pPr marL="180340" indent="180340"/>
            <a:r>
              <a:rPr lang="it-IT" sz="1800" dirty="0">
                <a:effectLst/>
                <a:latin typeface="Times New Roman" panose="02020603050405020304" pitchFamily="18" charset="0"/>
                <a:ea typeface="MS Mincho" panose="02020609040205080304" pitchFamily="49" charset="-128"/>
              </a:rPr>
              <a:t>selezionare la voce “Esegui” sotto il menu “Sviluppo”;</a:t>
            </a:r>
          </a:p>
          <a:p>
            <a:pPr marL="180340" indent="180340"/>
            <a:r>
              <a:rPr lang="it-IT" sz="1800" dirty="0">
                <a:effectLst/>
                <a:latin typeface="Times New Roman" panose="02020603050405020304" pitchFamily="18" charset="0"/>
                <a:ea typeface="MS Mincho" panose="02020609040205080304" pitchFamily="49" charset="-128"/>
              </a:rPr>
              <a:t>cliccare sul bottone con l’icona con una freccia verde e sullo sfondo una finestra sulla barra degli strumenti;</a:t>
            </a:r>
          </a:p>
          <a:p>
            <a:pPr marL="180340" indent="180340"/>
            <a:r>
              <a:rPr lang="it-IT" sz="1800" dirty="0">
                <a:effectLst/>
                <a:latin typeface="Times New Roman" panose="02020603050405020304" pitchFamily="18" charset="0"/>
                <a:ea typeface="MS Mincho" panose="02020609040205080304" pitchFamily="49" charset="-128"/>
              </a:rPr>
              <a:t>cliccare il tasto </a:t>
            </a:r>
            <a:r>
              <a:rPr lang="it-IT" sz="1800" dirty="0">
                <a:effectLst/>
                <a:latin typeface="Arial" panose="020B0604020202020204" pitchFamily="34" charset="0"/>
                <a:ea typeface="MS Mincho" panose="02020609040205080304" pitchFamily="49" charset="-128"/>
                <a:cs typeface="Arial" panose="020B0604020202020204" pitchFamily="34" charset="0"/>
              </a:rPr>
              <a:t>F9</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Nella console apparirà il messaggio che riporta l’output del programma che volevamo:</a:t>
            </a:r>
          </a:p>
          <a:p>
            <a:r>
              <a:rPr lang="it-IT" sz="1800" dirty="0">
                <a:solidFill>
                  <a:srgbClr val="FFFFFF"/>
                </a:solidFill>
                <a:effectLst/>
                <a:latin typeface="Courier New" panose="02070309020205020404" pitchFamily="49" charset="0"/>
                <a:ea typeface="MS Mincho" panose="02020609040205080304" pitchFamily="49" charset="-128"/>
              </a:rPr>
              <a:t>Hello World!</a:t>
            </a:r>
          </a:p>
          <a:p>
            <a:r>
              <a:rPr lang="it-IT" sz="1800" b="1" dirty="0">
                <a:effectLst/>
                <a:latin typeface="Times New Roman" panose="02020603050405020304" pitchFamily="18" charset="0"/>
                <a:ea typeface="MS Mincho" panose="02020609040205080304" pitchFamily="49" charset="-128"/>
              </a:rPr>
              <a:t>[ICONA APPROFONDIMENTO 1.3]</a:t>
            </a:r>
            <a:endParaRPr lang="it-IT" sz="1800" dirty="0">
              <a:effectLst/>
              <a:latin typeface="Times New Roman" panose="02020603050405020304" pitchFamily="18" charset="0"/>
              <a:ea typeface="MS Mincho" panose="02020609040205080304" pitchFamily="49" charset="-128"/>
            </a:endParaRPr>
          </a:p>
          <a:p>
            <a:pPr marL="914400" algn="just"/>
            <a:r>
              <a:rPr lang="it-IT" sz="1800" b="1" dirty="0">
                <a:solidFill>
                  <a:srgbClr val="000000"/>
                </a:solidFill>
                <a:effectLst/>
                <a:latin typeface="(Tipo di carattere testo asiati"/>
                <a:ea typeface="Times New Roman" panose="02020603050405020304" pitchFamily="18" charset="0"/>
                <a:cs typeface="(Tipo di carattere testo asiati"/>
              </a:rPr>
              <a:t>Nel caso otteniate un errore invece, consultate l’approfondimento 1.3 prima di passare al prossimo paragrafo.</a:t>
            </a:r>
            <a:endParaRPr lang="it-IT" sz="1800" b="1" dirty="0">
              <a:effectLst/>
              <a:latin typeface="(Tipo di carattere testo asiati"/>
              <a:ea typeface="Times New Roman" panose="02020603050405020304" pitchFamily="18" charset="0"/>
              <a:cs typeface="(Tipo di carattere testo asiati"/>
            </a:endParaRPr>
          </a:p>
          <a:p>
            <a:r>
              <a:rPr lang="it-IT" sz="1800" dirty="0">
                <a:effectLst/>
                <a:latin typeface="Times New Roman" panose="02020603050405020304" pitchFamily="18" charset="0"/>
                <a:ea typeface="MS Mincho" panose="02020609040205080304" pitchFamily="49" charset="-128"/>
              </a:rPr>
              <a:t>Abbiamo ottenuto il nostro primo risultato: in breve tempo siamo riusciti ad eseguire un semplice programma Java. Potete provare a cambiare la frase “Hello World!” con un’altra a vostro piacimento (sempre includendola tra virgolette), per ottenere output diversi. Ricordatevi che dopo aver modificato il codice sorgente, bisogna prima compilare il file, e dopo mandarlo in esecuzione per vedere il nuovo output. </a:t>
            </a:r>
          </a:p>
        </p:txBody>
      </p:sp>
    </p:spTree>
    <p:extLst>
      <p:ext uri="{BB962C8B-B14F-4D97-AF65-F5344CB8AC3E}">
        <p14:creationId xmlns:p14="http://schemas.microsoft.com/office/powerpoint/2010/main" val="38012527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Se per caso avete ottenuto degli errori in fase di compilazione potete consultare l’approfondimento 1.3, nel quale vengono spiegati gli errori che capitano più frequentemente quando si compila un programma. Questa risorsa ci aiuterà a progredire più velocemente.</a:t>
            </a:r>
          </a:p>
          <a:p>
            <a:r>
              <a:rPr lang="it-IT" sz="1800" dirty="0">
                <a:effectLst/>
                <a:latin typeface="Times New Roman" panose="02020603050405020304" pitchFamily="18" charset="0"/>
                <a:ea typeface="MS Mincho" panose="02020609040205080304" pitchFamily="49" charset="-128"/>
              </a:rPr>
              <a:t>Se invece la compilazione non ha restituito errori, provate ad usare il programma. Dato che da utenti dovete inserire dei dati, fate varie prove con input sempre diversi e osservate i risultati. Se siete bravi potrete trovare diversi comportamenti imprevisti nel nostro programma. Ma questo è normale! Eccezion fatta per programmi molto semplici, è difficile creare applicazioni che funzionino correttamente in tutte le situazioni. Anche programmi professionali, costosi ed esistenti da decine di anni come Microsoft Word hanno diversi bug! Non è facile prevedere tutti gli scenari di utilizzo da parte degli utenti, e fare in modo che funzionino tutti. Creare software è una scienza complicata, che richiede una disciplina rigorosa associata ad intuizione e creatività. </a:t>
            </a:r>
          </a:p>
        </p:txBody>
      </p:sp>
    </p:spTree>
    <p:extLst>
      <p:ext uri="{BB962C8B-B14F-4D97-AF65-F5344CB8AC3E}">
        <p14:creationId xmlns:p14="http://schemas.microsoft.com/office/powerpoint/2010/main" val="17245101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a:spcAft>
                <a:spcPts val="1190"/>
              </a:spcAft>
            </a:pPr>
            <a:r>
              <a:rPr lang="it-IT" sz="1800" b="1" dirty="0">
                <a:effectLst/>
                <a:latin typeface="Arial" panose="020B0604020202020204" pitchFamily="34" charset="0"/>
                <a:ea typeface="MS Mincho" panose="02020609040205080304" pitchFamily="49" charset="-128"/>
              </a:rPr>
              <a:t>La nostra interazione con il computer</a:t>
            </a:r>
          </a:p>
          <a:p>
            <a:r>
              <a:rPr lang="it-IT" sz="1800" dirty="0">
                <a:effectLst/>
                <a:latin typeface="Times New Roman" panose="02020603050405020304" pitchFamily="18" charset="0"/>
                <a:ea typeface="MS Mincho" panose="02020609040205080304" pitchFamily="49" charset="-128"/>
              </a:rPr>
              <a:t>Ricapitoliamo i passi che abbiamo fatto per interagire con il computer:</a:t>
            </a:r>
          </a:p>
          <a:p>
            <a:pPr marL="180340" indent="180340"/>
            <a:r>
              <a:rPr lang="it-IT" sz="1800" dirty="0">
                <a:effectLst/>
                <a:latin typeface="Times New Roman" panose="02020603050405020304" pitchFamily="18" charset="0"/>
                <a:ea typeface="MS Mincho" panose="02020609040205080304" pitchFamily="49" charset="-128"/>
              </a:rPr>
              <a:t>Abbiamo chiesto al sistema operativo di aprire l’applicazione Blocco Note presumibilmente facendo clic sulla corrispondente icona con il mouse.</a:t>
            </a:r>
          </a:p>
          <a:p>
            <a:pPr marL="180340" indent="180340"/>
            <a:r>
              <a:rPr lang="it-IT" sz="1800" dirty="0">
                <a:effectLst/>
                <a:latin typeface="Times New Roman" panose="02020603050405020304" pitchFamily="18" charset="0"/>
                <a:ea typeface="MS Mincho" panose="02020609040205080304" pitchFamily="49" charset="-128"/>
              </a:rPr>
              <a:t>Abbiamo scritto il nostro codice sorgente all’interno dell’interfaccia grafica di Blocco Note utilizzando la tastiera.</a:t>
            </a:r>
          </a:p>
          <a:p>
            <a:pPr marL="180340" indent="180340"/>
            <a:r>
              <a:rPr lang="it-IT" sz="1800" dirty="0">
                <a:effectLst/>
                <a:latin typeface="Times New Roman" panose="02020603050405020304" pitchFamily="18" charset="0"/>
                <a:ea typeface="MS Mincho" panose="02020609040205080304" pitchFamily="49" charset="-128"/>
              </a:rPr>
              <a:t>Abbiamo salvato il file all’interno del nostro hard disk (memoria ausiliare), in una precisa cartella (per esempio </a:t>
            </a:r>
            <a:r>
              <a:rPr lang="it-IT" sz="1800" dirty="0">
                <a:effectLst/>
                <a:latin typeface="Arial" panose="020B0604020202020204" pitchFamily="34" charset="0"/>
                <a:ea typeface="MS Mincho" panose="02020609040205080304" pitchFamily="49" charset="-128"/>
                <a:cs typeface="Arial" panose="020B0604020202020204" pitchFamily="34" charset="0"/>
              </a:rPr>
              <a:t>C:\NuovoJava\Capitolo01</a:t>
            </a:r>
            <a:r>
              <a:rPr lang="it-IT" sz="1800" dirty="0">
                <a:effectLst/>
                <a:latin typeface="Times New Roman" panose="02020603050405020304" pitchFamily="18" charset="0"/>
                <a:ea typeface="MS Mincho" panose="02020609040205080304" pitchFamily="49" charset="-128"/>
              </a:rPr>
              <a:t>). </a:t>
            </a:r>
          </a:p>
          <a:p>
            <a:pPr marL="180340" indent="180340"/>
            <a:r>
              <a:rPr lang="it-IT" sz="1800" dirty="0">
                <a:effectLst/>
                <a:latin typeface="Times New Roman" panose="02020603050405020304" pitchFamily="18" charset="0"/>
                <a:ea typeface="MS Mincho" panose="02020609040205080304" pitchFamily="49" charset="-128"/>
              </a:rPr>
              <a:t>Abbiamo aperto una sessione del programma “prompt dei comandi” invocando il comando “</a:t>
            </a:r>
            <a:r>
              <a:rPr lang="it-IT" sz="1800" dirty="0">
                <a:effectLst/>
                <a:latin typeface="Arial" panose="020B0604020202020204" pitchFamily="34" charset="0"/>
                <a:ea typeface="MS Mincho" panose="02020609040205080304" pitchFamily="49" charset="-128"/>
                <a:cs typeface="Arial" panose="020B0604020202020204" pitchFamily="34" charset="0"/>
              </a:rPr>
              <a:t>CMD</a:t>
            </a:r>
            <a:r>
              <a:rPr lang="it-IT" sz="1800" dirty="0">
                <a:effectLst/>
                <a:latin typeface="Times New Roman" panose="02020603050405020304" pitchFamily="18" charset="0"/>
                <a:ea typeface="MS Mincho" panose="02020609040205080304" pitchFamily="49" charset="-128"/>
              </a:rPr>
              <a:t>” e ci siamo spostati nella cartella contenente il file appena salvato.</a:t>
            </a:r>
          </a:p>
          <a:p>
            <a:pPr marL="180340" indent="180340"/>
            <a:r>
              <a:rPr lang="it-IT" sz="1800" dirty="0">
                <a:effectLst/>
                <a:latin typeface="Times New Roman" panose="02020603050405020304" pitchFamily="18" charset="0"/>
                <a:ea typeface="MS Mincho" panose="02020609040205080304" pitchFamily="49" charset="-128"/>
              </a:rPr>
              <a:t>Quindi abbiamo compilato il nostro file invocando il programma </a:t>
            </a:r>
            <a:r>
              <a:rPr lang="it-IT" sz="1800" dirty="0">
                <a:effectLst/>
                <a:latin typeface="Arial" panose="020B0604020202020204" pitchFamily="34" charset="0"/>
                <a:ea typeface="MS Mincho" panose="02020609040205080304" pitchFamily="49" charset="-128"/>
                <a:cs typeface="Arial" panose="020B0604020202020204" pitchFamily="34" charset="0"/>
              </a:rPr>
              <a:t>javac</a:t>
            </a:r>
            <a:r>
              <a:rPr lang="it-IT" sz="1800" b="1" dirty="0">
                <a:effectLst/>
                <a:latin typeface="Times New Roman" panose="02020603050405020304" pitchFamily="18" charset="0"/>
                <a:ea typeface="MS Mincho" panose="02020609040205080304" pitchFamily="49" charset="-128"/>
              </a:rPr>
              <a:t> </a:t>
            </a:r>
            <a:r>
              <a:rPr lang="it-IT" sz="1800" dirty="0">
                <a:effectLst/>
                <a:latin typeface="Times New Roman" panose="02020603050405020304" pitchFamily="18" charset="0"/>
                <a:ea typeface="MS Mincho" panose="02020609040205080304" pitchFamily="49" charset="-128"/>
              </a:rPr>
              <a:t>contenuto nella cartella </a:t>
            </a:r>
            <a:r>
              <a:rPr lang="it-IT" sz="1800" dirty="0">
                <a:effectLst/>
                <a:latin typeface="Arial" panose="020B0604020202020204" pitchFamily="34" charset="0"/>
                <a:ea typeface="MS Mincho" panose="02020609040205080304" pitchFamily="49" charset="-128"/>
                <a:cs typeface="Arial" panose="020B0604020202020204" pitchFamily="34" charset="0"/>
              </a:rPr>
              <a:t>bin</a:t>
            </a:r>
            <a:r>
              <a:rPr lang="it-IT" sz="1800" dirty="0">
                <a:effectLst/>
                <a:latin typeface="Times New Roman" panose="02020603050405020304" pitchFamily="18" charset="0"/>
                <a:ea typeface="MS Mincho" panose="02020609040205080304" pitchFamily="49" charset="-128"/>
              </a:rPr>
              <a:t> del JDK, scrivendo con la tastiera il comando </a:t>
            </a:r>
            <a:r>
              <a:rPr lang="it-IT" sz="1800" dirty="0">
                <a:effectLst/>
                <a:latin typeface="Arial" panose="020B0604020202020204" pitchFamily="34" charset="0"/>
                <a:ea typeface="MS Mincho" panose="02020609040205080304" pitchFamily="49" charset="-128"/>
                <a:cs typeface="Arial" panose="020B0604020202020204" pitchFamily="34" charset="0"/>
              </a:rPr>
              <a:t>javac SommaTreInteri.java</a:t>
            </a:r>
            <a:r>
              <a:rPr lang="it-IT" sz="1800" dirty="0">
                <a:effectLst/>
                <a:latin typeface="Times New Roman" panose="02020603050405020304" pitchFamily="18" charset="0"/>
                <a:ea typeface="MS Mincho" panose="02020609040205080304" pitchFamily="49" charset="-128"/>
              </a:rPr>
              <a:t> direttamente sull’interfaccia grafica della prompt dei comandi.</a:t>
            </a:r>
          </a:p>
          <a:p>
            <a:pPr marL="180340" indent="180340"/>
            <a:r>
              <a:rPr lang="it-IT" sz="1800" dirty="0">
                <a:effectLst/>
                <a:latin typeface="Times New Roman" panose="02020603050405020304" pitchFamily="18" charset="0"/>
                <a:ea typeface="MS Mincho" panose="02020609040205080304" pitchFamily="49" charset="-128"/>
              </a:rPr>
              <a:t>Il programma compilatore è stato caricato nella memoria principale (RAM) insieme al suo input (il file sorgente </a:t>
            </a:r>
            <a:r>
              <a:rPr lang="it-IT" sz="1800" dirty="0">
                <a:effectLst/>
                <a:latin typeface="Arial" panose="020B0604020202020204" pitchFamily="34" charset="0"/>
                <a:ea typeface="MS Mincho" panose="02020609040205080304" pitchFamily="49" charset="-128"/>
                <a:cs typeface="Arial" panose="020B0604020202020204" pitchFamily="34" charset="0"/>
              </a:rPr>
              <a:t>SommaTreInteri.java</a:t>
            </a:r>
            <a:r>
              <a:rPr lang="it-IT" sz="1800" dirty="0">
                <a:effectLst/>
                <a:latin typeface="Times New Roman" panose="02020603050405020304" pitchFamily="18" charset="0"/>
                <a:ea typeface="MS Mincho" panose="02020609040205080304" pitchFamily="49" charset="-128"/>
              </a:rPr>
              <a:t>). </a:t>
            </a:r>
          </a:p>
          <a:p>
            <a:pPr marL="180340" indent="180340"/>
            <a:r>
              <a:rPr lang="it-IT" sz="1800" dirty="0">
                <a:effectLst/>
                <a:latin typeface="Times New Roman" panose="02020603050405020304" pitchFamily="18" charset="0"/>
                <a:ea typeface="MS Mincho" panose="02020609040205080304" pitchFamily="49" charset="-128"/>
              </a:rPr>
              <a:t>Il compilatore ha eseguito le sue istruzioni grazie al processore, ed ha prodotto come output la traduzione in bytecode del codice sorgente, salvandolo in un file </a:t>
            </a:r>
            <a:r>
              <a:rPr lang="it-IT" sz="1800" dirty="0" err="1">
                <a:effectLst/>
                <a:latin typeface="Arial" panose="020B0604020202020204" pitchFamily="34" charset="0"/>
                <a:ea typeface="MS Mincho" panose="02020609040205080304" pitchFamily="49" charset="-128"/>
                <a:cs typeface="Arial" panose="020B0604020202020204" pitchFamily="34" charset="0"/>
              </a:rPr>
              <a:t>SommaTreInteri.class</a:t>
            </a:r>
            <a:r>
              <a:rPr lang="it-IT" sz="1800" dirty="0">
                <a:effectLst/>
                <a:latin typeface="Times New Roman" panose="02020603050405020304" pitchFamily="18" charset="0"/>
                <a:ea typeface="MS Mincho" panose="02020609040205080304" pitchFamily="49" charset="-128"/>
              </a:rPr>
              <a:t>. </a:t>
            </a:r>
          </a:p>
          <a:p>
            <a:pPr marL="180340" indent="180340"/>
            <a:r>
              <a:rPr lang="it-IT" sz="1800" dirty="0">
                <a:effectLst/>
                <a:latin typeface="Times New Roman" panose="02020603050405020304" pitchFamily="18" charset="0"/>
                <a:ea typeface="MS Mincho" panose="02020609040205080304" pitchFamily="49" charset="-128"/>
              </a:rPr>
              <a:t>Abbiamo eseguito l’interprete definito nella Java Virtual Machine con il comando </a:t>
            </a:r>
            <a:r>
              <a:rPr lang="it-IT" sz="1800" dirty="0">
                <a:effectLst/>
                <a:latin typeface="Arial" panose="020B0604020202020204" pitchFamily="34" charset="0"/>
                <a:ea typeface="MS Mincho" panose="02020609040205080304" pitchFamily="49" charset="-128"/>
                <a:cs typeface="Arial" panose="020B0604020202020204" pitchFamily="34" charset="0"/>
              </a:rPr>
              <a:t>java</a:t>
            </a:r>
            <a:r>
              <a:rPr lang="it-IT" sz="1800" dirty="0">
                <a:effectLst/>
                <a:latin typeface="Times New Roman" panose="02020603050405020304" pitchFamily="18" charset="0"/>
                <a:ea typeface="MS Mincho" panose="02020609040205080304" pitchFamily="49" charset="-128"/>
              </a:rPr>
              <a:t> contenuto nella cartella </a:t>
            </a:r>
            <a:r>
              <a:rPr lang="it-IT" sz="1800" dirty="0">
                <a:effectLst/>
                <a:latin typeface="Arial" panose="020B0604020202020204" pitchFamily="34" charset="0"/>
                <a:ea typeface="MS Mincho" panose="02020609040205080304" pitchFamily="49" charset="-128"/>
                <a:cs typeface="Arial" panose="020B0604020202020204" pitchFamily="34" charset="0"/>
              </a:rPr>
              <a:t>bin</a:t>
            </a:r>
            <a:r>
              <a:rPr lang="it-IT" sz="1800" dirty="0">
                <a:effectLst/>
                <a:latin typeface="Times New Roman" panose="02020603050405020304" pitchFamily="18" charset="0"/>
                <a:ea typeface="MS Mincho" panose="02020609040205080304" pitchFamily="49" charset="-128"/>
              </a:rPr>
              <a:t> del JDK, scrivendo con la tastiera il comando </a:t>
            </a:r>
            <a:r>
              <a:rPr lang="it-IT" sz="1800" dirty="0">
                <a:effectLst/>
                <a:latin typeface="Arial" panose="020B0604020202020204" pitchFamily="34" charset="0"/>
                <a:ea typeface="MS Mincho" panose="02020609040205080304" pitchFamily="49" charset="-128"/>
                <a:cs typeface="Arial" panose="020B0604020202020204" pitchFamily="34" charset="0"/>
              </a:rPr>
              <a:t>java </a:t>
            </a:r>
            <a:r>
              <a:rPr lang="it-IT" sz="1800" dirty="0" err="1">
                <a:effectLst/>
                <a:latin typeface="Arial" panose="020B0604020202020204" pitchFamily="34" charset="0"/>
                <a:ea typeface="MS Mincho" panose="02020609040205080304" pitchFamily="49" charset="-128"/>
                <a:cs typeface="Arial" panose="020B0604020202020204" pitchFamily="34" charset="0"/>
              </a:rPr>
              <a:t>SommaTreInteri</a:t>
            </a:r>
            <a:r>
              <a:rPr lang="it-IT" sz="1800" dirty="0">
                <a:effectLst/>
                <a:latin typeface="Times New Roman" panose="02020603050405020304" pitchFamily="18" charset="0"/>
                <a:ea typeface="MS Mincho" panose="02020609040205080304" pitchFamily="49" charset="-128"/>
              </a:rPr>
              <a:t> direttamente dalla prompt dei comandi.</a:t>
            </a:r>
          </a:p>
          <a:p>
            <a:pPr marL="180340" indent="180340"/>
            <a:r>
              <a:rPr lang="it-IT" sz="1800" dirty="0">
                <a:effectLst/>
                <a:latin typeface="Times New Roman" panose="02020603050405020304" pitchFamily="18" charset="0"/>
                <a:ea typeface="MS Mincho" panose="02020609040205080304" pitchFamily="49" charset="-128"/>
              </a:rPr>
              <a:t>La JVM è stata caricata nella memoria principale (RAM) insieme al suo input (il file sorgente </a:t>
            </a:r>
            <a:r>
              <a:rPr lang="it-IT" sz="1800" dirty="0" err="1">
                <a:effectLst/>
                <a:latin typeface="Arial" panose="020B0604020202020204" pitchFamily="34" charset="0"/>
                <a:ea typeface="MS Mincho" panose="02020609040205080304" pitchFamily="49" charset="-128"/>
                <a:cs typeface="Arial" panose="020B0604020202020204" pitchFamily="34" charset="0"/>
              </a:rPr>
              <a:t>SommaTreInteri.class</a:t>
            </a:r>
            <a:r>
              <a:rPr lang="it-IT" sz="1800" dirty="0">
                <a:effectLst/>
                <a:latin typeface="Times New Roman" panose="02020603050405020304" pitchFamily="18" charset="0"/>
                <a:ea typeface="MS Mincho" panose="02020609040205080304" pitchFamily="49" charset="-128"/>
              </a:rPr>
              <a:t>). </a:t>
            </a:r>
          </a:p>
          <a:p>
            <a:pPr marL="180340" indent="180340"/>
            <a:r>
              <a:rPr lang="it-IT" sz="1800" dirty="0">
                <a:effectLst/>
                <a:latin typeface="Times New Roman" panose="02020603050405020304" pitchFamily="18" charset="0"/>
                <a:ea typeface="MS Mincho" panose="02020609040205080304" pitchFamily="49" charset="-128"/>
              </a:rPr>
              <a:t>  L’interprete Java ha tradotto le istruzioni Java in linguaggio macchina che è comprensibile al processore, e questo ha aperto il nostro programma che ci ha chiesto di fornire alcuni input.</a:t>
            </a:r>
          </a:p>
          <a:p>
            <a:pPr marL="180340" indent="180340"/>
            <a:r>
              <a:rPr lang="it-IT" sz="1800" dirty="0">
                <a:effectLst/>
                <a:latin typeface="Times New Roman" panose="02020603050405020304" pitchFamily="18" charset="0"/>
                <a:ea typeface="MS Mincho" panose="02020609040205080304" pitchFamily="49" charset="-128"/>
              </a:rPr>
              <a:t>Abbiamo quindi fornito gli input al programma, il quale li ha processati e ci ha restituito un risultato.</a:t>
            </a:r>
          </a:p>
          <a:p>
            <a:pPr marL="180340" indent="180340"/>
            <a:r>
              <a:rPr lang="it-IT" sz="1800" dirty="0">
                <a:effectLst/>
                <a:latin typeface="Times New Roman" panose="02020603050405020304" pitchFamily="18" charset="0"/>
                <a:ea typeface="MS Mincho" panose="02020609040205080304" pitchFamily="49" charset="-128"/>
              </a:rPr>
              <a:t>Concludendo, reputiamo importante capire come funziona Java a basso livello, e potreste continuare a studiare l’intero libro utilizzando questi strumenti (JDK, Blocco Note, linea di comando), ma è oggettivamente scomodo lavorare con due finestre diverse. Nel caso anche voi troviate scomodo lavorare in questo modo, il consiglio è quello di utilizzare EJE se siete alla prime armi, o il vostro IDE preferito (</a:t>
            </a:r>
            <a:r>
              <a:rPr lang="it-IT" sz="1800" b="0" dirty="0">
                <a:effectLst/>
                <a:latin typeface="Times New Roman" panose="02020603050405020304" pitchFamily="18" charset="0"/>
                <a:ea typeface="MS Mincho" panose="02020609040205080304" pitchFamily="49" charset="-128"/>
              </a:rPr>
              <a:t>aggiornato alla versione 15 di Java</a:t>
            </a:r>
            <a:r>
              <a:rPr lang="it-IT" sz="1800" dirty="0">
                <a:effectLst/>
                <a:latin typeface="Times New Roman" panose="02020603050405020304" pitchFamily="18" charset="0"/>
                <a:ea typeface="MS Mincho" panose="02020609040205080304" pitchFamily="49" charset="-128"/>
              </a:rPr>
              <a:t>) se siete già esperti nel loro utilizzo.</a:t>
            </a:r>
          </a:p>
        </p:txBody>
      </p:sp>
    </p:spTree>
    <p:extLst>
      <p:ext uri="{BB962C8B-B14F-4D97-AF65-F5344CB8AC3E}">
        <p14:creationId xmlns:p14="http://schemas.microsoft.com/office/powerpoint/2010/main" val="20916651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In questo capitolo familiarizzeremo con i concetti fondamentali che sono alla base di un programma Java, sia in maniera teorica che pratica. Nel primo capitolo abbiamo scritto dei programmi, ma abbiamo utilizzato alcuni concetti fondamentali, accennando solo alla loro definizione. Ora è il momento di iniziare a comprendere tutto il codice che scriviamo al fine di padroneggiarlo e non avere mai dubbi.</a:t>
            </a:r>
          </a:p>
          <a:p>
            <a:r>
              <a:rPr lang="it-IT" sz="1800" dirty="0">
                <a:effectLst/>
                <a:latin typeface="Times New Roman" panose="02020603050405020304" pitchFamily="18" charset="0"/>
                <a:ea typeface="Times New Roman" panose="02020603050405020304" pitchFamily="18" charset="0"/>
              </a:rPr>
              <a:t>Ecco una lista di concetti che sono alla base della conoscenza del linguaggio, e che studieremo in questo capitolo:</a:t>
            </a:r>
          </a:p>
          <a:p>
            <a:pPr marL="180340" indent="180340"/>
            <a:r>
              <a:rPr lang="it-IT" sz="1800" dirty="0">
                <a:effectLst/>
                <a:latin typeface="Times New Roman" panose="02020603050405020304" pitchFamily="18" charset="0"/>
                <a:ea typeface="MS Mincho" panose="02020609040205080304" pitchFamily="49" charset="-128"/>
              </a:rPr>
              <a:t>Classe</a:t>
            </a:r>
          </a:p>
          <a:p>
            <a:pPr marL="180340" indent="180340"/>
            <a:r>
              <a:rPr lang="it-IT" sz="1800" dirty="0">
                <a:effectLst/>
                <a:latin typeface="Times New Roman" panose="02020603050405020304" pitchFamily="18" charset="0"/>
                <a:ea typeface="MS Mincho" panose="02020609040205080304" pitchFamily="49" charset="-128"/>
              </a:rPr>
              <a:t>Oggetto</a:t>
            </a:r>
          </a:p>
          <a:p>
            <a:pPr marL="180340" indent="180340"/>
            <a:r>
              <a:rPr lang="it-IT" sz="1800" dirty="0">
                <a:effectLst/>
                <a:latin typeface="Times New Roman" panose="02020603050405020304" pitchFamily="18" charset="0"/>
                <a:ea typeface="MS Mincho" panose="02020609040205080304" pitchFamily="49" charset="-128"/>
              </a:rPr>
              <a:t>Variabile</a:t>
            </a:r>
          </a:p>
          <a:p>
            <a:pPr marL="180340" indent="180340"/>
            <a:r>
              <a:rPr lang="it-IT" sz="1800" dirty="0">
                <a:effectLst/>
                <a:latin typeface="Times New Roman" panose="02020603050405020304" pitchFamily="18" charset="0"/>
                <a:ea typeface="MS Mincho" panose="02020609040205080304" pitchFamily="49" charset="-128"/>
              </a:rPr>
              <a:t>Metodo</a:t>
            </a:r>
          </a:p>
          <a:p>
            <a:pPr marL="180340" indent="180340"/>
            <a:r>
              <a:rPr lang="it-IT" sz="1800" dirty="0">
                <a:effectLst/>
                <a:latin typeface="Times New Roman" panose="02020603050405020304" pitchFamily="18" charset="0"/>
                <a:ea typeface="MS Mincho" panose="02020609040205080304" pitchFamily="49" charset="-128"/>
              </a:rPr>
              <a:t>Costruttore</a:t>
            </a:r>
          </a:p>
          <a:p>
            <a:pPr marL="180340" indent="180340"/>
            <a:r>
              <a:rPr lang="it-IT" sz="1800" dirty="0">
                <a:effectLst/>
                <a:latin typeface="Times New Roman" panose="02020603050405020304" pitchFamily="18" charset="0"/>
                <a:ea typeface="MS Mincho" panose="02020609040205080304" pitchFamily="49" charset="-128"/>
              </a:rPr>
              <a:t>Package</a:t>
            </a:r>
          </a:p>
          <a:p>
            <a:r>
              <a:rPr lang="it-IT" sz="1800" dirty="0">
                <a:effectLst/>
                <a:latin typeface="Times New Roman" panose="02020603050405020304" pitchFamily="18" charset="0"/>
                <a:ea typeface="Times New Roman" panose="02020603050405020304" pitchFamily="18" charset="0"/>
              </a:rPr>
              <a:t>Esistono altri componenti importanti per programmare in Java, come per esempio le interfacce, le annotazioni, le classi innestate, le enumerazioni, i package, i record e i moduli. Per scelta didattica si è scelto di evitare di introdurre nozioni che attualmente non sono necessarie per iniziare a programmare. Questi altri concetti verranno presentati durante la lettura di questo libro nel momento in cui il lettore dovrebbe essere pronto per apprezzarne l’utilizzo. </a:t>
            </a:r>
          </a:p>
          <a:p>
            <a:r>
              <a:rPr lang="it-IT" sz="1800" b="1" dirty="0">
                <a:effectLst/>
                <a:latin typeface="Times New Roman" panose="02020603050405020304" pitchFamily="18" charset="0"/>
                <a:ea typeface="Times New Roman" panose="02020603050405020304" pitchFamily="18" charset="0"/>
              </a:rPr>
              <a:t>[ICONA APPROFONDIMENTO 2.1]</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Tuttavia, una panoramica con qualche esempio di questi altri componenti la trovate nell’approfondimento 2.1 on line. Potete leggerla dopo aver terminato lo studio di questo capitolo.</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Anche in questo capitolo non daremo nulla per scontato, quindi anche il lettore che non ha mai programmato dovrebbe essere messo nella condizione di poter iniziare. I concetti verranno introdotti gradualmente, e solo verso la fine del capitolo, alcuni concetti saranno coperti completamente. </a:t>
            </a:r>
          </a:p>
          <a:p>
            <a:r>
              <a:rPr lang="it-IT" sz="1800" dirty="0">
                <a:effectLst/>
                <a:latin typeface="Times New Roman" panose="02020603050405020304" pitchFamily="18" charset="0"/>
                <a:ea typeface="Times New Roman" panose="02020603050405020304" pitchFamily="18" charset="0"/>
              </a:rPr>
              <a:t>Questo capitolo è strutturato in tre parti distinte. La prima si occupa di definire alcuni concetti di base della programmazione. La seconda è dedicata alla spiegazione dei componenti fondamentali di dei programmi Java. La terza invece introduce il concetto di package.</a:t>
            </a:r>
          </a:p>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27</a:t>
            </a:fld>
            <a:endParaRPr lang="it-IT"/>
          </a:p>
        </p:txBody>
      </p:sp>
    </p:spTree>
    <p:extLst>
      <p:ext uri="{BB962C8B-B14F-4D97-AF65-F5344CB8AC3E}">
        <p14:creationId xmlns:p14="http://schemas.microsoft.com/office/powerpoint/2010/main" val="1947854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it-IT"/>
              <a:t>Claudio De Sio Cesari: NJ-oo1</a:t>
            </a:r>
            <a:endParaRPr lang="it-IT" dirty="0"/>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120733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e contenut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it-IT"/>
              <a:t>Claudio De Sio Cesari: NJ-oo1</a:t>
            </a:r>
            <a:endParaRPr lang="it-IT" dirty="0"/>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3458091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9"/>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NJ-oo1</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EA83E0A8-4958-4553-8C1A-CC59A6ABE123}" type="slidenum">
              <a:rPr lang="it-IT" smtClean="0"/>
              <a:pPr/>
              <a:t>‹N›</a:t>
            </a:fld>
            <a:endParaRPr lang="it-IT"/>
          </a:p>
        </p:txBody>
      </p:sp>
    </p:spTree>
    <p:extLst>
      <p:ext uri="{BB962C8B-B14F-4D97-AF65-F5344CB8AC3E}">
        <p14:creationId xmlns:p14="http://schemas.microsoft.com/office/powerpoint/2010/main" val="3436973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67430" y="476590"/>
            <a:ext cx="8229600" cy="1252728"/>
          </a:xfrm>
        </p:spPr>
        <p:txBody>
          <a:bodyPr/>
          <a:lstStyle>
            <a:lvl1pPr algn="l">
              <a:defRPr sz="1800">
                <a:solidFill>
                  <a:srgbClr val="C00000"/>
                </a:solidFill>
              </a:defRPr>
            </a:lvl1pPr>
            <a:extLst/>
          </a:lstStyle>
          <a:p>
            <a:r>
              <a:rPr kumimoji="0" lang="it-IT" dirty="0"/>
              <a:t>Fare clic per modificare lo stile del titolo</a:t>
            </a:r>
            <a:endParaRPr kumimoji="0" lang="en-US" dirty="0"/>
          </a:p>
        </p:txBody>
      </p:sp>
      <p:sp>
        <p:nvSpPr>
          <p:cNvPr id="3" name="Segnaposto contenuto 2"/>
          <p:cNvSpPr>
            <a:spLocks noGrp="1"/>
          </p:cNvSpPr>
          <p:nvPr>
            <p:ph idx="1"/>
          </p:nvPr>
        </p:nvSpPr>
        <p:spPr/>
        <p:txBody>
          <a:bodyPr/>
          <a:lstStyle>
            <a:lvl1pPr>
              <a:defRPr sz="1600"/>
            </a:lvl1pPr>
            <a:lvl2pPr>
              <a:defRPr sz="1600"/>
            </a:lvl2pPr>
            <a:lvl3pPr>
              <a:defRPr sz="1600"/>
            </a:lvl3pPr>
            <a:lvl4pPr>
              <a:defRPr sz="1600"/>
            </a:lvl4pPr>
            <a:lvl5pPr>
              <a:defRPr sz="1600"/>
            </a:lvl5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kumimoji="0" lang="en-US" dirty="0"/>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NJ-oo1</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A47CFDED-9124-48F1-BBFC-49CD505FB6D3}" type="slidenum">
              <a:rPr lang="it-IT" smtClean="0"/>
              <a:pPr/>
              <a:t>‹N›</a:t>
            </a:fld>
            <a:endParaRPr lang="it-IT"/>
          </a:p>
        </p:txBody>
      </p:sp>
    </p:spTree>
    <p:extLst>
      <p:ext uri="{BB962C8B-B14F-4D97-AF65-F5344CB8AC3E}">
        <p14:creationId xmlns:p14="http://schemas.microsoft.com/office/powerpoint/2010/main" val="3811523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a:xfrm>
            <a:off x="457200" y="6448345"/>
            <a:ext cx="2133600" cy="365125"/>
          </a:xfrm>
        </p:spPr>
        <p:txBody>
          <a:bodyPr/>
          <a:lstStyle>
            <a:lvl1pPr>
              <a:defRPr/>
            </a:lvl1pPr>
          </a:lstStyle>
          <a:p>
            <a:pPr>
              <a:defRPr/>
            </a:pPr>
            <a:r>
              <a:rPr lang="it-IT"/>
              <a:t>20/03/2012</a:t>
            </a:r>
          </a:p>
        </p:txBody>
      </p:sp>
      <p:sp>
        <p:nvSpPr>
          <p:cNvPr id="3" name="Segnaposto piè di pagina 4"/>
          <p:cNvSpPr>
            <a:spLocks noGrp="1"/>
          </p:cNvSpPr>
          <p:nvPr>
            <p:ph type="ftr" sz="quarter" idx="11"/>
          </p:nvPr>
        </p:nvSpPr>
        <p:spPr>
          <a:xfrm>
            <a:off x="3124200" y="6448345"/>
            <a:ext cx="2895600" cy="365125"/>
          </a:xfrm>
        </p:spPr>
        <p:txBody>
          <a:bodyPr/>
          <a:lstStyle>
            <a:lvl1pPr>
              <a:defRPr/>
            </a:lvl1pPr>
          </a:lstStyle>
          <a:p>
            <a:pPr>
              <a:defRPr/>
            </a:pPr>
            <a:r>
              <a:rPr lang="it-IT"/>
              <a:t>Claudio De Sio Cesari: NJ-oo1</a:t>
            </a:r>
            <a:endParaRPr lang="it-IT" dirty="0"/>
          </a:p>
        </p:txBody>
      </p:sp>
      <p:sp>
        <p:nvSpPr>
          <p:cNvPr id="4" name="Segnaposto numero diapositiva 5"/>
          <p:cNvSpPr>
            <a:spLocks noGrp="1"/>
          </p:cNvSpPr>
          <p:nvPr>
            <p:ph type="sldNum" sz="quarter" idx="12"/>
          </p:nvPr>
        </p:nvSpPr>
        <p:spPr>
          <a:xfrm>
            <a:off x="6553200" y="6448345"/>
            <a:ext cx="2133600" cy="365125"/>
          </a:xfrm>
        </p:spPr>
        <p:txBody>
          <a:bodyPr/>
          <a:lstStyle>
            <a:lvl1pPr>
              <a:defRPr/>
            </a:lvl1pPr>
          </a:lstStyle>
          <a:p>
            <a:pPr>
              <a:defRPr/>
            </a:pPr>
            <a:fld id="{D7110DCC-F880-45A0-B38F-83BA2DDD42DF}" type="slidenum">
              <a:rPr lang="it-IT"/>
              <a:pPr>
                <a:defRPr/>
              </a:pPr>
              <a:t>‹N›</a:t>
            </a:fld>
            <a:endParaRPr lang="it-IT"/>
          </a:p>
        </p:txBody>
      </p:sp>
    </p:spTree>
    <p:extLst>
      <p:ext uri="{BB962C8B-B14F-4D97-AF65-F5344CB8AC3E}">
        <p14:creationId xmlns:p14="http://schemas.microsoft.com/office/powerpoint/2010/main" val="1303194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 personalizza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3"/>
          <p:cNvSpPr>
            <a:spLocks noGrp="1"/>
          </p:cNvSpPr>
          <p:nvPr>
            <p:ph type="dt" sz="half" idx="10"/>
          </p:nvPr>
        </p:nvSpPr>
        <p:spPr>
          <a:xfrm>
            <a:off x="457200" y="6448345"/>
            <a:ext cx="2133600" cy="365125"/>
          </a:xfrm>
        </p:spPr>
        <p:txBody>
          <a:bodyPr/>
          <a:lstStyle>
            <a:lvl1pPr>
              <a:defRPr/>
            </a:lvl1pPr>
          </a:lstStyle>
          <a:p>
            <a:pPr>
              <a:defRPr/>
            </a:pPr>
            <a:r>
              <a:rPr lang="it-IT"/>
              <a:t>20/03/2012</a:t>
            </a:r>
          </a:p>
        </p:txBody>
      </p:sp>
      <p:sp>
        <p:nvSpPr>
          <p:cNvPr id="4" name="Segnaposto piè di pagina 4"/>
          <p:cNvSpPr>
            <a:spLocks noGrp="1"/>
          </p:cNvSpPr>
          <p:nvPr>
            <p:ph type="ftr" sz="quarter" idx="11"/>
          </p:nvPr>
        </p:nvSpPr>
        <p:spPr>
          <a:xfrm>
            <a:off x="3124200" y="6448345"/>
            <a:ext cx="2895600" cy="365125"/>
          </a:xfrm>
        </p:spPr>
        <p:txBody>
          <a:bodyPr/>
          <a:lstStyle>
            <a:lvl1pPr>
              <a:defRPr/>
            </a:lvl1pPr>
          </a:lstStyle>
          <a:p>
            <a:pPr>
              <a:defRPr/>
            </a:pPr>
            <a:r>
              <a:rPr lang="it-IT"/>
              <a:t>Claudio De Sio Cesari: NJ-oo1</a:t>
            </a:r>
            <a:endParaRPr lang="it-IT" dirty="0"/>
          </a:p>
        </p:txBody>
      </p:sp>
      <p:sp>
        <p:nvSpPr>
          <p:cNvPr id="5" name="Segnaposto numero diapositiva 5"/>
          <p:cNvSpPr>
            <a:spLocks noGrp="1"/>
          </p:cNvSpPr>
          <p:nvPr>
            <p:ph type="sldNum" sz="quarter" idx="12"/>
          </p:nvPr>
        </p:nvSpPr>
        <p:spPr>
          <a:xfrm>
            <a:off x="6553200" y="6448345"/>
            <a:ext cx="2133600" cy="365125"/>
          </a:xfrm>
        </p:spPr>
        <p:txBody>
          <a:bodyPr/>
          <a:lstStyle>
            <a:lvl1pPr>
              <a:defRPr/>
            </a:lvl1pPr>
          </a:lstStyle>
          <a:p>
            <a:pPr>
              <a:defRPr/>
            </a:pPr>
            <a:fld id="{EAFDC1E0-E1FA-475B-A781-6647668C09E3}" type="slidenum">
              <a:rPr lang="it-IT"/>
              <a:pPr>
                <a:defRPr/>
              </a:pPr>
              <a:t>‹N›</a:t>
            </a:fld>
            <a:endParaRPr lang="it-IT"/>
          </a:p>
        </p:txBody>
      </p:sp>
    </p:spTree>
    <p:extLst>
      <p:ext uri="{BB962C8B-B14F-4D97-AF65-F5344CB8AC3E}">
        <p14:creationId xmlns:p14="http://schemas.microsoft.com/office/powerpoint/2010/main" val="1604631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lvl1pPr>
              <a:defRPr/>
            </a:lvl1pPr>
          </a:lstStyle>
          <a:p>
            <a:pPr>
              <a:defRPr/>
            </a:pPr>
            <a:r>
              <a:rPr lang="it-IT"/>
              <a:t>20/03/2012</a:t>
            </a:r>
          </a:p>
        </p:txBody>
      </p:sp>
      <p:sp>
        <p:nvSpPr>
          <p:cNvPr id="5" name="Segnaposto piè di pagina 4"/>
          <p:cNvSpPr>
            <a:spLocks noGrp="1"/>
          </p:cNvSpPr>
          <p:nvPr>
            <p:ph type="ftr" sz="quarter" idx="11"/>
          </p:nvPr>
        </p:nvSpPr>
        <p:spPr/>
        <p:txBody>
          <a:bodyPr/>
          <a:lstStyle>
            <a:lvl1pPr>
              <a:defRPr/>
            </a:lvl1pPr>
          </a:lstStyle>
          <a:p>
            <a:pPr>
              <a:defRPr/>
            </a:pPr>
            <a:r>
              <a:rPr lang="it-IT"/>
              <a:t>Claudio De Sio Cesari: NJ-oo1</a:t>
            </a:r>
            <a:endParaRPr lang="it-IT" dirty="0"/>
          </a:p>
        </p:txBody>
      </p:sp>
      <p:sp>
        <p:nvSpPr>
          <p:cNvPr id="6" name="Segnaposto numero diapositiva 5"/>
          <p:cNvSpPr>
            <a:spLocks noGrp="1"/>
          </p:cNvSpPr>
          <p:nvPr>
            <p:ph type="sldNum" sz="quarter" idx="12"/>
          </p:nvPr>
        </p:nvSpPr>
        <p:spPr/>
        <p:txBody>
          <a:bodyPr/>
          <a:lstStyle>
            <a:lvl1pPr>
              <a:defRPr/>
            </a:lvl1pPr>
          </a:lstStyle>
          <a:p>
            <a:pPr>
              <a:defRPr/>
            </a:pPr>
            <a:fld id="{23931951-706E-4828-A5DF-A5F618EB3661}" type="slidenum">
              <a:rPr lang="it-IT"/>
              <a:pPr>
                <a:defRPr/>
              </a:pPr>
              <a:t>‹N›</a:t>
            </a:fld>
            <a:endParaRPr lang="it-IT"/>
          </a:p>
        </p:txBody>
      </p:sp>
    </p:spTree>
    <p:extLst>
      <p:ext uri="{BB962C8B-B14F-4D97-AF65-F5344CB8AC3E}">
        <p14:creationId xmlns:p14="http://schemas.microsoft.com/office/powerpoint/2010/main" val="1944746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2"/>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lvl1pPr>
              <a:defRPr/>
            </a:lvl1pPr>
          </a:lstStyle>
          <a:p>
            <a:pPr>
              <a:defRPr/>
            </a:pPr>
            <a:r>
              <a:rPr lang="it-IT"/>
              <a:t>20/03/2012</a:t>
            </a:r>
          </a:p>
        </p:txBody>
      </p:sp>
      <p:sp>
        <p:nvSpPr>
          <p:cNvPr id="5" name="Segnaposto piè di pagina 4"/>
          <p:cNvSpPr>
            <a:spLocks noGrp="1"/>
          </p:cNvSpPr>
          <p:nvPr>
            <p:ph type="ftr" sz="quarter" idx="11"/>
          </p:nvPr>
        </p:nvSpPr>
        <p:spPr/>
        <p:txBody>
          <a:bodyPr/>
          <a:lstStyle>
            <a:lvl1pPr>
              <a:defRPr/>
            </a:lvl1pPr>
          </a:lstStyle>
          <a:p>
            <a:pPr>
              <a:defRPr/>
            </a:pPr>
            <a:r>
              <a:rPr lang="it-IT"/>
              <a:t>Claudio De Sio Cesari: NJ-oo1</a:t>
            </a:r>
            <a:endParaRPr lang="it-IT" dirty="0"/>
          </a:p>
        </p:txBody>
      </p:sp>
      <p:sp>
        <p:nvSpPr>
          <p:cNvPr id="6" name="Segnaposto numero diapositiva 5"/>
          <p:cNvSpPr>
            <a:spLocks noGrp="1"/>
          </p:cNvSpPr>
          <p:nvPr>
            <p:ph type="sldNum" sz="quarter" idx="12"/>
          </p:nvPr>
        </p:nvSpPr>
        <p:spPr/>
        <p:txBody>
          <a:bodyPr/>
          <a:lstStyle>
            <a:lvl1pPr>
              <a:defRPr/>
            </a:lvl1pPr>
          </a:lstStyle>
          <a:p>
            <a:pPr>
              <a:defRPr/>
            </a:pPr>
            <a:fld id="{E38AB037-F906-4F18-AB42-E6112392815B}" type="slidenum">
              <a:rPr lang="it-IT"/>
              <a:pPr>
                <a:defRPr/>
              </a:pPr>
              <a:t>‹N›</a:t>
            </a:fld>
            <a:endParaRPr lang="it-IT"/>
          </a:p>
        </p:txBody>
      </p:sp>
    </p:spTree>
    <p:extLst>
      <p:ext uri="{BB962C8B-B14F-4D97-AF65-F5344CB8AC3E}">
        <p14:creationId xmlns:p14="http://schemas.microsoft.com/office/powerpoint/2010/main" val="712030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3"/>
          <p:cNvSpPr>
            <a:spLocks noGrp="1"/>
          </p:cNvSpPr>
          <p:nvPr>
            <p:ph type="dt" sz="half" idx="10"/>
          </p:nvPr>
        </p:nvSpPr>
        <p:spPr/>
        <p:txBody>
          <a:bodyPr/>
          <a:lstStyle>
            <a:lvl1pPr>
              <a:defRPr/>
            </a:lvl1pPr>
          </a:lstStyle>
          <a:p>
            <a:pPr>
              <a:defRPr/>
            </a:pPr>
            <a:r>
              <a:rPr lang="it-IT"/>
              <a:t>20/03/2012</a:t>
            </a:r>
          </a:p>
        </p:txBody>
      </p:sp>
      <p:sp>
        <p:nvSpPr>
          <p:cNvPr id="6" name="Segnaposto piè di pagina 4"/>
          <p:cNvSpPr>
            <a:spLocks noGrp="1"/>
          </p:cNvSpPr>
          <p:nvPr>
            <p:ph type="ftr" sz="quarter" idx="11"/>
          </p:nvPr>
        </p:nvSpPr>
        <p:spPr/>
        <p:txBody>
          <a:bodyPr/>
          <a:lstStyle>
            <a:lvl1pPr>
              <a:defRPr/>
            </a:lvl1pPr>
          </a:lstStyle>
          <a:p>
            <a:pPr>
              <a:defRPr/>
            </a:pPr>
            <a:r>
              <a:rPr lang="it-IT"/>
              <a:t>Claudio De Sio Cesari: NJ-oo1</a:t>
            </a:r>
            <a:endParaRPr lang="it-IT" dirty="0"/>
          </a:p>
        </p:txBody>
      </p:sp>
      <p:sp>
        <p:nvSpPr>
          <p:cNvPr id="7" name="Segnaposto numero diapositiva 5"/>
          <p:cNvSpPr>
            <a:spLocks noGrp="1"/>
          </p:cNvSpPr>
          <p:nvPr>
            <p:ph type="sldNum" sz="quarter" idx="12"/>
          </p:nvPr>
        </p:nvSpPr>
        <p:spPr/>
        <p:txBody>
          <a:bodyPr/>
          <a:lstStyle>
            <a:lvl1pPr>
              <a:defRPr/>
            </a:lvl1pPr>
          </a:lstStyle>
          <a:p>
            <a:pPr>
              <a:defRPr/>
            </a:pPr>
            <a:fld id="{1B333BF1-6409-4282-97C2-A463B03E8B60}" type="slidenum">
              <a:rPr lang="it-IT"/>
              <a:pPr>
                <a:defRPr/>
              </a:pPr>
              <a:t>‹N›</a:t>
            </a:fld>
            <a:endParaRPr lang="it-IT"/>
          </a:p>
        </p:txBody>
      </p:sp>
    </p:spTree>
    <p:extLst>
      <p:ext uri="{BB962C8B-B14F-4D97-AF65-F5344CB8AC3E}">
        <p14:creationId xmlns:p14="http://schemas.microsoft.com/office/powerpoint/2010/main" val="4077066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pt-BR">
                <a:solidFill>
                  <a:prstClr val="black">
                    <a:tint val="75000"/>
                  </a:prstClr>
                </a:solidFill>
              </a:rPr>
              <a:t>Claudio De Sio Cesari: NJ-oo1</a:t>
            </a:r>
            <a:endParaRPr lang="it-IT">
              <a:solidFill>
                <a:prstClr val="black">
                  <a:tint val="75000"/>
                </a:prstClr>
              </a:solidFill>
            </a:endParaRPr>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pPr/>
              <a:t>‹N›</a:t>
            </a:fld>
            <a:endParaRPr lang="it-IT"/>
          </a:p>
        </p:txBody>
      </p:sp>
    </p:spTree>
    <p:extLst>
      <p:ext uri="{BB962C8B-B14F-4D97-AF65-F5344CB8AC3E}">
        <p14:creationId xmlns:p14="http://schemas.microsoft.com/office/powerpoint/2010/main" val="1366589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contenut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pt-BR">
                <a:solidFill>
                  <a:prstClr val="black">
                    <a:tint val="75000"/>
                  </a:prstClr>
                </a:solidFill>
              </a:rPr>
              <a:t>Claudio De Sio Cesari: NJ-oo1</a:t>
            </a:r>
            <a:endParaRPr lang="it-IT">
              <a:solidFill>
                <a:prstClr val="black">
                  <a:tint val="75000"/>
                </a:prstClr>
              </a:solidFill>
            </a:endParaRPr>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pPr/>
              <a:t>‹N›</a:t>
            </a:fld>
            <a:endParaRPr lang="it-IT"/>
          </a:p>
        </p:txBody>
      </p:sp>
    </p:spTree>
    <p:extLst>
      <p:ext uri="{BB962C8B-B14F-4D97-AF65-F5344CB8AC3E}">
        <p14:creationId xmlns:p14="http://schemas.microsoft.com/office/powerpoint/2010/main" val="3519824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9"/>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NJ-oo1</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EA83E0A8-4958-4553-8C1A-CC59A6ABE123}" type="slidenum">
              <a:rPr lang="it-IT" smtClean="0"/>
              <a:pPr/>
              <a:t>‹N›</a:t>
            </a:fld>
            <a:endParaRPr lang="it-IT"/>
          </a:p>
        </p:txBody>
      </p:sp>
    </p:spTree>
    <p:extLst>
      <p:ext uri="{BB962C8B-B14F-4D97-AF65-F5344CB8AC3E}">
        <p14:creationId xmlns:p14="http://schemas.microsoft.com/office/powerpoint/2010/main" val="3436973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57200" y="376022"/>
            <a:ext cx="8229600" cy="1252728"/>
          </a:xfrm>
        </p:spPr>
        <p:txBody>
          <a:bodyPr/>
          <a:lstStyle>
            <a:lvl1pPr algn="l">
              <a:defRPr sz="1800"/>
            </a:lvl1pPr>
            <a:extLst/>
          </a:lstStyle>
          <a:p>
            <a:r>
              <a:rPr kumimoji="0" lang="it-IT" dirty="0"/>
              <a:t>Fare clic per modificare lo stile del titolo</a:t>
            </a:r>
            <a:endParaRPr kumimoji="0" lang="en-US" dirty="0"/>
          </a:p>
        </p:txBody>
      </p:sp>
      <p:sp>
        <p:nvSpPr>
          <p:cNvPr id="3" name="Segnaposto contenuto 2"/>
          <p:cNvSpPr>
            <a:spLocks noGrp="1"/>
          </p:cNvSpPr>
          <p:nvPr>
            <p:ph idx="1"/>
          </p:nvPr>
        </p:nvSpPr>
        <p:spPr/>
        <p:txBody>
          <a:bodyPr/>
          <a:lstStyle>
            <a:lvl1pPr>
              <a:defRPr sz="1600"/>
            </a:lvl1pPr>
            <a:lvl2pPr>
              <a:defRPr sz="1600"/>
            </a:lvl2pPr>
            <a:lvl3pPr>
              <a:defRPr sz="1600"/>
            </a:lvl3pPr>
            <a:lvl4pPr>
              <a:defRPr sz="1600"/>
            </a:lvl4pPr>
            <a:lvl5pPr>
              <a:defRPr sz="1600"/>
            </a:lvl5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kumimoji="0" lang="en-US" dirty="0"/>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NJ-oo1</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A47CFDED-9124-48F1-BBFC-49CD505FB6D3}" type="slidenum">
              <a:rPr lang="it-IT" smtClean="0"/>
              <a:pPr/>
              <a:t>‹N›</a:t>
            </a:fld>
            <a:endParaRPr lang="it-IT"/>
          </a:p>
        </p:txBody>
      </p:sp>
    </p:spTree>
    <p:extLst>
      <p:ext uri="{BB962C8B-B14F-4D97-AF65-F5344CB8AC3E}">
        <p14:creationId xmlns:p14="http://schemas.microsoft.com/office/powerpoint/2010/main" val="3811523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4464028"/>
            <a:ext cx="6858000" cy="1194650"/>
          </a:xfrm>
        </p:spPr>
        <p:txBody>
          <a:bodyPr wrap="none" anchor="t">
            <a:normAutofit/>
          </a:bodyPr>
          <a:lstStyle>
            <a:lvl1pPr algn="r">
              <a:defRPr sz="7200" b="0" spc="-225">
                <a:gradFill flip="none" rotWithShape="1">
                  <a:gsLst>
                    <a:gs pos="32000">
                      <a:schemeClr val="tx1">
                        <a:lumMod val="89000"/>
                      </a:schemeClr>
                    </a:gs>
                    <a:gs pos="100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it-IT"/>
              <a:t>Fare clic per modificare lo stile del titolo</a:t>
            </a:r>
            <a:endParaRPr lang="en-US" dirty="0"/>
          </a:p>
        </p:txBody>
      </p:sp>
      <p:sp>
        <p:nvSpPr>
          <p:cNvPr id="3" name="Subtitle 2"/>
          <p:cNvSpPr>
            <a:spLocks noGrp="1"/>
          </p:cNvSpPr>
          <p:nvPr>
            <p:ph type="subTitle" idx="1"/>
          </p:nvPr>
        </p:nvSpPr>
        <p:spPr>
          <a:xfrm>
            <a:off x="1657349" y="3829878"/>
            <a:ext cx="6858000" cy="618523"/>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endParaRPr lang="en-US" dirty="0"/>
          </a:p>
        </p:txBody>
      </p:sp>
      <p:sp>
        <p:nvSpPr>
          <p:cNvPr id="7" name="Date Placeholder 6"/>
          <p:cNvSpPr>
            <a:spLocks noGrp="1"/>
          </p:cNvSpPr>
          <p:nvPr>
            <p:ph type="dt" sz="half" idx="10"/>
          </p:nvPr>
        </p:nvSpPr>
        <p:spPr/>
        <p:txBody>
          <a:bodyPr/>
          <a:lstStyle/>
          <a:p>
            <a:r>
              <a:rPr lang="it-IT"/>
              <a:t>20/03/2012</a:t>
            </a:r>
          </a:p>
        </p:txBody>
      </p:sp>
      <p:sp>
        <p:nvSpPr>
          <p:cNvPr id="8" name="Footer Placeholder 7"/>
          <p:cNvSpPr>
            <a:spLocks noGrp="1"/>
          </p:cNvSpPr>
          <p:nvPr>
            <p:ph type="ftr" sz="quarter" idx="11"/>
          </p:nvPr>
        </p:nvSpPr>
        <p:spPr/>
        <p:txBody>
          <a:bodyPr/>
          <a:lstStyle/>
          <a:p>
            <a:r>
              <a:rPr lang="it-IT"/>
              <a:t>Claudio De Sio Cesari: NJ-oo1</a:t>
            </a:r>
            <a:endParaRPr lang="it-IT" dirty="0"/>
          </a:p>
        </p:txBody>
      </p:sp>
      <p:sp>
        <p:nvSpPr>
          <p:cNvPr id="9" name="Slide Number Placeholder 8"/>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722980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it-IT"/>
              <a:t>Fare clic per modificare lo stile del titolo</a:t>
            </a:r>
            <a:endParaRPr lang="en-US" dirty="0"/>
          </a:p>
        </p:txBody>
      </p:sp>
      <p:sp>
        <p:nvSpPr>
          <p:cNvPr id="3" name="Content Placeholder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NJ-oo1</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783283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7" name="Title 1"/>
          <p:cNvSpPr>
            <a:spLocks noGrp="1"/>
          </p:cNvSpPr>
          <p:nvPr>
            <p:ph type="ctrTitle"/>
          </p:nvPr>
        </p:nvSpPr>
        <p:spPr>
          <a:xfrm>
            <a:off x="640899" y="4464028"/>
            <a:ext cx="6858000" cy="1194650"/>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it-IT"/>
              <a:t>Fare clic per modificare lo stile del titolo</a:t>
            </a:r>
            <a:endParaRPr lang="en-US" dirty="0"/>
          </a:p>
        </p:txBody>
      </p:sp>
      <p:sp>
        <p:nvSpPr>
          <p:cNvPr id="8" name="Subtitle 2"/>
          <p:cNvSpPr>
            <a:spLocks noGrp="1"/>
          </p:cNvSpPr>
          <p:nvPr>
            <p:ph type="subTitle" idx="1"/>
          </p:nvPr>
        </p:nvSpPr>
        <p:spPr>
          <a:xfrm>
            <a:off x="640899" y="3829878"/>
            <a:ext cx="6858000" cy="617822"/>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NJ-oo1</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4209286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Content Placeholder 2"/>
          <p:cNvSpPr>
            <a:spLocks noGrp="1"/>
          </p:cNvSpPr>
          <p:nvPr>
            <p:ph sz="half" idx="1"/>
          </p:nvPr>
        </p:nvSpPr>
        <p:spPr>
          <a:xfrm>
            <a:off x="840000" y="1825625"/>
            <a:ext cx="3768912"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4739880" y="1825625"/>
            <a:ext cx="377547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NJ-oo1</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948785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it-IT"/>
              <a:t>Fare clic per modificare lo stile del titolo</a:t>
            </a:r>
            <a:endParaRPr lang="en-US" dirty="0"/>
          </a:p>
        </p:txBody>
      </p:sp>
      <p:sp>
        <p:nvSpPr>
          <p:cNvPr id="3" name="Text Placeholder 2"/>
          <p:cNvSpPr>
            <a:spLocks noGrp="1"/>
          </p:cNvSpPr>
          <p:nvPr>
            <p:ph type="body" idx="1"/>
          </p:nvPr>
        </p:nvSpPr>
        <p:spPr>
          <a:xfrm>
            <a:off x="840000" y="1681163"/>
            <a:ext cx="3768912" cy="823912"/>
          </a:xfrm>
        </p:spPr>
        <p:txBody>
          <a:bodyPr anchor="b">
            <a:normAutofit/>
          </a:bodyPr>
          <a:lstStyle>
            <a:lvl1pPr marL="0" indent="0">
              <a:buNone/>
              <a:defRPr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4" name="Content Placeholder 3"/>
          <p:cNvSpPr>
            <a:spLocks noGrp="1"/>
          </p:cNvSpPr>
          <p:nvPr>
            <p:ph sz="half" idx="2"/>
          </p:nvPr>
        </p:nvSpPr>
        <p:spPr>
          <a:xfrm>
            <a:off x="840000" y="2505075"/>
            <a:ext cx="3768912"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4739880" y="1681163"/>
            <a:ext cx="3776661" cy="823912"/>
          </a:xfrm>
        </p:spPr>
        <p:txBody>
          <a:bodyPr vert="horz" lIns="91440" tIns="45720" rIns="91440" bIns="45720" rtlCol="0" anchor="b">
            <a:normAutofit/>
          </a:bodyPr>
          <a:lstStyle>
            <a:lvl1pPr>
              <a:buNone/>
              <a:defRPr lang="en-US"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6" name="Content Placeholder 5"/>
          <p:cNvSpPr>
            <a:spLocks noGrp="1"/>
          </p:cNvSpPr>
          <p:nvPr>
            <p:ph sz="quarter" idx="4"/>
          </p:nvPr>
        </p:nvSpPr>
        <p:spPr>
          <a:xfrm>
            <a:off x="4739880" y="2505075"/>
            <a:ext cx="3776661"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r>
              <a:rPr lang="it-IT"/>
              <a:t>20/03/2012</a:t>
            </a:r>
          </a:p>
        </p:txBody>
      </p:sp>
      <p:sp>
        <p:nvSpPr>
          <p:cNvPr id="8" name="Footer Placeholder 7"/>
          <p:cNvSpPr>
            <a:spLocks noGrp="1"/>
          </p:cNvSpPr>
          <p:nvPr>
            <p:ph type="ftr" sz="quarter" idx="11"/>
          </p:nvPr>
        </p:nvSpPr>
        <p:spPr/>
        <p:txBody>
          <a:bodyPr/>
          <a:lstStyle/>
          <a:p>
            <a:r>
              <a:rPr lang="it-IT"/>
              <a:t>Claudio De Sio Cesari: NJ-oo1</a:t>
            </a:r>
            <a:endParaRPr lang="it-IT" dirty="0"/>
          </a:p>
        </p:txBody>
      </p:sp>
      <p:sp>
        <p:nvSpPr>
          <p:cNvPr id="9" name="Slide Number Placeholder 8"/>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329445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NJ-oo1</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6053460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it-IT"/>
              <a:t>20/03/2012</a:t>
            </a:r>
          </a:p>
        </p:txBody>
      </p:sp>
      <p:sp>
        <p:nvSpPr>
          <p:cNvPr id="3" name="Footer Placeholder 2"/>
          <p:cNvSpPr>
            <a:spLocks noGrp="1"/>
          </p:cNvSpPr>
          <p:nvPr>
            <p:ph type="ftr" sz="quarter" idx="11"/>
          </p:nvPr>
        </p:nvSpPr>
        <p:spPr/>
        <p:txBody>
          <a:bodyPr/>
          <a:lstStyle/>
          <a:p>
            <a:r>
              <a:rPr lang="it-IT"/>
              <a:t>Claudio De Sio Cesari: NJ-oo1</a:t>
            </a:r>
            <a:endParaRPr lang="it-IT" dirty="0"/>
          </a:p>
        </p:txBody>
      </p:sp>
      <p:sp>
        <p:nvSpPr>
          <p:cNvPr id="4" name="Slide Number Placeholder 3"/>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85113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a:t>
            </a:r>
            <a:endParaRPr lang="en-US" dirty="0"/>
          </a:p>
        </p:txBody>
      </p:sp>
      <p:sp>
        <p:nvSpPr>
          <p:cNvPr id="3" name="Content Placeholder 2"/>
          <p:cNvSpPr>
            <a:spLocks noGrp="1"/>
          </p:cNvSpPr>
          <p:nvPr>
            <p:ph idx="1"/>
          </p:nvPr>
        </p:nvSpPr>
        <p:spPr>
          <a:xfrm>
            <a:off x="3887391" y="987426"/>
            <a:ext cx="4629150" cy="4873625"/>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NJ-oo1</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993330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it-IT"/>
              <a:t>Fare clic sull'icona per inserire un'immagine</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NJ-oo1</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072349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367161"/>
            <a:ext cx="7886700" cy="819355"/>
          </a:xfrm>
        </p:spPr>
        <p:txBody>
          <a:bodyPr anchor="b"/>
          <a:lstStyle>
            <a:lvl1pPr>
              <a:defRPr sz="2400"/>
            </a:lvl1pPr>
          </a:lstStyle>
          <a:p>
            <a:r>
              <a:rPr lang="it-IT"/>
              <a:t>Fare clic per modificare lo stile del titolo</a:t>
            </a:r>
            <a:endParaRPr lang="en-US" dirty="0"/>
          </a:p>
        </p:txBody>
      </p:sp>
      <p:sp>
        <p:nvSpPr>
          <p:cNvPr id="3" name="Picture Placeholder 2"/>
          <p:cNvSpPr>
            <a:spLocks noGrp="1" noChangeAspect="1"/>
          </p:cNvSpPr>
          <p:nvPr>
            <p:ph type="pic" idx="1"/>
          </p:nvPr>
        </p:nvSpPr>
        <p:spPr>
          <a:xfrm>
            <a:off x="629841" y="987426"/>
            <a:ext cx="78867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it-IT"/>
              <a:t>Fare clic sull'icona per inserire un'immagine</a:t>
            </a:r>
            <a:endParaRPr lang="en-US" dirty="0"/>
          </a:p>
        </p:txBody>
      </p:sp>
      <p:sp>
        <p:nvSpPr>
          <p:cNvPr id="4" name="Text Placeholder 3"/>
          <p:cNvSpPr>
            <a:spLocks noGrp="1"/>
          </p:cNvSpPr>
          <p:nvPr>
            <p:ph type="body" sz="half" idx="2"/>
          </p:nvPr>
        </p:nvSpPr>
        <p:spPr>
          <a:xfrm>
            <a:off x="629841" y="5186516"/>
            <a:ext cx="7885509"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NJ-oo1</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40477078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3534344"/>
          </a:xfrm>
        </p:spPr>
        <p:txBody>
          <a:bodyPr anchor="ctr"/>
          <a:lstStyle>
            <a:lvl1pPr>
              <a:defRPr sz="2400"/>
            </a:lvl1pPr>
          </a:lstStyle>
          <a:p>
            <a:r>
              <a:rPr lang="it-IT"/>
              <a:t>Fare clic per modificare lo stile del titolo</a:t>
            </a:r>
            <a:endParaRPr lang="en-US" dirty="0"/>
          </a:p>
        </p:txBody>
      </p:sp>
      <p:sp>
        <p:nvSpPr>
          <p:cNvPr id="4" name="Text Placeholder 3"/>
          <p:cNvSpPr>
            <a:spLocks noGrp="1"/>
          </p:cNvSpPr>
          <p:nvPr>
            <p:ph type="body" sz="half" idx="2"/>
          </p:nvPr>
        </p:nvSpPr>
        <p:spPr>
          <a:xfrm>
            <a:off x="629841" y="4489399"/>
            <a:ext cx="7885509" cy="1501826"/>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NJ-oo1</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2220467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084659" y="365125"/>
            <a:ext cx="6977064" cy="2992904"/>
          </a:xfrm>
        </p:spPr>
        <p:txBody>
          <a:bodyPr anchor="ctr"/>
          <a:lstStyle>
            <a:lvl1pPr>
              <a:defRPr sz="3300"/>
            </a:lvl1pPr>
          </a:lstStyle>
          <a:p>
            <a:r>
              <a:rPr lang="it-IT"/>
              <a:t>Fare clic per modificare lo stile del titolo</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4" name="Text Placeholder 3"/>
          <p:cNvSpPr>
            <a:spLocks noGrp="1"/>
          </p:cNvSpPr>
          <p:nvPr>
            <p:ph type="body" sz="half" idx="2"/>
          </p:nvPr>
        </p:nvSpPr>
        <p:spPr>
          <a:xfrm>
            <a:off x="628650" y="4501729"/>
            <a:ext cx="7884318"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NJ-oo1</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
        <p:nvSpPr>
          <p:cNvPr id="9" name="TextBox 8"/>
          <p:cNvSpPr txBox="1"/>
          <p:nvPr/>
        </p:nvSpPr>
        <p:spPr>
          <a:xfrm>
            <a:off x="833283" y="7868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7828359" y="2743200"/>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19973619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629841" y="2326968"/>
            <a:ext cx="7886700" cy="2511835"/>
          </a:xfrm>
        </p:spPr>
        <p:txBody>
          <a:bodyPr anchor="b">
            <a:normAutofit/>
          </a:bodyPr>
          <a:lstStyle>
            <a:lvl1pPr>
              <a:defRPr sz="4050"/>
            </a:lvl1pPr>
          </a:lstStyle>
          <a:p>
            <a:r>
              <a:rPr lang="it-IT"/>
              <a:t>Fare clic per modificare lo stile del titolo</a:t>
            </a:r>
            <a:endParaRPr lang="en-US" dirty="0"/>
          </a:p>
        </p:txBody>
      </p:sp>
      <p:sp>
        <p:nvSpPr>
          <p:cNvPr id="4" name="Text Placeholder 3"/>
          <p:cNvSpPr>
            <a:spLocks noGrp="1"/>
          </p:cNvSpPr>
          <p:nvPr>
            <p:ph type="body" sz="half" idx="2"/>
          </p:nvPr>
        </p:nvSpPr>
        <p:spPr>
          <a:xfrm>
            <a:off x="629841" y="4850581"/>
            <a:ext cx="7885509"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NJ-oo1</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2690677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628650" y="365126"/>
            <a:ext cx="7886700" cy="1325563"/>
          </a:xfrm>
        </p:spPr>
        <p:txBody>
          <a:bodyPr/>
          <a:lstStyle/>
          <a:p>
            <a:r>
              <a:rPr lang="it-IT"/>
              <a:t>Fare clic per modificare lo stile del titolo</a:t>
            </a:r>
            <a:endParaRPr lang="en-US" dirty="0"/>
          </a:p>
        </p:txBody>
      </p:sp>
      <p:sp>
        <p:nvSpPr>
          <p:cNvPr id="7" name="Text Placeholder 2"/>
          <p:cNvSpPr>
            <a:spLocks noGrp="1"/>
          </p:cNvSpPr>
          <p:nvPr>
            <p:ph type="body" idx="1"/>
          </p:nvPr>
        </p:nvSpPr>
        <p:spPr>
          <a:xfrm>
            <a:off x="1002961" y="1885950"/>
            <a:ext cx="2210150" cy="576262"/>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8" name="Text Placeholder 3"/>
          <p:cNvSpPr>
            <a:spLocks noGrp="1"/>
          </p:cNvSpPr>
          <p:nvPr>
            <p:ph type="body" sz="half" idx="15"/>
          </p:nvPr>
        </p:nvSpPr>
        <p:spPr>
          <a:xfrm>
            <a:off x="1017598" y="2571750"/>
            <a:ext cx="2195513"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9" name="Text Placeholder 4"/>
          <p:cNvSpPr>
            <a:spLocks noGrp="1"/>
          </p:cNvSpPr>
          <p:nvPr>
            <p:ph type="body" sz="quarter" idx="3"/>
          </p:nvPr>
        </p:nvSpPr>
        <p:spPr>
          <a:xfrm>
            <a:off x="3440996" y="1885950"/>
            <a:ext cx="2202181" cy="576262"/>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10" name="Text Placeholder 3"/>
          <p:cNvSpPr>
            <a:spLocks noGrp="1"/>
          </p:cNvSpPr>
          <p:nvPr>
            <p:ph type="body" sz="half" idx="16"/>
          </p:nvPr>
        </p:nvSpPr>
        <p:spPr>
          <a:xfrm>
            <a:off x="3433081" y="2571750"/>
            <a:ext cx="2210096"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11" name="Text Placeholder 4"/>
          <p:cNvSpPr>
            <a:spLocks noGrp="1"/>
          </p:cNvSpPr>
          <p:nvPr>
            <p:ph type="body" sz="quarter" idx="13"/>
          </p:nvPr>
        </p:nvSpPr>
        <p:spPr>
          <a:xfrm>
            <a:off x="5871777" y="1885950"/>
            <a:ext cx="2199085" cy="576262"/>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12" name="Text Placeholder 3"/>
          <p:cNvSpPr>
            <a:spLocks noGrp="1"/>
          </p:cNvSpPr>
          <p:nvPr>
            <p:ph type="body" sz="half" idx="17"/>
          </p:nvPr>
        </p:nvSpPr>
        <p:spPr>
          <a:xfrm>
            <a:off x="5871777" y="2571750"/>
            <a:ext cx="2199085"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NJ-oo1</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6049755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628650" y="365126"/>
            <a:ext cx="7886700" cy="1325563"/>
          </a:xfrm>
        </p:spPr>
        <p:txBody>
          <a:bodyPr/>
          <a:lstStyle/>
          <a:p>
            <a:r>
              <a:rPr lang="it-IT"/>
              <a:t>Fare clic per modificare lo stile del titolo</a:t>
            </a:r>
            <a:endParaRPr lang="en-US" dirty="0"/>
          </a:p>
        </p:txBody>
      </p:sp>
      <p:sp>
        <p:nvSpPr>
          <p:cNvPr id="19" name="Text Placeholder 2"/>
          <p:cNvSpPr>
            <a:spLocks noGrp="1"/>
          </p:cNvSpPr>
          <p:nvPr>
            <p:ph type="body" idx="1"/>
          </p:nvPr>
        </p:nvSpPr>
        <p:spPr>
          <a:xfrm>
            <a:off x="999064" y="4297503"/>
            <a:ext cx="2205038"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0" name="Picture Placeholder 2"/>
          <p:cNvSpPr>
            <a:spLocks noGrp="1" noChangeAspect="1"/>
          </p:cNvSpPr>
          <p:nvPr>
            <p:ph type="pic" idx="15"/>
          </p:nvPr>
        </p:nvSpPr>
        <p:spPr>
          <a:xfrm>
            <a:off x="999064" y="2256354"/>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1" name="Text Placeholder 3"/>
          <p:cNvSpPr>
            <a:spLocks noGrp="1"/>
          </p:cNvSpPr>
          <p:nvPr>
            <p:ph type="body" sz="half" idx="18"/>
          </p:nvPr>
        </p:nvSpPr>
        <p:spPr>
          <a:xfrm>
            <a:off x="999064" y="4873766"/>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22" name="Text Placeholder 4"/>
          <p:cNvSpPr>
            <a:spLocks noGrp="1"/>
          </p:cNvSpPr>
          <p:nvPr>
            <p:ph type="body" sz="quarter" idx="3"/>
          </p:nvPr>
        </p:nvSpPr>
        <p:spPr>
          <a:xfrm>
            <a:off x="3426748" y="4297503"/>
            <a:ext cx="2197894"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3" name="Picture Placeholder 2"/>
          <p:cNvSpPr>
            <a:spLocks noGrp="1" noChangeAspect="1"/>
          </p:cNvSpPr>
          <p:nvPr>
            <p:ph type="pic" idx="21"/>
          </p:nvPr>
        </p:nvSpPr>
        <p:spPr>
          <a:xfrm>
            <a:off x="3426747" y="2256354"/>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4" name="Text Placeholder 3"/>
          <p:cNvSpPr>
            <a:spLocks noGrp="1"/>
          </p:cNvSpPr>
          <p:nvPr>
            <p:ph type="body" sz="half" idx="19"/>
          </p:nvPr>
        </p:nvSpPr>
        <p:spPr>
          <a:xfrm>
            <a:off x="3425733" y="4873765"/>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25" name="Text Placeholder 4"/>
          <p:cNvSpPr>
            <a:spLocks noGrp="1"/>
          </p:cNvSpPr>
          <p:nvPr>
            <p:ph type="body" sz="quarter" idx="13"/>
          </p:nvPr>
        </p:nvSpPr>
        <p:spPr>
          <a:xfrm>
            <a:off x="5853242" y="4297503"/>
            <a:ext cx="2199085"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6" name="Picture Placeholder 2"/>
          <p:cNvSpPr>
            <a:spLocks noGrp="1" noChangeAspect="1"/>
          </p:cNvSpPr>
          <p:nvPr>
            <p:ph type="pic" idx="22"/>
          </p:nvPr>
        </p:nvSpPr>
        <p:spPr>
          <a:xfrm>
            <a:off x="5853241" y="2256354"/>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7" name="Text Placeholder 3"/>
          <p:cNvSpPr>
            <a:spLocks noGrp="1"/>
          </p:cNvSpPr>
          <p:nvPr>
            <p:ph type="body" sz="half" idx="20"/>
          </p:nvPr>
        </p:nvSpPr>
        <p:spPr>
          <a:xfrm>
            <a:off x="5853148" y="4873763"/>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NJ-oo1</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6833497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NJ-oo1</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1492445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it-IT"/>
              <a:t>Fare clic per modificare lo stile del titolo</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NJ-oo1</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0795878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jpe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1.jpeg"/><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heme" Target="../theme/theme4.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image" Target="../media/image3.pn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stile</a:t>
            </a:r>
          </a:p>
        </p:txBody>
      </p:sp>
      <p:sp>
        <p:nvSpPr>
          <p:cNvPr id="1027"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2"/>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111" charset="0"/>
                <a:ea typeface="ＭＳ Ｐゴシック" pitchFamily="-111" charset="-128"/>
                <a:cs typeface="+mn-cs"/>
              </a:defRPr>
            </a:lvl1pPr>
          </a:lstStyle>
          <a:p>
            <a:r>
              <a:rPr lang="it-IT"/>
              <a:t>20/03/2012</a:t>
            </a:r>
          </a:p>
        </p:txBody>
      </p:sp>
      <p:sp>
        <p:nvSpPr>
          <p:cNvPr id="5" name="Segnaposto piè di pagina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it-IT"/>
              <a:t>Claudio De Sio Cesari: NJ-oo1</a:t>
            </a:r>
            <a:endParaRPr lang="it-IT" dirty="0"/>
          </a:p>
        </p:txBody>
      </p:sp>
      <p:sp>
        <p:nvSpPr>
          <p:cNvPr id="6" name="Segnaposto numero diapositiva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111" charset="0"/>
                <a:ea typeface="ＭＳ Ｐゴシック" pitchFamily="-111" charset="-128"/>
                <a:cs typeface="+mn-cs"/>
              </a:defRPr>
            </a:lvl1pPr>
          </a:lstStyle>
          <a:p>
            <a:fld id="{EA83E0A8-4958-4553-8C1A-CC59A6ABE123}" type="slidenum">
              <a:rPr lang="it-IT" smtClean="0"/>
              <a:t>‹N›</a:t>
            </a:fld>
            <a:endParaRPr lang="it-IT"/>
          </a:p>
        </p:txBody>
      </p:sp>
      <p:pic>
        <p:nvPicPr>
          <p:cNvPr id="1031" name="Immagine 3" descr="PPT_template-06.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75" r:id="rId3"/>
    <p:sldLayoutId id="2147483676" r:id="rId4"/>
  </p:sldLayoutIdLst>
  <p:hf hdr="0" dt="0"/>
  <p:txStyles>
    <p:titleStyle>
      <a:lvl1pPr algn="ctr" defTabSz="457200" rtl="0" eaLnBrk="1" fontAlgn="base" hangingPunct="1">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lo stile del titolo</a:t>
            </a:r>
          </a:p>
        </p:txBody>
      </p:sp>
      <p:sp>
        <p:nvSpPr>
          <p:cNvPr id="2051"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smtClean="0">
                <a:solidFill>
                  <a:schemeClr val="tx1">
                    <a:tint val="75000"/>
                  </a:schemeClr>
                </a:solidFill>
                <a:ea typeface="ＭＳ Ｐゴシック" pitchFamily="-111" charset="-128"/>
                <a:cs typeface="+mn-cs"/>
              </a:defRPr>
            </a:lvl1pPr>
          </a:lstStyle>
          <a:p>
            <a:pPr>
              <a:defRPr/>
            </a:pPr>
            <a:r>
              <a:rPr lang="it-IT"/>
              <a:t>20/03/2012</a:t>
            </a:r>
          </a:p>
        </p:txBody>
      </p:sp>
      <p:sp>
        <p:nvSpPr>
          <p:cNvPr id="5" name="Segnaposto piè di pagina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ea typeface="ＭＳ Ｐゴシック" pitchFamily="-111" charset="-128"/>
                <a:cs typeface="+mn-cs"/>
              </a:defRPr>
            </a:lvl1pPr>
          </a:lstStyle>
          <a:p>
            <a:pPr>
              <a:defRPr/>
            </a:pPr>
            <a:r>
              <a:rPr lang="it-IT"/>
              <a:t>Claudio De Sio Cesari: NJ-oo1</a:t>
            </a:r>
            <a:endParaRPr lang="it-IT" dirty="0"/>
          </a:p>
        </p:txBody>
      </p:sp>
      <p:sp>
        <p:nvSpPr>
          <p:cNvPr id="6" name="Segnaposto numero diapositiva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smtClean="0">
                <a:solidFill>
                  <a:schemeClr val="tx1">
                    <a:tint val="75000"/>
                  </a:schemeClr>
                </a:solidFill>
                <a:ea typeface="ＭＳ Ｐゴシック" pitchFamily="-111" charset="-128"/>
                <a:cs typeface="+mn-cs"/>
              </a:defRPr>
            </a:lvl1pPr>
          </a:lstStyle>
          <a:p>
            <a:pPr>
              <a:defRPr/>
            </a:pPr>
            <a:fld id="{BF9AA21D-CBBF-4F18-852F-35D67877B6D0}" type="slidenum">
              <a:rPr lang="it-IT"/>
              <a:pPr>
                <a:defRPr/>
              </a:pPr>
              <a:t>‹N›</a:t>
            </a:fld>
            <a:endParaRPr lang="it-IT"/>
          </a:p>
        </p:txBody>
      </p:sp>
      <p:pic>
        <p:nvPicPr>
          <p:cNvPr id="2055" name="Immagine 3" descr="PPT_template-04-04.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 y="0"/>
            <a:ext cx="91424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stile</a:t>
            </a:r>
          </a:p>
        </p:txBody>
      </p:sp>
      <p:sp>
        <p:nvSpPr>
          <p:cNvPr id="1027"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3"/>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111" charset="0"/>
                <a:ea typeface="ＭＳ Ｐゴシック" pitchFamily="-111" charset="-128"/>
                <a:cs typeface="+mn-cs"/>
              </a:defRPr>
            </a:lvl1pPr>
          </a:lstStyle>
          <a:p>
            <a:r>
              <a:rPr lang="it-IT"/>
              <a:t>20/03/2012</a:t>
            </a:r>
          </a:p>
        </p:txBody>
      </p:sp>
      <p:sp>
        <p:nvSpPr>
          <p:cNvPr id="5" name="Segnaposto piè di pagina 4"/>
          <p:cNvSpPr>
            <a:spLocks noGrp="1"/>
          </p:cNvSpPr>
          <p:nvPr>
            <p:ph type="ftr" sz="quarter" idx="3"/>
          </p:nvPr>
        </p:nvSpPr>
        <p:spPr>
          <a:xfrm>
            <a:off x="3124200" y="6356353"/>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pt-BR">
                <a:solidFill>
                  <a:prstClr val="black">
                    <a:tint val="75000"/>
                  </a:prstClr>
                </a:solidFill>
              </a:rPr>
              <a:t>Claudio De Sio Cesari: NJ-oo1</a:t>
            </a:r>
            <a:endParaRPr lang="it-IT">
              <a:solidFill>
                <a:prstClr val="black">
                  <a:tint val="75000"/>
                </a:prstClr>
              </a:solidFill>
            </a:endParaRPr>
          </a:p>
        </p:txBody>
      </p:sp>
      <p:sp>
        <p:nvSpPr>
          <p:cNvPr id="6" name="Segnaposto numero diapositiva 5"/>
          <p:cNvSpPr>
            <a:spLocks noGrp="1"/>
          </p:cNvSpPr>
          <p:nvPr>
            <p:ph type="sldNum" sz="quarter" idx="4"/>
          </p:nvPr>
        </p:nvSpPr>
        <p:spPr>
          <a:xfrm>
            <a:off x="6553200" y="6356353"/>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111" charset="0"/>
                <a:ea typeface="ＭＳ Ｐゴシック" pitchFamily="-111" charset="-128"/>
                <a:cs typeface="+mn-cs"/>
              </a:defRPr>
            </a:lvl1pPr>
          </a:lstStyle>
          <a:p>
            <a:fld id="{EA83E0A8-4958-4553-8C1A-CC59A6ABE123}" type="slidenum">
              <a:rPr lang="it-IT" smtClean="0"/>
              <a:pPr/>
              <a:t>‹N›</a:t>
            </a:fld>
            <a:endParaRPr lang="it-IT"/>
          </a:p>
        </p:txBody>
      </p:sp>
      <p:pic>
        <p:nvPicPr>
          <p:cNvPr id="1031" name="Immagine 3" descr="PPT_template-06.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4333671"/>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Lst>
  <p:hf hdr="0" dt="0"/>
  <p:txStyles>
    <p:titleStyle>
      <a:lvl1pPr algn="ctr" defTabSz="457200" rtl="0" eaLnBrk="1" fontAlgn="base" hangingPunct="1">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l="-17000" r="-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it-IT"/>
              <a:t>Fare clic per modificare lo stile del titolo</a:t>
            </a:r>
            <a:endParaRPr lang="en-US" dirty="0"/>
          </a:p>
        </p:txBody>
      </p:sp>
      <p:sp>
        <p:nvSpPr>
          <p:cNvPr id="3" name="Text Placeholder 2"/>
          <p:cNvSpPr>
            <a:spLocks noGrp="1"/>
          </p:cNvSpPr>
          <p:nvPr>
            <p:ph type="body" idx="1"/>
          </p:nvPr>
        </p:nvSpPr>
        <p:spPr>
          <a:xfrm>
            <a:off x="840000" y="1825625"/>
            <a:ext cx="767535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it-IT"/>
              <a:t>20/03/2012</a:t>
            </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it-IT"/>
              <a:t>Claudio De Sio Cesari: NJ-oo1</a:t>
            </a:r>
            <a:endParaRPr lang="it-IT"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3813533679"/>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hf hdr="0" dt="0"/>
  <p:txStyles>
    <p:titleStyle>
      <a:lvl1pPr algn="l" defTabSz="685800" rtl="0" eaLnBrk="1" latinLnBrk="0" hangingPunct="1">
        <a:lnSpc>
          <a:spcPct val="90000"/>
        </a:lnSpc>
        <a:spcBef>
          <a:spcPct val="0"/>
        </a:spcBef>
        <a:buNone/>
        <a:defRPr sz="4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DZpS6ktvcMw&amp;ab_channel=ClaudioDeSioCesari" TargetMode="External"/><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UsUfbSac2PU&amp;ab_channel=ClaudioDeSioCesari" TargetMode="External"/><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olo 1"/>
          <p:cNvSpPr>
            <a:spLocks noGrp="1"/>
          </p:cNvSpPr>
          <p:nvPr>
            <p:ph type="ctrTitle"/>
          </p:nvPr>
        </p:nvSpPr>
        <p:spPr>
          <a:xfrm>
            <a:off x="527360" y="1052670"/>
            <a:ext cx="8077200" cy="5688790"/>
          </a:xfrm>
        </p:spPr>
        <p:txBody>
          <a:bodyPr>
            <a:normAutofit/>
          </a:bodyPr>
          <a:lstStyle/>
          <a:p>
            <a:pPr algn="ctr"/>
            <a:r>
              <a:rPr lang="it-IT" b="1" dirty="0"/>
              <a:t>Claudio De Sio Cesari</a:t>
            </a:r>
            <a:br>
              <a:rPr lang="it-IT" b="1" dirty="0"/>
            </a:br>
            <a:br>
              <a:rPr lang="it-IT" sz="3200" dirty="0">
                <a:solidFill>
                  <a:srgbClr val="000000"/>
                </a:solidFill>
                <a:latin typeface="Calibri" panose="020F0502020204030204" pitchFamily="34" charset="0"/>
              </a:rPr>
            </a:br>
            <a:r>
              <a:rPr lang="it-IT" sz="6600" dirty="0">
                <a:solidFill>
                  <a:srgbClr val="000000"/>
                </a:solidFill>
                <a:latin typeface="Calibri" panose="020F0502020204030204" pitchFamily="34" charset="0"/>
              </a:rPr>
              <a:t> Il nuovo Java</a:t>
            </a:r>
            <a:br>
              <a:rPr lang="it-IT" sz="6600" dirty="0">
                <a:solidFill>
                  <a:srgbClr val="000000"/>
                </a:solidFill>
                <a:latin typeface="Calibri" panose="020F0502020204030204" pitchFamily="34" charset="0"/>
              </a:rPr>
            </a:br>
            <a:r>
              <a:rPr lang="it-IT" sz="5400" dirty="0">
                <a:solidFill>
                  <a:srgbClr val="000000"/>
                </a:solidFill>
                <a:latin typeface="Calibri" panose="020F0502020204030204" pitchFamily="34" charset="0"/>
              </a:rPr>
              <a:t>Introduzione a Java</a:t>
            </a:r>
            <a:br>
              <a:rPr lang="it-IT" sz="5400" dirty="0">
                <a:solidFill>
                  <a:srgbClr val="000000"/>
                </a:solidFill>
                <a:latin typeface="Calibri" panose="020F0502020204030204" pitchFamily="34" charset="0"/>
              </a:rPr>
            </a:br>
            <a:r>
              <a:rPr lang="it-IT" sz="5400" dirty="0">
                <a:solidFill>
                  <a:srgbClr val="000000"/>
                </a:solidFill>
                <a:latin typeface="Calibri" panose="020F0502020204030204" pitchFamily="34" charset="0"/>
              </a:rPr>
              <a:t>(NJ</a:t>
            </a:r>
            <a:r>
              <a:rPr lang="it-IT" sz="5400" b="1" dirty="0"/>
              <a:t>– 001)</a:t>
            </a:r>
            <a:r>
              <a:rPr lang="it-IT" sz="5400" dirty="0">
                <a:solidFill>
                  <a:srgbClr val="000000"/>
                </a:solidFill>
                <a:latin typeface="Calibri" panose="020F0502020204030204" pitchFamily="34" charset="0"/>
              </a:rPr>
              <a:t> </a:t>
            </a:r>
            <a:br>
              <a:rPr lang="it-IT" sz="5400" dirty="0">
                <a:solidFill>
                  <a:srgbClr val="000000"/>
                </a:solidFill>
                <a:latin typeface="Calibri" panose="020F0502020204030204" pitchFamily="34" charset="0"/>
              </a:rPr>
            </a:br>
            <a:br>
              <a:rPr lang="it-IT" sz="5400" dirty="0">
                <a:solidFill>
                  <a:srgbClr val="000000"/>
                </a:solidFill>
                <a:latin typeface="Calibri" panose="020F0502020204030204" pitchFamily="34" charset="0"/>
              </a:rPr>
            </a:br>
            <a:r>
              <a:rPr lang="it-IT" sz="3200" dirty="0">
                <a:solidFill>
                  <a:srgbClr val="000000"/>
                </a:solidFill>
                <a:latin typeface="Calibri" panose="020F0502020204030204" pitchFamily="34" charset="0"/>
              </a:rPr>
              <a:t>https://www.nuovojava.it</a:t>
            </a:r>
            <a:endParaRPr lang="it-IT" sz="3200" dirty="0"/>
          </a:p>
        </p:txBody>
      </p:sp>
    </p:spTree>
    <p:extLst>
      <p:ext uri="{BB962C8B-B14F-4D97-AF65-F5344CB8AC3E}">
        <p14:creationId xmlns:p14="http://schemas.microsoft.com/office/powerpoint/2010/main" val="408828648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467430" y="0"/>
            <a:ext cx="8137130" cy="1628749"/>
          </a:xfrm>
        </p:spPr>
        <p:txBody>
          <a:bodyPr/>
          <a:lstStyle/>
          <a:p>
            <a:r>
              <a:rPr lang="it-IT" dirty="0"/>
              <a:t>Introduzione a Java</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1700760"/>
            <a:ext cx="9144000" cy="4792113"/>
          </a:xfrm>
        </p:spPr>
        <p:txBody>
          <a:bodyPr>
            <a:noAutofit/>
          </a:bodyPr>
          <a:lstStyle/>
          <a:p>
            <a:pPr marL="180340" indent="180340">
              <a:tabLst>
                <a:tab pos="457200" algn="l"/>
              </a:tabLst>
            </a:pPr>
            <a:r>
              <a:rPr lang="it-IT" sz="2800" dirty="0">
                <a:effectLst/>
                <a:latin typeface="Calibri" panose="020F0502020204030204" pitchFamily="34" charset="0"/>
                <a:ea typeface="Times New Roman" panose="02020603050405020304" pitchFamily="18" charset="0"/>
                <a:cs typeface="Calibri" panose="020F0502020204030204" pitchFamily="34" charset="0"/>
              </a:rPr>
              <a:t>Conoscere alcuni concetti informatici di base (unità 1.1).</a:t>
            </a:r>
          </a:p>
          <a:p>
            <a:pPr marL="180340" indent="180340">
              <a:tabLst>
                <a:tab pos="457200" algn="l"/>
              </a:tabLst>
            </a:pPr>
            <a:r>
              <a:rPr lang="it-IT" sz="2800" dirty="0">
                <a:effectLst/>
                <a:latin typeface="Calibri" panose="020F0502020204030204" pitchFamily="34" charset="0"/>
                <a:ea typeface="Times New Roman" panose="02020603050405020304" pitchFamily="18" charset="0"/>
                <a:cs typeface="Calibri" panose="020F0502020204030204" pitchFamily="34" charset="0"/>
              </a:rPr>
              <a:t>Saper definire il linguaggio di programmazione Java e le sue caratteristiche (unità 1.2). </a:t>
            </a:r>
          </a:p>
          <a:p>
            <a:pPr marL="180340" indent="180340">
              <a:tabLst>
                <a:tab pos="457200" algn="l"/>
              </a:tabLst>
            </a:pPr>
            <a:r>
              <a:rPr lang="it-IT" sz="2800" dirty="0">
                <a:effectLst/>
                <a:latin typeface="Calibri" panose="020F0502020204030204" pitchFamily="34" charset="0"/>
                <a:ea typeface="Times New Roman" panose="02020603050405020304" pitchFamily="18" charset="0"/>
                <a:cs typeface="Calibri" panose="020F0502020204030204" pitchFamily="34" charset="0"/>
              </a:rPr>
              <a:t>Scegliere un ambiente di sviluppo (unità 1.3).</a:t>
            </a:r>
          </a:p>
          <a:p>
            <a:pPr marL="180340" indent="180340">
              <a:tabLst>
                <a:tab pos="457200" algn="l"/>
              </a:tabLst>
            </a:pPr>
            <a:r>
              <a:rPr lang="it-IT" sz="2800" dirty="0">
                <a:effectLst/>
                <a:latin typeface="Calibri" panose="020F0502020204030204" pitchFamily="34" charset="0"/>
                <a:ea typeface="Times New Roman" panose="02020603050405020304" pitchFamily="18" charset="0"/>
                <a:cs typeface="Calibri" panose="020F0502020204030204" pitchFamily="34" charset="0"/>
              </a:rPr>
              <a:t>Saper digitare, compilare e mandare in esecuzione una semplice applicazione (unità 1.3).</a:t>
            </a:r>
          </a:p>
          <a:p>
            <a:pPr marL="180340" indent="180340">
              <a:tabLst>
                <a:tab pos="457200" algn="l"/>
              </a:tabLst>
            </a:pPr>
            <a:r>
              <a:rPr lang="it-IT" sz="2800" dirty="0">
                <a:effectLst/>
                <a:latin typeface="Calibri" panose="020F0502020204030204" pitchFamily="34" charset="0"/>
                <a:ea typeface="Times New Roman" panose="02020603050405020304" pitchFamily="18" charset="0"/>
                <a:cs typeface="Calibri" panose="020F0502020204030204" pitchFamily="34" charset="0"/>
              </a:rPr>
              <a:t>Creare semplici programmi interattivi (unità 1.4, 15).</a:t>
            </a:r>
          </a:p>
          <a:p>
            <a:pPr marL="180340" indent="180340">
              <a:tabLst>
                <a:tab pos="457200" algn="l"/>
              </a:tabLst>
            </a:pPr>
            <a:r>
              <a:rPr lang="it-IT" sz="2800" dirty="0">
                <a:effectLst/>
                <a:latin typeface="Calibri" panose="020F0502020204030204" pitchFamily="34" charset="0"/>
                <a:ea typeface="Times New Roman" panose="02020603050405020304" pitchFamily="18" charset="0"/>
                <a:cs typeface="Calibri" panose="020F0502020204030204" pitchFamily="34" charset="0"/>
              </a:rPr>
              <a:t>Interagire con l’ambiente di sviluppo ufficiale: il Java Development Kit (unità 1.5).</a:t>
            </a:r>
          </a:p>
          <a:p>
            <a:pPr marL="180340" indent="180340">
              <a:tabLst>
                <a:tab pos="457200" algn="l"/>
              </a:tabLst>
            </a:pPr>
            <a:endParaRPr lang="it-IT" sz="2000" dirty="0">
              <a:latin typeface="Calibri" panose="020F0502020204030204" pitchFamily="34" charset="0"/>
              <a:cs typeface="Calibri" panose="020F0502020204030204" pitchFamily="34" charset="0"/>
            </a:endParaRP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dirty="0"/>
              <a:t>Claudio De Sio Cesari: NJ-002</a:t>
            </a:r>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a:t>
            </a:fld>
            <a:endParaRPr lang="it-IT"/>
          </a:p>
        </p:txBody>
      </p:sp>
    </p:spTree>
    <p:extLst>
      <p:ext uri="{BB962C8B-B14F-4D97-AF65-F5344CB8AC3E}">
        <p14:creationId xmlns:p14="http://schemas.microsoft.com/office/powerpoint/2010/main" val="3534094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Hardware</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p:txBody>
          <a:bodyPr>
            <a:normAutofit/>
          </a:bodyPr>
          <a:lstStyle/>
          <a:p>
            <a:r>
              <a:rPr lang="it-IT" sz="3600" dirty="0"/>
              <a:t>Parte fisica del computer</a:t>
            </a:r>
          </a:p>
          <a:p>
            <a:r>
              <a:rPr lang="it-IT" sz="3600" dirty="0"/>
              <a:t>Due categorie e tre tipologie</a:t>
            </a:r>
          </a:p>
          <a:p>
            <a:pPr lvl="2"/>
            <a:r>
              <a:rPr lang="it-IT" sz="3600" dirty="0"/>
              <a:t>Input (mouse, tastiera, etc.)</a:t>
            </a:r>
          </a:p>
          <a:p>
            <a:pPr lvl="2"/>
            <a:r>
              <a:rPr lang="it-IT" sz="3600" dirty="0"/>
              <a:t>Output (monitor, stampante, etc.)</a:t>
            </a:r>
          </a:p>
          <a:p>
            <a:pPr lvl="2"/>
            <a:r>
              <a:rPr lang="it-IT" sz="3600" dirty="0"/>
              <a:t>Tipologia: «dentro la scatola» (processore, memoria, scheda madre, </a:t>
            </a:r>
            <a:r>
              <a:rPr lang="it-IT" sz="3600" dirty="0" err="1"/>
              <a:t>etc</a:t>
            </a:r>
            <a:r>
              <a:rPr lang="it-IT" sz="3600" dirty="0"/>
              <a:t>)</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a:t>
            </a:fld>
            <a:endParaRPr lang="it-IT"/>
          </a:p>
        </p:txBody>
      </p:sp>
    </p:spTree>
    <p:extLst>
      <p:ext uri="{BB962C8B-B14F-4D97-AF65-F5344CB8AC3E}">
        <p14:creationId xmlns:p14="http://schemas.microsoft.com/office/powerpoint/2010/main" val="805334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Hardware «in the box»</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755470" y="1484730"/>
            <a:ext cx="7759880" cy="4871621"/>
          </a:xfrm>
        </p:spPr>
        <p:txBody>
          <a:bodyPr>
            <a:normAutofit/>
          </a:bodyPr>
          <a:lstStyle/>
          <a:p>
            <a:r>
              <a:rPr lang="it-IT" sz="3200" dirty="0"/>
              <a:t>Central Processing Unit (CPU)</a:t>
            </a:r>
          </a:p>
          <a:p>
            <a:r>
              <a:rPr lang="it-IT" sz="3200" dirty="0"/>
              <a:t>Memoria</a:t>
            </a:r>
          </a:p>
          <a:p>
            <a:pPr lvl="1"/>
            <a:r>
              <a:rPr lang="it-IT" sz="3200" dirty="0"/>
              <a:t>Principale: Random Access Memory (RAM)</a:t>
            </a:r>
          </a:p>
          <a:p>
            <a:pPr lvl="1"/>
            <a:r>
              <a:rPr lang="it-IT" sz="3200" dirty="0"/>
              <a:t>Ausiliare (o secondaria): hard disk, SSD, etc.</a:t>
            </a:r>
          </a:p>
          <a:p>
            <a:pPr lvl="1"/>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a:t>
            </a:fld>
            <a:endParaRPr lang="it-IT"/>
          </a:p>
        </p:txBody>
      </p:sp>
    </p:spTree>
    <p:extLst>
      <p:ext uri="{BB962C8B-B14F-4D97-AF65-F5344CB8AC3E}">
        <p14:creationId xmlns:p14="http://schemas.microsoft.com/office/powerpoint/2010/main" val="2845546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Software</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p:txBody>
          <a:bodyPr>
            <a:normAutofit fontScale="92500" lnSpcReduction="10000"/>
          </a:bodyPr>
          <a:lstStyle/>
          <a:p>
            <a:r>
              <a:rPr lang="it-IT" sz="4400" dirty="0"/>
              <a:t>Sistema operativo</a:t>
            </a:r>
          </a:p>
          <a:p>
            <a:r>
              <a:rPr lang="it-IT" sz="4400" dirty="0"/>
              <a:t>Istruzioni</a:t>
            </a:r>
          </a:p>
          <a:p>
            <a:r>
              <a:rPr lang="it-IT" sz="4400" dirty="0"/>
              <a:t>Programmi</a:t>
            </a:r>
          </a:p>
          <a:p>
            <a:pPr lvl="1"/>
            <a:r>
              <a:rPr lang="it-IT" sz="4000" dirty="0"/>
              <a:t>Browser</a:t>
            </a:r>
          </a:p>
          <a:p>
            <a:pPr lvl="1"/>
            <a:r>
              <a:rPr lang="it-IT" sz="4000" dirty="0"/>
              <a:t>Lettore multimediale</a:t>
            </a:r>
          </a:p>
          <a:p>
            <a:pPr lvl="1"/>
            <a:r>
              <a:rPr lang="it-IT" sz="4000" dirty="0"/>
              <a:t>Editor</a:t>
            </a:r>
          </a:p>
          <a:p>
            <a:pPr lvl="1"/>
            <a:r>
              <a:rPr lang="it-IT" sz="4000" dirty="0"/>
              <a:t>Videoscrittura</a:t>
            </a:r>
          </a:p>
          <a:p>
            <a:pPr lvl="1"/>
            <a:r>
              <a:rPr lang="it-IT" sz="4000" dirty="0"/>
              <a:t>IDE</a:t>
            </a:r>
          </a:p>
          <a:p>
            <a:endParaRPr lang="it-IT" sz="4400" dirty="0"/>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a:t>
            </a:fld>
            <a:endParaRPr lang="it-IT"/>
          </a:p>
        </p:txBody>
      </p:sp>
    </p:spTree>
    <p:extLst>
      <p:ext uri="{BB962C8B-B14F-4D97-AF65-F5344CB8AC3E}">
        <p14:creationId xmlns:p14="http://schemas.microsoft.com/office/powerpoint/2010/main" val="3304286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Linguaggi di programmazione</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p:txBody>
          <a:bodyPr>
            <a:normAutofit fontScale="92500"/>
          </a:bodyPr>
          <a:lstStyle/>
          <a:p>
            <a:r>
              <a:rPr lang="it-IT" sz="4000" dirty="0"/>
              <a:t>È un mezzo che permette di comunicare delle istruzioni al computer in modo che esso le esegua nel contesto di un programma </a:t>
            </a:r>
          </a:p>
          <a:p>
            <a:r>
              <a:rPr lang="it-IT" sz="4000" dirty="0"/>
              <a:t>Vocabolario e regole (grammatica)</a:t>
            </a:r>
          </a:p>
          <a:p>
            <a:r>
              <a:rPr lang="it-IT" sz="3400" dirty="0"/>
              <a:t>Assembly, Fortran, Basic, COBOL, Pascal, C, C++, LISP, Prolog, SmallTalk, Visual Basic, Python, JavaScript, Java, C#, </a:t>
            </a:r>
            <a:r>
              <a:rPr lang="it-IT" sz="3400" dirty="0" err="1"/>
              <a:t>Kotlin</a:t>
            </a:r>
            <a:endParaRPr lang="it-IT" sz="3400" dirty="0"/>
          </a:p>
          <a:p>
            <a:pPr lvl="1"/>
            <a:endParaRPr lang="it-IT" dirty="0"/>
          </a:p>
          <a:p>
            <a:pPr lvl="1"/>
            <a:endParaRPr lang="it-IT" dirty="0"/>
          </a:p>
          <a:p>
            <a:pPr lvl="1"/>
            <a:endParaRPr lang="it-IT" dirty="0"/>
          </a:p>
          <a:p>
            <a:pPr lvl="1"/>
            <a:endParaRPr lang="it-IT" dirty="0"/>
          </a:p>
          <a:p>
            <a:pPr lvl="1"/>
            <a:endParaRPr lang="it-IT" dirty="0"/>
          </a:p>
          <a:p>
            <a:pPr lvl="1"/>
            <a:endParaRPr lang="it-IT" dirty="0"/>
          </a:p>
          <a:p>
            <a:pPr lvl="1"/>
            <a:endParaRPr lang="it-IT" dirty="0"/>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6</a:t>
            </a:fld>
            <a:endParaRPr lang="it-IT"/>
          </a:p>
        </p:txBody>
      </p:sp>
    </p:spTree>
    <p:extLst>
      <p:ext uri="{BB962C8B-B14F-4D97-AF65-F5344CB8AC3E}">
        <p14:creationId xmlns:p14="http://schemas.microsoft.com/office/powerpoint/2010/main" val="4274646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Linguaggio macchina</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p:txBody>
          <a:bodyPr>
            <a:normAutofit/>
          </a:bodyPr>
          <a:lstStyle/>
          <a:p>
            <a:r>
              <a:rPr lang="it-IT" sz="3600" dirty="0"/>
              <a:t>Vocabolario: 0 e 1</a:t>
            </a:r>
          </a:p>
          <a:p>
            <a:r>
              <a:rPr lang="it-IT" sz="3600" dirty="0"/>
              <a:t>Sistema numerico binario</a:t>
            </a:r>
          </a:p>
          <a:p>
            <a:r>
              <a:rPr lang="it-IT" sz="3600" dirty="0"/>
              <a:t>Parole</a:t>
            </a:r>
          </a:p>
          <a:p>
            <a:r>
              <a:rPr lang="it-IT" sz="3600" dirty="0"/>
              <a:t>Diversi linguaggi macchina con grammatiche diverse</a:t>
            </a:r>
          </a:p>
          <a:p>
            <a:r>
              <a:rPr lang="it-IT" sz="3600" dirty="0"/>
              <a:t>Esigenza di un traduttore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7</a:t>
            </a:fld>
            <a:endParaRPr lang="it-IT"/>
          </a:p>
        </p:txBody>
      </p:sp>
    </p:spTree>
    <p:extLst>
      <p:ext uri="{BB962C8B-B14F-4D97-AF65-F5344CB8AC3E}">
        <p14:creationId xmlns:p14="http://schemas.microsoft.com/office/powerpoint/2010/main" val="2404731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2D6D6B-4C15-49B1-B550-586B9664DB81}"/>
              </a:ext>
            </a:extLst>
          </p:cNvPr>
          <p:cNvSpPr>
            <a:spLocks noGrp="1"/>
          </p:cNvSpPr>
          <p:nvPr>
            <p:ph type="title"/>
          </p:nvPr>
        </p:nvSpPr>
        <p:spPr/>
        <p:txBody>
          <a:bodyPr/>
          <a:lstStyle/>
          <a:p>
            <a:r>
              <a:rPr lang="it-IT" dirty="0"/>
              <a:t>Categorizzazione dei linguaggi</a:t>
            </a:r>
          </a:p>
        </p:txBody>
      </p:sp>
      <p:sp>
        <p:nvSpPr>
          <p:cNvPr id="3" name="Segnaposto contenuto 2">
            <a:extLst>
              <a:ext uri="{FF2B5EF4-FFF2-40B4-BE49-F238E27FC236}">
                <a16:creationId xmlns:a16="http://schemas.microsoft.com/office/drawing/2014/main" id="{1B0AF8AC-F454-45E3-9B39-7A4B04435911}"/>
              </a:ext>
            </a:extLst>
          </p:cNvPr>
          <p:cNvSpPr>
            <a:spLocks noGrp="1"/>
          </p:cNvSpPr>
          <p:nvPr>
            <p:ph idx="1"/>
          </p:nvPr>
        </p:nvSpPr>
        <p:spPr/>
        <p:txBody>
          <a:bodyPr/>
          <a:lstStyle/>
          <a:p>
            <a:endParaRPr lang="it-IT" sz="2800" dirty="0"/>
          </a:p>
          <a:p>
            <a:r>
              <a:rPr lang="it-IT" sz="2800" dirty="0"/>
              <a:t>Alto livello</a:t>
            </a:r>
          </a:p>
          <a:p>
            <a:r>
              <a:rPr lang="it-IT" sz="2800" dirty="0"/>
              <a:t>Basso livello</a:t>
            </a:r>
          </a:p>
          <a:p>
            <a:endParaRPr lang="it-IT" sz="2800" dirty="0"/>
          </a:p>
          <a:p>
            <a:r>
              <a:rPr lang="it-IT" sz="2800" dirty="0"/>
              <a:t>Linguaggi compilati</a:t>
            </a:r>
          </a:p>
          <a:p>
            <a:r>
              <a:rPr lang="it-IT" sz="2800" dirty="0"/>
              <a:t>Linguaggi interpretati</a:t>
            </a:r>
          </a:p>
          <a:p>
            <a:r>
              <a:rPr lang="it-IT" sz="2800" dirty="0"/>
              <a:t>Linguaggi compilati ed interpretati</a:t>
            </a:r>
          </a:p>
          <a:p>
            <a:endParaRPr lang="it-IT" sz="2800" dirty="0"/>
          </a:p>
        </p:txBody>
      </p:sp>
      <p:sp>
        <p:nvSpPr>
          <p:cNvPr id="4" name="Segnaposto piè di pagina 3">
            <a:extLst>
              <a:ext uri="{FF2B5EF4-FFF2-40B4-BE49-F238E27FC236}">
                <a16:creationId xmlns:a16="http://schemas.microsoft.com/office/drawing/2014/main" id="{FAA0DADD-4466-4EDD-89D2-0F5B643DE945}"/>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A2233C3-3D4B-41F0-9ACF-16D0C0AEF244}"/>
              </a:ext>
            </a:extLst>
          </p:cNvPr>
          <p:cNvSpPr>
            <a:spLocks noGrp="1"/>
          </p:cNvSpPr>
          <p:nvPr>
            <p:ph type="sldNum" sz="quarter" idx="12"/>
          </p:nvPr>
        </p:nvSpPr>
        <p:spPr/>
        <p:txBody>
          <a:bodyPr/>
          <a:lstStyle/>
          <a:p>
            <a:fld id="{EA83E0A8-4958-4553-8C1A-CC59A6ABE123}" type="slidenum">
              <a:rPr lang="it-IT" smtClean="0"/>
              <a:t>8</a:t>
            </a:fld>
            <a:endParaRPr lang="it-IT"/>
          </a:p>
        </p:txBody>
      </p:sp>
    </p:spTree>
    <p:extLst>
      <p:ext uri="{BB962C8B-B14F-4D97-AF65-F5344CB8AC3E}">
        <p14:creationId xmlns:p14="http://schemas.microsoft.com/office/powerpoint/2010/main" val="1256682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Linguaggi compilati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9</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p:txBody>
          <a:bodyPr>
            <a:normAutofit/>
          </a:bodyPr>
          <a:lstStyle/>
          <a:p>
            <a:r>
              <a:rPr lang="it-IT" sz="3600" dirty="0"/>
              <a:t>Compilatore</a:t>
            </a:r>
          </a:p>
          <a:p>
            <a:r>
              <a:rPr lang="it-IT" sz="3600" dirty="0"/>
              <a:t>Source code - Codice sorgente </a:t>
            </a:r>
          </a:p>
          <a:p>
            <a:r>
              <a:rPr lang="it-IT" sz="3600" dirty="0"/>
              <a:t>Source file - File sorgente</a:t>
            </a:r>
          </a:p>
          <a:p>
            <a:r>
              <a:rPr lang="it-IT" sz="3600" dirty="0"/>
              <a:t>Binary code - codice binario</a:t>
            </a:r>
          </a:p>
          <a:p>
            <a:r>
              <a:rPr lang="it-IT" sz="3600" dirty="0"/>
              <a:t>Binary file -File binario - eseguibile – oggetto (bin, exe, etc.)</a:t>
            </a:r>
          </a:p>
        </p:txBody>
      </p:sp>
    </p:spTree>
    <p:extLst>
      <p:ext uri="{BB962C8B-B14F-4D97-AF65-F5344CB8AC3E}">
        <p14:creationId xmlns:p14="http://schemas.microsoft.com/office/powerpoint/2010/main" val="761887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36525"/>
            <a:ext cx="7886700" cy="1132176"/>
          </a:xfrm>
        </p:spPr>
        <p:txBody>
          <a:bodyPr/>
          <a:lstStyle/>
          <a:p>
            <a:r>
              <a:rPr lang="it-IT" dirty="0"/>
              <a:t>Linguaggi compilati (processo)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10</a:t>
            </a:fld>
            <a:endParaRPr lang="it-IT"/>
          </a:p>
        </p:txBody>
      </p:sp>
      <p:pic>
        <p:nvPicPr>
          <p:cNvPr id="8" name="Immagine 7">
            <a:extLst>
              <a:ext uri="{FF2B5EF4-FFF2-40B4-BE49-F238E27FC236}">
                <a16:creationId xmlns:a16="http://schemas.microsoft.com/office/drawing/2014/main" id="{89A25D71-B827-4A8C-9077-5F399DB860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58559" y="1117822"/>
            <a:ext cx="5277811" cy="5335598"/>
          </a:xfrm>
          <a:prstGeom prst="rect">
            <a:avLst/>
          </a:prstGeom>
        </p:spPr>
      </p:pic>
    </p:spTree>
    <p:extLst>
      <p:ext uri="{BB962C8B-B14F-4D97-AF65-F5344CB8AC3E}">
        <p14:creationId xmlns:p14="http://schemas.microsoft.com/office/powerpoint/2010/main" val="1125790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Linguaggi interpretati</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840000" y="1825625"/>
            <a:ext cx="7675350" cy="3907695"/>
          </a:xfrm>
        </p:spPr>
        <p:txBody>
          <a:bodyPr>
            <a:normAutofit/>
          </a:bodyPr>
          <a:lstStyle/>
          <a:p>
            <a:r>
              <a:rPr lang="it-IT" sz="3600" dirty="0"/>
              <a:t>Interprete</a:t>
            </a:r>
          </a:p>
          <a:p>
            <a:pPr lvl="1"/>
            <a:r>
              <a:rPr lang="it-IT" sz="3600" dirty="0"/>
              <a:t>Sviluppo più veloce</a:t>
            </a:r>
          </a:p>
          <a:p>
            <a:pPr lvl="1"/>
            <a:r>
              <a:rPr lang="it-IT" sz="3600" dirty="0"/>
              <a:t>Esecuzione più lenta</a:t>
            </a:r>
          </a:p>
          <a:p>
            <a:pPr lvl="1"/>
            <a:r>
              <a:rPr lang="it-IT" sz="3600" dirty="0"/>
              <a:t>Portabilità </a:t>
            </a:r>
          </a:p>
          <a:p>
            <a:pPr lvl="1"/>
            <a:r>
              <a:rPr lang="it-IT" sz="3600" dirty="0"/>
              <a:t>L’interprete deve esistere sulla piattaforma di destinazione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11</a:t>
            </a:fld>
            <a:endParaRPr lang="it-IT"/>
          </a:p>
        </p:txBody>
      </p:sp>
    </p:spTree>
    <p:extLst>
      <p:ext uri="{BB962C8B-B14F-4D97-AF65-F5344CB8AC3E}">
        <p14:creationId xmlns:p14="http://schemas.microsoft.com/office/powerpoint/2010/main" val="2594785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Linguaggi interpretati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12</a:t>
            </a:fld>
            <a:endParaRPr lang="it-IT"/>
          </a:p>
        </p:txBody>
      </p:sp>
      <p:pic>
        <p:nvPicPr>
          <p:cNvPr id="7" name="Immagine 6">
            <a:extLst>
              <a:ext uri="{FF2B5EF4-FFF2-40B4-BE49-F238E27FC236}">
                <a16:creationId xmlns:a16="http://schemas.microsoft.com/office/drawing/2014/main" id="{10F19139-ED68-4790-9FAC-86822BF12C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2457" y="1556740"/>
            <a:ext cx="7270043" cy="4683985"/>
          </a:xfrm>
          <a:prstGeom prst="rect">
            <a:avLst/>
          </a:prstGeom>
        </p:spPr>
      </p:pic>
    </p:spTree>
    <p:extLst>
      <p:ext uri="{BB962C8B-B14F-4D97-AF65-F5344CB8AC3E}">
        <p14:creationId xmlns:p14="http://schemas.microsoft.com/office/powerpoint/2010/main" val="3586185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0"/>
            <a:ext cx="8119930" cy="1325563"/>
          </a:xfrm>
        </p:spPr>
        <p:txBody>
          <a:bodyPr/>
          <a:lstStyle/>
          <a:p>
            <a:r>
              <a:rPr lang="it-IT" dirty="0"/>
              <a:t>Introduzione a Java</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840000" y="1484730"/>
            <a:ext cx="7675350" cy="4608640"/>
          </a:xfrm>
        </p:spPr>
        <p:txBody>
          <a:bodyPr>
            <a:normAutofit lnSpcReduction="10000"/>
          </a:bodyPr>
          <a:lstStyle/>
          <a:p>
            <a:r>
              <a:rPr lang="it-IT" sz="2800" dirty="0"/>
              <a:t>Con il termine “Java”, solitamente ci si riferisce: </a:t>
            </a:r>
          </a:p>
          <a:p>
            <a:pPr marL="180340" indent="180340"/>
            <a:r>
              <a:rPr lang="it-IT" sz="2800" dirty="0"/>
              <a:t>al linguaggio di programmazione più usato del pianeta;</a:t>
            </a:r>
          </a:p>
          <a:p>
            <a:pPr marL="180340" indent="180340"/>
            <a:r>
              <a:rPr lang="it-IT" sz="2800" dirty="0"/>
              <a:t>ad una tecnologia che include diverse “sotto-tecnologie” che si sono affermate in diversi ambiti di utilizzo del software. Oggigiorno la tecnologia Java è la più utilizzata su applicazioni aziendali (enterprise), e in tutto il mondo esistono miliardi di congegni elettronici che utilizzano tecnologia Java: smartphone, SCADA, satelliti, decoder, smart card, robot che passeggiano su Marte, etc.</a:t>
            </a:r>
          </a:p>
          <a:p>
            <a:pPr marL="180340" indent="180340"/>
            <a:r>
              <a:rPr lang="it-IT" sz="2800" dirty="0"/>
              <a:t>Storia nell’appendice A de «Il nuovo Java»</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13</a:t>
            </a:fld>
            <a:endParaRPr lang="it-IT"/>
          </a:p>
        </p:txBody>
      </p:sp>
    </p:spTree>
    <p:extLst>
      <p:ext uri="{BB962C8B-B14F-4D97-AF65-F5344CB8AC3E}">
        <p14:creationId xmlns:p14="http://schemas.microsoft.com/office/powerpoint/2010/main" val="2654019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0"/>
            <a:ext cx="8119930" cy="1325563"/>
          </a:xfrm>
        </p:spPr>
        <p:txBody>
          <a:bodyPr/>
          <a:lstStyle/>
          <a:p>
            <a:r>
              <a:rPr lang="it-IT" dirty="0"/>
              <a:t>Caratteristiche di Java</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840000" y="1484730"/>
            <a:ext cx="7675350" cy="4608640"/>
          </a:xfrm>
        </p:spPr>
        <p:txBody>
          <a:bodyPr>
            <a:normAutofit fontScale="92500" lnSpcReduction="20000"/>
          </a:bodyPr>
          <a:lstStyle/>
          <a:p>
            <a:r>
              <a:rPr lang="it-IT" sz="4000" dirty="0"/>
              <a:t>Sintassi</a:t>
            </a:r>
          </a:p>
          <a:p>
            <a:r>
              <a:rPr lang="it-IT" sz="4000" dirty="0"/>
              <a:t>Robustezza</a:t>
            </a:r>
          </a:p>
          <a:p>
            <a:r>
              <a:rPr lang="it-IT" sz="4000" dirty="0"/>
              <a:t>Programmazione Object Oriented (OOP)</a:t>
            </a:r>
          </a:p>
          <a:p>
            <a:r>
              <a:rPr lang="it-IT" sz="4000" dirty="0"/>
              <a:t>Facilità di sviluppo</a:t>
            </a:r>
          </a:p>
          <a:p>
            <a:r>
              <a:rPr lang="it-IT" sz="4000" dirty="0"/>
              <a:t>Librerie e standardizzazione</a:t>
            </a:r>
          </a:p>
          <a:p>
            <a:r>
              <a:rPr lang="it-IT" sz="4000" dirty="0"/>
              <a:t>Aperto</a:t>
            </a:r>
          </a:p>
          <a:p>
            <a:r>
              <a:rPr lang="it-IT" sz="4000" dirty="0"/>
              <a:t>Indipendenza dalla piattaforma</a:t>
            </a:r>
          </a:p>
          <a:p>
            <a:r>
              <a:rPr lang="it-IT" sz="4000" dirty="0"/>
              <a:t>Java Virtual Machine (JVM)</a:t>
            </a:r>
          </a:p>
          <a:p>
            <a:endParaRPr lang="it-IT" sz="4000" dirty="0"/>
          </a:p>
          <a:p>
            <a:endParaRPr lang="it-IT" sz="4000" dirty="0"/>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14</a:t>
            </a:fld>
            <a:endParaRPr lang="it-IT"/>
          </a:p>
        </p:txBody>
      </p:sp>
    </p:spTree>
    <p:extLst>
      <p:ext uri="{BB962C8B-B14F-4D97-AF65-F5344CB8AC3E}">
        <p14:creationId xmlns:p14="http://schemas.microsoft.com/office/powerpoint/2010/main" val="934814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0"/>
            <a:ext cx="8119930" cy="1325563"/>
          </a:xfrm>
        </p:spPr>
        <p:txBody>
          <a:bodyPr/>
          <a:lstStyle/>
          <a:p>
            <a:r>
              <a:rPr lang="it-IT" dirty="0"/>
              <a:t>Indipendenza dalla piattaforma e Java Virtual Machine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15</a:t>
            </a:fld>
            <a:endParaRPr lang="it-IT"/>
          </a:p>
        </p:txBody>
      </p:sp>
      <p:pic>
        <p:nvPicPr>
          <p:cNvPr id="9" name="Segnaposto contenuto 8">
            <a:extLst>
              <a:ext uri="{FF2B5EF4-FFF2-40B4-BE49-F238E27FC236}">
                <a16:creationId xmlns:a16="http://schemas.microsoft.com/office/drawing/2014/main" id="{937F20FC-405B-4D9F-8F83-903B6455A2D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640" y="1916790"/>
            <a:ext cx="9194917" cy="3330620"/>
          </a:xfrm>
        </p:spPr>
      </p:pic>
    </p:spTree>
    <p:extLst>
      <p:ext uri="{BB962C8B-B14F-4D97-AF65-F5344CB8AC3E}">
        <p14:creationId xmlns:p14="http://schemas.microsoft.com/office/powerpoint/2010/main" val="2688482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False convinzioni su Java</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p:txBody>
          <a:bodyPr>
            <a:normAutofit/>
          </a:bodyPr>
          <a:lstStyle/>
          <a:p>
            <a:r>
              <a:rPr lang="it-IT" sz="3600" dirty="0"/>
              <a:t>Java è lento</a:t>
            </a:r>
          </a:p>
          <a:p>
            <a:r>
              <a:rPr lang="it-IT" sz="3600" dirty="0"/>
              <a:t>Java non è sicuro (link 1.1)</a:t>
            </a:r>
          </a:p>
          <a:p>
            <a:r>
              <a:rPr lang="it-IT" sz="3600" dirty="0"/>
              <a:t>Java è prolisso</a:t>
            </a:r>
          </a:p>
          <a:p>
            <a:r>
              <a:rPr lang="it-IT" sz="3600" dirty="0"/>
              <a:t>Java è facile da imparare</a:t>
            </a:r>
          </a:p>
          <a:p>
            <a:r>
              <a:rPr lang="it-IT" sz="3600" dirty="0"/>
              <a:t>Java è a pagamento</a:t>
            </a:r>
          </a:p>
          <a:p>
            <a:r>
              <a:rPr lang="it-IT" sz="3600" dirty="0"/>
              <a:t>JavaScript è una versione semplificata  di Java</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16</a:t>
            </a:fld>
            <a:endParaRPr lang="it-IT"/>
          </a:p>
        </p:txBody>
      </p:sp>
    </p:spTree>
    <p:extLst>
      <p:ext uri="{BB962C8B-B14F-4D97-AF65-F5344CB8AC3E}">
        <p14:creationId xmlns:p14="http://schemas.microsoft.com/office/powerpoint/2010/main" val="3806857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Scrivere un programma</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840000" y="1556740"/>
            <a:ext cx="7980590" cy="4176580"/>
          </a:xfrm>
        </p:spPr>
        <p:txBody>
          <a:bodyPr>
            <a:normAutofit fontScale="85000" lnSpcReduction="20000"/>
          </a:bodyPr>
          <a:lstStyle/>
          <a:p>
            <a:pPr marL="180340" indent="180340"/>
            <a:r>
              <a:rPr lang="it-IT" sz="2800" dirty="0"/>
              <a:t>Scrivere il codice sorgente: scriveremo il codice sorgente della nostra applicazione utilizzando un </a:t>
            </a:r>
            <a:r>
              <a:rPr lang="it-IT" sz="2800" b="1" dirty="0"/>
              <a:t>editor</a:t>
            </a:r>
            <a:r>
              <a:rPr lang="it-IT" sz="2800" dirty="0"/>
              <a:t>, ovvero un’applicazione che ci permette di scrivere codice Java. </a:t>
            </a:r>
          </a:p>
          <a:p>
            <a:pPr marL="180340" indent="180340"/>
            <a:r>
              <a:rPr lang="it-IT" sz="2800" dirty="0"/>
              <a:t>Salvare il file sorgente: tramite l’editor, salveremo il nostro file con suffisso </a:t>
            </a:r>
            <a:r>
              <a:rPr lang="it-IT" sz="2800" i="1" dirty="0"/>
              <a:t>.java</a:t>
            </a:r>
            <a:r>
              <a:rPr lang="it-IT" sz="2800" dirty="0"/>
              <a:t> nella memoria secondaria, presumibilmente in una cartella da noi creata sul nostro hard disk.</a:t>
            </a:r>
          </a:p>
          <a:p>
            <a:pPr marL="180340" indent="180340"/>
            <a:r>
              <a:rPr lang="it-IT" sz="2800" dirty="0"/>
              <a:t>Compilare il nostro file sorgente: una volta salvato il nostro file sorgente, dobbiamo utilizzare il compilatore per generare un file contenente il bytecode. Questo file avrà automaticamente un suffisso </a:t>
            </a:r>
            <a:r>
              <a:rPr lang="it-IT" sz="2800" i="1" dirty="0"/>
              <a:t>.class</a:t>
            </a:r>
            <a:r>
              <a:rPr lang="it-IT" sz="2800" dirty="0"/>
              <a:t>.</a:t>
            </a:r>
          </a:p>
          <a:p>
            <a:pPr marL="180340" indent="180340"/>
            <a:r>
              <a:rPr lang="it-IT" sz="2800" dirty="0"/>
              <a:t>Eseguire il nostro programma: potremo infine mandare in esecuzione il programma invocando l’interpretazione della Java Virtual Machine.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17</a:t>
            </a:fld>
            <a:endParaRPr lang="it-IT"/>
          </a:p>
        </p:txBody>
      </p:sp>
    </p:spTree>
    <p:extLst>
      <p:ext uri="{BB962C8B-B14F-4D97-AF65-F5344CB8AC3E}">
        <p14:creationId xmlns:p14="http://schemas.microsoft.com/office/powerpoint/2010/main" val="825804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Ambiente di sviluppo</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840000" y="1556740"/>
            <a:ext cx="7980590" cy="4176580"/>
          </a:xfrm>
        </p:spPr>
        <p:txBody>
          <a:bodyPr>
            <a:normAutofit/>
          </a:bodyPr>
          <a:lstStyle/>
          <a:p>
            <a:pPr marL="180340" indent="180340"/>
            <a:r>
              <a:rPr lang="it-IT" sz="2800" dirty="0"/>
              <a:t>Soluzione classica</a:t>
            </a:r>
          </a:p>
          <a:p>
            <a:pPr marL="523240" lvl="1" indent="180340"/>
            <a:r>
              <a:rPr lang="it-IT" sz="2800" dirty="0"/>
              <a:t>Java Development Kit (JDK) Standard Edition</a:t>
            </a:r>
          </a:p>
          <a:p>
            <a:pPr marL="523240" lvl="1" indent="180340"/>
            <a:r>
              <a:rPr lang="it-IT" sz="2800" dirty="0"/>
              <a:t>Un editor che non supporta stili (Blocco Note)</a:t>
            </a:r>
          </a:p>
          <a:p>
            <a:pPr marL="180340" indent="180340"/>
            <a:r>
              <a:rPr lang="it-IT" sz="2800" dirty="0"/>
              <a:t>Soluzione per chi inizia</a:t>
            </a:r>
          </a:p>
          <a:p>
            <a:pPr marL="523240" lvl="1" indent="180340"/>
            <a:r>
              <a:rPr lang="it-IT" sz="2800" dirty="0"/>
              <a:t>EJE (</a:t>
            </a:r>
            <a:r>
              <a:rPr lang="it-IT" sz="2800" dirty="0" err="1"/>
              <a:t>Everyone’s</a:t>
            </a:r>
            <a:r>
              <a:rPr lang="it-IT" sz="2800" dirty="0"/>
              <a:t> Java Editor)</a:t>
            </a:r>
          </a:p>
          <a:p>
            <a:pPr marL="180340" indent="180340"/>
            <a:r>
              <a:rPr lang="it-IT" sz="2800" dirty="0"/>
              <a:t>Soluzione per esperti</a:t>
            </a:r>
          </a:p>
          <a:p>
            <a:pPr marL="523240" lvl="1" indent="180340"/>
            <a:r>
              <a:rPr lang="it-IT" sz="2800" dirty="0"/>
              <a:t>Netbeans</a:t>
            </a:r>
          </a:p>
          <a:p>
            <a:pPr marL="523240" lvl="1" indent="180340"/>
            <a:r>
              <a:rPr lang="it-IT" sz="2800" dirty="0"/>
              <a:t>Eclipse</a:t>
            </a:r>
          </a:p>
          <a:p>
            <a:pPr marL="523240" lvl="1" indent="180340"/>
            <a:r>
              <a:rPr lang="it-IT" sz="2800" dirty="0"/>
              <a:t>IntelliJ</a:t>
            </a:r>
          </a:p>
          <a:p>
            <a:pPr marL="180340" indent="180340"/>
            <a:endParaRPr lang="it-IT" sz="2800"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18</a:t>
            </a:fld>
            <a:endParaRPr lang="it-IT"/>
          </a:p>
        </p:txBody>
      </p:sp>
    </p:spTree>
    <p:extLst>
      <p:ext uri="{BB962C8B-B14F-4D97-AF65-F5344CB8AC3E}">
        <p14:creationId xmlns:p14="http://schemas.microsoft.com/office/powerpoint/2010/main" val="2074314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Programmiamo con EJE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19</a:t>
            </a:fld>
            <a:endParaRPr lang="it-IT"/>
          </a:p>
        </p:txBody>
      </p:sp>
      <p:pic>
        <p:nvPicPr>
          <p:cNvPr id="6" name="Immagine 5">
            <a:extLst>
              <a:ext uri="{FF2B5EF4-FFF2-40B4-BE49-F238E27FC236}">
                <a16:creationId xmlns:a16="http://schemas.microsoft.com/office/drawing/2014/main" id="{41D994C6-51BB-4925-ABEF-0AF185FC80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56400"/>
            <a:ext cx="9144000" cy="4953000"/>
          </a:xfrm>
          <a:prstGeom prst="rect">
            <a:avLst/>
          </a:prstGeom>
        </p:spPr>
      </p:pic>
    </p:spTree>
    <p:extLst>
      <p:ext uri="{BB962C8B-B14F-4D97-AF65-F5344CB8AC3E}">
        <p14:creationId xmlns:p14="http://schemas.microsoft.com/office/powerpoint/2010/main" val="176215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Programmiamo: Scrivere il codice sorgente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20</a:t>
            </a:fld>
            <a:endParaRPr lang="it-IT"/>
          </a:p>
        </p:txBody>
      </p:sp>
      <p:sp>
        <p:nvSpPr>
          <p:cNvPr id="6" name="Segnaposto contenuto 2">
            <a:extLst>
              <a:ext uri="{FF2B5EF4-FFF2-40B4-BE49-F238E27FC236}">
                <a16:creationId xmlns:a16="http://schemas.microsoft.com/office/drawing/2014/main" id="{D1DEE100-375A-493B-BD96-22BB30C59CC5}"/>
              </a:ext>
            </a:extLst>
          </p:cNvPr>
          <p:cNvSpPr>
            <a:spLocks noGrp="1"/>
          </p:cNvSpPr>
          <p:nvPr>
            <p:ph idx="1"/>
          </p:nvPr>
        </p:nvSpPr>
        <p:spPr>
          <a:xfrm>
            <a:off x="840000" y="1988800"/>
            <a:ext cx="7980590" cy="4176580"/>
          </a:xfrm>
        </p:spPr>
        <p:txBody>
          <a:bodyPr>
            <a:noAutofit/>
          </a:bodyPr>
          <a:lstStyle/>
          <a:p>
            <a:pPr marL="180340" indent="180340"/>
            <a:r>
              <a:rPr lang="it-IT" sz="3200" dirty="0"/>
              <a:t>Creare un nuovo file con EJE. </a:t>
            </a:r>
          </a:p>
          <a:p>
            <a:pPr marL="180340" indent="180340"/>
            <a:r>
              <a:rPr lang="it-IT" sz="3200" dirty="0"/>
              <a:t>Verrà visualizzato nuovo “foglio”, dove poter scrivere il nostro programma. </a:t>
            </a:r>
          </a:p>
          <a:p>
            <a:pPr marL="180340" indent="180340"/>
            <a:r>
              <a:rPr lang="it-IT" sz="3200" dirty="0"/>
              <a:t>Possiamo quindi copiare il codice sorgente del programma “HelloWorld” nell’area 2. </a:t>
            </a:r>
          </a:p>
          <a:p>
            <a:pPr marL="180340" indent="180340"/>
            <a:r>
              <a:rPr lang="it-IT" sz="3200" dirty="0"/>
              <a:t>Copiare a mano il codice riga dopo riga, dopo averne letta la relativa spiegazione. In questo modo si prenderà più coscienza di quello che scrive.</a:t>
            </a:r>
          </a:p>
        </p:txBody>
      </p:sp>
    </p:spTree>
    <p:extLst>
      <p:ext uri="{BB962C8B-B14F-4D97-AF65-F5344CB8AC3E}">
        <p14:creationId xmlns:p14="http://schemas.microsoft.com/office/powerpoint/2010/main" val="248380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Programmiamo «Hello World»</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21</a:t>
            </a:fld>
            <a:endParaRPr lang="it-IT"/>
          </a:p>
        </p:txBody>
      </p:sp>
      <p:sp>
        <p:nvSpPr>
          <p:cNvPr id="11" name="CasellaDiTesto 10">
            <a:extLst>
              <a:ext uri="{FF2B5EF4-FFF2-40B4-BE49-F238E27FC236}">
                <a16:creationId xmlns:a16="http://schemas.microsoft.com/office/drawing/2014/main" id="{1E5DF330-2586-4263-B701-9A5A8BC4B692}"/>
              </a:ext>
            </a:extLst>
          </p:cNvPr>
          <p:cNvSpPr txBox="1"/>
          <p:nvPr/>
        </p:nvSpPr>
        <p:spPr>
          <a:xfrm>
            <a:off x="0" y="1997839"/>
            <a:ext cx="9144000" cy="2677656"/>
          </a:xfrm>
          <a:prstGeom prst="rect">
            <a:avLst/>
          </a:prstGeom>
          <a:noFill/>
        </p:spPr>
        <p:txBody>
          <a:bodyPr wrap="square">
            <a:spAutoFit/>
          </a:bodyPr>
          <a:lstStyle/>
          <a:p>
            <a:r>
              <a:rPr lang="en-GB" sz="2400" dirty="0">
                <a:effectLst/>
                <a:latin typeface="Courier New" panose="02070309020205020404" pitchFamily="49" charset="0"/>
                <a:ea typeface="Times New Roman" panose="02020603050405020304" pitchFamily="18" charset="0"/>
              </a:rPr>
              <a:t>public class HelloWorld </a:t>
            </a:r>
            <a:endParaRPr lang="it-IT" sz="2400" dirty="0">
              <a:effectLst/>
              <a:latin typeface="Courier New" panose="02070309020205020404" pitchFamily="49" charset="0"/>
              <a:ea typeface="Times New Roman" panose="02020603050405020304" pitchFamily="18" charset="0"/>
            </a:endParaRPr>
          </a:p>
          <a:p>
            <a:r>
              <a:rPr lang="en-GB" sz="2400" dirty="0">
                <a:effectLst/>
                <a:latin typeface="Courier New" panose="02070309020205020404" pitchFamily="49" charset="0"/>
                <a:ea typeface="Times New Roman" panose="02020603050405020304" pitchFamily="18" charset="0"/>
              </a:rPr>
              <a:t>{</a:t>
            </a:r>
            <a:br>
              <a:rPr lang="en-GB" sz="2400" dirty="0">
                <a:effectLst/>
                <a:latin typeface="Courier New" panose="02070309020205020404" pitchFamily="49" charset="0"/>
                <a:ea typeface="Times New Roman" panose="02020603050405020304" pitchFamily="18" charset="0"/>
              </a:rPr>
            </a:br>
            <a:r>
              <a:rPr lang="en-GB" sz="2400" dirty="0">
                <a:effectLst/>
                <a:latin typeface="Courier New" panose="02070309020205020404" pitchFamily="49" charset="0"/>
                <a:ea typeface="Times New Roman" panose="02020603050405020304" pitchFamily="18" charset="0"/>
              </a:rPr>
              <a:t>    public static void main(String args[]) </a:t>
            </a:r>
            <a:endParaRPr lang="it-IT" sz="2400" dirty="0">
              <a:effectLst/>
              <a:latin typeface="Courier New" panose="02070309020205020404" pitchFamily="49" charset="0"/>
              <a:ea typeface="Times New Roman" panose="02020603050405020304" pitchFamily="18" charset="0"/>
            </a:endParaRPr>
          </a:p>
          <a:p>
            <a:r>
              <a:rPr lang="en-GB" sz="2400" dirty="0">
                <a:effectLst/>
                <a:latin typeface="Courier New" panose="02070309020205020404" pitchFamily="49" charset="0"/>
                <a:ea typeface="Times New Roman" panose="02020603050405020304" pitchFamily="18" charset="0"/>
              </a:rPr>
              <a:t>    {</a:t>
            </a:r>
            <a:br>
              <a:rPr lang="en-GB" sz="2400" dirty="0">
                <a:effectLst/>
                <a:latin typeface="Courier New" panose="02070309020205020404" pitchFamily="49" charset="0"/>
                <a:ea typeface="Times New Roman" panose="02020603050405020304" pitchFamily="18" charset="0"/>
              </a:rPr>
            </a:br>
            <a:r>
              <a:rPr lang="en-GB" sz="2400" dirty="0">
                <a:effectLst/>
                <a:latin typeface="Courier New" panose="02070309020205020404" pitchFamily="49" charset="0"/>
                <a:ea typeface="Times New Roman" panose="02020603050405020304" pitchFamily="18" charset="0"/>
              </a:rPr>
              <a:t>        System.out.println("Hello World!");</a:t>
            </a:r>
            <a:br>
              <a:rPr lang="en-GB" sz="2400" dirty="0">
                <a:effectLst/>
                <a:latin typeface="Courier New" panose="02070309020205020404" pitchFamily="49" charset="0"/>
                <a:ea typeface="Times New Roman" panose="02020603050405020304" pitchFamily="18" charset="0"/>
              </a:rPr>
            </a:br>
            <a:r>
              <a:rPr lang="en-GB" sz="2400" dirty="0">
                <a:effectLst/>
                <a:latin typeface="Courier New" panose="02070309020205020404" pitchFamily="49" charset="0"/>
                <a:ea typeface="Times New Roman" panose="02020603050405020304" pitchFamily="18" charset="0"/>
              </a:rPr>
              <a:t>    }</a:t>
            </a:r>
            <a:br>
              <a:rPr lang="en-GB" sz="2400" dirty="0">
                <a:effectLst/>
                <a:latin typeface="Courier New" panose="02070309020205020404" pitchFamily="49" charset="0"/>
                <a:ea typeface="Times New Roman" panose="02020603050405020304" pitchFamily="18" charset="0"/>
              </a:rPr>
            </a:br>
            <a:r>
              <a:rPr lang="en-GB" sz="2400" dirty="0">
                <a:effectLst/>
                <a:latin typeface="Courier New" panose="02070309020205020404" pitchFamily="49" charset="0"/>
                <a:ea typeface="Times New Roman" panose="02020603050405020304" pitchFamily="18" charset="0"/>
              </a:rPr>
              <a:t>}</a:t>
            </a:r>
            <a:endParaRPr lang="it-IT" sz="2400" dirty="0">
              <a:effectLst/>
              <a:latin typeface="Courier New" panose="02070309020205020404" pitchFamily="49" charset="0"/>
              <a:ea typeface="Times New Roman" panose="02020603050405020304" pitchFamily="18" charset="0"/>
            </a:endParaRPr>
          </a:p>
        </p:txBody>
      </p:sp>
    </p:spTree>
    <p:extLst>
      <p:ext uri="{BB962C8B-B14F-4D97-AF65-F5344CB8AC3E}">
        <p14:creationId xmlns:p14="http://schemas.microsoft.com/office/powerpoint/2010/main" val="2289536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«Hello World» versione Java</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22</a:t>
            </a:fld>
            <a:endParaRPr lang="it-IT"/>
          </a:p>
        </p:txBody>
      </p:sp>
      <p:sp>
        <p:nvSpPr>
          <p:cNvPr id="11" name="CasellaDiTesto 10">
            <a:extLst>
              <a:ext uri="{FF2B5EF4-FFF2-40B4-BE49-F238E27FC236}">
                <a16:creationId xmlns:a16="http://schemas.microsoft.com/office/drawing/2014/main" id="{1E5DF330-2586-4263-B701-9A5A8BC4B692}"/>
              </a:ext>
            </a:extLst>
          </p:cNvPr>
          <p:cNvSpPr txBox="1"/>
          <p:nvPr/>
        </p:nvSpPr>
        <p:spPr>
          <a:xfrm>
            <a:off x="0" y="1997839"/>
            <a:ext cx="9144000" cy="2308324"/>
          </a:xfrm>
          <a:prstGeom prst="rect">
            <a:avLst/>
          </a:prstGeom>
          <a:noFill/>
        </p:spPr>
        <p:txBody>
          <a:bodyPr wrap="square">
            <a:spAutoFit/>
          </a:bodyPr>
          <a:lstStyle/>
          <a:p>
            <a:r>
              <a:rPr lang="en-GB" sz="2400" dirty="0">
                <a:effectLst/>
                <a:latin typeface="Courier New" panose="02070309020205020404" pitchFamily="49" charset="0"/>
                <a:ea typeface="Times New Roman" panose="02020603050405020304" pitchFamily="18" charset="0"/>
              </a:rPr>
              <a:t>public class HelloWorld {</a:t>
            </a:r>
            <a:br>
              <a:rPr lang="en-GB" sz="2400" dirty="0">
                <a:effectLst/>
                <a:latin typeface="Courier New" panose="02070309020205020404" pitchFamily="49" charset="0"/>
                <a:ea typeface="Times New Roman" panose="02020603050405020304" pitchFamily="18" charset="0"/>
              </a:rPr>
            </a:br>
            <a:r>
              <a:rPr lang="en-GB" sz="2400" dirty="0">
                <a:effectLst/>
                <a:latin typeface="Courier New" panose="02070309020205020404" pitchFamily="49" charset="0"/>
                <a:ea typeface="Times New Roman" panose="02020603050405020304" pitchFamily="18" charset="0"/>
              </a:rPr>
              <a:t>    public static void main(String args[]) </a:t>
            </a:r>
            <a:endParaRPr lang="it-IT" sz="2400" dirty="0">
              <a:effectLst/>
              <a:latin typeface="Courier New" panose="02070309020205020404" pitchFamily="49" charset="0"/>
              <a:ea typeface="Times New Roman" panose="02020603050405020304" pitchFamily="18" charset="0"/>
            </a:endParaRPr>
          </a:p>
          <a:p>
            <a:r>
              <a:rPr lang="en-GB" sz="2400" dirty="0">
                <a:effectLst/>
                <a:latin typeface="Courier New" panose="02070309020205020404" pitchFamily="49" charset="0"/>
                <a:ea typeface="Times New Roman" panose="02020603050405020304" pitchFamily="18" charset="0"/>
              </a:rPr>
              <a:t>    {</a:t>
            </a:r>
            <a:br>
              <a:rPr lang="en-GB" sz="2400" dirty="0">
                <a:effectLst/>
                <a:latin typeface="Courier New" panose="02070309020205020404" pitchFamily="49" charset="0"/>
                <a:ea typeface="Times New Roman" panose="02020603050405020304" pitchFamily="18" charset="0"/>
              </a:rPr>
            </a:br>
            <a:r>
              <a:rPr lang="en-GB" sz="2400" dirty="0">
                <a:effectLst/>
                <a:latin typeface="Courier New" panose="02070309020205020404" pitchFamily="49" charset="0"/>
                <a:ea typeface="Times New Roman" panose="02020603050405020304" pitchFamily="18" charset="0"/>
              </a:rPr>
              <a:t>        System.out.println("Hello World!");</a:t>
            </a:r>
            <a:br>
              <a:rPr lang="en-GB" sz="2400" dirty="0">
                <a:effectLst/>
                <a:latin typeface="Courier New" panose="02070309020205020404" pitchFamily="49" charset="0"/>
                <a:ea typeface="Times New Roman" panose="02020603050405020304" pitchFamily="18" charset="0"/>
              </a:rPr>
            </a:br>
            <a:r>
              <a:rPr lang="en-GB" sz="2400" dirty="0">
                <a:effectLst/>
                <a:latin typeface="Courier New" panose="02070309020205020404" pitchFamily="49" charset="0"/>
                <a:ea typeface="Times New Roman" panose="02020603050405020304" pitchFamily="18" charset="0"/>
              </a:rPr>
              <a:t>    }</a:t>
            </a:r>
            <a:br>
              <a:rPr lang="en-GB" sz="2400" dirty="0">
                <a:effectLst/>
                <a:latin typeface="Courier New" panose="02070309020205020404" pitchFamily="49" charset="0"/>
                <a:ea typeface="Times New Roman" panose="02020603050405020304" pitchFamily="18" charset="0"/>
              </a:rPr>
            </a:br>
            <a:r>
              <a:rPr lang="en-GB" sz="2400" dirty="0">
                <a:effectLst/>
                <a:latin typeface="Courier New" panose="02070309020205020404" pitchFamily="49" charset="0"/>
                <a:ea typeface="Times New Roman" panose="02020603050405020304" pitchFamily="18" charset="0"/>
              </a:rPr>
              <a:t>}</a:t>
            </a:r>
            <a:endParaRPr lang="it-IT" sz="2400" dirty="0">
              <a:effectLst/>
              <a:latin typeface="Courier New" panose="02070309020205020404" pitchFamily="49" charset="0"/>
              <a:ea typeface="Times New Roman" panose="02020603050405020304" pitchFamily="18" charset="0"/>
            </a:endParaRPr>
          </a:p>
        </p:txBody>
      </p:sp>
    </p:spTree>
    <p:extLst>
      <p:ext uri="{BB962C8B-B14F-4D97-AF65-F5344CB8AC3E}">
        <p14:creationId xmlns:p14="http://schemas.microsoft.com/office/powerpoint/2010/main" val="3612738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Programmiamo: tutti i passi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23</a:t>
            </a:fld>
            <a:endParaRPr lang="it-IT"/>
          </a:p>
        </p:txBody>
      </p:sp>
      <p:sp>
        <p:nvSpPr>
          <p:cNvPr id="6" name="Segnaposto contenuto 2">
            <a:extLst>
              <a:ext uri="{FF2B5EF4-FFF2-40B4-BE49-F238E27FC236}">
                <a16:creationId xmlns:a16="http://schemas.microsoft.com/office/drawing/2014/main" id="{D1DEE100-375A-493B-BD96-22BB30C59CC5}"/>
              </a:ext>
            </a:extLst>
          </p:cNvPr>
          <p:cNvSpPr>
            <a:spLocks noGrp="1"/>
          </p:cNvSpPr>
          <p:nvPr>
            <p:ph idx="1"/>
          </p:nvPr>
        </p:nvSpPr>
        <p:spPr>
          <a:xfrm>
            <a:off x="840000" y="1628750"/>
            <a:ext cx="7980590" cy="4176580"/>
          </a:xfrm>
        </p:spPr>
        <p:txBody>
          <a:bodyPr>
            <a:noAutofit/>
          </a:bodyPr>
          <a:lstStyle/>
          <a:p>
            <a:pPr marL="180340" indent="180340"/>
            <a:r>
              <a:rPr lang="it-IT" sz="3200" dirty="0"/>
              <a:t>Pre requisito </a:t>
            </a:r>
            <a:r>
              <a:rPr lang="it-IT" sz="3200" dirty="0">
                <a:hlinkClick r:id="rId3"/>
              </a:rPr>
              <a:t>abilitare visualizzazione suffisso</a:t>
            </a:r>
            <a:endParaRPr lang="it-IT" sz="3200" dirty="0"/>
          </a:p>
          <a:p>
            <a:pPr marL="180340" indent="180340"/>
            <a:r>
              <a:rPr lang="it-IT" sz="3200" dirty="0"/>
              <a:t>Creare un cartella di lavoro</a:t>
            </a:r>
          </a:p>
          <a:p>
            <a:pPr marL="180340" indent="180340"/>
            <a:r>
              <a:rPr lang="it-IT" sz="3200" dirty="0"/>
              <a:t>Salvare il file nella cartella giusta</a:t>
            </a:r>
          </a:p>
          <a:p>
            <a:pPr marL="180340" indent="180340"/>
            <a:r>
              <a:rPr lang="it-IT" sz="3200" dirty="0"/>
              <a:t>Aprire la cartella di lavoro in EJE</a:t>
            </a:r>
          </a:p>
          <a:p>
            <a:pPr marL="180340" indent="180340"/>
            <a:r>
              <a:rPr lang="it-IT" sz="3200" dirty="0"/>
              <a:t>Compilare</a:t>
            </a:r>
          </a:p>
          <a:p>
            <a:pPr marL="180340" indent="180340"/>
            <a:r>
              <a:rPr lang="it-IT" sz="3200" dirty="0"/>
              <a:t>Visualizzare risultato</a:t>
            </a:r>
          </a:p>
          <a:p>
            <a:pPr marL="180340" indent="180340"/>
            <a:r>
              <a:rPr lang="it-IT" sz="3200" dirty="0"/>
              <a:t>Eseguire</a:t>
            </a:r>
          </a:p>
          <a:p>
            <a:pPr marL="180340" indent="180340"/>
            <a:r>
              <a:rPr lang="it-IT" sz="3200" dirty="0"/>
              <a:t>Altri ambienti di sviluppo</a:t>
            </a:r>
          </a:p>
          <a:p>
            <a:pPr marL="180340" indent="180340"/>
            <a:endParaRPr lang="it-IT" sz="3200" dirty="0"/>
          </a:p>
        </p:txBody>
      </p:sp>
    </p:spTree>
    <p:extLst>
      <p:ext uri="{BB962C8B-B14F-4D97-AF65-F5344CB8AC3E}">
        <p14:creationId xmlns:p14="http://schemas.microsoft.com/office/powerpoint/2010/main" val="3949219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124680"/>
          </a:xfrm>
        </p:spPr>
        <p:txBody>
          <a:bodyPr>
            <a:normAutofit/>
          </a:bodyPr>
          <a:lstStyle/>
          <a:p>
            <a:pPr algn="ctr"/>
            <a:r>
              <a:rPr lang="it-IT" dirty="0"/>
              <a:t>Secondo programma (interattivo)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24</a:t>
            </a:fld>
            <a:endParaRPr lang="it-IT"/>
          </a:p>
        </p:txBody>
      </p:sp>
      <p:sp>
        <p:nvSpPr>
          <p:cNvPr id="11" name="CasellaDiTesto 10">
            <a:extLst>
              <a:ext uri="{FF2B5EF4-FFF2-40B4-BE49-F238E27FC236}">
                <a16:creationId xmlns:a16="http://schemas.microsoft.com/office/drawing/2014/main" id="{1E5DF330-2586-4263-B701-9A5A8BC4B692}"/>
              </a:ext>
            </a:extLst>
          </p:cNvPr>
          <p:cNvSpPr txBox="1"/>
          <p:nvPr/>
        </p:nvSpPr>
        <p:spPr>
          <a:xfrm>
            <a:off x="0" y="1340710"/>
            <a:ext cx="9144000" cy="4278094"/>
          </a:xfrm>
          <a:prstGeom prst="rect">
            <a:avLst/>
          </a:prstGeom>
          <a:noFill/>
        </p:spPr>
        <p:txBody>
          <a:bodyPr wrap="square">
            <a:spAutoFit/>
          </a:bodyPr>
          <a:lstStyle/>
          <a:p>
            <a:r>
              <a:rPr lang="en-GB" sz="1700" dirty="0">
                <a:effectLst/>
                <a:latin typeface="Courier New" panose="02070309020205020404" pitchFamily="49" charset="0"/>
                <a:ea typeface="Times New Roman" panose="02020603050405020304" pitchFamily="18" charset="0"/>
              </a:rPr>
              <a:t>import </a:t>
            </a:r>
            <a:r>
              <a:rPr lang="en-GB" sz="1700" dirty="0" err="1">
                <a:effectLst/>
                <a:latin typeface="Courier New" panose="02070309020205020404" pitchFamily="49" charset="0"/>
                <a:ea typeface="Times New Roman" panose="02020603050405020304" pitchFamily="18" charset="0"/>
              </a:rPr>
              <a:t>java.util.Scanner</a:t>
            </a:r>
            <a:r>
              <a:rPr lang="en-GB" sz="1700" dirty="0">
                <a:effectLst/>
                <a:latin typeface="Courier New" panose="02070309020205020404" pitchFamily="49" charset="0"/>
                <a:ea typeface="Times New Roman" panose="02020603050405020304" pitchFamily="18" charset="0"/>
              </a:rPr>
              <a:t>;</a:t>
            </a:r>
            <a:endParaRPr lang="it-IT" sz="1700" dirty="0">
              <a:effectLst/>
              <a:latin typeface="Courier New" panose="02070309020205020404" pitchFamily="49" charset="0"/>
              <a:ea typeface="Times New Roman" panose="02020603050405020304" pitchFamily="18" charset="0"/>
            </a:endParaRPr>
          </a:p>
          <a:p>
            <a:endParaRPr lang="it-IT" sz="1700" dirty="0">
              <a:effectLst/>
              <a:latin typeface="Courier New" panose="02070309020205020404" pitchFamily="49" charset="0"/>
              <a:ea typeface="Times New Roman" panose="02020603050405020304" pitchFamily="18" charset="0"/>
            </a:endParaRPr>
          </a:p>
          <a:p>
            <a:r>
              <a:rPr lang="en-GB" sz="1700" dirty="0">
                <a:effectLst/>
                <a:latin typeface="Courier New" panose="02070309020205020404" pitchFamily="49" charset="0"/>
                <a:ea typeface="Times New Roman" panose="02020603050405020304" pitchFamily="18" charset="0"/>
              </a:rPr>
              <a:t>public class </a:t>
            </a:r>
            <a:r>
              <a:rPr lang="en-GB" sz="1700" dirty="0" err="1">
                <a:effectLst/>
                <a:latin typeface="Courier New" panose="02070309020205020404" pitchFamily="49" charset="0"/>
                <a:ea typeface="Times New Roman" panose="02020603050405020304" pitchFamily="18" charset="0"/>
              </a:rPr>
              <a:t>MoltiplicaDueInteri</a:t>
            </a:r>
            <a:r>
              <a:rPr lang="en-GB" sz="1700" dirty="0">
                <a:effectLst/>
                <a:latin typeface="Courier New" panose="02070309020205020404" pitchFamily="49" charset="0"/>
                <a:ea typeface="Times New Roman" panose="02020603050405020304" pitchFamily="18" charset="0"/>
              </a:rPr>
              <a:t> {</a:t>
            </a:r>
            <a:endParaRPr lang="it-IT" sz="1700" dirty="0">
              <a:effectLst/>
              <a:latin typeface="Courier New" panose="02070309020205020404" pitchFamily="49" charset="0"/>
              <a:ea typeface="Times New Roman" panose="02020603050405020304" pitchFamily="18" charset="0"/>
            </a:endParaRPr>
          </a:p>
          <a:p>
            <a:r>
              <a:rPr lang="en-GB" sz="1700" dirty="0">
                <a:effectLst/>
                <a:latin typeface="Courier New" panose="02070309020205020404" pitchFamily="49" charset="0"/>
                <a:ea typeface="Times New Roman" panose="02020603050405020304" pitchFamily="18" charset="0"/>
              </a:rPr>
              <a:t>  public static void main(String args[]) {</a:t>
            </a:r>
            <a:endParaRPr lang="it-IT" sz="1700" dirty="0">
              <a:effectLst/>
              <a:latin typeface="Courier New" panose="02070309020205020404" pitchFamily="49" charset="0"/>
              <a:ea typeface="Times New Roman" panose="02020603050405020304" pitchFamily="18" charset="0"/>
            </a:endParaRPr>
          </a:p>
          <a:p>
            <a:r>
              <a:rPr lang="it-IT" sz="1700" dirty="0">
                <a:effectLst/>
                <a:latin typeface="Courier New" panose="02070309020205020404" pitchFamily="49" charset="0"/>
                <a:ea typeface="Times New Roman" panose="02020603050405020304" pitchFamily="18" charset="0"/>
              </a:rPr>
              <a:t>     System.out.println("Ciao, so moltiplicare due numeri interi.");</a:t>
            </a:r>
          </a:p>
          <a:p>
            <a:r>
              <a:rPr lang="it-IT" sz="1700" dirty="0">
                <a:effectLst/>
                <a:latin typeface="Courier New" panose="02070309020205020404" pitchFamily="49" charset="0"/>
                <a:ea typeface="Times New Roman" panose="02020603050405020304" pitchFamily="18" charset="0"/>
              </a:rPr>
              <a:t>     System.out.println("Scrivi il primo valore e batti invio");</a:t>
            </a:r>
          </a:p>
          <a:p>
            <a:r>
              <a:rPr lang="en-GB" sz="1700" dirty="0">
                <a:effectLst/>
                <a:latin typeface="Courier New" panose="02070309020205020404" pitchFamily="49" charset="0"/>
                <a:ea typeface="Times New Roman" panose="02020603050405020304" pitchFamily="18" charset="0"/>
              </a:rPr>
              <a:t>     Scanner </a:t>
            </a:r>
            <a:r>
              <a:rPr lang="en-GB" sz="1700" dirty="0" err="1">
                <a:effectLst/>
                <a:latin typeface="Courier New" panose="02070309020205020404" pitchFamily="49" charset="0"/>
                <a:ea typeface="Times New Roman" panose="02020603050405020304" pitchFamily="18" charset="0"/>
              </a:rPr>
              <a:t>keyboardScanner</a:t>
            </a:r>
            <a:r>
              <a:rPr lang="en-GB" sz="1700" dirty="0">
                <a:effectLst/>
                <a:latin typeface="Courier New" panose="02070309020205020404" pitchFamily="49" charset="0"/>
                <a:ea typeface="Times New Roman" panose="02020603050405020304" pitchFamily="18" charset="0"/>
              </a:rPr>
              <a:t> = new Scanner(System.in);</a:t>
            </a:r>
            <a:endParaRPr lang="it-IT" sz="1700" dirty="0">
              <a:effectLst/>
              <a:latin typeface="Courier New" panose="02070309020205020404" pitchFamily="49" charset="0"/>
              <a:ea typeface="Times New Roman" panose="02020603050405020304" pitchFamily="18" charset="0"/>
            </a:endParaRPr>
          </a:p>
          <a:p>
            <a:r>
              <a:rPr lang="en-GB" sz="1700" b="1" dirty="0">
                <a:effectLst/>
                <a:latin typeface="Courier New" panose="02070309020205020404" pitchFamily="49" charset="0"/>
                <a:ea typeface="Times New Roman" panose="02020603050405020304" pitchFamily="18" charset="0"/>
              </a:rPr>
              <a:t>     </a:t>
            </a:r>
            <a:r>
              <a:rPr lang="en-GB" sz="1700" dirty="0">
                <a:effectLst/>
                <a:latin typeface="Courier New" panose="02070309020205020404" pitchFamily="49" charset="0"/>
                <a:ea typeface="Times New Roman" panose="02020603050405020304" pitchFamily="18" charset="0"/>
              </a:rPr>
              <a:t>int input1;</a:t>
            </a:r>
            <a:endParaRPr lang="it-IT" sz="1700" dirty="0">
              <a:effectLst/>
              <a:latin typeface="Courier New" panose="02070309020205020404" pitchFamily="49" charset="0"/>
              <a:ea typeface="Times New Roman" panose="02020603050405020304" pitchFamily="18" charset="0"/>
            </a:endParaRPr>
          </a:p>
          <a:p>
            <a:r>
              <a:rPr lang="en-GB" sz="1700" b="1" dirty="0">
                <a:effectLst/>
                <a:latin typeface="Courier New" panose="02070309020205020404" pitchFamily="49" charset="0"/>
                <a:ea typeface="Times New Roman" panose="02020603050405020304" pitchFamily="18" charset="0"/>
              </a:rPr>
              <a:t>     </a:t>
            </a:r>
            <a:r>
              <a:rPr lang="en-GB" sz="1700" dirty="0">
                <a:effectLst/>
                <a:latin typeface="Courier New" panose="02070309020205020404" pitchFamily="49" charset="0"/>
                <a:ea typeface="Times New Roman" panose="02020603050405020304" pitchFamily="18" charset="0"/>
              </a:rPr>
              <a:t>input1 = </a:t>
            </a:r>
            <a:r>
              <a:rPr lang="en-GB" sz="1700" dirty="0" err="1">
                <a:effectLst/>
                <a:latin typeface="Courier New" panose="02070309020205020404" pitchFamily="49" charset="0"/>
                <a:ea typeface="Times New Roman" panose="02020603050405020304" pitchFamily="18" charset="0"/>
              </a:rPr>
              <a:t>keyboardScanner.nextInt</a:t>
            </a:r>
            <a:r>
              <a:rPr lang="en-GB" sz="1700" dirty="0">
                <a:effectLst/>
                <a:latin typeface="Courier New" panose="02070309020205020404" pitchFamily="49" charset="0"/>
                <a:ea typeface="Times New Roman" panose="02020603050405020304" pitchFamily="18" charset="0"/>
              </a:rPr>
              <a:t>();</a:t>
            </a:r>
            <a:endParaRPr lang="it-IT" sz="1700" dirty="0">
              <a:effectLst/>
              <a:latin typeface="Courier New" panose="02070309020205020404" pitchFamily="49" charset="0"/>
              <a:ea typeface="Times New Roman" panose="02020603050405020304" pitchFamily="18" charset="0"/>
            </a:endParaRPr>
          </a:p>
          <a:p>
            <a:r>
              <a:rPr lang="it-IT" sz="1700" dirty="0">
                <a:effectLst/>
                <a:latin typeface="Courier New" panose="02070309020205020404" pitchFamily="49" charset="0"/>
                <a:ea typeface="Times New Roman" panose="02020603050405020304" pitchFamily="18" charset="0"/>
              </a:rPr>
              <a:t>     System.out.println("Scrivi il secondo valore e batti invio");</a:t>
            </a:r>
          </a:p>
          <a:p>
            <a:r>
              <a:rPr lang="en-GB" sz="1700" dirty="0">
                <a:effectLst/>
                <a:latin typeface="Courier New" panose="02070309020205020404" pitchFamily="49" charset="0"/>
                <a:ea typeface="Times New Roman" panose="02020603050405020304" pitchFamily="18" charset="0"/>
              </a:rPr>
              <a:t>     int input2 = </a:t>
            </a:r>
            <a:r>
              <a:rPr lang="en-GB" sz="1700" dirty="0" err="1">
                <a:effectLst/>
                <a:latin typeface="Courier New" panose="02070309020205020404" pitchFamily="49" charset="0"/>
                <a:ea typeface="Times New Roman" panose="02020603050405020304" pitchFamily="18" charset="0"/>
              </a:rPr>
              <a:t>keyboardScanner.nextInt</a:t>
            </a:r>
            <a:r>
              <a:rPr lang="en-GB" sz="1700" dirty="0">
                <a:effectLst/>
                <a:latin typeface="Courier New" panose="02070309020205020404" pitchFamily="49" charset="0"/>
                <a:ea typeface="Times New Roman" panose="02020603050405020304" pitchFamily="18" charset="0"/>
              </a:rPr>
              <a:t>();</a:t>
            </a:r>
            <a:endParaRPr lang="it-IT" sz="1700" dirty="0">
              <a:effectLst/>
              <a:latin typeface="Courier New" panose="02070309020205020404" pitchFamily="49" charset="0"/>
              <a:ea typeface="Times New Roman" panose="02020603050405020304" pitchFamily="18" charset="0"/>
            </a:endParaRPr>
          </a:p>
          <a:p>
            <a:r>
              <a:rPr lang="en-GB" sz="1700" dirty="0">
                <a:effectLst/>
                <a:latin typeface="Courier New" panose="02070309020205020404" pitchFamily="49" charset="0"/>
                <a:ea typeface="Times New Roman" panose="02020603050405020304" pitchFamily="18" charset="0"/>
              </a:rPr>
              <a:t>     int </a:t>
            </a:r>
            <a:r>
              <a:rPr lang="en-GB" sz="1700" dirty="0" err="1">
                <a:effectLst/>
                <a:latin typeface="Courier New" panose="02070309020205020404" pitchFamily="49" charset="0"/>
                <a:ea typeface="Times New Roman" panose="02020603050405020304" pitchFamily="18" charset="0"/>
              </a:rPr>
              <a:t>risultato</a:t>
            </a:r>
            <a:r>
              <a:rPr lang="en-GB" sz="1700" dirty="0">
                <a:effectLst/>
                <a:latin typeface="Courier New" panose="02070309020205020404" pitchFamily="49" charset="0"/>
                <a:ea typeface="Times New Roman" panose="02020603050405020304" pitchFamily="18" charset="0"/>
              </a:rPr>
              <a:t> = input1 * input2;</a:t>
            </a:r>
            <a:endParaRPr lang="it-IT" sz="1700" dirty="0">
              <a:effectLst/>
              <a:latin typeface="Courier New" panose="02070309020205020404" pitchFamily="49" charset="0"/>
              <a:ea typeface="Times New Roman" panose="02020603050405020304" pitchFamily="18" charset="0"/>
            </a:endParaRPr>
          </a:p>
          <a:p>
            <a:r>
              <a:rPr lang="it-IT" sz="1700" dirty="0">
                <a:effectLst/>
                <a:latin typeface="Courier New" panose="02070309020205020404" pitchFamily="49" charset="0"/>
                <a:ea typeface="Times New Roman" panose="02020603050405020304" pitchFamily="18" charset="0"/>
              </a:rPr>
              <a:t>     System.out.println("Il risultato è:");</a:t>
            </a:r>
          </a:p>
          <a:p>
            <a:r>
              <a:rPr lang="it-IT" sz="1700" dirty="0">
                <a:effectLst/>
                <a:latin typeface="Courier New" panose="02070309020205020404" pitchFamily="49" charset="0"/>
                <a:ea typeface="Times New Roman" panose="02020603050405020304" pitchFamily="18" charset="0"/>
              </a:rPr>
              <a:t>     System.out.println(risultato);</a:t>
            </a:r>
          </a:p>
          <a:p>
            <a:r>
              <a:rPr lang="it-IT" sz="1700" dirty="0">
                <a:effectLst/>
                <a:latin typeface="Courier New" panose="02070309020205020404" pitchFamily="49" charset="0"/>
                <a:ea typeface="Times New Roman" panose="02020603050405020304" pitchFamily="18" charset="0"/>
              </a:rPr>
              <a:t>  }</a:t>
            </a:r>
          </a:p>
          <a:p>
            <a:r>
              <a:rPr lang="it-IT" sz="1700" dirty="0">
                <a:effectLst/>
                <a:latin typeface="Courier New" panose="02070309020205020404" pitchFamily="49" charset="0"/>
                <a:ea typeface="Times New Roman" panose="02020603050405020304" pitchFamily="18" charset="0"/>
              </a:rPr>
              <a:t>}</a:t>
            </a:r>
          </a:p>
        </p:txBody>
      </p:sp>
    </p:spTree>
    <p:extLst>
      <p:ext uri="{BB962C8B-B14F-4D97-AF65-F5344CB8AC3E}">
        <p14:creationId xmlns:p14="http://schemas.microsoft.com/office/powerpoint/2010/main" val="344549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Non è mica così semplice!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25</a:t>
            </a:fld>
            <a:endParaRPr lang="it-IT"/>
          </a:p>
        </p:txBody>
      </p:sp>
      <p:sp>
        <p:nvSpPr>
          <p:cNvPr id="6" name="Segnaposto contenuto 2">
            <a:extLst>
              <a:ext uri="{FF2B5EF4-FFF2-40B4-BE49-F238E27FC236}">
                <a16:creationId xmlns:a16="http://schemas.microsoft.com/office/drawing/2014/main" id="{D1DEE100-375A-493B-BD96-22BB30C59CC5}"/>
              </a:ext>
            </a:extLst>
          </p:cNvPr>
          <p:cNvSpPr>
            <a:spLocks noGrp="1"/>
          </p:cNvSpPr>
          <p:nvPr>
            <p:ph idx="1"/>
          </p:nvPr>
        </p:nvSpPr>
        <p:spPr>
          <a:xfrm>
            <a:off x="840000" y="1628750"/>
            <a:ext cx="7980590" cy="4176580"/>
          </a:xfrm>
        </p:spPr>
        <p:txBody>
          <a:bodyPr>
            <a:noAutofit/>
          </a:bodyPr>
          <a:lstStyle/>
          <a:p>
            <a:pPr marL="180340" indent="180340"/>
            <a:r>
              <a:rPr lang="it-IT" sz="3200" dirty="0"/>
              <a:t>Approfondimento 1.3 «Possibili problemi in fase di compilazione ed esecuzione»</a:t>
            </a:r>
          </a:p>
          <a:p>
            <a:pPr marL="180340" indent="180340"/>
            <a:r>
              <a:rPr lang="it-IT" sz="3200" dirty="0"/>
              <a:t>Testare l’applicazione usando  input diversi ed analizzare gli output</a:t>
            </a:r>
          </a:p>
          <a:p>
            <a:pPr marL="180340" indent="180340"/>
            <a:r>
              <a:rPr lang="it-IT" sz="3200" dirty="0"/>
              <a:t>Mettere in un lista tutti i problemi che si sono presentati</a:t>
            </a:r>
          </a:p>
          <a:p>
            <a:pPr marL="180340" indent="180340"/>
            <a:r>
              <a:rPr lang="it-IT" sz="3200" dirty="0"/>
              <a:t>Sapete risolverli?</a:t>
            </a:r>
          </a:p>
          <a:p>
            <a:pPr marL="180340" indent="180340"/>
            <a:endParaRPr lang="it-IT" sz="3200" dirty="0"/>
          </a:p>
          <a:p>
            <a:pPr marL="180340" indent="180340"/>
            <a:endParaRPr lang="it-IT" sz="3200" dirty="0"/>
          </a:p>
        </p:txBody>
      </p:sp>
    </p:spTree>
    <p:extLst>
      <p:ext uri="{BB962C8B-B14F-4D97-AF65-F5344CB8AC3E}">
        <p14:creationId xmlns:p14="http://schemas.microsoft.com/office/powerpoint/2010/main" val="15827745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124680"/>
          </a:xfrm>
        </p:spPr>
        <p:txBody>
          <a:bodyPr>
            <a:normAutofit/>
          </a:bodyPr>
          <a:lstStyle/>
          <a:p>
            <a:pPr algn="ctr"/>
            <a:r>
              <a:rPr lang="it-IT" dirty="0"/>
              <a:t>JDK</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NJ-oo1</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26</a:t>
            </a:fld>
            <a:endParaRPr lang="it-IT"/>
          </a:p>
        </p:txBody>
      </p:sp>
      <p:sp>
        <p:nvSpPr>
          <p:cNvPr id="6" name="Segnaposto contenuto 2">
            <a:extLst>
              <a:ext uri="{FF2B5EF4-FFF2-40B4-BE49-F238E27FC236}">
                <a16:creationId xmlns:a16="http://schemas.microsoft.com/office/drawing/2014/main" id="{682E1B67-E0B7-40B5-B5D5-4DF0FF84416C}"/>
              </a:ext>
            </a:extLst>
          </p:cNvPr>
          <p:cNvSpPr>
            <a:spLocks noGrp="1"/>
          </p:cNvSpPr>
          <p:nvPr>
            <p:ph idx="1"/>
          </p:nvPr>
        </p:nvSpPr>
        <p:spPr>
          <a:xfrm>
            <a:off x="840000" y="1628750"/>
            <a:ext cx="7980590" cy="4176580"/>
          </a:xfrm>
        </p:spPr>
        <p:txBody>
          <a:bodyPr>
            <a:noAutofit/>
          </a:bodyPr>
          <a:lstStyle/>
          <a:p>
            <a:pPr marL="180340" indent="180340"/>
            <a:r>
              <a:rPr lang="it-IT" sz="3200" dirty="0"/>
              <a:t>Installazione (appendice B o </a:t>
            </a:r>
            <a:r>
              <a:rPr lang="it-IT" sz="3200" dirty="0">
                <a:hlinkClick r:id="rId3"/>
              </a:rPr>
              <a:t>video</a:t>
            </a:r>
            <a:r>
              <a:rPr lang="it-IT" sz="3200" dirty="0"/>
              <a:t>)</a:t>
            </a:r>
          </a:p>
          <a:p>
            <a:pPr marL="180340" indent="180340"/>
            <a:r>
              <a:rPr lang="it-IT" sz="3200" dirty="0"/>
              <a:t>Struttura del JDK</a:t>
            </a:r>
          </a:p>
          <a:p>
            <a:pPr marL="180340" indent="180340"/>
            <a:r>
              <a:rPr lang="it-IT" sz="3200" dirty="0"/>
              <a:t>Differenza con JRE e JVM</a:t>
            </a:r>
          </a:p>
          <a:p>
            <a:pPr marL="180340" indent="180340"/>
            <a:r>
              <a:rPr lang="it-IT" sz="3200" dirty="0"/>
              <a:t>Provare a compilare ed eseguire i programmi da riga di comando</a:t>
            </a:r>
          </a:p>
          <a:p>
            <a:pPr marL="180340" indent="180340"/>
            <a:r>
              <a:rPr lang="it-IT" sz="3200" dirty="0"/>
              <a:t>Creare la classe </a:t>
            </a:r>
            <a:r>
              <a:rPr lang="it-IT" sz="3200" i="1" dirty="0" err="1"/>
              <a:t>SommaTreInteri</a:t>
            </a:r>
            <a:r>
              <a:rPr lang="it-IT" sz="3200" dirty="0"/>
              <a:t> con blocco note e JDK</a:t>
            </a:r>
          </a:p>
          <a:p>
            <a:pPr marL="180340" indent="180340"/>
            <a:r>
              <a:rPr lang="it-IT" sz="3200" dirty="0"/>
              <a:t>Riassumere tutte le azioni intraprese per sviluppare con questo ambiente</a:t>
            </a:r>
          </a:p>
          <a:p>
            <a:pPr marL="180340" indent="180340"/>
            <a:endParaRPr lang="it-IT" sz="3200" dirty="0"/>
          </a:p>
        </p:txBody>
      </p:sp>
    </p:spTree>
    <p:extLst>
      <p:ext uri="{BB962C8B-B14F-4D97-AF65-F5344CB8AC3E}">
        <p14:creationId xmlns:p14="http://schemas.microsoft.com/office/powerpoint/2010/main" val="3691854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467430" y="0"/>
            <a:ext cx="8137130" cy="1628749"/>
          </a:xfrm>
        </p:spPr>
        <p:txBody>
          <a:bodyPr/>
          <a:lstStyle/>
          <a:p>
            <a:pPr algn="ctr"/>
            <a:r>
              <a:rPr lang="it-IT" dirty="0"/>
              <a:t>Sommario</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1700760"/>
            <a:ext cx="9144000" cy="4792113"/>
          </a:xfrm>
        </p:spPr>
        <p:txBody>
          <a:bodyPr>
            <a:noAutofit/>
          </a:bodyPr>
          <a:lstStyle/>
          <a:p>
            <a:pPr marL="180340" indent="180340">
              <a:tabLst>
                <a:tab pos="457200" algn="l"/>
              </a:tabLst>
            </a:pPr>
            <a:r>
              <a:rPr lang="it-IT" sz="2800" dirty="0">
                <a:effectLst/>
                <a:latin typeface="Calibri" panose="020F0502020204030204" pitchFamily="34" charset="0"/>
                <a:ea typeface="Times New Roman" panose="02020603050405020304" pitchFamily="18" charset="0"/>
                <a:cs typeface="Calibri" panose="020F0502020204030204" pitchFamily="34" charset="0"/>
              </a:rPr>
              <a:t>Conoscere alcuni concetti informatici di base (unità 1.1).</a:t>
            </a:r>
          </a:p>
          <a:p>
            <a:pPr marL="180340" indent="180340">
              <a:tabLst>
                <a:tab pos="457200" algn="l"/>
              </a:tabLst>
            </a:pPr>
            <a:r>
              <a:rPr lang="it-IT" sz="2800" dirty="0">
                <a:effectLst/>
                <a:latin typeface="Calibri" panose="020F0502020204030204" pitchFamily="34" charset="0"/>
                <a:ea typeface="Times New Roman" panose="02020603050405020304" pitchFamily="18" charset="0"/>
                <a:cs typeface="Calibri" panose="020F0502020204030204" pitchFamily="34" charset="0"/>
              </a:rPr>
              <a:t>Saper definire il linguaggio di programmazione Java e le sue caratteristiche (unità 1.2). </a:t>
            </a:r>
          </a:p>
          <a:p>
            <a:pPr marL="180340" indent="180340">
              <a:tabLst>
                <a:tab pos="457200" algn="l"/>
              </a:tabLst>
            </a:pPr>
            <a:r>
              <a:rPr lang="it-IT" sz="2800" dirty="0">
                <a:effectLst/>
                <a:latin typeface="Calibri" panose="020F0502020204030204" pitchFamily="34" charset="0"/>
                <a:ea typeface="Times New Roman" panose="02020603050405020304" pitchFamily="18" charset="0"/>
                <a:cs typeface="Calibri" panose="020F0502020204030204" pitchFamily="34" charset="0"/>
              </a:rPr>
              <a:t>Scegliere un ambiente di sviluppo (unità 1.3).</a:t>
            </a:r>
          </a:p>
          <a:p>
            <a:pPr marL="180340" indent="180340">
              <a:tabLst>
                <a:tab pos="457200" algn="l"/>
              </a:tabLst>
            </a:pPr>
            <a:r>
              <a:rPr lang="it-IT" sz="2800" dirty="0">
                <a:effectLst/>
                <a:latin typeface="Calibri" panose="020F0502020204030204" pitchFamily="34" charset="0"/>
                <a:ea typeface="Times New Roman" panose="02020603050405020304" pitchFamily="18" charset="0"/>
                <a:cs typeface="Calibri" panose="020F0502020204030204" pitchFamily="34" charset="0"/>
              </a:rPr>
              <a:t>Saper digitare, compilare e mandare in esecuzione una semplice applicazione (unità 1.3).</a:t>
            </a:r>
          </a:p>
          <a:p>
            <a:pPr marL="180340" indent="180340">
              <a:tabLst>
                <a:tab pos="457200" algn="l"/>
              </a:tabLst>
            </a:pPr>
            <a:r>
              <a:rPr lang="it-IT" sz="2800" dirty="0">
                <a:effectLst/>
                <a:latin typeface="Calibri" panose="020F0502020204030204" pitchFamily="34" charset="0"/>
                <a:ea typeface="Times New Roman" panose="02020603050405020304" pitchFamily="18" charset="0"/>
                <a:cs typeface="Calibri" panose="020F0502020204030204" pitchFamily="34" charset="0"/>
              </a:rPr>
              <a:t>Creare semplici programmi interattivi (unità 1.4, 15).</a:t>
            </a:r>
          </a:p>
          <a:p>
            <a:pPr marL="180340" indent="180340">
              <a:tabLst>
                <a:tab pos="457200" algn="l"/>
              </a:tabLst>
            </a:pPr>
            <a:r>
              <a:rPr lang="it-IT" sz="2800" dirty="0">
                <a:effectLst/>
                <a:latin typeface="Calibri" panose="020F0502020204030204" pitchFamily="34" charset="0"/>
                <a:ea typeface="Times New Roman" panose="02020603050405020304" pitchFamily="18" charset="0"/>
                <a:cs typeface="Calibri" panose="020F0502020204030204" pitchFamily="34" charset="0"/>
              </a:rPr>
              <a:t>Interagire con l’ambiente di sviluppo ufficiale: il Java Development Kit (unità 1.5).</a:t>
            </a:r>
          </a:p>
          <a:p>
            <a:pPr marL="180340" indent="180340">
              <a:tabLst>
                <a:tab pos="457200" algn="l"/>
              </a:tabLst>
            </a:pPr>
            <a:endParaRPr lang="it-IT" sz="2000" dirty="0">
              <a:latin typeface="Calibri" panose="020F0502020204030204" pitchFamily="34" charset="0"/>
              <a:cs typeface="Calibri" panose="020F0502020204030204" pitchFamily="34" charset="0"/>
            </a:endParaRP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dirty="0"/>
              <a:t>Claudio De Sio Cesari: NJ-002</a:t>
            </a:r>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27</a:t>
            </a:fld>
            <a:endParaRPr lang="it-IT"/>
          </a:p>
        </p:txBody>
      </p:sp>
    </p:spTree>
    <p:extLst>
      <p:ext uri="{BB962C8B-B14F-4D97-AF65-F5344CB8AC3E}">
        <p14:creationId xmlns:p14="http://schemas.microsoft.com/office/powerpoint/2010/main" val="4065817197"/>
      </p:ext>
    </p:extLst>
  </p:cSld>
  <p:clrMapOvr>
    <a:masterClrMapping/>
  </p:clrMapOvr>
</p:sld>
</file>

<file path=ppt/theme/theme1.xml><?xml version="1.0" encoding="utf-8"?>
<a:theme xmlns:a="http://schemas.openxmlformats.org/drawingml/2006/main" name="Academy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ersonalizza struttur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Academy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Profondità">
  <a:themeElements>
    <a:clrScheme name="Profondità">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Profondità">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rofondità">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5.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AcademyTheme</Template>
  <TotalTime>15544</TotalTime>
  <Words>12993</Words>
  <Application>Microsoft Office PowerPoint</Application>
  <PresentationFormat>Presentazione su schermo (4:3)</PresentationFormat>
  <Paragraphs>477</Paragraphs>
  <Slides>27</Slides>
  <Notes>26</Notes>
  <HiddenSlides>0</HiddenSlides>
  <MMClips>0</MMClips>
  <ScaleCrop>false</ScaleCrop>
  <HeadingPairs>
    <vt:vector size="6" baseType="variant">
      <vt:variant>
        <vt:lpstr>Caratteri utilizzati</vt:lpstr>
      </vt:variant>
      <vt:variant>
        <vt:i4>6</vt:i4>
      </vt:variant>
      <vt:variant>
        <vt:lpstr>Tema</vt:lpstr>
      </vt:variant>
      <vt:variant>
        <vt:i4>4</vt:i4>
      </vt:variant>
      <vt:variant>
        <vt:lpstr>Titoli diapositive</vt:lpstr>
      </vt:variant>
      <vt:variant>
        <vt:i4>27</vt:i4>
      </vt:variant>
    </vt:vector>
  </HeadingPairs>
  <TitlesOfParts>
    <vt:vector size="37" baseType="lpstr">
      <vt:lpstr>(Tipo di carattere testo asiati</vt:lpstr>
      <vt:lpstr>Arial</vt:lpstr>
      <vt:lpstr>Calibri</vt:lpstr>
      <vt:lpstr>Corbel</vt:lpstr>
      <vt:lpstr>Courier New</vt:lpstr>
      <vt:lpstr>Times New Roman</vt:lpstr>
      <vt:lpstr>AcademyTheme</vt:lpstr>
      <vt:lpstr>Personalizza struttura</vt:lpstr>
      <vt:lpstr>1_AcademyTheme</vt:lpstr>
      <vt:lpstr>Profondità</vt:lpstr>
      <vt:lpstr>Claudio De Sio Cesari   Il nuovo Java Introduzione a Java (NJ– 001)   https://www.nuovojava.it</vt:lpstr>
      <vt:lpstr>Introduzione a Java</vt:lpstr>
      <vt:lpstr>Hardware</vt:lpstr>
      <vt:lpstr>Hardware «in the box»</vt:lpstr>
      <vt:lpstr>Software</vt:lpstr>
      <vt:lpstr>Linguaggi di programmazione</vt:lpstr>
      <vt:lpstr>Linguaggio macchina</vt:lpstr>
      <vt:lpstr>Categorizzazione dei linguaggi</vt:lpstr>
      <vt:lpstr>Linguaggi compilati</vt:lpstr>
      <vt:lpstr>Linguaggi compilati (processo)</vt:lpstr>
      <vt:lpstr>Linguaggi interpretati</vt:lpstr>
      <vt:lpstr>Linguaggi interpretati</vt:lpstr>
      <vt:lpstr>Introduzione a Java</vt:lpstr>
      <vt:lpstr>Caratteristiche di Java</vt:lpstr>
      <vt:lpstr>Indipendenza dalla piattaforma e Java Virtual Machine</vt:lpstr>
      <vt:lpstr>False convinzioni su Java</vt:lpstr>
      <vt:lpstr>Scrivere un programma</vt:lpstr>
      <vt:lpstr>Ambiente di sviluppo</vt:lpstr>
      <vt:lpstr>Programmiamo con EJE</vt:lpstr>
      <vt:lpstr>Programmiamo: Scrivere il codice sorgente</vt:lpstr>
      <vt:lpstr>Programmiamo «Hello World»</vt:lpstr>
      <vt:lpstr>«Hello World» versione Java</vt:lpstr>
      <vt:lpstr>Programmiamo: tutti i passi</vt:lpstr>
      <vt:lpstr>Secondo programma (interattivo)</vt:lpstr>
      <vt:lpstr>Non è mica così semplice!</vt:lpstr>
      <vt:lpstr>JDK</vt:lpstr>
      <vt:lpstr>Sommario</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cdsc</dc:creator>
  <cp:lastModifiedBy>Claudio De Sio Cesari</cp:lastModifiedBy>
  <cp:revision>226</cp:revision>
  <dcterms:created xsi:type="dcterms:W3CDTF">2012-03-20T22:57:36Z</dcterms:created>
  <dcterms:modified xsi:type="dcterms:W3CDTF">2021-03-08T17:19:30Z</dcterms:modified>
</cp:coreProperties>
</file>